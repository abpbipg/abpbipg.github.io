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87" r:id="rId4"/>
    <p:sldMasterId id="2147483825" r:id="rId5"/>
    <p:sldMasterId id="2147483848" r:id="rId6"/>
    <p:sldMasterId id="2147483867" r:id="rId7"/>
  </p:sldMasterIdLst>
  <p:notesMasterIdLst>
    <p:notesMasterId r:id="rId77"/>
  </p:notesMasterIdLst>
  <p:handoutMasterIdLst>
    <p:handoutMasterId r:id="rId78"/>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27" r:id="rId58"/>
    <p:sldId id="308" r:id="rId59"/>
    <p:sldId id="309" r:id="rId60"/>
    <p:sldId id="310" r:id="rId61"/>
    <p:sldId id="311" r:id="rId62"/>
    <p:sldId id="312" r:id="rId63"/>
    <p:sldId id="313" r:id="rId64"/>
    <p:sldId id="314" r:id="rId65"/>
    <p:sldId id="315" r:id="rId66"/>
    <p:sldId id="316" r:id="rId67"/>
    <p:sldId id="317" r:id="rId68"/>
    <p:sldId id="318" r:id="rId69"/>
    <p:sldId id="320" r:id="rId70"/>
    <p:sldId id="321" r:id="rId71"/>
    <p:sldId id="322" r:id="rId72"/>
    <p:sldId id="323" r:id="rId73"/>
    <p:sldId id="324" r:id="rId74"/>
    <p:sldId id="325" r:id="rId75"/>
    <p:sldId id="326" r:id="rId76"/>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8" userDrawn="1">
          <p15:clr>
            <a:srgbClr val="A4A3A4"/>
          </p15:clr>
        </p15:guide>
        <p15:guide id="2" pos="3840">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uyuezjhw (Monk)" initials="W(" lastIdx="5" clrIdx="0">
    <p:extLst>
      <p:ext uri="{19B8F6BF-5375-455C-9EA6-DF929625EA0E}">
        <p15:presenceInfo xmlns:p15="http://schemas.microsoft.com/office/powerpoint/2012/main" userId="S-1-5-21-147214757-305610072-1517763936-3193612" providerId="AD"/>
      </p:ext>
    </p:extLst>
  </p:cmAuthor>
  <p:cmAuthor id="2" name="luyueyuezjhw" initials="l" lastIdx="1" clrIdx="1">
    <p:extLst>
      <p:ext uri="{19B8F6BF-5375-455C-9EA6-DF929625EA0E}">
        <p15:presenceInfo xmlns:p15="http://schemas.microsoft.com/office/powerpoint/2012/main" userId="S-1-5-21-147214757-305610072-1517763936-4736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5C5"/>
    <a:srgbClr val="56C4D2"/>
    <a:srgbClr val="94DAE2"/>
    <a:srgbClr val="E4F6F8"/>
    <a:srgbClr val="BEE9EE"/>
    <a:srgbClr val="C9C9C9"/>
    <a:srgbClr val="404040"/>
    <a:srgbClr val="EBEBEB"/>
    <a:srgbClr val="151515"/>
    <a:srgbClr val="C70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00" autoAdjust="0"/>
    <p:restoredTop sz="84660" autoAdjust="0"/>
  </p:normalViewPr>
  <p:slideViewPr>
    <p:cSldViewPr snapToGrid="0" snapToObjects="1">
      <p:cViewPr varScale="1">
        <p:scale>
          <a:sx n="110" d="100"/>
          <a:sy n="110" d="100"/>
        </p:scale>
        <p:origin x="78" y="108"/>
      </p:cViewPr>
      <p:guideLst>
        <p:guide orient="horz" pos="278"/>
        <p:guide pos="3840"/>
      </p:guideLst>
    </p:cSldViewPr>
  </p:slideViewPr>
  <p:outlineViewPr>
    <p:cViewPr>
      <p:scale>
        <a:sx n="33" d="100"/>
        <a:sy n="33" d="100"/>
      </p:scale>
      <p:origin x="0" y="-5532"/>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p:scale>
          <a:sx n="100" d="100"/>
          <a:sy n="100" d="100"/>
        </p:scale>
        <p:origin x="3420" y="-79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54.xml"/><Relationship Id="rId82" Type="http://schemas.openxmlformats.org/officeDocument/2006/relationships/theme" Target="theme/theme1.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10/13/2021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06203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6"/>
          <p:cNvSpPr>
            <a:spLocks noGrp="1" noRot="1" noChangeAspect="1"/>
          </p:cNvSpPr>
          <p:nvPr>
            <p:ph type="sldImg"/>
          </p:nvPr>
        </p:nvSpPr>
        <p:spPr>
          <a:xfrm>
            <a:off x="742950" y="717550"/>
            <a:ext cx="5557838" cy="3125788"/>
          </a:xfrm>
        </p:spPr>
      </p:sp>
      <p:sp>
        <p:nvSpPr>
          <p:cNvPr id="18" name="备注占位符 17"/>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52198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59331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8927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63916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从安全角度来分析，目前大部分的园区内部网络中，主要存在如下一些安全问题：</a:t>
            </a:r>
          </a:p>
          <a:p>
            <a:pPr lvl="1"/>
            <a:r>
              <a:rPr lang="zh-CN" altLang="en-US" smtClean="0"/>
              <a:t>防病毒软件未实现集中管理，补丁管理混乱，企业即便购买了防病毒软件，但很难保证所有的终端其病毒特征库都是最新的，导致一旦某台终端感染病毒或恶意代码，很快会在内网泛滥。</a:t>
            </a:r>
          </a:p>
          <a:p>
            <a:pPr lvl="1"/>
            <a:r>
              <a:rPr lang="zh-CN" altLang="en-US" smtClean="0"/>
              <a:t>无法识别用户的身份，无法识别非法接入用户，导致网络存在安全隐患。</a:t>
            </a:r>
          </a:p>
          <a:p>
            <a:pPr lvl="1"/>
            <a:r>
              <a:rPr lang="zh-CN" altLang="en-US" smtClean="0"/>
              <a:t>缺乏对接入终端的访问控制，只要用户接入网络，就能够自由地访问整个网络。</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527308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用户终端上一般安装有终端代理（或叫客户端软件），其与准入服务器联动进行用户身份认证、终端安全检查、系统修复升级，终端行为监控审计等工作。</a:t>
            </a:r>
          </a:p>
          <a:p>
            <a:r>
              <a:rPr lang="zh-CN" altLang="en-US" dirty="0" smtClean="0"/>
              <a:t>网络准入设备可以是交换机、路由器、</a:t>
            </a:r>
            <a:r>
              <a:rPr lang="en-US" altLang="zh-CN" dirty="0" smtClean="0"/>
              <a:t>AP</a:t>
            </a:r>
            <a:r>
              <a:rPr lang="zh-CN" altLang="en-US" dirty="0" smtClean="0"/>
              <a:t>等网络设备，具备如下功能特性：</a:t>
            </a:r>
          </a:p>
          <a:p>
            <a:pPr lvl="1"/>
            <a:r>
              <a:rPr lang="zh-CN" altLang="en-US" dirty="0" smtClean="0"/>
              <a:t>用户身份认证。</a:t>
            </a:r>
          </a:p>
          <a:p>
            <a:pPr lvl="1"/>
            <a:r>
              <a:rPr lang="zh-CN" altLang="en-US" dirty="0" smtClean="0"/>
              <a:t>在各种常见认证方式（如</a:t>
            </a:r>
            <a:r>
              <a:rPr lang="en-US" altLang="zh-CN" dirty="0" smtClean="0"/>
              <a:t>802.1X</a:t>
            </a:r>
            <a:r>
              <a:rPr lang="zh-CN" altLang="en-US" dirty="0" smtClean="0"/>
              <a:t>、</a:t>
            </a:r>
            <a:r>
              <a:rPr lang="en-US" altLang="zh-CN" dirty="0" smtClean="0"/>
              <a:t>MAC</a:t>
            </a:r>
            <a:r>
              <a:rPr lang="zh-CN" altLang="en-US" dirty="0" smtClean="0"/>
              <a:t>、</a:t>
            </a:r>
            <a:r>
              <a:rPr lang="en-US" altLang="zh-CN" dirty="0" smtClean="0"/>
              <a:t>Portal</a:t>
            </a:r>
            <a:r>
              <a:rPr lang="zh-CN" altLang="en-US" dirty="0" smtClean="0"/>
              <a:t>）下，网络准入设备辅助客户端软件与准入服务器进行认证。</a:t>
            </a:r>
          </a:p>
          <a:p>
            <a:pPr lvl="1"/>
            <a:r>
              <a:rPr lang="zh-CN" altLang="en-US" dirty="0" smtClean="0"/>
              <a:t>实现用户权限控制。</a:t>
            </a:r>
          </a:p>
          <a:p>
            <a:r>
              <a:rPr lang="zh-CN" altLang="en-US" dirty="0" smtClean="0"/>
              <a:t>准入服务器包括准入安全控制服务器、安全管理服务器，以及必要的病毒库服务器和补丁服务器。</a:t>
            </a:r>
          </a:p>
          <a:p>
            <a:pPr lvl="1"/>
            <a:r>
              <a:rPr lang="zh-CN" altLang="en-US" dirty="0" smtClean="0"/>
              <a:t>安全控制服务器主要进行用户认证和安全审核，实施安全策略，并且与网络准入设备联动，下发用户权限。</a:t>
            </a:r>
          </a:p>
          <a:p>
            <a:pPr lvl="1"/>
            <a:r>
              <a:rPr lang="zh-CN" altLang="en-US" dirty="0" smtClean="0"/>
              <a:t>安全管理服务器主要进行用户管理，包括增加、删除、修改用户权限及用户部门配置，及安全策略的定制和管理等。</a:t>
            </a:r>
          </a:p>
          <a:p>
            <a:pPr lvl="1"/>
            <a:r>
              <a:rPr lang="zh-CN" altLang="en-US" dirty="0" smtClean="0"/>
              <a:t>病毒库服务器主要用于控制各种终端上的防病毒软件的病毒库的自动更新。</a:t>
            </a:r>
          </a:p>
          <a:p>
            <a:pPr lvl="1"/>
            <a:r>
              <a:rPr lang="zh-CN" altLang="en-US" dirty="0" smtClean="0"/>
              <a:t>补丁服务器主要用于控制各种终端上的操作系统和应用软件的补丁安装和更新。</a:t>
            </a:r>
          </a:p>
          <a:p>
            <a:endParaRPr lang="zh-CN" altLang="en-US"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82919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228600" indent="-228600">
              <a:buFont typeface="+mj-lt"/>
              <a:buAutoNum type="arabicPeriod"/>
            </a:pPr>
            <a:r>
              <a:rPr lang="zh-CN" altLang="en-US" dirty="0"/>
              <a:t>用户身份认证请求：终端发送自己的身份凭证给准入设备。</a:t>
            </a:r>
          </a:p>
          <a:p>
            <a:pPr marL="228600" indent="-228600">
              <a:buFont typeface="+mj-lt"/>
              <a:buAutoNum type="arabicPeriod"/>
            </a:pPr>
            <a:r>
              <a:rPr lang="zh-CN" altLang="en-US" dirty="0"/>
              <a:t>用户身份认证：准入设备将身份凭证发送给准入服务器进行身份认证。</a:t>
            </a:r>
          </a:p>
          <a:p>
            <a:pPr marL="228600" indent="-228600">
              <a:buFont typeface="+mj-lt"/>
              <a:buAutoNum type="arabicPeriod"/>
            </a:pPr>
            <a:r>
              <a:rPr lang="zh-CN" altLang="en-US" dirty="0"/>
              <a:t>用户身份校验：准入服务器存储用户的身份信息，提供用户管理功能。准入服务器收到终端的身份凭证后，进行身份校验，确定终端身份是否合法，并将校验结果及策略下发给准入设备。</a:t>
            </a:r>
          </a:p>
          <a:p>
            <a:pPr marL="228600" indent="-228600">
              <a:buFont typeface="+mj-lt"/>
              <a:buAutoNum type="arabicPeriod"/>
            </a:pPr>
            <a:r>
              <a:rPr lang="zh-CN" altLang="en-US" dirty="0"/>
              <a:t>用户策略授权：准入设备作为策略的实施者，根据准入服务器的授权结果对终端实施策略的控制，比如允许或者禁止终端访问网络；或者对终端进行更加复杂的策略管控，如提高或降低终端转发优先级、限制用户的网络访问</a:t>
            </a:r>
            <a:r>
              <a:rPr lang="zh-CN" altLang="en-US" dirty="0" smtClean="0"/>
              <a:t>速率。</a:t>
            </a:r>
            <a:endParaRPr lang="zh-CN" altLang="en-US" dirty="0"/>
          </a:p>
        </p:txBody>
      </p:sp>
    </p:spTree>
    <p:extLst>
      <p:ext uri="{BB962C8B-B14F-4D97-AF65-F5344CB8AC3E}">
        <p14:creationId xmlns:p14="http://schemas.microsoft.com/office/powerpoint/2010/main" val="4020550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91377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r>
              <a:rPr lang="zh-CN" altLang="en-US" dirty="0"/>
              <a:t>网络准入控制基本</a:t>
            </a:r>
            <a:r>
              <a:rPr lang="zh-CN" altLang="en-US" dirty="0" smtClean="0"/>
              <a:t>流程：</a:t>
            </a:r>
            <a:endParaRPr lang="en-US" altLang="zh-CN" dirty="0"/>
          </a:p>
          <a:p>
            <a:pPr lvl="1"/>
            <a:r>
              <a:rPr lang="zh-CN" altLang="en-US" dirty="0" smtClean="0"/>
              <a:t>用户终端接入网络，认证前都具有认证前域网络权限，包括访问准入控制服务器、</a:t>
            </a:r>
            <a:r>
              <a:rPr lang="en-US" altLang="zh-CN" dirty="0" smtClean="0"/>
              <a:t>DHCP</a:t>
            </a:r>
            <a:r>
              <a:rPr lang="zh-CN" altLang="en-US" dirty="0" smtClean="0"/>
              <a:t>、</a:t>
            </a:r>
            <a:r>
              <a:rPr lang="en-US" altLang="zh-CN" dirty="0" smtClean="0"/>
              <a:t>DNS</a:t>
            </a:r>
            <a:r>
              <a:rPr lang="zh-CN" altLang="en-US" dirty="0" smtClean="0"/>
              <a:t>等。</a:t>
            </a:r>
          </a:p>
          <a:p>
            <a:pPr lvl="1"/>
            <a:r>
              <a:rPr lang="zh-CN" altLang="en-US" dirty="0" smtClean="0"/>
              <a:t>对</a:t>
            </a:r>
            <a:r>
              <a:rPr lang="zh-CN" altLang="en-US" dirty="0"/>
              <a:t>用户终端</a:t>
            </a:r>
            <a:r>
              <a:rPr lang="zh-CN" altLang="en-US" dirty="0" smtClean="0"/>
              <a:t>进行身份</a:t>
            </a:r>
            <a:r>
              <a:rPr lang="zh-CN" altLang="en-US" dirty="0"/>
              <a:t>认证</a:t>
            </a:r>
            <a:r>
              <a:rPr lang="zh-CN" altLang="en-US" dirty="0" smtClean="0"/>
              <a:t>，认证通过</a:t>
            </a:r>
            <a:r>
              <a:rPr lang="zh-CN" altLang="en-US" dirty="0"/>
              <a:t>后，准入服务器下发网络权限到网络准入设备，允许该用户访问认证后域网络。对于一些合法但是不安全的用户，身份认证后，准入服务器下发隔离域网络权限到网络准入设备，仅允许该用户访问隔离域网络，用户安全修复后，重新下发认证后域网络权限</a:t>
            </a:r>
            <a:r>
              <a:rPr lang="zh-CN" altLang="en-US" dirty="0" smtClean="0"/>
              <a:t>。在隔离域时，用户可以根据需要进行终端代理软件安装，补丁安装，杀毒软件安装、升级等操作。</a:t>
            </a:r>
            <a:endParaRPr lang="en-US" altLang="zh-CN" dirty="0" smtClean="0"/>
          </a:p>
          <a:p>
            <a:pPr lvl="1"/>
            <a:r>
              <a:rPr lang="zh-CN" altLang="en-US" dirty="0" smtClean="0"/>
              <a:t>非法</a:t>
            </a:r>
            <a:r>
              <a:rPr lang="zh-CN" altLang="en-US" dirty="0"/>
              <a:t>用户及未认证用户仅允许访问认证前</a:t>
            </a:r>
            <a:r>
              <a:rPr lang="zh-CN" altLang="en-US" dirty="0" smtClean="0"/>
              <a:t>域或隔离域网络</a:t>
            </a:r>
            <a:r>
              <a:rPr lang="zh-CN" altLang="en-US" dirty="0"/>
              <a:t>资源。</a:t>
            </a:r>
          </a:p>
          <a:p>
            <a:endParaRPr lang="zh-CN" altLang="en-US" dirty="0"/>
          </a:p>
        </p:txBody>
      </p:sp>
    </p:spTree>
    <p:extLst>
      <p:ext uri="{BB962C8B-B14F-4D97-AF65-F5344CB8AC3E}">
        <p14:creationId xmlns:p14="http://schemas.microsoft.com/office/powerpoint/2010/main" val="3093083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54054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在客户端与设备端之间，</a:t>
            </a:r>
            <a:r>
              <a:rPr lang="en-US" altLang="zh-CN" smtClean="0"/>
              <a:t>EAP</a:t>
            </a:r>
            <a:r>
              <a:rPr lang="zh-CN" altLang="en-US" smtClean="0"/>
              <a:t>报文使用</a:t>
            </a:r>
            <a:r>
              <a:rPr lang="en-US" altLang="zh-CN" smtClean="0"/>
              <a:t>EAPoL</a:t>
            </a:r>
            <a:r>
              <a:rPr lang="zh-CN" altLang="en-US" smtClean="0"/>
              <a:t>封装格式，直接承载于</a:t>
            </a:r>
            <a:r>
              <a:rPr lang="en-US" altLang="zh-CN" smtClean="0"/>
              <a:t>LAN</a:t>
            </a:r>
            <a:r>
              <a:rPr lang="zh-CN" altLang="en-US" smtClean="0"/>
              <a:t>环境中。</a:t>
            </a:r>
          </a:p>
          <a:p>
            <a:r>
              <a:rPr lang="zh-CN" altLang="en-US" smtClean="0"/>
              <a:t>在网络接入设备与认证服务器之间，用户可以根据客户端支持情况和网络安全要求来决定采用的认证方式。</a:t>
            </a:r>
          </a:p>
          <a:p>
            <a:pPr lvl="1"/>
            <a:r>
              <a:rPr lang="zh-CN" altLang="en-US" smtClean="0"/>
              <a:t>在</a:t>
            </a:r>
            <a:r>
              <a:rPr lang="en-US" altLang="zh-CN" smtClean="0"/>
              <a:t>EAP</a:t>
            </a:r>
            <a:r>
              <a:rPr lang="zh-CN" altLang="en-US" smtClean="0"/>
              <a:t>终结方式中，</a:t>
            </a:r>
            <a:r>
              <a:rPr lang="en-US" altLang="zh-CN" smtClean="0"/>
              <a:t>EAP</a:t>
            </a:r>
            <a:r>
              <a:rPr lang="zh-CN" altLang="en-US" smtClean="0"/>
              <a:t>报文在设备端终结并重新封装到</a:t>
            </a:r>
            <a:r>
              <a:rPr lang="en-US" altLang="zh-CN" smtClean="0"/>
              <a:t>RADIUS</a:t>
            </a:r>
            <a:r>
              <a:rPr lang="zh-CN" altLang="en-US" smtClean="0"/>
              <a:t>报文中，利用标准</a:t>
            </a:r>
            <a:r>
              <a:rPr lang="en-US" altLang="zh-CN" smtClean="0"/>
              <a:t>RADIUS</a:t>
            </a:r>
            <a:r>
              <a:rPr lang="zh-CN" altLang="en-US" smtClean="0"/>
              <a:t>协议完成认证、授权和计费。</a:t>
            </a:r>
          </a:p>
          <a:p>
            <a:pPr lvl="1"/>
            <a:r>
              <a:rPr lang="zh-CN" altLang="en-US" smtClean="0"/>
              <a:t>在</a:t>
            </a:r>
            <a:r>
              <a:rPr lang="en-US" altLang="zh-CN" smtClean="0"/>
              <a:t>EAP</a:t>
            </a:r>
            <a:r>
              <a:rPr lang="zh-CN" altLang="en-US" smtClean="0"/>
              <a:t>中继方式中，</a:t>
            </a:r>
            <a:r>
              <a:rPr lang="en-US" altLang="zh-CN" smtClean="0"/>
              <a:t>EAP</a:t>
            </a:r>
            <a:r>
              <a:rPr lang="zh-CN" altLang="en-US" smtClean="0"/>
              <a:t>报文被直接封装到</a:t>
            </a:r>
            <a:r>
              <a:rPr lang="en-US" altLang="zh-CN" smtClean="0"/>
              <a:t>RADIUS</a:t>
            </a:r>
            <a:r>
              <a:rPr lang="zh-CN" altLang="en-US" smtClean="0"/>
              <a:t>报文中（</a:t>
            </a:r>
            <a:r>
              <a:rPr lang="en-US" altLang="zh-CN" smtClean="0"/>
              <a:t>EAP over RADIUS</a:t>
            </a:r>
            <a:r>
              <a:rPr lang="zh-CN" altLang="en-US" smtClean="0"/>
              <a:t>，简称为</a:t>
            </a:r>
            <a:r>
              <a:rPr lang="en-US" altLang="zh-CN" smtClean="0"/>
              <a:t>EAPoR</a:t>
            </a:r>
            <a:r>
              <a:rPr lang="zh-CN" altLang="en-US" smtClean="0"/>
              <a:t>），以便穿越复杂的网络到达认证服务器。</a:t>
            </a:r>
          </a:p>
          <a:p>
            <a:r>
              <a:rPr lang="en-US" altLang="zh-CN" smtClean="0"/>
              <a:t>EAPoL</a:t>
            </a:r>
            <a:r>
              <a:rPr lang="zh-CN" altLang="en-US" smtClean="0"/>
              <a:t>定义了在</a:t>
            </a:r>
            <a:r>
              <a:rPr lang="en-US" altLang="zh-CN" smtClean="0"/>
              <a:t>IEEE 802</a:t>
            </a:r>
            <a:r>
              <a:rPr lang="zh-CN" altLang="en-US" smtClean="0"/>
              <a:t>（例如</a:t>
            </a:r>
            <a:r>
              <a:rPr lang="en-US" altLang="zh-CN" smtClean="0"/>
              <a:t>802.3</a:t>
            </a:r>
            <a:r>
              <a:rPr lang="zh-CN" altLang="en-US" smtClean="0"/>
              <a:t>和</a:t>
            </a:r>
            <a:r>
              <a:rPr lang="en-US" altLang="zh-CN" smtClean="0"/>
              <a:t>802.11</a:t>
            </a:r>
            <a:r>
              <a:rPr lang="zh-CN" altLang="en-US" smtClean="0"/>
              <a:t>等）网络上的</a:t>
            </a:r>
            <a:r>
              <a:rPr lang="en-US" altLang="zh-CN" smtClean="0"/>
              <a:t>EAP</a:t>
            </a:r>
            <a:r>
              <a:rPr lang="zh-CN" altLang="en-US" smtClean="0"/>
              <a:t>封装，</a:t>
            </a:r>
            <a:r>
              <a:rPr lang="en-US" altLang="zh-CN" smtClean="0"/>
              <a:t>EAPoL</a:t>
            </a:r>
            <a:r>
              <a:rPr lang="zh-CN" altLang="en-US" smtClean="0"/>
              <a:t>只负责在</a:t>
            </a:r>
            <a:r>
              <a:rPr lang="en-US" altLang="zh-CN" smtClean="0"/>
              <a:t>802.1X</a:t>
            </a:r>
            <a:r>
              <a:rPr lang="zh-CN" altLang="en-US" smtClean="0"/>
              <a:t>客户端和接入设备之间传送</a:t>
            </a:r>
            <a:r>
              <a:rPr lang="en-US" altLang="zh-CN" smtClean="0"/>
              <a:t>EAP</a:t>
            </a:r>
            <a:r>
              <a:rPr lang="zh-CN" altLang="en-US" smtClean="0"/>
              <a:t>报文，不负责实现具体的认证功能。</a:t>
            </a:r>
          </a:p>
          <a:p>
            <a:r>
              <a:rPr lang="zh-CN" altLang="en-US" smtClean="0"/>
              <a:t>常见的</a:t>
            </a:r>
            <a:r>
              <a:rPr lang="en-US" altLang="zh-CN" smtClean="0"/>
              <a:t>EAP</a:t>
            </a:r>
            <a:r>
              <a:rPr lang="zh-CN" altLang="en-US" smtClean="0"/>
              <a:t>认证协议有</a:t>
            </a:r>
            <a:r>
              <a:rPr lang="en-US" altLang="zh-CN" smtClean="0"/>
              <a:t>EAP-TLS</a:t>
            </a:r>
            <a:r>
              <a:rPr lang="zh-CN" altLang="en-US" smtClean="0"/>
              <a:t>（</a:t>
            </a:r>
            <a:r>
              <a:rPr lang="en-US" altLang="zh-CN" smtClean="0"/>
              <a:t>Transport Layer Security</a:t>
            </a:r>
            <a:r>
              <a:rPr lang="zh-CN" altLang="en-US" smtClean="0"/>
              <a:t>，传输层安全性协议）、</a:t>
            </a:r>
            <a:r>
              <a:rPr lang="en-US" altLang="zh-CN" smtClean="0"/>
              <a:t>EAP-TTLS</a:t>
            </a:r>
            <a:r>
              <a:rPr lang="zh-CN" altLang="en-US" smtClean="0"/>
              <a:t>（</a:t>
            </a:r>
            <a:r>
              <a:rPr lang="en-US" altLang="zh-CN" smtClean="0"/>
              <a:t>Tunneled Transport Layer Security</a:t>
            </a:r>
            <a:r>
              <a:rPr lang="zh-CN" altLang="en-US" smtClean="0"/>
              <a:t>，隧道传输层安全）、</a:t>
            </a:r>
            <a:r>
              <a:rPr lang="en-US" altLang="zh-CN" smtClean="0"/>
              <a:t>EAP-PEAP</a:t>
            </a:r>
            <a:r>
              <a:rPr lang="zh-CN" altLang="en-US" smtClean="0"/>
              <a:t>（</a:t>
            </a:r>
            <a:r>
              <a:rPr lang="en-US" altLang="zh-CN" smtClean="0"/>
              <a:t>Protected Extensible Authentication Protocol</a:t>
            </a:r>
            <a:r>
              <a:rPr lang="zh-CN" altLang="en-US" smtClean="0"/>
              <a:t>，防护扩展验证协议）和</a:t>
            </a:r>
            <a:r>
              <a:rPr lang="en-US" altLang="zh-CN" smtClean="0"/>
              <a:t>EAP-MD5</a:t>
            </a:r>
            <a:r>
              <a:rPr lang="zh-CN" altLang="en-US" smtClean="0"/>
              <a:t>（</a:t>
            </a:r>
            <a:r>
              <a:rPr lang="en-US" altLang="zh-CN" smtClean="0"/>
              <a:t>Message Digest Algorithm 5</a:t>
            </a:r>
            <a:r>
              <a:rPr lang="zh-CN" altLang="en-US" smtClean="0"/>
              <a:t>，消息摘要算法第五版）等。</a:t>
            </a:r>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93286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EAP</a:t>
            </a:r>
            <a:r>
              <a:rPr lang="zh-CN" altLang="en-US" dirty="0" smtClean="0"/>
              <a:t>中继方式：</a:t>
            </a:r>
            <a:endParaRPr lang="en-US" altLang="zh-CN" dirty="0" smtClean="0"/>
          </a:p>
          <a:p>
            <a:pPr lvl="1"/>
            <a:r>
              <a:rPr lang="zh-CN" altLang="en-US" dirty="0" smtClean="0"/>
              <a:t>其优点是设备端处理更简单，支持更多的认证方法，缺点则是认证服务器必须支持</a:t>
            </a:r>
            <a:r>
              <a:rPr lang="en-US" altLang="zh-CN" dirty="0" smtClean="0"/>
              <a:t>EAP</a:t>
            </a:r>
            <a:r>
              <a:rPr lang="zh-CN" altLang="en-US" dirty="0" smtClean="0"/>
              <a:t>，且处理能力要足够强。</a:t>
            </a:r>
            <a:endParaRPr lang="en-US" altLang="zh-CN" dirty="0" smtClean="0"/>
          </a:p>
          <a:p>
            <a:pPr lvl="1"/>
            <a:r>
              <a:rPr lang="zh-CN" altLang="en-US" dirty="0" smtClean="0"/>
              <a:t>对于常用的</a:t>
            </a:r>
            <a:r>
              <a:rPr lang="en-US" altLang="zh-CN" dirty="0" smtClean="0"/>
              <a:t>EAP-TLS</a:t>
            </a:r>
            <a:r>
              <a:rPr lang="zh-CN" altLang="en-US" dirty="0" smtClean="0"/>
              <a:t>、</a:t>
            </a:r>
            <a:r>
              <a:rPr lang="en-US" altLang="zh-CN" dirty="0" smtClean="0"/>
              <a:t>EAP-TTLS</a:t>
            </a:r>
            <a:r>
              <a:rPr lang="zh-CN" altLang="en-US" dirty="0" smtClean="0"/>
              <a:t>、</a:t>
            </a:r>
            <a:r>
              <a:rPr lang="en-US" altLang="zh-CN" dirty="0" smtClean="0"/>
              <a:t>EAP-PEAP</a:t>
            </a:r>
            <a:r>
              <a:rPr lang="zh-CN" altLang="en-US" dirty="0" smtClean="0"/>
              <a:t>三种认证方式，</a:t>
            </a:r>
            <a:r>
              <a:rPr lang="en-US" altLang="zh-CN" dirty="0" smtClean="0"/>
              <a:t>EAP-TLS</a:t>
            </a:r>
            <a:r>
              <a:rPr lang="zh-CN" altLang="en-US" dirty="0" smtClean="0"/>
              <a:t>需要在客户端和服务器上加载证书，安全性最高，</a:t>
            </a:r>
            <a:r>
              <a:rPr lang="en-US" altLang="zh-CN" dirty="0" smtClean="0"/>
              <a:t>EAP-TTLS</a:t>
            </a:r>
            <a:r>
              <a:rPr lang="zh-CN" altLang="en-US" dirty="0" smtClean="0"/>
              <a:t>、</a:t>
            </a:r>
            <a:r>
              <a:rPr lang="en-US" altLang="zh-CN" dirty="0" smtClean="0"/>
              <a:t>EAP-PEAP</a:t>
            </a:r>
            <a:r>
              <a:rPr lang="zh-CN" altLang="en-US" dirty="0" smtClean="0"/>
              <a:t>需要在服务器上加载证书，但不需要在客户端加载证书，部署相对灵活，安全性较</a:t>
            </a:r>
            <a:r>
              <a:rPr lang="en-US" altLang="zh-CN" dirty="0" smtClean="0"/>
              <a:t>EAP-TLS</a:t>
            </a:r>
            <a:r>
              <a:rPr lang="zh-CN" altLang="en-US" dirty="0" smtClean="0"/>
              <a:t>低。</a:t>
            </a:r>
          </a:p>
          <a:p>
            <a:r>
              <a:rPr lang="en-US" altLang="zh-CN" dirty="0" smtClean="0"/>
              <a:t>EAP</a:t>
            </a:r>
            <a:r>
              <a:rPr lang="zh-CN" altLang="en-US" dirty="0" smtClean="0"/>
              <a:t>终结方式：</a:t>
            </a:r>
            <a:endParaRPr lang="en-US" altLang="zh-CN" dirty="0" smtClean="0"/>
          </a:p>
          <a:p>
            <a:pPr lvl="1"/>
            <a:r>
              <a:rPr lang="zh-CN" altLang="en-US" dirty="0" smtClean="0"/>
              <a:t>其优点是现有的</a:t>
            </a:r>
            <a:r>
              <a:rPr lang="en-US" altLang="zh-CN" dirty="0" smtClean="0"/>
              <a:t>RADIUS</a:t>
            </a:r>
            <a:r>
              <a:rPr lang="zh-CN" altLang="en-US" dirty="0" smtClean="0"/>
              <a:t>服务器基本均支持</a:t>
            </a:r>
            <a:r>
              <a:rPr lang="en-US" altLang="zh-CN" dirty="0" smtClean="0"/>
              <a:t>PAP</a:t>
            </a:r>
            <a:r>
              <a:rPr lang="zh-CN" altLang="en-US" dirty="0" smtClean="0"/>
              <a:t>和</a:t>
            </a:r>
            <a:r>
              <a:rPr lang="en-US" altLang="zh-CN" dirty="0" smtClean="0"/>
              <a:t>CHAP</a:t>
            </a:r>
            <a:r>
              <a:rPr lang="zh-CN" altLang="en-US" dirty="0" smtClean="0"/>
              <a:t>认证，无需升级服务器，但设备端的工作比较繁重，因为在这种认证方式中，设备端不仅要从来自客户端的</a:t>
            </a:r>
            <a:r>
              <a:rPr lang="en-US" altLang="zh-CN" dirty="0" smtClean="0"/>
              <a:t>EAP</a:t>
            </a:r>
            <a:r>
              <a:rPr lang="zh-CN" altLang="en-US" dirty="0" smtClean="0"/>
              <a:t>报文中提取客户端认证信息，还要通过标准的</a:t>
            </a:r>
            <a:r>
              <a:rPr lang="en-US" altLang="zh-CN" dirty="0" smtClean="0"/>
              <a:t>RADIUS</a:t>
            </a:r>
            <a:r>
              <a:rPr lang="zh-CN" altLang="en-US" dirty="0" smtClean="0"/>
              <a:t>协议对这些信息进行封装，且不能支持除</a:t>
            </a:r>
            <a:r>
              <a:rPr lang="en-US" altLang="zh-CN" dirty="0" smtClean="0"/>
              <a:t>MD5-Challenge</a:t>
            </a:r>
            <a:r>
              <a:rPr lang="zh-CN" altLang="en-US" dirty="0" smtClean="0"/>
              <a:t>之外的其它</a:t>
            </a:r>
            <a:r>
              <a:rPr lang="en-US" altLang="zh-CN" dirty="0" smtClean="0"/>
              <a:t>EAP</a:t>
            </a:r>
            <a:r>
              <a:rPr lang="zh-CN" altLang="en-US" dirty="0" smtClean="0"/>
              <a:t>认证方法。</a:t>
            </a:r>
            <a:endParaRPr lang="en-US" altLang="zh-CN" dirty="0" smtClean="0"/>
          </a:p>
          <a:p>
            <a:pPr lvl="1"/>
            <a:r>
              <a:rPr lang="en-US" altLang="zh-CN" dirty="0" smtClean="0"/>
              <a:t>PAP</a:t>
            </a:r>
            <a:r>
              <a:rPr lang="zh-CN" altLang="en-US" dirty="0" smtClean="0"/>
              <a:t>与</a:t>
            </a:r>
            <a:r>
              <a:rPr lang="en-US" altLang="zh-CN" dirty="0" smtClean="0"/>
              <a:t>CHAP</a:t>
            </a:r>
            <a:r>
              <a:rPr lang="zh-CN" altLang="en-US" dirty="0" smtClean="0"/>
              <a:t>的主要区别是</a:t>
            </a:r>
            <a:r>
              <a:rPr lang="en-US" altLang="zh-CN" dirty="0" smtClean="0"/>
              <a:t>CHAP</a:t>
            </a:r>
            <a:r>
              <a:rPr lang="zh-CN" altLang="en-US" dirty="0" smtClean="0"/>
              <a:t>密码通过密文方式传输，而</a:t>
            </a:r>
            <a:r>
              <a:rPr lang="en-US" altLang="zh-CN" dirty="0" smtClean="0"/>
              <a:t>PAP</a:t>
            </a:r>
            <a:r>
              <a:rPr lang="zh-CN" altLang="en-US" dirty="0" smtClean="0"/>
              <a:t>密码通过明文的方式传输。因而</a:t>
            </a:r>
            <a:r>
              <a:rPr lang="en-US" altLang="zh-CN" dirty="0" smtClean="0"/>
              <a:t>PAP</a:t>
            </a:r>
            <a:r>
              <a:rPr lang="zh-CN" altLang="en-US" dirty="0" smtClean="0"/>
              <a:t>方式认证的安全性较低，实际应用通常采用</a:t>
            </a:r>
            <a:r>
              <a:rPr lang="en-US" altLang="zh-CN" dirty="0" smtClean="0"/>
              <a:t>CHAP</a:t>
            </a:r>
            <a:r>
              <a:rPr lang="zh-CN" altLang="en-US" dirty="0" smtClean="0"/>
              <a:t>方式认证。</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21530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EAP</a:t>
            </a:r>
            <a:r>
              <a:rPr lang="zh-CN" altLang="en-US" dirty="0" smtClean="0"/>
              <a:t>中继方式的认证流程：</a:t>
            </a:r>
            <a:endParaRPr lang="en-US" altLang="zh-CN" dirty="0" smtClean="0"/>
          </a:p>
          <a:p>
            <a:pPr marL="588600" lvl="1" indent="-228600">
              <a:buFont typeface="+mj-lt"/>
              <a:buAutoNum type="arabicPeriod"/>
            </a:pPr>
            <a:r>
              <a:rPr lang="zh-CN" altLang="en-US" dirty="0" smtClean="0"/>
              <a:t>当用户需要访问外部网络时打开</a:t>
            </a:r>
            <a:r>
              <a:rPr lang="en-US" altLang="zh-CN" dirty="0" smtClean="0"/>
              <a:t>802.1X</a:t>
            </a:r>
            <a:r>
              <a:rPr lang="zh-CN" altLang="en-US" dirty="0" smtClean="0"/>
              <a:t>客户端程序，输入已经申请、登记过的用户名和密码，发起连接请求。此时，客户端程序将向设备端发出认证请求报文（</a:t>
            </a:r>
            <a:r>
              <a:rPr lang="en-US" altLang="zh-CN" dirty="0" err="1" smtClean="0"/>
              <a:t>EAPoL</a:t>
            </a:r>
            <a:r>
              <a:rPr lang="en-US" altLang="zh-CN" dirty="0" smtClean="0"/>
              <a:t>-Start</a:t>
            </a:r>
            <a:r>
              <a:rPr lang="zh-CN" altLang="en-US" dirty="0" smtClean="0"/>
              <a:t>），开始启动一次认证过程。</a:t>
            </a:r>
          </a:p>
          <a:p>
            <a:pPr marL="588600" lvl="1" indent="-228600">
              <a:buFont typeface="+mj-lt"/>
              <a:buAutoNum type="arabicPeriod"/>
            </a:pPr>
            <a:r>
              <a:rPr lang="zh-CN" altLang="en-US" dirty="0" smtClean="0"/>
              <a:t>设备端收到认证请求报文后，将发出一个</a:t>
            </a:r>
            <a:r>
              <a:rPr lang="en-US" altLang="zh-CN" dirty="0" smtClean="0"/>
              <a:t>Identity</a:t>
            </a:r>
            <a:r>
              <a:rPr lang="zh-CN" altLang="en-US" dirty="0" smtClean="0"/>
              <a:t>类型的请求报文（</a:t>
            </a:r>
            <a:r>
              <a:rPr lang="en-US" altLang="zh-CN" dirty="0" smtClean="0"/>
              <a:t>EAP-Request/Identity</a:t>
            </a:r>
            <a:r>
              <a:rPr lang="zh-CN" altLang="en-US" dirty="0" smtClean="0"/>
              <a:t>）要求用户的客户端程序发送输入的用户名。</a:t>
            </a:r>
          </a:p>
          <a:p>
            <a:pPr marL="588600" lvl="1" indent="-228600">
              <a:buFont typeface="+mj-lt"/>
              <a:buAutoNum type="arabicPeriod"/>
            </a:pPr>
            <a:r>
              <a:rPr lang="zh-CN" altLang="en-US" dirty="0" smtClean="0"/>
              <a:t>客户端程序响应设备端发出的请求，将用户名信息通过</a:t>
            </a:r>
            <a:r>
              <a:rPr lang="en-US" altLang="zh-CN" dirty="0" smtClean="0"/>
              <a:t>Identity</a:t>
            </a:r>
            <a:r>
              <a:rPr lang="zh-CN" altLang="en-US" dirty="0" smtClean="0"/>
              <a:t>类型的响应报文（</a:t>
            </a:r>
            <a:r>
              <a:rPr lang="en-US" altLang="zh-CN" dirty="0" smtClean="0"/>
              <a:t>EAP-Response/Identity</a:t>
            </a:r>
            <a:r>
              <a:rPr lang="zh-CN" altLang="en-US" dirty="0" smtClean="0"/>
              <a:t>）发送给设备端。</a:t>
            </a:r>
          </a:p>
          <a:p>
            <a:pPr marL="588600" lvl="1" indent="-228600">
              <a:buFont typeface="+mj-lt"/>
              <a:buAutoNum type="arabicPeriod"/>
            </a:pPr>
            <a:r>
              <a:rPr lang="zh-CN" altLang="en-US" dirty="0" smtClean="0"/>
              <a:t>设备端将客户端发送的响应报文中的</a:t>
            </a:r>
            <a:r>
              <a:rPr lang="en-US" altLang="zh-CN" dirty="0" smtClean="0"/>
              <a:t>EAP</a:t>
            </a:r>
            <a:r>
              <a:rPr lang="zh-CN" altLang="en-US" dirty="0" smtClean="0"/>
              <a:t>报文封装在</a:t>
            </a:r>
            <a:r>
              <a:rPr lang="en-US" altLang="zh-CN" dirty="0" smtClean="0"/>
              <a:t>RADIUS</a:t>
            </a:r>
            <a:r>
              <a:rPr lang="zh-CN" altLang="en-US" dirty="0" smtClean="0"/>
              <a:t>报文（</a:t>
            </a:r>
            <a:r>
              <a:rPr lang="en-US" altLang="zh-CN" dirty="0" smtClean="0"/>
              <a:t>RADIUS Access-Request</a:t>
            </a:r>
            <a:r>
              <a:rPr lang="zh-CN" altLang="en-US" dirty="0" smtClean="0"/>
              <a:t>）中发送给认证服务器进行处理。</a:t>
            </a:r>
          </a:p>
          <a:p>
            <a:pPr marL="588600" lvl="1" indent="-228600">
              <a:buFont typeface="+mj-lt"/>
              <a:buAutoNum type="arabicPeriod"/>
            </a:pPr>
            <a:r>
              <a:rPr lang="en-US" altLang="zh-CN" dirty="0" smtClean="0"/>
              <a:t>RADIUS</a:t>
            </a:r>
            <a:r>
              <a:rPr lang="zh-CN" altLang="en-US" dirty="0" smtClean="0"/>
              <a:t>服务器收到设备端转发的用户名信息后，将该信息与数据库中的用户名列表对比，找到该用户名对应的密码信息，用随机生成的一个</a:t>
            </a:r>
            <a:r>
              <a:rPr lang="en-US" altLang="zh-CN" dirty="0" smtClean="0"/>
              <a:t>MD5 Challenge</a:t>
            </a:r>
            <a:r>
              <a:rPr lang="zh-CN" altLang="en-US" dirty="0" smtClean="0"/>
              <a:t>对密码进行加密处理，同时将此</a:t>
            </a:r>
            <a:r>
              <a:rPr lang="en-US" altLang="zh-CN" dirty="0" smtClean="0"/>
              <a:t>MD5 Challenge</a:t>
            </a:r>
            <a:r>
              <a:rPr lang="zh-CN" altLang="en-US" dirty="0" smtClean="0"/>
              <a:t>通过</a:t>
            </a:r>
            <a:r>
              <a:rPr lang="en-US" altLang="zh-CN" dirty="0" smtClean="0"/>
              <a:t>RADIUS Access-Challenge</a:t>
            </a:r>
            <a:r>
              <a:rPr lang="zh-CN" altLang="en-US" dirty="0" smtClean="0"/>
              <a:t>报文发送给设备端。</a:t>
            </a:r>
          </a:p>
          <a:p>
            <a:pPr marL="588600" lvl="1" indent="-228600">
              <a:buFont typeface="+mj-lt"/>
              <a:buAutoNum type="arabicPeriod"/>
            </a:pPr>
            <a:r>
              <a:rPr lang="zh-CN" altLang="en-US" dirty="0" smtClean="0"/>
              <a:t>设备端将</a:t>
            </a:r>
            <a:r>
              <a:rPr lang="en-US" altLang="zh-CN" dirty="0" smtClean="0"/>
              <a:t>RADIUS</a:t>
            </a:r>
            <a:r>
              <a:rPr lang="zh-CN" altLang="en-US" dirty="0" smtClean="0"/>
              <a:t>服务器发送的</a:t>
            </a:r>
            <a:r>
              <a:rPr lang="en-US" altLang="zh-CN" dirty="0" smtClean="0"/>
              <a:t>MD5 Challenge</a:t>
            </a:r>
            <a:r>
              <a:rPr lang="zh-CN" altLang="en-US" dirty="0" smtClean="0"/>
              <a:t>转发给客户端。</a:t>
            </a:r>
          </a:p>
          <a:p>
            <a:pPr marL="588600" lvl="1" indent="-228600">
              <a:buFont typeface="+mj-lt"/>
              <a:buAutoNum type="arabicPeriod"/>
            </a:pPr>
            <a:r>
              <a:rPr lang="zh-CN" altLang="en-US" dirty="0" smtClean="0"/>
              <a:t>客户端收到由设备端传来的</a:t>
            </a:r>
            <a:r>
              <a:rPr lang="en-US" altLang="zh-CN" dirty="0" smtClean="0"/>
              <a:t>MD5 Challenge</a:t>
            </a:r>
            <a:r>
              <a:rPr lang="zh-CN" altLang="en-US" dirty="0" smtClean="0"/>
              <a:t>后，用该</a:t>
            </a:r>
            <a:r>
              <a:rPr lang="en-US" altLang="zh-CN" dirty="0" smtClean="0"/>
              <a:t>Challenge</a:t>
            </a:r>
            <a:r>
              <a:rPr lang="zh-CN" altLang="en-US" dirty="0" smtClean="0"/>
              <a:t>对密码部分进行加密处理，生成</a:t>
            </a:r>
            <a:r>
              <a:rPr lang="en-US" altLang="zh-CN" dirty="0" smtClean="0"/>
              <a:t>EAP-Response/MD5 Challenge</a:t>
            </a:r>
            <a:r>
              <a:rPr lang="zh-CN" altLang="en-US" dirty="0" smtClean="0"/>
              <a:t>报文，并发送给设备端。</a:t>
            </a:r>
          </a:p>
          <a:p>
            <a:pPr marL="588600" lvl="1" indent="-228600">
              <a:buFont typeface="+mj-lt"/>
              <a:buAutoNum type="arabicPeriod"/>
            </a:pPr>
            <a:r>
              <a:rPr lang="zh-CN" altLang="en-US" dirty="0" smtClean="0"/>
              <a:t>设备端将此</a:t>
            </a:r>
            <a:r>
              <a:rPr lang="en-US" altLang="zh-CN" dirty="0" smtClean="0"/>
              <a:t>EAP-Response/MD5 Challenge</a:t>
            </a:r>
            <a:r>
              <a:rPr lang="zh-CN" altLang="en-US" dirty="0" smtClean="0"/>
              <a:t>报文封装在</a:t>
            </a:r>
            <a:r>
              <a:rPr lang="en-US" altLang="zh-CN" dirty="0" smtClean="0"/>
              <a:t>RADIUS</a:t>
            </a:r>
            <a:r>
              <a:rPr lang="zh-CN" altLang="en-US" dirty="0" smtClean="0"/>
              <a:t>报文（</a:t>
            </a:r>
            <a:r>
              <a:rPr lang="en-US" altLang="zh-CN" dirty="0" smtClean="0"/>
              <a:t>RADIUS Access-Request</a:t>
            </a:r>
            <a:r>
              <a:rPr lang="zh-CN" altLang="en-US" dirty="0" smtClean="0"/>
              <a:t>）中发送给</a:t>
            </a:r>
            <a:r>
              <a:rPr lang="en-US" altLang="zh-CN" dirty="0" smtClean="0"/>
              <a:t>RADIUS</a:t>
            </a:r>
            <a:r>
              <a:rPr lang="zh-CN" altLang="en-US" dirty="0" smtClean="0"/>
              <a:t>服务器。</a:t>
            </a:r>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33804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marL="588600" lvl="1" indent="-228600">
              <a:buFont typeface="+mj-lt"/>
              <a:buAutoNum type="arabicPeriod" startAt="9"/>
            </a:pPr>
            <a:r>
              <a:rPr lang="en-US" altLang="zh-CN" dirty="0" smtClean="0"/>
              <a:t>RADIUS</a:t>
            </a:r>
            <a:r>
              <a:rPr lang="zh-CN" altLang="en-US" dirty="0" smtClean="0"/>
              <a:t>服务器将收到的已加密的密码信息和本地经过加密运算后的密码信息进行对比，如果相同，则认为该用户为合法用户，并向设备端发送认证通过报文（</a:t>
            </a:r>
            <a:r>
              <a:rPr lang="en-US" altLang="zh-CN" dirty="0" smtClean="0"/>
              <a:t>RADIUS Access-Accept</a:t>
            </a:r>
            <a:r>
              <a:rPr lang="zh-CN" altLang="en-US" dirty="0" smtClean="0"/>
              <a:t>）。</a:t>
            </a:r>
          </a:p>
          <a:p>
            <a:pPr marL="588600" lvl="1" indent="-228600">
              <a:buFont typeface="+mj-lt"/>
              <a:buAutoNum type="arabicPeriod" startAt="9"/>
            </a:pPr>
            <a:r>
              <a:rPr lang="zh-CN" altLang="en-US" dirty="0" smtClean="0"/>
              <a:t>设备收到认证通过报文后向客户端发送认证成功报文（</a:t>
            </a:r>
            <a:r>
              <a:rPr lang="en-US" altLang="zh-CN" dirty="0" smtClean="0"/>
              <a:t>EAP-Success</a:t>
            </a:r>
            <a:r>
              <a:rPr lang="zh-CN" altLang="en-US" dirty="0" smtClean="0"/>
              <a:t>），并将端口改为授权状态，允许用户通过该端口访问网络。</a:t>
            </a:r>
          </a:p>
          <a:p>
            <a:r>
              <a:rPr lang="en-US" altLang="zh-CN" dirty="0" smtClean="0"/>
              <a:t>EAP</a:t>
            </a:r>
            <a:r>
              <a:rPr lang="zh-CN" altLang="en-US" dirty="0"/>
              <a:t>终结方式与</a:t>
            </a:r>
            <a:r>
              <a:rPr lang="en-US" altLang="zh-CN" dirty="0"/>
              <a:t>EAP</a:t>
            </a:r>
            <a:r>
              <a:rPr lang="zh-CN" altLang="en-US" dirty="0"/>
              <a:t>中继方式的认证流程相比，不同之处在于用来对用户密码信息进行加密处理的</a:t>
            </a:r>
            <a:r>
              <a:rPr lang="en-US" altLang="zh-CN" dirty="0"/>
              <a:t>MD5 Challenge</a:t>
            </a:r>
            <a:r>
              <a:rPr lang="zh-CN" altLang="en-US" dirty="0"/>
              <a:t>由设备端生成，之后设备端会把用户名、</a:t>
            </a:r>
            <a:r>
              <a:rPr lang="en-US" altLang="zh-CN" dirty="0"/>
              <a:t>MD5 Challenge</a:t>
            </a:r>
            <a:r>
              <a:rPr lang="zh-CN" altLang="en-US" dirty="0"/>
              <a:t>和客户端加密后的密码信息一起送给</a:t>
            </a:r>
            <a:r>
              <a:rPr lang="en-US" altLang="zh-CN" dirty="0"/>
              <a:t>RADIUS</a:t>
            </a:r>
            <a:r>
              <a:rPr lang="zh-CN" altLang="en-US" dirty="0"/>
              <a:t>服务器，进行相关的认证处理。而在</a:t>
            </a:r>
            <a:r>
              <a:rPr lang="en-US" altLang="zh-CN" dirty="0"/>
              <a:t>EAP</a:t>
            </a:r>
            <a:r>
              <a:rPr lang="zh-CN" altLang="en-US" dirty="0"/>
              <a:t>中继方式中，用来对用户密码进行加密处理的</a:t>
            </a:r>
            <a:r>
              <a:rPr lang="en-US" altLang="zh-CN" dirty="0"/>
              <a:t>MD5 Challenge</a:t>
            </a:r>
            <a:r>
              <a:rPr lang="zh-CN" altLang="en-US" dirty="0"/>
              <a:t>由认证服务器生成，设备端只是负责将</a:t>
            </a:r>
            <a:r>
              <a:rPr lang="en-US" altLang="zh-CN" dirty="0"/>
              <a:t>EAP</a:t>
            </a:r>
            <a:r>
              <a:rPr lang="zh-CN" altLang="en-US" dirty="0"/>
              <a:t>报文封装在</a:t>
            </a:r>
            <a:r>
              <a:rPr lang="en-US" altLang="zh-CN" dirty="0"/>
              <a:t>RADIUS</a:t>
            </a:r>
            <a:r>
              <a:rPr lang="zh-CN" altLang="en-US" dirty="0"/>
              <a:t>报文中透传认证服务器，整个认证处理都由认证服务器来完成。</a:t>
            </a:r>
          </a:p>
          <a:p>
            <a:endParaRPr lang="zh-CN" altLang="en-US" dirty="0"/>
          </a:p>
          <a:p>
            <a:endParaRPr lang="zh-CN" altLang="en-US" dirty="0"/>
          </a:p>
        </p:txBody>
      </p:sp>
    </p:spTree>
    <p:extLst>
      <p:ext uri="{BB962C8B-B14F-4D97-AF65-F5344CB8AC3E}">
        <p14:creationId xmlns:p14="http://schemas.microsoft.com/office/powerpoint/2010/main" val="1237765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77966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44251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5970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哑终端：哑终端表示相对于其他终端而言功能较为有限、交互方式比较单一</a:t>
            </a:r>
            <a:r>
              <a:rPr lang="zh-CN" altLang="en-US" dirty="0" smtClean="0"/>
              <a:t>。这里</a:t>
            </a:r>
            <a:r>
              <a:rPr lang="zh-CN" altLang="en-US" dirty="0"/>
              <a:t>的哑终端泛指无法输入用户名和密码等认证信息的终端。</a:t>
            </a:r>
          </a:p>
          <a:p>
            <a:r>
              <a:rPr lang="zh-CN" altLang="en-US" dirty="0"/>
              <a:t>缺省情况下，</a:t>
            </a:r>
            <a:r>
              <a:rPr lang="en-US" altLang="zh-CN" dirty="0"/>
              <a:t>MAC</a:t>
            </a:r>
            <a:r>
              <a:rPr lang="zh-CN" altLang="en-US" dirty="0"/>
              <a:t>认证的用户名和密码均为不带分隔符“</a:t>
            </a:r>
            <a:r>
              <a:rPr lang="en-US" altLang="zh-CN" dirty="0" smtClean="0"/>
              <a:t>-</a:t>
            </a:r>
            <a:r>
              <a:rPr lang="zh-CN" altLang="en-US" dirty="0" smtClean="0"/>
              <a:t>”的</a:t>
            </a:r>
            <a:r>
              <a:rPr lang="en-US" altLang="zh-CN" dirty="0"/>
              <a:t>MAC</a:t>
            </a:r>
            <a:r>
              <a:rPr lang="zh-CN" altLang="en-US" dirty="0"/>
              <a:t>地址。如“</a:t>
            </a:r>
            <a:r>
              <a:rPr lang="en-US" altLang="zh-CN" dirty="0" smtClean="0"/>
              <a:t>0005e0112233</a:t>
            </a:r>
            <a:r>
              <a:rPr lang="zh-CN" altLang="en-US" dirty="0" smtClean="0"/>
              <a:t>”。</a:t>
            </a:r>
            <a:endParaRPr lang="zh-CN" altLang="en-US" dirty="0"/>
          </a:p>
          <a:p>
            <a:r>
              <a:rPr lang="en-US" altLang="zh-CN" dirty="0"/>
              <a:t>MAC</a:t>
            </a:r>
            <a:r>
              <a:rPr lang="zh-CN" altLang="en-US" dirty="0"/>
              <a:t>认证</a:t>
            </a:r>
            <a:r>
              <a:rPr lang="zh-CN" altLang="en-US" dirty="0" smtClean="0"/>
              <a:t>流程（以</a:t>
            </a:r>
            <a:r>
              <a:rPr lang="en-US" altLang="zh-CN" dirty="0" smtClean="0"/>
              <a:t>PAP</a:t>
            </a:r>
            <a:r>
              <a:rPr lang="zh-CN" altLang="en-US" dirty="0" smtClean="0"/>
              <a:t>方式为例）：</a:t>
            </a:r>
            <a:endParaRPr lang="zh-CN" altLang="en-US" dirty="0"/>
          </a:p>
          <a:p>
            <a:pPr marL="588600" lvl="1" indent="-228600">
              <a:buFont typeface="+mj-lt"/>
              <a:buAutoNum type="arabicPeriod"/>
            </a:pPr>
            <a:r>
              <a:rPr lang="zh-CN" altLang="en-US" dirty="0"/>
              <a:t>接入设备首次检测到终端的</a:t>
            </a:r>
            <a:r>
              <a:rPr lang="en-US" altLang="zh-CN" dirty="0"/>
              <a:t>MAC</a:t>
            </a:r>
            <a:r>
              <a:rPr lang="zh-CN" altLang="en-US" dirty="0"/>
              <a:t>地址，进行</a:t>
            </a:r>
            <a:r>
              <a:rPr lang="en-US" altLang="zh-CN" dirty="0"/>
              <a:t>MAC</a:t>
            </a:r>
            <a:r>
              <a:rPr lang="zh-CN" altLang="en-US" dirty="0"/>
              <a:t>地址学习，触发</a:t>
            </a:r>
            <a:r>
              <a:rPr lang="en-US" altLang="zh-CN" dirty="0"/>
              <a:t>MAC</a:t>
            </a:r>
            <a:r>
              <a:rPr lang="zh-CN" altLang="en-US" dirty="0"/>
              <a:t>认证。</a:t>
            </a:r>
          </a:p>
          <a:p>
            <a:pPr marL="588600" lvl="1" indent="-228600">
              <a:buFont typeface="+mj-lt"/>
              <a:buAutoNum type="arabicPeriod"/>
            </a:pPr>
            <a:r>
              <a:rPr lang="zh-CN" altLang="en-US" strike="noStrike" dirty="0" smtClean="0"/>
              <a:t>接入设备生成一个随机值（</a:t>
            </a:r>
            <a:r>
              <a:rPr lang="en-US" altLang="zh-CN" strike="noStrike" dirty="0" smtClean="0"/>
              <a:t>MD5</a:t>
            </a:r>
            <a:r>
              <a:rPr lang="zh-CN" altLang="en-US" strike="noStrike" dirty="0" smtClean="0"/>
              <a:t>挑战字），并对</a:t>
            </a:r>
            <a:r>
              <a:rPr lang="en-US" altLang="zh-CN" strike="noStrike" dirty="0" smtClean="0"/>
              <a:t>MAC</a:t>
            </a:r>
            <a:r>
              <a:rPr lang="zh-CN" altLang="en-US" strike="noStrike" dirty="0" smtClean="0"/>
              <a:t>认证用户的</a:t>
            </a:r>
            <a:r>
              <a:rPr lang="en-US" altLang="zh-CN" b="1" strike="noStrike" dirty="0" smtClean="0"/>
              <a:t>[MAC</a:t>
            </a:r>
            <a:r>
              <a:rPr lang="zh-CN" altLang="en-US" b="1" strike="noStrike" dirty="0" smtClean="0"/>
              <a:t>地址、密码、随机值</a:t>
            </a:r>
            <a:r>
              <a:rPr lang="en-US" altLang="zh-CN" b="1" strike="noStrike" dirty="0" smtClean="0"/>
              <a:t>]</a:t>
            </a:r>
            <a:r>
              <a:rPr lang="zh-CN" altLang="en-US" strike="noStrike" dirty="0" smtClean="0"/>
              <a:t>依次排列后经过</a:t>
            </a:r>
            <a:r>
              <a:rPr lang="en-US" altLang="zh-CN" strike="noStrike" dirty="0" smtClean="0"/>
              <a:t>MD5</a:t>
            </a:r>
            <a:r>
              <a:rPr lang="zh-CN" altLang="en-US" strike="noStrike" dirty="0" smtClean="0"/>
              <a:t>算法进行加密，然后将用户名、加密后的密码以及随机值封装在</a:t>
            </a:r>
            <a:r>
              <a:rPr lang="en-US" altLang="zh-CN" strike="noStrike" dirty="0" smtClean="0"/>
              <a:t>RADIUS</a:t>
            </a:r>
            <a:r>
              <a:rPr lang="zh-CN" altLang="en-US" strike="noStrike" dirty="0" smtClean="0"/>
              <a:t>认证请求报文中发送给</a:t>
            </a:r>
            <a:r>
              <a:rPr lang="en-US" altLang="zh-CN" strike="noStrike" dirty="0" smtClean="0"/>
              <a:t>RADIUS</a:t>
            </a:r>
            <a:r>
              <a:rPr lang="zh-CN" altLang="en-US" strike="noStrike" dirty="0" smtClean="0"/>
              <a:t>服务器，请求</a:t>
            </a:r>
            <a:r>
              <a:rPr lang="en-US" altLang="zh-CN" strike="noStrike" dirty="0" smtClean="0"/>
              <a:t>RADIUS</a:t>
            </a:r>
            <a:r>
              <a:rPr lang="zh-CN" altLang="en-US" strike="noStrike" dirty="0" smtClean="0"/>
              <a:t>服务器对该终端进行</a:t>
            </a:r>
            <a:r>
              <a:rPr lang="en-US" altLang="zh-CN" strike="noStrike" dirty="0" smtClean="0"/>
              <a:t>MAC</a:t>
            </a:r>
            <a:r>
              <a:rPr lang="zh-CN" altLang="en-US" strike="noStrike" dirty="0" smtClean="0"/>
              <a:t>认证。</a:t>
            </a:r>
            <a:endParaRPr lang="en-US" altLang="zh-CN" strike="noStrike" dirty="0" smtClean="0"/>
          </a:p>
          <a:p>
            <a:pPr marL="588600" lvl="1" indent="-228600">
              <a:buFont typeface="+mj-lt"/>
              <a:buAutoNum type="arabicPeriod"/>
            </a:pPr>
            <a:r>
              <a:rPr lang="en-US" altLang="zh-CN" dirty="0" smtClean="0"/>
              <a:t>RADIUS</a:t>
            </a:r>
            <a:r>
              <a:rPr lang="zh-CN" altLang="en-US" dirty="0"/>
              <a:t>服务器使用收到</a:t>
            </a:r>
            <a:r>
              <a:rPr lang="zh-CN" altLang="en-US" dirty="0" smtClean="0"/>
              <a:t>的随机值对</a:t>
            </a:r>
            <a:r>
              <a:rPr lang="zh-CN" altLang="en-US" dirty="0"/>
              <a:t>本地数据库中</a:t>
            </a:r>
            <a:r>
              <a:rPr lang="zh-CN" altLang="en-US" dirty="0" smtClean="0"/>
              <a:t>对应</a:t>
            </a:r>
            <a:r>
              <a:rPr lang="en-US" altLang="zh-CN" dirty="0" smtClean="0"/>
              <a:t>MAC</a:t>
            </a:r>
            <a:r>
              <a:rPr lang="zh-CN" altLang="en-US" dirty="0" smtClean="0"/>
              <a:t>认证用户的</a:t>
            </a:r>
            <a:r>
              <a:rPr lang="en-US" altLang="zh-CN" b="1" dirty="0" smtClean="0"/>
              <a:t>[MAC</a:t>
            </a:r>
            <a:r>
              <a:rPr lang="zh-CN" altLang="en-US" b="1" dirty="0" smtClean="0"/>
              <a:t>地址、密码、随机值</a:t>
            </a:r>
            <a:r>
              <a:rPr lang="en-US" altLang="zh-CN" b="1" dirty="0" smtClean="0"/>
              <a:t>]</a:t>
            </a:r>
            <a:r>
              <a:rPr lang="zh-CN" altLang="en-US" dirty="0" smtClean="0"/>
              <a:t>依次排列后进行加密（</a:t>
            </a:r>
            <a:r>
              <a:rPr lang="en-US" altLang="zh-CN" dirty="0" smtClean="0"/>
              <a:t>MD5</a:t>
            </a:r>
            <a:r>
              <a:rPr lang="zh-CN" altLang="en-US" dirty="0" smtClean="0"/>
              <a:t>算法）处理，</a:t>
            </a:r>
            <a:r>
              <a:rPr lang="zh-CN" altLang="en-US" dirty="0"/>
              <a:t>如果与设备发来的密码相同，则向设备发送认证接受报文，表示终端</a:t>
            </a:r>
            <a:r>
              <a:rPr lang="en-US" altLang="zh-CN" dirty="0"/>
              <a:t>MAC</a:t>
            </a:r>
            <a:r>
              <a:rPr lang="zh-CN" altLang="en-US" dirty="0"/>
              <a:t>认证成功，允许该终端访问网络。 </a:t>
            </a:r>
          </a:p>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en-US" altLang="zh-CN" dirty="0" smtClean="0"/>
              <a:t>CHAP</a:t>
            </a:r>
            <a:r>
              <a:rPr lang="zh-CN" altLang="en-US" dirty="0" smtClean="0"/>
              <a:t>方式的</a:t>
            </a:r>
            <a:r>
              <a:rPr lang="en-US" altLang="zh-CN" dirty="0" smtClean="0"/>
              <a:t>MAC</a:t>
            </a:r>
            <a:r>
              <a:rPr lang="zh-CN" altLang="en-US" dirty="0" smtClean="0"/>
              <a:t>认证与</a:t>
            </a:r>
            <a:r>
              <a:rPr lang="en-US" altLang="zh-CN" dirty="0" smtClean="0"/>
              <a:t>PAP</a:t>
            </a:r>
            <a:r>
              <a:rPr lang="zh-CN" altLang="en-US" dirty="0" smtClean="0"/>
              <a:t>方式的</a:t>
            </a:r>
            <a:r>
              <a:rPr lang="en-US" altLang="zh-CN" dirty="0" smtClean="0"/>
              <a:t>MAC</a:t>
            </a:r>
            <a:r>
              <a:rPr lang="zh-CN" altLang="en-US" dirty="0" smtClean="0"/>
              <a:t>认证相比，不同之处在于是对</a:t>
            </a:r>
            <a:r>
              <a:rPr lang="en-US" altLang="zh-CN" dirty="0" smtClean="0"/>
              <a:t>MAC</a:t>
            </a:r>
            <a:r>
              <a:rPr lang="zh-CN" altLang="en-US" dirty="0" smtClean="0"/>
              <a:t>认证用户的</a:t>
            </a:r>
            <a:r>
              <a:rPr lang="en-US" altLang="zh-CN" b="1" dirty="0" smtClean="0"/>
              <a:t>[CHAP ID</a:t>
            </a:r>
            <a:r>
              <a:rPr lang="zh-CN" altLang="en-US" b="1" dirty="0" smtClean="0"/>
              <a:t>、</a:t>
            </a:r>
            <a:r>
              <a:rPr lang="en-US" altLang="zh-CN" b="1" dirty="0" smtClean="0"/>
              <a:t>MAC</a:t>
            </a:r>
            <a:r>
              <a:rPr lang="zh-CN" altLang="en-US" b="1" dirty="0" smtClean="0"/>
              <a:t>地址、随机值</a:t>
            </a:r>
            <a:r>
              <a:rPr lang="en-US" altLang="zh-CN" b="1" dirty="0" smtClean="0"/>
              <a:t>]</a:t>
            </a:r>
            <a:r>
              <a:rPr lang="zh-CN" altLang="en-US" dirty="0" smtClean="0"/>
              <a:t>依次排列后进行</a:t>
            </a:r>
            <a:r>
              <a:rPr lang="en-US" altLang="zh-CN" dirty="0" smtClean="0"/>
              <a:t>MD5</a:t>
            </a:r>
            <a:r>
              <a:rPr lang="zh-CN" altLang="en-US" dirty="0" smtClean="0"/>
              <a:t>算法加密。</a:t>
            </a:r>
            <a:endParaRPr lang="zh-CN" altLang="en-US" dirty="0"/>
          </a:p>
        </p:txBody>
      </p:sp>
    </p:spTree>
    <p:extLst>
      <p:ext uri="{BB962C8B-B14F-4D97-AF65-F5344CB8AC3E}">
        <p14:creationId xmlns:p14="http://schemas.microsoft.com/office/powerpoint/2010/main" val="619086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122499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465234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客户端：一般情况下，客户端是安装</a:t>
            </a:r>
            <a:r>
              <a:rPr lang="zh-CN" altLang="en-US" dirty="0" smtClean="0"/>
              <a:t>有浏览器（支持</a:t>
            </a:r>
            <a:r>
              <a:rPr lang="en-US" altLang="zh-CN" dirty="0" smtClean="0"/>
              <a:t>HTTP/HTTPS</a:t>
            </a:r>
            <a:r>
              <a:rPr lang="zh-CN" altLang="en-US" dirty="0" smtClean="0"/>
              <a:t>）的主机。</a:t>
            </a:r>
            <a:endParaRPr lang="zh-CN" altLang="en-US" dirty="0"/>
          </a:p>
          <a:p>
            <a:r>
              <a:rPr lang="zh-CN" altLang="en-US" dirty="0"/>
              <a:t>接入设备：交换机、路由器等接入设备的统称，主要有三方面的作用。</a:t>
            </a:r>
          </a:p>
          <a:p>
            <a:pPr lvl="1"/>
            <a:r>
              <a:rPr lang="zh-CN" altLang="en-US" dirty="0"/>
              <a:t>在认证之前，将认证网段内用户的所有</a:t>
            </a:r>
            <a:r>
              <a:rPr lang="en-US" altLang="zh-CN" dirty="0"/>
              <a:t>HTTP/HTTPS</a:t>
            </a:r>
            <a:r>
              <a:rPr lang="zh-CN" altLang="en-US" dirty="0"/>
              <a:t>请求都重定向到</a:t>
            </a:r>
            <a:r>
              <a:rPr lang="en-US" altLang="zh-CN" dirty="0"/>
              <a:t>Portal</a:t>
            </a:r>
            <a:r>
              <a:rPr lang="zh-CN" altLang="en-US" dirty="0"/>
              <a:t>服务器。</a:t>
            </a:r>
          </a:p>
          <a:p>
            <a:pPr lvl="1"/>
            <a:r>
              <a:rPr lang="zh-CN" altLang="en-US" dirty="0"/>
              <a:t>在认证过程中，与</a:t>
            </a:r>
            <a:r>
              <a:rPr lang="en-US" altLang="zh-CN" dirty="0"/>
              <a:t>Portal</a:t>
            </a:r>
            <a:r>
              <a:rPr lang="zh-CN" altLang="en-US" dirty="0"/>
              <a:t>服务器、认证服务器交互，完成对用户身份认证、授权与计费的功能。</a:t>
            </a:r>
          </a:p>
          <a:p>
            <a:pPr lvl="1"/>
            <a:r>
              <a:rPr lang="zh-CN" altLang="en-US" dirty="0"/>
              <a:t>在认证通过后，允许用户访问被管理员授权的网络资源。</a:t>
            </a:r>
          </a:p>
          <a:p>
            <a:r>
              <a:rPr lang="en-US" altLang="zh-CN" dirty="0"/>
              <a:t>Portal</a:t>
            </a:r>
            <a:r>
              <a:rPr lang="zh-CN" altLang="en-US" dirty="0"/>
              <a:t>服务器：接收客户端认证请求的服务器系统，提供门户（</a:t>
            </a:r>
            <a:r>
              <a:rPr lang="en-US" altLang="zh-CN" dirty="0"/>
              <a:t>Portal</a:t>
            </a:r>
            <a:r>
              <a:rPr lang="zh-CN" altLang="en-US" dirty="0"/>
              <a:t>）服务和认证界面，与接入设备交互客户端的认证信息。</a:t>
            </a:r>
          </a:p>
          <a:p>
            <a:r>
              <a:rPr lang="zh-CN" altLang="en-US" dirty="0"/>
              <a:t>认证服务器：与接入设备进行交互，完成对用户的认证、授权与计费。</a:t>
            </a:r>
          </a:p>
          <a:p>
            <a:r>
              <a:rPr lang="en-US" altLang="zh-CN" dirty="0"/>
              <a:t>Portal</a:t>
            </a:r>
            <a:r>
              <a:rPr lang="zh-CN" altLang="en-US" dirty="0"/>
              <a:t>认证的优点：</a:t>
            </a:r>
          </a:p>
          <a:p>
            <a:pPr lvl="1"/>
            <a:r>
              <a:rPr lang="zh-CN" altLang="en-US" dirty="0"/>
              <a:t>一般情况下，客户端不需要安装额外的软件，直接在网页上认证，简单方便。</a:t>
            </a:r>
          </a:p>
          <a:p>
            <a:pPr lvl="1"/>
            <a:r>
              <a:rPr lang="zh-CN" altLang="en-US" dirty="0"/>
              <a:t>便于运营，可在网页上进行广告发布、企业宣传等业务拓展。</a:t>
            </a:r>
          </a:p>
          <a:p>
            <a:pPr lvl="1"/>
            <a:r>
              <a:rPr lang="zh-CN" altLang="en-US" dirty="0"/>
              <a:t>技术成熟，被广泛应用于运营商、连锁快餐、酒店、学校等网络。</a:t>
            </a:r>
          </a:p>
          <a:p>
            <a:pPr lvl="1"/>
            <a:r>
              <a:rPr lang="zh-CN" altLang="en-US" dirty="0"/>
              <a:t>部署位置灵活，可以在接入层或关键入口作访问控制。</a:t>
            </a:r>
          </a:p>
          <a:p>
            <a:pPr lvl="1"/>
            <a:r>
              <a:rPr lang="zh-CN" altLang="en-US" dirty="0"/>
              <a:t>用户管理灵活，可基于用户名与</a:t>
            </a:r>
            <a:r>
              <a:rPr lang="en-US" altLang="zh-CN" dirty="0"/>
              <a:t>VLAN/IP</a:t>
            </a:r>
            <a:r>
              <a:rPr lang="zh-CN" altLang="en-US" dirty="0"/>
              <a:t>地址</a:t>
            </a:r>
            <a:r>
              <a:rPr lang="en-US" altLang="zh-CN" dirty="0"/>
              <a:t>/MAC</a:t>
            </a:r>
            <a:r>
              <a:rPr lang="zh-CN" altLang="en-US" dirty="0"/>
              <a:t>地址的组合对用户进行认证。</a:t>
            </a:r>
          </a:p>
          <a:p>
            <a:endParaRPr lang="zh-CN" altLang="en-US" dirty="0"/>
          </a:p>
        </p:txBody>
      </p:sp>
    </p:spTree>
    <p:extLst>
      <p:ext uri="{BB962C8B-B14F-4D97-AF65-F5344CB8AC3E}">
        <p14:creationId xmlns:p14="http://schemas.microsoft.com/office/powerpoint/2010/main" val="41311760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00000"/>
              </a:lnSpc>
            </a:pPr>
            <a:r>
              <a:rPr lang="zh-CN" altLang="en-US" dirty="0" smtClean="0"/>
              <a:t>需根据实际网络情况选择不同的</a:t>
            </a:r>
            <a:r>
              <a:rPr lang="en-US" altLang="zh-CN" dirty="0" smtClean="0"/>
              <a:t>Portal</a:t>
            </a:r>
            <a:r>
              <a:rPr lang="zh-CN" altLang="en-US" dirty="0" smtClean="0"/>
              <a:t>认证方式：</a:t>
            </a:r>
          </a:p>
          <a:p>
            <a:pPr lvl="1">
              <a:lnSpc>
                <a:spcPct val="100000"/>
              </a:lnSpc>
            </a:pPr>
            <a:r>
              <a:rPr lang="zh-CN" altLang="en-US" dirty="0" smtClean="0"/>
              <a:t>采用二层认证方式时，接入设备可以学习到客户端的</a:t>
            </a:r>
            <a:r>
              <a:rPr lang="en-US" altLang="zh-CN" dirty="0" smtClean="0"/>
              <a:t>MAC</a:t>
            </a:r>
            <a:r>
              <a:rPr lang="zh-CN" altLang="en-US" dirty="0" smtClean="0"/>
              <a:t>地址，因此接入设备可以利用</a:t>
            </a:r>
            <a:r>
              <a:rPr lang="en-US" altLang="zh-CN" dirty="0" smtClean="0"/>
              <a:t>IP</a:t>
            </a:r>
            <a:r>
              <a:rPr lang="zh-CN" altLang="en-US" dirty="0" smtClean="0"/>
              <a:t>地址和</a:t>
            </a:r>
            <a:r>
              <a:rPr lang="en-US" altLang="zh-CN" dirty="0" smtClean="0"/>
              <a:t>MAC</a:t>
            </a:r>
            <a:r>
              <a:rPr lang="zh-CN" altLang="en-US" dirty="0" smtClean="0"/>
              <a:t>地址来识别用户。二层认证流程简单，安全性高，但由于限制了用户只能与接入设备处于同一网段，所以组网灵活性不高。</a:t>
            </a:r>
          </a:p>
          <a:p>
            <a:pPr lvl="1">
              <a:lnSpc>
                <a:spcPct val="100000"/>
              </a:lnSpc>
            </a:pPr>
            <a:r>
              <a:rPr lang="zh-CN" altLang="en-US" dirty="0" smtClean="0"/>
              <a:t>采用三层认证方式时，接入设备不能获取到认证客户端的</a:t>
            </a:r>
            <a:r>
              <a:rPr lang="en-US" altLang="zh-CN" dirty="0" smtClean="0"/>
              <a:t>MAC</a:t>
            </a:r>
            <a:r>
              <a:rPr lang="zh-CN" altLang="en-US" dirty="0" smtClean="0"/>
              <a:t>地址，只能以</a:t>
            </a:r>
            <a:r>
              <a:rPr lang="en-US" altLang="zh-CN" dirty="0" smtClean="0"/>
              <a:t>IP</a:t>
            </a:r>
            <a:r>
              <a:rPr lang="zh-CN" altLang="en-US" dirty="0" smtClean="0"/>
              <a:t>地址作为用户的唯一标识。三层认证组网灵活，容易实现远程控制，但由于只能以</a:t>
            </a:r>
            <a:r>
              <a:rPr lang="en-US" altLang="zh-CN" dirty="0" smtClean="0"/>
              <a:t>IP</a:t>
            </a:r>
            <a:r>
              <a:rPr lang="zh-CN" altLang="en-US" dirty="0" smtClean="0"/>
              <a:t>地址作为用户的唯一标识，相比之下安全性更低。</a:t>
            </a:r>
          </a:p>
          <a:p>
            <a:pPr>
              <a:lnSpc>
                <a:spcPct val="100000"/>
              </a:lnSpc>
            </a:pPr>
            <a:r>
              <a:rPr lang="en-US" altLang="zh-CN" dirty="0" smtClean="0"/>
              <a:t>Portal</a:t>
            </a:r>
            <a:r>
              <a:rPr lang="zh-CN" altLang="en-US" dirty="0" smtClean="0"/>
              <a:t>认证认证流程如下：</a:t>
            </a:r>
          </a:p>
          <a:p>
            <a:pPr marL="588600" lvl="1" indent="-228600">
              <a:lnSpc>
                <a:spcPct val="100000"/>
              </a:lnSpc>
              <a:buFont typeface="+mj-lt"/>
              <a:buAutoNum type="arabicPeriod"/>
            </a:pPr>
            <a:r>
              <a:rPr lang="zh-CN" altLang="en-US" dirty="0" smtClean="0"/>
              <a:t>在认证之前客户端与接入设备之间建立起预连接，即客户端用户在认证成功之前在接入设备上已建立用户在线表项，并且只有部分网络访问权限。对于三层认证方式，客户端与接入设备之间没有建立预连接过程，其余报文处理流程跟二层认证完全一致。</a:t>
            </a:r>
          </a:p>
          <a:p>
            <a:pPr marL="588600" lvl="1" indent="-228600">
              <a:lnSpc>
                <a:spcPct val="100000"/>
              </a:lnSpc>
              <a:buFont typeface="+mj-lt"/>
              <a:buAutoNum type="arabicPeriod"/>
            </a:pPr>
            <a:r>
              <a:rPr lang="zh-CN" altLang="en-US" dirty="0" smtClean="0"/>
              <a:t>客户端发起</a:t>
            </a:r>
            <a:r>
              <a:rPr lang="en-US" altLang="zh-CN" dirty="0" smtClean="0"/>
              <a:t>HTTP</a:t>
            </a:r>
            <a:r>
              <a:rPr lang="zh-CN" altLang="en-US" dirty="0" smtClean="0"/>
              <a:t>连接请求。</a:t>
            </a:r>
          </a:p>
          <a:p>
            <a:pPr marL="588600" lvl="1" indent="-228600">
              <a:lnSpc>
                <a:spcPct val="100000"/>
              </a:lnSpc>
              <a:buFont typeface="+mj-lt"/>
              <a:buAutoNum type="arabicPeriod"/>
            </a:pPr>
            <a:r>
              <a:rPr lang="zh-CN" altLang="en-US" dirty="0" smtClean="0"/>
              <a:t>接入设备收到</a:t>
            </a:r>
            <a:r>
              <a:rPr lang="en-US" altLang="zh-CN" dirty="0" smtClean="0"/>
              <a:t>HTTP</a:t>
            </a:r>
            <a:r>
              <a:rPr lang="zh-CN" altLang="en-US" dirty="0" smtClean="0"/>
              <a:t>连接请求报文时，如果是访问</a:t>
            </a:r>
            <a:r>
              <a:rPr lang="en-US" altLang="zh-CN" dirty="0" smtClean="0"/>
              <a:t>Portal</a:t>
            </a:r>
            <a:r>
              <a:rPr lang="zh-CN" altLang="en-US" dirty="0" smtClean="0"/>
              <a:t>服务器或免认证网络资源的</a:t>
            </a:r>
            <a:r>
              <a:rPr lang="en-US" altLang="zh-CN" dirty="0" smtClean="0"/>
              <a:t>HTTP</a:t>
            </a:r>
            <a:r>
              <a:rPr lang="zh-CN" altLang="en-US" dirty="0" smtClean="0"/>
              <a:t>报文，则接入设备允许其通过；如果是访问其它地址的</a:t>
            </a:r>
            <a:r>
              <a:rPr lang="en-US" altLang="zh-CN" dirty="0" smtClean="0"/>
              <a:t>HTTP</a:t>
            </a:r>
            <a:r>
              <a:rPr lang="zh-CN" altLang="en-US" dirty="0" smtClean="0"/>
              <a:t>报文，则接入设备将其</a:t>
            </a:r>
            <a:r>
              <a:rPr lang="en-US" altLang="zh-CN" dirty="0" smtClean="0"/>
              <a:t>URL</a:t>
            </a:r>
            <a:r>
              <a:rPr lang="zh-CN" altLang="en-US" dirty="0" smtClean="0"/>
              <a:t>（</a:t>
            </a:r>
            <a:r>
              <a:rPr lang="en-US" altLang="zh-CN" dirty="0" smtClean="0"/>
              <a:t>Uniform Resource Locator</a:t>
            </a:r>
            <a:r>
              <a:rPr lang="zh-CN" altLang="en-US" dirty="0" smtClean="0"/>
              <a:t>，统一资源定位符）地址重定向到</a:t>
            </a:r>
            <a:r>
              <a:rPr lang="en-US" altLang="zh-CN" dirty="0" smtClean="0"/>
              <a:t>Portal</a:t>
            </a:r>
            <a:r>
              <a:rPr lang="zh-CN" altLang="en-US" dirty="0" smtClean="0"/>
              <a:t>认证页面。</a:t>
            </a:r>
          </a:p>
          <a:p>
            <a:pPr marL="588600" lvl="1" indent="-228600">
              <a:lnSpc>
                <a:spcPct val="100000"/>
              </a:lnSpc>
              <a:buFont typeface="+mj-lt"/>
              <a:buAutoNum type="arabicPeriod"/>
            </a:pPr>
            <a:r>
              <a:rPr lang="zh-CN" altLang="en-US" dirty="0" smtClean="0"/>
              <a:t>客户端根据获得的</a:t>
            </a:r>
            <a:r>
              <a:rPr lang="en-US" altLang="zh-CN" dirty="0" smtClean="0"/>
              <a:t>URL</a:t>
            </a:r>
            <a:r>
              <a:rPr lang="zh-CN" altLang="en-US" dirty="0" smtClean="0"/>
              <a:t>地址向</a:t>
            </a:r>
            <a:r>
              <a:rPr lang="en-US" altLang="zh-CN" dirty="0" smtClean="0"/>
              <a:t>Portal</a:t>
            </a:r>
            <a:r>
              <a:rPr lang="zh-CN" altLang="en-US" dirty="0" smtClean="0"/>
              <a:t>服务器发起</a:t>
            </a:r>
            <a:r>
              <a:rPr lang="en-US" altLang="zh-CN" dirty="0" smtClean="0"/>
              <a:t>HTTP</a:t>
            </a:r>
            <a:r>
              <a:rPr lang="zh-CN" altLang="en-US" dirty="0" smtClean="0"/>
              <a:t>连接请求。</a:t>
            </a:r>
          </a:p>
          <a:p>
            <a:pPr marL="588600" lvl="1" indent="-228600">
              <a:lnSpc>
                <a:spcPct val="100000"/>
              </a:lnSpc>
              <a:buFont typeface="+mj-lt"/>
              <a:buAutoNum type="arabicPeriod"/>
            </a:pPr>
            <a:r>
              <a:rPr lang="en-US" altLang="zh-CN" dirty="0" smtClean="0"/>
              <a:t>Portal</a:t>
            </a:r>
            <a:r>
              <a:rPr lang="zh-CN" altLang="en-US" dirty="0" smtClean="0"/>
              <a:t>服务器向客户端返回</a:t>
            </a:r>
            <a:r>
              <a:rPr lang="en-US" altLang="zh-CN" dirty="0" smtClean="0"/>
              <a:t>Portal</a:t>
            </a:r>
            <a:r>
              <a:rPr lang="zh-CN" altLang="en-US" dirty="0" smtClean="0"/>
              <a:t>认证页面。</a:t>
            </a:r>
          </a:p>
          <a:p>
            <a:pPr marL="588600" lvl="1" indent="-228600">
              <a:lnSpc>
                <a:spcPct val="100000"/>
              </a:lnSpc>
              <a:buFont typeface="+mj-lt"/>
              <a:buAutoNum type="arabicPeriod"/>
            </a:pPr>
            <a:r>
              <a:rPr lang="zh-CN" altLang="en-US" dirty="0" smtClean="0"/>
              <a:t>用户在</a:t>
            </a:r>
            <a:r>
              <a:rPr lang="en-US" altLang="zh-CN" dirty="0" smtClean="0"/>
              <a:t>Portal</a:t>
            </a:r>
            <a:r>
              <a:rPr lang="zh-CN" altLang="en-US" dirty="0" smtClean="0"/>
              <a:t>认证页面输入用户名和密码后，客户端向</a:t>
            </a:r>
            <a:r>
              <a:rPr lang="en-US" altLang="zh-CN" dirty="0" smtClean="0"/>
              <a:t>Portal</a:t>
            </a:r>
            <a:r>
              <a:rPr lang="zh-CN" altLang="en-US" dirty="0" smtClean="0"/>
              <a:t>服务器发起</a:t>
            </a:r>
            <a:r>
              <a:rPr lang="en-US" altLang="zh-CN" dirty="0" smtClean="0"/>
              <a:t>Portal</a:t>
            </a:r>
            <a:r>
              <a:rPr lang="zh-CN" altLang="en-US" dirty="0" smtClean="0"/>
              <a:t>认证请求。</a:t>
            </a:r>
          </a:p>
          <a:p>
            <a:pPr marL="588600" lvl="1" indent="-228600">
              <a:lnSpc>
                <a:spcPct val="100000"/>
              </a:lnSpc>
              <a:buFont typeface="+mj-lt"/>
              <a:buAutoNum type="arabicPeriod"/>
            </a:pPr>
            <a:r>
              <a:rPr lang="zh-CN" altLang="en-US" dirty="0" smtClean="0"/>
              <a:t>按照不同认证协议规定的协议交互流程进行用户名和密码等参数的传递。</a:t>
            </a:r>
          </a:p>
          <a:p>
            <a:pPr>
              <a:lnSpc>
                <a:spcPct val="100000"/>
              </a:lnSpc>
            </a:pP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006867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以</a:t>
            </a:r>
            <a:r>
              <a:rPr lang="en-US" altLang="zh-CN" dirty="0" smtClean="0"/>
              <a:t>CHAP</a:t>
            </a:r>
            <a:r>
              <a:rPr lang="zh-CN" altLang="en-US" dirty="0" smtClean="0"/>
              <a:t>认证方式为例，基于</a:t>
            </a:r>
            <a:r>
              <a:rPr lang="en-US" altLang="zh-CN" dirty="0" smtClean="0"/>
              <a:t>Portal</a:t>
            </a:r>
            <a:r>
              <a:rPr lang="zh-CN" altLang="en-US" dirty="0" smtClean="0"/>
              <a:t>协议的</a:t>
            </a:r>
            <a:r>
              <a:rPr lang="en-US" altLang="zh-CN" dirty="0" smtClean="0"/>
              <a:t>Portal</a:t>
            </a:r>
            <a:r>
              <a:rPr lang="zh-CN" altLang="en-US" dirty="0" smtClean="0"/>
              <a:t>认证流程如下：</a:t>
            </a:r>
          </a:p>
          <a:p>
            <a:pPr marL="588600" lvl="1" indent="-228600">
              <a:buFont typeface="+mj-lt"/>
              <a:buAutoNum type="arabicPeriod" startAt="7"/>
            </a:pPr>
            <a:r>
              <a:rPr lang="en-US" altLang="zh-CN" dirty="0" smtClean="0"/>
              <a:t>Portal</a:t>
            </a:r>
            <a:r>
              <a:rPr lang="zh-CN" altLang="en-US" dirty="0" smtClean="0"/>
              <a:t>服务器收到</a:t>
            </a:r>
            <a:r>
              <a:rPr lang="en-US" altLang="zh-CN" dirty="0" smtClean="0"/>
              <a:t>Portal</a:t>
            </a:r>
            <a:r>
              <a:rPr lang="zh-CN" altLang="en-US" dirty="0" smtClean="0"/>
              <a:t>认证请求后，如果</a:t>
            </a:r>
            <a:r>
              <a:rPr lang="en-US" altLang="zh-CN" dirty="0" smtClean="0"/>
              <a:t>Portal</a:t>
            </a:r>
            <a:r>
              <a:rPr lang="zh-CN" altLang="en-US" dirty="0" smtClean="0"/>
              <a:t>服务器与接入设备之间采用</a:t>
            </a:r>
            <a:r>
              <a:rPr lang="en-US" altLang="zh-CN" dirty="0" smtClean="0"/>
              <a:t>CHAP</a:t>
            </a:r>
            <a:r>
              <a:rPr lang="zh-CN" altLang="en-US" dirty="0" smtClean="0"/>
              <a:t>认证，则</a:t>
            </a:r>
            <a:r>
              <a:rPr lang="en-US" altLang="zh-CN" dirty="0" smtClean="0"/>
              <a:t>Portal</a:t>
            </a:r>
            <a:r>
              <a:rPr lang="zh-CN" altLang="en-US" dirty="0" smtClean="0"/>
              <a:t>服务器向接入设备发起</a:t>
            </a:r>
            <a:r>
              <a:rPr lang="en-US" altLang="zh-CN" dirty="0" smtClean="0"/>
              <a:t>Portal</a:t>
            </a:r>
            <a:r>
              <a:rPr lang="zh-CN" altLang="en-US" dirty="0" smtClean="0"/>
              <a:t>挑战字请求报文；如果</a:t>
            </a:r>
            <a:r>
              <a:rPr lang="en-US" altLang="zh-CN" dirty="0" smtClean="0"/>
              <a:t>Portal</a:t>
            </a:r>
            <a:r>
              <a:rPr lang="zh-CN" altLang="en-US" dirty="0" smtClean="0"/>
              <a:t>服务器与接入设备之间采用</a:t>
            </a:r>
            <a:r>
              <a:rPr lang="en-US" altLang="zh-CN" dirty="0" smtClean="0"/>
              <a:t>PAP</a:t>
            </a:r>
            <a:r>
              <a:rPr lang="zh-CN" altLang="en-US" dirty="0" smtClean="0"/>
              <a:t>认证，则接入设备直接进行第</a:t>
            </a:r>
            <a:r>
              <a:rPr lang="en-US" altLang="zh-CN" dirty="0" smtClean="0"/>
              <a:t>9</a:t>
            </a:r>
            <a:r>
              <a:rPr lang="zh-CN" altLang="en-US" dirty="0" smtClean="0"/>
              <a:t>步。</a:t>
            </a:r>
          </a:p>
          <a:p>
            <a:pPr marL="588600" lvl="1" indent="-228600">
              <a:buFont typeface="+mj-lt"/>
              <a:buAutoNum type="arabicPeriod" startAt="7"/>
            </a:pPr>
            <a:r>
              <a:rPr lang="zh-CN" altLang="en-US" dirty="0" smtClean="0"/>
              <a:t>接入设备向</a:t>
            </a:r>
            <a:r>
              <a:rPr lang="en-US" altLang="zh-CN" dirty="0" smtClean="0"/>
              <a:t>Portal</a:t>
            </a:r>
            <a:r>
              <a:rPr lang="zh-CN" altLang="en-US" dirty="0" smtClean="0"/>
              <a:t>服务器回应</a:t>
            </a:r>
            <a:r>
              <a:rPr lang="en-US" altLang="zh-CN" dirty="0" smtClean="0"/>
              <a:t>Portal</a:t>
            </a:r>
            <a:r>
              <a:rPr lang="zh-CN" altLang="en-US" dirty="0" smtClean="0"/>
              <a:t>挑战字响应报文。</a:t>
            </a:r>
          </a:p>
          <a:p>
            <a:pPr marL="588600" lvl="1" indent="-228600">
              <a:buFont typeface="+mj-lt"/>
              <a:buAutoNum type="arabicPeriod" startAt="7"/>
            </a:pPr>
            <a:r>
              <a:rPr lang="en-US" altLang="zh-CN" dirty="0" smtClean="0"/>
              <a:t>Portal</a:t>
            </a:r>
            <a:r>
              <a:rPr lang="zh-CN" altLang="en-US" dirty="0" smtClean="0"/>
              <a:t>服务器将用户输入的用户名和密码封装在</a:t>
            </a:r>
            <a:r>
              <a:rPr lang="en-US" altLang="zh-CN" dirty="0" smtClean="0"/>
              <a:t>Portal</a:t>
            </a:r>
            <a:r>
              <a:rPr lang="zh-CN" altLang="en-US" dirty="0" smtClean="0"/>
              <a:t>认证请求报文中，并发送给接入设备。</a:t>
            </a:r>
          </a:p>
          <a:p>
            <a:pPr marL="588600" lvl="1" indent="-228600">
              <a:buFont typeface="+mj-lt"/>
              <a:buAutoNum type="arabicPeriod" startAt="7"/>
            </a:pPr>
            <a:r>
              <a:rPr lang="zh-CN" altLang="en-US" dirty="0" smtClean="0"/>
              <a:t>接入设备与</a:t>
            </a:r>
            <a:r>
              <a:rPr lang="en-US" altLang="zh-CN" dirty="0" smtClean="0"/>
              <a:t>RADIUS</a:t>
            </a:r>
            <a:r>
              <a:rPr lang="zh-CN" altLang="en-US" dirty="0" smtClean="0"/>
              <a:t>服务器之间进行用户信息的认证，内容包括：</a:t>
            </a:r>
          </a:p>
          <a:p>
            <a:pPr lvl="2"/>
            <a:r>
              <a:rPr lang="zh-CN" altLang="en-US" dirty="0" smtClean="0"/>
              <a:t>接入设备根据获取到的用户名和密码，向</a:t>
            </a:r>
            <a:r>
              <a:rPr lang="en-US" altLang="zh-CN" dirty="0" smtClean="0"/>
              <a:t>RADIUS</a:t>
            </a:r>
            <a:r>
              <a:rPr lang="zh-CN" altLang="en-US" dirty="0" smtClean="0"/>
              <a:t>服务器发送</a:t>
            </a:r>
            <a:r>
              <a:rPr lang="en-US" altLang="zh-CN" dirty="0" smtClean="0"/>
              <a:t>RADIUS</a:t>
            </a:r>
            <a:r>
              <a:rPr lang="zh-CN" altLang="en-US" dirty="0" smtClean="0"/>
              <a:t>认证请求。</a:t>
            </a:r>
          </a:p>
          <a:p>
            <a:pPr lvl="2"/>
            <a:r>
              <a:rPr lang="en-US" altLang="zh-CN" dirty="0" smtClean="0"/>
              <a:t>RADIUS</a:t>
            </a:r>
            <a:r>
              <a:rPr lang="zh-CN" altLang="en-US" dirty="0" smtClean="0"/>
              <a:t>服务器对用户名和密码进行认证。如果认证成功，则</a:t>
            </a:r>
            <a:r>
              <a:rPr lang="en-US" altLang="zh-CN" dirty="0" smtClean="0"/>
              <a:t>RADIUS</a:t>
            </a:r>
            <a:r>
              <a:rPr lang="zh-CN" altLang="en-US" dirty="0" smtClean="0"/>
              <a:t>服务器向接入设备发送认证接受报文；如果认证失败，则</a:t>
            </a:r>
            <a:r>
              <a:rPr lang="en-US" altLang="zh-CN" dirty="0" smtClean="0"/>
              <a:t>RADIUS</a:t>
            </a:r>
            <a:r>
              <a:rPr lang="zh-CN" altLang="en-US" dirty="0" smtClean="0"/>
              <a:t>服务器返回认证拒绝报文。由于</a:t>
            </a:r>
            <a:r>
              <a:rPr lang="en-US" altLang="zh-CN" dirty="0" smtClean="0"/>
              <a:t>RADIUS</a:t>
            </a:r>
            <a:r>
              <a:rPr lang="zh-CN" altLang="en-US" dirty="0" smtClean="0"/>
              <a:t>协议合并了认证和授权的过程，因此认证接受报文中也包含了用户的授权信息。</a:t>
            </a:r>
          </a:p>
          <a:p>
            <a:pPr lvl="2"/>
            <a:r>
              <a:rPr lang="zh-CN" altLang="en-US" dirty="0" smtClean="0"/>
              <a:t>接入设备根据接收到的认证结果接入</a:t>
            </a:r>
            <a:r>
              <a:rPr lang="en-US" altLang="zh-CN" dirty="0" smtClean="0"/>
              <a:t>/</a:t>
            </a:r>
            <a:r>
              <a:rPr lang="zh-CN" altLang="en-US" dirty="0" smtClean="0"/>
              <a:t>拒绝用户。如果允许用户接入，则接入设备向</a:t>
            </a:r>
            <a:r>
              <a:rPr lang="en-US" altLang="zh-CN" dirty="0" smtClean="0"/>
              <a:t>RADIUS</a:t>
            </a:r>
            <a:r>
              <a:rPr lang="zh-CN" altLang="en-US" dirty="0" smtClean="0"/>
              <a:t>服务器发送计费开始请求报文。</a:t>
            </a:r>
          </a:p>
          <a:p>
            <a:pPr lvl="2"/>
            <a:r>
              <a:rPr lang="en-US" altLang="zh-CN" dirty="0" smtClean="0"/>
              <a:t>RADIUS</a:t>
            </a:r>
            <a:r>
              <a:rPr lang="zh-CN" altLang="en-US" dirty="0" smtClean="0"/>
              <a:t>服务器返回计费开始响应报文，并开始计费，将用户加入自身在线用户列表。</a:t>
            </a:r>
            <a:endParaRPr lang="zh-CN" altLang="en-US" dirty="0"/>
          </a:p>
        </p:txBody>
      </p:sp>
    </p:spTree>
    <p:extLst>
      <p:ext uri="{BB962C8B-B14F-4D97-AF65-F5344CB8AC3E}">
        <p14:creationId xmlns:p14="http://schemas.microsoft.com/office/powerpoint/2010/main" val="21010244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marL="588600" lvl="1" indent="-228600">
              <a:buFont typeface="+mj-lt"/>
              <a:buAutoNum type="arabicPeriod" startAt="11"/>
            </a:pPr>
            <a:r>
              <a:rPr lang="zh-CN" altLang="en-US" dirty="0"/>
              <a:t>接入设备向</a:t>
            </a:r>
            <a:r>
              <a:rPr lang="en-US" altLang="zh-CN" dirty="0"/>
              <a:t>Portal</a:t>
            </a:r>
            <a:r>
              <a:rPr lang="zh-CN" altLang="en-US" dirty="0"/>
              <a:t>服务器返回</a:t>
            </a:r>
            <a:r>
              <a:rPr lang="en-US" altLang="zh-CN" dirty="0"/>
              <a:t>Portal</a:t>
            </a:r>
            <a:r>
              <a:rPr lang="zh-CN" altLang="en-US" dirty="0"/>
              <a:t>认证结果，并将用户加入自身在线用户列表。</a:t>
            </a:r>
          </a:p>
          <a:p>
            <a:pPr marL="588600" lvl="1" indent="-228600">
              <a:buFont typeface="+mj-lt"/>
              <a:buAutoNum type="arabicPeriod" startAt="11"/>
            </a:pPr>
            <a:r>
              <a:rPr lang="en-US" altLang="zh-CN" dirty="0"/>
              <a:t>Portal</a:t>
            </a:r>
            <a:r>
              <a:rPr lang="zh-CN" altLang="en-US" dirty="0"/>
              <a:t>服务器向客户端发送认证结果报文，通知客户端认证成功，并将用户加入自身在线用户列表。</a:t>
            </a:r>
          </a:p>
          <a:p>
            <a:pPr marL="588600" lvl="1" indent="-228600">
              <a:buFont typeface="+mj-lt"/>
              <a:buAutoNum type="arabicPeriod" startAt="11"/>
            </a:pPr>
            <a:r>
              <a:rPr lang="en-US" altLang="zh-CN" dirty="0"/>
              <a:t>Portal</a:t>
            </a:r>
            <a:r>
              <a:rPr lang="zh-CN" altLang="en-US" dirty="0"/>
              <a:t>服务器向接入设备发送认证应答确认。</a:t>
            </a:r>
          </a:p>
          <a:p>
            <a:r>
              <a:rPr lang="zh-CN" altLang="en-US" dirty="0" smtClean="0"/>
              <a:t>注意</a:t>
            </a:r>
            <a:r>
              <a:rPr lang="zh-CN" altLang="en-US" dirty="0"/>
              <a:t>：若使用接入设备内置</a:t>
            </a:r>
            <a:r>
              <a:rPr lang="en-US" altLang="zh-CN" dirty="0"/>
              <a:t>Portal</a:t>
            </a:r>
            <a:r>
              <a:rPr lang="zh-CN" altLang="en-US" dirty="0"/>
              <a:t>服务器（即接入设备同时作为</a:t>
            </a:r>
            <a:r>
              <a:rPr lang="en-US" altLang="zh-CN" dirty="0"/>
              <a:t>Portal</a:t>
            </a:r>
            <a:r>
              <a:rPr lang="zh-CN" altLang="en-US" dirty="0"/>
              <a:t>认证服务器）进行</a:t>
            </a:r>
            <a:r>
              <a:rPr lang="en-US" altLang="zh-CN" dirty="0"/>
              <a:t>Portal</a:t>
            </a:r>
            <a:r>
              <a:rPr lang="zh-CN" altLang="en-US" dirty="0"/>
              <a:t>认证时，仅支持</a:t>
            </a:r>
            <a:r>
              <a:rPr lang="en-US" altLang="zh-CN" dirty="0"/>
              <a:t>Portal</a:t>
            </a:r>
            <a:r>
              <a:rPr lang="zh-CN" altLang="en-US" dirty="0"/>
              <a:t>协议。</a:t>
            </a:r>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1839657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HTTPS</a:t>
            </a:r>
            <a:r>
              <a:rPr lang="zh-CN" altLang="en-US" dirty="0"/>
              <a:t>（</a:t>
            </a:r>
            <a:r>
              <a:rPr lang="en-US" altLang="zh-CN" dirty="0"/>
              <a:t>Hypertext Transfer Protocol Secure</a:t>
            </a:r>
            <a:r>
              <a:rPr lang="zh-CN" altLang="en-US" dirty="0"/>
              <a:t>，超文本传输安全协议），也常称为</a:t>
            </a:r>
            <a:r>
              <a:rPr lang="en-US" altLang="zh-CN" dirty="0"/>
              <a:t>HTTP over TLS</a:t>
            </a:r>
            <a:r>
              <a:rPr lang="zh-CN" altLang="en-US" dirty="0"/>
              <a:t>（</a:t>
            </a:r>
            <a:r>
              <a:rPr lang="en-US" altLang="zh-CN" dirty="0"/>
              <a:t>Hyper Text Transfer Protocol over Transport Layer Security</a:t>
            </a:r>
            <a:r>
              <a:rPr lang="zh-CN" altLang="en-US" dirty="0"/>
              <a:t>）或</a:t>
            </a:r>
            <a:r>
              <a:rPr lang="en-US" altLang="zh-CN" dirty="0"/>
              <a:t>HTTP over SSL</a:t>
            </a:r>
            <a:r>
              <a:rPr lang="zh-CN" altLang="en-US" dirty="0"/>
              <a:t>（</a:t>
            </a:r>
            <a:r>
              <a:rPr lang="en-US" altLang="zh-CN" dirty="0"/>
              <a:t>Hyper Text Transfer Protocol over Secure Socket Layer</a:t>
            </a:r>
            <a:r>
              <a:rPr lang="zh-CN" altLang="en-US" dirty="0"/>
              <a:t>），是以安全为目标的</a:t>
            </a:r>
            <a:r>
              <a:rPr lang="en-US" altLang="zh-CN" dirty="0"/>
              <a:t>HTTP</a:t>
            </a:r>
            <a:r>
              <a:rPr lang="zh-CN" altLang="en-US" dirty="0"/>
              <a:t>通道，简单讲是</a:t>
            </a:r>
            <a:r>
              <a:rPr lang="en-US" altLang="zh-CN" dirty="0"/>
              <a:t>HTTP</a:t>
            </a:r>
            <a:r>
              <a:rPr lang="zh-CN" altLang="en-US" dirty="0"/>
              <a:t>的安全版。</a:t>
            </a:r>
            <a:r>
              <a:rPr lang="en-US" altLang="zh-CN" dirty="0"/>
              <a:t>HTTPS</a:t>
            </a:r>
            <a:r>
              <a:rPr lang="zh-CN" altLang="en-US" dirty="0"/>
              <a:t>通过</a:t>
            </a:r>
            <a:r>
              <a:rPr lang="en-US" altLang="zh-CN" dirty="0"/>
              <a:t>HTTP</a:t>
            </a:r>
            <a:r>
              <a:rPr lang="zh-CN" altLang="en-US" dirty="0"/>
              <a:t>进行通信，并使用</a:t>
            </a:r>
            <a:r>
              <a:rPr lang="en-US" altLang="zh-CN" dirty="0"/>
              <a:t>SSL/TLS</a:t>
            </a:r>
            <a:r>
              <a:rPr lang="zh-CN" altLang="en-US" dirty="0"/>
              <a:t>来加密数据。</a:t>
            </a:r>
          </a:p>
          <a:p>
            <a:r>
              <a:rPr lang="en-US" altLang="zh-CN" dirty="0"/>
              <a:t>URL</a:t>
            </a:r>
            <a:r>
              <a:rPr lang="zh-CN" altLang="en-US" dirty="0"/>
              <a:t>是对可以从互联网上得到的资源的位置和访问方法的一种简洁的表示，是互联网上标准资源的地址。互联网上的每个文件都有一个唯一的</a:t>
            </a:r>
            <a:r>
              <a:rPr lang="en-US" altLang="zh-CN" dirty="0"/>
              <a:t>URL</a:t>
            </a:r>
            <a:r>
              <a:rPr lang="zh-CN" altLang="en-US" dirty="0"/>
              <a:t>，它包含的信息包括指出文件的位置以及浏览器应该怎么处理它。 </a:t>
            </a:r>
          </a:p>
          <a:p>
            <a:r>
              <a:rPr lang="zh-CN" altLang="en-US" dirty="0"/>
              <a:t>当使用基于</a:t>
            </a:r>
            <a:r>
              <a:rPr lang="en-US" altLang="zh-CN" dirty="0"/>
              <a:t>HTTP/HTTPS</a:t>
            </a:r>
            <a:r>
              <a:rPr lang="zh-CN" altLang="en-US" dirty="0"/>
              <a:t>协议的</a:t>
            </a:r>
            <a:r>
              <a:rPr lang="en-US" altLang="zh-CN" dirty="0"/>
              <a:t>Portal</a:t>
            </a:r>
            <a:r>
              <a:rPr lang="zh-CN" altLang="en-US" dirty="0"/>
              <a:t>认证时，具体流程如下：</a:t>
            </a:r>
          </a:p>
          <a:p>
            <a:pPr marL="588600" lvl="1" indent="-228600">
              <a:buFont typeface="+mj-lt"/>
              <a:buAutoNum type="arabicPeriod" startAt="7"/>
            </a:pPr>
            <a:r>
              <a:rPr lang="en-US" altLang="zh-CN" dirty="0"/>
              <a:t>Portal</a:t>
            </a:r>
            <a:r>
              <a:rPr lang="zh-CN" altLang="en-US" dirty="0"/>
              <a:t>服务器通知客户端向接入设备发起</a:t>
            </a:r>
            <a:r>
              <a:rPr lang="en-US" altLang="zh-CN" dirty="0"/>
              <a:t>Portal</a:t>
            </a:r>
            <a:r>
              <a:rPr lang="zh-CN" altLang="en-US" dirty="0"/>
              <a:t>认证请求。</a:t>
            </a:r>
          </a:p>
          <a:p>
            <a:pPr marL="588600" lvl="1" indent="-228600">
              <a:buFont typeface="+mj-lt"/>
              <a:buAutoNum type="arabicPeriod" startAt="7"/>
            </a:pPr>
            <a:r>
              <a:rPr lang="zh-CN" altLang="en-US" dirty="0"/>
              <a:t>客户端向接入设备发起</a:t>
            </a:r>
            <a:r>
              <a:rPr lang="en-US" altLang="zh-CN" dirty="0"/>
              <a:t>Portal</a:t>
            </a:r>
            <a:r>
              <a:rPr lang="zh-CN" altLang="en-US" dirty="0"/>
              <a:t>认证请求（</a:t>
            </a:r>
            <a:r>
              <a:rPr lang="en-US" altLang="zh-CN" dirty="0"/>
              <a:t>HTTP POST/GET</a:t>
            </a:r>
            <a:r>
              <a:rPr lang="zh-CN" altLang="en-US" dirty="0"/>
              <a:t>）。</a:t>
            </a:r>
          </a:p>
          <a:p>
            <a:pPr marL="588600" lvl="1" indent="-228600">
              <a:buFont typeface="+mj-lt"/>
              <a:buAutoNum type="arabicPeriod" startAt="7"/>
            </a:pPr>
            <a:r>
              <a:rPr lang="zh-CN" altLang="en-US" dirty="0"/>
              <a:t>设备收到认证请求后，会根据参数名称解析请求报文来获取用户名和密码等参数，然后将获取的用户名和密码向</a:t>
            </a:r>
            <a:r>
              <a:rPr lang="en-US" altLang="zh-CN" dirty="0"/>
              <a:t>RADIUS</a:t>
            </a:r>
            <a:r>
              <a:rPr lang="zh-CN" altLang="en-US" dirty="0"/>
              <a:t>服务器进行认证，具体过程与基于</a:t>
            </a:r>
            <a:r>
              <a:rPr lang="en-US" altLang="zh-CN" dirty="0"/>
              <a:t>Portal</a:t>
            </a:r>
            <a:r>
              <a:rPr lang="zh-CN" altLang="en-US" dirty="0"/>
              <a:t>的认证流程相同。</a:t>
            </a:r>
          </a:p>
          <a:p>
            <a:pPr marL="588600" lvl="1" indent="-228600">
              <a:buFont typeface="+mj-lt"/>
              <a:buAutoNum type="arabicPeriod" startAt="7"/>
            </a:pPr>
            <a:r>
              <a:rPr lang="zh-CN" altLang="en-US" dirty="0"/>
              <a:t>接入设备向客户端返回</a:t>
            </a:r>
            <a:r>
              <a:rPr lang="en-US" altLang="zh-CN" dirty="0"/>
              <a:t>Portal</a:t>
            </a:r>
            <a:r>
              <a:rPr lang="zh-CN" altLang="en-US" dirty="0"/>
              <a:t>认证结果，并将用户加入自身在线用户列表。</a:t>
            </a:r>
          </a:p>
          <a:p>
            <a:r>
              <a:rPr lang="zh-CN" altLang="en-US" dirty="0"/>
              <a:t>如图是采用</a:t>
            </a:r>
            <a:r>
              <a:rPr lang="en-US" altLang="zh-CN" dirty="0"/>
              <a:t>GET</a:t>
            </a:r>
            <a:r>
              <a:rPr lang="zh-CN" altLang="en-US" dirty="0"/>
              <a:t>方式发送</a:t>
            </a:r>
            <a:r>
              <a:rPr lang="en-US" altLang="zh-CN" dirty="0"/>
              <a:t>HTTP</a:t>
            </a:r>
            <a:r>
              <a:rPr lang="zh-CN" altLang="en-US" dirty="0"/>
              <a:t>请求举例：</a:t>
            </a:r>
            <a:r>
              <a:rPr lang="en-US" altLang="zh-CN" dirty="0"/>
              <a:t>https://Portal.example.com/login?</a:t>
            </a:r>
            <a:r>
              <a:rPr lang="en-US" altLang="zh-CN" b="1" dirty="0"/>
              <a:t>userName=test&amp;password=Huawei@123</a:t>
            </a:r>
            <a:r>
              <a:rPr lang="zh-CN" altLang="en-US" dirty="0"/>
              <a:t>，可以看到用户名和密码在</a:t>
            </a:r>
            <a:r>
              <a:rPr lang="en-US" altLang="zh-CN" dirty="0"/>
              <a:t>URL</a:t>
            </a:r>
            <a:r>
              <a:rPr lang="zh-CN" altLang="en-US" dirty="0"/>
              <a:t>的后面以明文方式传递</a:t>
            </a:r>
            <a:r>
              <a:rPr lang="zh-CN" altLang="en-US" dirty="0" smtClean="0"/>
              <a:t>，并且以“</a:t>
            </a:r>
            <a:r>
              <a:rPr lang="en-US" altLang="zh-CN" dirty="0" smtClean="0"/>
              <a:t>?</a:t>
            </a:r>
            <a:r>
              <a:rPr lang="zh-CN" altLang="en-US" dirty="0" smtClean="0"/>
              <a:t>”进行分割。</a:t>
            </a:r>
            <a:endParaRPr lang="zh-CN" altLang="en-US" dirty="0"/>
          </a:p>
        </p:txBody>
      </p:sp>
    </p:spTree>
    <p:extLst>
      <p:ext uri="{BB962C8B-B14F-4D97-AF65-F5344CB8AC3E}">
        <p14:creationId xmlns:p14="http://schemas.microsoft.com/office/powerpoint/2010/main" val="28364405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702559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767746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902791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929162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647838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MAC</a:t>
            </a:r>
            <a:r>
              <a:rPr lang="zh-CN" altLang="en-US" dirty="0"/>
              <a:t>优先的</a:t>
            </a:r>
            <a:r>
              <a:rPr lang="en-US" altLang="zh-CN" dirty="0"/>
              <a:t>Portal</a:t>
            </a:r>
            <a:r>
              <a:rPr lang="zh-CN" altLang="en-US" dirty="0"/>
              <a:t>认证本质上是</a:t>
            </a:r>
            <a:r>
              <a:rPr lang="en-US" altLang="zh-CN" dirty="0"/>
              <a:t>Portal</a:t>
            </a:r>
            <a:r>
              <a:rPr lang="zh-CN" altLang="en-US" dirty="0"/>
              <a:t>认证，用来解决在无线环境下终端用户通过</a:t>
            </a:r>
            <a:r>
              <a:rPr lang="en-US" altLang="zh-CN" dirty="0"/>
              <a:t>Portal</a:t>
            </a:r>
            <a:r>
              <a:rPr lang="zh-CN" altLang="en-US" dirty="0"/>
              <a:t>认证之后，因无线信号不稳定或终端用户离开无线信号覆盖区域导致终端用户掉线，终端用户需要频繁在</a:t>
            </a:r>
            <a:r>
              <a:rPr lang="en-US" altLang="zh-CN" dirty="0"/>
              <a:t>Web</a:t>
            </a:r>
            <a:r>
              <a:rPr lang="zh-CN" altLang="en-US" dirty="0"/>
              <a:t>浏览器上输入帐号和密码重新认证才能接入网络。有线环境下不存在信号不稳定的情况，所以一般无需启用</a:t>
            </a:r>
            <a:r>
              <a:rPr lang="en-US" altLang="zh-CN" dirty="0"/>
              <a:t>MAC</a:t>
            </a:r>
            <a:r>
              <a:rPr lang="zh-CN" altLang="en-US" dirty="0"/>
              <a:t>优先。</a:t>
            </a:r>
          </a:p>
        </p:txBody>
      </p:sp>
    </p:spTree>
    <p:extLst>
      <p:ext uri="{BB962C8B-B14F-4D97-AF65-F5344CB8AC3E}">
        <p14:creationId xmlns:p14="http://schemas.microsoft.com/office/powerpoint/2010/main" val="35255885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273946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4310764"/>
            <a:ext cx="5580062" cy="4985635"/>
          </a:xfrm>
        </p:spPr>
        <p:txBody>
          <a:bodyPr/>
          <a:lstStyle/>
          <a:p>
            <a:pPr>
              <a:lnSpc>
                <a:spcPct val="100000"/>
              </a:lnSpc>
            </a:pPr>
            <a:r>
              <a:rPr lang="zh-CN" altLang="en-US" smtClean="0"/>
              <a:t>由于</a:t>
            </a:r>
            <a:r>
              <a:rPr lang="en-US" altLang="zh-CN" smtClean="0"/>
              <a:t>RADIUS</a:t>
            </a:r>
            <a:r>
              <a:rPr lang="zh-CN" altLang="en-US" smtClean="0"/>
              <a:t>协议合并了认证和授权的过程，因此当采用</a:t>
            </a:r>
            <a:r>
              <a:rPr lang="en-US" altLang="zh-CN" smtClean="0"/>
              <a:t>RADIUS</a:t>
            </a:r>
            <a:r>
              <a:rPr lang="zh-CN" altLang="en-US" smtClean="0"/>
              <a:t>作为认证服务器时，认证接受报文中也包含了用户的授权信息。</a:t>
            </a:r>
          </a:p>
          <a:p>
            <a:pPr>
              <a:lnSpc>
                <a:spcPct val="100000"/>
              </a:lnSpc>
            </a:pPr>
            <a:r>
              <a:rPr lang="en-US" altLang="zh-CN" smtClean="0"/>
              <a:t>RADIUS</a:t>
            </a:r>
            <a:r>
              <a:rPr lang="zh-CN" altLang="en-US" smtClean="0"/>
              <a:t>服务器授权</a:t>
            </a:r>
            <a:r>
              <a:rPr lang="en-US" altLang="zh-CN" smtClean="0"/>
              <a:t>VLAN</a:t>
            </a:r>
            <a:r>
              <a:rPr lang="zh-CN" altLang="en-US" smtClean="0"/>
              <a:t>：</a:t>
            </a:r>
            <a:endParaRPr lang="en-US" altLang="zh-CN" smtClean="0"/>
          </a:p>
          <a:p>
            <a:pPr lvl="1">
              <a:lnSpc>
                <a:spcPct val="100000"/>
              </a:lnSpc>
            </a:pPr>
            <a:r>
              <a:rPr lang="zh-CN" altLang="en-US" smtClean="0"/>
              <a:t>用户认证成功后，认证服务器将指定</a:t>
            </a:r>
            <a:r>
              <a:rPr lang="en-US" altLang="zh-CN" smtClean="0"/>
              <a:t>VLAN</a:t>
            </a:r>
            <a:r>
              <a:rPr lang="zh-CN" altLang="en-US" smtClean="0"/>
              <a:t>授权给用户。此时，设备会将用户所属的</a:t>
            </a:r>
            <a:r>
              <a:rPr lang="en-US" altLang="zh-CN" smtClean="0"/>
              <a:t>VLAN</a:t>
            </a:r>
            <a:r>
              <a:rPr lang="zh-CN" altLang="en-US" smtClean="0"/>
              <a:t>修改为授权的</a:t>
            </a:r>
            <a:r>
              <a:rPr lang="en-US" altLang="zh-CN" smtClean="0"/>
              <a:t>VLAN</a:t>
            </a:r>
            <a:r>
              <a:rPr lang="zh-CN" altLang="en-US" smtClean="0"/>
              <a:t>，授权的</a:t>
            </a:r>
            <a:r>
              <a:rPr lang="en-US" altLang="zh-CN" smtClean="0"/>
              <a:t>VLAN</a:t>
            </a:r>
            <a:r>
              <a:rPr lang="zh-CN" altLang="en-US" smtClean="0"/>
              <a:t>并不改变接口的配置。但是，授权的</a:t>
            </a:r>
            <a:r>
              <a:rPr lang="en-US" altLang="zh-CN" smtClean="0"/>
              <a:t>VLAN</a:t>
            </a:r>
            <a:r>
              <a:rPr lang="zh-CN" altLang="en-US" smtClean="0"/>
              <a:t>优先级高于用户配置的</a:t>
            </a:r>
            <a:r>
              <a:rPr lang="en-US" altLang="zh-CN" smtClean="0"/>
              <a:t>VLAN</a:t>
            </a:r>
            <a:r>
              <a:rPr lang="zh-CN" altLang="en-US" smtClean="0"/>
              <a:t>，即用户认证成功后生效的</a:t>
            </a:r>
            <a:r>
              <a:rPr lang="en-US" altLang="zh-CN" smtClean="0"/>
              <a:t>VLAN</a:t>
            </a:r>
            <a:r>
              <a:rPr lang="zh-CN" altLang="en-US" smtClean="0"/>
              <a:t>是授权的</a:t>
            </a:r>
            <a:r>
              <a:rPr lang="en-US" altLang="zh-CN" smtClean="0"/>
              <a:t>VLAN</a:t>
            </a:r>
            <a:r>
              <a:rPr lang="zh-CN" altLang="en-US" smtClean="0"/>
              <a:t>，用户配置的</a:t>
            </a:r>
            <a:r>
              <a:rPr lang="en-US" altLang="zh-CN" smtClean="0"/>
              <a:t>VLAN</a:t>
            </a:r>
            <a:r>
              <a:rPr lang="zh-CN" altLang="en-US" smtClean="0"/>
              <a:t>在用户下线后生效。</a:t>
            </a:r>
          </a:p>
          <a:p>
            <a:pPr>
              <a:lnSpc>
                <a:spcPct val="100000"/>
              </a:lnSpc>
            </a:pPr>
            <a:r>
              <a:rPr lang="en-US" altLang="zh-CN" smtClean="0"/>
              <a:t>RADIUS</a:t>
            </a:r>
            <a:r>
              <a:rPr lang="zh-CN" altLang="en-US" smtClean="0"/>
              <a:t>服务器授权</a:t>
            </a:r>
            <a:r>
              <a:rPr lang="en-US" altLang="zh-CN" smtClean="0"/>
              <a:t>ACL</a:t>
            </a:r>
            <a:r>
              <a:rPr lang="zh-CN" altLang="en-US" smtClean="0"/>
              <a:t>有两种方法：</a:t>
            </a:r>
          </a:p>
          <a:p>
            <a:pPr lvl="1">
              <a:lnSpc>
                <a:spcPct val="100000"/>
              </a:lnSpc>
            </a:pPr>
            <a:r>
              <a:rPr lang="zh-CN" altLang="en-US" smtClean="0"/>
              <a:t>授权静态</a:t>
            </a:r>
            <a:r>
              <a:rPr lang="en-US" altLang="zh-CN" smtClean="0"/>
              <a:t>ACL</a:t>
            </a:r>
            <a:r>
              <a:rPr lang="zh-CN" altLang="en-US" smtClean="0"/>
              <a:t>：</a:t>
            </a:r>
            <a:r>
              <a:rPr lang="en-US" altLang="zh-CN" smtClean="0"/>
              <a:t>RADIUS</a:t>
            </a:r>
            <a:r>
              <a:rPr lang="zh-CN" altLang="en-US" smtClean="0"/>
              <a:t>服务器通过</a:t>
            </a:r>
            <a:r>
              <a:rPr lang="en-US" altLang="zh-CN" smtClean="0"/>
              <a:t>RADIUS</a:t>
            </a:r>
            <a:r>
              <a:rPr lang="zh-CN" altLang="en-US" smtClean="0"/>
              <a:t>标准属性</a:t>
            </a:r>
            <a:r>
              <a:rPr lang="en-US" altLang="zh-CN" smtClean="0"/>
              <a:t>Filter-Id</a:t>
            </a:r>
            <a:r>
              <a:rPr lang="zh-CN" altLang="en-US" smtClean="0"/>
              <a:t>将</a:t>
            </a:r>
            <a:r>
              <a:rPr lang="en-US" altLang="zh-CN" smtClean="0"/>
              <a:t>ACL ID</a:t>
            </a:r>
            <a:r>
              <a:rPr lang="zh-CN" altLang="en-US" smtClean="0"/>
              <a:t>授权给用户。为使授权的</a:t>
            </a:r>
            <a:r>
              <a:rPr lang="en-US" altLang="zh-CN" smtClean="0"/>
              <a:t>ACL</a:t>
            </a:r>
            <a:r>
              <a:rPr lang="zh-CN" altLang="en-US" smtClean="0"/>
              <a:t>生效，需要提前在设备上配置相应的</a:t>
            </a:r>
            <a:r>
              <a:rPr lang="en-US" altLang="zh-CN" smtClean="0"/>
              <a:t>ACL</a:t>
            </a:r>
            <a:r>
              <a:rPr lang="zh-CN" altLang="en-US" smtClean="0"/>
              <a:t>及规则。</a:t>
            </a:r>
          </a:p>
          <a:p>
            <a:pPr lvl="1">
              <a:lnSpc>
                <a:spcPct val="100000"/>
              </a:lnSpc>
            </a:pPr>
            <a:r>
              <a:rPr lang="zh-CN" altLang="en-US" smtClean="0"/>
              <a:t>授权动态</a:t>
            </a:r>
            <a:r>
              <a:rPr lang="en-US" altLang="zh-CN" smtClean="0"/>
              <a:t>ACL</a:t>
            </a:r>
            <a:r>
              <a:rPr lang="zh-CN" altLang="en-US" smtClean="0"/>
              <a:t>：</a:t>
            </a:r>
            <a:r>
              <a:rPr lang="en-US" altLang="zh-CN" smtClean="0"/>
              <a:t>RADIUS</a:t>
            </a:r>
            <a:r>
              <a:rPr lang="zh-CN" altLang="en-US" smtClean="0"/>
              <a:t>服务器通过华为</a:t>
            </a:r>
            <a:r>
              <a:rPr lang="en-US" altLang="zh-CN" smtClean="0"/>
              <a:t>RADIUS</a:t>
            </a:r>
            <a:r>
              <a:rPr lang="zh-CN" altLang="en-US" smtClean="0"/>
              <a:t>扩展属性</a:t>
            </a:r>
            <a:r>
              <a:rPr lang="en-US" altLang="zh-CN" smtClean="0"/>
              <a:t>HW-Data-Filter</a:t>
            </a:r>
            <a:r>
              <a:rPr lang="zh-CN" altLang="en-US" smtClean="0"/>
              <a:t>将</a:t>
            </a:r>
            <a:r>
              <a:rPr lang="en-US" altLang="zh-CN" smtClean="0"/>
              <a:t>ACL ID</a:t>
            </a:r>
            <a:r>
              <a:rPr lang="zh-CN" altLang="en-US" smtClean="0"/>
              <a:t>及其</a:t>
            </a:r>
            <a:r>
              <a:rPr lang="en-US" altLang="zh-CN" smtClean="0"/>
              <a:t>ACL</a:t>
            </a:r>
            <a:r>
              <a:rPr lang="zh-CN" altLang="en-US" smtClean="0"/>
              <a:t>规则授权给用户。</a:t>
            </a:r>
            <a:r>
              <a:rPr lang="en-US" altLang="zh-CN" smtClean="0"/>
              <a:t>ACL ID</a:t>
            </a:r>
            <a:r>
              <a:rPr lang="zh-CN" altLang="en-US" smtClean="0"/>
              <a:t>及其</a:t>
            </a:r>
            <a:r>
              <a:rPr lang="en-US" altLang="zh-CN" smtClean="0"/>
              <a:t>ACL</a:t>
            </a:r>
            <a:r>
              <a:rPr lang="zh-CN" altLang="en-US" smtClean="0"/>
              <a:t>规则需要在</a:t>
            </a:r>
            <a:r>
              <a:rPr lang="en-US" altLang="zh-CN" smtClean="0"/>
              <a:t>RADIUS</a:t>
            </a:r>
            <a:r>
              <a:rPr lang="zh-CN" altLang="en-US" smtClean="0"/>
              <a:t>服务器上配置，设备上不需要配置。</a:t>
            </a:r>
            <a:endParaRPr lang="en-US" altLang="zh-CN" smtClean="0"/>
          </a:p>
          <a:p>
            <a:pPr>
              <a:lnSpc>
                <a:spcPct val="100000"/>
              </a:lnSpc>
            </a:pPr>
            <a:r>
              <a:rPr lang="en-US" altLang="zh-CN" smtClean="0"/>
              <a:t>RADIUS</a:t>
            </a:r>
            <a:r>
              <a:rPr lang="zh-CN" altLang="en-US" smtClean="0"/>
              <a:t>服务器授权</a:t>
            </a:r>
            <a:r>
              <a:rPr lang="en-US" altLang="zh-CN" smtClean="0"/>
              <a:t>UCL</a:t>
            </a:r>
            <a:r>
              <a:rPr lang="zh-CN" altLang="en-US" smtClean="0"/>
              <a:t>组有两种方式：</a:t>
            </a:r>
          </a:p>
          <a:p>
            <a:pPr lvl="1">
              <a:lnSpc>
                <a:spcPct val="100000"/>
              </a:lnSpc>
            </a:pPr>
            <a:r>
              <a:rPr lang="zh-CN" altLang="en-US" smtClean="0"/>
              <a:t>授权</a:t>
            </a:r>
            <a:r>
              <a:rPr lang="en-US" altLang="zh-CN" smtClean="0"/>
              <a:t>UCL</a:t>
            </a:r>
            <a:r>
              <a:rPr lang="zh-CN" altLang="en-US" smtClean="0"/>
              <a:t>组名称：</a:t>
            </a:r>
            <a:r>
              <a:rPr lang="en-US" altLang="zh-CN" smtClean="0"/>
              <a:t>RADIUS</a:t>
            </a:r>
            <a:r>
              <a:rPr lang="zh-CN" altLang="en-US" smtClean="0"/>
              <a:t>服务器通过</a:t>
            </a:r>
            <a:r>
              <a:rPr lang="en-US" altLang="zh-CN" smtClean="0"/>
              <a:t>RADIUS</a:t>
            </a:r>
            <a:r>
              <a:rPr lang="zh-CN" altLang="en-US" smtClean="0"/>
              <a:t>标准属性</a:t>
            </a:r>
            <a:r>
              <a:rPr lang="en-US" altLang="zh-CN" smtClean="0"/>
              <a:t>Filter-Id</a:t>
            </a:r>
            <a:r>
              <a:rPr lang="zh-CN" altLang="en-US" smtClean="0"/>
              <a:t>将</a:t>
            </a:r>
            <a:r>
              <a:rPr lang="en-US" altLang="zh-CN" smtClean="0"/>
              <a:t>UCL</a:t>
            </a:r>
            <a:r>
              <a:rPr lang="zh-CN" altLang="en-US" smtClean="0"/>
              <a:t>组名称授权给指定用户。</a:t>
            </a:r>
          </a:p>
          <a:p>
            <a:pPr lvl="1">
              <a:lnSpc>
                <a:spcPct val="100000"/>
              </a:lnSpc>
            </a:pPr>
            <a:r>
              <a:rPr lang="zh-CN" altLang="en-US" smtClean="0"/>
              <a:t>授权</a:t>
            </a:r>
            <a:r>
              <a:rPr lang="en-US" altLang="zh-CN" smtClean="0"/>
              <a:t>UCL</a:t>
            </a:r>
            <a:r>
              <a:rPr lang="zh-CN" altLang="en-US" smtClean="0"/>
              <a:t>组</a:t>
            </a:r>
            <a:r>
              <a:rPr lang="en-US" altLang="zh-CN" smtClean="0"/>
              <a:t>ID</a:t>
            </a:r>
            <a:r>
              <a:rPr lang="zh-CN" altLang="en-US" smtClean="0"/>
              <a:t>：</a:t>
            </a:r>
            <a:r>
              <a:rPr lang="en-US" altLang="zh-CN" smtClean="0"/>
              <a:t>RADIUS</a:t>
            </a:r>
            <a:r>
              <a:rPr lang="zh-CN" altLang="en-US" smtClean="0"/>
              <a:t>服务器通过华为</a:t>
            </a:r>
            <a:r>
              <a:rPr lang="en-US" altLang="zh-CN" smtClean="0"/>
              <a:t>RADIUS</a:t>
            </a:r>
            <a:r>
              <a:rPr lang="zh-CN" altLang="en-US" smtClean="0"/>
              <a:t>扩展属性</a:t>
            </a:r>
            <a:r>
              <a:rPr lang="en-US" altLang="zh-CN" smtClean="0"/>
              <a:t>HW-UCL-Group</a:t>
            </a:r>
            <a:r>
              <a:rPr lang="zh-CN" altLang="en-US" smtClean="0"/>
              <a:t>将</a:t>
            </a:r>
            <a:r>
              <a:rPr lang="en-US" altLang="zh-CN" smtClean="0"/>
              <a:t>UCL</a:t>
            </a:r>
            <a:r>
              <a:rPr lang="zh-CN" altLang="en-US" smtClean="0"/>
              <a:t>组</a:t>
            </a:r>
            <a:r>
              <a:rPr lang="en-US" altLang="zh-CN" smtClean="0"/>
              <a:t>ID</a:t>
            </a:r>
            <a:r>
              <a:rPr lang="zh-CN" altLang="en-US" smtClean="0"/>
              <a:t>授权给指定用户。</a:t>
            </a:r>
          </a:p>
          <a:p>
            <a:pPr lvl="1">
              <a:lnSpc>
                <a:spcPct val="100000"/>
              </a:lnSpc>
            </a:pPr>
            <a:r>
              <a:rPr lang="zh-CN" altLang="en-US" smtClean="0"/>
              <a:t>无论是哪一种授权</a:t>
            </a:r>
            <a:r>
              <a:rPr lang="en-US" altLang="zh-CN" smtClean="0"/>
              <a:t>UCL</a:t>
            </a:r>
            <a:r>
              <a:rPr lang="zh-CN" altLang="en-US" smtClean="0"/>
              <a:t>组方式，都必须提前在设备上配置相应的</a:t>
            </a:r>
            <a:r>
              <a:rPr lang="en-US" altLang="zh-CN" smtClean="0"/>
              <a:t>UCL</a:t>
            </a:r>
            <a:r>
              <a:rPr lang="zh-CN" altLang="en-US" smtClean="0"/>
              <a:t>组及</a:t>
            </a:r>
            <a:r>
              <a:rPr lang="en-US" altLang="zh-CN" smtClean="0"/>
              <a:t>UCL</a:t>
            </a:r>
            <a:r>
              <a:rPr lang="zh-CN" altLang="en-US" smtClean="0"/>
              <a:t>组的网络访问策略。</a:t>
            </a:r>
          </a:p>
          <a:p>
            <a:pPr>
              <a:lnSpc>
                <a:spcPct val="100000"/>
              </a:lnSpc>
            </a:pPr>
            <a:r>
              <a:rPr lang="en-US" altLang="zh-CN" smtClean="0"/>
              <a:t>RADIUS</a:t>
            </a:r>
            <a:r>
              <a:rPr lang="zh-CN" altLang="en-US" smtClean="0"/>
              <a:t>协议具有良好的可扩展性，协议（</a:t>
            </a:r>
            <a:r>
              <a:rPr lang="en-US" altLang="zh-CN" smtClean="0"/>
              <a:t>RFC2865</a:t>
            </a:r>
            <a:r>
              <a:rPr lang="zh-CN" altLang="en-US" smtClean="0"/>
              <a:t>）中定义的</a:t>
            </a:r>
            <a:r>
              <a:rPr lang="en-US" altLang="zh-CN" smtClean="0"/>
              <a:t>26</a:t>
            </a:r>
            <a:r>
              <a:rPr lang="zh-CN" altLang="en-US" smtClean="0"/>
              <a:t>号属性（</a:t>
            </a:r>
            <a:r>
              <a:rPr lang="en-US" altLang="zh-CN" smtClean="0"/>
              <a:t>Vendor-Specific</a:t>
            </a:r>
            <a:r>
              <a:rPr lang="zh-CN" altLang="en-US" smtClean="0"/>
              <a:t>）用于设备厂商对</a:t>
            </a:r>
            <a:r>
              <a:rPr lang="en-US" altLang="zh-CN" smtClean="0"/>
              <a:t>RADIUS</a:t>
            </a:r>
            <a:r>
              <a:rPr lang="zh-CN" altLang="en-US" smtClean="0"/>
              <a:t>进行扩展，以实现标准</a:t>
            </a:r>
            <a:r>
              <a:rPr lang="en-US" altLang="zh-CN" smtClean="0"/>
              <a:t>RADIUS</a:t>
            </a:r>
            <a:r>
              <a:rPr lang="zh-CN" altLang="en-US" smtClean="0"/>
              <a:t>没有定义的功能。华为公司的</a:t>
            </a:r>
            <a:r>
              <a:rPr lang="en-US" altLang="zh-CN" smtClean="0"/>
              <a:t>RADIUS</a:t>
            </a:r>
            <a:r>
              <a:rPr lang="zh-CN" altLang="en-US" smtClean="0"/>
              <a:t>扩展属性可参考具体产品文档。</a:t>
            </a:r>
            <a:endParaRPr lang="zh-CN" altLang="en-US"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5998001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使用</a:t>
            </a:r>
            <a:r>
              <a:rPr lang="en-US" altLang="zh-CN" dirty="0" smtClean="0"/>
              <a:t>ACL</a:t>
            </a:r>
            <a:r>
              <a:rPr lang="zh-CN" altLang="en-US" dirty="0" smtClean="0"/>
              <a:t>方式配置免认证规则时，使用的</a:t>
            </a:r>
            <a:r>
              <a:rPr lang="en-US" altLang="zh-CN" dirty="0" smtClean="0"/>
              <a:t>ACL</a:t>
            </a:r>
            <a:r>
              <a:rPr lang="zh-CN" altLang="en-US" dirty="0" smtClean="0"/>
              <a:t>编号范围：</a:t>
            </a:r>
            <a:r>
              <a:rPr lang="en-US" altLang="zh-CN" dirty="0" smtClean="0"/>
              <a:t>6000</a:t>
            </a:r>
            <a:r>
              <a:rPr lang="zh-CN" altLang="en-US" dirty="0" smtClean="0"/>
              <a:t>～</a:t>
            </a:r>
            <a:r>
              <a:rPr lang="en-US" altLang="zh-CN" dirty="0" smtClean="0"/>
              <a:t>6031</a:t>
            </a:r>
            <a:r>
              <a:rPr lang="zh-CN" altLang="en-US" dirty="0" smtClean="0"/>
              <a:t>。</a:t>
            </a:r>
          </a:p>
          <a:p>
            <a:r>
              <a:rPr lang="zh-CN" altLang="en-US" dirty="0" smtClean="0"/>
              <a:t>根据认证事件授权的方式（一般是非认证成功状态的授权），又被称为逃生，对于不同的认证方式，有不同的逃生方案，有些逃生方案是共有的，有些逃生方案只有特定的认证方式才支持。详细内容请查阅相应产品文档中“</a:t>
            </a:r>
            <a:r>
              <a:rPr lang="en-US" altLang="zh-CN" dirty="0" smtClean="0"/>
              <a:t>NAC</a:t>
            </a:r>
            <a:r>
              <a:rPr lang="zh-CN" altLang="en-US" dirty="0" smtClean="0"/>
              <a:t>逃生”相关内容。</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0918638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注意：</a:t>
            </a:r>
            <a:endParaRPr lang="en-US" altLang="zh-CN" dirty="0"/>
          </a:p>
          <a:p>
            <a:pPr lvl="1"/>
            <a:r>
              <a:rPr lang="en-US" altLang="zh-CN" dirty="0"/>
              <a:t>MAC</a:t>
            </a:r>
            <a:r>
              <a:rPr lang="zh-CN" altLang="en-US" dirty="0"/>
              <a:t>认证仅支持接入设备控制用户下线和服务器控制用户下线。</a:t>
            </a:r>
          </a:p>
          <a:p>
            <a:pPr lvl="1"/>
            <a:r>
              <a:rPr lang="en-US" altLang="zh-CN" dirty="0"/>
              <a:t>Portal</a:t>
            </a:r>
            <a:r>
              <a:rPr lang="zh-CN" altLang="en-US" dirty="0"/>
              <a:t>认证支持认证服务器和</a:t>
            </a:r>
            <a:r>
              <a:rPr lang="en-US" altLang="zh-CN" dirty="0"/>
              <a:t>Portal</a:t>
            </a:r>
            <a:r>
              <a:rPr lang="zh-CN" altLang="en-US" dirty="0"/>
              <a:t>服务器控制下</a:t>
            </a:r>
            <a:r>
              <a:rPr lang="zh-CN" altLang="en-US" dirty="0" smtClean="0"/>
              <a:t>线。</a:t>
            </a:r>
            <a:endParaRPr lang="zh-CN" altLang="en-US" dirty="0"/>
          </a:p>
          <a:p>
            <a:endParaRPr lang="zh-CN" altLang="en-US" dirty="0"/>
          </a:p>
        </p:txBody>
      </p:sp>
    </p:spTree>
    <p:extLst>
      <p:ext uri="{BB962C8B-B14F-4D97-AF65-F5344CB8AC3E}">
        <p14:creationId xmlns:p14="http://schemas.microsoft.com/office/powerpoint/2010/main" val="30977140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679437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smtClean="0"/>
              <a:t>VAP</a:t>
            </a:r>
            <a:r>
              <a:rPr lang="zh-CN" altLang="en-US" dirty="0" smtClean="0"/>
              <a:t>：</a:t>
            </a:r>
            <a:r>
              <a:rPr lang="en-US" altLang="zh-CN" dirty="0" smtClean="0"/>
              <a:t>Virtual Access Point</a:t>
            </a:r>
            <a:r>
              <a:rPr lang="zh-CN" altLang="en-US" dirty="0" smtClean="0"/>
              <a:t>，虚拟接入点</a:t>
            </a:r>
            <a:endParaRPr lang="en-US" altLang="zh-CN" dirty="0" smtClean="0"/>
          </a:p>
          <a:p>
            <a:r>
              <a:rPr lang="en-US" altLang="zh-CN" dirty="0" smtClean="0"/>
              <a:t>VAP</a:t>
            </a:r>
            <a:r>
              <a:rPr lang="zh-CN" altLang="en-US" dirty="0" smtClean="0"/>
              <a:t>模板：在</a:t>
            </a:r>
            <a:r>
              <a:rPr lang="en-US" altLang="zh-CN" dirty="0" smtClean="0"/>
              <a:t>VAP</a:t>
            </a:r>
            <a:r>
              <a:rPr lang="zh-CN" altLang="en-US" dirty="0" smtClean="0"/>
              <a:t>模板下配置各项无线（</a:t>
            </a:r>
            <a:r>
              <a:rPr lang="en-US" altLang="zh-CN" dirty="0" smtClean="0"/>
              <a:t>WLAN</a:t>
            </a:r>
            <a:r>
              <a:rPr lang="zh-CN" altLang="en-US" dirty="0" smtClean="0"/>
              <a:t>）参数，然后在</a:t>
            </a:r>
            <a:r>
              <a:rPr lang="en-US" altLang="zh-CN" dirty="0" smtClean="0"/>
              <a:t>AP</a:t>
            </a:r>
            <a:r>
              <a:rPr lang="zh-CN" altLang="en-US" dirty="0" smtClean="0"/>
              <a:t>组或</a:t>
            </a:r>
            <a:r>
              <a:rPr lang="en-US" altLang="zh-CN" dirty="0" smtClean="0"/>
              <a:t>AP</a:t>
            </a:r>
            <a:r>
              <a:rPr lang="zh-CN" altLang="en-US" dirty="0" smtClean="0"/>
              <a:t>中引用</a:t>
            </a:r>
            <a:r>
              <a:rPr lang="en-US" altLang="zh-CN" dirty="0" smtClean="0"/>
              <a:t>VAP</a:t>
            </a:r>
            <a:r>
              <a:rPr lang="zh-CN" altLang="en-US" dirty="0" smtClean="0"/>
              <a:t>模板，</a:t>
            </a:r>
            <a:r>
              <a:rPr lang="en-US" altLang="zh-CN" dirty="0" smtClean="0"/>
              <a:t>AP</a:t>
            </a:r>
            <a:r>
              <a:rPr lang="zh-CN" altLang="en-US" dirty="0" smtClean="0"/>
              <a:t>上就会生成</a:t>
            </a:r>
            <a:r>
              <a:rPr lang="en-US" altLang="zh-CN" dirty="0" smtClean="0"/>
              <a:t>VAP</a:t>
            </a:r>
            <a:r>
              <a:rPr lang="zh-CN" altLang="en-US" dirty="0" smtClean="0"/>
              <a:t>，</a:t>
            </a:r>
            <a:r>
              <a:rPr lang="en-US" altLang="zh-CN" dirty="0" smtClean="0"/>
              <a:t>VAP</a:t>
            </a:r>
            <a:r>
              <a:rPr lang="zh-CN" altLang="en-US" dirty="0" smtClean="0"/>
              <a:t>用来为</a:t>
            </a:r>
            <a:r>
              <a:rPr lang="en-US" altLang="zh-CN" dirty="0" smtClean="0"/>
              <a:t>STA</a:t>
            </a:r>
            <a:r>
              <a:rPr lang="zh-CN" altLang="en-US" dirty="0" smtClean="0"/>
              <a:t>（无线终端）提供无线接入服务。</a:t>
            </a:r>
            <a:endParaRPr lang="zh-CN" altLang="en-US" dirty="0"/>
          </a:p>
        </p:txBody>
      </p:sp>
    </p:spTree>
    <p:extLst>
      <p:ext uri="{BB962C8B-B14F-4D97-AF65-F5344CB8AC3E}">
        <p14:creationId xmlns:p14="http://schemas.microsoft.com/office/powerpoint/2010/main" val="31512945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03383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12321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配置静态用户后，当设备检测到接入的用户满足静态用户所配置的</a:t>
            </a:r>
            <a:r>
              <a:rPr lang="en-US" altLang="zh-CN" dirty="0" smtClean="0"/>
              <a:t>IP</a:t>
            </a:r>
            <a:r>
              <a:rPr lang="zh-CN" altLang="en-US" dirty="0" smtClean="0"/>
              <a:t>地址范围、域名等参数时，设备会优先使用静态用户的用户名和密码对其进行认证，如果认证不成功，则用户可以进行</a:t>
            </a:r>
            <a:r>
              <a:rPr lang="en-US" altLang="zh-CN" dirty="0" smtClean="0"/>
              <a:t>802.1X</a:t>
            </a:r>
            <a:r>
              <a:rPr lang="zh-CN" altLang="en-US" dirty="0" smtClean="0"/>
              <a:t>、</a:t>
            </a:r>
            <a:r>
              <a:rPr lang="en-US" altLang="zh-CN" dirty="0" smtClean="0"/>
              <a:t>MAC</a:t>
            </a:r>
            <a:r>
              <a:rPr lang="zh-CN" altLang="en-US" dirty="0" smtClean="0"/>
              <a:t>认证或</a:t>
            </a:r>
            <a:r>
              <a:rPr lang="en-US" altLang="zh-CN" dirty="0" smtClean="0"/>
              <a:t>Portal</a:t>
            </a:r>
            <a:r>
              <a:rPr lang="zh-CN" altLang="en-US" dirty="0" smtClean="0"/>
              <a:t>认证。</a:t>
            </a:r>
            <a:endParaRPr lang="en-US" altLang="zh-CN" dirty="0" smtClean="0"/>
          </a:p>
          <a:p>
            <a:pPr lvl="0"/>
            <a:r>
              <a:rPr lang="zh-CN" altLang="en-US" dirty="0" smtClean="0"/>
              <a:t>命令</a:t>
            </a:r>
            <a:r>
              <a:rPr lang="en-US" altLang="zh-CN" b="1" dirty="0" smtClean="0"/>
              <a:t>static-user username </a:t>
            </a:r>
            <a:r>
              <a:rPr lang="en-US" altLang="zh-CN" b="1" dirty="0" err="1" smtClean="0"/>
              <a:t>macaddress</a:t>
            </a:r>
            <a:r>
              <a:rPr lang="en-US" altLang="zh-CN" b="1" dirty="0" smtClean="0"/>
              <a:t> format</a:t>
            </a:r>
            <a:r>
              <a:rPr lang="zh-CN" altLang="en-US" dirty="0" smtClean="0"/>
              <a:t>可以指定用户名为</a:t>
            </a:r>
            <a:r>
              <a:rPr lang="en-US" altLang="zh-CN" dirty="0" smtClean="0"/>
              <a:t>MAC</a:t>
            </a:r>
            <a:r>
              <a:rPr lang="zh-CN" altLang="en-US" dirty="0" smtClean="0"/>
              <a:t>地址及格式，指定密码为接入终端的</a:t>
            </a:r>
            <a:r>
              <a:rPr lang="en-US" altLang="zh-CN" dirty="0" smtClean="0"/>
              <a:t>MAC</a:t>
            </a:r>
            <a:r>
              <a:rPr lang="zh-CN" altLang="en-US" dirty="0" smtClean="0"/>
              <a:t>地址。该命令优先级高于</a:t>
            </a:r>
            <a:r>
              <a:rPr lang="en-US" altLang="zh-CN" b="1" dirty="0" smtClean="0"/>
              <a:t>static-user username format-include</a:t>
            </a:r>
            <a:r>
              <a:rPr lang="zh-CN" altLang="en-US" dirty="0" smtClean="0"/>
              <a:t>和</a:t>
            </a:r>
            <a:r>
              <a:rPr lang="en-US" altLang="zh-CN" b="1" dirty="0" smtClean="0"/>
              <a:t>static-user password cipher password</a:t>
            </a:r>
            <a:r>
              <a:rPr lang="zh-CN" altLang="en-US" dirty="0" smtClean="0"/>
              <a:t>的优先级。</a:t>
            </a:r>
            <a:endParaRPr lang="en-US" altLang="zh-CN" dirty="0" smtClean="0"/>
          </a:p>
          <a:p>
            <a:pPr lvl="0"/>
            <a:r>
              <a:rPr lang="zh-CN" altLang="en-US" dirty="0" smtClean="0"/>
              <a:t>命令</a:t>
            </a:r>
            <a:r>
              <a:rPr lang="en-US" altLang="zh-CN" b="1" dirty="0" smtClean="0"/>
              <a:t>static-user username format-include</a:t>
            </a:r>
            <a:r>
              <a:rPr lang="zh-CN" altLang="en-US" dirty="0" smtClean="0"/>
              <a:t>和命令</a:t>
            </a:r>
            <a:r>
              <a:rPr lang="en-US" altLang="zh-CN" b="1" dirty="0" smtClean="0"/>
              <a:t>static-user password</a:t>
            </a:r>
            <a:r>
              <a:rPr lang="zh-CN" altLang="en-US" dirty="0" smtClean="0"/>
              <a:t>分别用来配置静态用户的用户名和密码。</a:t>
            </a:r>
            <a:endParaRPr lang="en-US" altLang="zh-CN" dirty="0" smtClean="0"/>
          </a:p>
          <a:p>
            <a:pPr lvl="0"/>
            <a:r>
              <a:rPr lang="zh-CN" altLang="en-US" dirty="0" smtClean="0"/>
              <a:t>缺省情况下（以华为</a:t>
            </a:r>
            <a:r>
              <a:rPr lang="en-US" altLang="zh-CN" dirty="0" smtClean="0"/>
              <a:t>S5731</a:t>
            </a:r>
            <a:r>
              <a:rPr lang="zh-CN" altLang="en-US" dirty="0" smtClean="0"/>
              <a:t>系列交换机为例）：</a:t>
            </a:r>
          </a:p>
          <a:p>
            <a:pPr lvl="1"/>
            <a:r>
              <a:rPr lang="zh-CN" altLang="en-US" dirty="0" smtClean="0"/>
              <a:t>静态用户的用户名为</a:t>
            </a:r>
            <a:r>
              <a:rPr lang="en-US" altLang="zh-CN" b="1" dirty="0" smtClean="0"/>
              <a:t>[system-name]+[</a:t>
            </a:r>
            <a:r>
              <a:rPr lang="en-US" altLang="zh-CN" b="1" dirty="0" err="1" smtClean="0"/>
              <a:t>ip</a:t>
            </a:r>
            <a:r>
              <a:rPr lang="en-US" altLang="zh-CN" b="1" dirty="0" smtClean="0"/>
              <a:t>-address]</a:t>
            </a:r>
            <a:r>
              <a:rPr lang="zh-CN" altLang="en-US" dirty="0" smtClean="0"/>
              <a:t>。例如，接入设备名称为</a:t>
            </a:r>
            <a:r>
              <a:rPr lang="en-US" altLang="zh-CN" dirty="0" err="1" smtClean="0"/>
              <a:t>huawei</a:t>
            </a:r>
            <a:r>
              <a:rPr lang="zh-CN" altLang="en-US" dirty="0" smtClean="0"/>
              <a:t>，用户的</a:t>
            </a:r>
            <a:r>
              <a:rPr lang="en-US" altLang="zh-CN" dirty="0" smtClean="0"/>
              <a:t>IP</a:t>
            </a:r>
            <a:r>
              <a:rPr lang="zh-CN" altLang="en-US" dirty="0" smtClean="0"/>
              <a:t>地址为</a:t>
            </a:r>
            <a:r>
              <a:rPr lang="en-US" altLang="zh-CN" dirty="0" smtClean="0"/>
              <a:t>1.1.1.1</a:t>
            </a:r>
            <a:r>
              <a:rPr lang="zh-CN" altLang="en-US" dirty="0" smtClean="0"/>
              <a:t>，则静态用户的用户名为</a:t>
            </a:r>
            <a:r>
              <a:rPr lang="en-US" altLang="zh-CN" dirty="0" smtClean="0"/>
              <a:t>huawei1.1.1.1</a:t>
            </a:r>
            <a:r>
              <a:rPr lang="zh-CN" altLang="en-US" dirty="0" smtClean="0"/>
              <a:t>。</a:t>
            </a:r>
          </a:p>
          <a:p>
            <a:pPr lvl="1"/>
            <a:r>
              <a:rPr lang="zh-CN" altLang="en-US" dirty="0" smtClean="0"/>
              <a:t>未配置静态用户进行认证时使用的密码。</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296350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433774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96169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254729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本举例中，由于认证交换机</a:t>
            </a:r>
            <a:r>
              <a:rPr lang="en-US" altLang="zh-CN" smtClean="0"/>
              <a:t>SW2</a:t>
            </a:r>
            <a:r>
              <a:rPr lang="zh-CN" altLang="en-US" smtClean="0"/>
              <a:t>与用户之间存在透传交换机</a:t>
            </a:r>
            <a:r>
              <a:rPr lang="en-US" altLang="zh-CN" smtClean="0"/>
              <a:t>SW3</a:t>
            </a:r>
            <a:r>
              <a:rPr lang="zh-CN" altLang="en-US" smtClean="0"/>
              <a:t>和</a:t>
            </a:r>
            <a:r>
              <a:rPr lang="en-US" altLang="zh-CN" smtClean="0"/>
              <a:t>SW4</a:t>
            </a:r>
            <a:r>
              <a:rPr lang="zh-CN" altLang="en-US" smtClean="0"/>
              <a:t>，为保证用户能够通过</a:t>
            </a:r>
            <a:r>
              <a:rPr lang="en-US" altLang="zh-CN" smtClean="0"/>
              <a:t>802.1X</a:t>
            </a:r>
            <a:r>
              <a:rPr lang="zh-CN" altLang="en-US" smtClean="0"/>
              <a:t>认证，则务必在</a:t>
            </a:r>
            <a:r>
              <a:rPr lang="en-US" altLang="zh-CN" smtClean="0"/>
              <a:t>SW3</a:t>
            </a:r>
            <a:r>
              <a:rPr lang="zh-CN" altLang="en-US" smtClean="0"/>
              <a:t>和</a:t>
            </a:r>
            <a:r>
              <a:rPr lang="en-US" altLang="zh-CN" smtClean="0"/>
              <a:t>SW4</a:t>
            </a:r>
            <a:r>
              <a:rPr lang="zh-CN" altLang="en-US" smtClean="0"/>
              <a:t>上配置</a:t>
            </a:r>
            <a:r>
              <a:rPr lang="en-US" altLang="zh-CN" smtClean="0"/>
              <a:t>802.1X</a:t>
            </a:r>
            <a:r>
              <a:rPr lang="zh-CN" altLang="en-US" smtClean="0"/>
              <a:t>认证报文透传功能。</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697915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28444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002734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546653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095601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087616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r>
              <a:rPr lang="zh-CN" altLang="en-US" dirty="0" smtClean="0"/>
              <a:t>接入层设备需透传</a:t>
            </a:r>
            <a:r>
              <a:rPr lang="en-US" altLang="zh-CN" dirty="0" smtClean="0"/>
              <a:t>BPDU</a:t>
            </a:r>
            <a:r>
              <a:rPr lang="zh-CN" altLang="en-US" dirty="0" smtClean="0"/>
              <a:t>报文，否则用户的</a:t>
            </a:r>
            <a:r>
              <a:rPr lang="en-US" altLang="zh-CN" dirty="0" smtClean="0"/>
              <a:t>802.1X</a:t>
            </a:r>
            <a:r>
              <a:rPr lang="zh-CN" altLang="en-US" dirty="0" smtClean="0"/>
              <a:t>认证将失败。</a:t>
            </a:r>
          </a:p>
          <a:p>
            <a:pPr lvl="1"/>
            <a:r>
              <a:rPr lang="zh-CN" altLang="en-US" dirty="0" smtClean="0"/>
              <a:t>原因：</a:t>
            </a:r>
            <a:r>
              <a:rPr lang="en-US" altLang="zh-CN" dirty="0" smtClean="0"/>
              <a:t>802.1X</a:t>
            </a:r>
            <a:r>
              <a:rPr lang="zh-CN" altLang="en-US" dirty="0" smtClean="0"/>
              <a:t>认证过程中的</a:t>
            </a:r>
            <a:r>
              <a:rPr lang="en-US" altLang="zh-CN" dirty="0" smtClean="0"/>
              <a:t>EAP</a:t>
            </a:r>
            <a:r>
              <a:rPr lang="zh-CN" altLang="en-US" dirty="0" smtClean="0"/>
              <a:t>协议报文，是一种</a:t>
            </a:r>
            <a:r>
              <a:rPr lang="en-US" altLang="zh-CN" dirty="0" smtClean="0"/>
              <a:t>BPDU</a:t>
            </a:r>
            <a:r>
              <a:rPr lang="zh-CN" altLang="en-US" dirty="0" smtClean="0"/>
              <a:t>报文。对于</a:t>
            </a:r>
            <a:r>
              <a:rPr lang="en-US" altLang="zh-CN" dirty="0" smtClean="0"/>
              <a:t>BPDU</a:t>
            </a:r>
            <a:r>
              <a:rPr lang="zh-CN" altLang="en-US" dirty="0" smtClean="0"/>
              <a:t>报文，华为公司的交换机设备当前缺省不做二层转发。因此如果使能</a:t>
            </a:r>
            <a:r>
              <a:rPr lang="en-US" altLang="zh-CN" dirty="0" smtClean="0"/>
              <a:t>802.1X</a:t>
            </a:r>
            <a:r>
              <a:rPr lang="zh-CN" altLang="en-US" dirty="0" smtClean="0"/>
              <a:t>的设备和用户之间还存在二层交换机，就必须在二层交换机上配置二层透明传输，否则用户发送的</a:t>
            </a:r>
            <a:r>
              <a:rPr lang="en-US" altLang="zh-CN" dirty="0" smtClean="0"/>
              <a:t>EAP</a:t>
            </a:r>
            <a:r>
              <a:rPr lang="zh-CN" altLang="en-US" dirty="0" smtClean="0"/>
              <a:t>报文将无法到达认证设备，进而无法通过认证。</a:t>
            </a:r>
            <a:endParaRPr lang="en-US" altLang="zh-CN" dirty="0" smtClean="0"/>
          </a:p>
        </p:txBody>
      </p:sp>
    </p:spTree>
    <p:extLst>
      <p:ext uri="{BB962C8B-B14F-4D97-AF65-F5344CB8AC3E}">
        <p14:creationId xmlns:p14="http://schemas.microsoft.com/office/powerpoint/2010/main" val="15059225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部署策略联动后，接入设备可以自动透传</a:t>
            </a:r>
            <a:r>
              <a:rPr lang="en-US" altLang="zh-CN" dirty="0" smtClean="0"/>
              <a:t>BPDU</a:t>
            </a:r>
            <a:r>
              <a:rPr lang="zh-CN" altLang="en-US" dirty="0" smtClean="0"/>
              <a:t>报文、实时上报用户下线和用户接入位置，同时控制设备联动接入设备，使其执行用户的访问策略，从而实现了对用户访问网络的控制。</a:t>
            </a:r>
            <a:endParaRPr lang="en-US" altLang="zh-CN" dirty="0" smtClean="0"/>
          </a:p>
          <a:p>
            <a:r>
              <a:rPr lang="zh-CN" altLang="en-US" dirty="0" smtClean="0"/>
              <a:t>策略联动角色介绍：</a:t>
            </a:r>
            <a:endParaRPr lang="en-US" altLang="zh-CN" dirty="0" smtClean="0"/>
          </a:p>
          <a:p>
            <a:pPr lvl="1"/>
            <a:r>
              <a:rPr lang="zh-CN" altLang="en-US" dirty="0" smtClean="0"/>
              <a:t>认证接入设备：认证执行点，负责执行用户的网络访问策略。即用户完成认证之后访问网络时，执行对应的访问策略，如用户所属</a:t>
            </a:r>
            <a:r>
              <a:rPr lang="en-US" altLang="zh-CN" dirty="0" smtClean="0"/>
              <a:t>VLAN</a:t>
            </a:r>
            <a:r>
              <a:rPr lang="zh-CN" altLang="en-US" dirty="0" smtClean="0"/>
              <a:t>、</a:t>
            </a:r>
            <a:r>
              <a:rPr lang="en-US" altLang="zh-CN" dirty="0" smtClean="0"/>
              <a:t>ACL</a:t>
            </a:r>
            <a:r>
              <a:rPr lang="zh-CN" altLang="en-US" dirty="0" smtClean="0"/>
              <a:t>、</a:t>
            </a:r>
            <a:r>
              <a:rPr lang="en-US" altLang="zh-CN" dirty="0" smtClean="0"/>
              <a:t>UCL</a:t>
            </a:r>
            <a:r>
              <a:rPr lang="zh-CN" altLang="en-US" dirty="0" smtClean="0"/>
              <a:t>组等。</a:t>
            </a:r>
            <a:endParaRPr lang="en-US" altLang="zh-CN" dirty="0" smtClean="0"/>
          </a:p>
          <a:p>
            <a:pPr lvl="1"/>
            <a:r>
              <a:rPr lang="zh-CN" altLang="en-US" dirty="0" smtClean="0"/>
              <a:t>认证控制设备：认证控制点，负责对用户进行认证以及控制用户的网络访问策略。即对接入网络的用户身份进行合法性认证，并指定身份合法的用户所能拥有的网络访问权限，即用户能够访问哪些资源。</a:t>
            </a:r>
            <a:endParaRPr lang="en-US" altLang="zh-CN"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517757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用户上线流程：</a:t>
            </a:r>
            <a:endParaRPr lang="en-US" altLang="zh-CN" dirty="0" smtClean="0"/>
          </a:p>
          <a:p>
            <a:pPr marL="588600" lvl="1" indent="-228600">
              <a:buFont typeface="+mj-lt"/>
              <a:buAutoNum type="arabicPeriod"/>
            </a:pPr>
            <a:r>
              <a:rPr lang="zh-CN" altLang="en-US" dirty="0" smtClean="0"/>
              <a:t>控制设备与接入设备间建立</a:t>
            </a:r>
            <a:r>
              <a:rPr lang="en-US" altLang="zh-CN" dirty="0" smtClean="0"/>
              <a:t>CAPWAP</a:t>
            </a:r>
            <a:r>
              <a:rPr lang="zh-CN" altLang="en-US" dirty="0" smtClean="0"/>
              <a:t>通道。</a:t>
            </a:r>
          </a:p>
          <a:p>
            <a:pPr marL="588600" lvl="1" indent="-228600">
              <a:buFont typeface="+mj-lt"/>
              <a:buAutoNum type="arabicPeriod"/>
            </a:pPr>
            <a:r>
              <a:rPr lang="zh-CN" altLang="en-US" dirty="0" smtClean="0"/>
              <a:t>接入设备探测到有新用户接入，建立用户关联表，保存用户与接入端口等基本信息。</a:t>
            </a:r>
          </a:p>
          <a:p>
            <a:pPr marL="588600" lvl="1" indent="-228600">
              <a:buFont typeface="+mj-lt"/>
              <a:buAutoNum type="arabicPeriod"/>
            </a:pPr>
            <a:r>
              <a:rPr lang="zh-CN" altLang="en-US" dirty="0" smtClean="0"/>
              <a:t>接入设备向控制设备发送用户关联请求消息。</a:t>
            </a:r>
          </a:p>
          <a:p>
            <a:pPr marL="588600" lvl="1" indent="-228600">
              <a:buFont typeface="+mj-lt"/>
              <a:buAutoNum type="arabicPeriod"/>
            </a:pPr>
            <a:r>
              <a:rPr lang="zh-CN" altLang="en-US" dirty="0" smtClean="0"/>
              <a:t>控制设备建立用户关联表，保存用户与接入设备的对应关系，并向接入设备发送用户关联回应消息用于通知接入设备关联成功。</a:t>
            </a:r>
          </a:p>
          <a:p>
            <a:pPr marL="588600" lvl="1" indent="-228600">
              <a:buFont typeface="+mj-lt"/>
              <a:buAutoNum type="arabicPeriod"/>
            </a:pPr>
            <a:r>
              <a:rPr lang="zh-CN" altLang="en-US" dirty="0" smtClean="0"/>
              <a:t>用户向控制设备发起认证，接入设备转发用户和控制设备之间的认证报文。</a:t>
            </a:r>
          </a:p>
          <a:p>
            <a:pPr marL="588600" lvl="1" indent="-228600">
              <a:buFont typeface="+mj-lt"/>
              <a:buAutoNum type="arabicPeriod"/>
            </a:pPr>
            <a:r>
              <a:rPr lang="zh-CN" altLang="en-US" dirty="0" smtClean="0"/>
              <a:t>控制设备删除用户关联表项，在认证成功后，控制设备上生成完整的用户表项，同时向接入设备发送用户授权请求通知并下发用户的网络访问策略。</a:t>
            </a:r>
          </a:p>
          <a:p>
            <a:pPr marL="588600" lvl="1" indent="-228600">
              <a:buFont typeface="+mj-lt"/>
              <a:buAutoNum type="arabicPeriod"/>
            </a:pPr>
            <a:r>
              <a:rPr lang="zh-CN" altLang="en-US" dirty="0" smtClean="0"/>
              <a:t>接入设备保存用户关联表项，打开指定的用户网络访问权限并向控制设备发送用户授权请求回应消息。</a:t>
            </a:r>
          </a:p>
          <a:p>
            <a:pPr marL="588600" lvl="1" indent="-228600">
              <a:buFont typeface="+mj-lt"/>
              <a:buAutoNum type="arabicPeriod"/>
            </a:pPr>
            <a:r>
              <a:rPr lang="zh-CN" altLang="en-US" dirty="0" smtClean="0"/>
              <a:t>用户访问指定的网络资源。</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127173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普通认证方案：</a:t>
            </a:r>
            <a:endParaRPr lang="en-US" altLang="zh-CN" dirty="0" smtClean="0"/>
          </a:p>
          <a:p>
            <a:pPr lvl="1"/>
            <a:r>
              <a:rPr lang="zh-CN" altLang="en-US" dirty="0" smtClean="0"/>
              <a:t>用户与认证点交互信息，认证点直接与认证服务器交互认证信息，认证通过后，认证服务器将用户权限下发给认证点，认证点接口执行用户策略。</a:t>
            </a:r>
            <a:endParaRPr lang="en-US" altLang="zh-CN" dirty="0" smtClean="0"/>
          </a:p>
          <a:p>
            <a:r>
              <a:rPr lang="zh-CN" altLang="en-US" dirty="0" smtClean="0"/>
              <a:t>策略联动方案：</a:t>
            </a:r>
            <a:endParaRPr lang="en-US" altLang="zh-CN" dirty="0" smtClean="0"/>
          </a:p>
          <a:p>
            <a:pPr lvl="1"/>
            <a:r>
              <a:rPr lang="zh-CN" altLang="en-US" dirty="0" smtClean="0"/>
              <a:t>用户与认证执行点交互信息，认证执行点通过</a:t>
            </a:r>
            <a:r>
              <a:rPr lang="en-US" altLang="zh-CN" dirty="0" smtClean="0"/>
              <a:t>CAPWAP</a:t>
            </a:r>
            <a:r>
              <a:rPr lang="zh-CN" altLang="en-US" dirty="0" smtClean="0"/>
              <a:t>隧道将身份凭证传递给认证控制点，认证控制点与认证服务器交互认证信息。</a:t>
            </a:r>
            <a:endParaRPr lang="en-US" altLang="zh-CN" dirty="0" smtClean="0"/>
          </a:p>
          <a:p>
            <a:pPr lvl="1"/>
            <a:r>
              <a:rPr lang="zh-CN" altLang="en-US" dirty="0" smtClean="0"/>
              <a:t>认证通过后，认证服务器将用户权限下发给认证控制点，认证控制点通过</a:t>
            </a:r>
            <a:r>
              <a:rPr lang="en-US" altLang="zh-CN" dirty="0" smtClean="0"/>
              <a:t>CAPWAP</a:t>
            </a:r>
            <a:r>
              <a:rPr lang="zh-CN" altLang="en-US" dirty="0" smtClean="0"/>
              <a:t>隧道将用户权限传递给认证执行点，最终认证执行点接口执行用户策略。</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291233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8746294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smtClean="0"/>
          </a:p>
          <a:p>
            <a:endParaRPr lang="zh-CN" altLang="en-US" dirty="0"/>
          </a:p>
        </p:txBody>
      </p:sp>
    </p:spTree>
    <p:extLst>
      <p:ext uri="{BB962C8B-B14F-4D97-AF65-F5344CB8AC3E}">
        <p14:creationId xmlns:p14="http://schemas.microsoft.com/office/powerpoint/2010/main" val="34802944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配置接入设备接入认证：</a:t>
            </a:r>
            <a:endParaRPr lang="en-US" altLang="zh-CN" dirty="0" smtClean="0"/>
          </a:p>
          <a:p>
            <a:pPr lvl="1"/>
            <a:r>
              <a:rPr lang="zh-CN" altLang="en-US" dirty="0" smtClean="0"/>
              <a:t>缺省情况下，接入设备需要经过认证才可以接入到控制设备。控制设备通过黑、白名单对接入设备进行认证，在黑名单中的接入设备不可以接入到控制设备，在白名单中的接入设备可以接入到控制设备。对于既不在黑名单中也不在白名单中的接入设备，不能通过认证，需要用户手动确认哪些接入设备允许通过认证。用户也可以设置不对接入设备进行认证，这样无论接入设备是否在黑、白名单中都可以接入到控制设备。</a:t>
            </a:r>
          </a:p>
          <a:p>
            <a:pPr lvl="1"/>
            <a:r>
              <a:rPr lang="zh-CN" altLang="en-US" dirty="0" smtClean="0"/>
              <a:t>此功能的详细配置请查看产品文档。</a:t>
            </a:r>
            <a:endParaRPr lang="zh-CN" altLang="en-US" dirty="0"/>
          </a:p>
        </p:txBody>
      </p:sp>
    </p:spTree>
    <p:extLst>
      <p:ext uri="{BB962C8B-B14F-4D97-AF65-F5344CB8AC3E}">
        <p14:creationId xmlns:p14="http://schemas.microsoft.com/office/powerpoint/2010/main" val="7275557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602039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115125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417895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灯片图像占位符 4"/>
          <p:cNvSpPr>
            <a:spLocks noGrp="1" noRot="1" noChangeAspect="1"/>
          </p:cNvSpPr>
          <p:nvPr>
            <p:ph type="sldImg"/>
          </p:nvPr>
        </p:nvSpPr>
        <p:spPr>
          <a:xfrm>
            <a:off x="742950" y="717550"/>
            <a:ext cx="5557838" cy="3125788"/>
          </a:xfrm>
        </p:spPr>
      </p:sp>
      <p:sp>
        <p:nvSpPr>
          <p:cNvPr id="6" name="备注占位符 5"/>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392652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659136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976941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784338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927585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smtClean="0"/>
              <a:t>D</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322373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228600" indent="-228600">
              <a:buFont typeface="+mj-lt"/>
              <a:buAutoNum type="arabicPeriod" startAt="2"/>
            </a:pPr>
            <a:r>
              <a:rPr lang="en-US" altLang="zh-CN" dirty="0" smtClean="0"/>
              <a:t>ACD</a:t>
            </a:r>
            <a:endParaRPr lang="zh-CN" altLang="en-US" dirty="0"/>
          </a:p>
        </p:txBody>
      </p:sp>
    </p:spTree>
    <p:extLst>
      <p:ext uri="{BB962C8B-B14F-4D97-AF65-F5344CB8AC3E}">
        <p14:creationId xmlns:p14="http://schemas.microsoft.com/office/powerpoint/2010/main" val="22027273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38929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78112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p:spPr>
        <p:txBody>
          <a:bodyPr vert="horz" lIns="0" tIns="0" rIns="0" bIns="0" rtlCol="0">
            <a:noAutofit/>
          </a:bodyPr>
          <a:lstStyle>
            <a:lvl1pPr marL="228600" indent="-228600">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764212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55470206"/>
              </p:ext>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2782951008"/>
              </p:ext>
            </p:extLst>
          </p:nvPr>
        </p:nvGraphicFramePr>
        <p:xfrm>
          <a:off x="1007140" y="2920836"/>
          <a:ext cx="10177327" cy="303847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38979839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auto">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9905366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auto"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4511649"/>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9592998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252802474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auto"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auto">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r>
              <a:rPr lang="zh-CN" altLang="en-US" dirty="0" smtClean="0"/>
              <a:t>）</a:t>
            </a:r>
            <a:endParaRPr lang="en-US" altLang="zh-CN" dirty="0" smtClean="0"/>
          </a:p>
          <a:p>
            <a:pPr lvl="1"/>
            <a:endParaRPr lang="en-US" altLang="zh-CN" dirty="0" smtClean="0"/>
          </a:p>
        </p:txBody>
      </p:sp>
      <p:cxnSp>
        <p:nvCxnSpPr>
          <p:cNvPr id="2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xmlns=""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96367409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052420443"/>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0235690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252638519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rgbClr val="404040"/>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201019123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1"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3" y="1484312"/>
            <a:ext cx="11256962" cy="4443243"/>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166991213"/>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93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1"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3" y="1047750"/>
            <a:ext cx="11256962"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778272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userDrawn="1">
          <p15:clr>
            <a:srgbClr val="FBAE40"/>
          </p15:clr>
        </p15:guide>
        <p15:guide id="2" orient="horz" pos="66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2"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513643811"/>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2"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82608444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4312"/>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2149336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14">
            <a:extLst>
              <a:ext uri="{FF2B5EF4-FFF2-40B4-BE49-F238E27FC236}">
                <a16:creationId xmlns="" xmlns:a16="http://schemas.microsoft.com/office/drawing/2014/main" id="{AF72FAD7-C8C3-754A-A498-D3A7EC29AB73}"/>
              </a:ext>
            </a:extLst>
          </p:cNvPr>
          <p:cNvSpPr>
            <a:spLocks noGrp="1"/>
          </p:cNvSpPr>
          <p:nvPr>
            <p:ph type="body" idx="1"/>
          </p:nvPr>
        </p:nvSpPr>
        <p:spPr>
          <a:xfrm>
            <a:off x="908954" y="6270652"/>
            <a:ext cx="1981542" cy="153611"/>
          </a:xfrm>
          <a:prstGeom prst="rect">
            <a:avLst/>
          </a:prstGeom>
        </p:spPr>
        <p:txBody>
          <a:bodyPr vert="horz" lIns="0" tIns="0" rIns="0" bIns="0" rtlCol="0">
            <a:noAutofit/>
          </a:bodyPr>
          <a:lstStyle/>
          <a:p>
            <a:pPr>
              <a:lnSpc>
                <a:spcPct val="100000"/>
              </a:lnSpc>
            </a:pPr>
            <a:r>
              <a:rPr kumimoji="1" lang="en-US" altLang="zh-CN" sz="1000" dirty="0"/>
              <a:t>Security Level:</a:t>
            </a:r>
            <a:endParaRPr lang="en-US" altLang="zh-CN" sz="1000"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577039640"/>
      </p:ext>
    </p:extLst>
  </p:cSld>
  <p:clrMap bg1="lt1" tx1="dk1" bg2="lt2" tx2="dk2" accent1="accent1" accent2="accent2" accent3="accent3" accent4="accent4" accent5="accent5" accent6="accent6" hlink="hlink" folHlink="folHlink"/>
  <p:sldLayoutIdLst>
    <p:sldLayoutId id="214748388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748">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43" r:id="rId1"/>
    <p:sldLayoutId id="2147483828" r:id="rId2"/>
    <p:sldLayoutId id="2147483844" r:id="rId3"/>
    <p:sldLayoutId id="2147483866" r:id="rId4"/>
    <p:sldLayoutId id="2147483846" r:id="rId5"/>
    <p:sldLayoutId id="2147483871" r:id="rId6"/>
    <p:sldLayoutId id="2147483836" r:id="rId7"/>
    <p:sldLayoutId id="2147483837" r:id="rId8"/>
    <p:sldLayoutId id="2147483838" r:id="rId9"/>
    <p:sldLayoutId id="2147483839"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642" userDrawn="1">
          <p15:clr>
            <a:srgbClr val="F26B43"/>
          </p15:clr>
        </p15:guide>
        <p15:guide id="4" pos="7038" userDrawn="1">
          <p15:clr>
            <a:srgbClr val="F26B43"/>
          </p15:clr>
        </p15:guide>
        <p15:guide id="5" orient="horz" pos="2341" userDrawn="1">
          <p15:clr>
            <a:srgbClr val="F26B43"/>
          </p15:clr>
        </p15:guide>
        <p15:guide id="6" orient="horz" pos="3906" userDrawn="1">
          <p15:clr>
            <a:srgbClr val="F26B43"/>
          </p15:clr>
        </p15:guide>
        <p15:guide id="7" orient="horz" pos="1162" userDrawn="1">
          <p15:clr>
            <a:srgbClr val="F26B43"/>
          </p15:clr>
        </p15:guide>
        <p15:guide id="8" pos="3840" userDrawn="1">
          <p15:clr>
            <a:srgbClr val="F26B43"/>
          </p15:clr>
        </p15:guide>
        <p15:guide id="9" orient="horz" pos="731" userDrawn="1">
          <p15:clr>
            <a:srgbClr val="F26B43"/>
          </p15:clr>
        </p15:guide>
        <p15:guide id="10" orient="horz" pos="8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54669"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570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930900574"/>
      </p:ext>
    </p:extLst>
  </p:cSld>
  <p:clrMap bg1="lt1" tx1="dk1" bg2="lt2" tx2="dk2" accent1="accent1" accent2="accent2" accent3="accent3" accent4="accent4" accent5="accent5" accent6="accent6" hlink="hlink" folHlink="folHlink"/>
  <p:sldLayoutIdLst>
    <p:sldLayoutId id="2147483853" r:id="rId1"/>
    <p:sldLayoutId id="2147483869" r:id="rId2"/>
    <p:sldLayoutId id="2147483862" r:id="rId3"/>
    <p:sldLayoutId id="2147483870" r:id="rId4"/>
    <p:sldLayoutId id="2147483863"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7378" userDrawn="1">
          <p15:clr>
            <a:srgbClr val="F26B43"/>
          </p15:clr>
        </p15:guide>
        <p15:guide id="3" orient="horz" pos="278" userDrawn="1">
          <p15:clr>
            <a:srgbClr val="F26B43"/>
          </p15:clr>
        </p15:guide>
        <p15:guide id="4" orient="horz" pos="3906">
          <p15:clr>
            <a:srgbClr val="F26B43"/>
          </p15:clr>
        </p15:guide>
        <p15:guide id="6" pos="3840">
          <p15:clr>
            <a:srgbClr val="F26B43"/>
          </p15:clr>
        </p15:guide>
        <p15:guide id="7" pos="279" userDrawn="1">
          <p15:clr>
            <a:srgbClr val="F26B43"/>
          </p15:clr>
        </p15:guide>
        <p15:guide id="8" orient="horz" pos="216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1722983275"/>
      </p:ext>
    </p:extLst>
  </p:cSld>
  <p:clrMap bg1="lt1" tx1="dk1" bg2="lt2" tx2="dk2" accent1="accent1" accent2="accent2" accent3="accent3" accent4="accent4" accent5="accent5" accent6="accent6" hlink="hlink" folHlink="folHlink"/>
  <p:sldLayoutIdLst>
    <p:sldLayoutId id="2147483868"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userDrawn="1">
          <p15:clr>
            <a:srgbClr val="F26B43"/>
          </p15:clr>
        </p15:guide>
        <p15:guide id="4" pos="71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1.png"/><Relationship Id="rId7" Type="http://schemas.openxmlformats.org/officeDocument/2006/relationships/image" Target="../media/image5.png"/><Relationship Id="rId12"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8.png"/><Relationship Id="rId11" Type="http://schemas.openxmlformats.org/officeDocument/2006/relationships/image" Target="../media/image4.png"/><Relationship Id="rId5" Type="http://schemas.openxmlformats.org/officeDocument/2006/relationships/image" Target="../media/image17.png"/><Relationship Id="rId10" Type="http://schemas.openxmlformats.org/officeDocument/2006/relationships/image" Target="../media/image5.png"/><Relationship Id="rId4" Type="http://schemas.openxmlformats.org/officeDocument/2006/relationships/image" Target="../media/image16.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12"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3.pn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22.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5.xml"/><Relationship Id="rId6" Type="http://schemas.openxmlformats.org/officeDocument/2006/relationships/image" Target="../media/image22.png"/><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22.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22.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5.xml"/><Relationship Id="rId5" Type="http://schemas.openxmlformats.org/officeDocument/2006/relationships/image" Target="../media/image6.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15.xml"/><Relationship Id="rId6" Type="http://schemas.openxmlformats.org/officeDocument/2006/relationships/image" Target="../media/image27.png"/><Relationship Id="rId5"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2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15.xml"/><Relationship Id="rId6" Type="http://schemas.openxmlformats.org/officeDocument/2006/relationships/image" Target="../media/image27.png"/><Relationship Id="rId5"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20.png"/></Relationships>
</file>

<file path=ppt/slides/_rels/slide4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15.xml"/><Relationship Id="rId6" Type="http://schemas.openxmlformats.org/officeDocument/2006/relationships/image" Target="../media/image27.png"/><Relationship Id="rId5"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20.png"/></Relationships>
</file>

<file path=ppt/slides/_rels/slide4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15.xml"/><Relationship Id="rId6" Type="http://schemas.openxmlformats.org/officeDocument/2006/relationships/image" Target="../media/image27.png"/><Relationship Id="rId5"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20.png"/></Relationships>
</file>

<file path=ppt/slides/_rels/slide4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15.xml"/><Relationship Id="rId6" Type="http://schemas.openxmlformats.org/officeDocument/2006/relationships/image" Target="../media/image27.png"/><Relationship Id="rId5"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2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6.png"/><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6.png"/><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8.png"/><Relationship Id="rId7"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6.png"/><Relationship Id="rId4" Type="http://schemas.openxmlformats.org/officeDocument/2006/relationships/image" Target="../media/image27.png"/></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3.xml"/><Relationship Id="rId1" Type="http://schemas.openxmlformats.org/officeDocument/2006/relationships/slideLayout" Target="../slideLayouts/slideLayout15.xml"/><Relationship Id="rId5" Type="http://schemas.openxmlformats.org/officeDocument/2006/relationships/image" Target="../media/image6.png"/><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9.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1.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6.png"/></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3.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4.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5.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 name="文本占位符 29"/>
          <p:cNvSpPr>
            <a:spLocks noGrp="1"/>
          </p:cNvSpPr>
          <p:nvPr>
            <p:ph type="body" sz="quarter" idx="17"/>
          </p:nvPr>
        </p:nvSpPr>
        <p:spPr/>
        <p:txBody>
          <a:bodyPr/>
          <a:lstStyle/>
          <a:p>
            <a:endParaRPr lang="zh-CN" altLang="en-US" dirty="0"/>
          </a:p>
        </p:txBody>
      </p:sp>
      <p:sp>
        <p:nvSpPr>
          <p:cNvPr id="31" name="文本占位符 30"/>
          <p:cNvSpPr>
            <a:spLocks noGrp="1"/>
          </p:cNvSpPr>
          <p:nvPr>
            <p:ph type="body" sz="quarter" idx="18"/>
          </p:nvPr>
        </p:nvSpPr>
        <p:spPr/>
        <p:txBody>
          <a:bodyPr/>
          <a:lstStyle/>
          <a:p>
            <a:r>
              <a:rPr lang="en-US" altLang="zh-CN" dirty="0" err="1" smtClean="0"/>
              <a:t>Datacom</a:t>
            </a:r>
            <a:endParaRPr lang="zh-CN" altLang="en-US" dirty="0"/>
          </a:p>
        </p:txBody>
      </p:sp>
      <p:sp>
        <p:nvSpPr>
          <p:cNvPr id="32" name="文本占位符 31"/>
          <p:cNvSpPr>
            <a:spLocks noGrp="1"/>
          </p:cNvSpPr>
          <p:nvPr>
            <p:ph type="body" sz="quarter" idx="19"/>
          </p:nvPr>
        </p:nvSpPr>
        <p:spPr/>
        <p:txBody>
          <a:bodyPr/>
          <a:lstStyle/>
          <a:p>
            <a:r>
              <a:rPr lang="zh-CN" altLang="en-US" dirty="0" smtClean="0"/>
              <a:t>通用</a:t>
            </a:r>
            <a:endParaRPr lang="zh-CN" altLang="en-US" dirty="0"/>
          </a:p>
        </p:txBody>
      </p:sp>
      <p:sp>
        <p:nvSpPr>
          <p:cNvPr id="33" name="文本占位符 32"/>
          <p:cNvSpPr>
            <a:spLocks noGrp="1"/>
          </p:cNvSpPr>
          <p:nvPr>
            <p:ph type="body" sz="quarter" idx="20"/>
          </p:nvPr>
        </p:nvSpPr>
        <p:spPr/>
        <p:txBody>
          <a:bodyPr/>
          <a:lstStyle/>
          <a:p>
            <a:r>
              <a:rPr lang="en-US" altLang="zh-CN" dirty="0" smtClean="0"/>
              <a:t>V1.0</a:t>
            </a:r>
            <a:endParaRPr lang="zh-CN" altLang="en-US" dirty="0"/>
          </a:p>
        </p:txBody>
      </p:sp>
      <p:sp>
        <p:nvSpPr>
          <p:cNvPr id="2" name="文本占位符 1"/>
          <p:cNvSpPr>
            <a:spLocks noGrp="1"/>
          </p:cNvSpPr>
          <p:nvPr>
            <p:ph type="body" sz="quarter" idx="13"/>
          </p:nvPr>
        </p:nvSpPr>
        <p:spPr/>
        <p:txBody>
          <a:bodyPr/>
          <a:lstStyle/>
          <a:p>
            <a:r>
              <a:rPr lang="zh-CN" altLang="en-US" dirty="0"/>
              <a:t>张凛睿</a:t>
            </a:r>
            <a:r>
              <a:rPr lang="en-US" altLang="zh-CN" dirty="0"/>
              <a:t>/WX570554</a:t>
            </a:r>
            <a:endParaRPr lang="zh-CN" altLang="en-US" dirty="0"/>
          </a:p>
        </p:txBody>
      </p:sp>
      <p:sp>
        <p:nvSpPr>
          <p:cNvPr id="27" name="文本占位符 26"/>
          <p:cNvSpPr>
            <a:spLocks noGrp="1"/>
          </p:cNvSpPr>
          <p:nvPr>
            <p:ph type="body" sz="quarter" idx="14"/>
          </p:nvPr>
        </p:nvSpPr>
        <p:spPr/>
        <p:txBody>
          <a:bodyPr/>
          <a:lstStyle/>
          <a:p>
            <a:r>
              <a:rPr lang="en-US" altLang="zh-CN" dirty="0" smtClean="0"/>
              <a:t>2020.08.15</a:t>
            </a:r>
            <a:endParaRPr lang="zh-CN" altLang="en-US" dirty="0"/>
          </a:p>
        </p:txBody>
      </p:sp>
      <p:sp>
        <p:nvSpPr>
          <p:cNvPr id="28" name="文本占位符 27"/>
          <p:cNvSpPr>
            <a:spLocks noGrp="1"/>
          </p:cNvSpPr>
          <p:nvPr>
            <p:ph type="body" sz="quarter" idx="15"/>
          </p:nvPr>
        </p:nvSpPr>
        <p:spPr/>
        <p:txBody>
          <a:bodyPr/>
          <a:lstStyle/>
          <a:p>
            <a:r>
              <a:rPr lang="zh-CN" altLang="en-US" dirty="0" smtClean="0"/>
              <a:t>朱仕耿</a:t>
            </a:r>
            <a:r>
              <a:rPr lang="en-US" altLang="zh-CN" dirty="0" smtClean="0"/>
              <a:t>/00261992</a:t>
            </a:r>
            <a:endParaRPr lang="zh-CN" altLang="en-US" dirty="0"/>
          </a:p>
        </p:txBody>
      </p:sp>
      <p:sp>
        <p:nvSpPr>
          <p:cNvPr id="29" name="文本占位符 28"/>
          <p:cNvSpPr>
            <a:spLocks noGrp="1"/>
          </p:cNvSpPr>
          <p:nvPr>
            <p:ph type="body" sz="quarter" idx="16"/>
          </p:nvPr>
        </p:nvSpPr>
        <p:spPr/>
        <p:txBody>
          <a:bodyPr/>
          <a:lstStyle/>
          <a:p>
            <a:r>
              <a:rPr lang="zh-CN" altLang="en-US" dirty="0"/>
              <a:t>新开发</a:t>
            </a:r>
          </a:p>
        </p:txBody>
      </p:sp>
      <p:sp>
        <p:nvSpPr>
          <p:cNvPr id="34" name="文本占位符 33"/>
          <p:cNvSpPr>
            <a:spLocks noGrp="1"/>
          </p:cNvSpPr>
          <p:nvPr>
            <p:ph type="body" sz="quarter" idx="21"/>
          </p:nvPr>
        </p:nvSpPr>
        <p:spPr/>
        <p:txBody>
          <a:bodyPr/>
          <a:lstStyle/>
          <a:p>
            <a:r>
              <a:rPr lang="zh-CN" altLang="en-US" dirty="0" smtClean="0"/>
              <a:t>卢玥玥</a:t>
            </a:r>
            <a:r>
              <a:rPr lang="en-US" altLang="zh-CN" dirty="0" smtClean="0"/>
              <a:t>/WX445705</a:t>
            </a:r>
            <a:endParaRPr lang="zh-CN" altLang="en-US" dirty="0"/>
          </a:p>
        </p:txBody>
      </p:sp>
      <p:sp>
        <p:nvSpPr>
          <p:cNvPr id="35" name="文本占位符 34"/>
          <p:cNvSpPr>
            <a:spLocks noGrp="1"/>
          </p:cNvSpPr>
          <p:nvPr>
            <p:ph type="body" sz="quarter" idx="22"/>
          </p:nvPr>
        </p:nvSpPr>
        <p:spPr/>
        <p:txBody>
          <a:bodyPr/>
          <a:lstStyle/>
          <a:p>
            <a:r>
              <a:rPr lang="en-US" altLang="zh-CN" dirty="0" smtClean="0"/>
              <a:t>2020.09.15</a:t>
            </a:r>
            <a:endParaRPr lang="zh-CN" altLang="en-US" dirty="0"/>
          </a:p>
        </p:txBody>
      </p:sp>
      <p:sp>
        <p:nvSpPr>
          <p:cNvPr id="36" name="文本占位符 35"/>
          <p:cNvSpPr>
            <a:spLocks noGrp="1"/>
          </p:cNvSpPr>
          <p:nvPr>
            <p:ph type="body" sz="quarter" idx="23"/>
          </p:nvPr>
        </p:nvSpPr>
        <p:spPr/>
        <p:txBody>
          <a:bodyPr/>
          <a:lstStyle/>
          <a:p>
            <a:r>
              <a:rPr lang="zh-CN" altLang="en-US" dirty="0" smtClean="0"/>
              <a:t>姚宁</a:t>
            </a:r>
            <a:r>
              <a:rPr lang="en-US" altLang="zh-CN" dirty="0" smtClean="0"/>
              <a:t>/00276205</a:t>
            </a:r>
            <a:endParaRPr lang="zh-CN" altLang="en-US" dirty="0"/>
          </a:p>
        </p:txBody>
      </p:sp>
      <p:sp>
        <p:nvSpPr>
          <p:cNvPr id="37" name="文本占位符 36"/>
          <p:cNvSpPr>
            <a:spLocks noGrp="1"/>
          </p:cNvSpPr>
          <p:nvPr>
            <p:ph type="body" sz="quarter" idx="24"/>
          </p:nvPr>
        </p:nvSpPr>
        <p:spPr/>
        <p:txBody>
          <a:bodyPr/>
          <a:lstStyle/>
          <a:p>
            <a:r>
              <a:rPr lang="zh-CN" altLang="en-US" dirty="0"/>
              <a:t>优化</a:t>
            </a:r>
          </a:p>
        </p:txBody>
      </p:sp>
      <p:sp>
        <p:nvSpPr>
          <p:cNvPr id="38" name="文本占位符 37"/>
          <p:cNvSpPr>
            <a:spLocks noGrp="1"/>
          </p:cNvSpPr>
          <p:nvPr>
            <p:ph type="body" sz="quarter" idx="25"/>
          </p:nvPr>
        </p:nvSpPr>
        <p:spPr/>
        <p:txBody>
          <a:bodyPr/>
          <a:lstStyle/>
          <a:p>
            <a:r>
              <a:rPr lang="zh-CN" altLang="en-US" dirty="0" smtClean="0"/>
              <a:t>卢玥玥</a:t>
            </a:r>
            <a:r>
              <a:rPr lang="en-US" altLang="zh-CN" dirty="0" smtClean="0"/>
              <a:t>/WX445705</a:t>
            </a:r>
            <a:endParaRPr lang="zh-CN" altLang="en-US" dirty="0"/>
          </a:p>
        </p:txBody>
      </p:sp>
      <p:sp>
        <p:nvSpPr>
          <p:cNvPr id="39" name="文本占位符 38"/>
          <p:cNvSpPr>
            <a:spLocks noGrp="1"/>
          </p:cNvSpPr>
          <p:nvPr>
            <p:ph type="body" sz="quarter" idx="26"/>
          </p:nvPr>
        </p:nvSpPr>
        <p:spPr/>
        <p:txBody>
          <a:bodyPr/>
          <a:lstStyle/>
          <a:p>
            <a:r>
              <a:rPr lang="en-US" altLang="zh-CN" dirty="0" smtClean="0"/>
              <a:t>2021.07.15</a:t>
            </a:r>
            <a:endParaRPr lang="zh-CN" altLang="en-US" dirty="0"/>
          </a:p>
        </p:txBody>
      </p:sp>
      <p:sp>
        <p:nvSpPr>
          <p:cNvPr id="40" name="文本占位符 39"/>
          <p:cNvSpPr>
            <a:spLocks noGrp="1"/>
          </p:cNvSpPr>
          <p:nvPr>
            <p:ph type="body" sz="quarter" idx="27"/>
          </p:nvPr>
        </p:nvSpPr>
        <p:spPr/>
        <p:txBody>
          <a:bodyPr/>
          <a:lstStyle/>
          <a:p>
            <a:r>
              <a:rPr lang="zh-CN" altLang="en-US" dirty="0" smtClean="0"/>
              <a:t>吴越</a:t>
            </a:r>
            <a:r>
              <a:rPr lang="en-US" altLang="zh-CN" dirty="0" smtClean="0"/>
              <a:t>/WX291773</a:t>
            </a:r>
            <a:endParaRPr lang="zh-CN" altLang="en-US" dirty="0"/>
          </a:p>
        </p:txBody>
      </p:sp>
      <p:sp>
        <p:nvSpPr>
          <p:cNvPr id="41" name="文本占位符 40"/>
          <p:cNvSpPr>
            <a:spLocks noGrp="1"/>
          </p:cNvSpPr>
          <p:nvPr>
            <p:ph type="body" sz="quarter" idx="28"/>
          </p:nvPr>
        </p:nvSpPr>
        <p:spPr/>
        <p:txBody>
          <a:bodyPr/>
          <a:lstStyle/>
          <a:p>
            <a:r>
              <a:rPr lang="zh-CN" altLang="en-US" dirty="0" smtClean="0"/>
              <a:t>优化</a:t>
            </a:r>
            <a:endParaRPr lang="zh-CN" altLang="en-US" dirty="0"/>
          </a:p>
        </p:txBody>
      </p:sp>
      <p:sp>
        <p:nvSpPr>
          <p:cNvPr id="42" name="文本占位符 41"/>
          <p:cNvSpPr>
            <a:spLocks noGrp="1"/>
          </p:cNvSpPr>
          <p:nvPr>
            <p:ph type="body" sz="quarter" idx="29"/>
          </p:nvPr>
        </p:nvSpPr>
        <p:spPr/>
        <p:txBody>
          <a:bodyPr/>
          <a:lstStyle/>
          <a:p>
            <a:endParaRPr lang="zh-CN" altLang="en-US"/>
          </a:p>
        </p:txBody>
      </p:sp>
      <p:sp>
        <p:nvSpPr>
          <p:cNvPr id="43" name="文本占位符 42"/>
          <p:cNvSpPr>
            <a:spLocks noGrp="1"/>
          </p:cNvSpPr>
          <p:nvPr>
            <p:ph type="body" sz="quarter" idx="30"/>
          </p:nvPr>
        </p:nvSpPr>
        <p:spPr/>
        <p:txBody>
          <a:bodyPr/>
          <a:lstStyle/>
          <a:p>
            <a:endParaRPr lang="zh-CN" altLang="en-US"/>
          </a:p>
        </p:txBody>
      </p:sp>
      <p:sp>
        <p:nvSpPr>
          <p:cNvPr id="44" name="文本占位符 43"/>
          <p:cNvSpPr>
            <a:spLocks noGrp="1"/>
          </p:cNvSpPr>
          <p:nvPr>
            <p:ph type="body" sz="quarter" idx="31"/>
          </p:nvPr>
        </p:nvSpPr>
        <p:spPr/>
        <p:txBody>
          <a:bodyPr/>
          <a:lstStyle/>
          <a:p>
            <a:endParaRPr lang="zh-CN" altLang="en-US"/>
          </a:p>
        </p:txBody>
      </p:sp>
      <p:sp>
        <p:nvSpPr>
          <p:cNvPr id="45" name="文本占位符 44"/>
          <p:cNvSpPr>
            <a:spLocks noGrp="1"/>
          </p:cNvSpPr>
          <p:nvPr>
            <p:ph type="body" sz="quarter" idx="32"/>
          </p:nvPr>
        </p:nvSpPr>
        <p:spPr/>
        <p:txBody>
          <a:bodyPr/>
          <a:lstStyle/>
          <a:p>
            <a:endParaRPr lang="zh-CN" altLang="en-US"/>
          </a:p>
        </p:txBody>
      </p:sp>
      <p:sp>
        <p:nvSpPr>
          <p:cNvPr id="46" name="文本占位符 45"/>
          <p:cNvSpPr>
            <a:spLocks noGrp="1"/>
          </p:cNvSpPr>
          <p:nvPr>
            <p:ph type="body" sz="quarter" idx="33"/>
          </p:nvPr>
        </p:nvSpPr>
        <p:spPr/>
        <p:txBody>
          <a:bodyPr/>
          <a:lstStyle/>
          <a:p>
            <a:endParaRPr lang="zh-CN" altLang="en-US"/>
          </a:p>
        </p:txBody>
      </p:sp>
      <p:sp>
        <p:nvSpPr>
          <p:cNvPr id="47" name="文本占位符 46"/>
          <p:cNvSpPr>
            <a:spLocks noGrp="1"/>
          </p:cNvSpPr>
          <p:nvPr>
            <p:ph type="body" sz="quarter" idx="34"/>
          </p:nvPr>
        </p:nvSpPr>
        <p:spPr/>
        <p:txBody>
          <a:bodyPr/>
          <a:lstStyle/>
          <a:p>
            <a:endParaRPr lang="zh-CN" altLang="en-US"/>
          </a:p>
        </p:txBody>
      </p:sp>
      <p:sp>
        <p:nvSpPr>
          <p:cNvPr id="48" name="文本占位符 47"/>
          <p:cNvSpPr>
            <a:spLocks noGrp="1"/>
          </p:cNvSpPr>
          <p:nvPr>
            <p:ph type="body" sz="quarter" idx="35"/>
          </p:nvPr>
        </p:nvSpPr>
        <p:spPr/>
        <p:txBody>
          <a:bodyPr/>
          <a:lstStyle/>
          <a:p>
            <a:endParaRPr lang="zh-CN" altLang="en-US"/>
          </a:p>
        </p:txBody>
      </p:sp>
      <p:sp>
        <p:nvSpPr>
          <p:cNvPr id="49" name="文本占位符 48"/>
          <p:cNvSpPr>
            <a:spLocks noGrp="1"/>
          </p:cNvSpPr>
          <p:nvPr>
            <p:ph type="body" sz="quarter" idx="36"/>
          </p:nvPr>
        </p:nvSpPr>
        <p:spPr/>
        <p:txBody>
          <a:bodyPr/>
          <a:lstStyle/>
          <a:p>
            <a:endParaRPr lang="zh-CN" altLang="en-US"/>
          </a:p>
        </p:txBody>
      </p:sp>
    </p:spTree>
    <p:extLst>
      <p:ext uri="{BB962C8B-B14F-4D97-AF65-F5344CB8AC3E}">
        <p14:creationId xmlns:p14="http://schemas.microsoft.com/office/powerpoint/2010/main" val="9494283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网络准</a:t>
            </a:r>
            <a:r>
              <a:rPr lang="zh-CN" altLang="en-US" dirty="0" smtClean="0"/>
              <a:t>入控制</a:t>
            </a:r>
            <a:endParaRPr lang="zh-CN" altLang="en-US" dirty="0"/>
          </a:p>
        </p:txBody>
      </p:sp>
    </p:spTree>
    <p:extLst>
      <p:ext uri="{BB962C8B-B14F-4D97-AF65-F5344CB8AC3E}">
        <p14:creationId xmlns:p14="http://schemas.microsoft.com/office/powerpoint/2010/main" val="21243174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fontAlgn="auto"/>
            <a:r>
              <a:rPr lang="zh-CN" altLang="en-US" sz="2000" dirty="0"/>
              <a:t>随着园区网络的应用和发展，病毒、木马、间谍软件、网络攻击等各种信息安全威胁也在不断增加。在传统的园区网络建设思路中，一般认为园区内网是安全的，安全威胁主要来自外界。但是研究证明，</a:t>
            </a:r>
            <a:r>
              <a:rPr lang="en-US" altLang="zh-CN" sz="2000" dirty="0"/>
              <a:t>80%</a:t>
            </a:r>
            <a:r>
              <a:rPr lang="zh-CN" altLang="en-US" sz="2000" dirty="0"/>
              <a:t>的网络安全漏洞都存在于网络内部，</a:t>
            </a:r>
            <a:r>
              <a:rPr lang="zh-CN" altLang="en-US" sz="2000" dirty="0" smtClean="0"/>
              <a:t>它们导致的网络故障对</a:t>
            </a:r>
            <a:r>
              <a:rPr lang="zh-CN" altLang="en-US" sz="2000" dirty="0"/>
              <a:t>网络的破坏程度</a:t>
            </a:r>
            <a:r>
              <a:rPr lang="zh-CN" altLang="en-US" sz="2000" dirty="0" smtClean="0"/>
              <a:t>和影响范围在持续</a:t>
            </a:r>
            <a:r>
              <a:rPr lang="zh-CN" altLang="en-US" sz="2000" dirty="0"/>
              <a:t>扩大，经常</a:t>
            </a:r>
            <a:r>
              <a:rPr lang="zh-CN" altLang="en-US" sz="2000" dirty="0" smtClean="0"/>
              <a:t>引起业务系统</a:t>
            </a:r>
            <a:r>
              <a:rPr lang="zh-CN" altLang="en-US" sz="2000" dirty="0"/>
              <a:t>崩溃、网络瘫痪。</a:t>
            </a:r>
          </a:p>
          <a:p>
            <a:pPr fontAlgn="auto"/>
            <a:r>
              <a:rPr lang="zh-CN" altLang="en-US" sz="2000" dirty="0"/>
              <a:t>网络准入控制（</a:t>
            </a:r>
            <a:r>
              <a:rPr lang="en-US" altLang="zh-CN" sz="2000" dirty="0"/>
              <a:t>Network Admission Control</a:t>
            </a:r>
            <a:r>
              <a:rPr lang="zh-CN" altLang="en-US" sz="2000" dirty="0"/>
              <a:t>，</a:t>
            </a:r>
            <a:r>
              <a:rPr lang="en-US" altLang="zh-CN" sz="2000" dirty="0"/>
              <a:t>NAC</a:t>
            </a:r>
            <a:r>
              <a:rPr lang="zh-CN" altLang="en-US" sz="2000" dirty="0"/>
              <a:t>）从对接入网络的终端安全控制入手，将终端安全状况和网络准入控制结合在一起，通过检查、隔离、加固和审计等手段，加强网络用户终端的主动防御能力，保证园区中每个终端的安全性，进而保护园区网络的安全性。</a:t>
            </a:r>
          </a:p>
        </p:txBody>
      </p:sp>
    </p:spTree>
    <p:extLst>
      <p:ext uri="{BB962C8B-B14F-4D97-AF65-F5344CB8AC3E}">
        <p14:creationId xmlns:p14="http://schemas.microsoft.com/office/powerpoint/2010/main" val="6298706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smtClean="0"/>
              <a:t>学完本课程后，您将能够：</a:t>
            </a:r>
          </a:p>
          <a:p>
            <a:pPr lvl="1"/>
            <a:r>
              <a:rPr lang="zh-CN" altLang="en-US" dirty="0" smtClean="0"/>
              <a:t>描述网络准入控制的基本概念 </a:t>
            </a:r>
            <a:endParaRPr lang="en-US" altLang="zh-CN" dirty="0" smtClean="0"/>
          </a:p>
          <a:p>
            <a:pPr lvl="1"/>
            <a:r>
              <a:rPr lang="zh-CN" altLang="en-US" dirty="0" smtClean="0"/>
              <a:t>描述常见的认证技术及其工作原理、应用场景</a:t>
            </a:r>
          </a:p>
          <a:p>
            <a:pPr lvl="1"/>
            <a:r>
              <a:rPr lang="zh-CN" altLang="en-US" dirty="0" smtClean="0"/>
              <a:t>完成基本的用户接入认证配置</a:t>
            </a:r>
          </a:p>
          <a:p>
            <a:pPr lvl="1"/>
            <a:r>
              <a:rPr lang="zh-CN" altLang="en-US" dirty="0" smtClean="0"/>
              <a:t>描述策略联动的作用及原理</a:t>
            </a:r>
            <a:endParaRPr lang="zh-CN" altLang="en-US" dirty="0"/>
          </a:p>
        </p:txBody>
      </p:sp>
    </p:spTree>
    <p:extLst>
      <p:ext uri="{BB962C8B-B14F-4D97-AF65-F5344CB8AC3E}">
        <p14:creationId xmlns:p14="http://schemas.microsoft.com/office/powerpoint/2010/main" val="5349407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dirty="0"/>
              <a:t>网络准入控制概述</a:t>
            </a:r>
          </a:p>
          <a:p>
            <a:r>
              <a:rPr lang="zh-CN" altLang="en-US" dirty="0">
                <a:solidFill>
                  <a:schemeClr val="bg1">
                    <a:lumMod val="50000"/>
                  </a:schemeClr>
                </a:solidFill>
              </a:rPr>
              <a:t>用户认证技术</a:t>
            </a:r>
          </a:p>
          <a:p>
            <a:r>
              <a:rPr lang="zh-CN" altLang="en-US" dirty="0">
                <a:solidFill>
                  <a:schemeClr val="bg1">
                    <a:lumMod val="50000"/>
                  </a:schemeClr>
                </a:solidFill>
              </a:rPr>
              <a:t>用户授权与下线</a:t>
            </a:r>
          </a:p>
          <a:p>
            <a:r>
              <a:rPr lang="en-US" altLang="zh-CN" dirty="0">
                <a:solidFill>
                  <a:schemeClr val="bg1">
                    <a:lumMod val="50000"/>
                  </a:schemeClr>
                </a:solidFill>
              </a:rPr>
              <a:t>NAC</a:t>
            </a:r>
            <a:r>
              <a:rPr lang="zh-CN" altLang="en-US" dirty="0">
                <a:solidFill>
                  <a:schemeClr val="bg1">
                    <a:lumMod val="50000"/>
                  </a:schemeClr>
                </a:solidFill>
              </a:rPr>
              <a:t>配置实现</a:t>
            </a:r>
          </a:p>
          <a:p>
            <a:r>
              <a:rPr lang="zh-CN" altLang="en-US" dirty="0">
                <a:solidFill>
                  <a:schemeClr val="bg1">
                    <a:lumMod val="50000"/>
                  </a:schemeClr>
                </a:solidFill>
              </a:rPr>
              <a:t>策略联动</a:t>
            </a:r>
          </a:p>
        </p:txBody>
      </p:sp>
    </p:spTree>
    <p:extLst>
      <p:ext uri="{BB962C8B-B14F-4D97-AF65-F5344CB8AC3E}">
        <p14:creationId xmlns:p14="http://schemas.microsoft.com/office/powerpoint/2010/main" val="41138554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网络准入控制的技术背景</a:t>
            </a:r>
          </a:p>
        </p:txBody>
      </p:sp>
      <p:sp>
        <p:nvSpPr>
          <p:cNvPr id="3" name="文本占位符 2"/>
          <p:cNvSpPr>
            <a:spLocks noGrp="1"/>
          </p:cNvSpPr>
          <p:nvPr>
            <p:ph type="body" sz="quarter" idx="10"/>
          </p:nvPr>
        </p:nvSpPr>
        <p:spPr bwMode="gray">
          <a:xfrm>
            <a:off x="6095999" y="2068072"/>
            <a:ext cx="5616576" cy="3091542"/>
          </a:xfrm>
        </p:spPr>
        <p:txBody>
          <a:bodyPr/>
          <a:lstStyle/>
          <a:p>
            <a:r>
              <a:rPr lang="zh-CN" altLang="en-US" sz="1800" dirty="0"/>
              <a:t>非法用户随意接入园区内部网络，会危害园区的信息安全。</a:t>
            </a:r>
          </a:p>
          <a:p>
            <a:r>
              <a:rPr lang="zh-CN" altLang="en-US" sz="1800" dirty="0"/>
              <a:t>接入园区网络的终端种类多，且园区内用户行为难以管控。</a:t>
            </a:r>
          </a:p>
          <a:p>
            <a:r>
              <a:rPr lang="zh-CN" altLang="en-US" sz="1800" dirty="0"/>
              <a:t>出于对安全问题的考虑，园区网络不能对所有终端开放访问权限，需要基于终端对应的用户身份和终端状态进行认证，不符合条件的终端不能接入网络。</a:t>
            </a:r>
          </a:p>
        </p:txBody>
      </p:sp>
      <p:grpSp>
        <p:nvGrpSpPr>
          <p:cNvPr id="4" name="组合 3"/>
          <p:cNvGrpSpPr/>
          <p:nvPr/>
        </p:nvGrpSpPr>
        <p:grpSpPr>
          <a:xfrm>
            <a:off x="852206" y="1992139"/>
            <a:ext cx="4836088" cy="3243409"/>
            <a:chOff x="921505" y="1871915"/>
            <a:chExt cx="4836088" cy="3243409"/>
          </a:xfrm>
        </p:grpSpPr>
        <p:sp>
          <p:nvSpPr>
            <p:cNvPr id="40" name="Freeform 159"/>
            <p:cNvSpPr/>
            <p:nvPr/>
          </p:nvSpPr>
          <p:spPr bwMode="gray">
            <a:xfrm flipH="1">
              <a:off x="2166742" y="3271297"/>
              <a:ext cx="2413820" cy="12617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600" dirty="0">
                  <a:solidFill>
                    <a:schemeClr val="bg1">
                      <a:lumMod val="50000"/>
                    </a:schemeClr>
                  </a:solidFill>
                </a:rPr>
                <a:t>园区网络</a:t>
              </a:r>
              <a:endParaRPr lang="en-US" sz="1600" dirty="0">
                <a:solidFill>
                  <a:schemeClr val="bg1">
                    <a:lumMod val="50000"/>
                  </a:schemeClr>
                </a:solidFill>
              </a:endParaRPr>
            </a:p>
          </p:txBody>
        </p:sp>
        <p:pic>
          <p:nvPicPr>
            <p:cNvPr id="23" name="图片 22" descr="故障链路.png"/>
            <p:cNvPicPr>
              <a:picLocks noChangeAspect="1"/>
            </p:cNvPicPr>
            <p:nvPr/>
          </p:nvPicPr>
          <p:blipFill>
            <a:blip r:embed="rId3" cstate="print"/>
            <a:stretch>
              <a:fillRect/>
            </a:stretch>
          </p:blipFill>
          <p:spPr bwMode="gray">
            <a:xfrm>
              <a:off x="997181" y="2616071"/>
              <a:ext cx="482781" cy="360000"/>
            </a:xfrm>
            <a:prstGeom prst="rect">
              <a:avLst/>
            </a:prstGeom>
          </p:spPr>
        </p:pic>
        <p:pic>
          <p:nvPicPr>
            <p:cNvPr id="24" name="图片 23" descr="SAN网络-蓝.png"/>
            <p:cNvPicPr>
              <a:picLocks noChangeAspect="1"/>
            </p:cNvPicPr>
            <p:nvPr/>
          </p:nvPicPr>
          <p:blipFill>
            <a:blip r:embed="rId4" cstate="print"/>
            <a:stretch>
              <a:fillRect/>
            </a:stretch>
          </p:blipFill>
          <p:spPr bwMode="gray">
            <a:xfrm>
              <a:off x="1128701" y="3741529"/>
              <a:ext cx="219740" cy="360000"/>
            </a:xfrm>
            <a:prstGeom prst="rect">
              <a:avLst/>
            </a:prstGeom>
          </p:spPr>
        </p:pic>
        <p:pic>
          <p:nvPicPr>
            <p:cNvPr id="25" name="图片 24" descr="PC.png"/>
            <p:cNvPicPr>
              <a:picLocks noChangeAspect="1"/>
            </p:cNvPicPr>
            <p:nvPr/>
          </p:nvPicPr>
          <p:blipFill>
            <a:blip r:embed="rId5" cstate="print"/>
            <a:stretch>
              <a:fillRect/>
            </a:stretch>
          </p:blipFill>
          <p:spPr bwMode="gray">
            <a:xfrm>
              <a:off x="5236101" y="3741529"/>
              <a:ext cx="468750" cy="360000"/>
            </a:xfrm>
            <a:prstGeom prst="rect">
              <a:avLst/>
            </a:prstGeom>
          </p:spPr>
        </p:pic>
        <p:pic>
          <p:nvPicPr>
            <p:cNvPr id="26" name="图片 25" descr="笔记本电脑.png"/>
            <p:cNvPicPr>
              <a:picLocks noChangeAspect="1"/>
            </p:cNvPicPr>
            <p:nvPr/>
          </p:nvPicPr>
          <p:blipFill>
            <a:blip r:embed="rId6" cstate="print"/>
            <a:stretch>
              <a:fillRect/>
            </a:stretch>
          </p:blipFill>
          <p:spPr bwMode="gray">
            <a:xfrm>
              <a:off x="5183360" y="2616071"/>
              <a:ext cx="574233" cy="360000"/>
            </a:xfrm>
            <a:prstGeom prst="rect">
              <a:avLst/>
            </a:prstGeom>
          </p:spPr>
        </p:pic>
        <p:pic>
          <p:nvPicPr>
            <p:cNvPr id="27" name="图片 26" descr="IP电话.png"/>
            <p:cNvPicPr>
              <a:picLocks noChangeAspect="1"/>
            </p:cNvPicPr>
            <p:nvPr/>
          </p:nvPicPr>
          <p:blipFill>
            <a:blip r:embed="rId7" cstate="print"/>
            <a:stretch>
              <a:fillRect/>
            </a:stretch>
          </p:blipFill>
          <p:spPr bwMode="gray">
            <a:xfrm>
              <a:off x="1047101" y="4755324"/>
              <a:ext cx="382941" cy="360000"/>
            </a:xfrm>
            <a:prstGeom prst="rect">
              <a:avLst/>
            </a:prstGeom>
          </p:spPr>
        </p:pic>
        <p:pic>
          <p:nvPicPr>
            <p:cNvPr id="28" name="图片 27" descr="打印机.png"/>
            <p:cNvPicPr>
              <a:picLocks noChangeAspect="1"/>
            </p:cNvPicPr>
            <p:nvPr/>
          </p:nvPicPr>
          <p:blipFill>
            <a:blip r:embed="rId8" cstate="print"/>
            <a:stretch>
              <a:fillRect/>
            </a:stretch>
          </p:blipFill>
          <p:spPr bwMode="gray">
            <a:xfrm>
              <a:off x="5244346" y="4755324"/>
              <a:ext cx="452261" cy="360000"/>
            </a:xfrm>
            <a:prstGeom prst="rect">
              <a:avLst/>
            </a:prstGeom>
          </p:spPr>
        </p:pic>
        <p:pic>
          <p:nvPicPr>
            <p:cNvPr id="32" name="图片 31" descr="FTP服务器-蓝.png"/>
            <p:cNvPicPr>
              <a:picLocks noChangeAspect="1"/>
            </p:cNvPicPr>
            <p:nvPr/>
          </p:nvPicPr>
          <p:blipFill>
            <a:blip r:embed="rId9" cstate="print"/>
            <a:stretch>
              <a:fillRect/>
            </a:stretch>
          </p:blipFill>
          <p:spPr bwMode="gray">
            <a:xfrm>
              <a:off x="2800001" y="2191883"/>
              <a:ext cx="540000" cy="441818"/>
            </a:xfrm>
            <a:prstGeom prst="rect">
              <a:avLst/>
            </a:prstGeom>
          </p:spPr>
        </p:pic>
        <p:sp>
          <p:nvSpPr>
            <p:cNvPr id="33" name="任意多边形 32"/>
            <p:cNvSpPr/>
            <p:nvPr/>
          </p:nvSpPr>
          <p:spPr bwMode="gray">
            <a:xfrm>
              <a:off x="1504673" y="2646675"/>
              <a:ext cx="1570893" cy="1455262"/>
            </a:xfrm>
            <a:custGeom>
              <a:avLst/>
              <a:gdLst>
                <a:gd name="connsiteX0" fmla="*/ 1570893 w 1570893"/>
                <a:gd name="connsiteY0" fmla="*/ 0 h 1455262"/>
                <a:gd name="connsiteX1" fmla="*/ 1336431 w 1570893"/>
                <a:gd name="connsiteY1" fmla="*/ 1184031 h 1455262"/>
                <a:gd name="connsiteX2" fmla="*/ 984739 w 1570893"/>
                <a:gd name="connsiteY2" fmla="*/ 1441938 h 1455262"/>
                <a:gd name="connsiteX3" fmla="*/ 0 w 1570893"/>
                <a:gd name="connsiteY3" fmla="*/ 1395046 h 1455262"/>
              </a:gdLst>
              <a:ahLst/>
              <a:cxnLst>
                <a:cxn ang="0">
                  <a:pos x="connsiteX0" y="connsiteY0"/>
                </a:cxn>
                <a:cxn ang="0">
                  <a:pos x="connsiteX1" y="connsiteY1"/>
                </a:cxn>
                <a:cxn ang="0">
                  <a:pos x="connsiteX2" y="connsiteY2"/>
                </a:cxn>
                <a:cxn ang="0">
                  <a:pos x="connsiteX3" y="connsiteY3"/>
                </a:cxn>
              </a:cxnLst>
              <a:rect l="l" t="t" r="r" b="b"/>
              <a:pathLst>
                <a:path w="1570893" h="1455262">
                  <a:moveTo>
                    <a:pt x="1570893" y="0"/>
                  </a:moveTo>
                  <a:cubicBezTo>
                    <a:pt x="1502508" y="471854"/>
                    <a:pt x="1434123" y="943708"/>
                    <a:pt x="1336431" y="1184031"/>
                  </a:cubicBezTo>
                  <a:cubicBezTo>
                    <a:pt x="1238739" y="1424354"/>
                    <a:pt x="1207477" y="1406769"/>
                    <a:pt x="984739" y="1441938"/>
                  </a:cubicBezTo>
                  <a:cubicBezTo>
                    <a:pt x="762001" y="1477107"/>
                    <a:pt x="381000" y="1436076"/>
                    <a:pt x="0" y="1395046"/>
                  </a:cubicBezTo>
                </a:path>
              </a:pathLst>
            </a:custGeom>
            <a:noFill/>
            <a:ln w="25400">
              <a:solidFill>
                <a:srgbClr val="D33941"/>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bwMode="gray">
            <a:xfrm>
              <a:off x="1993218" y="2933845"/>
              <a:ext cx="1082348" cy="307777"/>
            </a:xfrm>
            <a:prstGeom prst="rect">
              <a:avLst/>
            </a:prstGeom>
            <a:noFill/>
          </p:spPr>
          <p:txBody>
            <a:bodyPr wrap="none" rtlCol="0">
              <a:spAutoFit/>
            </a:bodyPr>
            <a:lstStyle/>
            <a:p>
              <a:r>
                <a:rPr lang="zh-CN" altLang="en-US" sz="1400" dirty="0"/>
                <a:t>非授权访问</a:t>
              </a:r>
            </a:p>
          </p:txBody>
        </p:sp>
        <p:sp>
          <p:nvSpPr>
            <p:cNvPr id="35" name="文本框 34"/>
            <p:cNvSpPr txBox="1"/>
            <p:nvPr/>
          </p:nvSpPr>
          <p:spPr bwMode="gray">
            <a:xfrm>
              <a:off x="2205776" y="1871915"/>
              <a:ext cx="1739579" cy="307777"/>
            </a:xfrm>
            <a:prstGeom prst="rect">
              <a:avLst/>
            </a:prstGeom>
            <a:noFill/>
          </p:spPr>
          <p:txBody>
            <a:bodyPr wrap="none" rtlCol="0">
              <a:spAutoFit/>
            </a:bodyPr>
            <a:lstStyle/>
            <a:p>
              <a:r>
                <a:rPr lang="zh-CN" altLang="en-US" sz="1400" dirty="0"/>
                <a:t>园区</a:t>
              </a:r>
              <a:r>
                <a:rPr lang="zh-CN" altLang="en-US" sz="1400" dirty="0" smtClean="0"/>
                <a:t>内部</a:t>
              </a:r>
              <a:r>
                <a:rPr lang="en-US" altLang="zh-CN" sz="1400" dirty="0"/>
                <a:t>FTP</a:t>
              </a:r>
              <a:r>
                <a:rPr lang="zh-CN" altLang="en-US" sz="1400" dirty="0"/>
                <a:t>服务器</a:t>
              </a:r>
            </a:p>
          </p:txBody>
        </p:sp>
        <p:sp>
          <p:nvSpPr>
            <p:cNvPr id="36" name="文本框 35"/>
            <p:cNvSpPr txBox="1"/>
            <p:nvPr/>
          </p:nvSpPr>
          <p:spPr bwMode="gray">
            <a:xfrm>
              <a:off x="921505" y="4114911"/>
              <a:ext cx="543739" cy="307777"/>
            </a:xfrm>
            <a:prstGeom prst="rect">
              <a:avLst/>
            </a:prstGeom>
            <a:noFill/>
          </p:spPr>
          <p:txBody>
            <a:bodyPr wrap="none" rtlCol="0">
              <a:spAutoFit/>
            </a:bodyPr>
            <a:lstStyle/>
            <a:p>
              <a:pPr algn="ctr"/>
              <a:r>
                <a:rPr lang="zh-CN" altLang="en-US" sz="1400" dirty="0"/>
                <a:t>访客</a:t>
              </a:r>
            </a:p>
          </p:txBody>
        </p:sp>
        <p:sp>
          <p:nvSpPr>
            <p:cNvPr id="37" name="任意多边形 36"/>
            <p:cNvSpPr/>
            <p:nvPr/>
          </p:nvSpPr>
          <p:spPr bwMode="gray">
            <a:xfrm>
              <a:off x="4178886" y="3936213"/>
              <a:ext cx="966457" cy="1090247"/>
            </a:xfrm>
            <a:custGeom>
              <a:avLst/>
              <a:gdLst>
                <a:gd name="connsiteX0" fmla="*/ 931288 w 966457"/>
                <a:gd name="connsiteY0" fmla="*/ 1090247 h 1090247"/>
                <a:gd name="connsiteX1" fmla="*/ 145842 w 966457"/>
                <a:gd name="connsiteY1" fmla="*/ 668216 h 1090247"/>
                <a:gd name="connsiteX2" fmla="*/ 75503 w 966457"/>
                <a:gd name="connsiteY2" fmla="*/ 187570 h 1090247"/>
                <a:gd name="connsiteX3" fmla="*/ 966457 w 966457"/>
                <a:gd name="connsiteY3" fmla="*/ 0 h 1090247"/>
              </a:gdLst>
              <a:ahLst/>
              <a:cxnLst>
                <a:cxn ang="0">
                  <a:pos x="connsiteX0" y="connsiteY0"/>
                </a:cxn>
                <a:cxn ang="0">
                  <a:pos x="connsiteX1" y="connsiteY1"/>
                </a:cxn>
                <a:cxn ang="0">
                  <a:pos x="connsiteX2" y="connsiteY2"/>
                </a:cxn>
                <a:cxn ang="0">
                  <a:pos x="connsiteX3" y="connsiteY3"/>
                </a:cxn>
              </a:cxnLst>
              <a:rect l="l" t="t" r="r" b="b"/>
              <a:pathLst>
                <a:path w="966457" h="1090247">
                  <a:moveTo>
                    <a:pt x="931288" y="1090247"/>
                  </a:moveTo>
                  <a:cubicBezTo>
                    <a:pt x="609880" y="954454"/>
                    <a:pt x="288473" y="818662"/>
                    <a:pt x="145842" y="668216"/>
                  </a:cubicBezTo>
                  <a:cubicBezTo>
                    <a:pt x="3211" y="517770"/>
                    <a:pt x="-61266" y="298939"/>
                    <a:pt x="75503" y="187570"/>
                  </a:cubicBezTo>
                  <a:cubicBezTo>
                    <a:pt x="212272" y="76201"/>
                    <a:pt x="589364" y="38100"/>
                    <a:pt x="966457" y="0"/>
                  </a:cubicBezTo>
                </a:path>
              </a:pathLst>
            </a:custGeom>
            <a:noFill/>
            <a:ln w="25400">
              <a:solidFill>
                <a:srgbClr val="D33941"/>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bwMode="gray">
            <a:xfrm flipV="1">
              <a:off x="4178886" y="2821015"/>
              <a:ext cx="966457" cy="1090247"/>
            </a:xfrm>
            <a:custGeom>
              <a:avLst/>
              <a:gdLst>
                <a:gd name="connsiteX0" fmla="*/ 931288 w 966457"/>
                <a:gd name="connsiteY0" fmla="*/ 1090247 h 1090247"/>
                <a:gd name="connsiteX1" fmla="*/ 145842 w 966457"/>
                <a:gd name="connsiteY1" fmla="*/ 668216 h 1090247"/>
                <a:gd name="connsiteX2" fmla="*/ 75503 w 966457"/>
                <a:gd name="connsiteY2" fmla="*/ 187570 h 1090247"/>
                <a:gd name="connsiteX3" fmla="*/ 966457 w 966457"/>
                <a:gd name="connsiteY3" fmla="*/ 0 h 1090247"/>
              </a:gdLst>
              <a:ahLst/>
              <a:cxnLst>
                <a:cxn ang="0">
                  <a:pos x="connsiteX0" y="connsiteY0"/>
                </a:cxn>
                <a:cxn ang="0">
                  <a:pos x="connsiteX1" y="connsiteY1"/>
                </a:cxn>
                <a:cxn ang="0">
                  <a:pos x="connsiteX2" y="connsiteY2"/>
                </a:cxn>
                <a:cxn ang="0">
                  <a:pos x="connsiteX3" y="connsiteY3"/>
                </a:cxn>
              </a:cxnLst>
              <a:rect l="l" t="t" r="r" b="b"/>
              <a:pathLst>
                <a:path w="966457" h="1090247">
                  <a:moveTo>
                    <a:pt x="931288" y="1090247"/>
                  </a:moveTo>
                  <a:cubicBezTo>
                    <a:pt x="609880" y="954454"/>
                    <a:pt x="288473" y="818662"/>
                    <a:pt x="145842" y="668216"/>
                  </a:cubicBezTo>
                  <a:cubicBezTo>
                    <a:pt x="3211" y="517770"/>
                    <a:pt x="-61266" y="298939"/>
                    <a:pt x="75503" y="187570"/>
                  </a:cubicBezTo>
                  <a:cubicBezTo>
                    <a:pt x="212272" y="76201"/>
                    <a:pt x="589364" y="38100"/>
                    <a:pt x="966457" y="0"/>
                  </a:cubicBezTo>
                </a:path>
              </a:pathLst>
            </a:custGeom>
            <a:noFill/>
            <a:ln w="25400">
              <a:solidFill>
                <a:srgbClr val="D33941"/>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bwMode="gray">
            <a:xfrm>
              <a:off x="4394277" y="3342437"/>
              <a:ext cx="1082348" cy="523220"/>
            </a:xfrm>
            <a:prstGeom prst="rect">
              <a:avLst/>
            </a:prstGeom>
            <a:noFill/>
          </p:spPr>
          <p:txBody>
            <a:bodyPr wrap="none" rtlCol="0">
              <a:spAutoFit/>
            </a:bodyPr>
            <a:lstStyle/>
            <a:p>
              <a:r>
                <a:rPr lang="zh-CN" altLang="en-US" sz="1400" dirty="0"/>
                <a:t>主机感染病</a:t>
              </a:r>
              <a:endParaRPr lang="en-US" altLang="zh-CN" sz="1400" dirty="0"/>
            </a:p>
            <a:p>
              <a:r>
                <a:rPr lang="zh-CN" altLang="en-US" sz="1400" dirty="0"/>
                <a:t>毒后扩散</a:t>
              </a:r>
            </a:p>
          </p:txBody>
        </p:sp>
      </p:grpSp>
    </p:spTree>
    <p:extLst>
      <p:ext uri="{BB962C8B-B14F-4D97-AF65-F5344CB8AC3E}">
        <p14:creationId xmlns:p14="http://schemas.microsoft.com/office/powerpoint/2010/main" val="7817767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网络准入控制概述</a:t>
            </a:r>
            <a:endParaRPr lang="zh-CN" altLang="en-US" dirty="0"/>
          </a:p>
        </p:txBody>
      </p:sp>
      <p:sp>
        <p:nvSpPr>
          <p:cNvPr id="3" name="文本占位符 2"/>
          <p:cNvSpPr>
            <a:spLocks noGrp="1"/>
          </p:cNvSpPr>
          <p:nvPr>
            <p:ph type="body" sz="quarter" idx="10"/>
          </p:nvPr>
        </p:nvSpPr>
        <p:spPr>
          <a:xfrm>
            <a:off x="455613" y="1047751"/>
            <a:ext cx="11256962" cy="836290"/>
          </a:xfrm>
        </p:spPr>
        <p:txBody>
          <a:bodyPr/>
          <a:lstStyle/>
          <a:p>
            <a:r>
              <a:rPr lang="zh-CN" altLang="en-US" sz="1800" dirty="0" smtClean="0"/>
              <a:t>网络准入控制以“只有合法的用户、安全的终端才可以接入网络”为主导思想，通过用户认证、权限管理、安全检查、修复升级等手段提升企业网络整体终端安全防护能力。</a:t>
            </a:r>
          </a:p>
          <a:p>
            <a:endParaRPr lang="zh-CN" altLang="en-US" sz="1800" dirty="0"/>
          </a:p>
        </p:txBody>
      </p:sp>
      <p:sp>
        <p:nvSpPr>
          <p:cNvPr id="28" name="矩形 27"/>
          <p:cNvSpPr/>
          <p:nvPr/>
        </p:nvSpPr>
        <p:spPr bwMode="gray">
          <a:xfrm>
            <a:off x="4544369" y="2461858"/>
            <a:ext cx="1598879" cy="3629860"/>
          </a:xfrm>
          <a:prstGeom prst="rect">
            <a:avLst/>
          </a:prstGeom>
          <a:solidFill>
            <a:srgbClr val="FFFFFF"/>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p:cNvSpPr/>
          <p:nvPr/>
        </p:nvSpPr>
        <p:spPr bwMode="gray">
          <a:xfrm>
            <a:off x="2784821" y="2459010"/>
            <a:ext cx="1598879" cy="3629860"/>
          </a:xfrm>
          <a:prstGeom prst="rect">
            <a:avLst/>
          </a:prstGeom>
          <a:solidFill>
            <a:srgbClr val="FFFFFF"/>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bwMode="gray">
          <a:xfrm>
            <a:off x="750914" y="2459011"/>
            <a:ext cx="1849551" cy="3629860"/>
          </a:xfrm>
          <a:prstGeom prst="rect">
            <a:avLst/>
          </a:prstGeom>
          <a:solidFill>
            <a:srgbClr val="FFFFFF"/>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2" name="图片 3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314260" y="3077470"/>
            <a:ext cx="540000" cy="442800"/>
          </a:xfrm>
          <a:prstGeom prst="rect">
            <a:avLst/>
          </a:prstGeom>
        </p:spPr>
      </p:pic>
      <p:pic>
        <p:nvPicPr>
          <p:cNvPr id="33" name="图片 32" descr="通用交换机.png"/>
          <p:cNvPicPr>
            <a:picLocks/>
          </p:cNvPicPr>
          <p:nvPr/>
        </p:nvPicPr>
        <p:blipFill>
          <a:blip r:embed="rId4" cstate="print"/>
          <a:stretch>
            <a:fillRect/>
          </a:stretch>
        </p:blipFill>
        <p:spPr bwMode="gray">
          <a:xfrm>
            <a:off x="3314260" y="4091756"/>
            <a:ext cx="540000" cy="441818"/>
          </a:xfrm>
          <a:prstGeom prst="rect">
            <a:avLst/>
          </a:prstGeom>
        </p:spPr>
      </p:pic>
      <p:pic>
        <p:nvPicPr>
          <p:cNvPr id="34" name="图片 3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314260" y="5108543"/>
            <a:ext cx="540000" cy="442800"/>
          </a:xfrm>
          <a:prstGeom prst="rect">
            <a:avLst/>
          </a:prstGeom>
        </p:spPr>
      </p:pic>
      <p:pic>
        <p:nvPicPr>
          <p:cNvPr id="35" name="图片 34" descr="故障链路.png"/>
          <p:cNvPicPr>
            <a:picLocks noChangeAspect="1"/>
          </p:cNvPicPr>
          <p:nvPr/>
        </p:nvPicPr>
        <p:blipFill>
          <a:blip r:embed="rId6" cstate="print"/>
          <a:stretch>
            <a:fillRect/>
          </a:stretch>
        </p:blipFill>
        <p:spPr bwMode="gray">
          <a:xfrm>
            <a:off x="1085560" y="3047486"/>
            <a:ext cx="482781" cy="360000"/>
          </a:xfrm>
          <a:prstGeom prst="rect">
            <a:avLst/>
          </a:prstGeom>
        </p:spPr>
      </p:pic>
      <p:pic>
        <p:nvPicPr>
          <p:cNvPr id="36" name="图片 35" descr="SAN网络-蓝.png"/>
          <p:cNvPicPr>
            <a:picLocks noChangeAspect="1"/>
          </p:cNvPicPr>
          <p:nvPr/>
        </p:nvPicPr>
        <p:blipFill>
          <a:blip r:embed="rId7" cstate="print"/>
          <a:stretch>
            <a:fillRect/>
          </a:stretch>
        </p:blipFill>
        <p:spPr bwMode="gray">
          <a:xfrm>
            <a:off x="1217080" y="4061281"/>
            <a:ext cx="219740" cy="360000"/>
          </a:xfrm>
          <a:prstGeom prst="rect">
            <a:avLst/>
          </a:prstGeom>
        </p:spPr>
      </p:pic>
      <p:pic>
        <p:nvPicPr>
          <p:cNvPr id="37" name="图片 36" descr="PC.png"/>
          <p:cNvPicPr>
            <a:picLocks noChangeAspect="1"/>
          </p:cNvPicPr>
          <p:nvPr/>
        </p:nvPicPr>
        <p:blipFill>
          <a:blip r:embed="rId8" cstate="print"/>
          <a:stretch>
            <a:fillRect/>
          </a:stretch>
        </p:blipFill>
        <p:spPr bwMode="gray">
          <a:xfrm>
            <a:off x="1840903" y="4061281"/>
            <a:ext cx="468750" cy="360000"/>
          </a:xfrm>
          <a:prstGeom prst="rect">
            <a:avLst/>
          </a:prstGeom>
        </p:spPr>
      </p:pic>
      <p:pic>
        <p:nvPicPr>
          <p:cNvPr id="38" name="图片 37" descr="笔记本电脑.png"/>
          <p:cNvPicPr>
            <a:picLocks noChangeAspect="1"/>
          </p:cNvPicPr>
          <p:nvPr/>
        </p:nvPicPr>
        <p:blipFill>
          <a:blip r:embed="rId9" cstate="print"/>
          <a:stretch>
            <a:fillRect/>
          </a:stretch>
        </p:blipFill>
        <p:spPr bwMode="gray">
          <a:xfrm>
            <a:off x="1788162" y="3047486"/>
            <a:ext cx="574233" cy="360000"/>
          </a:xfrm>
          <a:prstGeom prst="rect">
            <a:avLst/>
          </a:prstGeom>
        </p:spPr>
      </p:pic>
      <p:pic>
        <p:nvPicPr>
          <p:cNvPr id="39" name="图片 38" descr="IP电话.png"/>
          <p:cNvPicPr>
            <a:picLocks noChangeAspect="1"/>
          </p:cNvPicPr>
          <p:nvPr/>
        </p:nvPicPr>
        <p:blipFill>
          <a:blip r:embed="rId10" cstate="print"/>
          <a:stretch>
            <a:fillRect/>
          </a:stretch>
        </p:blipFill>
        <p:spPr bwMode="gray">
          <a:xfrm>
            <a:off x="1135480" y="5075076"/>
            <a:ext cx="382941" cy="360000"/>
          </a:xfrm>
          <a:prstGeom prst="rect">
            <a:avLst/>
          </a:prstGeom>
        </p:spPr>
      </p:pic>
      <p:pic>
        <p:nvPicPr>
          <p:cNvPr id="40" name="图片 39" descr="打印机.png"/>
          <p:cNvPicPr>
            <a:picLocks noChangeAspect="1"/>
          </p:cNvPicPr>
          <p:nvPr/>
        </p:nvPicPr>
        <p:blipFill>
          <a:blip r:embed="rId11" cstate="print"/>
          <a:stretch>
            <a:fillRect/>
          </a:stretch>
        </p:blipFill>
        <p:spPr bwMode="gray">
          <a:xfrm>
            <a:off x="1849148" y="5075076"/>
            <a:ext cx="452261" cy="360000"/>
          </a:xfrm>
          <a:prstGeom prst="rect">
            <a:avLst/>
          </a:prstGeom>
        </p:spPr>
      </p:pic>
      <p:sp>
        <p:nvSpPr>
          <p:cNvPr id="41" name="文本框 40"/>
          <p:cNvSpPr txBox="1"/>
          <p:nvPr/>
        </p:nvSpPr>
        <p:spPr bwMode="gray">
          <a:xfrm>
            <a:off x="1436820" y="5637035"/>
            <a:ext cx="433132" cy="523220"/>
          </a:xfrm>
          <a:prstGeom prst="rect">
            <a:avLst/>
          </a:prstGeom>
          <a:noFill/>
        </p:spPr>
        <p:txBody>
          <a:bodyPr wrap="none" rtlCol="0">
            <a:spAutoFit/>
          </a:bodyPr>
          <a:lstStyle/>
          <a:p>
            <a:r>
              <a:rPr lang="en-US" altLang="zh-CN" sz="2800" dirty="0"/>
              <a:t>…</a:t>
            </a:r>
            <a:endParaRPr lang="zh-CN" altLang="en-US" sz="2800" dirty="0"/>
          </a:p>
        </p:txBody>
      </p:sp>
      <p:sp>
        <p:nvSpPr>
          <p:cNvPr id="42" name="文本框 41"/>
          <p:cNvSpPr txBox="1"/>
          <p:nvPr/>
        </p:nvSpPr>
        <p:spPr bwMode="gray">
          <a:xfrm>
            <a:off x="3367694" y="5637035"/>
            <a:ext cx="433132" cy="523220"/>
          </a:xfrm>
          <a:prstGeom prst="rect">
            <a:avLst/>
          </a:prstGeom>
          <a:noFill/>
        </p:spPr>
        <p:txBody>
          <a:bodyPr wrap="none" rtlCol="0">
            <a:spAutoFit/>
          </a:bodyPr>
          <a:lstStyle/>
          <a:p>
            <a:r>
              <a:rPr lang="en-US" altLang="zh-CN" sz="2800" dirty="0"/>
              <a:t>…</a:t>
            </a:r>
            <a:endParaRPr lang="zh-CN" altLang="en-US" sz="2800" dirty="0"/>
          </a:p>
        </p:txBody>
      </p:sp>
      <p:sp>
        <p:nvSpPr>
          <p:cNvPr id="43" name="矩形 51">
            <a:extLst>
              <a:ext uri="{FF2B5EF4-FFF2-40B4-BE49-F238E27FC236}">
                <a16:creationId xmlns:a16="http://schemas.microsoft.com/office/drawing/2014/main" xmlns="" id="{E4B5817B-B623-4722-8212-BC996DE0E8C2}"/>
              </a:ext>
            </a:extLst>
          </p:cNvPr>
          <p:cNvSpPr>
            <a:spLocks noChangeArrowheads="1"/>
          </p:cNvSpPr>
          <p:nvPr/>
        </p:nvSpPr>
        <p:spPr bwMode="gray">
          <a:xfrm>
            <a:off x="807532" y="2482759"/>
            <a:ext cx="1736313" cy="379502"/>
          </a:xfrm>
          <a:prstGeom prst="rect">
            <a:avLst/>
          </a:prstGeom>
          <a:noFill/>
          <a:ln w="9525">
            <a:noFill/>
            <a:miter lim="800000"/>
            <a:headEnd/>
            <a:tailEnd/>
          </a:ln>
        </p:spPr>
        <p:txBody>
          <a:bodyPr wrap="square" lIns="91413" tIns="45707" rIns="91413" bIns="45707">
            <a:spAutoFit/>
          </a:bodyPr>
          <a:lstStyle/>
          <a:p>
            <a:pPr algn="ctr"/>
            <a:r>
              <a:rPr lang="zh-CN" altLang="en-US" dirty="0">
                <a:solidFill>
                  <a:srgbClr val="30B5C5"/>
                </a:solidFill>
                <a:latin typeface="Huawei Sans" panose="020C0503030203020204" pitchFamily="34" charset="0"/>
                <a:sym typeface="Arial" pitchFamily="34" charset="0"/>
              </a:rPr>
              <a:t>用户终端</a:t>
            </a:r>
          </a:p>
        </p:txBody>
      </p:sp>
      <p:cxnSp>
        <p:nvCxnSpPr>
          <p:cNvPr id="44" name="直接连接符 473">
            <a:extLst>
              <a:ext uri="{FF2B5EF4-FFF2-40B4-BE49-F238E27FC236}">
                <a16:creationId xmlns:a16="http://schemas.microsoft.com/office/drawing/2014/main" xmlns="" id="{D100375A-B4E2-4380-9022-7CC50820FCF7}"/>
              </a:ext>
            </a:extLst>
          </p:cNvPr>
          <p:cNvCxnSpPr/>
          <p:nvPr/>
        </p:nvCxnSpPr>
        <p:spPr bwMode="gray">
          <a:xfrm>
            <a:off x="750914" y="2858864"/>
            <a:ext cx="1849551" cy="0"/>
          </a:xfrm>
          <a:prstGeom prst="line">
            <a:avLst/>
          </a:prstGeom>
          <a:solidFill>
            <a:srgbClr val="FFFFFF"/>
          </a:solidFill>
          <a:ln w="12700" cap="flat" cmpd="sng" algn="ctr">
            <a:solidFill>
              <a:srgbClr val="94DAE2"/>
            </a:solidFill>
            <a:prstDash val="solid"/>
            <a:miter lim="800000"/>
          </a:ln>
          <a:effectLst/>
        </p:spPr>
      </p:cxnSp>
      <p:sp>
        <p:nvSpPr>
          <p:cNvPr id="45" name="矩形 51">
            <a:extLst>
              <a:ext uri="{FF2B5EF4-FFF2-40B4-BE49-F238E27FC236}">
                <a16:creationId xmlns:a16="http://schemas.microsoft.com/office/drawing/2014/main" xmlns="" id="{E4B5817B-B623-4722-8212-BC996DE0E8C2}"/>
              </a:ext>
            </a:extLst>
          </p:cNvPr>
          <p:cNvSpPr>
            <a:spLocks noChangeArrowheads="1"/>
          </p:cNvSpPr>
          <p:nvPr/>
        </p:nvSpPr>
        <p:spPr bwMode="gray">
          <a:xfrm>
            <a:off x="2729452" y="2495423"/>
            <a:ext cx="1736313" cy="379502"/>
          </a:xfrm>
          <a:prstGeom prst="rect">
            <a:avLst/>
          </a:prstGeom>
          <a:noFill/>
          <a:ln w="9525">
            <a:noFill/>
            <a:miter lim="800000"/>
            <a:headEnd/>
            <a:tailEnd/>
          </a:ln>
        </p:spPr>
        <p:txBody>
          <a:bodyPr wrap="square" lIns="91413" tIns="45707" rIns="91413" bIns="45707">
            <a:spAutoFit/>
          </a:bodyPr>
          <a:lstStyle/>
          <a:p>
            <a:pPr algn="ctr"/>
            <a:r>
              <a:rPr lang="zh-CN" altLang="en-US" dirty="0">
                <a:solidFill>
                  <a:srgbClr val="30B5C5"/>
                </a:solidFill>
                <a:latin typeface="Huawei Sans" panose="020C0503030203020204" pitchFamily="34" charset="0"/>
                <a:sym typeface="Arial" pitchFamily="34" charset="0"/>
              </a:rPr>
              <a:t>网络准入设备</a:t>
            </a:r>
          </a:p>
        </p:txBody>
      </p:sp>
      <p:cxnSp>
        <p:nvCxnSpPr>
          <p:cNvPr id="46" name="直接连接符 473">
            <a:extLst>
              <a:ext uri="{FF2B5EF4-FFF2-40B4-BE49-F238E27FC236}">
                <a16:creationId xmlns:a16="http://schemas.microsoft.com/office/drawing/2014/main" xmlns="" id="{D100375A-B4E2-4380-9022-7CC50820FCF7}"/>
              </a:ext>
            </a:extLst>
          </p:cNvPr>
          <p:cNvCxnSpPr/>
          <p:nvPr/>
        </p:nvCxnSpPr>
        <p:spPr bwMode="gray">
          <a:xfrm>
            <a:off x="2788040" y="2851991"/>
            <a:ext cx="1592441" cy="0"/>
          </a:xfrm>
          <a:prstGeom prst="line">
            <a:avLst/>
          </a:prstGeom>
          <a:solidFill>
            <a:srgbClr val="FFFFFF"/>
          </a:solidFill>
          <a:ln w="12700" cap="flat" cmpd="sng" algn="ctr">
            <a:solidFill>
              <a:srgbClr val="94DAE2"/>
            </a:solidFill>
            <a:prstDash val="solid"/>
            <a:miter lim="800000"/>
          </a:ln>
          <a:effectLst/>
        </p:spPr>
      </p:cxnSp>
      <p:sp>
        <p:nvSpPr>
          <p:cNvPr id="47" name="矩形 51">
            <a:extLst>
              <a:ext uri="{FF2B5EF4-FFF2-40B4-BE49-F238E27FC236}">
                <a16:creationId xmlns:a16="http://schemas.microsoft.com/office/drawing/2014/main" xmlns="" id="{E4B5817B-B623-4722-8212-BC996DE0E8C2}"/>
              </a:ext>
            </a:extLst>
          </p:cNvPr>
          <p:cNvSpPr>
            <a:spLocks noChangeArrowheads="1"/>
          </p:cNvSpPr>
          <p:nvPr/>
        </p:nvSpPr>
        <p:spPr bwMode="gray">
          <a:xfrm>
            <a:off x="4475652" y="2480955"/>
            <a:ext cx="1736313" cy="379502"/>
          </a:xfrm>
          <a:prstGeom prst="rect">
            <a:avLst/>
          </a:prstGeom>
          <a:noFill/>
          <a:ln w="9525">
            <a:noFill/>
            <a:miter lim="800000"/>
            <a:headEnd/>
            <a:tailEnd/>
          </a:ln>
        </p:spPr>
        <p:txBody>
          <a:bodyPr wrap="square" lIns="91413" tIns="45707" rIns="91413" bIns="45707">
            <a:spAutoFit/>
          </a:bodyPr>
          <a:lstStyle/>
          <a:p>
            <a:pPr algn="ctr"/>
            <a:r>
              <a:rPr lang="zh-CN" altLang="en-US" dirty="0">
                <a:solidFill>
                  <a:srgbClr val="30B5C5"/>
                </a:solidFill>
                <a:latin typeface="Huawei Sans" panose="020C0503030203020204" pitchFamily="34" charset="0"/>
                <a:sym typeface="Arial" pitchFamily="34" charset="0"/>
              </a:rPr>
              <a:t>准入服务器</a:t>
            </a:r>
          </a:p>
        </p:txBody>
      </p:sp>
      <p:cxnSp>
        <p:nvCxnSpPr>
          <p:cNvPr id="48" name="直接连接符 473">
            <a:extLst>
              <a:ext uri="{FF2B5EF4-FFF2-40B4-BE49-F238E27FC236}">
                <a16:creationId xmlns:a16="http://schemas.microsoft.com/office/drawing/2014/main" xmlns="" id="{D100375A-B4E2-4380-9022-7CC50820FCF7}"/>
              </a:ext>
            </a:extLst>
          </p:cNvPr>
          <p:cNvCxnSpPr/>
          <p:nvPr/>
        </p:nvCxnSpPr>
        <p:spPr bwMode="gray">
          <a:xfrm flipV="1">
            <a:off x="4544369" y="2855235"/>
            <a:ext cx="1598879" cy="3668"/>
          </a:xfrm>
          <a:prstGeom prst="line">
            <a:avLst/>
          </a:prstGeom>
          <a:solidFill>
            <a:srgbClr val="FFFFFF"/>
          </a:solidFill>
          <a:ln w="12700" cap="flat" cmpd="sng" algn="ctr">
            <a:solidFill>
              <a:srgbClr val="94DAE2"/>
            </a:solidFill>
            <a:prstDash val="solid"/>
            <a:miter lim="800000"/>
          </a:ln>
          <a:effectLst/>
        </p:spPr>
      </p:cxnSp>
      <p:pic>
        <p:nvPicPr>
          <p:cNvPr id="49" name="图片 48" descr="通用服务器-蓝.png"/>
          <p:cNvPicPr>
            <a:picLocks/>
          </p:cNvPicPr>
          <p:nvPr/>
        </p:nvPicPr>
        <p:blipFill>
          <a:blip r:embed="rId12" cstate="print"/>
          <a:stretch>
            <a:fillRect/>
          </a:stretch>
        </p:blipFill>
        <p:spPr bwMode="gray">
          <a:xfrm>
            <a:off x="5073808" y="4091756"/>
            <a:ext cx="540000" cy="441818"/>
          </a:xfrm>
          <a:prstGeom prst="rect">
            <a:avLst/>
          </a:prstGeom>
        </p:spPr>
      </p:pic>
      <p:sp>
        <p:nvSpPr>
          <p:cNvPr id="50" name="文本框 49"/>
          <p:cNvSpPr txBox="1"/>
          <p:nvPr/>
        </p:nvSpPr>
        <p:spPr bwMode="gray">
          <a:xfrm>
            <a:off x="2650905" y="1947807"/>
            <a:ext cx="1760418" cy="400110"/>
          </a:xfrm>
          <a:prstGeom prst="rect">
            <a:avLst/>
          </a:prstGeom>
          <a:noFill/>
        </p:spPr>
        <p:txBody>
          <a:bodyPr wrap="none" rtlCol="0">
            <a:spAutoFit/>
          </a:bodyPr>
          <a:lstStyle/>
          <a:p>
            <a:pPr algn="ctr"/>
            <a:r>
              <a:rPr lang="en-US" altLang="zh-CN" sz="2000" b="1" dirty="0"/>
              <a:t>NAC</a:t>
            </a:r>
            <a:r>
              <a:rPr lang="zh-CN" altLang="en-US" sz="2000" b="1" dirty="0"/>
              <a:t>系统架构</a:t>
            </a:r>
          </a:p>
        </p:txBody>
      </p:sp>
      <p:sp>
        <p:nvSpPr>
          <p:cNvPr id="51" name="文本占位符 2"/>
          <p:cNvSpPr txBox="1">
            <a:spLocks/>
          </p:cNvSpPr>
          <p:nvPr/>
        </p:nvSpPr>
        <p:spPr bwMode="gray">
          <a:xfrm>
            <a:off x="6143248" y="1828800"/>
            <a:ext cx="5569326" cy="4371975"/>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20000"/>
              </a:lnSpc>
            </a:pPr>
            <a:r>
              <a:rPr lang="zh-CN" altLang="en-US" sz="1600" dirty="0" smtClean="0"/>
              <a:t>用户终端：</a:t>
            </a:r>
            <a:endParaRPr lang="en-US" altLang="zh-CN" sz="1600" dirty="0" smtClean="0"/>
          </a:p>
          <a:p>
            <a:pPr lvl="1">
              <a:lnSpc>
                <a:spcPct val="120000"/>
              </a:lnSpc>
            </a:pPr>
            <a:r>
              <a:rPr lang="zh-CN" altLang="en-US" sz="1400" dirty="0" smtClean="0"/>
              <a:t>各种终端设备，例如</a:t>
            </a:r>
            <a:r>
              <a:rPr lang="en-US" altLang="zh-CN" sz="1400" dirty="0" smtClean="0"/>
              <a:t>PC</a:t>
            </a:r>
            <a:r>
              <a:rPr lang="zh-CN" altLang="en-US" sz="1400" dirty="0" smtClean="0"/>
              <a:t>、手机、打印机、摄像头等。</a:t>
            </a:r>
          </a:p>
          <a:p>
            <a:pPr>
              <a:lnSpc>
                <a:spcPct val="120000"/>
              </a:lnSpc>
            </a:pPr>
            <a:r>
              <a:rPr lang="zh-CN" altLang="en-US" sz="1600" dirty="0" smtClean="0"/>
              <a:t>网络准入设备：</a:t>
            </a:r>
            <a:endParaRPr lang="en-US" altLang="zh-CN" sz="1600" dirty="0" smtClean="0"/>
          </a:p>
          <a:p>
            <a:pPr lvl="1">
              <a:lnSpc>
                <a:spcPct val="120000"/>
              </a:lnSpc>
            </a:pPr>
            <a:r>
              <a:rPr lang="zh-CN" altLang="en-US" sz="1400" dirty="0" smtClean="0"/>
              <a:t>终端访问网络的认证控制点，准入设备对接入用户进行认证，是园区安全策略的实施者，按照网络</a:t>
            </a:r>
            <a:r>
              <a:rPr lang="zh-CN" altLang="en-US" sz="1400" dirty="0"/>
              <a:t>指定</a:t>
            </a:r>
            <a:r>
              <a:rPr lang="zh-CN" altLang="en-US" sz="1400" dirty="0" smtClean="0"/>
              <a:t>的安全策略实施相应的准入控制（如允许接入网络或拒绝接入网络）。</a:t>
            </a:r>
            <a:endParaRPr lang="en-US" altLang="zh-CN" sz="1400" dirty="0" smtClean="0"/>
          </a:p>
          <a:p>
            <a:pPr lvl="1">
              <a:lnSpc>
                <a:spcPct val="120000"/>
              </a:lnSpc>
            </a:pPr>
            <a:r>
              <a:rPr lang="zh-CN" altLang="en-US" sz="1400" dirty="0" smtClean="0"/>
              <a:t>准入设备可以是：交换机、路由器、无线接入点、</a:t>
            </a:r>
            <a:r>
              <a:rPr lang="en-US" altLang="zh-CN" sz="1400" dirty="0" smtClean="0"/>
              <a:t>VPN</a:t>
            </a:r>
            <a:r>
              <a:rPr lang="zh-CN" altLang="en-US" sz="1400" dirty="0" smtClean="0"/>
              <a:t>网关或其他安全设备。</a:t>
            </a:r>
          </a:p>
          <a:p>
            <a:pPr>
              <a:lnSpc>
                <a:spcPct val="120000"/>
              </a:lnSpc>
            </a:pPr>
            <a:r>
              <a:rPr lang="zh-CN" altLang="en-US" sz="1600" dirty="0" smtClean="0"/>
              <a:t>准入服务器：</a:t>
            </a:r>
            <a:endParaRPr lang="en-US" altLang="zh-CN" sz="1600" dirty="0" smtClean="0"/>
          </a:p>
          <a:p>
            <a:pPr lvl="1">
              <a:lnSpc>
                <a:spcPct val="120000"/>
              </a:lnSpc>
            </a:pPr>
            <a:r>
              <a:rPr lang="zh-CN" altLang="en-US" sz="1400" dirty="0" smtClean="0"/>
              <a:t>准入服务器的功能是实现对用户的认证和授权，用于确认尝试接入网络的终端身份是否合法，还可以指定身份合法的终端所能拥有的网络访问权限。</a:t>
            </a:r>
            <a:endParaRPr lang="en-US" altLang="zh-CN" sz="1400" dirty="0" smtClean="0"/>
          </a:p>
          <a:p>
            <a:pPr lvl="1">
              <a:lnSpc>
                <a:spcPct val="120000"/>
              </a:lnSpc>
            </a:pPr>
            <a:r>
              <a:rPr lang="zh-CN" altLang="en-US" sz="1400" dirty="0" smtClean="0"/>
              <a:t>准入服务器通常有认证服务器（如</a:t>
            </a:r>
            <a:r>
              <a:rPr lang="en-US" altLang="zh-CN" sz="1400" dirty="0" smtClean="0"/>
              <a:t>RADIUS</a:t>
            </a:r>
            <a:r>
              <a:rPr lang="zh-CN" altLang="en-US" sz="1400" dirty="0" smtClean="0"/>
              <a:t>服务器） 和用户数据源服务器（存储用户的身份信息）。</a:t>
            </a:r>
            <a:endParaRPr lang="zh-CN" altLang="en-US" sz="1400" dirty="0"/>
          </a:p>
        </p:txBody>
      </p:sp>
    </p:spTree>
    <p:extLst>
      <p:ext uri="{BB962C8B-B14F-4D97-AF65-F5344CB8AC3E}">
        <p14:creationId xmlns:p14="http://schemas.microsoft.com/office/powerpoint/2010/main" val="8026678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网络准入控制基本原理</a:t>
            </a:r>
          </a:p>
        </p:txBody>
      </p:sp>
      <p:sp>
        <p:nvSpPr>
          <p:cNvPr id="3" name="文本占位符 2"/>
          <p:cNvSpPr>
            <a:spLocks noGrp="1"/>
          </p:cNvSpPr>
          <p:nvPr>
            <p:ph type="body" sz="quarter" idx="10"/>
          </p:nvPr>
        </p:nvSpPr>
        <p:spPr bwMode="gray">
          <a:xfrm>
            <a:off x="6095999" y="1117422"/>
            <a:ext cx="5616575" cy="5030833"/>
          </a:xfrm>
        </p:spPr>
        <p:txBody>
          <a:bodyPr/>
          <a:lstStyle/>
          <a:p>
            <a:pPr marL="342900" indent="-342900">
              <a:buSzPct val="100000"/>
              <a:buFont typeface="+mj-lt"/>
              <a:buAutoNum type="arabicPeriod"/>
            </a:pPr>
            <a:r>
              <a:rPr lang="zh-CN" altLang="en-US" sz="1800" dirty="0"/>
              <a:t>用户身份认证请求：</a:t>
            </a:r>
            <a:endParaRPr lang="en-US" altLang="zh-CN" sz="1800" dirty="0"/>
          </a:p>
          <a:p>
            <a:pPr lvl="1"/>
            <a:r>
              <a:rPr lang="zh-CN" altLang="en-US" sz="1600" dirty="0" smtClean="0"/>
              <a:t>网络准入设备通过和终端进行报文交互，获取终端的身份凭证。</a:t>
            </a:r>
            <a:endParaRPr lang="zh-CN" altLang="en-US" sz="1600" dirty="0"/>
          </a:p>
          <a:p>
            <a:pPr marL="342900" indent="-342900">
              <a:buSzPct val="100000"/>
              <a:buFont typeface="+mj-lt"/>
              <a:buAutoNum type="arabicPeriod"/>
            </a:pPr>
            <a:r>
              <a:rPr lang="zh-CN" altLang="en-US" sz="1800" dirty="0"/>
              <a:t>用户身份认证：</a:t>
            </a:r>
            <a:endParaRPr lang="en-US" altLang="zh-CN" sz="1800" dirty="0"/>
          </a:p>
          <a:p>
            <a:pPr lvl="1"/>
            <a:r>
              <a:rPr lang="zh-CN" altLang="en-US" sz="1600" dirty="0"/>
              <a:t>网络准入设备将身份凭证发送给准入服务器进行身份认证。</a:t>
            </a:r>
          </a:p>
          <a:p>
            <a:pPr marL="342900" indent="-342900">
              <a:buSzPct val="100000"/>
              <a:buFont typeface="+mj-lt"/>
              <a:buAutoNum type="arabicPeriod"/>
            </a:pPr>
            <a:r>
              <a:rPr lang="zh-CN" altLang="en-US" sz="1800" dirty="0"/>
              <a:t>用户身份校验：</a:t>
            </a:r>
            <a:endParaRPr lang="en-US" altLang="zh-CN" sz="1800" dirty="0"/>
          </a:p>
          <a:p>
            <a:pPr lvl="1"/>
            <a:r>
              <a:rPr lang="zh-CN" altLang="en-US" sz="1600" dirty="0"/>
              <a:t>准入服务器进行身份校验，确定终端身份是否合法，并将校验结果及策略下发给网络准入设备。</a:t>
            </a:r>
          </a:p>
          <a:p>
            <a:pPr marL="342900" indent="-342900">
              <a:buSzPct val="100000"/>
              <a:buFont typeface="+mj-lt"/>
              <a:buAutoNum type="arabicPeriod"/>
            </a:pPr>
            <a:r>
              <a:rPr lang="zh-CN" altLang="en-US" sz="1800" dirty="0"/>
              <a:t>用户策略授权：</a:t>
            </a:r>
            <a:endParaRPr lang="en-US" altLang="zh-CN" sz="1800" dirty="0"/>
          </a:p>
          <a:p>
            <a:pPr lvl="1"/>
            <a:r>
              <a:rPr lang="zh-CN" altLang="en-US" sz="1600" dirty="0"/>
              <a:t>网络准入设备作为策略的实施者，根据准入服务器的授权结果对终端实施策略的控制。</a:t>
            </a:r>
          </a:p>
        </p:txBody>
      </p:sp>
      <p:grpSp>
        <p:nvGrpSpPr>
          <p:cNvPr id="5" name="组合 4"/>
          <p:cNvGrpSpPr/>
          <p:nvPr/>
        </p:nvGrpSpPr>
        <p:grpSpPr>
          <a:xfrm>
            <a:off x="787954" y="1866969"/>
            <a:ext cx="4964591" cy="3316732"/>
            <a:chOff x="911975" y="1866969"/>
            <a:chExt cx="4964591" cy="3316732"/>
          </a:xfrm>
        </p:grpSpPr>
        <p:sp>
          <p:nvSpPr>
            <p:cNvPr id="4" name="Freeform 159"/>
            <p:cNvSpPr/>
            <p:nvPr/>
          </p:nvSpPr>
          <p:spPr bwMode="gray">
            <a:xfrm flipH="1">
              <a:off x="1024826" y="2608406"/>
              <a:ext cx="2808994" cy="14683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600">
                  <a:solidFill>
                    <a:schemeClr val="bg1">
                      <a:lumMod val="50000"/>
                    </a:schemeClr>
                  </a:solidFill>
                </a:rPr>
                <a:t>园区网络</a:t>
              </a:r>
              <a:endParaRPr lang="en-US" sz="1600">
                <a:solidFill>
                  <a:schemeClr val="bg1">
                    <a:lumMod val="50000"/>
                  </a:schemeClr>
                </a:solidFill>
              </a:endParaRPr>
            </a:p>
          </p:txBody>
        </p:sp>
        <p:pic>
          <p:nvPicPr>
            <p:cNvPr id="6" name="图片 11" descr="开放网络-蓝.png"/>
            <p:cNvPicPr>
              <a:picLocks noChangeAspect="1"/>
            </p:cNvPicPr>
            <p:nvPr/>
          </p:nvPicPr>
          <p:blipFill>
            <a:blip r:embed="rId3" cstate="print"/>
            <a:stretch>
              <a:fillRect/>
            </a:stretch>
          </p:blipFill>
          <p:spPr bwMode="gray">
            <a:xfrm>
              <a:off x="2206345" y="4840411"/>
              <a:ext cx="445956" cy="343290"/>
            </a:xfrm>
            <a:prstGeom prst="rect">
              <a:avLst/>
            </a:prstGeom>
          </p:spPr>
        </p:pic>
        <p:pic>
          <p:nvPicPr>
            <p:cNvPr id="7" name="图片 72" descr="交换机.png"/>
            <p:cNvPicPr>
              <a:picLocks noChangeAspect="1"/>
            </p:cNvPicPr>
            <p:nvPr/>
          </p:nvPicPr>
          <p:blipFill>
            <a:blip r:embed="rId4" cstate="print"/>
            <a:stretch>
              <a:fillRect/>
            </a:stretch>
          </p:blipFill>
          <p:spPr bwMode="gray">
            <a:xfrm>
              <a:off x="2184681" y="2407580"/>
              <a:ext cx="489285" cy="401651"/>
            </a:xfrm>
            <a:prstGeom prst="rect">
              <a:avLst/>
            </a:prstGeom>
          </p:spPr>
        </p:pic>
        <p:sp>
          <p:nvSpPr>
            <p:cNvPr id="8" name="文本框 7"/>
            <p:cNvSpPr txBox="1"/>
            <p:nvPr/>
          </p:nvSpPr>
          <p:spPr bwMode="gray">
            <a:xfrm>
              <a:off x="1088306" y="2334928"/>
              <a:ext cx="1085554" cy="307777"/>
            </a:xfrm>
            <a:prstGeom prst="rect">
              <a:avLst/>
            </a:prstGeom>
            <a:noFill/>
          </p:spPr>
          <p:txBody>
            <a:bodyPr wrap="none" rtlCol="0">
              <a:spAutoFit/>
            </a:bodyPr>
            <a:lstStyle/>
            <a:p>
              <a:pPr algn="r"/>
              <a:r>
                <a:rPr lang="zh-CN" altLang="en-US" sz="1400"/>
                <a:t>准入服务器</a:t>
              </a:r>
            </a:p>
          </p:txBody>
        </p:sp>
        <p:cxnSp>
          <p:nvCxnSpPr>
            <p:cNvPr id="9" name="直接连接符 8"/>
            <p:cNvCxnSpPr/>
            <p:nvPr/>
          </p:nvCxnSpPr>
          <p:spPr bwMode="gray">
            <a:xfrm>
              <a:off x="2819240" y="2621285"/>
              <a:ext cx="2094350"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gray">
            <a:xfrm>
              <a:off x="2819240" y="4203742"/>
              <a:ext cx="2094350"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a:off x="3121059" y="5040321"/>
              <a:ext cx="1792531"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bwMode="gray">
            <a:xfrm>
              <a:off x="911975" y="4155961"/>
              <a:ext cx="1261885" cy="307777"/>
            </a:xfrm>
            <a:prstGeom prst="rect">
              <a:avLst/>
            </a:prstGeom>
            <a:noFill/>
          </p:spPr>
          <p:txBody>
            <a:bodyPr wrap="none" rtlCol="0">
              <a:spAutoFit/>
            </a:bodyPr>
            <a:lstStyle/>
            <a:p>
              <a:pPr algn="r"/>
              <a:r>
                <a:rPr lang="zh-CN" altLang="en-US" sz="1400" dirty="0"/>
                <a:t>网络准入设备</a:t>
              </a:r>
            </a:p>
          </p:txBody>
        </p:sp>
        <p:sp>
          <p:nvSpPr>
            <p:cNvPr id="13" name="文本框 12"/>
            <p:cNvSpPr txBox="1"/>
            <p:nvPr/>
          </p:nvSpPr>
          <p:spPr bwMode="gray">
            <a:xfrm>
              <a:off x="1271048" y="4840411"/>
              <a:ext cx="902812" cy="307777"/>
            </a:xfrm>
            <a:prstGeom prst="rect">
              <a:avLst/>
            </a:prstGeom>
            <a:noFill/>
          </p:spPr>
          <p:txBody>
            <a:bodyPr wrap="none" rtlCol="0">
              <a:spAutoFit/>
            </a:bodyPr>
            <a:lstStyle/>
            <a:p>
              <a:pPr algn="r"/>
              <a:r>
                <a:rPr lang="zh-CN" altLang="en-US" sz="1400" dirty="0"/>
                <a:t>用户终端</a:t>
              </a:r>
            </a:p>
          </p:txBody>
        </p:sp>
        <p:cxnSp>
          <p:nvCxnSpPr>
            <p:cNvPr id="14" name="直接箭头连接符 13"/>
            <p:cNvCxnSpPr/>
            <p:nvPr/>
          </p:nvCxnSpPr>
          <p:spPr bwMode="gray">
            <a:xfrm flipV="1">
              <a:off x="4017324" y="4204258"/>
              <a:ext cx="0" cy="838338"/>
            </a:xfrm>
            <a:prstGeom prst="straightConnector1">
              <a:avLst/>
            </a:prstGeom>
            <a:ln w="28575">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bwMode="gray">
            <a:xfrm>
              <a:off x="3071657" y="4389589"/>
              <a:ext cx="945667" cy="523220"/>
            </a:xfrm>
            <a:prstGeom prst="rect">
              <a:avLst/>
            </a:prstGeom>
            <a:noFill/>
          </p:spPr>
          <p:txBody>
            <a:bodyPr wrap="square" rtlCol="0">
              <a:spAutoFit/>
            </a:bodyPr>
            <a:lstStyle/>
            <a:p>
              <a:r>
                <a:rPr lang="zh-CN" altLang="en-US" sz="1400" dirty="0">
                  <a:solidFill>
                    <a:srgbClr val="30B5C5"/>
                  </a:solidFill>
                </a:rPr>
                <a:t>用户身份认证请求</a:t>
              </a:r>
            </a:p>
          </p:txBody>
        </p:sp>
        <p:cxnSp>
          <p:nvCxnSpPr>
            <p:cNvPr id="16" name="直接箭头连接符 15"/>
            <p:cNvCxnSpPr/>
            <p:nvPr/>
          </p:nvCxnSpPr>
          <p:spPr bwMode="gray">
            <a:xfrm flipV="1">
              <a:off x="4192422" y="2642705"/>
              <a:ext cx="0" cy="1531334"/>
            </a:xfrm>
            <a:prstGeom prst="straightConnector1">
              <a:avLst/>
            </a:prstGeom>
            <a:ln w="28575">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bwMode="gray">
            <a:xfrm>
              <a:off x="4160189" y="3182860"/>
              <a:ext cx="808557" cy="523220"/>
            </a:xfrm>
            <a:prstGeom prst="rect">
              <a:avLst/>
            </a:prstGeom>
            <a:noFill/>
          </p:spPr>
          <p:txBody>
            <a:bodyPr wrap="square" rtlCol="0">
              <a:spAutoFit/>
            </a:bodyPr>
            <a:lstStyle/>
            <a:p>
              <a:r>
                <a:rPr lang="zh-CN" altLang="en-US" sz="1400">
                  <a:solidFill>
                    <a:srgbClr val="30B5C5"/>
                  </a:solidFill>
                </a:rPr>
                <a:t>用户身份认证</a:t>
              </a:r>
              <a:endParaRPr lang="zh-CN" altLang="en-US" sz="1400" dirty="0">
                <a:solidFill>
                  <a:srgbClr val="30B5C5"/>
                </a:solidFill>
              </a:endParaRPr>
            </a:p>
          </p:txBody>
        </p:sp>
        <p:sp>
          <p:nvSpPr>
            <p:cNvPr id="18" name="弧形 17"/>
            <p:cNvSpPr/>
            <p:nvPr/>
          </p:nvSpPr>
          <p:spPr bwMode="gray">
            <a:xfrm>
              <a:off x="4203883" y="2212860"/>
              <a:ext cx="864126" cy="784153"/>
            </a:xfrm>
            <a:prstGeom prst="arc">
              <a:avLst>
                <a:gd name="adj1" fmla="val 10728388"/>
                <a:gd name="adj2" fmla="val 0"/>
              </a:avLst>
            </a:prstGeom>
            <a:ln w="28575">
              <a:solidFill>
                <a:srgbClr val="30B5C5"/>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文本框 18"/>
            <p:cNvSpPr txBox="1"/>
            <p:nvPr/>
          </p:nvSpPr>
          <p:spPr bwMode="gray">
            <a:xfrm>
              <a:off x="3926571" y="1866969"/>
              <a:ext cx="1275792" cy="307777"/>
            </a:xfrm>
            <a:prstGeom prst="rect">
              <a:avLst/>
            </a:prstGeom>
            <a:noFill/>
          </p:spPr>
          <p:txBody>
            <a:bodyPr wrap="square" rtlCol="0">
              <a:spAutoFit/>
            </a:bodyPr>
            <a:lstStyle/>
            <a:p>
              <a:r>
                <a:rPr lang="zh-CN" altLang="en-US" sz="1400">
                  <a:solidFill>
                    <a:srgbClr val="30B5C5"/>
                  </a:solidFill>
                </a:rPr>
                <a:t>用户身份校验</a:t>
              </a:r>
              <a:endParaRPr lang="zh-CN" altLang="en-US" sz="1400" dirty="0">
                <a:solidFill>
                  <a:srgbClr val="30B5C5"/>
                </a:solidFill>
              </a:endParaRPr>
            </a:p>
          </p:txBody>
        </p:sp>
        <p:cxnSp>
          <p:nvCxnSpPr>
            <p:cNvPr id="20" name="直接箭头连接符 19"/>
            <p:cNvCxnSpPr/>
            <p:nvPr/>
          </p:nvCxnSpPr>
          <p:spPr bwMode="gray">
            <a:xfrm flipV="1">
              <a:off x="5068009" y="2642705"/>
              <a:ext cx="0" cy="1531334"/>
            </a:xfrm>
            <a:prstGeom prst="straightConnector1">
              <a:avLst/>
            </a:prstGeom>
            <a:ln w="28575">
              <a:solidFill>
                <a:srgbClr val="30B5C5"/>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bwMode="gray">
            <a:xfrm>
              <a:off x="5068009" y="3182860"/>
              <a:ext cx="808557" cy="523220"/>
            </a:xfrm>
            <a:prstGeom prst="rect">
              <a:avLst/>
            </a:prstGeom>
            <a:noFill/>
          </p:spPr>
          <p:txBody>
            <a:bodyPr wrap="square" rtlCol="0">
              <a:spAutoFit/>
            </a:bodyPr>
            <a:lstStyle/>
            <a:p>
              <a:r>
                <a:rPr lang="zh-CN" altLang="en-US" sz="1400">
                  <a:solidFill>
                    <a:srgbClr val="30B5C5"/>
                  </a:solidFill>
                </a:rPr>
                <a:t>用户策略授权</a:t>
              </a:r>
              <a:endParaRPr lang="zh-CN" altLang="en-US" sz="1400" dirty="0">
                <a:solidFill>
                  <a:srgbClr val="30B5C5"/>
                </a:solidFill>
              </a:endParaRPr>
            </a:p>
          </p:txBody>
        </p:sp>
        <p:sp>
          <p:nvSpPr>
            <p:cNvPr id="22" name="椭圆 21"/>
            <p:cNvSpPr>
              <a:spLocks noChangeAspect="1"/>
            </p:cNvSpPr>
            <p:nvPr/>
          </p:nvSpPr>
          <p:spPr bwMode="gray">
            <a:xfrm>
              <a:off x="3898664" y="4714411"/>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23" name="椭圆 22"/>
            <p:cNvSpPr>
              <a:spLocks noChangeAspect="1"/>
            </p:cNvSpPr>
            <p:nvPr/>
          </p:nvSpPr>
          <p:spPr bwMode="gray">
            <a:xfrm>
              <a:off x="4066422" y="2916009"/>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24" name="椭圆 23"/>
            <p:cNvSpPr>
              <a:spLocks noChangeAspect="1"/>
            </p:cNvSpPr>
            <p:nvPr/>
          </p:nvSpPr>
          <p:spPr bwMode="gray">
            <a:xfrm>
              <a:off x="4509946" y="2107194"/>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25" name="椭圆 24"/>
            <p:cNvSpPr>
              <a:spLocks noChangeAspect="1"/>
            </p:cNvSpPr>
            <p:nvPr/>
          </p:nvSpPr>
          <p:spPr bwMode="gray">
            <a:xfrm>
              <a:off x="4953469" y="2916009"/>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4</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pic>
          <p:nvPicPr>
            <p:cNvPr id="26" name="图片 25" descr="通用交换机.png"/>
            <p:cNvPicPr>
              <a:picLocks/>
            </p:cNvPicPr>
            <p:nvPr/>
          </p:nvPicPr>
          <p:blipFill>
            <a:blip r:embed="rId5" cstate="print"/>
            <a:stretch>
              <a:fillRect/>
            </a:stretch>
          </p:blipFill>
          <p:spPr bwMode="gray">
            <a:xfrm>
              <a:off x="2173860" y="3973213"/>
              <a:ext cx="490909" cy="401653"/>
            </a:xfrm>
            <a:prstGeom prst="rect">
              <a:avLst/>
            </a:prstGeom>
          </p:spPr>
        </p:pic>
      </p:grpSp>
    </p:spTree>
    <p:extLst>
      <p:ext uri="{BB962C8B-B14F-4D97-AF65-F5344CB8AC3E}">
        <p14:creationId xmlns:p14="http://schemas.microsoft.com/office/powerpoint/2010/main" val="13439659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网络准入控制的策略管控</a:t>
            </a:r>
            <a:endParaRPr lang="zh-CN" altLang="en-US" dirty="0"/>
          </a:p>
        </p:txBody>
      </p:sp>
      <p:sp>
        <p:nvSpPr>
          <p:cNvPr id="3" name="文本占位符 2"/>
          <p:cNvSpPr>
            <a:spLocks noGrp="1"/>
          </p:cNvSpPr>
          <p:nvPr>
            <p:ph type="body" sz="quarter" idx="10"/>
          </p:nvPr>
        </p:nvSpPr>
        <p:spPr>
          <a:xfrm>
            <a:off x="6095999" y="1666599"/>
            <a:ext cx="5616575" cy="4260956"/>
          </a:xfrm>
        </p:spPr>
        <p:txBody>
          <a:bodyPr/>
          <a:lstStyle/>
          <a:p>
            <a:r>
              <a:rPr lang="zh-CN" altLang="en-US" sz="2000" dirty="0" smtClean="0"/>
              <a:t>策略管控：</a:t>
            </a:r>
            <a:endParaRPr lang="en-US" altLang="zh-CN" sz="2000" dirty="0" smtClean="0"/>
          </a:p>
          <a:p>
            <a:pPr lvl="1"/>
            <a:r>
              <a:rPr lang="zh-CN" altLang="en-US" sz="1800" dirty="0" smtClean="0"/>
              <a:t>即使终端通过认证接入网络，也并不意味着可以访问网络内的所有资源，而是需要基于用户身份对其加以区分，分别赋予其不同的网络访问权限。</a:t>
            </a:r>
            <a:endParaRPr lang="zh-CN" altLang="en-US" sz="1800" dirty="0"/>
          </a:p>
        </p:txBody>
      </p:sp>
      <p:grpSp>
        <p:nvGrpSpPr>
          <p:cNvPr id="11" name="组合 10"/>
          <p:cNvGrpSpPr/>
          <p:nvPr/>
        </p:nvGrpSpPr>
        <p:grpSpPr>
          <a:xfrm>
            <a:off x="1044229" y="1666599"/>
            <a:ext cx="4452043" cy="4434239"/>
            <a:chOff x="919016" y="1666599"/>
            <a:chExt cx="4452043" cy="4434239"/>
          </a:xfrm>
        </p:grpSpPr>
        <p:sp>
          <p:nvSpPr>
            <p:cNvPr id="4" name="Freeform 159"/>
            <p:cNvSpPr/>
            <p:nvPr/>
          </p:nvSpPr>
          <p:spPr bwMode="gray">
            <a:xfrm flipH="1">
              <a:off x="1904983" y="3013079"/>
              <a:ext cx="2808994" cy="14683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600">
                  <a:solidFill>
                    <a:schemeClr val="bg1">
                      <a:lumMod val="50000"/>
                    </a:schemeClr>
                  </a:solidFill>
                </a:rPr>
                <a:t>园区网络</a:t>
              </a:r>
              <a:endParaRPr lang="en-US" sz="1600">
                <a:solidFill>
                  <a:schemeClr val="bg1">
                    <a:lumMod val="50000"/>
                  </a:schemeClr>
                </a:solidFill>
              </a:endParaRPr>
            </a:p>
          </p:txBody>
        </p:sp>
        <p:pic>
          <p:nvPicPr>
            <p:cNvPr id="45" name="图片 44" descr="通用交换机.png"/>
            <p:cNvPicPr>
              <a:picLocks/>
            </p:cNvPicPr>
            <p:nvPr/>
          </p:nvPicPr>
          <p:blipFill>
            <a:blip r:embed="rId3" cstate="print"/>
            <a:stretch>
              <a:fillRect/>
            </a:stretch>
          </p:blipFill>
          <p:spPr bwMode="gray">
            <a:xfrm>
              <a:off x="2051972" y="4360521"/>
              <a:ext cx="490909" cy="401653"/>
            </a:xfrm>
            <a:prstGeom prst="rect">
              <a:avLst/>
            </a:prstGeom>
          </p:spPr>
        </p:pic>
        <p:pic>
          <p:nvPicPr>
            <p:cNvPr id="5" name="图片 72" descr="交换机.png"/>
            <p:cNvPicPr>
              <a:picLocks noChangeAspect="1"/>
            </p:cNvPicPr>
            <p:nvPr/>
          </p:nvPicPr>
          <p:blipFill>
            <a:blip r:embed="rId4" cstate="print"/>
            <a:stretch>
              <a:fillRect/>
            </a:stretch>
          </p:blipFill>
          <p:spPr bwMode="gray">
            <a:xfrm>
              <a:off x="1185091" y="2024113"/>
              <a:ext cx="489285" cy="401651"/>
            </a:xfrm>
            <a:prstGeom prst="rect">
              <a:avLst/>
            </a:prstGeom>
          </p:spPr>
        </p:pic>
        <p:pic>
          <p:nvPicPr>
            <p:cNvPr id="6" name="图片 72" descr="交换机.png"/>
            <p:cNvPicPr>
              <a:picLocks noChangeAspect="1"/>
            </p:cNvPicPr>
            <p:nvPr/>
          </p:nvPicPr>
          <p:blipFill>
            <a:blip r:embed="rId4" cstate="print"/>
            <a:stretch>
              <a:fillRect/>
            </a:stretch>
          </p:blipFill>
          <p:spPr bwMode="gray">
            <a:xfrm>
              <a:off x="2265299" y="2024113"/>
              <a:ext cx="489285" cy="401651"/>
            </a:xfrm>
            <a:prstGeom prst="rect">
              <a:avLst/>
            </a:prstGeom>
          </p:spPr>
        </p:pic>
        <p:pic>
          <p:nvPicPr>
            <p:cNvPr id="7" name="图片 72" descr="交换机.png"/>
            <p:cNvPicPr>
              <a:picLocks noChangeAspect="1"/>
            </p:cNvPicPr>
            <p:nvPr/>
          </p:nvPicPr>
          <p:blipFill>
            <a:blip r:embed="rId4" cstate="print"/>
            <a:stretch>
              <a:fillRect/>
            </a:stretch>
          </p:blipFill>
          <p:spPr bwMode="gray">
            <a:xfrm>
              <a:off x="3347846" y="2024113"/>
              <a:ext cx="489285" cy="401651"/>
            </a:xfrm>
            <a:prstGeom prst="rect">
              <a:avLst/>
            </a:prstGeom>
          </p:spPr>
        </p:pic>
        <p:sp>
          <p:nvSpPr>
            <p:cNvPr id="8" name="文本框 7"/>
            <p:cNvSpPr txBox="1"/>
            <p:nvPr/>
          </p:nvSpPr>
          <p:spPr bwMode="gray">
            <a:xfrm>
              <a:off x="919016" y="1666599"/>
              <a:ext cx="1021433" cy="307777"/>
            </a:xfrm>
            <a:prstGeom prst="rect">
              <a:avLst/>
            </a:prstGeom>
            <a:noFill/>
          </p:spPr>
          <p:txBody>
            <a:bodyPr wrap="none" rtlCol="0">
              <a:spAutoFit/>
            </a:bodyPr>
            <a:lstStyle/>
            <a:p>
              <a:pPr algn="ctr"/>
              <a:r>
                <a:rPr lang="en-US" altLang="zh-CN" sz="1400"/>
                <a:t>FTP</a:t>
              </a:r>
              <a:r>
                <a:rPr lang="zh-CN" altLang="en-US" sz="1400"/>
                <a:t>服务器</a:t>
              </a:r>
              <a:endParaRPr lang="zh-CN" altLang="en-US" sz="1400" dirty="0"/>
            </a:p>
          </p:txBody>
        </p:sp>
        <p:sp>
          <p:nvSpPr>
            <p:cNvPr id="9" name="文本框 8"/>
            <p:cNvSpPr txBox="1"/>
            <p:nvPr/>
          </p:nvSpPr>
          <p:spPr bwMode="gray">
            <a:xfrm>
              <a:off x="1929803" y="1666599"/>
              <a:ext cx="1103187" cy="307777"/>
            </a:xfrm>
            <a:prstGeom prst="rect">
              <a:avLst/>
            </a:prstGeom>
            <a:noFill/>
          </p:spPr>
          <p:txBody>
            <a:bodyPr wrap="none" rtlCol="0">
              <a:spAutoFit/>
            </a:bodyPr>
            <a:lstStyle/>
            <a:p>
              <a:pPr algn="ctr"/>
              <a:r>
                <a:rPr lang="en-US" altLang="zh-CN" sz="1400"/>
                <a:t>WEB</a:t>
              </a:r>
              <a:r>
                <a:rPr lang="zh-CN" altLang="en-US" sz="1400"/>
                <a:t>服务器</a:t>
              </a:r>
              <a:endParaRPr lang="zh-CN" altLang="en-US" sz="1400" dirty="0"/>
            </a:p>
          </p:txBody>
        </p:sp>
        <p:sp>
          <p:nvSpPr>
            <p:cNvPr id="10" name="文本框 9"/>
            <p:cNvSpPr txBox="1"/>
            <p:nvPr/>
          </p:nvSpPr>
          <p:spPr bwMode="gray">
            <a:xfrm>
              <a:off x="3051315" y="1666599"/>
              <a:ext cx="1082348" cy="307777"/>
            </a:xfrm>
            <a:prstGeom prst="rect">
              <a:avLst/>
            </a:prstGeom>
            <a:noFill/>
          </p:spPr>
          <p:txBody>
            <a:bodyPr wrap="none" rtlCol="0">
              <a:spAutoFit/>
            </a:bodyPr>
            <a:lstStyle/>
            <a:p>
              <a:pPr algn="ctr"/>
              <a:r>
                <a:rPr lang="zh-CN" altLang="en-US" sz="1400" dirty="0"/>
                <a:t>邮件</a:t>
              </a:r>
              <a:r>
                <a:rPr lang="zh-CN" altLang="en-US" sz="1400" dirty="0" smtClean="0"/>
                <a:t>服务器</a:t>
              </a:r>
              <a:endParaRPr lang="zh-CN" altLang="en-US" sz="1400" dirty="0"/>
            </a:p>
          </p:txBody>
        </p:sp>
        <p:pic>
          <p:nvPicPr>
            <p:cNvPr id="12" name="图片 105" descr="AP.png"/>
            <p:cNvPicPr>
              <a:picLocks noChangeAspect="1"/>
            </p:cNvPicPr>
            <p:nvPr/>
          </p:nvPicPr>
          <p:blipFill>
            <a:blip r:embed="rId5" cstate="print"/>
            <a:stretch>
              <a:fillRect/>
            </a:stretch>
          </p:blipFill>
          <p:spPr bwMode="gray">
            <a:xfrm>
              <a:off x="4208725" y="4377885"/>
              <a:ext cx="490909" cy="401653"/>
            </a:xfrm>
            <a:prstGeom prst="rect">
              <a:avLst/>
            </a:prstGeom>
          </p:spPr>
        </p:pic>
        <p:grpSp>
          <p:nvGrpSpPr>
            <p:cNvPr id="13" name="组合 758"/>
            <p:cNvGrpSpPr/>
            <p:nvPr/>
          </p:nvGrpSpPr>
          <p:grpSpPr bwMode="gray">
            <a:xfrm flipV="1">
              <a:off x="4336072" y="4845730"/>
              <a:ext cx="236214" cy="200032"/>
              <a:chOff x="7440613" y="4868863"/>
              <a:chExt cx="1019175" cy="828675"/>
            </a:xfrm>
            <a:solidFill>
              <a:schemeClr val="bg1">
                <a:lumMod val="50000"/>
              </a:schemeClr>
            </a:solidFill>
          </p:grpSpPr>
          <p:sp>
            <p:nvSpPr>
              <p:cNvPr id="14"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微软雅黑" panose="020B0503020204020204" pitchFamily="34" charset="-122"/>
                  <a:ea typeface="微软雅黑" panose="020B0503020204020204" pitchFamily="34" charset="-122"/>
                </a:endParaRPr>
              </a:p>
            </p:txBody>
          </p:sp>
          <p:sp>
            <p:nvSpPr>
              <p:cNvPr id="15"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微软雅黑" panose="020B0503020204020204" pitchFamily="34" charset="-122"/>
                  <a:ea typeface="微软雅黑" panose="020B0503020204020204" pitchFamily="34" charset="-122"/>
                </a:endParaRPr>
              </a:p>
            </p:txBody>
          </p:sp>
        </p:grpSp>
        <p:pic>
          <p:nvPicPr>
            <p:cNvPr id="16" name="图片 15" descr="日志告警服务器-蓝.png"/>
            <p:cNvPicPr>
              <a:picLocks noChangeAspect="1"/>
            </p:cNvPicPr>
            <p:nvPr/>
          </p:nvPicPr>
          <p:blipFill>
            <a:blip r:embed="rId6" cstate="print"/>
            <a:stretch>
              <a:fillRect/>
            </a:stretch>
          </p:blipFill>
          <p:spPr bwMode="gray">
            <a:xfrm>
              <a:off x="1766182" y="5277497"/>
              <a:ext cx="445956" cy="278465"/>
            </a:xfrm>
            <a:prstGeom prst="rect">
              <a:avLst/>
            </a:prstGeom>
          </p:spPr>
        </p:pic>
        <p:pic>
          <p:nvPicPr>
            <p:cNvPr id="17" name="图片 11" descr="开放网络-蓝.png"/>
            <p:cNvPicPr>
              <a:picLocks noChangeAspect="1"/>
            </p:cNvPicPr>
            <p:nvPr/>
          </p:nvPicPr>
          <p:blipFill>
            <a:blip r:embed="rId7" cstate="print"/>
            <a:stretch>
              <a:fillRect/>
            </a:stretch>
          </p:blipFill>
          <p:spPr bwMode="gray">
            <a:xfrm>
              <a:off x="2323354" y="5245084"/>
              <a:ext cx="445956" cy="343290"/>
            </a:xfrm>
            <a:prstGeom prst="rect">
              <a:avLst/>
            </a:prstGeom>
          </p:spPr>
        </p:pic>
        <p:pic>
          <p:nvPicPr>
            <p:cNvPr id="18" name="图片 47" descr="打印机.png"/>
            <p:cNvPicPr>
              <a:picLocks noChangeAspect="1"/>
            </p:cNvPicPr>
            <p:nvPr/>
          </p:nvPicPr>
          <p:blipFill>
            <a:blip r:embed="rId8" cstate="print"/>
            <a:stretch>
              <a:fillRect/>
            </a:stretch>
          </p:blipFill>
          <p:spPr bwMode="gray">
            <a:xfrm>
              <a:off x="1250615" y="5255797"/>
              <a:ext cx="404351" cy="321864"/>
            </a:xfrm>
            <a:prstGeom prst="rect">
              <a:avLst/>
            </a:prstGeom>
          </p:spPr>
        </p:pic>
        <p:pic>
          <p:nvPicPr>
            <p:cNvPr id="19" name="图片 42" descr="IP电话.png"/>
            <p:cNvPicPr>
              <a:picLocks noChangeAspect="1"/>
            </p:cNvPicPr>
            <p:nvPr/>
          </p:nvPicPr>
          <p:blipFill>
            <a:blip r:embed="rId9" cstate="print"/>
            <a:stretch>
              <a:fillRect/>
            </a:stretch>
          </p:blipFill>
          <p:spPr bwMode="gray">
            <a:xfrm>
              <a:off x="2880525" y="5244531"/>
              <a:ext cx="368791" cy="346698"/>
            </a:xfrm>
            <a:prstGeom prst="rect">
              <a:avLst/>
            </a:prstGeom>
          </p:spPr>
        </p:pic>
        <p:pic>
          <p:nvPicPr>
            <p:cNvPr id="20" name="图片 158" descr="SAN网络-蓝.png"/>
            <p:cNvPicPr>
              <a:picLocks noChangeAspect="1"/>
            </p:cNvPicPr>
            <p:nvPr/>
          </p:nvPicPr>
          <p:blipFill>
            <a:blip r:embed="rId10" cstate="print"/>
            <a:stretch>
              <a:fillRect/>
            </a:stretch>
          </p:blipFill>
          <p:spPr bwMode="gray">
            <a:xfrm>
              <a:off x="4372625" y="5218648"/>
              <a:ext cx="243218" cy="398465"/>
            </a:xfrm>
            <a:prstGeom prst="rect">
              <a:avLst/>
            </a:prstGeom>
          </p:spPr>
        </p:pic>
        <p:pic>
          <p:nvPicPr>
            <p:cNvPr id="21" name="图片 157" descr="故障链路.png"/>
            <p:cNvPicPr>
              <a:picLocks noChangeAspect="1"/>
            </p:cNvPicPr>
            <p:nvPr/>
          </p:nvPicPr>
          <p:blipFill>
            <a:blip r:embed="rId11" cstate="print"/>
            <a:stretch>
              <a:fillRect/>
            </a:stretch>
          </p:blipFill>
          <p:spPr bwMode="gray">
            <a:xfrm>
              <a:off x="3821386" y="5251489"/>
              <a:ext cx="446281" cy="332783"/>
            </a:xfrm>
            <a:prstGeom prst="rect">
              <a:avLst/>
            </a:prstGeom>
          </p:spPr>
        </p:pic>
        <p:pic>
          <p:nvPicPr>
            <p:cNvPr id="22" name="图片 14" descr="日志告警服务器-蓝.png"/>
            <p:cNvPicPr>
              <a:picLocks noChangeAspect="1"/>
            </p:cNvPicPr>
            <p:nvPr/>
          </p:nvPicPr>
          <p:blipFill>
            <a:blip r:embed="rId6" cstate="print"/>
            <a:stretch>
              <a:fillRect/>
            </a:stretch>
          </p:blipFill>
          <p:spPr bwMode="gray">
            <a:xfrm>
              <a:off x="4720801" y="5277497"/>
              <a:ext cx="445956" cy="278465"/>
            </a:xfrm>
            <a:prstGeom prst="rect">
              <a:avLst/>
            </a:prstGeom>
          </p:spPr>
        </p:pic>
        <p:grpSp>
          <p:nvGrpSpPr>
            <p:cNvPr id="23" name="Group 6"/>
            <p:cNvGrpSpPr/>
            <p:nvPr/>
          </p:nvGrpSpPr>
          <p:grpSpPr bwMode="gray">
            <a:xfrm>
              <a:off x="4372625" y="1848243"/>
              <a:ext cx="998434" cy="566030"/>
              <a:chOff x="7877711" y="3990014"/>
              <a:chExt cx="998434" cy="566030"/>
            </a:xfrm>
          </p:grpSpPr>
          <p:sp>
            <p:nvSpPr>
              <p:cNvPr id="24" name="Freeform 200"/>
              <p:cNvSpPr/>
              <p:nvPr/>
            </p:nvSpPr>
            <p:spPr bwMode="gray">
              <a:xfrm>
                <a:off x="7877711" y="3990014"/>
                <a:ext cx="998434" cy="566030"/>
              </a:xfrm>
              <a:custGeom>
                <a:avLst/>
                <a:gdLst>
                  <a:gd name="connsiteX0" fmla="*/ 511396 w 823780"/>
                  <a:gd name="connsiteY0" fmla="*/ 0 h 467015"/>
                  <a:gd name="connsiteX1" fmla="*/ 732475 w 823780"/>
                  <a:gd name="connsiteY1" fmla="*/ 223125 h 467015"/>
                  <a:gd name="connsiteX2" fmla="*/ 727487 w 823780"/>
                  <a:gd name="connsiteY2" fmla="*/ 248058 h 467015"/>
                  <a:gd name="connsiteX3" fmla="*/ 756693 w 823780"/>
                  <a:gd name="connsiteY3" fmla="*/ 254009 h 467015"/>
                  <a:gd name="connsiteX4" fmla="*/ 823780 w 823780"/>
                  <a:gd name="connsiteY4" fmla="*/ 356156 h 467015"/>
                  <a:gd name="connsiteX5" fmla="*/ 756693 w 823780"/>
                  <a:gd name="connsiteY5" fmla="*/ 458303 h 467015"/>
                  <a:gd name="connsiteX6" fmla="*/ 732017 w 823780"/>
                  <a:gd name="connsiteY6" fmla="*/ 463331 h 467015"/>
                  <a:gd name="connsiteX7" fmla="*/ 732017 w 823780"/>
                  <a:gd name="connsiteY7" fmla="*/ 467014 h 467015"/>
                  <a:gd name="connsiteX8" fmla="*/ 713942 w 823780"/>
                  <a:gd name="connsiteY8" fmla="*/ 467014 h 467015"/>
                  <a:gd name="connsiteX9" fmla="*/ 713937 w 823780"/>
                  <a:gd name="connsiteY9" fmla="*/ 467015 h 467015"/>
                  <a:gd name="connsiteX10" fmla="*/ 713932 w 823780"/>
                  <a:gd name="connsiteY10" fmla="*/ 467014 h 467015"/>
                  <a:gd name="connsiteX11" fmla="*/ 120827 w 823780"/>
                  <a:gd name="connsiteY11" fmla="*/ 467014 h 467015"/>
                  <a:gd name="connsiteX12" fmla="*/ 100287 w 823780"/>
                  <a:gd name="connsiteY12" fmla="*/ 467014 h 467015"/>
                  <a:gd name="connsiteX13" fmla="*/ 100287 w 823780"/>
                  <a:gd name="connsiteY13" fmla="*/ 462829 h 467015"/>
                  <a:gd name="connsiteX14" fmla="*/ 73795 w 823780"/>
                  <a:gd name="connsiteY14" fmla="*/ 457431 h 467015"/>
                  <a:gd name="connsiteX15" fmla="*/ 0 w 823780"/>
                  <a:gd name="connsiteY15" fmla="*/ 345069 h 467015"/>
                  <a:gd name="connsiteX16" fmla="*/ 73795 w 823780"/>
                  <a:gd name="connsiteY16" fmla="*/ 232707 h 467015"/>
                  <a:gd name="connsiteX17" fmla="*/ 81613 w 823780"/>
                  <a:gd name="connsiteY17" fmla="*/ 231114 h 467015"/>
                  <a:gd name="connsiteX18" fmla="*/ 94608 w 823780"/>
                  <a:gd name="connsiteY18" fmla="*/ 172061 h 467015"/>
                  <a:gd name="connsiteX19" fmla="*/ 250025 w 823780"/>
                  <a:gd name="connsiteY19" fmla="*/ 77543 h 467015"/>
                  <a:gd name="connsiteX20" fmla="*/ 315680 w 823780"/>
                  <a:gd name="connsiteY20" fmla="*/ 89704 h 467015"/>
                  <a:gd name="connsiteX21" fmla="*/ 332040 w 823780"/>
                  <a:gd name="connsiteY21" fmla="*/ 99825 h 467015"/>
                  <a:gd name="connsiteX22" fmla="*/ 355070 w 823780"/>
                  <a:gd name="connsiteY22" fmla="*/ 65352 h 467015"/>
                  <a:gd name="connsiteX23" fmla="*/ 511396 w 823780"/>
                  <a:gd name="connsiteY23" fmla="*/ 0 h 46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3780" h="467015">
                    <a:moveTo>
                      <a:pt x="511396" y="0"/>
                    </a:moveTo>
                    <a:cubicBezTo>
                      <a:pt x="633495" y="0"/>
                      <a:pt x="732475" y="99896"/>
                      <a:pt x="732475" y="223125"/>
                    </a:cubicBezTo>
                    <a:lnTo>
                      <a:pt x="727487" y="248058"/>
                    </a:lnTo>
                    <a:lnTo>
                      <a:pt x="756693" y="254009"/>
                    </a:lnTo>
                    <a:cubicBezTo>
                      <a:pt x="796117" y="270838"/>
                      <a:pt x="823780" y="310236"/>
                      <a:pt x="823780" y="356156"/>
                    </a:cubicBezTo>
                    <a:cubicBezTo>
                      <a:pt x="823780" y="402076"/>
                      <a:pt x="796117" y="441474"/>
                      <a:pt x="756693" y="458303"/>
                    </a:cubicBezTo>
                    <a:lnTo>
                      <a:pt x="732017" y="463331"/>
                    </a:lnTo>
                    <a:lnTo>
                      <a:pt x="732017" y="467014"/>
                    </a:lnTo>
                    <a:lnTo>
                      <a:pt x="713942" y="467014"/>
                    </a:lnTo>
                    <a:lnTo>
                      <a:pt x="713937" y="467015"/>
                    </a:lnTo>
                    <a:lnTo>
                      <a:pt x="713932" y="467014"/>
                    </a:lnTo>
                    <a:lnTo>
                      <a:pt x="120827" y="467014"/>
                    </a:lnTo>
                    <a:lnTo>
                      <a:pt x="100287" y="467014"/>
                    </a:lnTo>
                    <a:lnTo>
                      <a:pt x="100287" y="462829"/>
                    </a:lnTo>
                    <a:lnTo>
                      <a:pt x="73795" y="457431"/>
                    </a:lnTo>
                    <a:cubicBezTo>
                      <a:pt x="30429" y="438919"/>
                      <a:pt x="0" y="395580"/>
                      <a:pt x="0" y="345069"/>
                    </a:cubicBezTo>
                    <a:cubicBezTo>
                      <a:pt x="0" y="294558"/>
                      <a:pt x="30429" y="251219"/>
                      <a:pt x="73795" y="232707"/>
                    </a:cubicBezTo>
                    <a:lnTo>
                      <a:pt x="81613" y="231114"/>
                    </a:lnTo>
                    <a:lnTo>
                      <a:pt x="94608" y="172061"/>
                    </a:lnTo>
                    <a:cubicBezTo>
                      <a:pt x="120214" y="116517"/>
                      <a:pt x="180159" y="77543"/>
                      <a:pt x="250025" y="77543"/>
                    </a:cubicBezTo>
                    <a:cubicBezTo>
                      <a:pt x="273314" y="77543"/>
                      <a:pt x="295500" y="81873"/>
                      <a:pt x="315680" y="89704"/>
                    </a:cubicBezTo>
                    <a:lnTo>
                      <a:pt x="332040" y="99825"/>
                    </a:lnTo>
                    <a:lnTo>
                      <a:pt x="355070" y="65352"/>
                    </a:lnTo>
                    <a:cubicBezTo>
                      <a:pt x="395077" y="24974"/>
                      <a:pt x="450347" y="0"/>
                      <a:pt x="511396"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TextBox 2"/>
              <p:cNvSpPr txBox="1"/>
              <p:nvPr/>
            </p:nvSpPr>
            <p:spPr bwMode="gray">
              <a:xfrm>
                <a:off x="7986690" y="4208668"/>
                <a:ext cx="788998" cy="276999"/>
              </a:xfrm>
              <a:prstGeom prst="rect">
                <a:avLst/>
              </a:prstGeom>
              <a:noFill/>
            </p:spPr>
            <p:txBody>
              <a:bodyPr wrap="none" rtlCol="0">
                <a:spAutoFit/>
              </a:bodyPr>
              <a:lstStyle/>
              <a:p>
                <a:pPr algn="ctr"/>
                <a:r>
                  <a:rPr lang="en-US" altLang="zh-CN" sz="1200" b="1">
                    <a:solidFill>
                      <a:schemeClr val="bg1"/>
                    </a:solidFill>
                  </a:rPr>
                  <a:t>Internet</a:t>
                </a:r>
                <a:endParaRPr lang="zh-CN" altLang="en-US" sz="1200" b="1">
                  <a:solidFill>
                    <a:schemeClr val="bg1"/>
                  </a:solidFill>
                </a:endParaRPr>
              </a:p>
            </p:txBody>
          </p:sp>
        </p:grpSp>
        <p:sp>
          <p:nvSpPr>
            <p:cNvPr id="26" name="任意多边形 25"/>
            <p:cNvSpPr/>
            <p:nvPr/>
          </p:nvSpPr>
          <p:spPr bwMode="gray">
            <a:xfrm>
              <a:off x="4386503" y="2413422"/>
              <a:ext cx="500878" cy="2807578"/>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5099"/>
                <a:gd name="connsiteY0" fmla="*/ 1174755 h 1174755"/>
                <a:gd name="connsiteX1" fmla="*/ 15099 w 15099"/>
                <a:gd name="connsiteY1" fmla="*/ 87837 h 1174755"/>
                <a:gd name="connsiteX0" fmla="*/ 532 w 1610"/>
                <a:gd name="connsiteY0" fmla="*/ 7111280 h 7111280"/>
                <a:gd name="connsiteX1" fmla="*/ 634 w 1610"/>
                <a:gd name="connsiteY1" fmla="*/ 16243 h 7111280"/>
                <a:gd name="connsiteX0" fmla="*/ 22899 w 26347"/>
                <a:gd name="connsiteY0" fmla="*/ 9977 h 9977"/>
                <a:gd name="connsiteX1" fmla="*/ 23533 w 26347"/>
                <a:gd name="connsiteY1" fmla="*/ 0 h 9977"/>
                <a:gd name="connsiteX0" fmla="*/ 14376 w 14617"/>
                <a:gd name="connsiteY0" fmla="*/ 10000 h 10000"/>
                <a:gd name="connsiteX1" fmla="*/ 14617 w 14617"/>
                <a:gd name="connsiteY1" fmla="*/ 0 h 10000"/>
                <a:gd name="connsiteX0" fmla="*/ 16982 w 16982"/>
                <a:gd name="connsiteY0" fmla="*/ 9895 h 9895"/>
                <a:gd name="connsiteX1" fmla="*/ 12980 w 16982"/>
                <a:gd name="connsiteY1" fmla="*/ 0 h 9895"/>
                <a:gd name="connsiteX0" fmla="*/ 10000 w 10000"/>
                <a:gd name="connsiteY0" fmla="*/ 10000 h 10000"/>
                <a:gd name="connsiteX1" fmla="*/ 7643 w 10000"/>
                <a:gd name="connsiteY1" fmla="*/ 0 h 10000"/>
                <a:gd name="connsiteX0" fmla="*/ 10830 w 10830"/>
                <a:gd name="connsiteY0" fmla="*/ 10249 h 10249"/>
                <a:gd name="connsiteX1" fmla="*/ 7224 w 10830"/>
                <a:gd name="connsiteY1" fmla="*/ 0 h 10249"/>
                <a:gd name="connsiteX0" fmla="*/ 11348 w 11348"/>
                <a:gd name="connsiteY0" fmla="*/ 10249 h 10249"/>
                <a:gd name="connsiteX1" fmla="*/ 7742 w 11348"/>
                <a:gd name="connsiteY1" fmla="*/ 0 h 10249"/>
                <a:gd name="connsiteX0" fmla="*/ 10720 w 10720"/>
                <a:gd name="connsiteY0" fmla="*/ 10249 h 10249"/>
                <a:gd name="connsiteX1" fmla="*/ 7114 w 10720"/>
                <a:gd name="connsiteY1" fmla="*/ 0 h 10249"/>
              </a:gdLst>
              <a:ahLst/>
              <a:cxnLst>
                <a:cxn ang="0">
                  <a:pos x="connsiteX0" y="connsiteY0"/>
                </a:cxn>
                <a:cxn ang="0">
                  <a:pos x="connsiteX1" y="connsiteY1"/>
                </a:cxn>
              </a:cxnLst>
              <a:rect l="l" t="t" r="r" b="b"/>
              <a:pathLst>
                <a:path w="10720" h="10249">
                  <a:moveTo>
                    <a:pt x="10720" y="10249"/>
                  </a:moveTo>
                  <a:cubicBezTo>
                    <a:pt x="2439" y="8229"/>
                    <a:pt x="-6700" y="2592"/>
                    <a:pt x="7114"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p>
          </p:txBody>
        </p:sp>
        <p:sp>
          <p:nvSpPr>
            <p:cNvPr id="27" name="任意多边形 26"/>
            <p:cNvSpPr/>
            <p:nvPr/>
          </p:nvSpPr>
          <p:spPr bwMode="gray">
            <a:xfrm>
              <a:off x="2948264" y="2588572"/>
              <a:ext cx="1375549" cy="2641982"/>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5099"/>
                <a:gd name="connsiteY0" fmla="*/ 1174755 h 1174755"/>
                <a:gd name="connsiteX1" fmla="*/ 15099 w 15099"/>
                <a:gd name="connsiteY1" fmla="*/ 87837 h 1174755"/>
                <a:gd name="connsiteX0" fmla="*/ 532 w 1610"/>
                <a:gd name="connsiteY0" fmla="*/ 7111280 h 7111280"/>
                <a:gd name="connsiteX1" fmla="*/ 634 w 1610"/>
                <a:gd name="connsiteY1" fmla="*/ 16243 h 7111280"/>
                <a:gd name="connsiteX0" fmla="*/ 22899 w 26347"/>
                <a:gd name="connsiteY0" fmla="*/ 9977 h 9977"/>
                <a:gd name="connsiteX1" fmla="*/ 23533 w 26347"/>
                <a:gd name="connsiteY1" fmla="*/ 0 h 9977"/>
                <a:gd name="connsiteX0" fmla="*/ 14376 w 14617"/>
                <a:gd name="connsiteY0" fmla="*/ 10000 h 10000"/>
                <a:gd name="connsiteX1" fmla="*/ 14617 w 14617"/>
                <a:gd name="connsiteY1" fmla="*/ 0 h 10000"/>
                <a:gd name="connsiteX0" fmla="*/ 16982 w 16982"/>
                <a:gd name="connsiteY0" fmla="*/ 9895 h 9895"/>
                <a:gd name="connsiteX1" fmla="*/ 12980 w 16982"/>
                <a:gd name="connsiteY1" fmla="*/ 0 h 9895"/>
                <a:gd name="connsiteX0" fmla="*/ 10000 w 10000"/>
                <a:gd name="connsiteY0" fmla="*/ 10000 h 10000"/>
                <a:gd name="connsiteX1" fmla="*/ 7643 w 10000"/>
                <a:gd name="connsiteY1" fmla="*/ 0 h 10000"/>
                <a:gd name="connsiteX0" fmla="*/ 19406 w 19406"/>
                <a:gd name="connsiteY0" fmla="*/ 10107 h 10107"/>
                <a:gd name="connsiteX1" fmla="*/ 4765 w 19406"/>
                <a:gd name="connsiteY1" fmla="*/ 0 h 10107"/>
                <a:gd name="connsiteX0" fmla="*/ 14641 w 14641"/>
                <a:gd name="connsiteY0" fmla="*/ 10107 h 10107"/>
                <a:gd name="connsiteX1" fmla="*/ 0 w 14641"/>
                <a:gd name="connsiteY1" fmla="*/ 0 h 10107"/>
                <a:gd name="connsiteX0" fmla="*/ 28590 w 28590"/>
                <a:gd name="connsiteY0" fmla="*/ 9858 h 9858"/>
                <a:gd name="connsiteX1" fmla="*/ 0 w 28590"/>
                <a:gd name="connsiteY1" fmla="*/ 0 h 9858"/>
                <a:gd name="connsiteX0" fmla="*/ 10073 w 10073"/>
                <a:gd name="connsiteY0" fmla="*/ 9604 h 9604"/>
                <a:gd name="connsiteX1" fmla="*/ 0 w 10073"/>
                <a:gd name="connsiteY1" fmla="*/ 0 h 9604"/>
                <a:gd name="connsiteX0" fmla="*/ 10000 w 10000"/>
                <a:gd name="connsiteY0" fmla="*/ 10000 h 10000"/>
                <a:gd name="connsiteX1" fmla="*/ 0 w 10000"/>
                <a:gd name="connsiteY1" fmla="*/ 0 h 10000"/>
                <a:gd name="connsiteX0" fmla="*/ 10000 w 10153"/>
                <a:gd name="connsiteY0" fmla="*/ 10000 h 10000"/>
                <a:gd name="connsiteX1" fmla="*/ 0 w 10153"/>
                <a:gd name="connsiteY1" fmla="*/ 0 h 10000"/>
                <a:gd name="connsiteX0" fmla="*/ 10000 w 10000"/>
                <a:gd name="connsiteY0" fmla="*/ 10000 h 10000"/>
                <a:gd name="connsiteX1" fmla="*/ 0 w 10000"/>
                <a:gd name="connsiteY1" fmla="*/ 0 h 10000"/>
                <a:gd name="connsiteX0" fmla="*/ 10000 w 10183"/>
                <a:gd name="connsiteY0" fmla="*/ 10000 h 10000"/>
                <a:gd name="connsiteX1" fmla="*/ 0 w 10183"/>
                <a:gd name="connsiteY1" fmla="*/ 0 h 10000"/>
                <a:gd name="connsiteX0" fmla="*/ 6530 w 7979"/>
                <a:gd name="connsiteY0" fmla="*/ 9812 h 9812"/>
                <a:gd name="connsiteX1" fmla="*/ 0 w 7979"/>
                <a:gd name="connsiteY1" fmla="*/ 0 h 9812"/>
                <a:gd name="connsiteX0" fmla="*/ 8184 w 13033"/>
                <a:gd name="connsiteY0" fmla="*/ 10000 h 10000"/>
                <a:gd name="connsiteX1" fmla="*/ 0 w 13033"/>
                <a:gd name="connsiteY1" fmla="*/ 0 h 10000"/>
                <a:gd name="connsiteX0" fmla="*/ 9724 w 14038"/>
                <a:gd name="connsiteY0" fmla="*/ 10382 h 10382"/>
                <a:gd name="connsiteX1" fmla="*/ 0 w 14038"/>
                <a:gd name="connsiteY1" fmla="*/ 0 h 10382"/>
                <a:gd name="connsiteX0" fmla="*/ 9724 w 12812"/>
                <a:gd name="connsiteY0" fmla="*/ 10382 h 10382"/>
                <a:gd name="connsiteX1" fmla="*/ 0 w 12812"/>
                <a:gd name="connsiteY1" fmla="*/ 0 h 10382"/>
              </a:gdLst>
              <a:ahLst/>
              <a:cxnLst>
                <a:cxn ang="0">
                  <a:pos x="connsiteX0" y="connsiteY0"/>
                </a:cxn>
                <a:cxn ang="0">
                  <a:pos x="connsiteX1" y="connsiteY1"/>
                </a:cxn>
              </a:cxnLst>
              <a:rect l="l" t="t" r="r" b="b"/>
              <a:pathLst>
                <a:path w="12812" h="10382">
                  <a:moveTo>
                    <a:pt x="9724" y="10382"/>
                  </a:moveTo>
                  <a:cubicBezTo>
                    <a:pt x="14185" y="8894"/>
                    <a:pt x="15914" y="1873"/>
                    <a:pt x="0"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p>
          </p:txBody>
        </p:sp>
        <p:grpSp>
          <p:nvGrpSpPr>
            <p:cNvPr id="28" name="组合 28"/>
            <p:cNvGrpSpPr/>
            <p:nvPr/>
          </p:nvGrpSpPr>
          <p:grpSpPr bwMode="gray">
            <a:xfrm rot="5059603">
              <a:off x="3834569" y="3198958"/>
              <a:ext cx="273362" cy="273362"/>
              <a:chOff x="5076056" y="3356992"/>
              <a:chExt cx="436268" cy="436268"/>
            </a:xfrm>
          </p:grpSpPr>
          <p:sp>
            <p:nvSpPr>
              <p:cNvPr id="29"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Arial" charset="0"/>
                  <a:ea typeface="ＭＳ Ｐゴシック" pitchFamily="34" charset="-128"/>
                </a:endParaRPr>
              </a:p>
            </p:txBody>
          </p:sp>
          <p:sp>
            <p:nvSpPr>
              <p:cNvPr id="30" name="禁止符 23"/>
              <p:cNvSpPr/>
              <p:nvPr/>
            </p:nvSpPr>
            <p:spPr bwMode="gray">
              <a:xfrm>
                <a:off x="5076056" y="3356992"/>
                <a:ext cx="436268" cy="436268"/>
              </a:xfrm>
              <a:prstGeom prst="noSmoking">
                <a:avLst>
                  <a:gd name="adj" fmla="val 15475"/>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31" name="组合 30"/>
            <p:cNvGrpSpPr>
              <a:grpSpLocks noChangeAspect="1"/>
            </p:cNvGrpSpPr>
            <p:nvPr/>
          </p:nvGrpSpPr>
          <p:grpSpPr bwMode="gray">
            <a:xfrm>
              <a:off x="4242506" y="3214043"/>
              <a:ext cx="243192" cy="243192"/>
              <a:chOff x="10441953" y="5633214"/>
              <a:chExt cx="264000" cy="264000"/>
            </a:xfrm>
            <a:solidFill>
              <a:srgbClr val="30B5C5"/>
            </a:solidFill>
          </p:grpSpPr>
          <p:sp>
            <p:nvSpPr>
              <p:cNvPr id="32" name="椭圆 31"/>
              <p:cNvSpPr>
                <a:spLocks noChangeAspect="1"/>
              </p:cNvSpPr>
              <p:nvPr/>
            </p:nvSpPr>
            <p:spPr bwMode="gray">
              <a:xfrm>
                <a:off x="10441953" y="5633214"/>
                <a:ext cx="264000" cy="26400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endParaRPr>
              </a:p>
            </p:txBody>
          </p:sp>
          <p:sp>
            <p:nvSpPr>
              <p:cNvPr id="33" name="任意多边形 32"/>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grp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endParaRPr>
              </a:p>
            </p:txBody>
          </p:sp>
        </p:grpSp>
        <p:sp>
          <p:nvSpPr>
            <p:cNvPr id="34" name="任意多边形 33"/>
            <p:cNvSpPr/>
            <p:nvPr/>
          </p:nvSpPr>
          <p:spPr bwMode="gray">
            <a:xfrm flipH="1">
              <a:off x="2254247" y="2588572"/>
              <a:ext cx="437280" cy="2593530"/>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5099"/>
                <a:gd name="connsiteY0" fmla="*/ 1174755 h 1174755"/>
                <a:gd name="connsiteX1" fmla="*/ 15099 w 15099"/>
                <a:gd name="connsiteY1" fmla="*/ 87837 h 1174755"/>
                <a:gd name="connsiteX0" fmla="*/ 532 w 1610"/>
                <a:gd name="connsiteY0" fmla="*/ 7111280 h 7111280"/>
                <a:gd name="connsiteX1" fmla="*/ 634 w 1610"/>
                <a:gd name="connsiteY1" fmla="*/ 16243 h 7111280"/>
                <a:gd name="connsiteX0" fmla="*/ 22899 w 26347"/>
                <a:gd name="connsiteY0" fmla="*/ 9977 h 9977"/>
                <a:gd name="connsiteX1" fmla="*/ 23533 w 26347"/>
                <a:gd name="connsiteY1" fmla="*/ 0 h 9977"/>
                <a:gd name="connsiteX0" fmla="*/ 14376 w 14617"/>
                <a:gd name="connsiteY0" fmla="*/ 10000 h 10000"/>
                <a:gd name="connsiteX1" fmla="*/ 14617 w 14617"/>
                <a:gd name="connsiteY1" fmla="*/ 0 h 10000"/>
                <a:gd name="connsiteX0" fmla="*/ 16982 w 16982"/>
                <a:gd name="connsiteY0" fmla="*/ 9895 h 9895"/>
                <a:gd name="connsiteX1" fmla="*/ 12980 w 16982"/>
                <a:gd name="connsiteY1" fmla="*/ 0 h 9895"/>
                <a:gd name="connsiteX0" fmla="*/ 10000 w 10000"/>
                <a:gd name="connsiteY0" fmla="*/ 10000 h 10000"/>
                <a:gd name="connsiteX1" fmla="*/ 7643 w 10000"/>
                <a:gd name="connsiteY1" fmla="*/ 0 h 10000"/>
                <a:gd name="connsiteX0" fmla="*/ 19406 w 19406"/>
                <a:gd name="connsiteY0" fmla="*/ 10107 h 10107"/>
                <a:gd name="connsiteX1" fmla="*/ 4765 w 19406"/>
                <a:gd name="connsiteY1" fmla="*/ 0 h 10107"/>
                <a:gd name="connsiteX0" fmla="*/ 14641 w 14641"/>
                <a:gd name="connsiteY0" fmla="*/ 10107 h 10107"/>
                <a:gd name="connsiteX1" fmla="*/ 0 w 14641"/>
                <a:gd name="connsiteY1" fmla="*/ 0 h 10107"/>
                <a:gd name="connsiteX0" fmla="*/ 28590 w 28590"/>
                <a:gd name="connsiteY0" fmla="*/ 9858 h 9858"/>
                <a:gd name="connsiteX1" fmla="*/ 0 w 28590"/>
                <a:gd name="connsiteY1" fmla="*/ 0 h 9858"/>
                <a:gd name="connsiteX0" fmla="*/ 10073 w 10073"/>
                <a:gd name="connsiteY0" fmla="*/ 9604 h 9604"/>
                <a:gd name="connsiteX1" fmla="*/ 0 w 10073"/>
                <a:gd name="connsiteY1" fmla="*/ 0 h 9604"/>
                <a:gd name="connsiteX0" fmla="*/ 10000 w 10000"/>
                <a:gd name="connsiteY0" fmla="*/ 10000 h 10000"/>
                <a:gd name="connsiteX1" fmla="*/ 0 w 10000"/>
                <a:gd name="connsiteY1" fmla="*/ 0 h 10000"/>
                <a:gd name="connsiteX0" fmla="*/ 10000 w 10153"/>
                <a:gd name="connsiteY0" fmla="*/ 10000 h 10000"/>
                <a:gd name="connsiteX1" fmla="*/ 0 w 10153"/>
                <a:gd name="connsiteY1" fmla="*/ 0 h 10000"/>
                <a:gd name="connsiteX0" fmla="*/ 10000 w 10000"/>
                <a:gd name="connsiteY0" fmla="*/ 10000 h 10000"/>
                <a:gd name="connsiteX1" fmla="*/ 0 w 10000"/>
                <a:gd name="connsiteY1" fmla="*/ 0 h 10000"/>
                <a:gd name="connsiteX0" fmla="*/ 10000 w 10183"/>
                <a:gd name="connsiteY0" fmla="*/ 10000 h 10000"/>
                <a:gd name="connsiteX1" fmla="*/ 0 w 10183"/>
                <a:gd name="connsiteY1" fmla="*/ 0 h 10000"/>
              </a:gdLst>
              <a:ahLst/>
              <a:cxnLst>
                <a:cxn ang="0">
                  <a:pos x="connsiteX0" y="connsiteY0"/>
                </a:cxn>
                <a:cxn ang="0">
                  <a:pos x="connsiteX1" y="connsiteY1"/>
                </a:cxn>
              </a:cxnLst>
              <a:rect l="l" t="t" r="r" b="b"/>
              <a:pathLst>
                <a:path w="10183" h="10000">
                  <a:moveTo>
                    <a:pt x="10000" y="10000"/>
                  </a:moveTo>
                  <a:cubicBezTo>
                    <a:pt x="9872" y="8428"/>
                    <a:pt x="12698" y="1838"/>
                    <a:pt x="0"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p>
          </p:txBody>
        </p:sp>
        <p:sp>
          <p:nvSpPr>
            <p:cNvPr id="35" name="任意多边形 34"/>
            <p:cNvSpPr/>
            <p:nvPr/>
          </p:nvSpPr>
          <p:spPr bwMode="gray">
            <a:xfrm flipH="1">
              <a:off x="2444612" y="2588572"/>
              <a:ext cx="2036992" cy="2593530"/>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5099"/>
                <a:gd name="connsiteY0" fmla="*/ 1174755 h 1174755"/>
                <a:gd name="connsiteX1" fmla="*/ 15099 w 15099"/>
                <a:gd name="connsiteY1" fmla="*/ 87837 h 1174755"/>
                <a:gd name="connsiteX0" fmla="*/ 532 w 1610"/>
                <a:gd name="connsiteY0" fmla="*/ 7111280 h 7111280"/>
                <a:gd name="connsiteX1" fmla="*/ 634 w 1610"/>
                <a:gd name="connsiteY1" fmla="*/ 16243 h 7111280"/>
                <a:gd name="connsiteX0" fmla="*/ 22899 w 26347"/>
                <a:gd name="connsiteY0" fmla="*/ 9977 h 9977"/>
                <a:gd name="connsiteX1" fmla="*/ 23533 w 26347"/>
                <a:gd name="connsiteY1" fmla="*/ 0 h 9977"/>
                <a:gd name="connsiteX0" fmla="*/ 14376 w 14617"/>
                <a:gd name="connsiteY0" fmla="*/ 10000 h 10000"/>
                <a:gd name="connsiteX1" fmla="*/ 14617 w 14617"/>
                <a:gd name="connsiteY1" fmla="*/ 0 h 10000"/>
                <a:gd name="connsiteX0" fmla="*/ 16982 w 16982"/>
                <a:gd name="connsiteY0" fmla="*/ 9895 h 9895"/>
                <a:gd name="connsiteX1" fmla="*/ 12980 w 16982"/>
                <a:gd name="connsiteY1" fmla="*/ 0 h 9895"/>
                <a:gd name="connsiteX0" fmla="*/ 10000 w 10000"/>
                <a:gd name="connsiteY0" fmla="*/ 10000 h 10000"/>
                <a:gd name="connsiteX1" fmla="*/ 7643 w 10000"/>
                <a:gd name="connsiteY1" fmla="*/ 0 h 10000"/>
                <a:gd name="connsiteX0" fmla="*/ 19406 w 19406"/>
                <a:gd name="connsiteY0" fmla="*/ 10107 h 10107"/>
                <a:gd name="connsiteX1" fmla="*/ 4765 w 19406"/>
                <a:gd name="connsiteY1" fmla="*/ 0 h 10107"/>
                <a:gd name="connsiteX0" fmla="*/ 14641 w 14641"/>
                <a:gd name="connsiteY0" fmla="*/ 10107 h 10107"/>
                <a:gd name="connsiteX1" fmla="*/ 0 w 14641"/>
                <a:gd name="connsiteY1" fmla="*/ 0 h 10107"/>
                <a:gd name="connsiteX0" fmla="*/ 28590 w 28590"/>
                <a:gd name="connsiteY0" fmla="*/ 9858 h 9858"/>
                <a:gd name="connsiteX1" fmla="*/ 0 w 28590"/>
                <a:gd name="connsiteY1" fmla="*/ 0 h 9858"/>
                <a:gd name="connsiteX0" fmla="*/ 10073 w 10073"/>
                <a:gd name="connsiteY0" fmla="*/ 9604 h 9604"/>
                <a:gd name="connsiteX1" fmla="*/ 0 w 10073"/>
                <a:gd name="connsiteY1" fmla="*/ 0 h 9604"/>
                <a:gd name="connsiteX0" fmla="*/ 10000 w 10000"/>
                <a:gd name="connsiteY0" fmla="*/ 10000 h 10000"/>
                <a:gd name="connsiteX1" fmla="*/ 0 w 10000"/>
                <a:gd name="connsiteY1" fmla="*/ 0 h 10000"/>
                <a:gd name="connsiteX0" fmla="*/ 10000 w 10153"/>
                <a:gd name="connsiteY0" fmla="*/ 10000 h 10000"/>
                <a:gd name="connsiteX1" fmla="*/ 0 w 10153"/>
                <a:gd name="connsiteY1" fmla="*/ 0 h 10000"/>
                <a:gd name="connsiteX0" fmla="*/ 10000 w 10000"/>
                <a:gd name="connsiteY0" fmla="*/ 10000 h 10000"/>
                <a:gd name="connsiteX1" fmla="*/ 0 w 10000"/>
                <a:gd name="connsiteY1" fmla="*/ 0 h 10000"/>
                <a:gd name="connsiteX0" fmla="*/ 10000 w 10183"/>
                <a:gd name="connsiteY0" fmla="*/ 10000 h 10000"/>
                <a:gd name="connsiteX1" fmla="*/ 0 w 10183"/>
                <a:gd name="connsiteY1" fmla="*/ 0 h 10000"/>
              </a:gdLst>
              <a:ahLst/>
              <a:cxnLst>
                <a:cxn ang="0">
                  <a:pos x="connsiteX0" y="connsiteY0"/>
                </a:cxn>
                <a:cxn ang="0">
                  <a:pos x="connsiteX1" y="connsiteY1"/>
                </a:cxn>
              </a:cxnLst>
              <a:rect l="l" t="t" r="r" b="b"/>
              <a:pathLst>
                <a:path w="10183" h="10000">
                  <a:moveTo>
                    <a:pt x="10000" y="10000"/>
                  </a:moveTo>
                  <a:cubicBezTo>
                    <a:pt x="9872" y="8428"/>
                    <a:pt x="12698" y="1838"/>
                    <a:pt x="0"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p>
          </p:txBody>
        </p:sp>
        <p:grpSp>
          <p:nvGrpSpPr>
            <p:cNvPr id="36" name="组合 35"/>
            <p:cNvGrpSpPr>
              <a:grpSpLocks noChangeAspect="1"/>
            </p:cNvGrpSpPr>
            <p:nvPr/>
          </p:nvGrpSpPr>
          <p:grpSpPr bwMode="gray">
            <a:xfrm>
              <a:off x="2813811" y="3214043"/>
              <a:ext cx="243192" cy="243192"/>
              <a:chOff x="10441953" y="5633214"/>
              <a:chExt cx="264000" cy="264000"/>
            </a:xfrm>
            <a:solidFill>
              <a:srgbClr val="30B5C5"/>
            </a:solidFill>
          </p:grpSpPr>
          <p:sp>
            <p:nvSpPr>
              <p:cNvPr id="37" name="椭圆 36"/>
              <p:cNvSpPr>
                <a:spLocks noChangeAspect="1"/>
              </p:cNvSpPr>
              <p:nvPr/>
            </p:nvSpPr>
            <p:spPr bwMode="gray">
              <a:xfrm>
                <a:off x="10441953" y="5633214"/>
                <a:ext cx="264000" cy="26400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endParaRPr>
              </a:p>
            </p:txBody>
          </p:sp>
          <p:sp>
            <p:nvSpPr>
              <p:cNvPr id="38" name="任意多边形 37"/>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grp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endParaRPr>
              </a:p>
            </p:txBody>
          </p:sp>
        </p:grpSp>
        <p:grpSp>
          <p:nvGrpSpPr>
            <p:cNvPr id="39" name="组合 38"/>
            <p:cNvGrpSpPr>
              <a:grpSpLocks noChangeAspect="1"/>
            </p:cNvGrpSpPr>
            <p:nvPr/>
          </p:nvGrpSpPr>
          <p:grpSpPr bwMode="gray">
            <a:xfrm>
              <a:off x="2210932" y="3214043"/>
              <a:ext cx="243192" cy="243192"/>
              <a:chOff x="10441953" y="5633214"/>
              <a:chExt cx="264000" cy="264000"/>
            </a:xfrm>
            <a:solidFill>
              <a:srgbClr val="30B5C5"/>
            </a:solidFill>
          </p:grpSpPr>
          <p:sp>
            <p:nvSpPr>
              <p:cNvPr id="40" name="椭圆 39"/>
              <p:cNvSpPr>
                <a:spLocks noChangeAspect="1"/>
              </p:cNvSpPr>
              <p:nvPr/>
            </p:nvSpPr>
            <p:spPr bwMode="gray">
              <a:xfrm>
                <a:off x="10441953" y="5633214"/>
                <a:ext cx="264000" cy="26400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endParaRPr>
              </a:p>
            </p:txBody>
          </p:sp>
          <p:sp>
            <p:nvSpPr>
              <p:cNvPr id="41" name="任意多边形 40"/>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grp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endParaRPr>
              </a:p>
            </p:txBody>
          </p:sp>
        </p:grpSp>
        <p:sp>
          <p:nvSpPr>
            <p:cNvPr id="42" name="文本框 41"/>
            <p:cNvSpPr txBox="1"/>
            <p:nvPr/>
          </p:nvSpPr>
          <p:spPr bwMode="gray">
            <a:xfrm>
              <a:off x="3848885" y="5762284"/>
              <a:ext cx="1210588" cy="338554"/>
            </a:xfrm>
            <a:prstGeom prst="rect">
              <a:avLst/>
            </a:prstGeom>
            <a:noFill/>
          </p:spPr>
          <p:txBody>
            <a:bodyPr wrap="none" rtlCol="0">
              <a:spAutoFit/>
            </a:bodyPr>
            <a:lstStyle/>
            <a:p>
              <a:r>
                <a:rPr lang="zh-CN" altLang="en-US" sz="1600"/>
                <a:t>已认证访客</a:t>
              </a:r>
              <a:endParaRPr lang="zh-CN" altLang="en-US" sz="1600" dirty="0"/>
            </a:p>
          </p:txBody>
        </p:sp>
        <p:sp>
          <p:nvSpPr>
            <p:cNvPr id="43" name="文本框 42"/>
            <p:cNvSpPr txBox="1"/>
            <p:nvPr/>
          </p:nvSpPr>
          <p:spPr bwMode="gray">
            <a:xfrm>
              <a:off x="1674376" y="5762284"/>
              <a:ext cx="1210588" cy="338554"/>
            </a:xfrm>
            <a:prstGeom prst="rect">
              <a:avLst/>
            </a:prstGeom>
            <a:noFill/>
          </p:spPr>
          <p:txBody>
            <a:bodyPr wrap="none" rtlCol="0">
              <a:spAutoFit/>
            </a:bodyPr>
            <a:lstStyle/>
            <a:p>
              <a:r>
                <a:rPr lang="zh-CN" altLang="en-US" sz="1600"/>
                <a:t>已认证员工</a:t>
              </a:r>
              <a:endParaRPr lang="zh-CN" altLang="en-US" sz="1600" dirty="0"/>
            </a:p>
          </p:txBody>
        </p:sp>
      </p:grpSp>
    </p:spTree>
    <p:extLst>
      <p:ext uri="{BB962C8B-B14F-4D97-AF65-F5344CB8AC3E}">
        <p14:creationId xmlns:p14="http://schemas.microsoft.com/office/powerpoint/2010/main" val="40837482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网络准入</a:t>
            </a:r>
            <a:r>
              <a:rPr lang="zh-CN" altLang="en-US" dirty="0" smtClean="0"/>
              <a:t>控制的策略授权</a:t>
            </a:r>
            <a:endParaRPr lang="zh-CN" altLang="en-US" dirty="0"/>
          </a:p>
        </p:txBody>
      </p:sp>
      <p:sp>
        <p:nvSpPr>
          <p:cNvPr id="4" name="矩形 3"/>
          <p:cNvSpPr/>
          <p:nvPr/>
        </p:nvSpPr>
        <p:spPr bwMode="gray">
          <a:xfrm>
            <a:off x="973632" y="1316355"/>
            <a:ext cx="1849551" cy="4476739"/>
          </a:xfrm>
          <a:prstGeom prst="rect">
            <a:avLst/>
          </a:prstGeom>
          <a:solidFill>
            <a:srgbClr val="FFFFFF"/>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descr="SAN网络-蓝.png"/>
          <p:cNvPicPr>
            <a:picLocks noChangeAspect="1"/>
          </p:cNvPicPr>
          <p:nvPr/>
        </p:nvPicPr>
        <p:blipFill>
          <a:blip r:embed="rId3" cstate="print"/>
          <a:stretch>
            <a:fillRect/>
          </a:stretch>
        </p:blipFill>
        <p:spPr bwMode="gray">
          <a:xfrm>
            <a:off x="1439798" y="3330871"/>
            <a:ext cx="219740" cy="360000"/>
          </a:xfrm>
          <a:prstGeom prst="rect">
            <a:avLst/>
          </a:prstGeom>
        </p:spPr>
      </p:pic>
      <p:pic>
        <p:nvPicPr>
          <p:cNvPr id="6" name="图片 5" descr="PC.png"/>
          <p:cNvPicPr>
            <a:picLocks noChangeAspect="1"/>
          </p:cNvPicPr>
          <p:nvPr/>
        </p:nvPicPr>
        <p:blipFill>
          <a:blip r:embed="rId4" cstate="print"/>
          <a:stretch>
            <a:fillRect/>
          </a:stretch>
        </p:blipFill>
        <p:spPr bwMode="gray">
          <a:xfrm>
            <a:off x="2063621" y="3330871"/>
            <a:ext cx="468750" cy="360000"/>
          </a:xfrm>
          <a:prstGeom prst="rect">
            <a:avLst/>
          </a:prstGeom>
        </p:spPr>
      </p:pic>
      <p:pic>
        <p:nvPicPr>
          <p:cNvPr id="7" name="图片 6" descr="故障链路.png"/>
          <p:cNvPicPr>
            <a:picLocks noChangeAspect="1"/>
          </p:cNvPicPr>
          <p:nvPr/>
        </p:nvPicPr>
        <p:blipFill>
          <a:blip r:embed="rId5" cstate="print"/>
          <a:stretch>
            <a:fillRect/>
          </a:stretch>
        </p:blipFill>
        <p:spPr bwMode="gray">
          <a:xfrm>
            <a:off x="1308278" y="1904831"/>
            <a:ext cx="482781" cy="360000"/>
          </a:xfrm>
          <a:prstGeom prst="rect">
            <a:avLst/>
          </a:prstGeom>
        </p:spPr>
      </p:pic>
      <p:pic>
        <p:nvPicPr>
          <p:cNvPr id="8" name="图片 7" descr="笔记本电脑.png"/>
          <p:cNvPicPr>
            <a:picLocks noChangeAspect="1"/>
          </p:cNvPicPr>
          <p:nvPr/>
        </p:nvPicPr>
        <p:blipFill>
          <a:blip r:embed="rId6" cstate="print"/>
          <a:stretch>
            <a:fillRect/>
          </a:stretch>
        </p:blipFill>
        <p:spPr bwMode="gray">
          <a:xfrm>
            <a:off x="2010880" y="1904831"/>
            <a:ext cx="574233" cy="360000"/>
          </a:xfrm>
          <a:prstGeom prst="rect">
            <a:avLst/>
          </a:prstGeom>
        </p:spPr>
      </p:pic>
      <p:pic>
        <p:nvPicPr>
          <p:cNvPr id="9" name="图片 8" descr="IP电话.png"/>
          <p:cNvPicPr>
            <a:picLocks noChangeAspect="1"/>
          </p:cNvPicPr>
          <p:nvPr/>
        </p:nvPicPr>
        <p:blipFill>
          <a:blip r:embed="rId7" cstate="print"/>
          <a:stretch>
            <a:fillRect/>
          </a:stretch>
        </p:blipFill>
        <p:spPr bwMode="gray">
          <a:xfrm>
            <a:off x="1358198" y="4756910"/>
            <a:ext cx="382941" cy="360000"/>
          </a:xfrm>
          <a:prstGeom prst="rect">
            <a:avLst/>
          </a:prstGeom>
        </p:spPr>
      </p:pic>
      <p:pic>
        <p:nvPicPr>
          <p:cNvPr id="10" name="图片 9" descr="打印机.png"/>
          <p:cNvPicPr>
            <a:picLocks noChangeAspect="1"/>
          </p:cNvPicPr>
          <p:nvPr/>
        </p:nvPicPr>
        <p:blipFill>
          <a:blip r:embed="rId8" cstate="print"/>
          <a:stretch>
            <a:fillRect/>
          </a:stretch>
        </p:blipFill>
        <p:spPr bwMode="gray">
          <a:xfrm>
            <a:off x="2071866" y="4756910"/>
            <a:ext cx="452261" cy="360000"/>
          </a:xfrm>
          <a:prstGeom prst="rect">
            <a:avLst/>
          </a:prstGeom>
        </p:spPr>
      </p:pic>
      <p:sp>
        <p:nvSpPr>
          <p:cNvPr id="11" name="文本框 10"/>
          <p:cNvSpPr txBox="1"/>
          <p:nvPr/>
        </p:nvSpPr>
        <p:spPr bwMode="gray">
          <a:xfrm>
            <a:off x="1649235" y="5153196"/>
            <a:ext cx="433132" cy="523220"/>
          </a:xfrm>
          <a:prstGeom prst="rect">
            <a:avLst/>
          </a:prstGeom>
          <a:noFill/>
        </p:spPr>
        <p:txBody>
          <a:bodyPr wrap="none" rtlCol="0">
            <a:spAutoFit/>
          </a:bodyPr>
          <a:lstStyle/>
          <a:p>
            <a:r>
              <a:rPr lang="en-US" altLang="zh-CN" sz="2800" dirty="0">
                <a:latin typeface="Huawei Sans" panose="020C0503030203020204" pitchFamily="34" charset="0"/>
                <a:ea typeface="方正兰亭黑简体" panose="02000000000000000000" pitchFamily="2" charset="-122"/>
              </a:rPr>
              <a:t>…</a:t>
            </a:r>
            <a:endParaRPr lang="zh-CN" altLang="en-US" sz="2800" dirty="0">
              <a:latin typeface="Huawei Sans" panose="020C0503030203020204" pitchFamily="34" charset="0"/>
              <a:ea typeface="方正兰亭黑简体" panose="02000000000000000000" pitchFamily="2" charset="-122"/>
            </a:endParaRPr>
          </a:p>
        </p:txBody>
      </p:sp>
      <p:sp>
        <p:nvSpPr>
          <p:cNvPr id="12" name="矩形 51">
            <a:extLst>
              <a:ext uri="{FF2B5EF4-FFF2-40B4-BE49-F238E27FC236}">
                <a16:creationId xmlns:a16="http://schemas.microsoft.com/office/drawing/2014/main" xmlns="" id="{E4B5817B-B623-4722-8212-BC996DE0E8C2}"/>
              </a:ext>
            </a:extLst>
          </p:cNvPr>
          <p:cNvSpPr>
            <a:spLocks noChangeArrowheads="1"/>
          </p:cNvSpPr>
          <p:nvPr/>
        </p:nvSpPr>
        <p:spPr bwMode="gray">
          <a:xfrm>
            <a:off x="1030250" y="1340104"/>
            <a:ext cx="1736313" cy="379502"/>
          </a:xfrm>
          <a:prstGeom prst="rect">
            <a:avLst/>
          </a:prstGeom>
          <a:noFill/>
          <a:ln w="9525">
            <a:noFill/>
            <a:miter lim="800000"/>
            <a:headEnd/>
            <a:tailEnd/>
          </a:ln>
        </p:spPr>
        <p:txBody>
          <a:bodyPr wrap="square" lIns="91413" tIns="45707" rIns="91413" bIns="45707">
            <a:spAutoFit/>
          </a:bodyPr>
          <a:lstStyle/>
          <a:p>
            <a:pPr algn="ctr"/>
            <a:r>
              <a:rPr lang="zh-CN" altLang="en-US" dirty="0">
                <a:latin typeface="Huawei Sans" panose="020C0503030203020204" pitchFamily="34" charset="0"/>
                <a:ea typeface="方正兰亭黑简体" panose="02000000000000000000" pitchFamily="2" charset="-122"/>
                <a:sym typeface="Arial" pitchFamily="34" charset="0"/>
              </a:rPr>
              <a:t>用户终端</a:t>
            </a:r>
          </a:p>
        </p:txBody>
      </p:sp>
      <p:cxnSp>
        <p:nvCxnSpPr>
          <p:cNvPr id="13" name="直接连接符 473">
            <a:extLst>
              <a:ext uri="{FF2B5EF4-FFF2-40B4-BE49-F238E27FC236}">
                <a16:creationId xmlns:a16="http://schemas.microsoft.com/office/drawing/2014/main" xmlns="" id="{D100375A-B4E2-4380-9022-7CC50820FCF7}"/>
              </a:ext>
            </a:extLst>
          </p:cNvPr>
          <p:cNvCxnSpPr/>
          <p:nvPr/>
        </p:nvCxnSpPr>
        <p:spPr bwMode="gray">
          <a:xfrm>
            <a:off x="973632" y="1716209"/>
            <a:ext cx="1849551" cy="0"/>
          </a:xfrm>
          <a:prstGeom prst="line">
            <a:avLst/>
          </a:prstGeom>
          <a:solidFill>
            <a:srgbClr val="FFFFFF"/>
          </a:solidFill>
          <a:ln w="12700" cap="flat" cmpd="sng" algn="ctr">
            <a:solidFill>
              <a:srgbClr val="94DAE2"/>
            </a:solidFill>
            <a:prstDash val="solid"/>
            <a:miter lim="800000"/>
          </a:ln>
          <a:effectLst/>
        </p:spPr>
      </p:cxnSp>
      <p:sp>
        <p:nvSpPr>
          <p:cNvPr id="14" name="矩形 13"/>
          <p:cNvSpPr/>
          <p:nvPr/>
        </p:nvSpPr>
        <p:spPr bwMode="gray">
          <a:xfrm>
            <a:off x="3803634" y="1267278"/>
            <a:ext cx="1598879" cy="4525816"/>
          </a:xfrm>
          <a:prstGeom prst="rect">
            <a:avLst/>
          </a:prstGeom>
          <a:solidFill>
            <a:srgbClr val="FFFFFF"/>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 name="图片 14"/>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4318354" y="1902082"/>
            <a:ext cx="540000" cy="442800"/>
          </a:xfrm>
          <a:prstGeom prst="rect">
            <a:avLst/>
          </a:prstGeom>
        </p:spPr>
      </p:pic>
      <p:pic>
        <p:nvPicPr>
          <p:cNvPr id="16" name="图片 15" descr="通用交换机.png"/>
          <p:cNvPicPr>
            <a:picLocks/>
          </p:cNvPicPr>
          <p:nvPr/>
        </p:nvPicPr>
        <p:blipFill>
          <a:blip r:embed="rId10" cstate="print"/>
          <a:stretch>
            <a:fillRect/>
          </a:stretch>
        </p:blipFill>
        <p:spPr bwMode="gray">
          <a:xfrm>
            <a:off x="4318354" y="3285442"/>
            <a:ext cx="540000" cy="441818"/>
          </a:xfrm>
          <a:prstGeom prst="rect">
            <a:avLst/>
          </a:prstGeom>
        </p:spPr>
      </p:pic>
      <p:pic>
        <p:nvPicPr>
          <p:cNvPr id="17" name="图片 16"/>
          <p:cNvPicPr>
            <a:picLocks/>
          </p:cNvPicPr>
          <p:nvPr/>
        </p:nvPicPr>
        <p:blipFill>
          <a:blip r:embed="rId11" cstate="print">
            <a:extLst>
              <a:ext uri="{28A0092B-C50C-407E-A947-70E740481C1C}">
                <a14:useLocalDpi xmlns:a14="http://schemas.microsoft.com/office/drawing/2010/main" val="0"/>
              </a:ext>
            </a:extLst>
          </a:blip>
          <a:stretch>
            <a:fillRect/>
          </a:stretch>
        </p:blipFill>
        <p:spPr bwMode="gray">
          <a:xfrm>
            <a:off x="4318354" y="4667820"/>
            <a:ext cx="540000" cy="442800"/>
          </a:xfrm>
          <a:prstGeom prst="rect">
            <a:avLst/>
          </a:prstGeom>
        </p:spPr>
      </p:pic>
      <p:sp>
        <p:nvSpPr>
          <p:cNvPr id="18" name="文本框 17"/>
          <p:cNvSpPr txBox="1"/>
          <p:nvPr/>
        </p:nvSpPr>
        <p:spPr bwMode="gray">
          <a:xfrm>
            <a:off x="4333073" y="5170669"/>
            <a:ext cx="433132" cy="523220"/>
          </a:xfrm>
          <a:prstGeom prst="rect">
            <a:avLst/>
          </a:prstGeom>
          <a:noFill/>
        </p:spPr>
        <p:txBody>
          <a:bodyPr wrap="none" rtlCol="0">
            <a:spAutoFit/>
          </a:bodyPr>
          <a:lstStyle/>
          <a:p>
            <a:r>
              <a:rPr lang="en-US" altLang="zh-CN" sz="2800" dirty="0">
                <a:latin typeface="Huawei Sans" panose="020C0503030203020204" pitchFamily="34" charset="0"/>
                <a:ea typeface="方正兰亭黑简体" panose="02000000000000000000" pitchFamily="2" charset="-122"/>
              </a:rPr>
              <a:t>…</a:t>
            </a:r>
            <a:endParaRPr lang="zh-CN" altLang="en-US" sz="2800" dirty="0">
              <a:latin typeface="Huawei Sans" panose="020C0503030203020204" pitchFamily="34" charset="0"/>
              <a:ea typeface="方正兰亭黑简体" panose="02000000000000000000" pitchFamily="2" charset="-122"/>
            </a:endParaRPr>
          </a:p>
        </p:txBody>
      </p:sp>
      <p:sp>
        <p:nvSpPr>
          <p:cNvPr id="19" name="矩形 51">
            <a:extLst>
              <a:ext uri="{FF2B5EF4-FFF2-40B4-BE49-F238E27FC236}">
                <a16:creationId xmlns:a16="http://schemas.microsoft.com/office/drawing/2014/main" xmlns="" id="{E4B5817B-B623-4722-8212-BC996DE0E8C2}"/>
              </a:ext>
            </a:extLst>
          </p:cNvPr>
          <p:cNvSpPr>
            <a:spLocks noChangeArrowheads="1"/>
          </p:cNvSpPr>
          <p:nvPr/>
        </p:nvSpPr>
        <p:spPr bwMode="gray">
          <a:xfrm>
            <a:off x="3748265" y="1303691"/>
            <a:ext cx="1736313" cy="379502"/>
          </a:xfrm>
          <a:prstGeom prst="rect">
            <a:avLst/>
          </a:prstGeom>
          <a:noFill/>
          <a:ln w="9525">
            <a:noFill/>
            <a:miter lim="800000"/>
            <a:headEnd/>
            <a:tailEnd/>
          </a:ln>
        </p:spPr>
        <p:txBody>
          <a:bodyPr wrap="square" lIns="91413" tIns="45707" rIns="91413" bIns="45707">
            <a:spAutoFit/>
          </a:bodyPr>
          <a:lstStyle/>
          <a:p>
            <a:pPr algn="ctr"/>
            <a:r>
              <a:rPr lang="zh-CN" altLang="en-US" dirty="0">
                <a:latin typeface="Huawei Sans" panose="020C0503030203020204" pitchFamily="34" charset="0"/>
                <a:ea typeface="方正兰亭黑简体" panose="02000000000000000000" pitchFamily="2" charset="-122"/>
                <a:sym typeface="Arial" pitchFamily="34" charset="0"/>
              </a:rPr>
              <a:t>网络准入设备</a:t>
            </a:r>
          </a:p>
        </p:txBody>
      </p:sp>
      <p:cxnSp>
        <p:nvCxnSpPr>
          <p:cNvPr id="20" name="直接连接符 473">
            <a:extLst>
              <a:ext uri="{FF2B5EF4-FFF2-40B4-BE49-F238E27FC236}">
                <a16:creationId xmlns:a16="http://schemas.microsoft.com/office/drawing/2014/main" xmlns="" id="{D100375A-B4E2-4380-9022-7CC50820FCF7}"/>
              </a:ext>
            </a:extLst>
          </p:cNvPr>
          <p:cNvCxnSpPr/>
          <p:nvPr/>
        </p:nvCxnSpPr>
        <p:spPr bwMode="gray">
          <a:xfrm>
            <a:off x="3806853" y="1660259"/>
            <a:ext cx="1592441" cy="0"/>
          </a:xfrm>
          <a:prstGeom prst="line">
            <a:avLst/>
          </a:prstGeom>
          <a:solidFill>
            <a:srgbClr val="FFFFFF"/>
          </a:solidFill>
          <a:ln w="12700" cap="flat" cmpd="sng" algn="ctr">
            <a:solidFill>
              <a:srgbClr val="94DAE2"/>
            </a:solidFill>
            <a:prstDash val="solid"/>
            <a:miter lim="800000"/>
          </a:ln>
          <a:effectLst/>
        </p:spPr>
      </p:cxnSp>
      <p:sp>
        <p:nvSpPr>
          <p:cNvPr id="21" name="Right Arrow 157"/>
          <p:cNvSpPr/>
          <p:nvPr/>
        </p:nvSpPr>
        <p:spPr bwMode="gray">
          <a:xfrm>
            <a:off x="2840677" y="3260213"/>
            <a:ext cx="924102" cy="349864"/>
          </a:xfrm>
          <a:prstGeom prst="rightArrow">
            <a:avLst>
              <a:gd name="adj1" fmla="val 40000"/>
              <a:gd name="adj2" fmla="val 50000"/>
            </a:avLst>
          </a:prstGeom>
          <a:gradFill flip="none" rotWithShape="1">
            <a:gsLst>
              <a:gs pos="46000">
                <a:schemeClr val="accent1">
                  <a:lumMod val="5000"/>
                  <a:lumOff val="95000"/>
                  <a:alpha val="0"/>
                </a:schemeClr>
              </a:gs>
              <a:gs pos="78000">
                <a:srgbClr val="DEF4FD"/>
              </a:gs>
              <a:gs pos="15000">
                <a:srgbClr val="DEF4FD"/>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2977976" y="3019685"/>
            <a:ext cx="595035"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rPr>
              <a:t>接入</a:t>
            </a:r>
          </a:p>
        </p:txBody>
      </p:sp>
      <p:sp>
        <p:nvSpPr>
          <p:cNvPr id="23" name="圆角矩形 383">
            <a:extLst>
              <a:ext uri="{FF2B5EF4-FFF2-40B4-BE49-F238E27FC236}">
                <a16:creationId xmlns:a16="http://schemas.microsoft.com/office/drawing/2014/main" xmlns="" id="{15D5F585-025C-45ED-849C-71AB867BB8EA}"/>
              </a:ext>
            </a:extLst>
          </p:cNvPr>
          <p:cNvSpPr/>
          <p:nvPr/>
        </p:nvSpPr>
        <p:spPr bwMode="gray">
          <a:xfrm>
            <a:off x="7043293" y="4492500"/>
            <a:ext cx="4175075" cy="1274156"/>
          </a:xfrm>
          <a:prstGeom prst="roundRect">
            <a:avLst>
              <a:gd name="adj" fmla="val 2584"/>
            </a:avLst>
          </a:prstGeom>
          <a:solidFill>
            <a:srgbClr val="FFFFFF"/>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sp>
        <p:nvSpPr>
          <p:cNvPr id="24" name="矩形 51">
            <a:extLst>
              <a:ext uri="{FF2B5EF4-FFF2-40B4-BE49-F238E27FC236}">
                <a16:creationId xmlns:a16="http://schemas.microsoft.com/office/drawing/2014/main" xmlns="" id="{B3B39257-A615-43E3-9A92-AA2212D6D0E8}"/>
              </a:ext>
            </a:extLst>
          </p:cNvPr>
          <p:cNvSpPr>
            <a:spLocks noChangeArrowheads="1"/>
          </p:cNvSpPr>
          <p:nvPr/>
        </p:nvSpPr>
        <p:spPr bwMode="gray">
          <a:xfrm>
            <a:off x="8077346" y="5120679"/>
            <a:ext cx="800165" cy="276973"/>
          </a:xfrm>
          <a:prstGeom prst="rect">
            <a:avLst/>
          </a:prstGeom>
          <a:noFill/>
          <a:ln w="9525">
            <a:noFill/>
            <a:miter lim="800000"/>
            <a:headEnd/>
            <a:tailEnd/>
          </a:ln>
        </p:spPr>
        <p:txBody>
          <a:bodyPr wrap="none" lIns="91413" tIns="45707" rIns="91413" bIns="45707">
            <a:spAutoFit/>
          </a:bodyPr>
          <a:lstStyle/>
          <a:p>
            <a:pPr algn="ctr"/>
            <a:r>
              <a:rPr lang="zh-CN" altLang="en-US" sz="1200" dirty="0">
                <a:latin typeface="Huawei Sans" panose="020C0503030203020204" pitchFamily="34" charset="0"/>
                <a:ea typeface="方正兰亭黑简体" panose="02000000000000000000" pitchFamily="2" charset="-122"/>
                <a:sym typeface="Arial" pitchFamily="34" charset="0"/>
              </a:rPr>
              <a:t>研发数据</a:t>
            </a:r>
          </a:p>
        </p:txBody>
      </p:sp>
      <p:sp>
        <p:nvSpPr>
          <p:cNvPr id="25" name="矩形 51">
            <a:extLst>
              <a:ext uri="{FF2B5EF4-FFF2-40B4-BE49-F238E27FC236}">
                <a16:creationId xmlns:a16="http://schemas.microsoft.com/office/drawing/2014/main" xmlns="" id="{C5DF21F4-AD92-4E26-98C4-7BFE3BB4D5B4}"/>
              </a:ext>
            </a:extLst>
          </p:cNvPr>
          <p:cNvSpPr>
            <a:spLocks noChangeArrowheads="1"/>
          </p:cNvSpPr>
          <p:nvPr/>
        </p:nvSpPr>
        <p:spPr bwMode="gray">
          <a:xfrm>
            <a:off x="7255667" y="5131330"/>
            <a:ext cx="800165" cy="276973"/>
          </a:xfrm>
          <a:prstGeom prst="rect">
            <a:avLst/>
          </a:prstGeom>
          <a:noFill/>
          <a:ln w="9525">
            <a:noFill/>
            <a:miter lim="800000"/>
            <a:headEnd/>
            <a:tailEnd/>
          </a:ln>
        </p:spPr>
        <p:txBody>
          <a:bodyPr wrap="none" lIns="91413" tIns="45707" rIns="91413" bIns="45707">
            <a:spAutoFit/>
          </a:bodyPr>
          <a:lstStyle/>
          <a:p>
            <a:pPr algn="ctr"/>
            <a:r>
              <a:rPr lang="zh-CN" altLang="en-US" sz="1200" dirty="0">
                <a:latin typeface="Huawei Sans" panose="020C0503030203020204" pitchFamily="34" charset="0"/>
                <a:ea typeface="方正兰亭黑简体" panose="02000000000000000000" pitchFamily="2" charset="-122"/>
                <a:sym typeface="Arial" pitchFamily="34" charset="0"/>
              </a:rPr>
              <a:t>办公数据</a:t>
            </a:r>
          </a:p>
        </p:txBody>
      </p:sp>
      <p:sp>
        <p:nvSpPr>
          <p:cNvPr id="26" name="矩形 51">
            <a:extLst>
              <a:ext uri="{FF2B5EF4-FFF2-40B4-BE49-F238E27FC236}">
                <a16:creationId xmlns:a16="http://schemas.microsoft.com/office/drawing/2014/main" xmlns="" id="{9973C60C-A8E4-4E81-9026-AD74641C4DC1}"/>
              </a:ext>
            </a:extLst>
          </p:cNvPr>
          <p:cNvSpPr>
            <a:spLocks noChangeArrowheads="1"/>
          </p:cNvSpPr>
          <p:nvPr/>
        </p:nvSpPr>
        <p:spPr bwMode="gray">
          <a:xfrm>
            <a:off x="8901196" y="5111486"/>
            <a:ext cx="800165" cy="276973"/>
          </a:xfrm>
          <a:prstGeom prst="rect">
            <a:avLst/>
          </a:prstGeom>
          <a:noFill/>
          <a:ln w="9525">
            <a:noFill/>
            <a:miter lim="800000"/>
            <a:headEnd/>
            <a:tailEnd/>
          </a:ln>
        </p:spPr>
        <p:txBody>
          <a:bodyPr wrap="none" lIns="91413" tIns="45707" rIns="91413" bIns="45707">
            <a:spAutoFit/>
          </a:bodyPr>
          <a:lstStyle/>
          <a:p>
            <a:pPr algn="ctr"/>
            <a:r>
              <a:rPr lang="zh-CN" altLang="en-US" sz="1200" dirty="0">
                <a:latin typeface="Huawei Sans" panose="020C0503030203020204" pitchFamily="34" charset="0"/>
                <a:ea typeface="方正兰亭黑简体" panose="02000000000000000000" pitchFamily="2" charset="-122"/>
                <a:sym typeface="Arial" pitchFamily="34" charset="0"/>
              </a:rPr>
              <a:t>市场数据</a:t>
            </a:r>
          </a:p>
        </p:txBody>
      </p:sp>
      <p:sp>
        <p:nvSpPr>
          <p:cNvPr id="27" name="矩形 51">
            <a:extLst>
              <a:ext uri="{FF2B5EF4-FFF2-40B4-BE49-F238E27FC236}">
                <a16:creationId xmlns:a16="http://schemas.microsoft.com/office/drawing/2014/main" xmlns="" id="{C0D73482-9FE0-4CC3-BB1B-10A25894A69D}"/>
              </a:ext>
            </a:extLst>
          </p:cNvPr>
          <p:cNvSpPr>
            <a:spLocks noChangeArrowheads="1"/>
          </p:cNvSpPr>
          <p:nvPr/>
        </p:nvSpPr>
        <p:spPr bwMode="gray">
          <a:xfrm>
            <a:off x="7133447" y="4335378"/>
            <a:ext cx="1107941" cy="369306"/>
          </a:xfrm>
          <a:prstGeom prst="rect">
            <a:avLst/>
          </a:prstGeom>
          <a:solidFill>
            <a:schemeClr val="bg1"/>
          </a:solidFill>
          <a:ln w="9525">
            <a:noFill/>
            <a:miter lim="800000"/>
            <a:headEnd/>
            <a:tailEnd/>
          </a:ln>
        </p:spPr>
        <p:txBody>
          <a:bodyPr wrap="square" lIns="91413" tIns="45707" rIns="91413" bIns="45707">
            <a:spAutoFit/>
          </a:bodyPr>
          <a:lstStyle/>
          <a:p>
            <a:pPr algn="ctr"/>
            <a:r>
              <a:rPr lang="zh-CN" altLang="en-US" dirty="0">
                <a:solidFill>
                  <a:srgbClr val="C7000B"/>
                </a:solidFill>
                <a:latin typeface="Huawei Sans" panose="020C0503030203020204" pitchFamily="34" charset="0"/>
                <a:ea typeface="方正兰亭黑简体" panose="02000000000000000000" pitchFamily="2" charset="-122"/>
                <a:sym typeface="Arial" pitchFamily="34" charset="0"/>
              </a:rPr>
              <a:t>认证后域</a:t>
            </a:r>
          </a:p>
        </p:txBody>
      </p:sp>
      <p:sp>
        <p:nvSpPr>
          <p:cNvPr id="28" name="矩形 51">
            <a:extLst>
              <a:ext uri="{FF2B5EF4-FFF2-40B4-BE49-F238E27FC236}">
                <a16:creationId xmlns:a16="http://schemas.microsoft.com/office/drawing/2014/main" xmlns="" id="{B9146186-E6E0-4850-849C-7C5219A5D431}"/>
              </a:ext>
            </a:extLst>
          </p:cNvPr>
          <p:cNvSpPr>
            <a:spLocks noChangeArrowheads="1"/>
          </p:cNvSpPr>
          <p:nvPr/>
        </p:nvSpPr>
        <p:spPr bwMode="gray">
          <a:xfrm>
            <a:off x="10202835" y="5465469"/>
            <a:ext cx="421856" cy="276973"/>
          </a:xfrm>
          <a:prstGeom prst="rect">
            <a:avLst/>
          </a:prstGeom>
          <a:noFill/>
          <a:ln w="9525">
            <a:noFill/>
            <a:miter lim="800000"/>
            <a:headEnd/>
            <a:tailEnd/>
          </a:ln>
        </p:spPr>
        <p:txBody>
          <a:bodyPr wrap="none" lIns="91413" tIns="45707" rIns="91413" bIns="45707">
            <a:spAutoFit/>
          </a:bodyPr>
          <a:lstStyle/>
          <a:p>
            <a:pPr algn="ctr"/>
            <a:r>
              <a:rPr lang="en-US" altLang="zh-CN" sz="1200" b="1" dirty="0">
                <a:latin typeface="Huawei Sans" panose="020C0503030203020204" pitchFamily="34" charset="0"/>
                <a:ea typeface="方正兰亭黑简体" panose="02000000000000000000" pitchFamily="2" charset="-122"/>
                <a:sym typeface="Arial" pitchFamily="34" charset="0"/>
              </a:rPr>
              <a:t>……</a:t>
            </a:r>
            <a:endParaRPr lang="zh-CN" altLang="en-US" sz="1200" b="1" dirty="0">
              <a:latin typeface="Huawei Sans" panose="020C0503030203020204" pitchFamily="34" charset="0"/>
              <a:ea typeface="方正兰亭黑简体" panose="02000000000000000000" pitchFamily="2" charset="-122"/>
              <a:sym typeface="Arial" pitchFamily="34" charset="0"/>
            </a:endParaRPr>
          </a:p>
        </p:txBody>
      </p:sp>
      <p:sp>
        <p:nvSpPr>
          <p:cNvPr id="29" name="Freeform 721">
            <a:extLst>
              <a:ext uri="{FF2B5EF4-FFF2-40B4-BE49-F238E27FC236}">
                <a16:creationId xmlns:a16="http://schemas.microsoft.com/office/drawing/2014/main" xmlns="" id="{7215C9D2-2E5D-43C8-ADAC-C6FBB73B66B4}"/>
              </a:ext>
            </a:extLst>
          </p:cNvPr>
          <p:cNvSpPr>
            <a:spLocks/>
          </p:cNvSpPr>
          <p:nvPr/>
        </p:nvSpPr>
        <p:spPr bwMode="gray">
          <a:xfrm>
            <a:off x="9851177" y="5146484"/>
            <a:ext cx="284133" cy="292156"/>
          </a:xfrm>
          <a:custGeom>
            <a:avLst/>
            <a:gdLst/>
            <a:ahLst/>
            <a:cxnLst>
              <a:cxn ang="0">
                <a:pos x="346" y="190"/>
              </a:cxn>
              <a:cxn ang="0">
                <a:pos x="338" y="237"/>
              </a:cxn>
              <a:cxn ang="0">
                <a:pos x="320" y="278"/>
              </a:cxn>
              <a:cxn ang="0">
                <a:pos x="299" y="302"/>
              </a:cxn>
              <a:cxn ang="0">
                <a:pos x="265" y="329"/>
              </a:cxn>
              <a:cxn ang="0">
                <a:pos x="220" y="345"/>
              </a:cxn>
              <a:cxn ang="0">
                <a:pos x="189" y="347"/>
              </a:cxn>
              <a:cxn ang="0">
                <a:pos x="142" y="341"/>
              </a:cxn>
              <a:cxn ang="0">
                <a:pos x="102" y="320"/>
              </a:cxn>
              <a:cxn ang="0">
                <a:pos x="79" y="302"/>
              </a:cxn>
              <a:cxn ang="0">
                <a:pos x="51" y="265"/>
              </a:cxn>
              <a:cxn ang="0">
                <a:pos x="36" y="223"/>
              </a:cxn>
              <a:cxn ang="0">
                <a:pos x="32" y="190"/>
              </a:cxn>
              <a:cxn ang="0">
                <a:pos x="38" y="143"/>
              </a:cxn>
              <a:cxn ang="0">
                <a:pos x="59" y="102"/>
              </a:cxn>
              <a:cxn ang="0">
                <a:pos x="79" y="80"/>
              </a:cxn>
              <a:cxn ang="0">
                <a:pos x="114" y="53"/>
              </a:cxn>
              <a:cxn ang="0">
                <a:pos x="157" y="37"/>
              </a:cxn>
              <a:cxn ang="0">
                <a:pos x="189" y="33"/>
              </a:cxn>
              <a:cxn ang="0">
                <a:pos x="236" y="41"/>
              </a:cxn>
              <a:cxn ang="0">
                <a:pos x="277" y="62"/>
              </a:cxn>
              <a:cxn ang="0">
                <a:pos x="299" y="80"/>
              </a:cxn>
              <a:cxn ang="0">
                <a:pos x="328" y="117"/>
              </a:cxn>
              <a:cxn ang="0">
                <a:pos x="342" y="159"/>
              </a:cxn>
              <a:cxn ang="0">
                <a:pos x="363" y="190"/>
              </a:cxn>
              <a:cxn ang="0">
                <a:pos x="379" y="172"/>
              </a:cxn>
              <a:cxn ang="0">
                <a:pos x="365" y="117"/>
              </a:cxn>
              <a:cxn ang="0">
                <a:pos x="336" y="70"/>
              </a:cxn>
              <a:cxn ang="0">
                <a:pos x="295" y="33"/>
              </a:cxn>
              <a:cxn ang="0">
                <a:pos x="246" y="8"/>
              </a:cxn>
              <a:cxn ang="0">
                <a:pos x="189" y="0"/>
              </a:cxn>
              <a:cxn ang="0">
                <a:pos x="151" y="4"/>
              </a:cxn>
              <a:cxn ang="0">
                <a:pos x="98" y="23"/>
              </a:cxn>
              <a:cxn ang="0">
                <a:pos x="55" y="55"/>
              </a:cxn>
              <a:cxn ang="0">
                <a:pos x="22" y="100"/>
              </a:cxn>
              <a:cxn ang="0">
                <a:pos x="4" y="151"/>
              </a:cxn>
              <a:cxn ang="0">
                <a:pos x="0" y="190"/>
              </a:cxn>
              <a:cxn ang="0">
                <a:pos x="8" y="247"/>
              </a:cxn>
              <a:cxn ang="0">
                <a:pos x="32" y="296"/>
              </a:cxn>
              <a:cxn ang="0">
                <a:pos x="69" y="337"/>
              </a:cxn>
              <a:cxn ang="0">
                <a:pos x="116" y="365"/>
              </a:cxn>
              <a:cxn ang="0">
                <a:pos x="169" y="380"/>
              </a:cxn>
              <a:cxn ang="0">
                <a:pos x="208" y="380"/>
              </a:cxn>
              <a:cxn ang="0">
                <a:pos x="263" y="365"/>
              </a:cxn>
              <a:cxn ang="0">
                <a:pos x="310" y="337"/>
              </a:cxn>
              <a:cxn ang="0">
                <a:pos x="346" y="296"/>
              </a:cxn>
              <a:cxn ang="0">
                <a:pos x="371" y="247"/>
              </a:cxn>
              <a:cxn ang="0">
                <a:pos x="379" y="190"/>
              </a:cxn>
            </a:cxnLst>
            <a:rect l="0" t="0" r="r" b="b"/>
            <a:pathLst>
              <a:path w="379" h="382">
                <a:moveTo>
                  <a:pt x="363" y="190"/>
                </a:moveTo>
                <a:lnTo>
                  <a:pt x="346" y="190"/>
                </a:lnTo>
                <a:lnTo>
                  <a:pt x="346" y="190"/>
                </a:lnTo>
                <a:lnTo>
                  <a:pt x="344" y="206"/>
                </a:lnTo>
                <a:lnTo>
                  <a:pt x="342" y="223"/>
                </a:lnTo>
                <a:lnTo>
                  <a:pt x="338" y="237"/>
                </a:lnTo>
                <a:lnTo>
                  <a:pt x="334" y="251"/>
                </a:lnTo>
                <a:lnTo>
                  <a:pt x="328" y="265"/>
                </a:lnTo>
                <a:lnTo>
                  <a:pt x="320" y="278"/>
                </a:lnTo>
                <a:lnTo>
                  <a:pt x="310" y="290"/>
                </a:lnTo>
                <a:lnTo>
                  <a:pt x="299" y="302"/>
                </a:lnTo>
                <a:lnTo>
                  <a:pt x="299" y="302"/>
                </a:lnTo>
                <a:lnTo>
                  <a:pt x="289" y="312"/>
                </a:lnTo>
                <a:lnTo>
                  <a:pt x="277" y="320"/>
                </a:lnTo>
                <a:lnTo>
                  <a:pt x="265" y="329"/>
                </a:lnTo>
                <a:lnTo>
                  <a:pt x="250" y="335"/>
                </a:lnTo>
                <a:lnTo>
                  <a:pt x="236" y="341"/>
                </a:lnTo>
                <a:lnTo>
                  <a:pt x="220" y="345"/>
                </a:lnTo>
                <a:lnTo>
                  <a:pt x="206" y="347"/>
                </a:lnTo>
                <a:lnTo>
                  <a:pt x="189" y="347"/>
                </a:lnTo>
                <a:lnTo>
                  <a:pt x="189" y="347"/>
                </a:lnTo>
                <a:lnTo>
                  <a:pt x="173" y="347"/>
                </a:lnTo>
                <a:lnTo>
                  <a:pt x="157" y="345"/>
                </a:lnTo>
                <a:lnTo>
                  <a:pt x="142" y="341"/>
                </a:lnTo>
                <a:lnTo>
                  <a:pt x="128" y="335"/>
                </a:lnTo>
                <a:lnTo>
                  <a:pt x="114" y="329"/>
                </a:lnTo>
                <a:lnTo>
                  <a:pt x="102" y="320"/>
                </a:lnTo>
                <a:lnTo>
                  <a:pt x="89" y="312"/>
                </a:lnTo>
                <a:lnTo>
                  <a:pt x="79" y="302"/>
                </a:lnTo>
                <a:lnTo>
                  <a:pt x="79" y="302"/>
                </a:lnTo>
                <a:lnTo>
                  <a:pt x="69" y="290"/>
                </a:lnTo>
                <a:lnTo>
                  <a:pt x="59" y="278"/>
                </a:lnTo>
                <a:lnTo>
                  <a:pt x="51" y="265"/>
                </a:lnTo>
                <a:lnTo>
                  <a:pt x="45" y="251"/>
                </a:lnTo>
                <a:lnTo>
                  <a:pt x="38" y="237"/>
                </a:lnTo>
                <a:lnTo>
                  <a:pt x="36" y="223"/>
                </a:lnTo>
                <a:lnTo>
                  <a:pt x="32" y="206"/>
                </a:lnTo>
                <a:lnTo>
                  <a:pt x="32" y="190"/>
                </a:lnTo>
                <a:lnTo>
                  <a:pt x="32" y="190"/>
                </a:lnTo>
                <a:lnTo>
                  <a:pt x="32" y="174"/>
                </a:lnTo>
                <a:lnTo>
                  <a:pt x="36" y="159"/>
                </a:lnTo>
                <a:lnTo>
                  <a:pt x="38" y="143"/>
                </a:lnTo>
                <a:lnTo>
                  <a:pt x="45" y="129"/>
                </a:lnTo>
                <a:lnTo>
                  <a:pt x="51" y="117"/>
                </a:lnTo>
                <a:lnTo>
                  <a:pt x="59" y="102"/>
                </a:lnTo>
                <a:lnTo>
                  <a:pt x="69" y="90"/>
                </a:lnTo>
                <a:lnTo>
                  <a:pt x="79" y="80"/>
                </a:lnTo>
                <a:lnTo>
                  <a:pt x="79" y="80"/>
                </a:lnTo>
                <a:lnTo>
                  <a:pt x="89" y="70"/>
                </a:lnTo>
                <a:lnTo>
                  <a:pt x="102" y="62"/>
                </a:lnTo>
                <a:lnTo>
                  <a:pt x="114" y="53"/>
                </a:lnTo>
                <a:lnTo>
                  <a:pt x="128" y="45"/>
                </a:lnTo>
                <a:lnTo>
                  <a:pt x="142" y="41"/>
                </a:lnTo>
                <a:lnTo>
                  <a:pt x="157" y="37"/>
                </a:lnTo>
                <a:lnTo>
                  <a:pt x="173" y="35"/>
                </a:lnTo>
                <a:lnTo>
                  <a:pt x="189" y="33"/>
                </a:lnTo>
                <a:lnTo>
                  <a:pt x="189" y="33"/>
                </a:lnTo>
                <a:lnTo>
                  <a:pt x="206" y="35"/>
                </a:lnTo>
                <a:lnTo>
                  <a:pt x="220" y="37"/>
                </a:lnTo>
                <a:lnTo>
                  <a:pt x="236" y="41"/>
                </a:lnTo>
                <a:lnTo>
                  <a:pt x="250" y="45"/>
                </a:lnTo>
                <a:lnTo>
                  <a:pt x="265" y="53"/>
                </a:lnTo>
                <a:lnTo>
                  <a:pt x="277" y="62"/>
                </a:lnTo>
                <a:lnTo>
                  <a:pt x="289" y="70"/>
                </a:lnTo>
                <a:lnTo>
                  <a:pt x="299" y="80"/>
                </a:lnTo>
                <a:lnTo>
                  <a:pt x="299" y="80"/>
                </a:lnTo>
                <a:lnTo>
                  <a:pt x="310" y="90"/>
                </a:lnTo>
                <a:lnTo>
                  <a:pt x="320" y="102"/>
                </a:lnTo>
                <a:lnTo>
                  <a:pt x="328" y="117"/>
                </a:lnTo>
                <a:lnTo>
                  <a:pt x="334" y="129"/>
                </a:lnTo>
                <a:lnTo>
                  <a:pt x="338" y="143"/>
                </a:lnTo>
                <a:lnTo>
                  <a:pt x="342" y="159"/>
                </a:lnTo>
                <a:lnTo>
                  <a:pt x="344" y="174"/>
                </a:lnTo>
                <a:lnTo>
                  <a:pt x="346" y="190"/>
                </a:lnTo>
                <a:lnTo>
                  <a:pt x="363" y="190"/>
                </a:lnTo>
                <a:lnTo>
                  <a:pt x="379" y="190"/>
                </a:lnTo>
                <a:lnTo>
                  <a:pt x="379" y="190"/>
                </a:lnTo>
                <a:lnTo>
                  <a:pt x="379" y="172"/>
                </a:lnTo>
                <a:lnTo>
                  <a:pt x="375" y="151"/>
                </a:lnTo>
                <a:lnTo>
                  <a:pt x="371" y="135"/>
                </a:lnTo>
                <a:lnTo>
                  <a:pt x="365" y="117"/>
                </a:lnTo>
                <a:lnTo>
                  <a:pt x="356" y="100"/>
                </a:lnTo>
                <a:lnTo>
                  <a:pt x="346" y="84"/>
                </a:lnTo>
                <a:lnTo>
                  <a:pt x="336" y="70"/>
                </a:lnTo>
                <a:lnTo>
                  <a:pt x="324" y="55"/>
                </a:lnTo>
                <a:lnTo>
                  <a:pt x="310" y="43"/>
                </a:lnTo>
                <a:lnTo>
                  <a:pt x="295" y="33"/>
                </a:lnTo>
                <a:lnTo>
                  <a:pt x="279" y="23"/>
                </a:lnTo>
                <a:lnTo>
                  <a:pt x="263" y="15"/>
                </a:lnTo>
                <a:lnTo>
                  <a:pt x="246" y="8"/>
                </a:lnTo>
                <a:lnTo>
                  <a:pt x="228" y="4"/>
                </a:lnTo>
                <a:lnTo>
                  <a:pt x="208" y="2"/>
                </a:lnTo>
                <a:lnTo>
                  <a:pt x="189" y="0"/>
                </a:lnTo>
                <a:lnTo>
                  <a:pt x="189" y="0"/>
                </a:lnTo>
                <a:lnTo>
                  <a:pt x="169" y="2"/>
                </a:lnTo>
                <a:lnTo>
                  <a:pt x="151" y="4"/>
                </a:lnTo>
                <a:lnTo>
                  <a:pt x="132" y="8"/>
                </a:lnTo>
                <a:lnTo>
                  <a:pt x="116" y="15"/>
                </a:lnTo>
                <a:lnTo>
                  <a:pt x="98" y="23"/>
                </a:lnTo>
                <a:lnTo>
                  <a:pt x="83" y="33"/>
                </a:lnTo>
                <a:lnTo>
                  <a:pt x="69" y="43"/>
                </a:lnTo>
                <a:lnTo>
                  <a:pt x="55" y="55"/>
                </a:lnTo>
                <a:lnTo>
                  <a:pt x="42" y="70"/>
                </a:lnTo>
                <a:lnTo>
                  <a:pt x="32" y="84"/>
                </a:lnTo>
                <a:lnTo>
                  <a:pt x="22" y="100"/>
                </a:lnTo>
                <a:lnTo>
                  <a:pt x="14" y="117"/>
                </a:lnTo>
                <a:lnTo>
                  <a:pt x="8" y="135"/>
                </a:lnTo>
                <a:lnTo>
                  <a:pt x="4" y="151"/>
                </a:lnTo>
                <a:lnTo>
                  <a:pt x="0" y="172"/>
                </a:lnTo>
                <a:lnTo>
                  <a:pt x="0" y="190"/>
                </a:lnTo>
                <a:lnTo>
                  <a:pt x="0" y="190"/>
                </a:lnTo>
                <a:lnTo>
                  <a:pt x="0" y="210"/>
                </a:lnTo>
                <a:lnTo>
                  <a:pt x="4" y="229"/>
                </a:lnTo>
                <a:lnTo>
                  <a:pt x="8" y="247"/>
                </a:lnTo>
                <a:lnTo>
                  <a:pt x="14" y="265"/>
                </a:lnTo>
                <a:lnTo>
                  <a:pt x="22" y="282"/>
                </a:lnTo>
                <a:lnTo>
                  <a:pt x="32" y="296"/>
                </a:lnTo>
                <a:lnTo>
                  <a:pt x="42" y="312"/>
                </a:lnTo>
                <a:lnTo>
                  <a:pt x="55" y="325"/>
                </a:lnTo>
                <a:lnTo>
                  <a:pt x="69" y="337"/>
                </a:lnTo>
                <a:lnTo>
                  <a:pt x="83" y="349"/>
                </a:lnTo>
                <a:lnTo>
                  <a:pt x="98" y="357"/>
                </a:lnTo>
                <a:lnTo>
                  <a:pt x="116" y="365"/>
                </a:lnTo>
                <a:lnTo>
                  <a:pt x="132" y="371"/>
                </a:lnTo>
                <a:lnTo>
                  <a:pt x="151" y="378"/>
                </a:lnTo>
                <a:lnTo>
                  <a:pt x="169" y="380"/>
                </a:lnTo>
                <a:lnTo>
                  <a:pt x="189" y="382"/>
                </a:lnTo>
                <a:lnTo>
                  <a:pt x="189" y="382"/>
                </a:lnTo>
                <a:lnTo>
                  <a:pt x="208" y="380"/>
                </a:lnTo>
                <a:lnTo>
                  <a:pt x="228" y="378"/>
                </a:lnTo>
                <a:lnTo>
                  <a:pt x="246" y="371"/>
                </a:lnTo>
                <a:lnTo>
                  <a:pt x="263" y="365"/>
                </a:lnTo>
                <a:lnTo>
                  <a:pt x="279" y="357"/>
                </a:lnTo>
                <a:lnTo>
                  <a:pt x="295" y="349"/>
                </a:lnTo>
                <a:lnTo>
                  <a:pt x="310" y="337"/>
                </a:lnTo>
                <a:lnTo>
                  <a:pt x="324" y="325"/>
                </a:lnTo>
                <a:lnTo>
                  <a:pt x="336" y="312"/>
                </a:lnTo>
                <a:lnTo>
                  <a:pt x="346" y="296"/>
                </a:lnTo>
                <a:lnTo>
                  <a:pt x="356" y="282"/>
                </a:lnTo>
                <a:lnTo>
                  <a:pt x="365" y="265"/>
                </a:lnTo>
                <a:lnTo>
                  <a:pt x="371" y="247"/>
                </a:lnTo>
                <a:lnTo>
                  <a:pt x="375" y="229"/>
                </a:lnTo>
                <a:lnTo>
                  <a:pt x="379" y="210"/>
                </a:lnTo>
                <a:lnTo>
                  <a:pt x="379" y="190"/>
                </a:lnTo>
                <a:lnTo>
                  <a:pt x="363" y="190"/>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30" name="Freeform 722">
            <a:extLst>
              <a:ext uri="{FF2B5EF4-FFF2-40B4-BE49-F238E27FC236}">
                <a16:creationId xmlns:a16="http://schemas.microsoft.com/office/drawing/2014/main" xmlns="" id="{DF0ABA13-3D6C-4D45-8B5D-C81CE2865D19}"/>
              </a:ext>
            </a:extLst>
          </p:cNvPr>
          <p:cNvSpPr>
            <a:spLocks noEditPoints="1"/>
          </p:cNvSpPr>
          <p:nvPr/>
        </p:nvSpPr>
        <p:spPr bwMode="gray">
          <a:xfrm>
            <a:off x="9971877" y="5219905"/>
            <a:ext cx="134195" cy="162139"/>
          </a:xfrm>
          <a:custGeom>
            <a:avLst/>
            <a:gdLst/>
            <a:ahLst/>
            <a:cxnLst>
              <a:cxn ang="0">
                <a:pos x="163" y="39"/>
              </a:cxn>
              <a:cxn ang="0">
                <a:pos x="144" y="21"/>
              </a:cxn>
              <a:cxn ang="0">
                <a:pos x="122" y="8"/>
              </a:cxn>
              <a:cxn ang="0">
                <a:pos x="83" y="10"/>
              </a:cxn>
              <a:cxn ang="0">
                <a:pos x="73" y="10"/>
              </a:cxn>
              <a:cxn ang="0">
                <a:pos x="53" y="0"/>
              </a:cxn>
              <a:cxn ang="0">
                <a:pos x="41" y="2"/>
              </a:cxn>
              <a:cxn ang="0">
                <a:pos x="36" y="16"/>
              </a:cxn>
              <a:cxn ang="0">
                <a:pos x="32" y="37"/>
              </a:cxn>
              <a:cxn ang="0">
                <a:pos x="16" y="39"/>
              </a:cxn>
              <a:cxn ang="0">
                <a:pos x="20" y="49"/>
              </a:cxn>
              <a:cxn ang="0">
                <a:pos x="28" y="55"/>
              </a:cxn>
              <a:cxn ang="0">
                <a:pos x="16" y="59"/>
              </a:cxn>
              <a:cxn ang="0">
                <a:pos x="10" y="63"/>
              </a:cxn>
              <a:cxn ang="0">
                <a:pos x="18" y="67"/>
              </a:cxn>
              <a:cxn ang="0">
                <a:pos x="14" y="76"/>
              </a:cxn>
              <a:cxn ang="0">
                <a:pos x="2" y="96"/>
              </a:cxn>
              <a:cxn ang="0">
                <a:pos x="2" y="125"/>
              </a:cxn>
              <a:cxn ang="0">
                <a:pos x="14" y="133"/>
              </a:cxn>
              <a:cxn ang="0">
                <a:pos x="34" y="139"/>
              </a:cxn>
              <a:cxn ang="0">
                <a:pos x="38" y="147"/>
              </a:cxn>
              <a:cxn ang="0">
                <a:pos x="38" y="190"/>
              </a:cxn>
              <a:cxn ang="0">
                <a:pos x="43" y="206"/>
              </a:cxn>
              <a:cxn ang="0">
                <a:pos x="57" y="210"/>
              </a:cxn>
              <a:cxn ang="0">
                <a:pos x="63" y="206"/>
              </a:cxn>
              <a:cxn ang="0">
                <a:pos x="71" y="182"/>
              </a:cxn>
              <a:cxn ang="0">
                <a:pos x="83" y="186"/>
              </a:cxn>
              <a:cxn ang="0">
                <a:pos x="91" y="184"/>
              </a:cxn>
              <a:cxn ang="0">
                <a:pos x="94" y="169"/>
              </a:cxn>
              <a:cxn ang="0">
                <a:pos x="83" y="165"/>
              </a:cxn>
              <a:cxn ang="0">
                <a:pos x="81" y="159"/>
              </a:cxn>
              <a:cxn ang="0">
                <a:pos x="94" y="143"/>
              </a:cxn>
              <a:cxn ang="0">
                <a:pos x="98" y="125"/>
              </a:cxn>
              <a:cxn ang="0">
                <a:pos x="110" y="100"/>
              </a:cxn>
              <a:cxn ang="0">
                <a:pos x="122" y="100"/>
              </a:cxn>
              <a:cxn ang="0">
                <a:pos x="134" y="127"/>
              </a:cxn>
              <a:cxn ang="0">
                <a:pos x="140" y="118"/>
              </a:cxn>
              <a:cxn ang="0">
                <a:pos x="147" y="106"/>
              </a:cxn>
              <a:cxn ang="0">
                <a:pos x="157" y="116"/>
              </a:cxn>
              <a:cxn ang="0">
                <a:pos x="167" y="151"/>
              </a:cxn>
              <a:cxn ang="0">
                <a:pos x="177" y="118"/>
              </a:cxn>
              <a:cxn ang="0">
                <a:pos x="175" y="72"/>
              </a:cxn>
              <a:cxn ang="0">
                <a:pos x="163" y="39"/>
              </a:cxn>
              <a:cxn ang="0">
                <a:pos x="75" y="82"/>
              </a:cxn>
              <a:cxn ang="0">
                <a:pos x="61" y="84"/>
              </a:cxn>
              <a:cxn ang="0">
                <a:pos x="51" y="78"/>
              </a:cxn>
              <a:cxn ang="0">
                <a:pos x="45" y="74"/>
              </a:cxn>
              <a:cxn ang="0">
                <a:pos x="41" y="63"/>
              </a:cxn>
              <a:cxn ang="0">
                <a:pos x="47" y="57"/>
              </a:cxn>
              <a:cxn ang="0">
                <a:pos x="51" y="59"/>
              </a:cxn>
              <a:cxn ang="0">
                <a:pos x="53" y="67"/>
              </a:cxn>
              <a:cxn ang="0">
                <a:pos x="57" y="67"/>
              </a:cxn>
              <a:cxn ang="0">
                <a:pos x="65" y="61"/>
              </a:cxn>
              <a:cxn ang="0">
                <a:pos x="75" y="72"/>
              </a:cxn>
            </a:cxnLst>
            <a:rect l="0" t="0" r="r" b="b"/>
            <a:pathLst>
              <a:path w="179" h="212">
                <a:moveTo>
                  <a:pt x="6" y="82"/>
                </a:moveTo>
                <a:lnTo>
                  <a:pt x="6" y="82"/>
                </a:lnTo>
                <a:close/>
                <a:moveTo>
                  <a:pt x="163" y="39"/>
                </a:moveTo>
                <a:lnTo>
                  <a:pt x="163" y="39"/>
                </a:lnTo>
                <a:lnTo>
                  <a:pt x="155" y="29"/>
                </a:lnTo>
                <a:lnTo>
                  <a:pt x="144" y="21"/>
                </a:lnTo>
                <a:lnTo>
                  <a:pt x="134" y="14"/>
                </a:lnTo>
                <a:lnTo>
                  <a:pt x="122" y="8"/>
                </a:lnTo>
                <a:lnTo>
                  <a:pt x="122" y="8"/>
                </a:lnTo>
                <a:lnTo>
                  <a:pt x="110" y="4"/>
                </a:lnTo>
                <a:lnTo>
                  <a:pt x="104" y="4"/>
                </a:lnTo>
                <a:lnTo>
                  <a:pt x="83" y="10"/>
                </a:lnTo>
                <a:lnTo>
                  <a:pt x="83" y="10"/>
                </a:lnTo>
                <a:lnTo>
                  <a:pt x="79" y="12"/>
                </a:lnTo>
                <a:lnTo>
                  <a:pt x="73" y="10"/>
                </a:lnTo>
                <a:lnTo>
                  <a:pt x="65" y="6"/>
                </a:lnTo>
                <a:lnTo>
                  <a:pt x="57" y="0"/>
                </a:lnTo>
                <a:lnTo>
                  <a:pt x="53" y="0"/>
                </a:lnTo>
                <a:lnTo>
                  <a:pt x="47" y="0"/>
                </a:lnTo>
                <a:lnTo>
                  <a:pt x="47" y="0"/>
                </a:lnTo>
                <a:lnTo>
                  <a:pt x="41" y="2"/>
                </a:lnTo>
                <a:lnTo>
                  <a:pt x="38" y="6"/>
                </a:lnTo>
                <a:lnTo>
                  <a:pt x="36" y="10"/>
                </a:lnTo>
                <a:lnTo>
                  <a:pt x="36" y="16"/>
                </a:lnTo>
                <a:lnTo>
                  <a:pt x="36" y="29"/>
                </a:lnTo>
                <a:lnTo>
                  <a:pt x="36" y="35"/>
                </a:lnTo>
                <a:lnTo>
                  <a:pt x="32" y="37"/>
                </a:lnTo>
                <a:lnTo>
                  <a:pt x="32" y="37"/>
                </a:lnTo>
                <a:lnTo>
                  <a:pt x="18" y="39"/>
                </a:lnTo>
                <a:lnTo>
                  <a:pt x="16" y="39"/>
                </a:lnTo>
                <a:lnTo>
                  <a:pt x="14" y="41"/>
                </a:lnTo>
                <a:lnTo>
                  <a:pt x="16" y="43"/>
                </a:lnTo>
                <a:lnTo>
                  <a:pt x="20" y="49"/>
                </a:lnTo>
                <a:lnTo>
                  <a:pt x="20" y="49"/>
                </a:lnTo>
                <a:lnTo>
                  <a:pt x="26" y="53"/>
                </a:lnTo>
                <a:lnTo>
                  <a:pt x="28" y="55"/>
                </a:lnTo>
                <a:lnTo>
                  <a:pt x="26" y="57"/>
                </a:lnTo>
                <a:lnTo>
                  <a:pt x="24" y="57"/>
                </a:lnTo>
                <a:lnTo>
                  <a:pt x="16" y="59"/>
                </a:lnTo>
                <a:lnTo>
                  <a:pt x="12" y="61"/>
                </a:lnTo>
                <a:lnTo>
                  <a:pt x="10" y="63"/>
                </a:lnTo>
                <a:lnTo>
                  <a:pt x="10" y="63"/>
                </a:lnTo>
                <a:lnTo>
                  <a:pt x="14" y="67"/>
                </a:lnTo>
                <a:lnTo>
                  <a:pt x="18" y="67"/>
                </a:lnTo>
                <a:lnTo>
                  <a:pt x="18" y="67"/>
                </a:lnTo>
                <a:lnTo>
                  <a:pt x="18" y="69"/>
                </a:lnTo>
                <a:lnTo>
                  <a:pt x="18" y="72"/>
                </a:lnTo>
                <a:lnTo>
                  <a:pt x="14" y="76"/>
                </a:lnTo>
                <a:lnTo>
                  <a:pt x="6" y="82"/>
                </a:lnTo>
                <a:lnTo>
                  <a:pt x="6" y="82"/>
                </a:lnTo>
                <a:lnTo>
                  <a:pt x="2" y="96"/>
                </a:lnTo>
                <a:lnTo>
                  <a:pt x="0" y="110"/>
                </a:lnTo>
                <a:lnTo>
                  <a:pt x="0" y="118"/>
                </a:lnTo>
                <a:lnTo>
                  <a:pt x="2" y="125"/>
                </a:lnTo>
                <a:lnTo>
                  <a:pt x="6" y="129"/>
                </a:lnTo>
                <a:lnTo>
                  <a:pt x="14" y="133"/>
                </a:lnTo>
                <a:lnTo>
                  <a:pt x="14" y="133"/>
                </a:lnTo>
                <a:lnTo>
                  <a:pt x="22" y="135"/>
                </a:lnTo>
                <a:lnTo>
                  <a:pt x="28" y="137"/>
                </a:lnTo>
                <a:lnTo>
                  <a:pt x="34" y="139"/>
                </a:lnTo>
                <a:lnTo>
                  <a:pt x="36" y="143"/>
                </a:lnTo>
                <a:lnTo>
                  <a:pt x="38" y="147"/>
                </a:lnTo>
                <a:lnTo>
                  <a:pt x="38" y="147"/>
                </a:lnTo>
                <a:lnTo>
                  <a:pt x="38" y="159"/>
                </a:lnTo>
                <a:lnTo>
                  <a:pt x="38" y="169"/>
                </a:lnTo>
                <a:lnTo>
                  <a:pt x="38" y="190"/>
                </a:lnTo>
                <a:lnTo>
                  <a:pt x="38" y="190"/>
                </a:lnTo>
                <a:lnTo>
                  <a:pt x="38" y="198"/>
                </a:lnTo>
                <a:lnTo>
                  <a:pt x="43" y="206"/>
                </a:lnTo>
                <a:lnTo>
                  <a:pt x="49" y="210"/>
                </a:lnTo>
                <a:lnTo>
                  <a:pt x="53" y="212"/>
                </a:lnTo>
                <a:lnTo>
                  <a:pt x="57" y="210"/>
                </a:lnTo>
                <a:lnTo>
                  <a:pt x="57" y="210"/>
                </a:lnTo>
                <a:lnTo>
                  <a:pt x="59" y="208"/>
                </a:lnTo>
                <a:lnTo>
                  <a:pt x="63" y="206"/>
                </a:lnTo>
                <a:lnTo>
                  <a:pt x="67" y="198"/>
                </a:lnTo>
                <a:lnTo>
                  <a:pt x="71" y="182"/>
                </a:lnTo>
                <a:lnTo>
                  <a:pt x="71" y="182"/>
                </a:lnTo>
                <a:lnTo>
                  <a:pt x="75" y="180"/>
                </a:lnTo>
                <a:lnTo>
                  <a:pt x="77" y="180"/>
                </a:lnTo>
                <a:lnTo>
                  <a:pt x="83" y="186"/>
                </a:lnTo>
                <a:lnTo>
                  <a:pt x="87" y="188"/>
                </a:lnTo>
                <a:lnTo>
                  <a:pt x="89" y="188"/>
                </a:lnTo>
                <a:lnTo>
                  <a:pt x="91" y="184"/>
                </a:lnTo>
                <a:lnTo>
                  <a:pt x="94" y="175"/>
                </a:lnTo>
                <a:lnTo>
                  <a:pt x="94" y="175"/>
                </a:lnTo>
                <a:lnTo>
                  <a:pt x="94" y="169"/>
                </a:lnTo>
                <a:lnTo>
                  <a:pt x="91" y="167"/>
                </a:lnTo>
                <a:lnTo>
                  <a:pt x="87" y="165"/>
                </a:lnTo>
                <a:lnTo>
                  <a:pt x="83" y="165"/>
                </a:lnTo>
                <a:lnTo>
                  <a:pt x="83" y="163"/>
                </a:lnTo>
                <a:lnTo>
                  <a:pt x="81" y="159"/>
                </a:lnTo>
                <a:lnTo>
                  <a:pt x="81" y="159"/>
                </a:lnTo>
                <a:lnTo>
                  <a:pt x="83" y="153"/>
                </a:lnTo>
                <a:lnTo>
                  <a:pt x="89" y="147"/>
                </a:lnTo>
                <a:lnTo>
                  <a:pt x="94" y="143"/>
                </a:lnTo>
                <a:lnTo>
                  <a:pt x="96" y="137"/>
                </a:lnTo>
                <a:lnTo>
                  <a:pt x="96" y="137"/>
                </a:lnTo>
                <a:lnTo>
                  <a:pt x="98" y="125"/>
                </a:lnTo>
                <a:lnTo>
                  <a:pt x="102" y="110"/>
                </a:lnTo>
                <a:lnTo>
                  <a:pt x="106" y="104"/>
                </a:lnTo>
                <a:lnTo>
                  <a:pt x="110" y="100"/>
                </a:lnTo>
                <a:lnTo>
                  <a:pt x="116" y="98"/>
                </a:lnTo>
                <a:lnTo>
                  <a:pt x="122" y="100"/>
                </a:lnTo>
                <a:lnTo>
                  <a:pt x="122" y="100"/>
                </a:lnTo>
                <a:lnTo>
                  <a:pt x="126" y="108"/>
                </a:lnTo>
                <a:lnTo>
                  <a:pt x="130" y="120"/>
                </a:lnTo>
                <a:lnTo>
                  <a:pt x="134" y="127"/>
                </a:lnTo>
                <a:lnTo>
                  <a:pt x="136" y="129"/>
                </a:lnTo>
                <a:lnTo>
                  <a:pt x="138" y="127"/>
                </a:lnTo>
                <a:lnTo>
                  <a:pt x="140" y="118"/>
                </a:lnTo>
                <a:lnTo>
                  <a:pt x="140" y="118"/>
                </a:lnTo>
                <a:lnTo>
                  <a:pt x="144" y="108"/>
                </a:lnTo>
                <a:lnTo>
                  <a:pt x="147" y="106"/>
                </a:lnTo>
                <a:lnTo>
                  <a:pt x="149" y="106"/>
                </a:lnTo>
                <a:lnTo>
                  <a:pt x="153" y="110"/>
                </a:lnTo>
                <a:lnTo>
                  <a:pt x="157" y="116"/>
                </a:lnTo>
                <a:lnTo>
                  <a:pt x="163" y="135"/>
                </a:lnTo>
                <a:lnTo>
                  <a:pt x="167" y="151"/>
                </a:lnTo>
                <a:lnTo>
                  <a:pt x="167" y="151"/>
                </a:lnTo>
                <a:lnTo>
                  <a:pt x="171" y="143"/>
                </a:lnTo>
                <a:lnTo>
                  <a:pt x="175" y="133"/>
                </a:lnTo>
                <a:lnTo>
                  <a:pt x="177" y="118"/>
                </a:lnTo>
                <a:lnTo>
                  <a:pt x="179" y="104"/>
                </a:lnTo>
                <a:lnTo>
                  <a:pt x="179" y="88"/>
                </a:lnTo>
                <a:lnTo>
                  <a:pt x="175" y="72"/>
                </a:lnTo>
                <a:lnTo>
                  <a:pt x="171" y="55"/>
                </a:lnTo>
                <a:lnTo>
                  <a:pt x="163" y="39"/>
                </a:lnTo>
                <a:lnTo>
                  <a:pt x="163" y="39"/>
                </a:lnTo>
                <a:close/>
                <a:moveTo>
                  <a:pt x="77" y="80"/>
                </a:moveTo>
                <a:lnTo>
                  <a:pt x="77" y="80"/>
                </a:lnTo>
                <a:lnTo>
                  <a:pt x="75" y="82"/>
                </a:lnTo>
                <a:lnTo>
                  <a:pt x="73" y="84"/>
                </a:lnTo>
                <a:lnTo>
                  <a:pt x="67" y="86"/>
                </a:lnTo>
                <a:lnTo>
                  <a:pt x="61" y="84"/>
                </a:lnTo>
                <a:lnTo>
                  <a:pt x="55" y="82"/>
                </a:lnTo>
                <a:lnTo>
                  <a:pt x="55" y="82"/>
                </a:lnTo>
                <a:lnTo>
                  <a:pt x="51" y="78"/>
                </a:lnTo>
                <a:lnTo>
                  <a:pt x="51" y="78"/>
                </a:lnTo>
                <a:lnTo>
                  <a:pt x="45" y="74"/>
                </a:lnTo>
                <a:lnTo>
                  <a:pt x="45" y="74"/>
                </a:lnTo>
                <a:lnTo>
                  <a:pt x="41" y="69"/>
                </a:lnTo>
                <a:lnTo>
                  <a:pt x="41" y="65"/>
                </a:lnTo>
                <a:lnTo>
                  <a:pt x="41" y="63"/>
                </a:lnTo>
                <a:lnTo>
                  <a:pt x="41" y="63"/>
                </a:lnTo>
                <a:lnTo>
                  <a:pt x="43" y="59"/>
                </a:lnTo>
                <a:lnTo>
                  <a:pt x="47" y="57"/>
                </a:lnTo>
                <a:lnTo>
                  <a:pt x="49" y="57"/>
                </a:lnTo>
                <a:lnTo>
                  <a:pt x="49" y="57"/>
                </a:lnTo>
                <a:lnTo>
                  <a:pt x="51" y="59"/>
                </a:lnTo>
                <a:lnTo>
                  <a:pt x="51" y="61"/>
                </a:lnTo>
                <a:lnTo>
                  <a:pt x="51" y="65"/>
                </a:lnTo>
                <a:lnTo>
                  <a:pt x="53" y="67"/>
                </a:lnTo>
                <a:lnTo>
                  <a:pt x="53" y="67"/>
                </a:lnTo>
                <a:lnTo>
                  <a:pt x="55" y="69"/>
                </a:lnTo>
                <a:lnTo>
                  <a:pt x="57" y="67"/>
                </a:lnTo>
                <a:lnTo>
                  <a:pt x="61" y="61"/>
                </a:lnTo>
                <a:lnTo>
                  <a:pt x="61" y="61"/>
                </a:lnTo>
                <a:lnTo>
                  <a:pt x="65" y="61"/>
                </a:lnTo>
                <a:lnTo>
                  <a:pt x="67" y="61"/>
                </a:lnTo>
                <a:lnTo>
                  <a:pt x="73" y="65"/>
                </a:lnTo>
                <a:lnTo>
                  <a:pt x="75" y="72"/>
                </a:lnTo>
                <a:lnTo>
                  <a:pt x="77" y="80"/>
                </a:lnTo>
                <a:lnTo>
                  <a:pt x="77" y="80"/>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31" name="Line 723">
            <a:extLst>
              <a:ext uri="{FF2B5EF4-FFF2-40B4-BE49-F238E27FC236}">
                <a16:creationId xmlns:a16="http://schemas.microsoft.com/office/drawing/2014/main" xmlns="" id="{F5AA8F1D-B70E-45E4-91DD-0CA349F0553D}"/>
              </a:ext>
            </a:extLst>
          </p:cNvPr>
          <p:cNvSpPr>
            <a:spLocks noChangeShapeType="1"/>
          </p:cNvSpPr>
          <p:nvPr/>
        </p:nvSpPr>
        <p:spPr bwMode="gray">
          <a:xfrm>
            <a:off x="9976376" y="5282620"/>
            <a:ext cx="750" cy="765"/>
          </a:xfrm>
          <a:prstGeom prst="line">
            <a:avLst/>
          </a:pr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32" name="Freeform 724">
            <a:extLst>
              <a:ext uri="{FF2B5EF4-FFF2-40B4-BE49-F238E27FC236}">
                <a16:creationId xmlns:a16="http://schemas.microsoft.com/office/drawing/2014/main" xmlns="" id="{72B22E44-4A89-4233-9991-DD74349B0EE4}"/>
              </a:ext>
            </a:extLst>
          </p:cNvPr>
          <p:cNvSpPr>
            <a:spLocks/>
          </p:cNvSpPr>
          <p:nvPr/>
        </p:nvSpPr>
        <p:spPr bwMode="gray">
          <a:xfrm>
            <a:off x="9971877" y="5219905"/>
            <a:ext cx="134195" cy="162139"/>
          </a:xfrm>
          <a:custGeom>
            <a:avLst/>
            <a:gdLst/>
            <a:ahLst/>
            <a:cxnLst>
              <a:cxn ang="0">
                <a:pos x="163" y="39"/>
              </a:cxn>
              <a:cxn ang="0">
                <a:pos x="144" y="21"/>
              </a:cxn>
              <a:cxn ang="0">
                <a:pos x="122" y="8"/>
              </a:cxn>
              <a:cxn ang="0">
                <a:pos x="110" y="4"/>
              </a:cxn>
              <a:cxn ang="0">
                <a:pos x="83" y="10"/>
              </a:cxn>
              <a:cxn ang="0">
                <a:pos x="79" y="12"/>
              </a:cxn>
              <a:cxn ang="0">
                <a:pos x="65" y="6"/>
              </a:cxn>
              <a:cxn ang="0">
                <a:pos x="53" y="0"/>
              </a:cxn>
              <a:cxn ang="0">
                <a:pos x="47" y="0"/>
              </a:cxn>
              <a:cxn ang="0">
                <a:pos x="38" y="6"/>
              </a:cxn>
              <a:cxn ang="0">
                <a:pos x="36" y="16"/>
              </a:cxn>
              <a:cxn ang="0">
                <a:pos x="36" y="35"/>
              </a:cxn>
              <a:cxn ang="0">
                <a:pos x="32" y="37"/>
              </a:cxn>
              <a:cxn ang="0">
                <a:pos x="16" y="39"/>
              </a:cxn>
              <a:cxn ang="0">
                <a:pos x="16" y="43"/>
              </a:cxn>
              <a:cxn ang="0">
                <a:pos x="20" y="49"/>
              </a:cxn>
              <a:cxn ang="0">
                <a:pos x="28" y="55"/>
              </a:cxn>
              <a:cxn ang="0">
                <a:pos x="24" y="57"/>
              </a:cxn>
              <a:cxn ang="0">
                <a:pos x="12" y="61"/>
              </a:cxn>
              <a:cxn ang="0">
                <a:pos x="10" y="63"/>
              </a:cxn>
              <a:cxn ang="0">
                <a:pos x="18" y="67"/>
              </a:cxn>
              <a:cxn ang="0">
                <a:pos x="18" y="69"/>
              </a:cxn>
              <a:cxn ang="0">
                <a:pos x="14" y="76"/>
              </a:cxn>
              <a:cxn ang="0">
                <a:pos x="6" y="82"/>
              </a:cxn>
              <a:cxn ang="0">
                <a:pos x="0" y="110"/>
              </a:cxn>
              <a:cxn ang="0">
                <a:pos x="2" y="125"/>
              </a:cxn>
              <a:cxn ang="0">
                <a:pos x="14" y="133"/>
              </a:cxn>
              <a:cxn ang="0">
                <a:pos x="22" y="135"/>
              </a:cxn>
              <a:cxn ang="0">
                <a:pos x="34" y="139"/>
              </a:cxn>
              <a:cxn ang="0">
                <a:pos x="38" y="147"/>
              </a:cxn>
              <a:cxn ang="0">
                <a:pos x="38" y="159"/>
              </a:cxn>
              <a:cxn ang="0">
                <a:pos x="38" y="190"/>
              </a:cxn>
              <a:cxn ang="0">
                <a:pos x="38" y="198"/>
              </a:cxn>
              <a:cxn ang="0">
                <a:pos x="49" y="210"/>
              </a:cxn>
              <a:cxn ang="0">
                <a:pos x="57" y="210"/>
              </a:cxn>
              <a:cxn ang="0">
                <a:pos x="59" y="208"/>
              </a:cxn>
              <a:cxn ang="0">
                <a:pos x="67" y="198"/>
              </a:cxn>
              <a:cxn ang="0">
                <a:pos x="71" y="182"/>
              </a:cxn>
              <a:cxn ang="0">
                <a:pos x="77" y="180"/>
              </a:cxn>
              <a:cxn ang="0">
                <a:pos x="87" y="188"/>
              </a:cxn>
              <a:cxn ang="0">
                <a:pos x="91" y="184"/>
              </a:cxn>
              <a:cxn ang="0">
                <a:pos x="94" y="175"/>
              </a:cxn>
              <a:cxn ang="0">
                <a:pos x="91" y="167"/>
              </a:cxn>
              <a:cxn ang="0">
                <a:pos x="83" y="165"/>
              </a:cxn>
              <a:cxn ang="0">
                <a:pos x="81" y="159"/>
              </a:cxn>
              <a:cxn ang="0">
                <a:pos x="83" y="153"/>
              </a:cxn>
              <a:cxn ang="0">
                <a:pos x="94" y="143"/>
              </a:cxn>
              <a:cxn ang="0">
                <a:pos x="96" y="137"/>
              </a:cxn>
              <a:cxn ang="0">
                <a:pos x="102" y="110"/>
              </a:cxn>
              <a:cxn ang="0">
                <a:pos x="110" y="100"/>
              </a:cxn>
              <a:cxn ang="0">
                <a:pos x="122" y="100"/>
              </a:cxn>
              <a:cxn ang="0">
                <a:pos x="126" y="108"/>
              </a:cxn>
              <a:cxn ang="0">
                <a:pos x="134" y="127"/>
              </a:cxn>
              <a:cxn ang="0">
                <a:pos x="138" y="127"/>
              </a:cxn>
              <a:cxn ang="0">
                <a:pos x="140" y="118"/>
              </a:cxn>
              <a:cxn ang="0">
                <a:pos x="147" y="106"/>
              </a:cxn>
              <a:cxn ang="0">
                <a:pos x="153" y="110"/>
              </a:cxn>
              <a:cxn ang="0">
                <a:pos x="163" y="135"/>
              </a:cxn>
              <a:cxn ang="0">
                <a:pos x="167" y="151"/>
              </a:cxn>
              <a:cxn ang="0">
                <a:pos x="175" y="133"/>
              </a:cxn>
              <a:cxn ang="0">
                <a:pos x="179" y="104"/>
              </a:cxn>
              <a:cxn ang="0">
                <a:pos x="175" y="72"/>
              </a:cxn>
              <a:cxn ang="0">
                <a:pos x="163" y="39"/>
              </a:cxn>
            </a:cxnLst>
            <a:rect l="0" t="0" r="r" b="b"/>
            <a:pathLst>
              <a:path w="179" h="212">
                <a:moveTo>
                  <a:pt x="163" y="39"/>
                </a:moveTo>
                <a:lnTo>
                  <a:pt x="163" y="39"/>
                </a:lnTo>
                <a:lnTo>
                  <a:pt x="155" y="29"/>
                </a:lnTo>
                <a:lnTo>
                  <a:pt x="144" y="21"/>
                </a:lnTo>
                <a:lnTo>
                  <a:pt x="134" y="14"/>
                </a:lnTo>
                <a:lnTo>
                  <a:pt x="122" y="8"/>
                </a:lnTo>
                <a:lnTo>
                  <a:pt x="122" y="8"/>
                </a:lnTo>
                <a:lnTo>
                  <a:pt x="110" y="4"/>
                </a:lnTo>
                <a:lnTo>
                  <a:pt x="104" y="4"/>
                </a:lnTo>
                <a:lnTo>
                  <a:pt x="83" y="10"/>
                </a:lnTo>
                <a:lnTo>
                  <a:pt x="83" y="10"/>
                </a:lnTo>
                <a:lnTo>
                  <a:pt x="79" y="12"/>
                </a:lnTo>
                <a:lnTo>
                  <a:pt x="73" y="10"/>
                </a:lnTo>
                <a:lnTo>
                  <a:pt x="65" y="6"/>
                </a:lnTo>
                <a:lnTo>
                  <a:pt x="57" y="0"/>
                </a:lnTo>
                <a:lnTo>
                  <a:pt x="53" y="0"/>
                </a:lnTo>
                <a:lnTo>
                  <a:pt x="47" y="0"/>
                </a:lnTo>
                <a:lnTo>
                  <a:pt x="47" y="0"/>
                </a:lnTo>
                <a:lnTo>
                  <a:pt x="41" y="2"/>
                </a:lnTo>
                <a:lnTo>
                  <a:pt x="38" y="6"/>
                </a:lnTo>
                <a:lnTo>
                  <a:pt x="36" y="10"/>
                </a:lnTo>
                <a:lnTo>
                  <a:pt x="36" y="16"/>
                </a:lnTo>
                <a:lnTo>
                  <a:pt x="36" y="29"/>
                </a:lnTo>
                <a:lnTo>
                  <a:pt x="36" y="35"/>
                </a:lnTo>
                <a:lnTo>
                  <a:pt x="32" y="37"/>
                </a:lnTo>
                <a:lnTo>
                  <a:pt x="32" y="37"/>
                </a:lnTo>
                <a:lnTo>
                  <a:pt x="18" y="39"/>
                </a:lnTo>
                <a:lnTo>
                  <a:pt x="16" y="39"/>
                </a:lnTo>
                <a:lnTo>
                  <a:pt x="14" y="41"/>
                </a:lnTo>
                <a:lnTo>
                  <a:pt x="16" y="43"/>
                </a:lnTo>
                <a:lnTo>
                  <a:pt x="20" y="49"/>
                </a:lnTo>
                <a:lnTo>
                  <a:pt x="20" y="49"/>
                </a:lnTo>
                <a:lnTo>
                  <a:pt x="26" y="53"/>
                </a:lnTo>
                <a:lnTo>
                  <a:pt x="28" y="55"/>
                </a:lnTo>
                <a:lnTo>
                  <a:pt x="26" y="57"/>
                </a:lnTo>
                <a:lnTo>
                  <a:pt x="24" y="57"/>
                </a:lnTo>
                <a:lnTo>
                  <a:pt x="16" y="59"/>
                </a:lnTo>
                <a:lnTo>
                  <a:pt x="12" y="61"/>
                </a:lnTo>
                <a:lnTo>
                  <a:pt x="10" y="63"/>
                </a:lnTo>
                <a:lnTo>
                  <a:pt x="10" y="63"/>
                </a:lnTo>
                <a:lnTo>
                  <a:pt x="14" y="67"/>
                </a:lnTo>
                <a:lnTo>
                  <a:pt x="18" y="67"/>
                </a:lnTo>
                <a:lnTo>
                  <a:pt x="18" y="67"/>
                </a:lnTo>
                <a:lnTo>
                  <a:pt x="18" y="69"/>
                </a:lnTo>
                <a:lnTo>
                  <a:pt x="18" y="72"/>
                </a:lnTo>
                <a:lnTo>
                  <a:pt x="14" y="76"/>
                </a:lnTo>
                <a:lnTo>
                  <a:pt x="6" y="82"/>
                </a:lnTo>
                <a:lnTo>
                  <a:pt x="6" y="82"/>
                </a:lnTo>
                <a:lnTo>
                  <a:pt x="2" y="96"/>
                </a:lnTo>
                <a:lnTo>
                  <a:pt x="0" y="110"/>
                </a:lnTo>
                <a:lnTo>
                  <a:pt x="0" y="118"/>
                </a:lnTo>
                <a:lnTo>
                  <a:pt x="2" y="125"/>
                </a:lnTo>
                <a:lnTo>
                  <a:pt x="6" y="129"/>
                </a:lnTo>
                <a:lnTo>
                  <a:pt x="14" y="133"/>
                </a:lnTo>
                <a:lnTo>
                  <a:pt x="14" y="133"/>
                </a:lnTo>
                <a:lnTo>
                  <a:pt x="22" y="135"/>
                </a:lnTo>
                <a:lnTo>
                  <a:pt x="28" y="137"/>
                </a:lnTo>
                <a:lnTo>
                  <a:pt x="34" y="139"/>
                </a:lnTo>
                <a:lnTo>
                  <a:pt x="36" y="143"/>
                </a:lnTo>
                <a:lnTo>
                  <a:pt x="38" y="147"/>
                </a:lnTo>
                <a:lnTo>
                  <a:pt x="38" y="147"/>
                </a:lnTo>
                <a:lnTo>
                  <a:pt x="38" y="159"/>
                </a:lnTo>
                <a:lnTo>
                  <a:pt x="38" y="169"/>
                </a:lnTo>
                <a:lnTo>
                  <a:pt x="38" y="190"/>
                </a:lnTo>
                <a:lnTo>
                  <a:pt x="38" y="190"/>
                </a:lnTo>
                <a:lnTo>
                  <a:pt x="38" y="198"/>
                </a:lnTo>
                <a:lnTo>
                  <a:pt x="43" y="206"/>
                </a:lnTo>
                <a:lnTo>
                  <a:pt x="49" y="210"/>
                </a:lnTo>
                <a:lnTo>
                  <a:pt x="53" y="212"/>
                </a:lnTo>
                <a:lnTo>
                  <a:pt x="57" y="210"/>
                </a:lnTo>
                <a:lnTo>
                  <a:pt x="57" y="210"/>
                </a:lnTo>
                <a:lnTo>
                  <a:pt x="59" y="208"/>
                </a:lnTo>
                <a:lnTo>
                  <a:pt x="63" y="206"/>
                </a:lnTo>
                <a:lnTo>
                  <a:pt x="67" y="198"/>
                </a:lnTo>
                <a:lnTo>
                  <a:pt x="71" y="182"/>
                </a:lnTo>
                <a:lnTo>
                  <a:pt x="71" y="182"/>
                </a:lnTo>
                <a:lnTo>
                  <a:pt x="75" y="180"/>
                </a:lnTo>
                <a:lnTo>
                  <a:pt x="77" y="180"/>
                </a:lnTo>
                <a:lnTo>
                  <a:pt x="83" y="186"/>
                </a:lnTo>
                <a:lnTo>
                  <a:pt x="87" y="188"/>
                </a:lnTo>
                <a:lnTo>
                  <a:pt x="89" y="188"/>
                </a:lnTo>
                <a:lnTo>
                  <a:pt x="91" y="184"/>
                </a:lnTo>
                <a:lnTo>
                  <a:pt x="94" y="175"/>
                </a:lnTo>
                <a:lnTo>
                  <a:pt x="94" y="175"/>
                </a:lnTo>
                <a:lnTo>
                  <a:pt x="94" y="169"/>
                </a:lnTo>
                <a:lnTo>
                  <a:pt x="91" y="167"/>
                </a:lnTo>
                <a:lnTo>
                  <a:pt x="87" y="165"/>
                </a:lnTo>
                <a:lnTo>
                  <a:pt x="83" y="165"/>
                </a:lnTo>
                <a:lnTo>
                  <a:pt x="83" y="163"/>
                </a:lnTo>
                <a:lnTo>
                  <a:pt x="81" y="159"/>
                </a:lnTo>
                <a:lnTo>
                  <a:pt x="81" y="159"/>
                </a:lnTo>
                <a:lnTo>
                  <a:pt x="83" y="153"/>
                </a:lnTo>
                <a:lnTo>
                  <a:pt x="89" y="147"/>
                </a:lnTo>
                <a:lnTo>
                  <a:pt x="94" y="143"/>
                </a:lnTo>
                <a:lnTo>
                  <a:pt x="96" y="137"/>
                </a:lnTo>
                <a:lnTo>
                  <a:pt x="96" y="137"/>
                </a:lnTo>
                <a:lnTo>
                  <a:pt x="98" y="125"/>
                </a:lnTo>
                <a:lnTo>
                  <a:pt x="102" y="110"/>
                </a:lnTo>
                <a:lnTo>
                  <a:pt x="106" y="104"/>
                </a:lnTo>
                <a:lnTo>
                  <a:pt x="110" y="100"/>
                </a:lnTo>
                <a:lnTo>
                  <a:pt x="116" y="98"/>
                </a:lnTo>
                <a:lnTo>
                  <a:pt x="122" y="100"/>
                </a:lnTo>
                <a:lnTo>
                  <a:pt x="122" y="100"/>
                </a:lnTo>
                <a:lnTo>
                  <a:pt x="126" y="108"/>
                </a:lnTo>
                <a:lnTo>
                  <a:pt x="130" y="120"/>
                </a:lnTo>
                <a:lnTo>
                  <a:pt x="134" y="127"/>
                </a:lnTo>
                <a:lnTo>
                  <a:pt x="136" y="129"/>
                </a:lnTo>
                <a:lnTo>
                  <a:pt x="138" y="127"/>
                </a:lnTo>
                <a:lnTo>
                  <a:pt x="140" y="118"/>
                </a:lnTo>
                <a:lnTo>
                  <a:pt x="140" y="118"/>
                </a:lnTo>
                <a:lnTo>
                  <a:pt x="144" y="108"/>
                </a:lnTo>
                <a:lnTo>
                  <a:pt x="147" y="106"/>
                </a:lnTo>
                <a:lnTo>
                  <a:pt x="149" y="106"/>
                </a:lnTo>
                <a:lnTo>
                  <a:pt x="153" y="110"/>
                </a:lnTo>
                <a:lnTo>
                  <a:pt x="157" y="116"/>
                </a:lnTo>
                <a:lnTo>
                  <a:pt x="163" y="135"/>
                </a:lnTo>
                <a:lnTo>
                  <a:pt x="167" y="151"/>
                </a:lnTo>
                <a:lnTo>
                  <a:pt x="167" y="151"/>
                </a:lnTo>
                <a:lnTo>
                  <a:pt x="171" y="143"/>
                </a:lnTo>
                <a:lnTo>
                  <a:pt x="175" y="133"/>
                </a:lnTo>
                <a:lnTo>
                  <a:pt x="177" y="118"/>
                </a:lnTo>
                <a:lnTo>
                  <a:pt x="179" y="104"/>
                </a:lnTo>
                <a:lnTo>
                  <a:pt x="179" y="88"/>
                </a:lnTo>
                <a:lnTo>
                  <a:pt x="175" y="72"/>
                </a:lnTo>
                <a:lnTo>
                  <a:pt x="171" y="55"/>
                </a:lnTo>
                <a:lnTo>
                  <a:pt x="163" y="39"/>
                </a:lnTo>
                <a:lnTo>
                  <a:pt x="163" y="39"/>
                </a:lnTo>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33" name="Freeform 725">
            <a:extLst>
              <a:ext uri="{FF2B5EF4-FFF2-40B4-BE49-F238E27FC236}">
                <a16:creationId xmlns:a16="http://schemas.microsoft.com/office/drawing/2014/main" xmlns="" id="{88290A22-B94D-4F29-B839-3E94A39BEABD}"/>
              </a:ext>
            </a:extLst>
          </p:cNvPr>
          <p:cNvSpPr>
            <a:spLocks/>
          </p:cNvSpPr>
          <p:nvPr/>
        </p:nvSpPr>
        <p:spPr bwMode="gray">
          <a:xfrm>
            <a:off x="10002615" y="5263499"/>
            <a:ext cx="26989" cy="22180"/>
          </a:xfrm>
          <a:custGeom>
            <a:avLst/>
            <a:gdLst/>
            <a:ahLst/>
            <a:cxnLst>
              <a:cxn ang="0">
                <a:pos x="36" y="23"/>
              </a:cxn>
              <a:cxn ang="0">
                <a:pos x="36" y="23"/>
              </a:cxn>
              <a:cxn ang="0">
                <a:pos x="34" y="25"/>
              </a:cxn>
              <a:cxn ang="0">
                <a:pos x="32" y="27"/>
              </a:cxn>
              <a:cxn ang="0">
                <a:pos x="26" y="29"/>
              </a:cxn>
              <a:cxn ang="0">
                <a:pos x="20" y="27"/>
              </a:cxn>
              <a:cxn ang="0">
                <a:pos x="14" y="25"/>
              </a:cxn>
              <a:cxn ang="0">
                <a:pos x="14" y="25"/>
              </a:cxn>
              <a:cxn ang="0">
                <a:pos x="10" y="21"/>
              </a:cxn>
              <a:cxn ang="0">
                <a:pos x="10" y="21"/>
              </a:cxn>
              <a:cxn ang="0">
                <a:pos x="4" y="17"/>
              </a:cxn>
              <a:cxn ang="0">
                <a:pos x="4" y="17"/>
              </a:cxn>
              <a:cxn ang="0">
                <a:pos x="0" y="12"/>
              </a:cxn>
              <a:cxn ang="0">
                <a:pos x="0" y="8"/>
              </a:cxn>
              <a:cxn ang="0">
                <a:pos x="0" y="6"/>
              </a:cxn>
              <a:cxn ang="0">
                <a:pos x="0" y="6"/>
              </a:cxn>
              <a:cxn ang="0">
                <a:pos x="2" y="2"/>
              </a:cxn>
              <a:cxn ang="0">
                <a:pos x="6" y="0"/>
              </a:cxn>
              <a:cxn ang="0">
                <a:pos x="8" y="0"/>
              </a:cxn>
              <a:cxn ang="0">
                <a:pos x="8" y="0"/>
              </a:cxn>
              <a:cxn ang="0">
                <a:pos x="10" y="2"/>
              </a:cxn>
              <a:cxn ang="0">
                <a:pos x="10" y="4"/>
              </a:cxn>
              <a:cxn ang="0">
                <a:pos x="10" y="8"/>
              </a:cxn>
              <a:cxn ang="0">
                <a:pos x="12" y="10"/>
              </a:cxn>
              <a:cxn ang="0">
                <a:pos x="12" y="10"/>
              </a:cxn>
              <a:cxn ang="0">
                <a:pos x="14" y="12"/>
              </a:cxn>
              <a:cxn ang="0">
                <a:pos x="16" y="10"/>
              </a:cxn>
              <a:cxn ang="0">
                <a:pos x="20" y="4"/>
              </a:cxn>
              <a:cxn ang="0">
                <a:pos x="20" y="4"/>
              </a:cxn>
              <a:cxn ang="0">
                <a:pos x="24" y="4"/>
              </a:cxn>
              <a:cxn ang="0">
                <a:pos x="26" y="4"/>
              </a:cxn>
              <a:cxn ang="0">
                <a:pos x="32" y="8"/>
              </a:cxn>
              <a:cxn ang="0">
                <a:pos x="34" y="15"/>
              </a:cxn>
              <a:cxn ang="0">
                <a:pos x="36" y="23"/>
              </a:cxn>
              <a:cxn ang="0">
                <a:pos x="36" y="23"/>
              </a:cxn>
            </a:cxnLst>
            <a:rect l="0" t="0" r="r" b="b"/>
            <a:pathLst>
              <a:path w="36" h="29">
                <a:moveTo>
                  <a:pt x="36" y="23"/>
                </a:moveTo>
                <a:lnTo>
                  <a:pt x="36" y="23"/>
                </a:lnTo>
                <a:lnTo>
                  <a:pt x="34" y="25"/>
                </a:lnTo>
                <a:lnTo>
                  <a:pt x="32" y="27"/>
                </a:lnTo>
                <a:lnTo>
                  <a:pt x="26" y="29"/>
                </a:lnTo>
                <a:lnTo>
                  <a:pt x="20" y="27"/>
                </a:lnTo>
                <a:lnTo>
                  <a:pt x="14" y="25"/>
                </a:lnTo>
                <a:lnTo>
                  <a:pt x="14" y="25"/>
                </a:lnTo>
                <a:lnTo>
                  <a:pt x="10" y="21"/>
                </a:lnTo>
                <a:lnTo>
                  <a:pt x="10" y="21"/>
                </a:lnTo>
                <a:lnTo>
                  <a:pt x="4" y="17"/>
                </a:lnTo>
                <a:lnTo>
                  <a:pt x="4" y="17"/>
                </a:lnTo>
                <a:lnTo>
                  <a:pt x="0" y="12"/>
                </a:lnTo>
                <a:lnTo>
                  <a:pt x="0" y="8"/>
                </a:lnTo>
                <a:lnTo>
                  <a:pt x="0" y="6"/>
                </a:lnTo>
                <a:lnTo>
                  <a:pt x="0" y="6"/>
                </a:lnTo>
                <a:lnTo>
                  <a:pt x="2" y="2"/>
                </a:lnTo>
                <a:lnTo>
                  <a:pt x="6" y="0"/>
                </a:lnTo>
                <a:lnTo>
                  <a:pt x="8" y="0"/>
                </a:lnTo>
                <a:lnTo>
                  <a:pt x="8" y="0"/>
                </a:lnTo>
                <a:lnTo>
                  <a:pt x="10" y="2"/>
                </a:lnTo>
                <a:lnTo>
                  <a:pt x="10" y="4"/>
                </a:lnTo>
                <a:lnTo>
                  <a:pt x="10" y="8"/>
                </a:lnTo>
                <a:lnTo>
                  <a:pt x="12" y="10"/>
                </a:lnTo>
                <a:lnTo>
                  <a:pt x="12" y="10"/>
                </a:lnTo>
                <a:lnTo>
                  <a:pt x="14" y="12"/>
                </a:lnTo>
                <a:lnTo>
                  <a:pt x="16" y="10"/>
                </a:lnTo>
                <a:lnTo>
                  <a:pt x="20" y="4"/>
                </a:lnTo>
                <a:lnTo>
                  <a:pt x="20" y="4"/>
                </a:lnTo>
                <a:lnTo>
                  <a:pt x="24" y="4"/>
                </a:lnTo>
                <a:lnTo>
                  <a:pt x="26" y="4"/>
                </a:lnTo>
                <a:lnTo>
                  <a:pt x="32" y="8"/>
                </a:lnTo>
                <a:lnTo>
                  <a:pt x="34" y="15"/>
                </a:lnTo>
                <a:lnTo>
                  <a:pt x="36" y="23"/>
                </a:lnTo>
                <a:lnTo>
                  <a:pt x="36" y="23"/>
                </a:lnTo>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34" name="Freeform 726">
            <a:extLst>
              <a:ext uri="{FF2B5EF4-FFF2-40B4-BE49-F238E27FC236}">
                <a16:creationId xmlns:a16="http://schemas.microsoft.com/office/drawing/2014/main" xmlns="" id="{0B33DE8C-D451-47FC-B35E-03CD320F69AE}"/>
              </a:ext>
            </a:extLst>
          </p:cNvPr>
          <p:cNvSpPr>
            <a:spLocks/>
          </p:cNvSpPr>
          <p:nvPr/>
        </p:nvSpPr>
        <p:spPr bwMode="gray">
          <a:xfrm>
            <a:off x="9881165" y="5207669"/>
            <a:ext cx="87714" cy="90247"/>
          </a:xfrm>
          <a:custGeom>
            <a:avLst/>
            <a:gdLst/>
            <a:ahLst/>
            <a:cxnLst>
              <a:cxn ang="0">
                <a:pos x="15" y="102"/>
              </a:cxn>
              <a:cxn ang="0">
                <a:pos x="7" y="98"/>
              </a:cxn>
              <a:cxn ang="0">
                <a:pos x="2" y="90"/>
              </a:cxn>
              <a:cxn ang="0">
                <a:pos x="0" y="81"/>
              </a:cxn>
              <a:cxn ang="0">
                <a:pos x="5" y="63"/>
              </a:cxn>
              <a:cxn ang="0">
                <a:pos x="11" y="55"/>
              </a:cxn>
              <a:cxn ang="0">
                <a:pos x="51" y="20"/>
              </a:cxn>
              <a:cxn ang="0">
                <a:pos x="58" y="18"/>
              </a:cxn>
              <a:cxn ang="0">
                <a:pos x="62" y="22"/>
              </a:cxn>
              <a:cxn ang="0">
                <a:pos x="68" y="22"/>
              </a:cxn>
              <a:cxn ang="0">
                <a:pos x="82" y="8"/>
              </a:cxn>
              <a:cxn ang="0">
                <a:pos x="92" y="2"/>
              </a:cxn>
              <a:cxn ang="0">
                <a:pos x="102" y="0"/>
              </a:cxn>
              <a:cxn ang="0">
                <a:pos x="115" y="4"/>
              </a:cxn>
              <a:cxn ang="0">
                <a:pos x="117" y="12"/>
              </a:cxn>
              <a:cxn ang="0">
                <a:pos x="111" y="24"/>
              </a:cxn>
              <a:cxn ang="0">
                <a:pos x="102" y="30"/>
              </a:cxn>
              <a:cxn ang="0">
                <a:pos x="86" y="45"/>
              </a:cxn>
              <a:cxn ang="0">
                <a:pos x="80" y="43"/>
              </a:cxn>
              <a:cxn ang="0">
                <a:pos x="80" y="39"/>
              </a:cxn>
              <a:cxn ang="0">
                <a:pos x="82" y="32"/>
              </a:cxn>
              <a:cxn ang="0">
                <a:pos x="84" y="22"/>
              </a:cxn>
              <a:cxn ang="0">
                <a:pos x="84" y="20"/>
              </a:cxn>
              <a:cxn ang="0">
                <a:pos x="76" y="20"/>
              </a:cxn>
              <a:cxn ang="0">
                <a:pos x="72" y="28"/>
              </a:cxn>
              <a:cxn ang="0">
                <a:pos x="72" y="32"/>
              </a:cxn>
              <a:cxn ang="0">
                <a:pos x="72" y="41"/>
              </a:cxn>
              <a:cxn ang="0">
                <a:pos x="66" y="47"/>
              </a:cxn>
              <a:cxn ang="0">
                <a:pos x="64" y="51"/>
              </a:cxn>
              <a:cxn ang="0">
                <a:pos x="68" y="61"/>
              </a:cxn>
              <a:cxn ang="0">
                <a:pos x="66" y="67"/>
              </a:cxn>
              <a:cxn ang="0">
                <a:pos x="60" y="73"/>
              </a:cxn>
              <a:cxn ang="0">
                <a:pos x="39" y="83"/>
              </a:cxn>
              <a:cxn ang="0">
                <a:pos x="35" y="85"/>
              </a:cxn>
              <a:cxn ang="0">
                <a:pos x="25" y="98"/>
              </a:cxn>
              <a:cxn ang="0">
                <a:pos x="23" y="100"/>
              </a:cxn>
              <a:cxn ang="0">
                <a:pos x="25" y="106"/>
              </a:cxn>
              <a:cxn ang="0">
                <a:pos x="31" y="114"/>
              </a:cxn>
              <a:cxn ang="0">
                <a:pos x="31" y="118"/>
              </a:cxn>
              <a:cxn ang="0">
                <a:pos x="23" y="112"/>
              </a:cxn>
              <a:cxn ang="0">
                <a:pos x="15" y="102"/>
              </a:cxn>
              <a:cxn ang="0">
                <a:pos x="15" y="102"/>
              </a:cxn>
            </a:cxnLst>
            <a:rect l="0" t="0" r="r" b="b"/>
            <a:pathLst>
              <a:path w="117" h="118">
                <a:moveTo>
                  <a:pt x="15" y="102"/>
                </a:moveTo>
                <a:lnTo>
                  <a:pt x="15" y="102"/>
                </a:lnTo>
                <a:lnTo>
                  <a:pt x="11" y="100"/>
                </a:lnTo>
                <a:lnTo>
                  <a:pt x="7" y="98"/>
                </a:lnTo>
                <a:lnTo>
                  <a:pt x="5" y="98"/>
                </a:lnTo>
                <a:lnTo>
                  <a:pt x="2" y="90"/>
                </a:lnTo>
                <a:lnTo>
                  <a:pt x="2" y="90"/>
                </a:lnTo>
                <a:lnTo>
                  <a:pt x="0" y="81"/>
                </a:lnTo>
                <a:lnTo>
                  <a:pt x="2" y="71"/>
                </a:lnTo>
                <a:lnTo>
                  <a:pt x="5" y="63"/>
                </a:lnTo>
                <a:lnTo>
                  <a:pt x="11" y="55"/>
                </a:lnTo>
                <a:lnTo>
                  <a:pt x="11" y="55"/>
                </a:lnTo>
                <a:lnTo>
                  <a:pt x="35" y="32"/>
                </a:lnTo>
                <a:lnTo>
                  <a:pt x="51" y="20"/>
                </a:lnTo>
                <a:lnTo>
                  <a:pt x="55" y="16"/>
                </a:lnTo>
                <a:lnTo>
                  <a:pt x="58" y="18"/>
                </a:lnTo>
                <a:lnTo>
                  <a:pt x="58" y="18"/>
                </a:lnTo>
                <a:lnTo>
                  <a:pt x="62" y="22"/>
                </a:lnTo>
                <a:lnTo>
                  <a:pt x="64" y="22"/>
                </a:lnTo>
                <a:lnTo>
                  <a:pt x="68" y="22"/>
                </a:lnTo>
                <a:lnTo>
                  <a:pt x="74" y="18"/>
                </a:lnTo>
                <a:lnTo>
                  <a:pt x="82" y="8"/>
                </a:lnTo>
                <a:lnTo>
                  <a:pt x="88" y="4"/>
                </a:lnTo>
                <a:lnTo>
                  <a:pt x="92" y="2"/>
                </a:lnTo>
                <a:lnTo>
                  <a:pt x="92" y="2"/>
                </a:lnTo>
                <a:lnTo>
                  <a:pt x="102" y="0"/>
                </a:lnTo>
                <a:lnTo>
                  <a:pt x="111" y="2"/>
                </a:lnTo>
                <a:lnTo>
                  <a:pt x="115" y="4"/>
                </a:lnTo>
                <a:lnTo>
                  <a:pt x="117" y="8"/>
                </a:lnTo>
                <a:lnTo>
                  <a:pt x="117" y="12"/>
                </a:lnTo>
                <a:lnTo>
                  <a:pt x="115" y="18"/>
                </a:lnTo>
                <a:lnTo>
                  <a:pt x="111" y="24"/>
                </a:lnTo>
                <a:lnTo>
                  <a:pt x="102" y="30"/>
                </a:lnTo>
                <a:lnTo>
                  <a:pt x="102" y="30"/>
                </a:lnTo>
                <a:lnTo>
                  <a:pt x="92" y="41"/>
                </a:lnTo>
                <a:lnTo>
                  <a:pt x="86" y="45"/>
                </a:lnTo>
                <a:lnTo>
                  <a:pt x="84" y="45"/>
                </a:lnTo>
                <a:lnTo>
                  <a:pt x="80" y="43"/>
                </a:lnTo>
                <a:lnTo>
                  <a:pt x="80" y="43"/>
                </a:lnTo>
                <a:lnTo>
                  <a:pt x="80" y="39"/>
                </a:lnTo>
                <a:lnTo>
                  <a:pt x="80" y="37"/>
                </a:lnTo>
                <a:lnTo>
                  <a:pt x="82" y="32"/>
                </a:lnTo>
                <a:lnTo>
                  <a:pt x="84" y="28"/>
                </a:lnTo>
                <a:lnTo>
                  <a:pt x="84" y="22"/>
                </a:lnTo>
                <a:lnTo>
                  <a:pt x="84" y="22"/>
                </a:lnTo>
                <a:lnTo>
                  <a:pt x="84" y="20"/>
                </a:lnTo>
                <a:lnTo>
                  <a:pt x="82" y="20"/>
                </a:lnTo>
                <a:lnTo>
                  <a:pt x="76" y="20"/>
                </a:lnTo>
                <a:lnTo>
                  <a:pt x="72" y="26"/>
                </a:lnTo>
                <a:lnTo>
                  <a:pt x="72" y="28"/>
                </a:lnTo>
                <a:lnTo>
                  <a:pt x="72" y="32"/>
                </a:lnTo>
                <a:lnTo>
                  <a:pt x="72" y="32"/>
                </a:lnTo>
                <a:lnTo>
                  <a:pt x="74" y="39"/>
                </a:lnTo>
                <a:lnTo>
                  <a:pt x="72" y="41"/>
                </a:lnTo>
                <a:lnTo>
                  <a:pt x="70" y="43"/>
                </a:lnTo>
                <a:lnTo>
                  <a:pt x="66" y="47"/>
                </a:lnTo>
                <a:lnTo>
                  <a:pt x="66" y="47"/>
                </a:lnTo>
                <a:lnTo>
                  <a:pt x="64" y="51"/>
                </a:lnTo>
                <a:lnTo>
                  <a:pt x="66" y="57"/>
                </a:lnTo>
                <a:lnTo>
                  <a:pt x="68" y="61"/>
                </a:lnTo>
                <a:lnTo>
                  <a:pt x="68" y="65"/>
                </a:lnTo>
                <a:lnTo>
                  <a:pt x="66" y="67"/>
                </a:lnTo>
                <a:lnTo>
                  <a:pt x="66" y="67"/>
                </a:lnTo>
                <a:lnTo>
                  <a:pt x="60" y="73"/>
                </a:lnTo>
                <a:lnTo>
                  <a:pt x="53" y="77"/>
                </a:lnTo>
                <a:lnTo>
                  <a:pt x="39" y="83"/>
                </a:lnTo>
                <a:lnTo>
                  <a:pt x="39" y="83"/>
                </a:lnTo>
                <a:lnTo>
                  <a:pt x="35" y="85"/>
                </a:lnTo>
                <a:lnTo>
                  <a:pt x="31" y="90"/>
                </a:lnTo>
                <a:lnTo>
                  <a:pt x="25" y="98"/>
                </a:lnTo>
                <a:lnTo>
                  <a:pt x="25" y="98"/>
                </a:lnTo>
                <a:lnTo>
                  <a:pt x="23" y="100"/>
                </a:lnTo>
                <a:lnTo>
                  <a:pt x="23" y="104"/>
                </a:lnTo>
                <a:lnTo>
                  <a:pt x="25" y="106"/>
                </a:lnTo>
                <a:lnTo>
                  <a:pt x="29" y="110"/>
                </a:lnTo>
                <a:lnTo>
                  <a:pt x="31" y="114"/>
                </a:lnTo>
                <a:lnTo>
                  <a:pt x="31" y="114"/>
                </a:lnTo>
                <a:lnTo>
                  <a:pt x="31" y="118"/>
                </a:lnTo>
                <a:lnTo>
                  <a:pt x="29" y="118"/>
                </a:lnTo>
                <a:lnTo>
                  <a:pt x="23" y="112"/>
                </a:lnTo>
                <a:lnTo>
                  <a:pt x="15" y="102"/>
                </a:lnTo>
                <a:lnTo>
                  <a:pt x="15" y="102"/>
                </a:lnTo>
                <a:lnTo>
                  <a:pt x="15" y="102"/>
                </a:lnTo>
                <a:lnTo>
                  <a:pt x="15" y="102"/>
                </a:lnTo>
                <a:lnTo>
                  <a:pt x="15" y="102"/>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35" name="Freeform 727">
            <a:extLst>
              <a:ext uri="{FF2B5EF4-FFF2-40B4-BE49-F238E27FC236}">
                <a16:creationId xmlns:a16="http://schemas.microsoft.com/office/drawing/2014/main" xmlns="" id="{F4A40DA0-B200-4E0C-8D99-63C4CE9EC50F}"/>
              </a:ext>
            </a:extLst>
          </p:cNvPr>
          <p:cNvSpPr>
            <a:spLocks/>
          </p:cNvSpPr>
          <p:nvPr/>
        </p:nvSpPr>
        <p:spPr bwMode="gray">
          <a:xfrm>
            <a:off x="9879665" y="5294856"/>
            <a:ext cx="61475" cy="90247"/>
          </a:xfrm>
          <a:custGeom>
            <a:avLst/>
            <a:gdLst/>
            <a:ahLst/>
            <a:cxnLst>
              <a:cxn ang="0">
                <a:pos x="9" y="0"/>
              </a:cxn>
              <a:cxn ang="0">
                <a:pos x="9" y="0"/>
              </a:cxn>
              <a:cxn ang="0">
                <a:pos x="2" y="0"/>
              </a:cxn>
              <a:cxn ang="0">
                <a:pos x="0" y="2"/>
              </a:cxn>
              <a:cxn ang="0">
                <a:pos x="2" y="6"/>
              </a:cxn>
              <a:cxn ang="0">
                <a:pos x="4" y="12"/>
              </a:cxn>
              <a:cxn ang="0">
                <a:pos x="17" y="24"/>
              </a:cxn>
              <a:cxn ang="0">
                <a:pos x="17" y="24"/>
              </a:cxn>
              <a:cxn ang="0">
                <a:pos x="19" y="39"/>
              </a:cxn>
              <a:cxn ang="0">
                <a:pos x="23" y="47"/>
              </a:cxn>
              <a:cxn ang="0">
                <a:pos x="37" y="63"/>
              </a:cxn>
              <a:cxn ang="0">
                <a:pos x="37" y="63"/>
              </a:cxn>
              <a:cxn ang="0">
                <a:pos x="41" y="69"/>
              </a:cxn>
              <a:cxn ang="0">
                <a:pos x="43" y="75"/>
              </a:cxn>
              <a:cxn ang="0">
                <a:pos x="47" y="88"/>
              </a:cxn>
              <a:cxn ang="0">
                <a:pos x="51" y="100"/>
              </a:cxn>
              <a:cxn ang="0">
                <a:pos x="53" y="106"/>
              </a:cxn>
              <a:cxn ang="0">
                <a:pos x="60" y="112"/>
              </a:cxn>
              <a:cxn ang="0">
                <a:pos x="60" y="112"/>
              </a:cxn>
              <a:cxn ang="0">
                <a:pos x="68" y="118"/>
              </a:cxn>
              <a:cxn ang="0">
                <a:pos x="70" y="118"/>
              </a:cxn>
              <a:cxn ang="0">
                <a:pos x="72" y="116"/>
              </a:cxn>
              <a:cxn ang="0">
                <a:pos x="74" y="110"/>
              </a:cxn>
              <a:cxn ang="0">
                <a:pos x="72" y="102"/>
              </a:cxn>
              <a:cxn ang="0">
                <a:pos x="72" y="102"/>
              </a:cxn>
              <a:cxn ang="0">
                <a:pos x="72" y="92"/>
              </a:cxn>
              <a:cxn ang="0">
                <a:pos x="74" y="84"/>
              </a:cxn>
              <a:cxn ang="0">
                <a:pos x="80" y="65"/>
              </a:cxn>
              <a:cxn ang="0">
                <a:pos x="80" y="65"/>
              </a:cxn>
              <a:cxn ang="0">
                <a:pos x="82" y="59"/>
              </a:cxn>
              <a:cxn ang="0">
                <a:pos x="80" y="53"/>
              </a:cxn>
              <a:cxn ang="0">
                <a:pos x="76" y="49"/>
              </a:cxn>
              <a:cxn ang="0">
                <a:pos x="72" y="45"/>
              </a:cxn>
              <a:cxn ang="0">
                <a:pos x="60" y="37"/>
              </a:cxn>
              <a:cxn ang="0">
                <a:pos x="51" y="27"/>
              </a:cxn>
              <a:cxn ang="0">
                <a:pos x="51" y="27"/>
              </a:cxn>
              <a:cxn ang="0">
                <a:pos x="47" y="22"/>
              </a:cxn>
              <a:cxn ang="0">
                <a:pos x="43" y="20"/>
              </a:cxn>
              <a:cxn ang="0">
                <a:pos x="31" y="20"/>
              </a:cxn>
              <a:cxn ang="0">
                <a:pos x="23" y="20"/>
              </a:cxn>
              <a:cxn ang="0">
                <a:pos x="19" y="18"/>
              </a:cxn>
              <a:cxn ang="0">
                <a:pos x="17" y="14"/>
              </a:cxn>
              <a:cxn ang="0">
                <a:pos x="17" y="14"/>
              </a:cxn>
              <a:cxn ang="0">
                <a:pos x="15" y="8"/>
              </a:cxn>
              <a:cxn ang="0">
                <a:pos x="13" y="2"/>
              </a:cxn>
              <a:cxn ang="0">
                <a:pos x="9" y="0"/>
              </a:cxn>
              <a:cxn ang="0">
                <a:pos x="9" y="0"/>
              </a:cxn>
            </a:cxnLst>
            <a:rect l="0" t="0" r="r" b="b"/>
            <a:pathLst>
              <a:path w="82" h="118">
                <a:moveTo>
                  <a:pt x="9" y="0"/>
                </a:moveTo>
                <a:lnTo>
                  <a:pt x="9" y="0"/>
                </a:lnTo>
                <a:lnTo>
                  <a:pt x="2" y="0"/>
                </a:lnTo>
                <a:lnTo>
                  <a:pt x="0" y="2"/>
                </a:lnTo>
                <a:lnTo>
                  <a:pt x="2" y="6"/>
                </a:lnTo>
                <a:lnTo>
                  <a:pt x="4" y="12"/>
                </a:lnTo>
                <a:lnTo>
                  <a:pt x="17" y="24"/>
                </a:lnTo>
                <a:lnTo>
                  <a:pt x="17" y="24"/>
                </a:lnTo>
                <a:lnTo>
                  <a:pt x="19" y="39"/>
                </a:lnTo>
                <a:lnTo>
                  <a:pt x="23" y="47"/>
                </a:lnTo>
                <a:lnTo>
                  <a:pt x="37" y="63"/>
                </a:lnTo>
                <a:lnTo>
                  <a:pt x="37" y="63"/>
                </a:lnTo>
                <a:lnTo>
                  <a:pt x="41" y="69"/>
                </a:lnTo>
                <a:lnTo>
                  <a:pt x="43" y="75"/>
                </a:lnTo>
                <a:lnTo>
                  <a:pt x="47" y="88"/>
                </a:lnTo>
                <a:lnTo>
                  <a:pt x="51" y="100"/>
                </a:lnTo>
                <a:lnTo>
                  <a:pt x="53" y="106"/>
                </a:lnTo>
                <a:lnTo>
                  <a:pt x="60" y="112"/>
                </a:lnTo>
                <a:lnTo>
                  <a:pt x="60" y="112"/>
                </a:lnTo>
                <a:lnTo>
                  <a:pt x="68" y="118"/>
                </a:lnTo>
                <a:lnTo>
                  <a:pt x="70" y="118"/>
                </a:lnTo>
                <a:lnTo>
                  <a:pt x="72" y="116"/>
                </a:lnTo>
                <a:lnTo>
                  <a:pt x="74" y="110"/>
                </a:lnTo>
                <a:lnTo>
                  <a:pt x="72" y="102"/>
                </a:lnTo>
                <a:lnTo>
                  <a:pt x="72" y="102"/>
                </a:lnTo>
                <a:lnTo>
                  <a:pt x="72" y="92"/>
                </a:lnTo>
                <a:lnTo>
                  <a:pt x="74" y="84"/>
                </a:lnTo>
                <a:lnTo>
                  <a:pt x="80" y="65"/>
                </a:lnTo>
                <a:lnTo>
                  <a:pt x="80" y="65"/>
                </a:lnTo>
                <a:lnTo>
                  <a:pt x="82" y="59"/>
                </a:lnTo>
                <a:lnTo>
                  <a:pt x="80" y="53"/>
                </a:lnTo>
                <a:lnTo>
                  <a:pt x="76" y="49"/>
                </a:lnTo>
                <a:lnTo>
                  <a:pt x="72" y="45"/>
                </a:lnTo>
                <a:lnTo>
                  <a:pt x="60" y="37"/>
                </a:lnTo>
                <a:lnTo>
                  <a:pt x="51" y="27"/>
                </a:lnTo>
                <a:lnTo>
                  <a:pt x="51" y="27"/>
                </a:lnTo>
                <a:lnTo>
                  <a:pt x="47" y="22"/>
                </a:lnTo>
                <a:lnTo>
                  <a:pt x="43" y="20"/>
                </a:lnTo>
                <a:lnTo>
                  <a:pt x="31" y="20"/>
                </a:lnTo>
                <a:lnTo>
                  <a:pt x="23" y="20"/>
                </a:lnTo>
                <a:lnTo>
                  <a:pt x="19" y="18"/>
                </a:lnTo>
                <a:lnTo>
                  <a:pt x="17" y="14"/>
                </a:lnTo>
                <a:lnTo>
                  <a:pt x="17" y="14"/>
                </a:lnTo>
                <a:lnTo>
                  <a:pt x="15" y="8"/>
                </a:lnTo>
                <a:lnTo>
                  <a:pt x="13" y="2"/>
                </a:lnTo>
                <a:lnTo>
                  <a:pt x="9" y="0"/>
                </a:lnTo>
                <a:lnTo>
                  <a:pt x="9" y="0"/>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36" name="Freeform 728">
            <a:extLst>
              <a:ext uri="{FF2B5EF4-FFF2-40B4-BE49-F238E27FC236}">
                <a16:creationId xmlns:a16="http://schemas.microsoft.com/office/drawing/2014/main" xmlns="" id="{869BF168-288D-4A62-9240-BE4ABC3E80C1}"/>
              </a:ext>
            </a:extLst>
          </p:cNvPr>
          <p:cNvSpPr>
            <a:spLocks/>
          </p:cNvSpPr>
          <p:nvPr/>
        </p:nvSpPr>
        <p:spPr bwMode="gray">
          <a:xfrm>
            <a:off x="9962131" y="5176311"/>
            <a:ext cx="65973" cy="23709"/>
          </a:xfrm>
          <a:custGeom>
            <a:avLst/>
            <a:gdLst/>
            <a:ahLst/>
            <a:cxnLst>
              <a:cxn ang="0">
                <a:pos x="29" y="31"/>
              </a:cxn>
              <a:cxn ang="0">
                <a:pos x="29" y="31"/>
              </a:cxn>
              <a:cxn ang="0">
                <a:pos x="35" y="29"/>
              </a:cxn>
              <a:cxn ang="0">
                <a:pos x="41" y="25"/>
              </a:cxn>
              <a:cxn ang="0">
                <a:pos x="47" y="23"/>
              </a:cxn>
              <a:cxn ang="0">
                <a:pos x="54" y="20"/>
              </a:cxn>
              <a:cxn ang="0">
                <a:pos x="54" y="20"/>
              </a:cxn>
              <a:cxn ang="0">
                <a:pos x="76" y="25"/>
              </a:cxn>
              <a:cxn ang="0">
                <a:pos x="82" y="25"/>
              </a:cxn>
              <a:cxn ang="0">
                <a:pos x="88" y="23"/>
              </a:cxn>
              <a:cxn ang="0">
                <a:pos x="88" y="18"/>
              </a:cxn>
              <a:cxn ang="0">
                <a:pos x="86" y="14"/>
              </a:cxn>
              <a:cxn ang="0">
                <a:pos x="86" y="14"/>
              </a:cxn>
              <a:cxn ang="0">
                <a:pos x="78" y="8"/>
              </a:cxn>
              <a:cxn ang="0">
                <a:pos x="70" y="4"/>
              </a:cxn>
              <a:cxn ang="0">
                <a:pos x="60" y="2"/>
              </a:cxn>
              <a:cxn ang="0">
                <a:pos x="49" y="0"/>
              </a:cxn>
              <a:cxn ang="0">
                <a:pos x="39" y="0"/>
              </a:cxn>
              <a:cxn ang="0">
                <a:pos x="29" y="0"/>
              </a:cxn>
              <a:cxn ang="0">
                <a:pos x="19" y="4"/>
              </a:cxn>
              <a:cxn ang="0">
                <a:pos x="13" y="8"/>
              </a:cxn>
              <a:cxn ang="0">
                <a:pos x="13" y="8"/>
              </a:cxn>
              <a:cxn ang="0">
                <a:pos x="5" y="12"/>
              </a:cxn>
              <a:cxn ang="0">
                <a:pos x="0" y="18"/>
              </a:cxn>
              <a:cxn ang="0">
                <a:pos x="0" y="23"/>
              </a:cxn>
              <a:cxn ang="0">
                <a:pos x="3" y="27"/>
              </a:cxn>
              <a:cxn ang="0">
                <a:pos x="9" y="29"/>
              </a:cxn>
              <a:cxn ang="0">
                <a:pos x="15" y="31"/>
              </a:cxn>
              <a:cxn ang="0">
                <a:pos x="21" y="31"/>
              </a:cxn>
              <a:cxn ang="0">
                <a:pos x="29" y="31"/>
              </a:cxn>
              <a:cxn ang="0">
                <a:pos x="29" y="31"/>
              </a:cxn>
              <a:cxn ang="0">
                <a:pos x="31" y="31"/>
              </a:cxn>
              <a:cxn ang="0">
                <a:pos x="29" y="31"/>
              </a:cxn>
              <a:cxn ang="0">
                <a:pos x="29" y="31"/>
              </a:cxn>
            </a:cxnLst>
            <a:rect l="0" t="0" r="r" b="b"/>
            <a:pathLst>
              <a:path w="88" h="31">
                <a:moveTo>
                  <a:pt x="29" y="31"/>
                </a:moveTo>
                <a:lnTo>
                  <a:pt x="29" y="31"/>
                </a:lnTo>
                <a:lnTo>
                  <a:pt x="35" y="29"/>
                </a:lnTo>
                <a:lnTo>
                  <a:pt x="41" y="25"/>
                </a:lnTo>
                <a:lnTo>
                  <a:pt x="47" y="23"/>
                </a:lnTo>
                <a:lnTo>
                  <a:pt x="54" y="20"/>
                </a:lnTo>
                <a:lnTo>
                  <a:pt x="54" y="20"/>
                </a:lnTo>
                <a:lnTo>
                  <a:pt x="76" y="25"/>
                </a:lnTo>
                <a:lnTo>
                  <a:pt x="82" y="25"/>
                </a:lnTo>
                <a:lnTo>
                  <a:pt x="88" y="23"/>
                </a:lnTo>
                <a:lnTo>
                  <a:pt x="88" y="18"/>
                </a:lnTo>
                <a:lnTo>
                  <a:pt x="86" y="14"/>
                </a:lnTo>
                <a:lnTo>
                  <a:pt x="86" y="14"/>
                </a:lnTo>
                <a:lnTo>
                  <a:pt x="78" y="8"/>
                </a:lnTo>
                <a:lnTo>
                  <a:pt x="70" y="4"/>
                </a:lnTo>
                <a:lnTo>
                  <a:pt x="60" y="2"/>
                </a:lnTo>
                <a:lnTo>
                  <a:pt x="49" y="0"/>
                </a:lnTo>
                <a:lnTo>
                  <a:pt x="39" y="0"/>
                </a:lnTo>
                <a:lnTo>
                  <a:pt x="29" y="0"/>
                </a:lnTo>
                <a:lnTo>
                  <a:pt x="19" y="4"/>
                </a:lnTo>
                <a:lnTo>
                  <a:pt x="13" y="8"/>
                </a:lnTo>
                <a:lnTo>
                  <a:pt x="13" y="8"/>
                </a:lnTo>
                <a:lnTo>
                  <a:pt x="5" y="12"/>
                </a:lnTo>
                <a:lnTo>
                  <a:pt x="0" y="18"/>
                </a:lnTo>
                <a:lnTo>
                  <a:pt x="0" y="23"/>
                </a:lnTo>
                <a:lnTo>
                  <a:pt x="3" y="27"/>
                </a:lnTo>
                <a:lnTo>
                  <a:pt x="9" y="29"/>
                </a:lnTo>
                <a:lnTo>
                  <a:pt x="15" y="31"/>
                </a:lnTo>
                <a:lnTo>
                  <a:pt x="21" y="31"/>
                </a:lnTo>
                <a:lnTo>
                  <a:pt x="29" y="31"/>
                </a:lnTo>
                <a:lnTo>
                  <a:pt x="29" y="31"/>
                </a:lnTo>
                <a:lnTo>
                  <a:pt x="31" y="31"/>
                </a:lnTo>
                <a:lnTo>
                  <a:pt x="29" y="31"/>
                </a:lnTo>
                <a:lnTo>
                  <a:pt x="29" y="31"/>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37" name="Freeform 729">
            <a:extLst>
              <a:ext uri="{FF2B5EF4-FFF2-40B4-BE49-F238E27FC236}">
                <a16:creationId xmlns:a16="http://schemas.microsoft.com/office/drawing/2014/main" xmlns="" id="{81AFE011-4F13-4B8A-8A5B-9FC8512A07E9}"/>
              </a:ext>
            </a:extLst>
          </p:cNvPr>
          <p:cNvSpPr>
            <a:spLocks/>
          </p:cNvSpPr>
          <p:nvPr/>
        </p:nvSpPr>
        <p:spPr bwMode="gray">
          <a:xfrm>
            <a:off x="9960632" y="5383574"/>
            <a:ext cx="58476" cy="23709"/>
          </a:xfrm>
          <a:custGeom>
            <a:avLst/>
            <a:gdLst/>
            <a:ahLst/>
            <a:cxnLst>
              <a:cxn ang="0">
                <a:pos x="27" y="8"/>
              </a:cxn>
              <a:cxn ang="0">
                <a:pos x="27" y="8"/>
              </a:cxn>
              <a:cxn ang="0">
                <a:pos x="31" y="6"/>
              </a:cxn>
              <a:cxn ang="0">
                <a:pos x="35" y="4"/>
              </a:cxn>
              <a:cxn ang="0">
                <a:pos x="39" y="0"/>
              </a:cxn>
              <a:cxn ang="0">
                <a:pos x="43" y="0"/>
              </a:cxn>
              <a:cxn ang="0">
                <a:pos x="45" y="2"/>
              </a:cxn>
              <a:cxn ang="0">
                <a:pos x="45" y="2"/>
              </a:cxn>
              <a:cxn ang="0">
                <a:pos x="64" y="12"/>
              </a:cxn>
              <a:cxn ang="0">
                <a:pos x="74" y="19"/>
              </a:cxn>
              <a:cxn ang="0">
                <a:pos x="78" y="23"/>
              </a:cxn>
              <a:cxn ang="0">
                <a:pos x="78" y="27"/>
              </a:cxn>
              <a:cxn ang="0">
                <a:pos x="78" y="27"/>
              </a:cxn>
              <a:cxn ang="0">
                <a:pos x="64" y="29"/>
              </a:cxn>
              <a:cxn ang="0">
                <a:pos x="47" y="31"/>
              </a:cxn>
              <a:cxn ang="0">
                <a:pos x="25" y="29"/>
              </a:cxn>
              <a:cxn ang="0">
                <a:pos x="25" y="29"/>
              </a:cxn>
              <a:cxn ang="0">
                <a:pos x="15" y="27"/>
              </a:cxn>
              <a:cxn ang="0">
                <a:pos x="7" y="25"/>
              </a:cxn>
              <a:cxn ang="0">
                <a:pos x="2" y="21"/>
              </a:cxn>
              <a:cxn ang="0">
                <a:pos x="0" y="15"/>
              </a:cxn>
              <a:cxn ang="0">
                <a:pos x="2" y="12"/>
              </a:cxn>
              <a:cxn ang="0">
                <a:pos x="7" y="8"/>
              </a:cxn>
              <a:cxn ang="0">
                <a:pos x="15" y="8"/>
              </a:cxn>
              <a:cxn ang="0">
                <a:pos x="27" y="8"/>
              </a:cxn>
              <a:cxn ang="0">
                <a:pos x="27" y="8"/>
              </a:cxn>
              <a:cxn ang="0">
                <a:pos x="19" y="6"/>
              </a:cxn>
              <a:cxn ang="0">
                <a:pos x="27" y="8"/>
              </a:cxn>
              <a:cxn ang="0">
                <a:pos x="27" y="8"/>
              </a:cxn>
            </a:cxnLst>
            <a:rect l="0" t="0" r="r" b="b"/>
            <a:pathLst>
              <a:path w="78" h="31">
                <a:moveTo>
                  <a:pt x="27" y="8"/>
                </a:moveTo>
                <a:lnTo>
                  <a:pt x="27" y="8"/>
                </a:lnTo>
                <a:lnTo>
                  <a:pt x="31" y="6"/>
                </a:lnTo>
                <a:lnTo>
                  <a:pt x="35" y="4"/>
                </a:lnTo>
                <a:lnTo>
                  <a:pt x="39" y="0"/>
                </a:lnTo>
                <a:lnTo>
                  <a:pt x="43" y="0"/>
                </a:lnTo>
                <a:lnTo>
                  <a:pt x="45" y="2"/>
                </a:lnTo>
                <a:lnTo>
                  <a:pt x="45" y="2"/>
                </a:lnTo>
                <a:lnTo>
                  <a:pt x="64" y="12"/>
                </a:lnTo>
                <a:lnTo>
                  <a:pt x="74" y="19"/>
                </a:lnTo>
                <a:lnTo>
                  <a:pt x="78" y="23"/>
                </a:lnTo>
                <a:lnTo>
                  <a:pt x="78" y="27"/>
                </a:lnTo>
                <a:lnTo>
                  <a:pt x="78" y="27"/>
                </a:lnTo>
                <a:lnTo>
                  <a:pt x="64" y="29"/>
                </a:lnTo>
                <a:lnTo>
                  <a:pt x="47" y="31"/>
                </a:lnTo>
                <a:lnTo>
                  <a:pt x="25" y="29"/>
                </a:lnTo>
                <a:lnTo>
                  <a:pt x="25" y="29"/>
                </a:lnTo>
                <a:lnTo>
                  <a:pt x="15" y="27"/>
                </a:lnTo>
                <a:lnTo>
                  <a:pt x="7" y="25"/>
                </a:lnTo>
                <a:lnTo>
                  <a:pt x="2" y="21"/>
                </a:lnTo>
                <a:lnTo>
                  <a:pt x="0" y="15"/>
                </a:lnTo>
                <a:lnTo>
                  <a:pt x="2" y="12"/>
                </a:lnTo>
                <a:lnTo>
                  <a:pt x="7" y="8"/>
                </a:lnTo>
                <a:lnTo>
                  <a:pt x="15" y="8"/>
                </a:lnTo>
                <a:lnTo>
                  <a:pt x="27" y="8"/>
                </a:lnTo>
                <a:lnTo>
                  <a:pt x="27" y="8"/>
                </a:lnTo>
                <a:lnTo>
                  <a:pt x="19" y="6"/>
                </a:lnTo>
                <a:lnTo>
                  <a:pt x="27" y="8"/>
                </a:lnTo>
                <a:lnTo>
                  <a:pt x="27" y="8"/>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38" name="矩形 51">
            <a:extLst>
              <a:ext uri="{FF2B5EF4-FFF2-40B4-BE49-F238E27FC236}">
                <a16:creationId xmlns:a16="http://schemas.microsoft.com/office/drawing/2014/main" xmlns="" id="{F917C425-33E6-45ED-AE3D-48E3D718E0A0}"/>
              </a:ext>
            </a:extLst>
          </p:cNvPr>
          <p:cNvSpPr>
            <a:spLocks noChangeArrowheads="1"/>
          </p:cNvSpPr>
          <p:nvPr/>
        </p:nvSpPr>
        <p:spPr bwMode="gray">
          <a:xfrm>
            <a:off x="10066781" y="5177158"/>
            <a:ext cx="740854" cy="276973"/>
          </a:xfrm>
          <a:prstGeom prst="rect">
            <a:avLst/>
          </a:prstGeom>
          <a:noFill/>
          <a:ln w="9525">
            <a:noFill/>
            <a:miter lim="800000"/>
            <a:headEnd/>
            <a:tailEnd/>
          </a:ln>
        </p:spPr>
        <p:txBody>
          <a:bodyPr wrap="none" lIns="91413" tIns="45707" rIns="91413" bIns="45707">
            <a:spAutoFit/>
          </a:bodyPr>
          <a:lstStyle/>
          <a:p>
            <a:pPr algn="ctr"/>
            <a:r>
              <a:rPr lang="en-US" altLang="zh-CN" sz="1200" dirty="0">
                <a:latin typeface="Huawei Sans" panose="020C0503030203020204" pitchFamily="34" charset="0"/>
                <a:ea typeface="方正兰亭黑简体" panose="02000000000000000000" pitchFamily="2" charset="-122"/>
                <a:sym typeface="Arial" pitchFamily="34" charset="0"/>
              </a:rPr>
              <a:t>Internet</a:t>
            </a:r>
            <a:endParaRPr lang="zh-CN" altLang="en-US" sz="1200" dirty="0">
              <a:latin typeface="Huawei Sans" panose="020C0503030203020204" pitchFamily="34" charset="0"/>
              <a:ea typeface="方正兰亭黑简体" panose="02000000000000000000" pitchFamily="2" charset="-122"/>
              <a:sym typeface="Arial" pitchFamily="34" charset="0"/>
            </a:endParaRPr>
          </a:p>
        </p:txBody>
      </p:sp>
      <p:sp>
        <p:nvSpPr>
          <p:cNvPr id="39" name="Freeform 721">
            <a:extLst>
              <a:ext uri="{FF2B5EF4-FFF2-40B4-BE49-F238E27FC236}">
                <a16:creationId xmlns:a16="http://schemas.microsoft.com/office/drawing/2014/main" xmlns="" id="{DD12A4FA-E0B9-4258-ACE9-915B3BA9E6A1}"/>
              </a:ext>
            </a:extLst>
          </p:cNvPr>
          <p:cNvSpPr>
            <a:spLocks/>
          </p:cNvSpPr>
          <p:nvPr/>
        </p:nvSpPr>
        <p:spPr bwMode="gray">
          <a:xfrm>
            <a:off x="9851177" y="4707501"/>
            <a:ext cx="284133" cy="292156"/>
          </a:xfrm>
          <a:custGeom>
            <a:avLst/>
            <a:gdLst/>
            <a:ahLst/>
            <a:cxnLst>
              <a:cxn ang="0">
                <a:pos x="346" y="190"/>
              </a:cxn>
              <a:cxn ang="0">
                <a:pos x="338" y="237"/>
              </a:cxn>
              <a:cxn ang="0">
                <a:pos x="320" y="278"/>
              </a:cxn>
              <a:cxn ang="0">
                <a:pos x="299" y="302"/>
              </a:cxn>
              <a:cxn ang="0">
                <a:pos x="265" y="329"/>
              </a:cxn>
              <a:cxn ang="0">
                <a:pos x="220" y="345"/>
              </a:cxn>
              <a:cxn ang="0">
                <a:pos x="189" y="347"/>
              </a:cxn>
              <a:cxn ang="0">
                <a:pos x="142" y="341"/>
              </a:cxn>
              <a:cxn ang="0">
                <a:pos x="102" y="320"/>
              </a:cxn>
              <a:cxn ang="0">
                <a:pos x="79" y="302"/>
              </a:cxn>
              <a:cxn ang="0">
                <a:pos x="51" y="265"/>
              </a:cxn>
              <a:cxn ang="0">
                <a:pos x="36" y="223"/>
              </a:cxn>
              <a:cxn ang="0">
                <a:pos x="32" y="190"/>
              </a:cxn>
              <a:cxn ang="0">
                <a:pos x="38" y="143"/>
              </a:cxn>
              <a:cxn ang="0">
                <a:pos x="59" y="102"/>
              </a:cxn>
              <a:cxn ang="0">
                <a:pos x="79" y="80"/>
              </a:cxn>
              <a:cxn ang="0">
                <a:pos x="114" y="53"/>
              </a:cxn>
              <a:cxn ang="0">
                <a:pos x="157" y="37"/>
              </a:cxn>
              <a:cxn ang="0">
                <a:pos x="189" y="33"/>
              </a:cxn>
              <a:cxn ang="0">
                <a:pos x="236" y="41"/>
              </a:cxn>
              <a:cxn ang="0">
                <a:pos x="277" y="62"/>
              </a:cxn>
              <a:cxn ang="0">
                <a:pos x="299" y="80"/>
              </a:cxn>
              <a:cxn ang="0">
                <a:pos x="328" y="117"/>
              </a:cxn>
              <a:cxn ang="0">
                <a:pos x="342" y="159"/>
              </a:cxn>
              <a:cxn ang="0">
                <a:pos x="363" y="190"/>
              </a:cxn>
              <a:cxn ang="0">
                <a:pos x="379" y="172"/>
              </a:cxn>
              <a:cxn ang="0">
                <a:pos x="365" y="117"/>
              </a:cxn>
              <a:cxn ang="0">
                <a:pos x="336" y="70"/>
              </a:cxn>
              <a:cxn ang="0">
                <a:pos x="295" y="33"/>
              </a:cxn>
              <a:cxn ang="0">
                <a:pos x="246" y="8"/>
              </a:cxn>
              <a:cxn ang="0">
                <a:pos x="189" y="0"/>
              </a:cxn>
              <a:cxn ang="0">
                <a:pos x="151" y="4"/>
              </a:cxn>
              <a:cxn ang="0">
                <a:pos x="98" y="23"/>
              </a:cxn>
              <a:cxn ang="0">
                <a:pos x="55" y="55"/>
              </a:cxn>
              <a:cxn ang="0">
                <a:pos x="22" y="100"/>
              </a:cxn>
              <a:cxn ang="0">
                <a:pos x="4" y="151"/>
              </a:cxn>
              <a:cxn ang="0">
                <a:pos x="0" y="190"/>
              </a:cxn>
              <a:cxn ang="0">
                <a:pos x="8" y="247"/>
              </a:cxn>
              <a:cxn ang="0">
                <a:pos x="32" y="296"/>
              </a:cxn>
              <a:cxn ang="0">
                <a:pos x="69" y="337"/>
              </a:cxn>
              <a:cxn ang="0">
                <a:pos x="116" y="365"/>
              </a:cxn>
              <a:cxn ang="0">
                <a:pos x="169" y="380"/>
              </a:cxn>
              <a:cxn ang="0">
                <a:pos x="208" y="380"/>
              </a:cxn>
              <a:cxn ang="0">
                <a:pos x="263" y="365"/>
              </a:cxn>
              <a:cxn ang="0">
                <a:pos x="310" y="337"/>
              </a:cxn>
              <a:cxn ang="0">
                <a:pos x="346" y="296"/>
              </a:cxn>
              <a:cxn ang="0">
                <a:pos x="371" y="247"/>
              </a:cxn>
              <a:cxn ang="0">
                <a:pos x="379" y="190"/>
              </a:cxn>
            </a:cxnLst>
            <a:rect l="0" t="0" r="r" b="b"/>
            <a:pathLst>
              <a:path w="379" h="382">
                <a:moveTo>
                  <a:pt x="363" y="190"/>
                </a:moveTo>
                <a:lnTo>
                  <a:pt x="346" y="190"/>
                </a:lnTo>
                <a:lnTo>
                  <a:pt x="346" y="190"/>
                </a:lnTo>
                <a:lnTo>
                  <a:pt x="344" y="206"/>
                </a:lnTo>
                <a:lnTo>
                  <a:pt x="342" y="223"/>
                </a:lnTo>
                <a:lnTo>
                  <a:pt x="338" y="237"/>
                </a:lnTo>
                <a:lnTo>
                  <a:pt x="334" y="251"/>
                </a:lnTo>
                <a:lnTo>
                  <a:pt x="328" y="265"/>
                </a:lnTo>
                <a:lnTo>
                  <a:pt x="320" y="278"/>
                </a:lnTo>
                <a:lnTo>
                  <a:pt x="310" y="290"/>
                </a:lnTo>
                <a:lnTo>
                  <a:pt x="299" y="302"/>
                </a:lnTo>
                <a:lnTo>
                  <a:pt x="299" y="302"/>
                </a:lnTo>
                <a:lnTo>
                  <a:pt x="289" y="312"/>
                </a:lnTo>
                <a:lnTo>
                  <a:pt x="277" y="320"/>
                </a:lnTo>
                <a:lnTo>
                  <a:pt x="265" y="329"/>
                </a:lnTo>
                <a:lnTo>
                  <a:pt x="250" y="335"/>
                </a:lnTo>
                <a:lnTo>
                  <a:pt x="236" y="341"/>
                </a:lnTo>
                <a:lnTo>
                  <a:pt x="220" y="345"/>
                </a:lnTo>
                <a:lnTo>
                  <a:pt x="206" y="347"/>
                </a:lnTo>
                <a:lnTo>
                  <a:pt x="189" y="347"/>
                </a:lnTo>
                <a:lnTo>
                  <a:pt x="189" y="347"/>
                </a:lnTo>
                <a:lnTo>
                  <a:pt x="173" y="347"/>
                </a:lnTo>
                <a:lnTo>
                  <a:pt x="157" y="345"/>
                </a:lnTo>
                <a:lnTo>
                  <a:pt x="142" y="341"/>
                </a:lnTo>
                <a:lnTo>
                  <a:pt x="128" y="335"/>
                </a:lnTo>
                <a:lnTo>
                  <a:pt x="114" y="329"/>
                </a:lnTo>
                <a:lnTo>
                  <a:pt x="102" y="320"/>
                </a:lnTo>
                <a:lnTo>
                  <a:pt x="89" y="312"/>
                </a:lnTo>
                <a:lnTo>
                  <a:pt x="79" y="302"/>
                </a:lnTo>
                <a:lnTo>
                  <a:pt x="79" y="302"/>
                </a:lnTo>
                <a:lnTo>
                  <a:pt x="69" y="290"/>
                </a:lnTo>
                <a:lnTo>
                  <a:pt x="59" y="278"/>
                </a:lnTo>
                <a:lnTo>
                  <a:pt x="51" y="265"/>
                </a:lnTo>
                <a:lnTo>
                  <a:pt x="45" y="251"/>
                </a:lnTo>
                <a:lnTo>
                  <a:pt x="38" y="237"/>
                </a:lnTo>
                <a:lnTo>
                  <a:pt x="36" y="223"/>
                </a:lnTo>
                <a:lnTo>
                  <a:pt x="32" y="206"/>
                </a:lnTo>
                <a:lnTo>
                  <a:pt x="32" y="190"/>
                </a:lnTo>
                <a:lnTo>
                  <a:pt x="32" y="190"/>
                </a:lnTo>
                <a:lnTo>
                  <a:pt x="32" y="174"/>
                </a:lnTo>
                <a:lnTo>
                  <a:pt x="36" y="159"/>
                </a:lnTo>
                <a:lnTo>
                  <a:pt x="38" y="143"/>
                </a:lnTo>
                <a:lnTo>
                  <a:pt x="45" y="129"/>
                </a:lnTo>
                <a:lnTo>
                  <a:pt x="51" y="117"/>
                </a:lnTo>
                <a:lnTo>
                  <a:pt x="59" y="102"/>
                </a:lnTo>
                <a:lnTo>
                  <a:pt x="69" y="90"/>
                </a:lnTo>
                <a:lnTo>
                  <a:pt x="79" y="80"/>
                </a:lnTo>
                <a:lnTo>
                  <a:pt x="79" y="80"/>
                </a:lnTo>
                <a:lnTo>
                  <a:pt x="89" y="70"/>
                </a:lnTo>
                <a:lnTo>
                  <a:pt x="102" y="62"/>
                </a:lnTo>
                <a:lnTo>
                  <a:pt x="114" y="53"/>
                </a:lnTo>
                <a:lnTo>
                  <a:pt x="128" y="45"/>
                </a:lnTo>
                <a:lnTo>
                  <a:pt x="142" y="41"/>
                </a:lnTo>
                <a:lnTo>
                  <a:pt x="157" y="37"/>
                </a:lnTo>
                <a:lnTo>
                  <a:pt x="173" y="35"/>
                </a:lnTo>
                <a:lnTo>
                  <a:pt x="189" y="33"/>
                </a:lnTo>
                <a:lnTo>
                  <a:pt x="189" y="33"/>
                </a:lnTo>
                <a:lnTo>
                  <a:pt x="206" y="35"/>
                </a:lnTo>
                <a:lnTo>
                  <a:pt x="220" y="37"/>
                </a:lnTo>
                <a:lnTo>
                  <a:pt x="236" y="41"/>
                </a:lnTo>
                <a:lnTo>
                  <a:pt x="250" y="45"/>
                </a:lnTo>
                <a:lnTo>
                  <a:pt x="265" y="53"/>
                </a:lnTo>
                <a:lnTo>
                  <a:pt x="277" y="62"/>
                </a:lnTo>
                <a:lnTo>
                  <a:pt x="289" y="70"/>
                </a:lnTo>
                <a:lnTo>
                  <a:pt x="299" y="80"/>
                </a:lnTo>
                <a:lnTo>
                  <a:pt x="299" y="80"/>
                </a:lnTo>
                <a:lnTo>
                  <a:pt x="310" y="90"/>
                </a:lnTo>
                <a:lnTo>
                  <a:pt x="320" y="102"/>
                </a:lnTo>
                <a:lnTo>
                  <a:pt x="328" y="117"/>
                </a:lnTo>
                <a:lnTo>
                  <a:pt x="334" y="129"/>
                </a:lnTo>
                <a:lnTo>
                  <a:pt x="338" y="143"/>
                </a:lnTo>
                <a:lnTo>
                  <a:pt x="342" y="159"/>
                </a:lnTo>
                <a:lnTo>
                  <a:pt x="344" y="174"/>
                </a:lnTo>
                <a:lnTo>
                  <a:pt x="346" y="190"/>
                </a:lnTo>
                <a:lnTo>
                  <a:pt x="363" y="190"/>
                </a:lnTo>
                <a:lnTo>
                  <a:pt x="379" y="190"/>
                </a:lnTo>
                <a:lnTo>
                  <a:pt x="379" y="190"/>
                </a:lnTo>
                <a:lnTo>
                  <a:pt x="379" y="172"/>
                </a:lnTo>
                <a:lnTo>
                  <a:pt x="375" y="151"/>
                </a:lnTo>
                <a:lnTo>
                  <a:pt x="371" y="135"/>
                </a:lnTo>
                <a:lnTo>
                  <a:pt x="365" y="117"/>
                </a:lnTo>
                <a:lnTo>
                  <a:pt x="356" y="100"/>
                </a:lnTo>
                <a:lnTo>
                  <a:pt x="346" y="84"/>
                </a:lnTo>
                <a:lnTo>
                  <a:pt x="336" y="70"/>
                </a:lnTo>
                <a:lnTo>
                  <a:pt x="324" y="55"/>
                </a:lnTo>
                <a:lnTo>
                  <a:pt x="310" y="43"/>
                </a:lnTo>
                <a:lnTo>
                  <a:pt x="295" y="33"/>
                </a:lnTo>
                <a:lnTo>
                  <a:pt x="279" y="23"/>
                </a:lnTo>
                <a:lnTo>
                  <a:pt x="263" y="15"/>
                </a:lnTo>
                <a:lnTo>
                  <a:pt x="246" y="8"/>
                </a:lnTo>
                <a:lnTo>
                  <a:pt x="228" y="4"/>
                </a:lnTo>
                <a:lnTo>
                  <a:pt x="208" y="2"/>
                </a:lnTo>
                <a:lnTo>
                  <a:pt x="189" y="0"/>
                </a:lnTo>
                <a:lnTo>
                  <a:pt x="189" y="0"/>
                </a:lnTo>
                <a:lnTo>
                  <a:pt x="169" y="2"/>
                </a:lnTo>
                <a:lnTo>
                  <a:pt x="151" y="4"/>
                </a:lnTo>
                <a:lnTo>
                  <a:pt x="132" y="8"/>
                </a:lnTo>
                <a:lnTo>
                  <a:pt x="116" y="15"/>
                </a:lnTo>
                <a:lnTo>
                  <a:pt x="98" y="23"/>
                </a:lnTo>
                <a:lnTo>
                  <a:pt x="83" y="33"/>
                </a:lnTo>
                <a:lnTo>
                  <a:pt x="69" y="43"/>
                </a:lnTo>
                <a:lnTo>
                  <a:pt x="55" y="55"/>
                </a:lnTo>
                <a:lnTo>
                  <a:pt x="42" y="70"/>
                </a:lnTo>
                <a:lnTo>
                  <a:pt x="32" y="84"/>
                </a:lnTo>
                <a:lnTo>
                  <a:pt x="22" y="100"/>
                </a:lnTo>
                <a:lnTo>
                  <a:pt x="14" y="117"/>
                </a:lnTo>
                <a:lnTo>
                  <a:pt x="8" y="135"/>
                </a:lnTo>
                <a:lnTo>
                  <a:pt x="4" y="151"/>
                </a:lnTo>
                <a:lnTo>
                  <a:pt x="0" y="172"/>
                </a:lnTo>
                <a:lnTo>
                  <a:pt x="0" y="190"/>
                </a:lnTo>
                <a:lnTo>
                  <a:pt x="0" y="190"/>
                </a:lnTo>
                <a:lnTo>
                  <a:pt x="0" y="210"/>
                </a:lnTo>
                <a:lnTo>
                  <a:pt x="4" y="229"/>
                </a:lnTo>
                <a:lnTo>
                  <a:pt x="8" y="247"/>
                </a:lnTo>
                <a:lnTo>
                  <a:pt x="14" y="265"/>
                </a:lnTo>
                <a:lnTo>
                  <a:pt x="22" y="282"/>
                </a:lnTo>
                <a:lnTo>
                  <a:pt x="32" y="296"/>
                </a:lnTo>
                <a:lnTo>
                  <a:pt x="42" y="312"/>
                </a:lnTo>
                <a:lnTo>
                  <a:pt x="55" y="325"/>
                </a:lnTo>
                <a:lnTo>
                  <a:pt x="69" y="337"/>
                </a:lnTo>
                <a:lnTo>
                  <a:pt x="83" y="349"/>
                </a:lnTo>
                <a:lnTo>
                  <a:pt x="98" y="357"/>
                </a:lnTo>
                <a:lnTo>
                  <a:pt x="116" y="365"/>
                </a:lnTo>
                <a:lnTo>
                  <a:pt x="132" y="371"/>
                </a:lnTo>
                <a:lnTo>
                  <a:pt x="151" y="378"/>
                </a:lnTo>
                <a:lnTo>
                  <a:pt x="169" y="380"/>
                </a:lnTo>
                <a:lnTo>
                  <a:pt x="189" y="382"/>
                </a:lnTo>
                <a:lnTo>
                  <a:pt x="189" y="382"/>
                </a:lnTo>
                <a:lnTo>
                  <a:pt x="208" y="380"/>
                </a:lnTo>
                <a:lnTo>
                  <a:pt x="228" y="378"/>
                </a:lnTo>
                <a:lnTo>
                  <a:pt x="246" y="371"/>
                </a:lnTo>
                <a:lnTo>
                  <a:pt x="263" y="365"/>
                </a:lnTo>
                <a:lnTo>
                  <a:pt x="279" y="357"/>
                </a:lnTo>
                <a:lnTo>
                  <a:pt x="295" y="349"/>
                </a:lnTo>
                <a:lnTo>
                  <a:pt x="310" y="337"/>
                </a:lnTo>
                <a:lnTo>
                  <a:pt x="324" y="325"/>
                </a:lnTo>
                <a:lnTo>
                  <a:pt x="336" y="312"/>
                </a:lnTo>
                <a:lnTo>
                  <a:pt x="346" y="296"/>
                </a:lnTo>
                <a:lnTo>
                  <a:pt x="356" y="282"/>
                </a:lnTo>
                <a:lnTo>
                  <a:pt x="365" y="265"/>
                </a:lnTo>
                <a:lnTo>
                  <a:pt x="371" y="247"/>
                </a:lnTo>
                <a:lnTo>
                  <a:pt x="375" y="229"/>
                </a:lnTo>
                <a:lnTo>
                  <a:pt x="379" y="210"/>
                </a:lnTo>
                <a:lnTo>
                  <a:pt x="379" y="190"/>
                </a:lnTo>
                <a:lnTo>
                  <a:pt x="363" y="190"/>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40" name="Freeform 722">
            <a:extLst>
              <a:ext uri="{FF2B5EF4-FFF2-40B4-BE49-F238E27FC236}">
                <a16:creationId xmlns:a16="http://schemas.microsoft.com/office/drawing/2014/main" xmlns="" id="{9A76119A-C105-4B1B-9CA3-361CC8CE8400}"/>
              </a:ext>
            </a:extLst>
          </p:cNvPr>
          <p:cNvSpPr>
            <a:spLocks noEditPoints="1"/>
          </p:cNvSpPr>
          <p:nvPr/>
        </p:nvSpPr>
        <p:spPr bwMode="gray">
          <a:xfrm>
            <a:off x="9971877" y="4780922"/>
            <a:ext cx="134195" cy="162139"/>
          </a:xfrm>
          <a:custGeom>
            <a:avLst/>
            <a:gdLst/>
            <a:ahLst/>
            <a:cxnLst>
              <a:cxn ang="0">
                <a:pos x="163" y="39"/>
              </a:cxn>
              <a:cxn ang="0">
                <a:pos x="144" y="21"/>
              </a:cxn>
              <a:cxn ang="0">
                <a:pos x="122" y="8"/>
              </a:cxn>
              <a:cxn ang="0">
                <a:pos x="83" y="10"/>
              </a:cxn>
              <a:cxn ang="0">
                <a:pos x="73" y="10"/>
              </a:cxn>
              <a:cxn ang="0">
                <a:pos x="53" y="0"/>
              </a:cxn>
              <a:cxn ang="0">
                <a:pos x="41" y="2"/>
              </a:cxn>
              <a:cxn ang="0">
                <a:pos x="36" y="16"/>
              </a:cxn>
              <a:cxn ang="0">
                <a:pos x="32" y="37"/>
              </a:cxn>
              <a:cxn ang="0">
                <a:pos x="16" y="39"/>
              </a:cxn>
              <a:cxn ang="0">
                <a:pos x="20" y="49"/>
              </a:cxn>
              <a:cxn ang="0">
                <a:pos x="28" y="55"/>
              </a:cxn>
              <a:cxn ang="0">
                <a:pos x="16" y="59"/>
              </a:cxn>
              <a:cxn ang="0">
                <a:pos x="10" y="63"/>
              </a:cxn>
              <a:cxn ang="0">
                <a:pos x="18" y="67"/>
              </a:cxn>
              <a:cxn ang="0">
                <a:pos x="14" y="76"/>
              </a:cxn>
              <a:cxn ang="0">
                <a:pos x="2" y="96"/>
              </a:cxn>
              <a:cxn ang="0">
                <a:pos x="2" y="125"/>
              </a:cxn>
              <a:cxn ang="0">
                <a:pos x="14" y="133"/>
              </a:cxn>
              <a:cxn ang="0">
                <a:pos x="34" y="139"/>
              </a:cxn>
              <a:cxn ang="0">
                <a:pos x="38" y="147"/>
              </a:cxn>
              <a:cxn ang="0">
                <a:pos x="38" y="190"/>
              </a:cxn>
              <a:cxn ang="0">
                <a:pos x="43" y="206"/>
              </a:cxn>
              <a:cxn ang="0">
                <a:pos x="57" y="210"/>
              </a:cxn>
              <a:cxn ang="0">
                <a:pos x="63" y="206"/>
              </a:cxn>
              <a:cxn ang="0">
                <a:pos x="71" y="182"/>
              </a:cxn>
              <a:cxn ang="0">
                <a:pos x="83" y="186"/>
              </a:cxn>
              <a:cxn ang="0">
                <a:pos x="91" y="184"/>
              </a:cxn>
              <a:cxn ang="0">
                <a:pos x="94" y="169"/>
              </a:cxn>
              <a:cxn ang="0">
                <a:pos x="83" y="165"/>
              </a:cxn>
              <a:cxn ang="0">
                <a:pos x="81" y="159"/>
              </a:cxn>
              <a:cxn ang="0">
                <a:pos x="94" y="143"/>
              </a:cxn>
              <a:cxn ang="0">
                <a:pos x="98" y="125"/>
              </a:cxn>
              <a:cxn ang="0">
                <a:pos x="110" y="100"/>
              </a:cxn>
              <a:cxn ang="0">
                <a:pos x="122" y="100"/>
              </a:cxn>
              <a:cxn ang="0">
                <a:pos x="134" y="127"/>
              </a:cxn>
              <a:cxn ang="0">
                <a:pos x="140" y="118"/>
              </a:cxn>
              <a:cxn ang="0">
                <a:pos x="147" y="106"/>
              </a:cxn>
              <a:cxn ang="0">
                <a:pos x="157" y="116"/>
              </a:cxn>
              <a:cxn ang="0">
                <a:pos x="167" y="151"/>
              </a:cxn>
              <a:cxn ang="0">
                <a:pos x="177" y="118"/>
              </a:cxn>
              <a:cxn ang="0">
                <a:pos x="175" y="72"/>
              </a:cxn>
              <a:cxn ang="0">
                <a:pos x="163" y="39"/>
              </a:cxn>
              <a:cxn ang="0">
                <a:pos x="75" y="82"/>
              </a:cxn>
              <a:cxn ang="0">
                <a:pos x="61" y="84"/>
              </a:cxn>
              <a:cxn ang="0">
                <a:pos x="51" y="78"/>
              </a:cxn>
              <a:cxn ang="0">
                <a:pos x="45" y="74"/>
              </a:cxn>
              <a:cxn ang="0">
                <a:pos x="41" y="63"/>
              </a:cxn>
              <a:cxn ang="0">
                <a:pos x="47" y="57"/>
              </a:cxn>
              <a:cxn ang="0">
                <a:pos x="51" y="59"/>
              </a:cxn>
              <a:cxn ang="0">
                <a:pos x="53" y="67"/>
              </a:cxn>
              <a:cxn ang="0">
                <a:pos x="57" y="67"/>
              </a:cxn>
              <a:cxn ang="0">
                <a:pos x="65" y="61"/>
              </a:cxn>
              <a:cxn ang="0">
                <a:pos x="75" y="72"/>
              </a:cxn>
            </a:cxnLst>
            <a:rect l="0" t="0" r="r" b="b"/>
            <a:pathLst>
              <a:path w="179" h="212">
                <a:moveTo>
                  <a:pt x="6" y="82"/>
                </a:moveTo>
                <a:lnTo>
                  <a:pt x="6" y="82"/>
                </a:lnTo>
                <a:close/>
                <a:moveTo>
                  <a:pt x="163" y="39"/>
                </a:moveTo>
                <a:lnTo>
                  <a:pt x="163" y="39"/>
                </a:lnTo>
                <a:lnTo>
                  <a:pt x="155" y="29"/>
                </a:lnTo>
                <a:lnTo>
                  <a:pt x="144" y="21"/>
                </a:lnTo>
                <a:lnTo>
                  <a:pt x="134" y="14"/>
                </a:lnTo>
                <a:lnTo>
                  <a:pt x="122" y="8"/>
                </a:lnTo>
                <a:lnTo>
                  <a:pt x="122" y="8"/>
                </a:lnTo>
                <a:lnTo>
                  <a:pt x="110" y="4"/>
                </a:lnTo>
                <a:lnTo>
                  <a:pt x="104" y="4"/>
                </a:lnTo>
                <a:lnTo>
                  <a:pt x="83" y="10"/>
                </a:lnTo>
                <a:lnTo>
                  <a:pt x="83" y="10"/>
                </a:lnTo>
                <a:lnTo>
                  <a:pt x="79" y="12"/>
                </a:lnTo>
                <a:lnTo>
                  <a:pt x="73" y="10"/>
                </a:lnTo>
                <a:lnTo>
                  <a:pt x="65" y="6"/>
                </a:lnTo>
                <a:lnTo>
                  <a:pt x="57" y="0"/>
                </a:lnTo>
                <a:lnTo>
                  <a:pt x="53" y="0"/>
                </a:lnTo>
                <a:lnTo>
                  <a:pt x="47" y="0"/>
                </a:lnTo>
                <a:lnTo>
                  <a:pt x="47" y="0"/>
                </a:lnTo>
                <a:lnTo>
                  <a:pt x="41" y="2"/>
                </a:lnTo>
                <a:lnTo>
                  <a:pt x="38" y="6"/>
                </a:lnTo>
                <a:lnTo>
                  <a:pt x="36" y="10"/>
                </a:lnTo>
                <a:lnTo>
                  <a:pt x="36" y="16"/>
                </a:lnTo>
                <a:lnTo>
                  <a:pt x="36" y="29"/>
                </a:lnTo>
                <a:lnTo>
                  <a:pt x="36" y="35"/>
                </a:lnTo>
                <a:lnTo>
                  <a:pt x="32" y="37"/>
                </a:lnTo>
                <a:lnTo>
                  <a:pt x="32" y="37"/>
                </a:lnTo>
                <a:lnTo>
                  <a:pt x="18" y="39"/>
                </a:lnTo>
                <a:lnTo>
                  <a:pt x="16" y="39"/>
                </a:lnTo>
                <a:lnTo>
                  <a:pt x="14" y="41"/>
                </a:lnTo>
                <a:lnTo>
                  <a:pt x="16" y="43"/>
                </a:lnTo>
                <a:lnTo>
                  <a:pt x="20" y="49"/>
                </a:lnTo>
                <a:lnTo>
                  <a:pt x="20" y="49"/>
                </a:lnTo>
                <a:lnTo>
                  <a:pt x="26" y="53"/>
                </a:lnTo>
                <a:lnTo>
                  <a:pt x="28" y="55"/>
                </a:lnTo>
                <a:lnTo>
                  <a:pt x="26" y="57"/>
                </a:lnTo>
                <a:lnTo>
                  <a:pt x="24" y="57"/>
                </a:lnTo>
                <a:lnTo>
                  <a:pt x="16" y="59"/>
                </a:lnTo>
                <a:lnTo>
                  <a:pt x="12" y="61"/>
                </a:lnTo>
                <a:lnTo>
                  <a:pt x="10" y="63"/>
                </a:lnTo>
                <a:lnTo>
                  <a:pt x="10" y="63"/>
                </a:lnTo>
                <a:lnTo>
                  <a:pt x="14" y="67"/>
                </a:lnTo>
                <a:lnTo>
                  <a:pt x="18" y="67"/>
                </a:lnTo>
                <a:lnTo>
                  <a:pt x="18" y="67"/>
                </a:lnTo>
                <a:lnTo>
                  <a:pt x="18" y="69"/>
                </a:lnTo>
                <a:lnTo>
                  <a:pt x="18" y="72"/>
                </a:lnTo>
                <a:lnTo>
                  <a:pt x="14" y="76"/>
                </a:lnTo>
                <a:lnTo>
                  <a:pt x="6" y="82"/>
                </a:lnTo>
                <a:lnTo>
                  <a:pt x="6" y="82"/>
                </a:lnTo>
                <a:lnTo>
                  <a:pt x="2" y="96"/>
                </a:lnTo>
                <a:lnTo>
                  <a:pt x="0" y="110"/>
                </a:lnTo>
                <a:lnTo>
                  <a:pt x="0" y="118"/>
                </a:lnTo>
                <a:lnTo>
                  <a:pt x="2" y="125"/>
                </a:lnTo>
                <a:lnTo>
                  <a:pt x="6" y="129"/>
                </a:lnTo>
                <a:lnTo>
                  <a:pt x="14" y="133"/>
                </a:lnTo>
                <a:lnTo>
                  <a:pt x="14" y="133"/>
                </a:lnTo>
                <a:lnTo>
                  <a:pt x="22" y="135"/>
                </a:lnTo>
                <a:lnTo>
                  <a:pt x="28" y="137"/>
                </a:lnTo>
                <a:lnTo>
                  <a:pt x="34" y="139"/>
                </a:lnTo>
                <a:lnTo>
                  <a:pt x="36" y="143"/>
                </a:lnTo>
                <a:lnTo>
                  <a:pt x="38" y="147"/>
                </a:lnTo>
                <a:lnTo>
                  <a:pt x="38" y="147"/>
                </a:lnTo>
                <a:lnTo>
                  <a:pt x="38" y="159"/>
                </a:lnTo>
                <a:lnTo>
                  <a:pt x="38" y="169"/>
                </a:lnTo>
                <a:lnTo>
                  <a:pt x="38" y="190"/>
                </a:lnTo>
                <a:lnTo>
                  <a:pt x="38" y="190"/>
                </a:lnTo>
                <a:lnTo>
                  <a:pt x="38" y="198"/>
                </a:lnTo>
                <a:lnTo>
                  <a:pt x="43" y="206"/>
                </a:lnTo>
                <a:lnTo>
                  <a:pt x="49" y="210"/>
                </a:lnTo>
                <a:lnTo>
                  <a:pt x="53" y="212"/>
                </a:lnTo>
                <a:lnTo>
                  <a:pt x="57" y="210"/>
                </a:lnTo>
                <a:lnTo>
                  <a:pt x="57" y="210"/>
                </a:lnTo>
                <a:lnTo>
                  <a:pt x="59" y="208"/>
                </a:lnTo>
                <a:lnTo>
                  <a:pt x="63" y="206"/>
                </a:lnTo>
                <a:lnTo>
                  <a:pt x="67" y="198"/>
                </a:lnTo>
                <a:lnTo>
                  <a:pt x="71" y="182"/>
                </a:lnTo>
                <a:lnTo>
                  <a:pt x="71" y="182"/>
                </a:lnTo>
                <a:lnTo>
                  <a:pt x="75" y="180"/>
                </a:lnTo>
                <a:lnTo>
                  <a:pt x="77" y="180"/>
                </a:lnTo>
                <a:lnTo>
                  <a:pt x="83" y="186"/>
                </a:lnTo>
                <a:lnTo>
                  <a:pt x="87" y="188"/>
                </a:lnTo>
                <a:lnTo>
                  <a:pt x="89" y="188"/>
                </a:lnTo>
                <a:lnTo>
                  <a:pt x="91" y="184"/>
                </a:lnTo>
                <a:lnTo>
                  <a:pt x="94" y="175"/>
                </a:lnTo>
                <a:lnTo>
                  <a:pt x="94" y="175"/>
                </a:lnTo>
                <a:lnTo>
                  <a:pt x="94" y="169"/>
                </a:lnTo>
                <a:lnTo>
                  <a:pt x="91" y="167"/>
                </a:lnTo>
                <a:lnTo>
                  <a:pt x="87" y="165"/>
                </a:lnTo>
                <a:lnTo>
                  <a:pt x="83" y="165"/>
                </a:lnTo>
                <a:lnTo>
                  <a:pt x="83" y="163"/>
                </a:lnTo>
                <a:lnTo>
                  <a:pt x="81" y="159"/>
                </a:lnTo>
                <a:lnTo>
                  <a:pt x="81" y="159"/>
                </a:lnTo>
                <a:lnTo>
                  <a:pt x="83" y="153"/>
                </a:lnTo>
                <a:lnTo>
                  <a:pt x="89" y="147"/>
                </a:lnTo>
                <a:lnTo>
                  <a:pt x="94" y="143"/>
                </a:lnTo>
                <a:lnTo>
                  <a:pt x="96" y="137"/>
                </a:lnTo>
                <a:lnTo>
                  <a:pt x="96" y="137"/>
                </a:lnTo>
                <a:lnTo>
                  <a:pt x="98" y="125"/>
                </a:lnTo>
                <a:lnTo>
                  <a:pt x="102" y="110"/>
                </a:lnTo>
                <a:lnTo>
                  <a:pt x="106" y="104"/>
                </a:lnTo>
                <a:lnTo>
                  <a:pt x="110" y="100"/>
                </a:lnTo>
                <a:lnTo>
                  <a:pt x="116" y="98"/>
                </a:lnTo>
                <a:lnTo>
                  <a:pt x="122" y="100"/>
                </a:lnTo>
                <a:lnTo>
                  <a:pt x="122" y="100"/>
                </a:lnTo>
                <a:lnTo>
                  <a:pt x="126" y="108"/>
                </a:lnTo>
                <a:lnTo>
                  <a:pt x="130" y="120"/>
                </a:lnTo>
                <a:lnTo>
                  <a:pt x="134" y="127"/>
                </a:lnTo>
                <a:lnTo>
                  <a:pt x="136" y="129"/>
                </a:lnTo>
                <a:lnTo>
                  <a:pt x="138" y="127"/>
                </a:lnTo>
                <a:lnTo>
                  <a:pt x="140" y="118"/>
                </a:lnTo>
                <a:lnTo>
                  <a:pt x="140" y="118"/>
                </a:lnTo>
                <a:lnTo>
                  <a:pt x="144" y="108"/>
                </a:lnTo>
                <a:lnTo>
                  <a:pt x="147" y="106"/>
                </a:lnTo>
                <a:lnTo>
                  <a:pt x="149" y="106"/>
                </a:lnTo>
                <a:lnTo>
                  <a:pt x="153" y="110"/>
                </a:lnTo>
                <a:lnTo>
                  <a:pt x="157" y="116"/>
                </a:lnTo>
                <a:lnTo>
                  <a:pt x="163" y="135"/>
                </a:lnTo>
                <a:lnTo>
                  <a:pt x="167" y="151"/>
                </a:lnTo>
                <a:lnTo>
                  <a:pt x="167" y="151"/>
                </a:lnTo>
                <a:lnTo>
                  <a:pt x="171" y="143"/>
                </a:lnTo>
                <a:lnTo>
                  <a:pt x="175" y="133"/>
                </a:lnTo>
                <a:lnTo>
                  <a:pt x="177" y="118"/>
                </a:lnTo>
                <a:lnTo>
                  <a:pt x="179" y="104"/>
                </a:lnTo>
                <a:lnTo>
                  <a:pt x="179" y="88"/>
                </a:lnTo>
                <a:lnTo>
                  <a:pt x="175" y="72"/>
                </a:lnTo>
                <a:lnTo>
                  <a:pt x="171" y="55"/>
                </a:lnTo>
                <a:lnTo>
                  <a:pt x="163" y="39"/>
                </a:lnTo>
                <a:lnTo>
                  <a:pt x="163" y="39"/>
                </a:lnTo>
                <a:close/>
                <a:moveTo>
                  <a:pt x="77" y="80"/>
                </a:moveTo>
                <a:lnTo>
                  <a:pt x="77" y="80"/>
                </a:lnTo>
                <a:lnTo>
                  <a:pt x="75" y="82"/>
                </a:lnTo>
                <a:lnTo>
                  <a:pt x="73" y="84"/>
                </a:lnTo>
                <a:lnTo>
                  <a:pt x="67" y="86"/>
                </a:lnTo>
                <a:lnTo>
                  <a:pt x="61" y="84"/>
                </a:lnTo>
                <a:lnTo>
                  <a:pt x="55" y="82"/>
                </a:lnTo>
                <a:lnTo>
                  <a:pt x="55" y="82"/>
                </a:lnTo>
                <a:lnTo>
                  <a:pt x="51" y="78"/>
                </a:lnTo>
                <a:lnTo>
                  <a:pt x="51" y="78"/>
                </a:lnTo>
                <a:lnTo>
                  <a:pt x="45" y="74"/>
                </a:lnTo>
                <a:lnTo>
                  <a:pt x="45" y="74"/>
                </a:lnTo>
                <a:lnTo>
                  <a:pt x="41" y="69"/>
                </a:lnTo>
                <a:lnTo>
                  <a:pt x="41" y="65"/>
                </a:lnTo>
                <a:lnTo>
                  <a:pt x="41" y="63"/>
                </a:lnTo>
                <a:lnTo>
                  <a:pt x="41" y="63"/>
                </a:lnTo>
                <a:lnTo>
                  <a:pt x="43" y="59"/>
                </a:lnTo>
                <a:lnTo>
                  <a:pt x="47" y="57"/>
                </a:lnTo>
                <a:lnTo>
                  <a:pt x="49" y="57"/>
                </a:lnTo>
                <a:lnTo>
                  <a:pt x="49" y="57"/>
                </a:lnTo>
                <a:lnTo>
                  <a:pt x="51" y="59"/>
                </a:lnTo>
                <a:lnTo>
                  <a:pt x="51" y="61"/>
                </a:lnTo>
                <a:lnTo>
                  <a:pt x="51" y="65"/>
                </a:lnTo>
                <a:lnTo>
                  <a:pt x="53" y="67"/>
                </a:lnTo>
                <a:lnTo>
                  <a:pt x="53" y="67"/>
                </a:lnTo>
                <a:lnTo>
                  <a:pt x="55" y="69"/>
                </a:lnTo>
                <a:lnTo>
                  <a:pt x="57" y="67"/>
                </a:lnTo>
                <a:lnTo>
                  <a:pt x="61" y="61"/>
                </a:lnTo>
                <a:lnTo>
                  <a:pt x="61" y="61"/>
                </a:lnTo>
                <a:lnTo>
                  <a:pt x="65" y="61"/>
                </a:lnTo>
                <a:lnTo>
                  <a:pt x="67" y="61"/>
                </a:lnTo>
                <a:lnTo>
                  <a:pt x="73" y="65"/>
                </a:lnTo>
                <a:lnTo>
                  <a:pt x="75" y="72"/>
                </a:lnTo>
                <a:lnTo>
                  <a:pt x="77" y="80"/>
                </a:lnTo>
                <a:lnTo>
                  <a:pt x="77" y="80"/>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41" name="Line 723">
            <a:extLst>
              <a:ext uri="{FF2B5EF4-FFF2-40B4-BE49-F238E27FC236}">
                <a16:creationId xmlns:a16="http://schemas.microsoft.com/office/drawing/2014/main" xmlns="" id="{96788116-E235-4CE3-A3BB-E8A54811D162}"/>
              </a:ext>
            </a:extLst>
          </p:cNvPr>
          <p:cNvSpPr>
            <a:spLocks noChangeShapeType="1"/>
          </p:cNvSpPr>
          <p:nvPr/>
        </p:nvSpPr>
        <p:spPr bwMode="gray">
          <a:xfrm>
            <a:off x="9976376" y="4843637"/>
            <a:ext cx="750" cy="765"/>
          </a:xfrm>
          <a:prstGeom prst="line">
            <a:avLst/>
          </a:pr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42" name="Freeform 724">
            <a:extLst>
              <a:ext uri="{FF2B5EF4-FFF2-40B4-BE49-F238E27FC236}">
                <a16:creationId xmlns:a16="http://schemas.microsoft.com/office/drawing/2014/main" xmlns="" id="{959B17CB-5005-4222-9B59-0DC57A363F4C}"/>
              </a:ext>
            </a:extLst>
          </p:cNvPr>
          <p:cNvSpPr>
            <a:spLocks/>
          </p:cNvSpPr>
          <p:nvPr/>
        </p:nvSpPr>
        <p:spPr bwMode="gray">
          <a:xfrm>
            <a:off x="9971877" y="4780922"/>
            <a:ext cx="134195" cy="162139"/>
          </a:xfrm>
          <a:custGeom>
            <a:avLst/>
            <a:gdLst/>
            <a:ahLst/>
            <a:cxnLst>
              <a:cxn ang="0">
                <a:pos x="163" y="39"/>
              </a:cxn>
              <a:cxn ang="0">
                <a:pos x="144" y="21"/>
              </a:cxn>
              <a:cxn ang="0">
                <a:pos x="122" y="8"/>
              </a:cxn>
              <a:cxn ang="0">
                <a:pos x="110" y="4"/>
              </a:cxn>
              <a:cxn ang="0">
                <a:pos x="83" y="10"/>
              </a:cxn>
              <a:cxn ang="0">
                <a:pos x="79" y="12"/>
              </a:cxn>
              <a:cxn ang="0">
                <a:pos x="65" y="6"/>
              </a:cxn>
              <a:cxn ang="0">
                <a:pos x="53" y="0"/>
              </a:cxn>
              <a:cxn ang="0">
                <a:pos x="47" y="0"/>
              </a:cxn>
              <a:cxn ang="0">
                <a:pos x="38" y="6"/>
              </a:cxn>
              <a:cxn ang="0">
                <a:pos x="36" y="16"/>
              </a:cxn>
              <a:cxn ang="0">
                <a:pos x="36" y="35"/>
              </a:cxn>
              <a:cxn ang="0">
                <a:pos x="32" y="37"/>
              </a:cxn>
              <a:cxn ang="0">
                <a:pos x="16" y="39"/>
              </a:cxn>
              <a:cxn ang="0">
                <a:pos x="16" y="43"/>
              </a:cxn>
              <a:cxn ang="0">
                <a:pos x="20" y="49"/>
              </a:cxn>
              <a:cxn ang="0">
                <a:pos x="28" y="55"/>
              </a:cxn>
              <a:cxn ang="0">
                <a:pos x="24" y="57"/>
              </a:cxn>
              <a:cxn ang="0">
                <a:pos x="12" y="61"/>
              </a:cxn>
              <a:cxn ang="0">
                <a:pos x="10" y="63"/>
              </a:cxn>
              <a:cxn ang="0">
                <a:pos x="18" y="67"/>
              </a:cxn>
              <a:cxn ang="0">
                <a:pos x="18" y="69"/>
              </a:cxn>
              <a:cxn ang="0">
                <a:pos x="14" y="76"/>
              </a:cxn>
              <a:cxn ang="0">
                <a:pos x="6" y="82"/>
              </a:cxn>
              <a:cxn ang="0">
                <a:pos x="0" y="110"/>
              </a:cxn>
              <a:cxn ang="0">
                <a:pos x="2" y="125"/>
              </a:cxn>
              <a:cxn ang="0">
                <a:pos x="14" y="133"/>
              </a:cxn>
              <a:cxn ang="0">
                <a:pos x="22" y="135"/>
              </a:cxn>
              <a:cxn ang="0">
                <a:pos x="34" y="139"/>
              </a:cxn>
              <a:cxn ang="0">
                <a:pos x="38" y="147"/>
              </a:cxn>
              <a:cxn ang="0">
                <a:pos x="38" y="159"/>
              </a:cxn>
              <a:cxn ang="0">
                <a:pos x="38" y="190"/>
              </a:cxn>
              <a:cxn ang="0">
                <a:pos x="38" y="198"/>
              </a:cxn>
              <a:cxn ang="0">
                <a:pos x="49" y="210"/>
              </a:cxn>
              <a:cxn ang="0">
                <a:pos x="57" y="210"/>
              </a:cxn>
              <a:cxn ang="0">
                <a:pos x="59" y="208"/>
              </a:cxn>
              <a:cxn ang="0">
                <a:pos x="67" y="198"/>
              </a:cxn>
              <a:cxn ang="0">
                <a:pos x="71" y="182"/>
              </a:cxn>
              <a:cxn ang="0">
                <a:pos x="77" y="180"/>
              </a:cxn>
              <a:cxn ang="0">
                <a:pos x="87" y="188"/>
              </a:cxn>
              <a:cxn ang="0">
                <a:pos x="91" y="184"/>
              </a:cxn>
              <a:cxn ang="0">
                <a:pos x="94" y="175"/>
              </a:cxn>
              <a:cxn ang="0">
                <a:pos x="91" y="167"/>
              </a:cxn>
              <a:cxn ang="0">
                <a:pos x="83" y="165"/>
              </a:cxn>
              <a:cxn ang="0">
                <a:pos x="81" y="159"/>
              </a:cxn>
              <a:cxn ang="0">
                <a:pos x="83" y="153"/>
              </a:cxn>
              <a:cxn ang="0">
                <a:pos x="94" y="143"/>
              </a:cxn>
              <a:cxn ang="0">
                <a:pos x="96" y="137"/>
              </a:cxn>
              <a:cxn ang="0">
                <a:pos x="102" y="110"/>
              </a:cxn>
              <a:cxn ang="0">
                <a:pos x="110" y="100"/>
              </a:cxn>
              <a:cxn ang="0">
                <a:pos x="122" y="100"/>
              </a:cxn>
              <a:cxn ang="0">
                <a:pos x="126" y="108"/>
              </a:cxn>
              <a:cxn ang="0">
                <a:pos x="134" y="127"/>
              </a:cxn>
              <a:cxn ang="0">
                <a:pos x="138" y="127"/>
              </a:cxn>
              <a:cxn ang="0">
                <a:pos x="140" y="118"/>
              </a:cxn>
              <a:cxn ang="0">
                <a:pos x="147" y="106"/>
              </a:cxn>
              <a:cxn ang="0">
                <a:pos x="153" y="110"/>
              </a:cxn>
              <a:cxn ang="0">
                <a:pos x="163" y="135"/>
              </a:cxn>
              <a:cxn ang="0">
                <a:pos x="167" y="151"/>
              </a:cxn>
              <a:cxn ang="0">
                <a:pos x="175" y="133"/>
              </a:cxn>
              <a:cxn ang="0">
                <a:pos x="179" y="104"/>
              </a:cxn>
              <a:cxn ang="0">
                <a:pos x="175" y="72"/>
              </a:cxn>
              <a:cxn ang="0">
                <a:pos x="163" y="39"/>
              </a:cxn>
            </a:cxnLst>
            <a:rect l="0" t="0" r="r" b="b"/>
            <a:pathLst>
              <a:path w="179" h="212">
                <a:moveTo>
                  <a:pt x="163" y="39"/>
                </a:moveTo>
                <a:lnTo>
                  <a:pt x="163" y="39"/>
                </a:lnTo>
                <a:lnTo>
                  <a:pt x="155" y="29"/>
                </a:lnTo>
                <a:lnTo>
                  <a:pt x="144" y="21"/>
                </a:lnTo>
                <a:lnTo>
                  <a:pt x="134" y="14"/>
                </a:lnTo>
                <a:lnTo>
                  <a:pt x="122" y="8"/>
                </a:lnTo>
                <a:lnTo>
                  <a:pt x="122" y="8"/>
                </a:lnTo>
                <a:lnTo>
                  <a:pt x="110" y="4"/>
                </a:lnTo>
                <a:lnTo>
                  <a:pt x="104" y="4"/>
                </a:lnTo>
                <a:lnTo>
                  <a:pt x="83" y="10"/>
                </a:lnTo>
                <a:lnTo>
                  <a:pt x="83" y="10"/>
                </a:lnTo>
                <a:lnTo>
                  <a:pt x="79" y="12"/>
                </a:lnTo>
                <a:lnTo>
                  <a:pt x="73" y="10"/>
                </a:lnTo>
                <a:lnTo>
                  <a:pt x="65" y="6"/>
                </a:lnTo>
                <a:lnTo>
                  <a:pt x="57" y="0"/>
                </a:lnTo>
                <a:lnTo>
                  <a:pt x="53" y="0"/>
                </a:lnTo>
                <a:lnTo>
                  <a:pt x="47" y="0"/>
                </a:lnTo>
                <a:lnTo>
                  <a:pt x="47" y="0"/>
                </a:lnTo>
                <a:lnTo>
                  <a:pt x="41" y="2"/>
                </a:lnTo>
                <a:lnTo>
                  <a:pt x="38" y="6"/>
                </a:lnTo>
                <a:lnTo>
                  <a:pt x="36" y="10"/>
                </a:lnTo>
                <a:lnTo>
                  <a:pt x="36" y="16"/>
                </a:lnTo>
                <a:lnTo>
                  <a:pt x="36" y="29"/>
                </a:lnTo>
                <a:lnTo>
                  <a:pt x="36" y="35"/>
                </a:lnTo>
                <a:lnTo>
                  <a:pt x="32" y="37"/>
                </a:lnTo>
                <a:lnTo>
                  <a:pt x="32" y="37"/>
                </a:lnTo>
                <a:lnTo>
                  <a:pt x="18" y="39"/>
                </a:lnTo>
                <a:lnTo>
                  <a:pt x="16" y="39"/>
                </a:lnTo>
                <a:lnTo>
                  <a:pt x="14" y="41"/>
                </a:lnTo>
                <a:lnTo>
                  <a:pt x="16" y="43"/>
                </a:lnTo>
                <a:lnTo>
                  <a:pt x="20" y="49"/>
                </a:lnTo>
                <a:lnTo>
                  <a:pt x="20" y="49"/>
                </a:lnTo>
                <a:lnTo>
                  <a:pt x="26" y="53"/>
                </a:lnTo>
                <a:lnTo>
                  <a:pt x="28" y="55"/>
                </a:lnTo>
                <a:lnTo>
                  <a:pt x="26" y="57"/>
                </a:lnTo>
                <a:lnTo>
                  <a:pt x="24" y="57"/>
                </a:lnTo>
                <a:lnTo>
                  <a:pt x="16" y="59"/>
                </a:lnTo>
                <a:lnTo>
                  <a:pt x="12" y="61"/>
                </a:lnTo>
                <a:lnTo>
                  <a:pt x="10" y="63"/>
                </a:lnTo>
                <a:lnTo>
                  <a:pt x="10" y="63"/>
                </a:lnTo>
                <a:lnTo>
                  <a:pt x="14" y="67"/>
                </a:lnTo>
                <a:lnTo>
                  <a:pt x="18" y="67"/>
                </a:lnTo>
                <a:lnTo>
                  <a:pt x="18" y="67"/>
                </a:lnTo>
                <a:lnTo>
                  <a:pt x="18" y="69"/>
                </a:lnTo>
                <a:lnTo>
                  <a:pt x="18" y="72"/>
                </a:lnTo>
                <a:lnTo>
                  <a:pt x="14" y="76"/>
                </a:lnTo>
                <a:lnTo>
                  <a:pt x="6" y="82"/>
                </a:lnTo>
                <a:lnTo>
                  <a:pt x="6" y="82"/>
                </a:lnTo>
                <a:lnTo>
                  <a:pt x="2" y="96"/>
                </a:lnTo>
                <a:lnTo>
                  <a:pt x="0" y="110"/>
                </a:lnTo>
                <a:lnTo>
                  <a:pt x="0" y="118"/>
                </a:lnTo>
                <a:lnTo>
                  <a:pt x="2" y="125"/>
                </a:lnTo>
                <a:lnTo>
                  <a:pt x="6" y="129"/>
                </a:lnTo>
                <a:lnTo>
                  <a:pt x="14" y="133"/>
                </a:lnTo>
                <a:lnTo>
                  <a:pt x="14" y="133"/>
                </a:lnTo>
                <a:lnTo>
                  <a:pt x="22" y="135"/>
                </a:lnTo>
                <a:lnTo>
                  <a:pt x="28" y="137"/>
                </a:lnTo>
                <a:lnTo>
                  <a:pt x="34" y="139"/>
                </a:lnTo>
                <a:lnTo>
                  <a:pt x="36" y="143"/>
                </a:lnTo>
                <a:lnTo>
                  <a:pt x="38" y="147"/>
                </a:lnTo>
                <a:lnTo>
                  <a:pt x="38" y="147"/>
                </a:lnTo>
                <a:lnTo>
                  <a:pt x="38" y="159"/>
                </a:lnTo>
                <a:lnTo>
                  <a:pt x="38" y="169"/>
                </a:lnTo>
                <a:lnTo>
                  <a:pt x="38" y="190"/>
                </a:lnTo>
                <a:lnTo>
                  <a:pt x="38" y="190"/>
                </a:lnTo>
                <a:lnTo>
                  <a:pt x="38" y="198"/>
                </a:lnTo>
                <a:lnTo>
                  <a:pt x="43" y="206"/>
                </a:lnTo>
                <a:lnTo>
                  <a:pt x="49" y="210"/>
                </a:lnTo>
                <a:lnTo>
                  <a:pt x="53" y="212"/>
                </a:lnTo>
                <a:lnTo>
                  <a:pt x="57" y="210"/>
                </a:lnTo>
                <a:lnTo>
                  <a:pt x="57" y="210"/>
                </a:lnTo>
                <a:lnTo>
                  <a:pt x="59" y="208"/>
                </a:lnTo>
                <a:lnTo>
                  <a:pt x="63" y="206"/>
                </a:lnTo>
                <a:lnTo>
                  <a:pt x="67" y="198"/>
                </a:lnTo>
                <a:lnTo>
                  <a:pt x="71" y="182"/>
                </a:lnTo>
                <a:lnTo>
                  <a:pt x="71" y="182"/>
                </a:lnTo>
                <a:lnTo>
                  <a:pt x="75" y="180"/>
                </a:lnTo>
                <a:lnTo>
                  <a:pt x="77" y="180"/>
                </a:lnTo>
                <a:lnTo>
                  <a:pt x="83" y="186"/>
                </a:lnTo>
                <a:lnTo>
                  <a:pt x="87" y="188"/>
                </a:lnTo>
                <a:lnTo>
                  <a:pt x="89" y="188"/>
                </a:lnTo>
                <a:lnTo>
                  <a:pt x="91" y="184"/>
                </a:lnTo>
                <a:lnTo>
                  <a:pt x="94" y="175"/>
                </a:lnTo>
                <a:lnTo>
                  <a:pt x="94" y="175"/>
                </a:lnTo>
                <a:lnTo>
                  <a:pt x="94" y="169"/>
                </a:lnTo>
                <a:lnTo>
                  <a:pt x="91" y="167"/>
                </a:lnTo>
                <a:lnTo>
                  <a:pt x="87" y="165"/>
                </a:lnTo>
                <a:lnTo>
                  <a:pt x="83" y="165"/>
                </a:lnTo>
                <a:lnTo>
                  <a:pt x="83" y="163"/>
                </a:lnTo>
                <a:lnTo>
                  <a:pt x="81" y="159"/>
                </a:lnTo>
                <a:lnTo>
                  <a:pt x="81" y="159"/>
                </a:lnTo>
                <a:lnTo>
                  <a:pt x="83" y="153"/>
                </a:lnTo>
                <a:lnTo>
                  <a:pt x="89" y="147"/>
                </a:lnTo>
                <a:lnTo>
                  <a:pt x="94" y="143"/>
                </a:lnTo>
                <a:lnTo>
                  <a:pt x="96" y="137"/>
                </a:lnTo>
                <a:lnTo>
                  <a:pt x="96" y="137"/>
                </a:lnTo>
                <a:lnTo>
                  <a:pt x="98" y="125"/>
                </a:lnTo>
                <a:lnTo>
                  <a:pt x="102" y="110"/>
                </a:lnTo>
                <a:lnTo>
                  <a:pt x="106" y="104"/>
                </a:lnTo>
                <a:lnTo>
                  <a:pt x="110" y="100"/>
                </a:lnTo>
                <a:lnTo>
                  <a:pt x="116" y="98"/>
                </a:lnTo>
                <a:lnTo>
                  <a:pt x="122" y="100"/>
                </a:lnTo>
                <a:lnTo>
                  <a:pt x="122" y="100"/>
                </a:lnTo>
                <a:lnTo>
                  <a:pt x="126" y="108"/>
                </a:lnTo>
                <a:lnTo>
                  <a:pt x="130" y="120"/>
                </a:lnTo>
                <a:lnTo>
                  <a:pt x="134" y="127"/>
                </a:lnTo>
                <a:lnTo>
                  <a:pt x="136" y="129"/>
                </a:lnTo>
                <a:lnTo>
                  <a:pt x="138" y="127"/>
                </a:lnTo>
                <a:lnTo>
                  <a:pt x="140" y="118"/>
                </a:lnTo>
                <a:lnTo>
                  <a:pt x="140" y="118"/>
                </a:lnTo>
                <a:lnTo>
                  <a:pt x="144" y="108"/>
                </a:lnTo>
                <a:lnTo>
                  <a:pt x="147" y="106"/>
                </a:lnTo>
                <a:lnTo>
                  <a:pt x="149" y="106"/>
                </a:lnTo>
                <a:lnTo>
                  <a:pt x="153" y="110"/>
                </a:lnTo>
                <a:lnTo>
                  <a:pt x="157" y="116"/>
                </a:lnTo>
                <a:lnTo>
                  <a:pt x="163" y="135"/>
                </a:lnTo>
                <a:lnTo>
                  <a:pt x="167" y="151"/>
                </a:lnTo>
                <a:lnTo>
                  <a:pt x="167" y="151"/>
                </a:lnTo>
                <a:lnTo>
                  <a:pt x="171" y="143"/>
                </a:lnTo>
                <a:lnTo>
                  <a:pt x="175" y="133"/>
                </a:lnTo>
                <a:lnTo>
                  <a:pt x="177" y="118"/>
                </a:lnTo>
                <a:lnTo>
                  <a:pt x="179" y="104"/>
                </a:lnTo>
                <a:lnTo>
                  <a:pt x="179" y="88"/>
                </a:lnTo>
                <a:lnTo>
                  <a:pt x="175" y="72"/>
                </a:lnTo>
                <a:lnTo>
                  <a:pt x="171" y="55"/>
                </a:lnTo>
                <a:lnTo>
                  <a:pt x="163" y="39"/>
                </a:lnTo>
                <a:lnTo>
                  <a:pt x="163" y="39"/>
                </a:lnTo>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43" name="Freeform 725">
            <a:extLst>
              <a:ext uri="{FF2B5EF4-FFF2-40B4-BE49-F238E27FC236}">
                <a16:creationId xmlns:a16="http://schemas.microsoft.com/office/drawing/2014/main" xmlns="" id="{320DEBE6-34D1-422F-A0EB-A1A2C2F7DAAA}"/>
              </a:ext>
            </a:extLst>
          </p:cNvPr>
          <p:cNvSpPr>
            <a:spLocks/>
          </p:cNvSpPr>
          <p:nvPr/>
        </p:nvSpPr>
        <p:spPr bwMode="gray">
          <a:xfrm>
            <a:off x="10002615" y="4824516"/>
            <a:ext cx="26989" cy="22180"/>
          </a:xfrm>
          <a:custGeom>
            <a:avLst/>
            <a:gdLst/>
            <a:ahLst/>
            <a:cxnLst>
              <a:cxn ang="0">
                <a:pos x="36" y="23"/>
              </a:cxn>
              <a:cxn ang="0">
                <a:pos x="36" y="23"/>
              </a:cxn>
              <a:cxn ang="0">
                <a:pos x="34" y="25"/>
              </a:cxn>
              <a:cxn ang="0">
                <a:pos x="32" y="27"/>
              </a:cxn>
              <a:cxn ang="0">
                <a:pos x="26" y="29"/>
              </a:cxn>
              <a:cxn ang="0">
                <a:pos x="20" y="27"/>
              </a:cxn>
              <a:cxn ang="0">
                <a:pos x="14" y="25"/>
              </a:cxn>
              <a:cxn ang="0">
                <a:pos x="14" y="25"/>
              </a:cxn>
              <a:cxn ang="0">
                <a:pos x="10" y="21"/>
              </a:cxn>
              <a:cxn ang="0">
                <a:pos x="10" y="21"/>
              </a:cxn>
              <a:cxn ang="0">
                <a:pos x="4" y="17"/>
              </a:cxn>
              <a:cxn ang="0">
                <a:pos x="4" y="17"/>
              </a:cxn>
              <a:cxn ang="0">
                <a:pos x="0" y="12"/>
              </a:cxn>
              <a:cxn ang="0">
                <a:pos x="0" y="8"/>
              </a:cxn>
              <a:cxn ang="0">
                <a:pos x="0" y="6"/>
              </a:cxn>
              <a:cxn ang="0">
                <a:pos x="0" y="6"/>
              </a:cxn>
              <a:cxn ang="0">
                <a:pos x="2" y="2"/>
              </a:cxn>
              <a:cxn ang="0">
                <a:pos x="6" y="0"/>
              </a:cxn>
              <a:cxn ang="0">
                <a:pos x="8" y="0"/>
              </a:cxn>
              <a:cxn ang="0">
                <a:pos x="8" y="0"/>
              </a:cxn>
              <a:cxn ang="0">
                <a:pos x="10" y="2"/>
              </a:cxn>
              <a:cxn ang="0">
                <a:pos x="10" y="4"/>
              </a:cxn>
              <a:cxn ang="0">
                <a:pos x="10" y="8"/>
              </a:cxn>
              <a:cxn ang="0">
                <a:pos x="12" y="10"/>
              </a:cxn>
              <a:cxn ang="0">
                <a:pos x="12" y="10"/>
              </a:cxn>
              <a:cxn ang="0">
                <a:pos x="14" y="12"/>
              </a:cxn>
              <a:cxn ang="0">
                <a:pos x="16" y="10"/>
              </a:cxn>
              <a:cxn ang="0">
                <a:pos x="20" y="4"/>
              </a:cxn>
              <a:cxn ang="0">
                <a:pos x="20" y="4"/>
              </a:cxn>
              <a:cxn ang="0">
                <a:pos x="24" y="4"/>
              </a:cxn>
              <a:cxn ang="0">
                <a:pos x="26" y="4"/>
              </a:cxn>
              <a:cxn ang="0">
                <a:pos x="32" y="8"/>
              </a:cxn>
              <a:cxn ang="0">
                <a:pos x="34" y="15"/>
              </a:cxn>
              <a:cxn ang="0">
                <a:pos x="36" y="23"/>
              </a:cxn>
              <a:cxn ang="0">
                <a:pos x="36" y="23"/>
              </a:cxn>
            </a:cxnLst>
            <a:rect l="0" t="0" r="r" b="b"/>
            <a:pathLst>
              <a:path w="36" h="29">
                <a:moveTo>
                  <a:pt x="36" y="23"/>
                </a:moveTo>
                <a:lnTo>
                  <a:pt x="36" y="23"/>
                </a:lnTo>
                <a:lnTo>
                  <a:pt x="34" y="25"/>
                </a:lnTo>
                <a:lnTo>
                  <a:pt x="32" y="27"/>
                </a:lnTo>
                <a:lnTo>
                  <a:pt x="26" y="29"/>
                </a:lnTo>
                <a:lnTo>
                  <a:pt x="20" y="27"/>
                </a:lnTo>
                <a:lnTo>
                  <a:pt x="14" y="25"/>
                </a:lnTo>
                <a:lnTo>
                  <a:pt x="14" y="25"/>
                </a:lnTo>
                <a:lnTo>
                  <a:pt x="10" y="21"/>
                </a:lnTo>
                <a:lnTo>
                  <a:pt x="10" y="21"/>
                </a:lnTo>
                <a:lnTo>
                  <a:pt x="4" y="17"/>
                </a:lnTo>
                <a:lnTo>
                  <a:pt x="4" y="17"/>
                </a:lnTo>
                <a:lnTo>
                  <a:pt x="0" y="12"/>
                </a:lnTo>
                <a:lnTo>
                  <a:pt x="0" y="8"/>
                </a:lnTo>
                <a:lnTo>
                  <a:pt x="0" y="6"/>
                </a:lnTo>
                <a:lnTo>
                  <a:pt x="0" y="6"/>
                </a:lnTo>
                <a:lnTo>
                  <a:pt x="2" y="2"/>
                </a:lnTo>
                <a:lnTo>
                  <a:pt x="6" y="0"/>
                </a:lnTo>
                <a:lnTo>
                  <a:pt x="8" y="0"/>
                </a:lnTo>
                <a:lnTo>
                  <a:pt x="8" y="0"/>
                </a:lnTo>
                <a:lnTo>
                  <a:pt x="10" y="2"/>
                </a:lnTo>
                <a:lnTo>
                  <a:pt x="10" y="4"/>
                </a:lnTo>
                <a:lnTo>
                  <a:pt x="10" y="8"/>
                </a:lnTo>
                <a:lnTo>
                  <a:pt x="12" y="10"/>
                </a:lnTo>
                <a:lnTo>
                  <a:pt x="12" y="10"/>
                </a:lnTo>
                <a:lnTo>
                  <a:pt x="14" y="12"/>
                </a:lnTo>
                <a:lnTo>
                  <a:pt x="16" y="10"/>
                </a:lnTo>
                <a:lnTo>
                  <a:pt x="20" y="4"/>
                </a:lnTo>
                <a:lnTo>
                  <a:pt x="20" y="4"/>
                </a:lnTo>
                <a:lnTo>
                  <a:pt x="24" y="4"/>
                </a:lnTo>
                <a:lnTo>
                  <a:pt x="26" y="4"/>
                </a:lnTo>
                <a:lnTo>
                  <a:pt x="32" y="8"/>
                </a:lnTo>
                <a:lnTo>
                  <a:pt x="34" y="15"/>
                </a:lnTo>
                <a:lnTo>
                  <a:pt x="36" y="23"/>
                </a:lnTo>
                <a:lnTo>
                  <a:pt x="36" y="23"/>
                </a:lnTo>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44" name="Freeform 726">
            <a:extLst>
              <a:ext uri="{FF2B5EF4-FFF2-40B4-BE49-F238E27FC236}">
                <a16:creationId xmlns:a16="http://schemas.microsoft.com/office/drawing/2014/main" xmlns="" id="{F4B007FB-4521-4962-860F-4EB808EB9463}"/>
              </a:ext>
            </a:extLst>
          </p:cNvPr>
          <p:cNvSpPr>
            <a:spLocks/>
          </p:cNvSpPr>
          <p:nvPr/>
        </p:nvSpPr>
        <p:spPr bwMode="gray">
          <a:xfrm>
            <a:off x="9881165" y="4768686"/>
            <a:ext cx="87714" cy="90247"/>
          </a:xfrm>
          <a:custGeom>
            <a:avLst/>
            <a:gdLst/>
            <a:ahLst/>
            <a:cxnLst>
              <a:cxn ang="0">
                <a:pos x="15" y="102"/>
              </a:cxn>
              <a:cxn ang="0">
                <a:pos x="7" y="98"/>
              </a:cxn>
              <a:cxn ang="0">
                <a:pos x="2" y="90"/>
              </a:cxn>
              <a:cxn ang="0">
                <a:pos x="0" y="81"/>
              </a:cxn>
              <a:cxn ang="0">
                <a:pos x="5" y="63"/>
              </a:cxn>
              <a:cxn ang="0">
                <a:pos x="11" y="55"/>
              </a:cxn>
              <a:cxn ang="0">
                <a:pos x="51" y="20"/>
              </a:cxn>
              <a:cxn ang="0">
                <a:pos x="58" y="18"/>
              </a:cxn>
              <a:cxn ang="0">
                <a:pos x="62" y="22"/>
              </a:cxn>
              <a:cxn ang="0">
                <a:pos x="68" y="22"/>
              </a:cxn>
              <a:cxn ang="0">
                <a:pos x="82" y="8"/>
              </a:cxn>
              <a:cxn ang="0">
                <a:pos x="92" y="2"/>
              </a:cxn>
              <a:cxn ang="0">
                <a:pos x="102" y="0"/>
              </a:cxn>
              <a:cxn ang="0">
                <a:pos x="115" y="4"/>
              </a:cxn>
              <a:cxn ang="0">
                <a:pos x="117" y="12"/>
              </a:cxn>
              <a:cxn ang="0">
                <a:pos x="111" y="24"/>
              </a:cxn>
              <a:cxn ang="0">
                <a:pos x="102" y="30"/>
              </a:cxn>
              <a:cxn ang="0">
                <a:pos x="86" y="45"/>
              </a:cxn>
              <a:cxn ang="0">
                <a:pos x="80" y="43"/>
              </a:cxn>
              <a:cxn ang="0">
                <a:pos x="80" y="39"/>
              </a:cxn>
              <a:cxn ang="0">
                <a:pos x="82" y="32"/>
              </a:cxn>
              <a:cxn ang="0">
                <a:pos x="84" y="22"/>
              </a:cxn>
              <a:cxn ang="0">
                <a:pos x="84" y="20"/>
              </a:cxn>
              <a:cxn ang="0">
                <a:pos x="76" y="20"/>
              </a:cxn>
              <a:cxn ang="0">
                <a:pos x="72" y="28"/>
              </a:cxn>
              <a:cxn ang="0">
                <a:pos x="72" y="32"/>
              </a:cxn>
              <a:cxn ang="0">
                <a:pos x="72" y="41"/>
              </a:cxn>
              <a:cxn ang="0">
                <a:pos x="66" y="47"/>
              </a:cxn>
              <a:cxn ang="0">
                <a:pos x="64" y="51"/>
              </a:cxn>
              <a:cxn ang="0">
                <a:pos x="68" y="61"/>
              </a:cxn>
              <a:cxn ang="0">
                <a:pos x="66" y="67"/>
              </a:cxn>
              <a:cxn ang="0">
                <a:pos x="60" y="73"/>
              </a:cxn>
              <a:cxn ang="0">
                <a:pos x="39" y="83"/>
              </a:cxn>
              <a:cxn ang="0">
                <a:pos x="35" y="85"/>
              </a:cxn>
              <a:cxn ang="0">
                <a:pos x="25" y="98"/>
              </a:cxn>
              <a:cxn ang="0">
                <a:pos x="23" y="100"/>
              </a:cxn>
              <a:cxn ang="0">
                <a:pos x="25" y="106"/>
              </a:cxn>
              <a:cxn ang="0">
                <a:pos x="31" y="114"/>
              </a:cxn>
              <a:cxn ang="0">
                <a:pos x="31" y="118"/>
              </a:cxn>
              <a:cxn ang="0">
                <a:pos x="23" y="112"/>
              </a:cxn>
              <a:cxn ang="0">
                <a:pos x="15" y="102"/>
              </a:cxn>
              <a:cxn ang="0">
                <a:pos x="15" y="102"/>
              </a:cxn>
            </a:cxnLst>
            <a:rect l="0" t="0" r="r" b="b"/>
            <a:pathLst>
              <a:path w="117" h="118">
                <a:moveTo>
                  <a:pt x="15" y="102"/>
                </a:moveTo>
                <a:lnTo>
                  <a:pt x="15" y="102"/>
                </a:lnTo>
                <a:lnTo>
                  <a:pt x="11" y="100"/>
                </a:lnTo>
                <a:lnTo>
                  <a:pt x="7" y="98"/>
                </a:lnTo>
                <a:lnTo>
                  <a:pt x="5" y="98"/>
                </a:lnTo>
                <a:lnTo>
                  <a:pt x="2" y="90"/>
                </a:lnTo>
                <a:lnTo>
                  <a:pt x="2" y="90"/>
                </a:lnTo>
                <a:lnTo>
                  <a:pt x="0" y="81"/>
                </a:lnTo>
                <a:lnTo>
                  <a:pt x="2" y="71"/>
                </a:lnTo>
                <a:lnTo>
                  <a:pt x="5" y="63"/>
                </a:lnTo>
                <a:lnTo>
                  <a:pt x="11" y="55"/>
                </a:lnTo>
                <a:lnTo>
                  <a:pt x="11" y="55"/>
                </a:lnTo>
                <a:lnTo>
                  <a:pt x="35" y="32"/>
                </a:lnTo>
                <a:lnTo>
                  <a:pt x="51" y="20"/>
                </a:lnTo>
                <a:lnTo>
                  <a:pt x="55" y="16"/>
                </a:lnTo>
                <a:lnTo>
                  <a:pt x="58" y="18"/>
                </a:lnTo>
                <a:lnTo>
                  <a:pt x="58" y="18"/>
                </a:lnTo>
                <a:lnTo>
                  <a:pt x="62" y="22"/>
                </a:lnTo>
                <a:lnTo>
                  <a:pt x="64" y="22"/>
                </a:lnTo>
                <a:lnTo>
                  <a:pt x="68" y="22"/>
                </a:lnTo>
                <a:lnTo>
                  <a:pt x="74" y="18"/>
                </a:lnTo>
                <a:lnTo>
                  <a:pt x="82" y="8"/>
                </a:lnTo>
                <a:lnTo>
                  <a:pt x="88" y="4"/>
                </a:lnTo>
                <a:lnTo>
                  <a:pt x="92" y="2"/>
                </a:lnTo>
                <a:lnTo>
                  <a:pt x="92" y="2"/>
                </a:lnTo>
                <a:lnTo>
                  <a:pt x="102" y="0"/>
                </a:lnTo>
                <a:lnTo>
                  <a:pt x="111" y="2"/>
                </a:lnTo>
                <a:lnTo>
                  <a:pt x="115" y="4"/>
                </a:lnTo>
                <a:lnTo>
                  <a:pt x="117" y="8"/>
                </a:lnTo>
                <a:lnTo>
                  <a:pt x="117" y="12"/>
                </a:lnTo>
                <a:lnTo>
                  <a:pt x="115" y="18"/>
                </a:lnTo>
                <a:lnTo>
                  <a:pt x="111" y="24"/>
                </a:lnTo>
                <a:lnTo>
                  <a:pt x="102" y="30"/>
                </a:lnTo>
                <a:lnTo>
                  <a:pt x="102" y="30"/>
                </a:lnTo>
                <a:lnTo>
                  <a:pt x="92" y="41"/>
                </a:lnTo>
                <a:lnTo>
                  <a:pt x="86" y="45"/>
                </a:lnTo>
                <a:lnTo>
                  <a:pt x="84" y="45"/>
                </a:lnTo>
                <a:lnTo>
                  <a:pt x="80" y="43"/>
                </a:lnTo>
                <a:lnTo>
                  <a:pt x="80" y="43"/>
                </a:lnTo>
                <a:lnTo>
                  <a:pt x="80" y="39"/>
                </a:lnTo>
                <a:lnTo>
                  <a:pt x="80" y="37"/>
                </a:lnTo>
                <a:lnTo>
                  <a:pt x="82" y="32"/>
                </a:lnTo>
                <a:lnTo>
                  <a:pt x="84" y="28"/>
                </a:lnTo>
                <a:lnTo>
                  <a:pt x="84" y="22"/>
                </a:lnTo>
                <a:lnTo>
                  <a:pt x="84" y="22"/>
                </a:lnTo>
                <a:lnTo>
                  <a:pt x="84" y="20"/>
                </a:lnTo>
                <a:lnTo>
                  <a:pt x="82" y="20"/>
                </a:lnTo>
                <a:lnTo>
                  <a:pt x="76" y="20"/>
                </a:lnTo>
                <a:lnTo>
                  <a:pt x="72" y="26"/>
                </a:lnTo>
                <a:lnTo>
                  <a:pt x="72" y="28"/>
                </a:lnTo>
                <a:lnTo>
                  <a:pt x="72" y="32"/>
                </a:lnTo>
                <a:lnTo>
                  <a:pt x="72" y="32"/>
                </a:lnTo>
                <a:lnTo>
                  <a:pt x="74" y="39"/>
                </a:lnTo>
                <a:lnTo>
                  <a:pt x="72" y="41"/>
                </a:lnTo>
                <a:lnTo>
                  <a:pt x="70" y="43"/>
                </a:lnTo>
                <a:lnTo>
                  <a:pt x="66" y="47"/>
                </a:lnTo>
                <a:lnTo>
                  <a:pt x="66" y="47"/>
                </a:lnTo>
                <a:lnTo>
                  <a:pt x="64" y="51"/>
                </a:lnTo>
                <a:lnTo>
                  <a:pt x="66" y="57"/>
                </a:lnTo>
                <a:lnTo>
                  <a:pt x="68" y="61"/>
                </a:lnTo>
                <a:lnTo>
                  <a:pt x="68" y="65"/>
                </a:lnTo>
                <a:lnTo>
                  <a:pt x="66" y="67"/>
                </a:lnTo>
                <a:lnTo>
                  <a:pt x="66" y="67"/>
                </a:lnTo>
                <a:lnTo>
                  <a:pt x="60" y="73"/>
                </a:lnTo>
                <a:lnTo>
                  <a:pt x="53" y="77"/>
                </a:lnTo>
                <a:lnTo>
                  <a:pt x="39" y="83"/>
                </a:lnTo>
                <a:lnTo>
                  <a:pt x="39" y="83"/>
                </a:lnTo>
                <a:lnTo>
                  <a:pt x="35" y="85"/>
                </a:lnTo>
                <a:lnTo>
                  <a:pt x="31" y="90"/>
                </a:lnTo>
                <a:lnTo>
                  <a:pt x="25" y="98"/>
                </a:lnTo>
                <a:lnTo>
                  <a:pt x="25" y="98"/>
                </a:lnTo>
                <a:lnTo>
                  <a:pt x="23" y="100"/>
                </a:lnTo>
                <a:lnTo>
                  <a:pt x="23" y="104"/>
                </a:lnTo>
                <a:lnTo>
                  <a:pt x="25" y="106"/>
                </a:lnTo>
                <a:lnTo>
                  <a:pt x="29" y="110"/>
                </a:lnTo>
                <a:lnTo>
                  <a:pt x="31" y="114"/>
                </a:lnTo>
                <a:lnTo>
                  <a:pt x="31" y="114"/>
                </a:lnTo>
                <a:lnTo>
                  <a:pt x="31" y="118"/>
                </a:lnTo>
                <a:lnTo>
                  <a:pt x="29" y="118"/>
                </a:lnTo>
                <a:lnTo>
                  <a:pt x="23" y="112"/>
                </a:lnTo>
                <a:lnTo>
                  <a:pt x="15" y="102"/>
                </a:lnTo>
                <a:lnTo>
                  <a:pt x="15" y="102"/>
                </a:lnTo>
                <a:lnTo>
                  <a:pt x="15" y="102"/>
                </a:lnTo>
                <a:lnTo>
                  <a:pt x="15" y="102"/>
                </a:lnTo>
                <a:lnTo>
                  <a:pt x="15" y="102"/>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45" name="Freeform 727">
            <a:extLst>
              <a:ext uri="{FF2B5EF4-FFF2-40B4-BE49-F238E27FC236}">
                <a16:creationId xmlns:a16="http://schemas.microsoft.com/office/drawing/2014/main" xmlns="" id="{DC1D9FE3-04A5-4B9F-946B-EFF9FC102229}"/>
              </a:ext>
            </a:extLst>
          </p:cNvPr>
          <p:cNvSpPr>
            <a:spLocks/>
          </p:cNvSpPr>
          <p:nvPr/>
        </p:nvSpPr>
        <p:spPr bwMode="gray">
          <a:xfrm>
            <a:off x="9879665" y="4855873"/>
            <a:ext cx="61475" cy="90247"/>
          </a:xfrm>
          <a:custGeom>
            <a:avLst/>
            <a:gdLst/>
            <a:ahLst/>
            <a:cxnLst>
              <a:cxn ang="0">
                <a:pos x="9" y="0"/>
              </a:cxn>
              <a:cxn ang="0">
                <a:pos x="9" y="0"/>
              </a:cxn>
              <a:cxn ang="0">
                <a:pos x="2" y="0"/>
              </a:cxn>
              <a:cxn ang="0">
                <a:pos x="0" y="2"/>
              </a:cxn>
              <a:cxn ang="0">
                <a:pos x="2" y="6"/>
              </a:cxn>
              <a:cxn ang="0">
                <a:pos x="4" y="12"/>
              </a:cxn>
              <a:cxn ang="0">
                <a:pos x="17" y="24"/>
              </a:cxn>
              <a:cxn ang="0">
                <a:pos x="17" y="24"/>
              </a:cxn>
              <a:cxn ang="0">
                <a:pos x="19" y="39"/>
              </a:cxn>
              <a:cxn ang="0">
                <a:pos x="23" y="47"/>
              </a:cxn>
              <a:cxn ang="0">
                <a:pos x="37" y="63"/>
              </a:cxn>
              <a:cxn ang="0">
                <a:pos x="37" y="63"/>
              </a:cxn>
              <a:cxn ang="0">
                <a:pos x="41" y="69"/>
              </a:cxn>
              <a:cxn ang="0">
                <a:pos x="43" y="75"/>
              </a:cxn>
              <a:cxn ang="0">
                <a:pos x="47" y="88"/>
              </a:cxn>
              <a:cxn ang="0">
                <a:pos x="51" y="100"/>
              </a:cxn>
              <a:cxn ang="0">
                <a:pos x="53" y="106"/>
              </a:cxn>
              <a:cxn ang="0">
                <a:pos x="60" y="112"/>
              </a:cxn>
              <a:cxn ang="0">
                <a:pos x="60" y="112"/>
              </a:cxn>
              <a:cxn ang="0">
                <a:pos x="68" y="118"/>
              </a:cxn>
              <a:cxn ang="0">
                <a:pos x="70" y="118"/>
              </a:cxn>
              <a:cxn ang="0">
                <a:pos x="72" y="116"/>
              </a:cxn>
              <a:cxn ang="0">
                <a:pos x="74" y="110"/>
              </a:cxn>
              <a:cxn ang="0">
                <a:pos x="72" y="102"/>
              </a:cxn>
              <a:cxn ang="0">
                <a:pos x="72" y="102"/>
              </a:cxn>
              <a:cxn ang="0">
                <a:pos x="72" y="92"/>
              </a:cxn>
              <a:cxn ang="0">
                <a:pos x="74" y="84"/>
              </a:cxn>
              <a:cxn ang="0">
                <a:pos x="80" y="65"/>
              </a:cxn>
              <a:cxn ang="0">
                <a:pos x="80" y="65"/>
              </a:cxn>
              <a:cxn ang="0">
                <a:pos x="82" y="59"/>
              </a:cxn>
              <a:cxn ang="0">
                <a:pos x="80" y="53"/>
              </a:cxn>
              <a:cxn ang="0">
                <a:pos x="76" y="49"/>
              </a:cxn>
              <a:cxn ang="0">
                <a:pos x="72" y="45"/>
              </a:cxn>
              <a:cxn ang="0">
                <a:pos x="60" y="37"/>
              </a:cxn>
              <a:cxn ang="0">
                <a:pos x="51" y="27"/>
              </a:cxn>
              <a:cxn ang="0">
                <a:pos x="51" y="27"/>
              </a:cxn>
              <a:cxn ang="0">
                <a:pos x="47" y="22"/>
              </a:cxn>
              <a:cxn ang="0">
                <a:pos x="43" y="20"/>
              </a:cxn>
              <a:cxn ang="0">
                <a:pos x="31" y="20"/>
              </a:cxn>
              <a:cxn ang="0">
                <a:pos x="23" y="20"/>
              </a:cxn>
              <a:cxn ang="0">
                <a:pos x="19" y="18"/>
              </a:cxn>
              <a:cxn ang="0">
                <a:pos x="17" y="14"/>
              </a:cxn>
              <a:cxn ang="0">
                <a:pos x="17" y="14"/>
              </a:cxn>
              <a:cxn ang="0">
                <a:pos x="15" y="8"/>
              </a:cxn>
              <a:cxn ang="0">
                <a:pos x="13" y="2"/>
              </a:cxn>
              <a:cxn ang="0">
                <a:pos x="9" y="0"/>
              </a:cxn>
              <a:cxn ang="0">
                <a:pos x="9" y="0"/>
              </a:cxn>
            </a:cxnLst>
            <a:rect l="0" t="0" r="r" b="b"/>
            <a:pathLst>
              <a:path w="82" h="118">
                <a:moveTo>
                  <a:pt x="9" y="0"/>
                </a:moveTo>
                <a:lnTo>
                  <a:pt x="9" y="0"/>
                </a:lnTo>
                <a:lnTo>
                  <a:pt x="2" y="0"/>
                </a:lnTo>
                <a:lnTo>
                  <a:pt x="0" y="2"/>
                </a:lnTo>
                <a:lnTo>
                  <a:pt x="2" y="6"/>
                </a:lnTo>
                <a:lnTo>
                  <a:pt x="4" y="12"/>
                </a:lnTo>
                <a:lnTo>
                  <a:pt x="17" y="24"/>
                </a:lnTo>
                <a:lnTo>
                  <a:pt x="17" y="24"/>
                </a:lnTo>
                <a:lnTo>
                  <a:pt x="19" y="39"/>
                </a:lnTo>
                <a:lnTo>
                  <a:pt x="23" y="47"/>
                </a:lnTo>
                <a:lnTo>
                  <a:pt x="37" y="63"/>
                </a:lnTo>
                <a:lnTo>
                  <a:pt x="37" y="63"/>
                </a:lnTo>
                <a:lnTo>
                  <a:pt x="41" y="69"/>
                </a:lnTo>
                <a:lnTo>
                  <a:pt x="43" y="75"/>
                </a:lnTo>
                <a:lnTo>
                  <a:pt x="47" y="88"/>
                </a:lnTo>
                <a:lnTo>
                  <a:pt x="51" y="100"/>
                </a:lnTo>
                <a:lnTo>
                  <a:pt x="53" y="106"/>
                </a:lnTo>
                <a:lnTo>
                  <a:pt x="60" y="112"/>
                </a:lnTo>
                <a:lnTo>
                  <a:pt x="60" y="112"/>
                </a:lnTo>
                <a:lnTo>
                  <a:pt x="68" y="118"/>
                </a:lnTo>
                <a:lnTo>
                  <a:pt x="70" y="118"/>
                </a:lnTo>
                <a:lnTo>
                  <a:pt x="72" y="116"/>
                </a:lnTo>
                <a:lnTo>
                  <a:pt x="74" y="110"/>
                </a:lnTo>
                <a:lnTo>
                  <a:pt x="72" y="102"/>
                </a:lnTo>
                <a:lnTo>
                  <a:pt x="72" y="102"/>
                </a:lnTo>
                <a:lnTo>
                  <a:pt x="72" y="92"/>
                </a:lnTo>
                <a:lnTo>
                  <a:pt x="74" y="84"/>
                </a:lnTo>
                <a:lnTo>
                  <a:pt x="80" y="65"/>
                </a:lnTo>
                <a:lnTo>
                  <a:pt x="80" y="65"/>
                </a:lnTo>
                <a:lnTo>
                  <a:pt x="82" y="59"/>
                </a:lnTo>
                <a:lnTo>
                  <a:pt x="80" y="53"/>
                </a:lnTo>
                <a:lnTo>
                  <a:pt x="76" y="49"/>
                </a:lnTo>
                <a:lnTo>
                  <a:pt x="72" y="45"/>
                </a:lnTo>
                <a:lnTo>
                  <a:pt x="60" y="37"/>
                </a:lnTo>
                <a:lnTo>
                  <a:pt x="51" y="27"/>
                </a:lnTo>
                <a:lnTo>
                  <a:pt x="51" y="27"/>
                </a:lnTo>
                <a:lnTo>
                  <a:pt x="47" y="22"/>
                </a:lnTo>
                <a:lnTo>
                  <a:pt x="43" y="20"/>
                </a:lnTo>
                <a:lnTo>
                  <a:pt x="31" y="20"/>
                </a:lnTo>
                <a:lnTo>
                  <a:pt x="23" y="20"/>
                </a:lnTo>
                <a:lnTo>
                  <a:pt x="19" y="18"/>
                </a:lnTo>
                <a:lnTo>
                  <a:pt x="17" y="14"/>
                </a:lnTo>
                <a:lnTo>
                  <a:pt x="17" y="14"/>
                </a:lnTo>
                <a:lnTo>
                  <a:pt x="15" y="8"/>
                </a:lnTo>
                <a:lnTo>
                  <a:pt x="13" y="2"/>
                </a:lnTo>
                <a:lnTo>
                  <a:pt x="9" y="0"/>
                </a:lnTo>
                <a:lnTo>
                  <a:pt x="9" y="0"/>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46" name="Freeform 728">
            <a:extLst>
              <a:ext uri="{FF2B5EF4-FFF2-40B4-BE49-F238E27FC236}">
                <a16:creationId xmlns:a16="http://schemas.microsoft.com/office/drawing/2014/main" xmlns="" id="{CA9D20CE-F23A-4194-ACAE-670C52044307}"/>
              </a:ext>
            </a:extLst>
          </p:cNvPr>
          <p:cNvSpPr>
            <a:spLocks/>
          </p:cNvSpPr>
          <p:nvPr/>
        </p:nvSpPr>
        <p:spPr bwMode="gray">
          <a:xfrm>
            <a:off x="9962131" y="4737328"/>
            <a:ext cx="65973" cy="23709"/>
          </a:xfrm>
          <a:custGeom>
            <a:avLst/>
            <a:gdLst/>
            <a:ahLst/>
            <a:cxnLst>
              <a:cxn ang="0">
                <a:pos x="29" y="31"/>
              </a:cxn>
              <a:cxn ang="0">
                <a:pos x="29" y="31"/>
              </a:cxn>
              <a:cxn ang="0">
                <a:pos x="35" y="29"/>
              </a:cxn>
              <a:cxn ang="0">
                <a:pos x="41" y="25"/>
              </a:cxn>
              <a:cxn ang="0">
                <a:pos x="47" y="23"/>
              </a:cxn>
              <a:cxn ang="0">
                <a:pos x="54" y="20"/>
              </a:cxn>
              <a:cxn ang="0">
                <a:pos x="54" y="20"/>
              </a:cxn>
              <a:cxn ang="0">
                <a:pos x="76" y="25"/>
              </a:cxn>
              <a:cxn ang="0">
                <a:pos x="82" y="25"/>
              </a:cxn>
              <a:cxn ang="0">
                <a:pos x="88" y="23"/>
              </a:cxn>
              <a:cxn ang="0">
                <a:pos x="88" y="18"/>
              </a:cxn>
              <a:cxn ang="0">
                <a:pos x="86" y="14"/>
              </a:cxn>
              <a:cxn ang="0">
                <a:pos x="86" y="14"/>
              </a:cxn>
              <a:cxn ang="0">
                <a:pos x="78" y="8"/>
              </a:cxn>
              <a:cxn ang="0">
                <a:pos x="70" y="4"/>
              </a:cxn>
              <a:cxn ang="0">
                <a:pos x="60" y="2"/>
              </a:cxn>
              <a:cxn ang="0">
                <a:pos x="49" y="0"/>
              </a:cxn>
              <a:cxn ang="0">
                <a:pos x="39" y="0"/>
              </a:cxn>
              <a:cxn ang="0">
                <a:pos x="29" y="0"/>
              </a:cxn>
              <a:cxn ang="0">
                <a:pos x="19" y="4"/>
              </a:cxn>
              <a:cxn ang="0">
                <a:pos x="13" y="8"/>
              </a:cxn>
              <a:cxn ang="0">
                <a:pos x="13" y="8"/>
              </a:cxn>
              <a:cxn ang="0">
                <a:pos x="5" y="12"/>
              </a:cxn>
              <a:cxn ang="0">
                <a:pos x="0" y="18"/>
              </a:cxn>
              <a:cxn ang="0">
                <a:pos x="0" y="23"/>
              </a:cxn>
              <a:cxn ang="0">
                <a:pos x="3" y="27"/>
              </a:cxn>
              <a:cxn ang="0">
                <a:pos x="9" y="29"/>
              </a:cxn>
              <a:cxn ang="0">
                <a:pos x="15" y="31"/>
              </a:cxn>
              <a:cxn ang="0">
                <a:pos x="21" y="31"/>
              </a:cxn>
              <a:cxn ang="0">
                <a:pos x="29" y="31"/>
              </a:cxn>
              <a:cxn ang="0">
                <a:pos x="29" y="31"/>
              </a:cxn>
              <a:cxn ang="0">
                <a:pos x="31" y="31"/>
              </a:cxn>
              <a:cxn ang="0">
                <a:pos x="29" y="31"/>
              </a:cxn>
              <a:cxn ang="0">
                <a:pos x="29" y="31"/>
              </a:cxn>
            </a:cxnLst>
            <a:rect l="0" t="0" r="r" b="b"/>
            <a:pathLst>
              <a:path w="88" h="31">
                <a:moveTo>
                  <a:pt x="29" y="31"/>
                </a:moveTo>
                <a:lnTo>
                  <a:pt x="29" y="31"/>
                </a:lnTo>
                <a:lnTo>
                  <a:pt x="35" y="29"/>
                </a:lnTo>
                <a:lnTo>
                  <a:pt x="41" y="25"/>
                </a:lnTo>
                <a:lnTo>
                  <a:pt x="47" y="23"/>
                </a:lnTo>
                <a:lnTo>
                  <a:pt x="54" y="20"/>
                </a:lnTo>
                <a:lnTo>
                  <a:pt x="54" y="20"/>
                </a:lnTo>
                <a:lnTo>
                  <a:pt x="76" y="25"/>
                </a:lnTo>
                <a:lnTo>
                  <a:pt x="82" y="25"/>
                </a:lnTo>
                <a:lnTo>
                  <a:pt x="88" y="23"/>
                </a:lnTo>
                <a:lnTo>
                  <a:pt x="88" y="18"/>
                </a:lnTo>
                <a:lnTo>
                  <a:pt x="86" y="14"/>
                </a:lnTo>
                <a:lnTo>
                  <a:pt x="86" y="14"/>
                </a:lnTo>
                <a:lnTo>
                  <a:pt x="78" y="8"/>
                </a:lnTo>
                <a:lnTo>
                  <a:pt x="70" y="4"/>
                </a:lnTo>
                <a:lnTo>
                  <a:pt x="60" y="2"/>
                </a:lnTo>
                <a:lnTo>
                  <a:pt x="49" y="0"/>
                </a:lnTo>
                <a:lnTo>
                  <a:pt x="39" y="0"/>
                </a:lnTo>
                <a:lnTo>
                  <a:pt x="29" y="0"/>
                </a:lnTo>
                <a:lnTo>
                  <a:pt x="19" y="4"/>
                </a:lnTo>
                <a:lnTo>
                  <a:pt x="13" y="8"/>
                </a:lnTo>
                <a:lnTo>
                  <a:pt x="13" y="8"/>
                </a:lnTo>
                <a:lnTo>
                  <a:pt x="5" y="12"/>
                </a:lnTo>
                <a:lnTo>
                  <a:pt x="0" y="18"/>
                </a:lnTo>
                <a:lnTo>
                  <a:pt x="0" y="23"/>
                </a:lnTo>
                <a:lnTo>
                  <a:pt x="3" y="27"/>
                </a:lnTo>
                <a:lnTo>
                  <a:pt x="9" y="29"/>
                </a:lnTo>
                <a:lnTo>
                  <a:pt x="15" y="31"/>
                </a:lnTo>
                <a:lnTo>
                  <a:pt x="21" y="31"/>
                </a:lnTo>
                <a:lnTo>
                  <a:pt x="29" y="31"/>
                </a:lnTo>
                <a:lnTo>
                  <a:pt x="29" y="31"/>
                </a:lnTo>
                <a:lnTo>
                  <a:pt x="31" y="31"/>
                </a:lnTo>
                <a:lnTo>
                  <a:pt x="29" y="31"/>
                </a:lnTo>
                <a:lnTo>
                  <a:pt x="29" y="31"/>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47" name="Freeform 729">
            <a:extLst>
              <a:ext uri="{FF2B5EF4-FFF2-40B4-BE49-F238E27FC236}">
                <a16:creationId xmlns:a16="http://schemas.microsoft.com/office/drawing/2014/main" xmlns="" id="{3F0F2022-6D8A-4532-AA83-E9221EE1DCB7}"/>
              </a:ext>
            </a:extLst>
          </p:cNvPr>
          <p:cNvSpPr>
            <a:spLocks/>
          </p:cNvSpPr>
          <p:nvPr/>
        </p:nvSpPr>
        <p:spPr bwMode="gray">
          <a:xfrm>
            <a:off x="9960632" y="4944591"/>
            <a:ext cx="58476" cy="23709"/>
          </a:xfrm>
          <a:custGeom>
            <a:avLst/>
            <a:gdLst/>
            <a:ahLst/>
            <a:cxnLst>
              <a:cxn ang="0">
                <a:pos x="27" y="8"/>
              </a:cxn>
              <a:cxn ang="0">
                <a:pos x="27" y="8"/>
              </a:cxn>
              <a:cxn ang="0">
                <a:pos x="31" y="6"/>
              </a:cxn>
              <a:cxn ang="0">
                <a:pos x="35" y="4"/>
              </a:cxn>
              <a:cxn ang="0">
                <a:pos x="39" y="0"/>
              </a:cxn>
              <a:cxn ang="0">
                <a:pos x="43" y="0"/>
              </a:cxn>
              <a:cxn ang="0">
                <a:pos x="45" y="2"/>
              </a:cxn>
              <a:cxn ang="0">
                <a:pos x="45" y="2"/>
              </a:cxn>
              <a:cxn ang="0">
                <a:pos x="64" y="12"/>
              </a:cxn>
              <a:cxn ang="0">
                <a:pos x="74" y="19"/>
              </a:cxn>
              <a:cxn ang="0">
                <a:pos x="78" y="23"/>
              </a:cxn>
              <a:cxn ang="0">
                <a:pos x="78" y="27"/>
              </a:cxn>
              <a:cxn ang="0">
                <a:pos x="78" y="27"/>
              </a:cxn>
              <a:cxn ang="0">
                <a:pos x="64" y="29"/>
              </a:cxn>
              <a:cxn ang="0">
                <a:pos x="47" y="31"/>
              </a:cxn>
              <a:cxn ang="0">
                <a:pos x="25" y="29"/>
              </a:cxn>
              <a:cxn ang="0">
                <a:pos x="25" y="29"/>
              </a:cxn>
              <a:cxn ang="0">
                <a:pos x="15" y="27"/>
              </a:cxn>
              <a:cxn ang="0">
                <a:pos x="7" y="25"/>
              </a:cxn>
              <a:cxn ang="0">
                <a:pos x="2" y="21"/>
              </a:cxn>
              <a:cxn ang="0">
                <a:pos x="0" y="15"/>
              </a:cxn>
              <a:cxn ang="0">
                <a:pos x="2" y="12"/>
              </a:cxn>
              <a:cxn ang="0">
                <a:pos x="7" y="8"/>
              </a:cxn>
              <a:cxn ang="0">
                <a:pos x="15" y="8"/>
              </a:cxn>
              <a:cxn ang="0">
                <a:pos x="27" y="8"/>
              </a:cxn>
              <a:cxn ang="0">
                <a:pos x="27" y="8"/>
              </a:cxn>
              <a:cxn ang="0">
                <a:pos x="19" y="6"/>
              </a:cxn>
              <a:cxn ang="0">
                <a:pos x="27" y="8"/>
              </a:cxn>
              <a:cxn ang="0">
                <a:pos x="27" y="8"/>
              </a:cxn>
            </a:cxnLst>
            <a:rect l="0" t="0" r="r" b="b"/>
            <a:pathLst>
              <a:path w="78" h="31">
                <a:moveTo>
                  <a:pt x="27" y="8"/>
                </a:moveTo>
                <a:lnTo>
                  <a:pt x="27" y="8"/>
                </a:lnTo>
                <a:lnTo>
                  <a:pt x="31" y="6"/>
                </a:lnTo>
                <a:lnTo>
                  <a:pt x="35" y="4"/>
                </a:lnTo>
                <a:lnTo>
                  <a:pt x="39" y="0"/>
                </a:lnTo>
                <a:lnTo>
                  <a:pt x="43" y="0"/>
                </a:lnTo>
                <a:lnTo>
                  <a:pt x="45" y="2"/>
                </a:lnTo>
                <a:lnTo>
                  <a:pt x="45" y="2"/>
                </a:lnTo>
                <a:lnTo>
                  <a:pt x="64" y="12"/>
                </a:lnTo>
                <a:lnTo>
                  <a:pt x="74" y="19"/>
                </a:lnTo>
                <a:lnTo>
                  <a:pt x="78" y="23"/>
                </a:lnTo>
                <a:lnTo>
                  <a:pt x="78" y="27"/>
                </a:lnTo>
                <a:lnTo>
                  <a:pt x="78" y="27"/>
                </a:lnTo>
                <a:lnTo>
                  <a:pt x="64" y="29"/>
                </a:lnTo>
                <a:lnTo>
                  <a:pt x="47" y="31"/>
                </a:lnTo>
                <a:lnTo>
                  <a:pt x="25" y="29"/>
                </a:lnTo>
                <a:lnTo>
                  <a:pt x="25" y="29"/>
                </a:lnTo>
                <a:lnTo>
                  <a:pt x="15" y="27"/>
                </a:lnTo>
                <a:lnTo>
                  <a:pt x="7" y="25"/>
                </a:lnTo>
                <a:lnTo>
                  <a:pt x="2" y="21"/>
                </a:lnTo>
                <a:lnTo>
                  <a:pt x="0" y="15"/>
                </a:lnTo>
                <a:lnTo>
                  <a:pt x="2" y="12"/>
                </a:lnTo>
                <a:lnTo>
                  <a:pt x="7" y="8"/>
                </a:lnTo>
                <a:lnTo>
                  <a:pt x="15" y="8"/>
                </a:lnTo>
                <a:lnTo>
                  <a:pt x="27" y="8"/>
                </a:lnTo>
                <a:lnTo>
                  <a:pt x="27" y="8"/>
                </a:lnTo>
                <a:lnTo>
                  <a:pt x="19" y="6"/>
                </a:lnTo>
                <a:lnTo>
                  <a:pt x="27" y="8"/>
                </a:lnTo>
                <a:lnTo>
                  <a:pt x="27" y="8"/>
                </a:lnTo>
                <a:close/>
              </a:path>
            </a:pathLst>
          </a:custGeom>
          <a:solidFill>
            <a:schemeClr val="bg1">
              <a:lumMod val="50000"/>
            </a:schemeClr>
          </a:solidFill>
          <a:ln w="9525">
            <a:noFill/>
            <a:round/>
            <a:headEnd/>
            <a:tailEnd/>
          </a:ln>
        </p:spPr>
        <p:txBody>
          <a:bodyPr vert="horz" wrap="square" lIns="121916" tIns="60958" rIns="121916" bIns="60958" numCol="1" anchor="t" anchorCtr="0" compatLnSpc="1">
            <a:prstTxWarp prst="textNoShape">
              <a:avLst/>
            </a:prstTxWarp>
          </a:bodyPr>
          <a:lstStyle/>
          <a:p>
            <a:endParaRPr lang="zh-CN" altLang="en-US" sz="1200">
              <a:latin typeface="Huawei Sans" panose="020C0503030203020204" pitchFamily="34" charset="0"/>
              <a:ea typeface="方正兰亭黑简体" panose="02000000000000000000" pitchFamily="2" charset="-122"/>
            </a:endParaRPr>
          </a:p>
        </p:txBody>
      </p:sp>
      <p:sp>
        <p:nvSpPr>
          <p:cNvPr id="48" name="矩形 51">
            <a:extLst>
              <a:ext uri="{FF2B5EF4-FFF2-40B4-BE49-F238E27FC236}">
                <a16:creationId xmlns:a16="http://schemas.microsoft.com/office/drawing/2014/main" xmlns="" id="{170D0F9C-ED67-48A9-AFD5-98D4F7CED997}"/>
              </a:ext>
            </a:extLst>
          </p:cNvPr>
          <p:cNvSpPr>
            <a:spLocks noChangeArrowheads="1"/>
          </p:cNvSpPr>
          <p:nvPr/>
        </p:nvSpPr>
        <p:spPr bwMode="gray">
          <a:xfrm>
            <a:off x="10065176" y="4738175"/>
            <a:ext cx="744060" cy="276973"/>
          </a:xfrm>
          <a:prstGeom prst="rect">
            <a:avLst/>
          </a:prstGeom>
          <a:noFill/>
          <a:ln w="9525">
            <a:noFill/>
            <a:miter lim="800000"/>
            <a:headEnd/>
            <a:tailEnd/>
          </a:ln>
        </p:spPr>
        <p:txBody>
          <a:bodyPr wrap="none" lIns="91413" tIns="45707" rIns="91413" bIns="45707">
            <a:spAutoFit/>
          </a:bodyPr>
          <a:lstStyle/>
          <a:p>
            <a:pPr algn="ctr"/>
            <a:r>
              <a:rPr lang="en-US" altLang="zh-CN" sz="1200" dirty="0">
                <a:latin typeface="Huawei Sans" panose="020C0503030203020204" pitchFamily="34" charset="0"/>
                <a:ea typeface="方正兰亭黑简体" panose="02000000000000000000" pitchFamily="2" charset="-122"/>
                <a:sym typeface="Arial" pitchFamily="34" charset="0"/>
              </a:rPr>
              <a:t>Intranet</a:t>
            </a:r>
            <a:endParaRPr lang="zh-CN" altLang="en-US" sz="1200" dirty="0">
              <a:latin typeface="Huawei Sans" panose="020C0503030203020204" pitchFamily="34" charset="0"/>
              <a:ea typeface="方正兰亭黑简体" panose="02000000000000000000" pitchFamily="2" charset="-122"/>
              <a:sym typeface="Arial" pitchFamily="34" charset="0"/>
            </a:endParaRPr>
          </a:p>
        </p:txBody>
      </p:sp>
      <p:pic>
        <p:nvPicPr>
          <p:cNvPr id="49" name="图片 48" descr="通用服务器-蓝.png"/>
          <p:cNvPicPr>
            <a:picLocks/>
          </p:cNvPicPr>
          <p:nvPr/>
        </p:nvPicPr>
        <p:blipFill>
          <a:blip r:embed="rId12" cstate="print"/>
          <a:stretch>
            <a:fillRect/>
          </a:stretch>
        </p:blipFill>
        <p:spPr bwMode="gray">
          <a:xfrm>
            <a:off x="7464611" y="4761037"/>
            <a:ext cx="360000" cy="359014"/>
          </a:xfrm>
          <a:prstGeom prst="rect">
            <a:avLst/>
          </a:prstGeom>
        </p:spPr>
      </p:pic>
      <p:pic>
        <p:nvPicPr>
          <p:cNvPr id="50" name="图片 49" descr="通用服务器-蓝.png"/>
          <p:cNvPicPr>
            <a:picLocks/>
          </p:cNvPicPr>
          <p:nvPr/>
        </p:nvPicPr>
        <p:blipFill>
          <a:blip r:embed="rId12" cstate="print"/>
          <a:stretch>
            <a:fillRect/>
          </a:stretch>
        </p:blipFill>
        <p:spPr bwMode="gray">
          <a:xfrm>
            <a:off x="8247668" y="4761037"/>
            <a:ext cx="360000" cy="359014"/>
          </a:xfrm>
          <a:prstGeom prst="rect">
            <a:avLst/>
          </a:prstGeom>
        </p:spPr>
      </p:pic>
      <p:pic>
        <p:nvPicPr>
          <p:cNvPr id="51" name="图片 50" descr="通用服务器-蓝.png"/>
          <p:cNvPicPr>
            <a:picLocks/>
          </p:cNvPicPr>
          <p:nvPr/>
        </p:nvPicPr>
        <p:blipFill>
          <a:blip r:embed="rId12" cstate="print"/>
          <a:stretch>
            <a:fillRect/>
          </a:stretch>
        </p:blipFill>
        <p:spPr bwMode="gray">
          <a:xfrm>
            <a:off x="9136831" y="4761037"/>
            <a:ext cx="360000" cy="359014"/>
          </a:xfrm>
          <a:prstGeom prst="rect">
            <a:avLst/>
          </a:prstGeom>
        </p:spPr>
      </p:pic>
      <p:sp>
        <p:nvSpPr>
          <p:cNvPr id="52" name="圆角矩形 139">
            <a:extLst>
              <a:ext uri="{FF2B5EF4-FFF2-40B4-BE49-F238E27FC236}">
                <a16:creationId xmlns:a16="http://schemas.microsoft.com/office/drawing/2014/main" xmlns="" id="{98B86B15-C793-4E31-AAF2-03B2EB1A4493}"/>
              </a:ext>
            </a:extLst>
          </p:cNvPr>
          <p:cNvSpPr/>
          <p:nvPr/>
        </p:nvSpPr>
        <p:spPr bwMode="gray">
          <a:xfrm>
            <a:off x="8602822" y="1491954"/>
            <a:ext cx="2594220" cy="1319888"/>
          </a:xfrm>
          <a:prstGeom prst="roundRect">
            <a:avLst>
              <a:gd name="adj" fmla="val 1058"/>
            </a:avLst>
          </a:prstGeom>
          <a:solidFill>
            <a:srgbClr val="FFFFFF"/>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53" name="矩形 51">
            <a:extLst>
              <a:ext uri="{FF2B5EF4-FFF2-40B4-BE49-F238E27FC236}">
                <a16:creationId xmlns:a16="http://schemas.microsoft.com/office/drawing/2014/main" xmlns="" id="{804C6A06-0EF1-4D89-8123-DD00B9ADF841}"/>
              </a:ext>
            </a:extLst>
          </p:cNvPr>
          <p:cNvSpPr>
            <a:spLocks noChangeArrowheads="1"/>
          </p:cNvSpPr>
          <p:nvPr/>
        </p:nvSpPr>
        <p:spPr bwMode="gray">
          <a:xfrm>
            <a:off x="8649902" y="2191869"/>
            <a:ext cx="800165" cy="461639"/>
          </a:xfrm>
          <a:prstGeom prst="rect">
            <a:avLst/>
          </a:prstGeom>
          <a:ln w="12700">
            <a:noFill/>
          </a:ln>
        </p:spPr>
        <p:style>
          <a:lnRef idx="1">
            <a:schemeClr val="accent1"/>
          </a:lnRef>
          <a:fillRef idx="0">
            <a:schemeClr val="accent1"/>
          </a:fillRef>
          <a:effectRef idx="0">
            <a:schemeClr val="accent1"/>
          </a:effectRef>
          <a:fontRef idx="minor">
            <a:schemeClr val="tx1"/>
          </a:fontRef>
        </p:style>
        <p:txBody>
          <a:bodyPr wrap="none" lIns="91413" tIns="45707" rIns="91413" bIns="45707">
            <a:spAutoFit/>
          </a:bodyPr>
          <a:lstStyle/>
          <a:p>
            <a:pPr algn="ctr"/>
            <a:r>
              <a:rPr lang="zh-CN" altLang="en-US" sz="1200" dirty="0">
                <a:latin typeface="Huawei Sans" panose="020C0503030203020204" pitchFamily="34" charset="0"/>
                <a:ea typeface="方正兰亭黑简体" panose="02000000000000000000" pitchFamily="2" charset="-122"/>
                <a:sym typeface="Arial" pitchFamily="34" charset="0"/>
              </a:rPr>
              <a:t>准入控制</a:t>
            </a:r>
            <a:endParaRPr lang="en-US" altLang="zh-CN" sz="1200" dirty="0">
              <a:latin typeface="Huawei Sans" panose="020C0503030203020204" pitchFamily="34" charset="0"/>
              <a:ea typeface="方正兰亭黑简体" panose="02000000000000000000" pitchFamily="2" charset="-122"/>
              <a:sym typeface="Arial" pitchFamily="34" charset="0"/>
            </a:endParaRPr>
          </a:p>
          <a:p>
            <a:pPr algn="ctr"/>
            <a:r>
              <a:rPr lang="zh-CN" altLang="en-US" sz="1200" dirty="0">
                <a:latin typeface="Huawei Sans" panose="020C0503030203020204" pitchFamily="34" charset="0"/>
                <a:ea typeface="方正兰亭黑简体" panose="02000000000000000000" pitchFamily="2" charset="-122"/>
                <a:sym typeface="Arial" pitchFamily="34" charset="0"/>
              </a:rPr>
              <a:t>服务器</a:t>
            </a:r>
          </a:p>
        </p:txBody>
      </p:sp>
      <p:pic>
        <p:nvPicPr>
          <p:cNvPr id="54" name="图片 53" descr="通用服务器-蓝.png"/>
          <p:cNvPicPr>
            <a:picLocks/>
          </p:cNvPicPr>
          <p:nvPr/>
        </p:nvPicPr>
        <p:blipFill>
          <a:blip r:embed="rId12" cstate="print"/>
          <a:stretch>
            <a:fillRect/>
          </a:stretch>
        </p:blipFill>
        <p:spPr bwMode="gray">
          <a:xfrm>
            <a:off x="8869597" y="1857372"/>
            <a:ext cx="360000" cy="359014"/>
          </a:xfrm>
          <a:prstGeom prst="rect">
            <a:avLst/>
          </a:prstGeom>
        </p:spPr>
      </p:pic>
      <p:sp>
        <p:nvSpPr>
          <p:cNvPr id="55" name="矩形 51">
            <a:extLst>
              <a:ext uri="{FF2B5EF4-FFF2-40B4-BE49-F238E27FC236}">
                <a16:creationId xmlns:a16="http://schemas.microsoft.com/office/drawing/2014/main" xmlns="" id="{804C6A06-0EF1-4D89-8123-DD00B9ADF841}"/>
              </a:ext>
            </a:extLst>
          </p:cNvPr>
          <p:cNvSpPr>
            <a:spLocks noChangeArrowheads="1"/>
          </p:cNvSpPr>
          <p:nvPr/>
        </p:nvSpPr>
        <p:spPr bwMode="gray">
          <a:xfrm>
            <a:off x="9398942" y="2191869"/>
            <a:ext cx="619026" cy="276973"/>
          </a:xfrm>
          <a:prstGeom prst="rect">
            <a:avLst/>
          </a:prstGeom>
          <a:ln w="12700">
            <a:noFill/>
          </a:ln>
        </p:spPr>
        <p:style>
          <a:lnRef idx="1">
            <a:schemeClr val="accent1"/>
          </a:lnRef>
          <a:fillRef idx="0">
            <a:schemeClr val="accent1"/>
          </a:fillRef>
          <a:effectRef idx="0">
            <a:schemeClr val="accent1"/>
          </a:effectRef>
          <a:fontRef idx="minor">
            <a:schemeClr val="tx1"/>
          </a:fontRef>
        </p:style>
        <p:txBody>
          <a:bodyPr wrap="none" lIns="91413" tIns="45707" rIns="91413" bIns="45707">
            <a:spAutoFit/>
          </a:bodyPr>
          <a:lstStyle/>
          <a:p>
            <a:pPr algn="ctr"/>
            <a:r>
              <a:rPr lang="en-US" altLang="zh-CN" sz="1200" dirty="0">
                <a:latin typeface="Huawei Sans" panose="020C0503030203020204" pitchFamily="34" charset="0"/>
                <a:ea typeface="方正兰亭黑简体" panose="02000000000000000000" pitchFamily="2" charset="-122"/>
                <a:sym typeface="Arial" pitchFamily="34" charset="0"/>
              </a:rPr>
              <a:t>DHCP</a:t>
            </a:r>
            <a:endParaRPr lang="zh-CN" altLang="en-US" sz="1200" dirty="0">
              <a:latin typeface="Huawei Sans" panose="020C0503030203020204" pitchFamily="34" charset="0"/>
              <a:ea typeface="方正兰亭黑简体" panose="02000000000000000000" pitchFamily="2" charset="-122"/>
              <a:sym typeface="Arial" pitchFamily="34" charset="0"/>
            </a:endParaRPr>
          </a:p>
        </p:txBody>
      </p:sp>
      <p:pic>
        <p:nvPicPr>
          <p:cNvPr id="56" name="图片 55" descr="通用服务器-蓝.png"/>
          <p:cNvPicPr>
            <a:picLocks/>
          </p:cNvPicPr>
          <p:nvPr/>
        </p:nvPicPr>
        <p:blipFill>
          <a:blip r:embed="rId12" cstate="print"/>
          <a:stretch>
            <a:fillRect/>
          </a:stretch>
        </p:blipFill>
        <p:spPr bwMode="gray">
          <a:xfrm>
            <a:off x="9528068" y="1857372"/>
            <a:ext cx="360000" cy="359014"/>
          </a:xfrm>
          <a:prstGeom prst="rect">
            <a:avLst/>
          </a:prstGeom>
        </p:spPr>
      </p:pic>
      <p:sp>
        <p:nvSpPr>
          <p:cNvPr id="57" name="矩形 51">
            <a:extLst>
              <a:ext uri="{FF2B5EF4-FFF2-40B4-BE49-F238E27FC236}">
                <a16:creationId xmlns:a16="http://schemas.microsoft.com/office/drawing/2014/main" xmlns="" id="{804C6A06-0EF1-4D89-8123-DD00B9ADF841}"/>
              </a:ext>
            </a:extLst>
          </p:cNvPr>
          <p:cNvSpPr>
            <a:spLocks noChangeArrowheads="1"/>
          </p:cNvSpPr>
          <p:nvPr/>
        </p:nvSpPr>
        <p:spPr bwMode="gray">
          <a:xfrm>
            <a:off x="10059400" y="2191869"/>
            <a:ext cx="508419" cy="276973"/>
          </a:xfrm>
          <a:prstGeom prst="rect">
            <a:avLst/>
          </a:prstGeom>
          <a:ln w="12700">
            <a:noFill/>
          </a:ln>
        </p:spPr>
        <p:style>
          <a:lnRef idx="1">
            <a:schemeClr val="accent1"/>
          </a:lnRef>
          <a:fillRef idx="0">
            <a:schemeClr val="accent1"/>
          </a:fillRef>
          <a:effectRef idx="0">
            <a:schemeClr val="accent1"/>
          </a:effectRef>
          <a:fontRef idx="minor">
            <a:schemeClr val="tx1"/>
          </a:fontRef>
        </p:style>
        <p:txBody>
          <a:bodyPr wrap="none" lIns="91413" tIns="45707" rIns="91413" bIns="45707">
            <a:spAutoFit/>
          </a:bodyPr>
          <a:lstStyle/>
          <a:p>
            <a:pPr algn="ctr"/>
            <a:r>
              <a:rPr lang="en-US" altLang="zh-CN" sz="1200" dirty="0">
                <a:latin typeface="Huawei Sans" panose="020C0503030203020204" pitchFamily="34" charset="0"/>
                <a:ea typeface="方正兰亭黑简体" panose="02000000000000000000" pitchFamily="2" charset="-122"/>
                <a:sym typeface="Arial" pitchFamily="34" charset="0"/>
              </a:rPr>
              <a:t>DNS</a:t>
            </a:r>
            <a:endParaRPr lang="zh-CN" altLang="en-US" sz="1200" dirty="0">
              <a:latin typeface="Huawei Sans" panose="020C0503030203020204" pitchFamily="34" charset="0"/>
              <a:ea typeface="方正兰亭黑简体" panose="02000000000000000000" pitchFamily="2" charset="-122"/>
              <a:sym typeface="Arial" pitchFamily="34" charset="0"/>
            </a:endParaRPr>
          </a:p>
        </p:txBody>
      </p:sp>
      <p:pic>
        <p:nvPicPr>
          <p:cNvPr id="58" name="图片 57" descr="通用服务器-蓝.png"/>
          <p:cNvPicPr>
            <a:picLocks/>
          </p:cNvPicPr>
          <p:nvPr/>
        </p:nvPicPr>
        <p:blipFill>
          <a:blip r:embed="rId12" cstate="print"/>
          <a:stretch>
            <a:fillRect/>
          </a:stretch>
        </p:blipFill>
        <p:spPr bwMode="gray">
          <a:xfrm>
            <a:off x="10133223" y="1857372"/>
            <a:ext cx="360000" cy="359014"/>
          </a:xfrm>
          <a:prstGeom prst="rect">
            <a:avLst/>
          </a:prstGeom>
        </p:spPr>
      </p:pic>
      <p:sp>
        <p:nvSpPr>
          <p:cNvPr id="59" name="矩形 51">
            <a:extLst>
              <a:ext uri="{FF2B5EF4-FFF2-40B4-BE49-F238E27FC236}">
                <a16:creationId xmlns:a16="http://schemas.microsoft.com/office/drawing/2014/main" xmlns="" id="{896772FE-EE44-4CB5-8FE8-636571480995}"/>
              </a:ext>
            </a:extLst>
          </p:cNvPr>
          <p:cNvSpPr>
            <a:spLocks noChangeArrowheads="1"/>
          </p:cNvSpPr>
          <p:nvPr/>
        </p:nvSpPr>
        <p:spPr bwMode="gray">
          <a:xfrm>
            <a:off x="10567819" y="1869726"/>
            <a:ext cx="421856" cy="276973"/>
          </a:xfrm>
          <a:prstGeom prst="rect">
            <a:avLst/>
          </a:prstGeom>
          <a:noFill/>
          <a:ln w="9525">
            <a:noFill/>
            <a:miter lim="800000"/>
            <a:headEnd/>
            <a:tailEnd/>
          </a:ln>
        </p:spPr>
        <p:txBody>
          <a:bodyPr wrap="none" lIns="91413" tIns="45707" rIns="91413" bIns="45707">
            <a:spAutoFit/>
          </a:bodyPr>
          <a:lstStyle/>
          <a:p>
            <a:pPr algn="ctr"/>
            <a:r>
              <a:rPr lang="en-US" altLang="zh-CN" sz="1200" b="1" dirty="0">
                <a:latin typeface="Huawei Sans" panose="020C0503030203020204" pitchFamily="34" charset="0"/>
                <a:ea typeface="方正兰亭黑简体" panose="02000000000000000000" pitchFamily="2" charset="-122"/>
                <a:sym typeface="Arial" pitchFamily="34" charset="0"/>
              </a:rPr>
              <a:t>……</a:t>
            </a:r>
            <a:endParaRPr lang="zh-CN" altLang="en-US" sz="1200" b="1" dirty="0">
              <a:latin typeface="Huawei Sans" panose="020C0503030203020204" pitchFamily="34" charset="0"/>
              <a:ea typeface="方正兰亭黑简体" panose="02000000000000000000" pitchFamily="2" charset="-122"/>
              <a:sym typeface="Arial" pitchFamily="34" charset="0"/>
            </a:endParaRPr>
          </a:p>
        </p:txBody>
      </p:sp>
      <p:sp>
        <p:nvSpPr>
          <p:cNvPr id="60" name="矩形 51">
            <a:extLst>
              <a:ext uri="{FF2B5EF4-FFF2-40B4-BE49-F238E27FC236}">
                <a16:creationId xmlns:a16="http://schemas.microsoft.com/office/drawing/2014/main" xmlns="" id="{C0D73482-9FE0-4CC3-BB1B-10A25894A69D}"/>
              </a:ext>
            </a:extLst>
          </p:cNvPr>
          <p:cNvSpPr>
            <a:spLocks noChangeArrowheads="1"/>
          </p:cNvSpPr>
          <p:nvPr/>
        </p:nvSpPr>
        <p:spPr bwMode="gray">
          <a:xfrm>
            <a:off x="8728225" y="1297445"/>
            <a:ext cx="1107941" cy="369306"/>
          </a:xfrm>
          <a:prstGeom prst="rect">
            <a:avLst/>
          </a:prstGeom>
          <a:solidFill>
            <a:schemeClr val="bg1"/>
          </a:solidFill>
          <a:ln w="9525">
            <a:noFill/>
            <a:miter lim="800000"/>
            <a:headEnd/>
            <a:tailEnd/>
          </a:ln>
        </p:spPr>
        <p:txBody>
          <a:bodyPr wrap="square" lIns="91413" tIns="45707" rIns="91413" bIns="45707">
            <a:spAutoFit/>
          </a:bodyPr>
          <a:lstStyle/>
          <a:p>
            <a:pPr algn="ctr"/>
            <a:r>
              <a:rPr lang="zh-CN" altLang="en-US" dirty="0">
                <a:solidFill>
                  <a:srgbClr val="C7000B"/>
                </a:solidFill>
                <a:latin typeface="Huawei Sans" panose="020C0503030203020204" pitchFamily="34" charset="0"/>
                <a:ea typeface="方正兰亭黑简体" panose="02000000000000000000" pitchFamily="2" charset="-122"/>
                <a:sym typeface="Arial" pitchFamily="34" charset="0"/>
              </a:rPr>
              <a:t>认证前域</a:t>
            </a:r>
          </a:p>
        </p:txBody>
      </p:sp>
      <p:sp>
        <p:nvSpPr>
          <p:cNvPr id="61" name="左右箭头 60"/>
          <p:cNvSpPr/>
          <p:nvPr/>
        </p:nvSpPr>
        <p:spPr bwMode="gray">
          <a:xfrm>
            <a:off x="5441368" y="1876082"/>
            <a:ext cx="3099216" cy="366213"/>
          </a:xfrm>
          <a:prstGeom prst="leftRightArrow">
            <a:avLst/>
          </a:prstGeom>
          <a:gradFill flip="none" rotWithShape="1">
            <a:gsLst>
              <a:gs pos="46000">
                <a:schemeClr val="accent1">
                  <a:lumMod val="5000"/>
                  <a:lumOff val="95000"/>
                  <a:alpha val="0"/>
                </a:schemeClr>
              </a:gs>
              <a:gs pos="78000">
                <a:srgbClr val="DEF4FD"/>
              </a:gs>
              <a:gs pos="15000">
                <a:srgbClr val="DEF4FD"/>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5928422" y="1669658"/>
            <a:ext cx="2323564" cy="338554"/>
          </a:xfrm>
          <a:prstGeom prst="rect">
            <a:avLst/>
          </a:prstGeom>
          <a:noFill/>
        </p:spPr>
        <p:txBody>
          <a:bodyPr wrap="square" rtlCol="0">
            <a:spAutoFit/>
          </a:bodyPr>
          <a:lstStyle/>
          <a:p>
            <a:pPr algn="ctr"/>
            <a:r>
              <a:rPr lang="zh-CN" altLang="en-US" sz="1600" dirty="0">
                <a:latin typeface="Huawei Sans" panose="020C0503030203020204" pitchFamily="34" charset="0"/>
                <a:ea typeface="方正兰亭黑简体" panose="02000000000000000000" pitchFamily="2" charset="-122"/>
              </a:rPr>
              <a:t>认证前访问</a:t>
            </a:r>
          </a:p>
        </p:txBody>
      </p:sp>
      <p:sp>
        <p:nvSpPr>
          <p:cNvPr id="63" name="左右箭头 62"/>
          <p:cNvSpPr/>
          <p:nvPr/>
        </p:nvSpPr>
        <p:spPr bwMode="gray">
          <a:xfrm>
            <a:off x="5434420" y="4984027"/>
            <a:ext cx="1579322" cy="331195"/>
          </a:xfrm>
          <a:prstGeom prst="leftRightArrow">
            <a:avLst/>
          </a:prstGeom>
          <a:gradFill flip="none" rotWithShape="1">
            <a:gsLst>
              <a:gs pos="46000">
                <a:schemeClr val="accent1">
                  <a:lumMod val="5000"/>
                  <a:lumOff val="95000"/>
                  <a:alpha val="0"/>
                </a:schemeClr>
              </a:gs>
              <a:gs pos="78000">
                <a:srgbClr val="DEF4FD"/>
              </a:gs>
              <a:gs pos="15000">
                <a:srgbClr val="DEF4FD"/>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bwMode="gray">
          <a:xfrm>
            <a:off x="5360300" y="4683921"/>
            <a:ext cx="1692637" cy="338554"/>
          </a:xfrm>
          <a:prstGeom prst="rect">
            <a:avLst/>
          </a:prstGeom>
          <a:noFill/>
        </p:spPr>
        <p:txBody>
          <a:bodyPr wrap="square" rtlCol="0">
            <a:spAutoFit/>
          </a:bodyPr>
          <a:lstStyle/>
          <a:p>
            <a:pPr algn="ctr"/>
            <a:r>
              <a:rPr lang="zh-CN" altLang="en-US" sz="1600" dirty="0">
                <a:latin typeface="Huawei Sans" panose="020C0503030203020204" pitchFamily="34" charset="0"/>
                <a:ea typeface="方正兰亭黑简体" panose="02000000000000000000" pitchFamily="2" charset="-122"/>
              </a:rPr>
              <a:t>认证成功后访问</a:t>
            </a:r>
          </a:p>
        </p:txBody>
      </p:sp>
      <p:sp>
        <p:nvSpPr>
          <p:cNvPr id="65" name="左右箭头 64"/>
          <p:cNvSpPr/>
          <p:nvPr/>
        </p:nvSpPr>
        <p:spPr bwMode="gray">
          <a:xfrm>
            <a:off x="5441368" y="3595652"/>
            <a:ext cx="3099216" cy="366213"/>
          </a:xfrm>
          <a:prstGeom prst="leftRightArrow">
            <a:avLst/>
          </a:prstGeom>
          <a:gradFill flip="none" rotWithShape="1">
            <a:gsLst>
              <a:gs pos="46000">
                <a:schemeClr val="accent1">
                  <a:lumMod val="5000"/>
                  <a:lumOff val="95000"/>
                  <a:alpha val="0"/>
                </a:schemeClr>
              </a:gs>
              <a:gs pos="78000">
                <a:srgbClr val="DEF4FD"/>
              </a:gs>
              <a:gs pos="15000">
                <a:srgbClr val="DEF4FD"/>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5807628" y="3344824"/>
            <a:ext cx="2534756" cy="338554"/>
          </a:xfrm>
          <a:prstGeom prst="rect">
            <a:avLst/>
          </a:prstGeom>
          <a:noFill/>
        </p:spPr>
        <p:txBody>
          <a:bodyPr wrap="square" rtlCol="0">
            <a:spAutoFit/>
          </a:bodyPr>
          <a:lstStyle/>
          <a:p>
            <a:pPr algn="ctr"/>
            <a:r>
              <a:rPr lang="zh-CN" altLang="en-US" sz="1600" dirty="0">
                <a:latin typeface="Huawei Sans" panose="020C0503030203020204" pitchFamily="34" charset="0"/>
                <a:ea typeface="方正兰亭黑简体" panose="02000000000000000000" pitchFamily="2" charset="-122"/>
              </a:rPr>
              <a:t>认证失败的用户终端访问</a:t>
            </a:r>
          </a:p>
        </p:txBody>
      </p:sp>
      <p:sp>
        <p:nvSpPr>
          <p:cNvPr id="67" name="圆角矩形 139">
            <a:extLst>
              <a:ext uri="{FF2B5EF4-FFF2-40B4-BE49-F238E27FC236}">
                <a16:creationId xmlns:a16="http://schemas.microsoft.com/office/drawing/2014/main" xmlns="" id="{98B86B15-C793-4E31-AAF2-03B2EB1A4493}"/>
              </a:ext>
            </a:extLst>
          </p:cNvPr>
          <p:cNvSpPr/>
          <p:nvPr/>
        </p:nvSpPr>
        <p:spPr bwMode="gray">
          <a:xfrm>
            <a:off x="8624971" y="3014950"/>
            <a:ext cx="2582394" cy="1319888"/>
          </a:xfrm>
          <a:prstGeom prst="roundRect">
            <a:avLst>
              <a:gd name="adj" fmla="val 1058"/>
            </a:avLst>
          </a:prstGeom>
          <a:solidFill>
            <a:srgbClr val="FFFFFF"/>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68" name="矩形 51">
            <a:extLst>
              <a:ext uri="{FF2B5EF4-FFF2-40B4-BE49-F238E27FC236}">
                <a16:creationId xmlns:a16="http://schemas.microsoft.com/office/drawing/2014/main" xmlns="" id="{C0D73482-9FE0-4CC3-BB1B-10A25894A69D}"/>
              </a:ext>
            </a:extLst>
          </p:cNvPr>
          <p:cNvSpPr>
            <a:spLocks noChangeArrowheads="1"/>
          </p:cNvSpPr>
          <p:nvPr/>
        </p:nvSpPr>
        <p:spPr bwMode="gray">
          <a:xfrm>
            <a:off x="8777896" y="2853091"/>
            <a:ext cx="1107941" cy="369306"/>
          </a:xfrm>
          <a:prstGeom prst="rect">
            <a:avLst/>
          </a:prstGeom>
          <a:solidFill>
            <a:schemeClr val="bg1"/>
          </a:solidFill>
          <a:ln w="9525">
            <a:noFill/>
            <a:miter lim="800000"/>
            <a:headEnd/>
            <a:tailEnd/>
          </a:ln>
        </p:spPr>
        <p:txBody>
          <a:bodyPr wrap="square" lIns="91413" tIns="45707" rIns="91413" bIns="45707">
            <a:spAutoFit/>
          </a:bodyPr>
          <a:lstStyle/>
          <a:p>
            <a:pPr algn="ctr"/>
            <a:r>
              <a:rPr lang="zh-CN" altLang="en-US" dirty="0">
                <a:solidFill>
                  <a:srgbClr val="C7000B"/>
                </a:solidFill>
                <a:latin typeface="Huawei Sans" panose="020C0503030203020204" pitchFamily="34" charset="0"/>
                <a:ea typeface="方正兰亭黑简体" panose="02000000000000000000" pitchFamily="2" charset="-122"/>
                <a:sym typeface="Arial" pitchFamily="34" charset="0"/>
              </a:rPr>
              <a:t>隔离域</a:t>
            </a:r>
          </a:p>
        </p:txBody>
      </p:sp>
      <p:sp>
        <p:nvSpPr>
          <p:cNvPr id="69" name="矩形 68">
            <a:extLst>
              <a:ext uri="{FF2B5EF4-FFF2-40B4-BE49-F238E27FC236}">
                <a16:creationId xmlns:a16="http://schemas.microsoft.com/office/drawing/2014/main" xmlns="" id="{CD2C0709-A017-4197-AB18-6F44BF72A297}"/>
              </a:ext>
            </a:extLst>
          </p:cNvPr>
          <p:cNvSpPr>
            <a:spLocks noChangeArrowheads="1"/>
          </p:cNvSpPr>
          <p:nvPr/>
        </p:nvSpPr>
        <p:spPr bwMode="gray">
          <a:xfrm>
            <a:off x="8686930" y="3643226"/>
            <a:ext cx="646276" cy="461639"/>
          </a:xfrm>
          <a:prstGeom prst="rect">
            <a:avLst/>
          </a:prstGeom>
          <a:noFill/>
          <a:ln w="9525">
            <a:noFill/>
            <a:miter lim="800000"/>
            <a:headEnd/>
            <a:tailEnd/>
          </a:ln>
        </p:spPr>
        <p:txBody>
          <a:bodyPr wrap="none" lIns="91413" tIns="45707" rIns="91413" bIns="45707">
            <a:spAutoFit/>
          </a:bodyPr>
          <a:lstStyle/>
          <a:p>
            <a:pPr algn="ctr"/>
            <a:r>
              <a:rPr lang="zh-CN" altLang="en-US" sz="1200" dirty="0">
                <a:latin typeface="Huawei Sans" panose="020C0503030203020204" pitchFamily="34" charset="0"/>
                <a:ea typeface="方正兰亭黑简体" panose="02000000000000000000" pitchFamily="2" charset="-122"/>
                <a:sym typeface="Arial" pitchFamily="34" charset="0"/>
              </a:rPr>
              <a:t>病毒库</a:t>
            </a:r>
            <a:endParaRPr lang="en-US" altLang="zh-CN" sz="1200" dirty="0">
              <a:latin typeface="Huawei Sans" panose="020C0503030203020204" pitchFamily="34" charset="0"/>
              <a:ea typeface="方正兰亭黑简体" panose="02000000000000000000" pitchFamily="2" charset="-122"/>
              <a:sym typeface="Arial" pitchFamily="34" charset="0"/>
            </a:endParaRPr>
          </a:p>
          <a:p>
            <a:pPr algn="ctr"/>
            <a:r>
              <a:rPr lang="zh-CN" altLang="en-US" sz="1200" dirty="0">
                <a:latin typeface="Huawei Sans" panose="020C0503030203020204" pitchFamily="34" charset="0"/>
                <a:ea typeface="方正兰亭黑简体" panose="02000000000000000000" pitchFamily="2" charset="-122"/>
                <a:sym typeface="Arial" pitchFamily="34" charset="0"/>
              </a:rPr>
              <a:t>服务器</a:t>
            </a:r>
          </a:p>
        </p:txBody>
      </p:sp>
      <p:sp>
        <p:nvSpPr>
          <p:cNvPr id="70" name="矩形 51">
            <a:extLst>
              <a:ext uri="{FF2B5EF4-FFF2-40B4-BE49-F238E27FC236}">
                <a16:creationId xmlns:a16="http://schemas.microsoft.com/office/drawing/2014/main" xmlns="" id="{481369E9-9F84-4C84-B07A-477A4D0EA5EF}"/>
              </a:ext>
            </a:extLst>
          </p:cNvPr>
          <p:cNvSpPr>
            <a:spLocks noChangeArrowheads="1"/>
          </p:cNvSpPr>
          <p:nvPr/>
        </p:nvSpPr>
        <p:spPr bwMode="gray">
          <a:xfrm>
            <a:off x="9347352" y="3662435"/>
            <a:ext cx="954054" cy="276973"/>
          </a:xfrm>
          <a:prstGeom prst="rect">
            <a:avLst/>
          </a:prstGeom>
          <a:noFill/>
          <a:ln w="9525">
            <a:noFill/>
            <a:miter lim="800000"/>
            <a:headEnd/>
            <a:tailEnd/>
          </a:ln>
        </p:spPr>
        <p:txBody>
          <a:bodyPr wrap="none" lIns="91413" tIns="45707" rIns="91413" bIns="45707">
            <a:spAutoFit/>
          </a:bodyPr>
          <a:lstStyle/>
          <a:p>
            <a:pPr algn="ctr"/>
            <a:r>
              <a:rPr lang="zh-CN" altLang="en-US" sz="1200" dirty="0">
                <a:latin typeface="Huawei Sans" panose="020C0503030203020204" pitchFamily="34" charset="0"/>
                <a:ea typeface="方正兰亭黑简体" panose="02000000000000000000" pitchFamily="2" charset="-122"/>
                <a:sym typeface="Arial" pitchFamily="34" charset="0"/>
              </a:rPr>
              <a:t>补丁服务器</a:t>
            </a:r>
          </a:p>
        </p:txBody>
      </p:sp>
      <p:sp>
        <p:nvSpPr>
          <p:cNvPr id="71" name="矩形 51">
            <a:extLst>
              <a:ext uri="{FF2B5EF4-FFF2-40B4-BE49-F238E27FC236}">
                <a16:creationId xmlns:a16="http://schemas.microsoft.com/office/drawing/2014/main" xmlns="" id="{896772FE-EE44-4CB5-8FE8-636571480995}"/>
              </a:ext>
            </a:extLst>
          </p:cNvPr>
          <p:cNvSpPr>
            <a:spLocks noChangeArrowheads="1"/>
          </p:cNvSpPr>
          <p:nvPr/>
        </p:nvSpPr>
        <p:spPr bwMode="gray">
          <a:xfrm>
            <a:off x="10452622" y="3382961"/>
            <a:ext cx="421856" cy="276973"/>
          </a:xfrm>
          <a:prstGeom prst="rect">
            <a:avLst/>
          </a:prstGeom>
          <a:noFill/>
          <a:ln w="9525">
            <a:noFill/>
            <a:miter lim="800000"/>
            <a:headEnd/>
            <a:tailEnd/>
          </a:ln>
        </p:spPr>
        <p:txBody>
          <a:bodyPr wrap="none" lIns="91413" tIns="45707" rIns="91413" bIns="45707">
            <a:spAutoFit/>
          </a:bodyPr>
          <a:lstStyle/>
          <a:p>
            <a:pPr algn="ctr"/>
            <a:r>
              <a:rPr lang="en-US" altLang="zh-CN" sz="1200" b="1" dirty="0">
                <a:latin typeface="Huawei Sans" panose="020C0503030203020204" pitchFamily="34" charset="0"/>
                <a:ea typeface="方正兰亭黑简体" panose="02000000000000000000" pitchFamily="2" charset="-122"/>
                <a:sym typeface="Arial" pitchFamily="34" charset="0"/>
              </a:rPr>
              <a:t>……</a:t>
            </a:r>
            <a:endParaRPr lang="zh-CN" altLang="en-US" sz="1200" b="1" dirty="0">
              <a:latin typeface="Huawei Sans" panose="020C0503030203020204" pitchFamily="34" charset="0"/>
              <a:ea typeface="方正兰亭黑简体" panose="02000000000000000000" pitchFamily="2" charset="-122"/>
              <a:sym typeface="Arial" pitchFamily="34" charset="0"/>
            </a:endParaRPr>
          </a:p>
        </p:txBody>
      </p:sp>
      <p:pic>
        <p:nvPicPr>
          <p:cNvPr id="72" name="图片 71" descr="通用服务器-蓝.png"/>
          <p:cNvPicPr>
            <a:picLocks/>
          </p:cNvPicPr>
          <p:nvPr/>
        </p:nvPicPr>
        <p:blipFill>
          <a:blip r:embed="rId12" cstate="print"/>
          <a:stretch>
            <a:fillRect/>
          </a:stretch>
        </p:blipFill>
        <p:spPr bwMode="gray">
          <a:xfrm>
            <a:off x="8823105" y="3334132"/>
            <a:ext cx="360000" cy="359014"/>
          </a:xfrm>
          <a:prstGeom prst="rect">
            <a:avLst/>
          </a:prstGeom>
        </p:spPr>
      </p:pic>
      <p:pic>
        <p:nvPicPr>
          <p:cNvPr id="73" name="图片 72" descr="通用服务器-蓝.png"/>
          <p:cNvPicPr>
            <a:picLocks/>
          </p:cNvPicPr>
          <p:nvPr/>
        </p:nvPicPr>
        <p:blipFill>
          <a:blip r:embed="rId12" cstate="print"/>
          <a:stretch>
            <a:fillRect/>
          </a:stretch>
        </p:blipFill>
        <p:spPr bwMode="gray">
          <a:xfrm>
            <a:off x="9635416" y="3334132"/>
            <a:ext cx="360000" cy="359014"/>
          </a:xfrm>
          <a:prstGeom prst="rect">
            <a:avLst/>
          </a:prstGeom>
        </p:spPr>
      </p:pic>
    </p:spTree>
    <p:extLst>
      <p:ext uri="{BB962C8B-B14F-4D97-AF65-F5344CB8AC3E}">
        <p14:creationId xmlns:p14="http://schemas.microsoft.com/office/powerpoint/2010/main" val="11977131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网络准入控制概述</a:t>
            </a:r>
          </a:p>
          <a:p>
            <a:r>
              <a:rPr lang="zh-CN" altLang="en-US" b="1" dirty="0"/>
              <a:t>用户认证技术</a:t>
            </a:r>
            <a:endParaRPr lang="en-US" altLang="zh-CN" b="1" dirty="0"/>
          </a:p>
          <a:p>
            <a:r>
              <a:rPr lang="zh-CN" altLang="en-US" dirty="0">
                <a:solidFill>
                  <a:schemeClr val="bg1">
                    <a:lumMod val="50000"/>
                  </a:schemeClr>
                </a:solidFill>
              </a:rPr>
              <a:t>用户授权与下线</a:t>
            </a:r>
          </a:p>
          <a:p>
            <a:r>
              <a:rPr lang="en-US" altLang="zh-CN" dirty="0">
                <a:solidFill>
                  <a:schemeClr val="bg1">
                    <a:lumMod val="50000"/>
                  </a:schemeClr>
                </a:solidFill>
              </a:rPr>
              <a:t>NAC</a:t>
            </a:r>
            <a:r>
              <a:rPr lang="zh-CN" altLang="en-US" dirty="0">
                <a:solidFill>
                  <a:schemeClr val="bg1">
                    <a:lumMod val="50000"/>
                  </a:schemeClr>
                </a:solidFill>
              </a:rPr>
              <a:t>配置实现</a:t>
            </a:r>
          </a:p>
          <a:p>
            <a:r>
              <a:rPr lang="zh-CN" altLang="en-US" dirty="0">
                <a:solidFill>
                  <a:schemeClr val="bg1">
                    <a:lumMod val="50000"/>
                  </a:schemeClr>
                </a:solidFill>
              </a:rPr>
              <a:t>策略联动</a:t>
            </a:r>
          </a:p>
        </p:txBody>
      </p:sp>
    </p:spTree>
    <p:extLst>
      <p:ext uri="{BB962C8B-B14F-4D97-AF65-F5344CB8AC3E}">
        <p14:creationId xmlns:p14="http://schemas.microsoft.com/office/powerpoint/2010/main" val="13793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bwMode="gray"/>
        <p:txBody>
          <a:bodyPr>
            <a:normAutofit/>
          </a:bodyPr>
          <a:lstStyle/>
          <a:p>
            <a:r>
              <a:rPr lang="en-US" altLang="zh-CN" dirty="0"/>
              <a:t>802.1X</a:t>
            </a:r>
            <a:r>
              <a:rPr lang="zh-CN" altLang="en-US" dirty="0"/>
              <a:t>认证概述</a:t>
            </a:r>
          </a:p>
        </p:txBody>
      </p:sp>
      <p:cxnSp>
        <p:nvCxnSpPr>
          <p:cNvPr id="6" name="Straight Connector 7"/>
          <p:cNvCxnSpPr/>
          <p:nvPr/>
        </p:nvCxnSpPr>
        <p:spPr bwMode="gray">
          <a:xfrm>
            <a:off x="2968872" y="1713843"/>
            <a:ext cx="0" cy="9415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8"/>
          <p:cNvCxnSpPr/>
          <p:nvPr/>
        </p:nvCxnSpPr>
        <p:spPr bwMode="gray">
          <a:xfrm flipH="1">
            <a:off x="1504781" y="2592921"/>
            <a:ext cx="28632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图片 11" descr="开放网络-蓝.png"/>
          <p:cNvPicPr>
            <a:picLocks noChangeAspect="1"/>
          </p:cNvPicPr>
          <p:nvPr/>
        </p:nvPicPr>
        <p:blipFill>
          <a:blip r:embed="rId3" cstate="print"/>
          <a:stretch>
            <a:fillRect/>
          </a:stretch>
        </p:blipFill>
        <p:spPr bwMode="gray">
          <a:xfrm>
            <a:off x="1074117" y="2398642"/>
            <a:ext cx="445956" cy="343290"/>
          </a:xfrm>
          <a:prstGeom prst="rect">
            <a:avLst/>
          </a:prstGeom>
        </p:spPr>
      </p:pic>
      <p:sp>
        <p:nvSpPr>
          <p:cNvPr id="9" name="TextBox 12"/>
          <p:cNvSpPr txBox="1"/>
          <p:nvPr/>
        </p:nvSpPr>
        <p:spPr bwMode="gray">
          <a:xfrm>
            <a:off x="705426" y="2757744"/>
            <a:ext cx="111761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802.1X</a:t>
            </a:r>
            <a:r>
              <a:rPr lang="zh-CN" altLang="en-US" sz="1200" dirty="0">
                <a:latin typeface="Huawei Sans" panose="020C0503030203020204" pitchFamily="34" charset="0"/>
                <a:ea typeface="方正兰亭黑简体" panose="02000000000000000000" pitchFamily="2" charset="-122"/>
              </a:rPr>
              <a:t>客户端</a:t>
            </a:r>
          </a:p>
        </p:txBody>
      </p:sp>
      <p:sp>
        <p:nvSpPr>
          <p:cNvPr id="10" name="TextBox 13"/>
          <p:cNvSpPr txBox="1"/>
          <p:nvPr/>
        </p:nvSpPr>
        <p:spPr bwMode="gray">
          <a:xfrm>
            <a:off x="2414073" y="2757744"/>
            <a:ext cx="110799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rPr>
              <a:t>网络接入设备</a:t>
            </a:r>
          </a:p>
        </p:txBody>
      </p:sp>
      <p:sp>
        <p:nvSpPr>
          <p:cNvPr id="11" name="TextBox 14"/>
          <p:cNvSpPr txBox="1"/>
          <p:nvPr/>
        </p:nvSpPr>
        <p:spPr bwMode="gray">
          <a:xfrm>
            <a:off x="2491818" y="1212136"/>
            <a:ext cx="954107"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rPr>
              <a:t>认证服务器</a:t>
            </a:r>
          </a:p>
        </p:txBody>
      </p:sp>
      <p:pic>
        <p:nvPicPr>
          <p:cNvPr id="12" name="图片 51" descr="FTP服务器-蓝.png"/>
          <p:cNvPicPr>
            <a:picLocks noChangeAspect="1"/>
          </p:cNvPicPr>
          <p:nvPr/>
        </p:nvPicPr>
        <p:blipFill>
          <a:blip r:embed="rId4" cstate="print"/>
          <a:stretch>
            <a:fillRect/>
          </a:stretch>
        </p:blipFill>
        <p:spPr bwMode="gray">
          <a:xfrm>
            <a:off x="4300314" y="2383844"/>
            <a:ext cx="446281" cy="365139"/>
          </a:xfrm>
          <a:prstGeom prst="rect">
            <a:avLst/>
          </a:prstGeom>
        </p:spPr>
      </p:pic>
      <p:sp>
        <p:nvSpPr>
          <p:cNvPr id="13" name="TextBox 17"/>
          <p:cNvSpPr txBox="1"/>
          <p:nvPr/>
        </p:nvSpPr>
        <p:spPr bwMode="gray">
          <a:xfrm>
            <a:off x="4114704" y="2757744"/>
            <a:ext cx="800219" cy="276999"/>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rPr>
              <a:t>网络资源</a:t>
            </a:r>
          </a:p>
        </p:txBody>
      </p:sp>
      <p:grpSp>
        <p:nvGrpSpPr>
          <p:cNvPr id="14" name="组合 13"/>
          <p:cNvGrpSpPr/>
          <p:nvPr/>
        </p:nvGrpSpPr>
        <p:grpSpPr bwMode="gray">
          <a:xfrm>
            <a:off x="901683" y="2975462"/>
            <a:ext cx="4147022" cy="2956215"/>
            <a:chOff x="1370591" y="3243188"/>
            <a:chExt cx="4147022" cy="2956215"/>
          </a:xfrm>
        </p:grpSpPr>
        <p:sp>
          <p:nvSpPr>
            <p:cNvPr id="15" name="任意多边形 14"/>
            <p:cNvSpPr/>
            <p:nvPr/>
          </p:nvSpPr>
          <p:spPr bwMode="gray">
            <a:xfrm>
              <a:off x="1370591" y="3243188"/>
              <a:ext cx="4147022" cy="2956215"/>
            </a:xfrm>
            <a:custGeom>
              <a:avLst/>
              <a:gdLst>
                <a:gd name="connsiteX0" fmla="*/ 2070230 w 4140460"/>
                <a:gd name="connsiteY0" fmla="*/ 0 h 2654826"/>
                <a:gd name="connsiteX1" fmla="*/ 2243680 w 4140460"/>
                <a:gd name="connsiteY1" fmla="*/ 241322 h 2654826"/>
                <a:gd name="connsiteX2" fmla="*/ 4059946 w 4140460"/>
                <a:gd name="connsiteY2" fmla="*/ 241322 h 2654826"/>
                <a:gd name="connsiteX3" fmla="*/ 4140460 w 4140460"/>
                <a:gd name="connsiteY3" fmla="*/ 321836 h 2654826"/>
                <a:gd name="connsiteX4" fmla="*/ 4140460 w 4140460"/>
                <a:gd name="connsiteY4" fmla="*/ 2574312 h 2654826"/>
                <a:gd name="connsiteX5" fmla="*/ 4059946 w 4140460"/>
                <a:gd name="connsiteY5" fmla="*/ 2654826 h 2654826"/>
                <a:gd name="connsiteX6" fmla="*/ 80514 w 4140460"/>
                <a:gd name="connsiteY6" fmla="*/ 2654826 h 2654826"/>
                <a:gd name="connsiteX7" fmla="*/ 0 w 4140460"/>
                <a:gd name="connsiteY7" fmla="*/ 2574312 h 2654826"/>
                <a:gd name="connsiteX8" fmla="*/ 0 w 4140460"/>
                <a:gd name="connsiteY8" fmla="*/ 321836 h 2654826"/>
                <a:gd name="connsiteX9" fmla="*/ 80514 w 4140460"/>
                <a:gd name="connsiteY9" fmla="*/ 241322 h 2654826"/>
                <a:gd name="connsiteX10" fmla="*/ 1896780 w 4140460"/>
                <a:gd name="connsiteY10" fmla="*/ 241322 h 2654826"/>
                <a:gd name="connsiteX0" fmla="*/ 2070230 w 4140460"/>
                <a:gd name="connsiteY0" fmla="*/ 0 h 2654826"/>
                <a:gd name="connsiteX1" fmla="*/ 2243680 w 4140460"/>
                <a:gd name="connsiteY1" fmla="*/ 241322 h 2654826"/>
                <a:gd name="connsiteX2" fmla="*/ 4059946 w 4140460"/>
                <a:gd name="connsiteY2" fmla="*/ 241322 h 2654826"/>
                <a:gd name="connsiteX3" fmla="*/ 4140460 w 4140460"/>
                <a:gd name="connsiteY3" fmla="*/ 321836 h 2654826"/>
                <a:gd name="connsiteX4" fmla="*/ 4140460 w 4140460"/>
                <a:gd name="connsiteY4" fmla="*/ 2574312 h 2654826"/>
                <a:gd name="connsiteX5" fmla="*/ 4059946 w 4140460"/>
                <a:gd name="connsiteY5" fmla="*/ 2654826 h 2654826"/>
                <a:gd name="connsiteX6" fmla="*/ 80514 w 4140460"/>
                <a:gd name="connsiteY6" fmla="*/ 2654826 h 2654826"/>
                <a:gd name="connsiteX7" fmla="*/ 0 w 4140460"/>
                <a:gd name="connsiteY7" fmla="*/ 2574312 h 2654826"/>
                <a:gd name="connsiteX8" fmla="*/ 0 w 4140460"/>
                <a:gd name="connsiteY8" fmla="*/ 321836 h 2654826"/>
                <a:gd name="connsiteX9" fmla="*/ 80514 w 4140460"/>
                <a:gd name="connsiteY9" fmla="*/ 241322 h 2654826"/>
                <a:gd name="connsiteX10" fmla="*/ 277374 w 4140460"/>
                <a:gd name="connsiteY10" fmla="*/ 241322 h 2654826"/>
                <a:gd name="connsiteX11" fmla="*/ 2070230 w 4140460"/>
                <a:gd name="connsiteY11" fmla="*/ 0 h 2654826"/>
                <a:gd name="connsiteX0" fmla="*/ 2070230 w 4140460"/>
                <a:gd name="connsiteY0" fmla="*/ 0 h 2654826"/>
                <a:gd name="connsiteX1" fmla="*/ 472117 w 4140460"/>
                <a:gd name="connsiteY1" fmla="*/ 251875 h 2654826"/>
                <a:gd name="connsiteX2" fmla="*/ 4059946 w 4140460"/>
                <a:gd name="connsiteY2" fmla="*/ 241322 h 2654826"/>
                <a:gd name="connsiteX3" fmla="*/ 4140460 w 4140460"/>
                <a:gd name="connsiteY3" fmla="*/ 321836 h 2654826"/>
                <a:gd name="connsiteX4" fmla="*/ 4140460 w 4140460"/>
                <a:gd name="connsiteY4" fmla="*/ 2574312 h 2654826"/>
                <a:gd name="connsiteX5" fmla="*/ 4059946 w 4140460"/>
                <a:gd name="connsiteY5" fmla="*/ 2654826 h 2654826"/>
                <a:gd name="connsiteX6" fmla="*/ 80514 w 4140460"/>
                <a:gd name="connsiteY6" fmla="*/ 2654826 h 2654826"/>
                <a:gd name="connsiteX7" fmla="*/ 0 w 4140460"/>
                <a:gd name="connsiteY7" fmla="*/ 2574312 h 2654826"/>
                <a:gd name="connsiteX8" fmla="*/ 0 w 4140460"/>
                <a:gd name="connsiteY8" fmla="*/ 321836 h 2654826"/>
                <a:gd name="connsiteX9" fmla="*/ 80514 w 4140460"/>
                <a:gd name="connsiteY9" fmla="*/ 241322 h 2654826"/>
                <a:gd name="connsiteX10" fmla="*/ 277374 w 4140460"/>
                <a:gd name="connsiteY10" fmla="*/ 241322 h 2654826"/>
                <a:gd name="connsiteX11" fmla="*/ 2070230 w 4140460"/>
                <a:gd name="connsiteY11" fmla="*/ 0 h 2654826"/>
                <a:gd name="connsiteX0" fmla="*/ 255192 w 4140460"/>
                <a:gd name="connsiteY0" fmla="*/ 0 h 2855335"/>
                <a:gd name="connsiteX1" fmla="*/ 472117 w 4140460"/>
                <a:gd name="connsiteY1" fmla="*/ 452384 h 2855335"/>
                <a:gd name="connsiteX2" fmla="*/ 4059946 w 4140460"/>
                <a:gd name="connsiteY2" fmla="*/ 441831 h 2855335"/>
                <a:gd name="connsiteX3" fmla="*/ 4140460 w 4140460"/>
                <a:gd name="connsiteY3" fmla="*/ 522345 h 2855335"/>
                <a:gd name="connsiteX4" fmla="*/ 4140460 w 4140460"/>
                <a:gd name="connsiteY4" fmla="*/ 2774821 h 2855335"/>
                <a:gd name="connsiteX5" fmla="*/ 4059946 w 4140460"/>
                <a:gd name="connsiteY5" fmla="*/ 2855335 h 2855335"/>
                <a:gd name="connsiteX6" fmla="*/ 80514 w 4140460"/>
                <a:gd name="connsiteY6" fmla="*/ 2855335 h 2855335"/>
                <a:gd name="connsiteX7" fmla="*/ 0 w 4140460"/>
                <a:gd name="connsiteY7" fmla="*/ 2774821 h 2855335"/>
                <a:gd name="connsiteX8" fmla="*/ 0 w 4140460"/>
                <a:gd name="connsiteY8" fmla="*/ 522345 h 2855335"/>
                <a:gd name="connsiteX9" fmla="*/ 80514 w 4140460"/>
                <a:gd name="connsiteY9" fmla="*/ 441831 h 2855335"/>
                <a:gd name="connsiteX10" fmla="*/ 277374 w 4140460"/>
                <a:gd name="connsiteY10" fmla="*/ 441831 h 2855335"/>
                <a:gd name="connsiteX11" fmla="*/ 255192 w 4140460"/>
                <a:gd name="connsiteY11" fmla="*/ 0 h 2855335"/>
                <a:gd name="connsiteX0" fmla="*/ 320402 w 4140460"/>
                <a:gd name="connsiteY0" fmla="*/ 0 h 2865888"/>
                <a:gd name="connsiteX1" fmla="*/ 472117 w 4140460"/>
                <a:gd name="connsiteY1" fmla="*/ 462937 h 2865888"/>
                <a:gd name="connsiteX2" fmla="*/ 4059946 w 4140460"/>
                <a:gd name="connsiteY2" fmla="*/ 452384 h 2865888"/>
                <a:gd name="connsiteX3" fmla="*/ 4140460 w 4140460"/>
                <a:gd name="connsiteY3" fmla="*/ 532898 h 2865888"/>
                <a:gd name="connsiteX4" fmla="*/ 4140460 w 4140460"/>
                <a:gd name="connsiteY4" fmla="*/ 2785374 h 2865888"/>
                <a:gd name="connsiteX5" fmla="*/ 4059946 w 4140460"/>
                <a:gd name="connsiteY5" fmla="*/ 2865888 h 2865888"/>
                <a:gd name="connsiteX6" fmla="*/ 80514 w 4140460"/>
                <a:gd name="connsiteY6" fmla="*/ 2865888 h 2865888"/>
                <a:gd name="connsiteX7" fmla="*/ 0 w 4140460"/>
                <a:gd name="connsiteY7" fmla="*/ 2785374 h 2865888"/>
                <a:gd name="connsiteX8" fmla="*/ 0 w 4140460"/>
                <a:gd name="connsiteY8" fmla="*/ 532898 h 2865888"/>
                <a:gd name="connsiteX9" fmla="*/ 80514 w 4140460"/>
                <a:gd name="connsiteY9" fmla="*/ 452384 h 2865888"/>
                <a:gd name="connsiteX10" fmla="*/ 277374 w 4140460"/>
                <a:gd name="connsiteY10" fmla="*/ 452384 h 2865888"/>
                <a:gd name="connsiteX11" fmla="*/ 320402 w 4140460"/>
                <a:gd name="connsiteY11" fmla="*/ 0 h 2865888"/>
                <a:gd name="connsiteX0" fmla="*/ 320402 w 4140460"/>
                <a:gd name="connsiteY0" fmla="*/ 0 h 2865888"/>
                <a:gd name="connsiteX1" fmla="*/ 602538 w 4140460"/>
                <a:gd name="connsiteY1" fmla="*/ 462937 h 2865888"/>
                <a:gd name="connsiteX2" fmla="*/ 4059946 w 4140460"/>
                <a:gd name="connsiteY2" fmla="*/ 452384 h 2865888"/>
                <a:gd name="connsiteX3" fmla="*/ 4140460 w 4140460"/>
                <a:gd name="connsiteY3" fmla="*/ 532898 h 2865888"/>
                <a:gd name="connsiteX4" fmla="*/ 4140460 w 4140460"/>
                <a:gd name="connsiteY4" fmla="*/ 2785374 h 2865888"/>
                <a:gd name="connsiteX5" fmla="*/ 4059946 w 4140460"/>
                <a:gd name="connsiteY5" fmla="*/ 2865888 h 2865888"/>
                <a:gd name="connsiteX6" fmla="*/ 80514 w 4140460"/>
                <a:gd name="connsiteY6" fmla="*/ 2865888 h 2865888"/>
                <a:gd name="connsiteX7" fmla="*/ 0 w 4140460"/>
                <a:gd name="connsiteY7" fmla="*/ 2785374 h 2865888"/>
                <a:gd name="connsiteX8" fmla="*/ 0 w 4140460"/>
                <a:gd name="connsiteY8" fmla="*/ 532898 h 2865888"/>
                <a:gd name="connsiteX9" fmla="*/ 80514 w 4140460"/>
                <a:gd name="connsiteY9" fmla="*/ 452384 h 2865888"/>
                <a:gd name="connsiteX10" fmla="*/ 277374 w 4140460"/>
                <a:gd name="connsiteY10" fmla="*/ 452384 h 2865888"/>
                <a:gd name="connsiteX11" fmla="*/ 320402 w 4140460"/>
                <a:gd name="connsiteY11" fmla="*/ 0 h 2865888"/>
                <a:gd name="connsiteX0" fmla="*/ 320402 w 4140460"/>
                <a:gd name="connsiteY0" fmla="*/ 0 h 2865888"/>
                <a:gd name="connsiteX1" fmla="*/ 602538 w 4140460"/>
                <a:gd name="connsiteY1" fmla="*/ 462937 h 2865888"/>
                <a:gd name="connsiteX2" fmla="*/ 4059946 w 4140460"/>
                <a:gd name="connsiteY2" fmla="*/ 452384 h 2865888"/>
                <a:gd name="connsiteX3" fmla="*/ 4140460 w 4140460"/>
                <a:gd name="connsiteY3" fmla="*/ 532898 h 2865888"/>
                <a:gd name="connsiteX4" fmla="*/ 4140460 w 4140460"/>
                <a:gd name="connsiteY4" fmla="*/ 2785374 h 2865888"/>
                <a:gd name="connsiteX5" fmla="*/ 4059946 w 4140460"/>
                <a:gd name="connsiteY5" fmla="*/ 2865888 h 2865888"/>
                <a:gd name="connsiteX6" fmla="*/ 80514 w 4140460"/>
                <a:gd name="connsiteY6" fmla="*/ 2865888 h 2865888"/>
                <a:gd name="connsiteX7" fmla="*/ 0 w 4140460"/>
                <a:gd name="connsiteY7" fmla="*/ 2785374 h 2865888"/>
                <a:gd name="connsiteX8" fmla="*/ 0 w 4140460"/>
                <a:gd name="connsiteY8" fmla="*/ 532898 h 2865888"/>
                <a:gd name="connsiteX9" fmla="*/ 80514 w 4140460"/>
                <a:gd name="connsiteY9" fmla="*/ 452384 h 2865888"/>
                <a:gd name="connsiteX10" fmla="*/ 277374 w 4140460"/>
                <a:gd name="connsiteY10" fmla="*/ 452384 h 2865888"/>
                <a:gd name="connsiteX11" fmla="*/ 320402 w 4140460"/>
                <a:gd name="connsiteY11" fmla="*/ 0 h 2865888"/>
                <a:gd name="connsiteX0" fmla="*/ 320402 w 4140460"/>
                <a:gd name="connsiteY0" fmla="*/ 0 h 2865888"/>
                <a:gd name="connsiteX1" fmla="*/ 602538 w 4140460"/>
                <a:gd name="connsiteY1" fmla="*/ 462937 h 2865888"/>
                <a:gd name="connsiteX2" fmla="*/ 4059946 w 4140460"/>
                <a:gd name="connsiteY2" fmla="*/ 452384 h 2865888"/>
                <a:gd name="connsiteX3" fmla="*/ 4140460 w 4140460"/>
                <a:gd name="connsiteY3" fmla="*/ 532898 h 2865888"/>
                <a:gd name="connsiteX4" fmla="*/ 4140460 w 4140460"/>
                <a:gd name="connsiteY4" fmla="*/ 2785374 h 2865888"/>
                <a:gd name="connsiteX5" fmla="*/ 4059946 w 4140460"/>
                <a:gd name="connsiteY5" fmla="*/ 2865888 h 2865888"/>
                <a:gd name="connsiteX6" fmla="*/ 80514 w 4140460"/>
                <a:gd name="connsiteY6" fmla="*/ 2865888 h 2865888"/>
                <a:gd name="connsiteX7" fmla="*/ 0 w 4140460"/>
                <a:gd name="connsiteY7" fmla="*/ 2785374 h 2865888"/>
                <a:gd name="connsiteX8" fmla="*/ 0 w 4140460"/>
                <a:gd name="connsiteY8" fmla="*/ 532898 h 2865888"/>
                <a:gd name="connsiteX9" fmla="*/ 80514 w 4140460"/>
                <a:gd name="connsiteY9" fmla="*/ 452384 h 2865888"/>
                <a:gd name="connsiteX10" fmla="*/ 277374 w 4140460"/>
                <a:gd name="connsiteY10" fmla="*/ 452384 h 2865888"/>
                <a:gd name="connsiteX11" fmla="*/ 320402 w 4140460"/>
                <a:gd name="connsiteY11" fmla="*/ 0 h 2865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40460" h="2865888">
                  <a:moveTo>
                    <a:pt x="320402" y="0"/>
                  </a:moveTo>
                  <a:lnTo>
                    <a:pt x="602538" y="462937"/>
                  </a:lnTo>
                  <a:lnTo>
                    <a:pt x="4059946" y="452384"/>
                  </a:lnTo>
                  <a:cubicBezTo>
                    <a:pt x="4104413" y="452384"/>
                    <a:pt x="4140460" y="488431"/>
                    <a:pt x="4140460" y="532898"/>
                  </a:cubicBezTo>
                  <a:lnTo>
                    <a:pt x="4140460" y="2785374"/>
                  </a:lnTo>
                  <a:cubicBezTo>
                    <a:pt x="4140460" y="2829841"/>
                    <a:pt x="4104413" y="2865888"/>
                    <a:pt x="4059946" y="2865888"/>
                  </a:cubicBezTo>
                  <a:lnTo>
                    <a:pt x="80514" y="2865888"/>
                  </a:lnTo>
                  <a:cubicBezTo>
                    <a:pt x="36047" y="2865888"/>
                    <a:pt x="0" y="2829841"/>
                    <a:pt x="0" y="2785374"/>
                  </a:cubicBezTo>
                  <a:lnTo>
                    <a:pt x="0" y="532898"/>
                  </a:lnTo>
                  <a:cubicBezTo>
                    <a:pt x="0" y="488431"/>
                    <a:pt x="36047" y="452384"/>
                    <a:pt x="80514" y="452384"/>
                  </a:cubicBezTo>
                  <a:lnTo>
                    <a:pt x="277374" y="452384"/>
                  </a:lnTo>
                  <a:cubicBezTo>
                    <a:pt x="324322" y="-18522"/>
                    <a:pt x="327796" y="122652"/>
                    <a:pt x="320402" y="0"/>
                  </a:cubicBezTo>
                  <a:close/>
                </a:path>
              </a:pathLst>
            </a:custGeom>
            <a:solidFill>
              <a:schemeClr val="bg1">
                <a:lumMod val="85000"/>
              </a:schemeClr>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342900" indent="-342900" algn="ctr" fontAlgn="auto">
                <a:buFont typeface="+mj-lt"/>
                <a:buAutoNum type="arabicPeriod"/>
              </a:pPr>
              <a:endParaRPr lang="zh-CN" altLang="en-US" sz="1800">
                <a:latin typeface="Huawei Sans" panose="020C0503030203020204" pitchFamily="34" charset="0"/>
                <a:ea typeface="方正兰亭黑简体" panose="02000000000000000000" pitchFamily="2" charset="-122"/>
                <a:cs typeface="Courier New" panose="02070309020205020404" pitchFamily="49" charset="0"/>
              </a:endParaRPr>
            </a:p>
          </p:txBody>
        </p:sp>
        <p:pic>
          <p:nvPicPr>
            <p:cNvPr id="16" name="图片 15"/>
            <p:cNvPicPr>
              <a:picLocks noChangeAspect="1"/>
            </p:cNvPicPr>
            <p:nvPr/>
          </p:nvPicPr>
          <p:blipFill>
            <a:blip r:embed="rId5"/>
            <a:stretch>
              <a:fillRect/>
            </a:stretch>
          </p:blipFill>
          <p:spPr bwMode="gray">
            <a:xfrm>
              <a:off x="1809276" y="3880375"/>
              <a:ext cx="3269651" cy="2197273"/>
            </a:xfrm>
            <a:prstGeom prst="rect">
              <a:avLst/>
            </a:prstGeom>
          </p:spPr>
        </p:pic>
      </p:grpSp>
      <p:pic>
        <p:nvPicPr>
          <p:cNvPr id="17" name="图片 16" descr="通用交换机.png"/>
          <p:cNvPicPr>
            <a:picLocks noChangeAspect="1"/>
          </p:cNvPicPr>
          <p:nvPr/>
        </p:nvPicPr>
        <p:blipFill>
          <a:blip r:embed="rId6" cstate="print"/>
          <a:stretch>
            <a:fillRect/>
          </a:stretch>
        </p:blipFill>
        <p:spPr bwMode="gray">
          <a:xfrm>
            <a:off x="2669788" y="2347506"/>
            <a:ext cx="540000" cy="441818"/>
          </a:xfrm>
          <a:prstGeom prst="rect">
            <a:avLst/>
          </a:prstGeom>
        </p:spPr>
      </p:pic>
      <p:pic>
        <p:nvPicPr>
          <p:cNvPr id="18" name="图片 17" descr="交换机.png"/>
          <p:cNvPicPr>
            <a:picLocks noChangeAspect="1"/>
          </p:cNvPicPr>
          <p:nvPr/>
        </p:nvPicPr>
        <p:blipFill>
          <a:blip r:embed="rId7" cstate="print"/>
          <a:stretch>
            <a:fillRect/>
          </a:stretch>
        </p:blipFill>
        <p:spPr bwMode="gray">
          <a:xfrm>
            <a:off x="2695501" y="1488281"/>
            <a:ext cx="539999" cy="441817"/>
          </a:xfrm>
          <a:prstGeom prst="rect">
            <a:avLst/>
          </a:prstGeom>
        </p:spPr>
      </p:pic>
      <p:sp>
        <p:nvSpPr>
          <p:cNvPr id="19" name="圆角矩形 75"/>
          <p:cNvSpPr/>
          <p:nvPr/>
        </p:nvSpPr>
        <p:spPr bwMode="gray">
          <a:xfrm>
            <a:off x="5358138" y="1049262"/>
            <a:ext cx="634062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rPr>
              <a:t>简介</a:t>
            </a:r>
          </a:p>
        </p:txBody>
      </p:sp>
      <p:sp>
        <p:nvSpPr>
          <p:cNvPr id="20" name="圆角矩形 75"/>
          <p:cNvSpPr/>
          <p:nvPr/>
        </p:nvSpPr>
        <p:spPr bwMode="gray">
          <a:xfrm>
            <a:off x="5358138" y="3141556"/>
            <a:ext cx="634062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组网方式</a:t>
            </a:r>
          </a:p>
        </p:txBody>
      </p:sp>
      <p:sp>
        <p:nvSpPr>
          <p:cNvPr id="21" name="圆角矩形 75"/>
          <p:cNvSpPr/>
          <p:nvPr/>
        </p:nvSpPr>
        <p:spPr bwMode="gray">
          <a:xfrm>
            <a:off x="5358138" y="3530418"/>
            <a:ext cx="6340629" cy="1504355"/>
          </a:xfrm>
          <a:prstGeom prst="roundRect">
            <a:avLst>
              <a:gd name="adj" fmla="val 874"/>
            </a:avLst>
          </a:prstGeom>
          <a:no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Arial" panose="020B0604020202020204" pitchFamily="34" charset="0"/>
              <a:buChar char="•"/>
            </a:pPr>
            <a:r>
              <a:rPr lang="en-US" altLang="zh-CN" sz="14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rPr>
              <a:t>802.1X</a:t>
            </a:r>
            <a:r>
              <a:rPr lang="zh-CN" altLang="en-US" sz="14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rPr>
              <a:t>客户端</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一般为用户终端设备，用户可以通过启动客户端软件发起</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802.1X</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endParaRPr>
          </a:p>
          <a:p>
            <a:pPr marL="182563" indent="-182563">
              <a:lnSpc>
                <a:spcPts val="2200"/>
              </a:lnSpc>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rPr>
              <a:t>网络接入设备</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通常为支持</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802.1X</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认证的网络设备，它为客户端提供接入局域网的端口，该端口可以是物理端口，也可以是逻辑端口。</a:t>
            </a:r>
          </a:p>
          <a:p>
            <a:pPr marL="182563" indent="-182563">
              <a:lnSpc>
                <a:spcPts val="2200"/>
              </a:lnSpc>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rPr>
              <a:t>认证服务器</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用于实现对用户进行认证、授权和计费，通常为</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RADIUS</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服务器。</a:t>
            </a:r>
          </a:p>
        </p:txBody>
      </p:sp>
      <p:sp>
        <p:nvSpPr>
          <p:cNvPr id="22" name="圆角矩形 75"/>
          <p:cNvSpPr/>
          <p:nvPr/>
        </p:nvSpPr>
        <p:spPr bwMode="gray">
          <a:xfrm>
            <a:off x="5358138" y="5298471"/>
            <a:ext cx="634062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rPr>
              <a:t>应用场景</a:t>
            </a:r>
          </a:p>
        </p:txBody>
      </p:sp>
      <p:sp>
        <p:nvSpPr>
          <p:cNvPr id="23" name="圆角矩形 75"/>
          <p:cNvSpPr/>
          <p:nvPr/>
        </p:nvSpPr>
        <p:spPr bwMode="gray">
          <a:xfrm>
            <a:off x="5358138" y="5687334"/>
            <a:ext cx="6340629" cy="459108"/>
          </a:xfrm>
          <a:prstGeom prst="roundRect">
            <a:avLst>
              <a:gd name="adj" fmla="val 874"/>
            </a:avLst>
          </a:prstGeom>
          <a:no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适用于对安全要求较高的办公用户认证场景。</a:t>
            </a:r>
          </a:p>
        </p:txBody>
      </p:sp>
      <p:sp>
        <p:nvSpPr>
          <p:cNvPr id="24" name="圆角矩形 75"/>
          <p:cNvSpPr/>
          <p:nvPr/>
        </p:nvSpPr>
        <p:spPr bwMode="gray">
          <a:xfrm>
            <a:off x="5358138" y="1438126"/>
            <a:ext cx="6340629" cy="1491248"/>
          </a:xfrm>
          <a:prstGeom prst="roundRect">
            <a:avLst>
              <a:gd name="adj" fmla="val 874"/>
            </a:avLst>
          </a:prstGeom>
          <a:no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fontAlgn="auto">
              <a:lnSpc>
                <a:spcPts val="2200"/>
              </a:lnSpc>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802.1X</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认证是一种基于端口的网络接入控制协议，即在接入设备的端口这一级验证用户身份并控制其访问权限。</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endParaRPr>
          </a:p>
          <a:p>
            <a:pPr marL="182563" indent="-182563" fontAlgn="auto">
              <a:lnSpc>
                <a:spcPts val="2200"/>
              </a:lnSpc>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802.1X</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认证使用</a:t>
            </a:r>
            <a:r>
              <a:rPr lang="en-US" altLang="zh-CN" sz="14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rPr>
              <a:t>EAPoL</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Extensible Authentication Protocol over </a:t>
            </a:r>
            <a:r>
              <a:rPr lang="en-US" altLang="zh-CN"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LAN</a:t>
            </a: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局域网可扩展认证协议），实现客户端、设备端和认证服务器之间认证信息的交换。</a:t>
            </a:r>
          </a:p>
        </p:txBody>
      </p:sp>
      <p:sp>
        <p:nvSpPr>
          <p:cNvPr id="25" name="五边形 24"/>
          <p:cNvSpPr/>
          <p:nvPr/>
        </p:nvSpPr>
        <p:spPr bwMode="gray">
          <a:xfrm>
            <a:off x="8808538" y="9848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951685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27" name="燕尾形 26"/>
          <p:cNvSpPr/>
          <p:nvPr/>
        </p:nvSpPr>
        <p:spPr bwMode="gray">
          <a:xfrm>
            <a:off x="1022517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28" name="燕尾形 27"/>
          <p:cNvSpPr/>
          <p:nvPr/>
        </p:nvSpPr>
        <p:spPr bwMode="gray">
          <a:xfrm>
            <a:off x="1093349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7109648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smtClean="0"/>
              <a:t>802.1X</a:t>
            </a:r>
            <a:r>
              <a:rPr lang="zh-CN" altLang="en-US" smtClean="0"/>
              <a:t>认证方式</a:t>
            </a:r>
            <a:endParaRPr lang="zh-CN" altLang="en-US" dirty="0"/>
          </a:p>
        </p:txBody>
      </p:sp>
      <p:sp>
        <p:nvSpPr>
          <p:cNvPr id="4" name="文本占位符 3"/>
          <p:cNvSpPr>
            <a:spLocks noGrp="1"/>
          </p:cNvSpPr>
          <p:nvPr>
            <p:ph type="body" sz="quarter" idx="10"/>
          </p:nvPr>
        </p:nvSpPr>
        <p:spPr>
          <a:xfrm>
            <a:off x="455613" y="1047751"/>
            <a:ext cx="11256962" cy="1160246"/>
          </a:xfrm>
        </p:spPr>
        <p:txBody>
          <a:bodyPr/>
          <a:lstStyle/>
          <a:p>
            <a:r>
              <a:rPr lang="zh-CN" altLang="en-US" sz="2000" dirty="0" smtClean="0"/>
              <a:t>根据接入设备对</a:t>
            </a:r>
            <a:r>
              <a:rPr lang="en-US" altLang="zh-CN" sz="2000" dirty="0" smtClean="0"/>
              <a:t>802.1X</a:t>
            </a:r>
            <a:r>
              <a:rPr lang="zh-CN" altLang="en-US" sz="2000" dirty="0" smtClean="0"/>
              <a:t>客户端发送的</a:t>
            </a:r>
            <a:r>
              <a:rPr lang="en-US" altLang="zh-CN" sz="2000" dirty="0" err="1" smtClean="0"/>
              <a:t>EAPoL</a:t>
            </a:r>
            <a:r>
              <a:rPr lang="zh-CN" altLang="en-US" sz="2000" dirty="0" smtClean="0"/>
              <a:t>报文处理机制的不同，可将认证方式分为</a:t>
            </a:r>
            <a:r>
              <a:rPr lang="en-US" altLang="zh-CN" sz="2000" dirty="0" smtClean="0"/>
              <a:t>EAP</a:t>
            </a:r>
            <a:r>
              <a:rPr lang="zh-CN" altLang="en-US" sz="2000" dirty="0" smtClean="0"/>
              <a:t>中继方式和</a:t>
            </a:r>
            <a:r>
              <a:rPr lang="en-US" altLang="zh-CN" sz="2000" dirty="0" smtClean="0"/>
              <a:t>EAP</a:t>
            </a:r>
            <a:r>
              <a:rPr lang="zh-CN" altLang="en-US" sz="2000" dirty="0" smtClean="0"/>
              <a:t>终结方式。</a:t>
            </a:r>
            <a:endParaRPr lang="zh-CN" altLang="en-US" sz="2000" dirty="0"/>
          </a:p>
        </p:txBody>
      </p:sp>
      <p:grpSp>
        <p:nvGrpSpPr>
          <p:cNvPr id="6" name="组合 5"/>
          <p:cNvGrpSpPr/>
          <p:nvPr/>
        </p:nvGrpSpPr>
        <p:grpSpPr bwMode="gray">
          <a:xfrm>
            <a:off x="6529063" y="3035606"/>
            <a:ext cx="4747273" cy="1015414"/>
            <a:chOff x="841264" y="3250550"/>
            <a:chExt cx="4747273" cy="1015414"/>
          </a:xfrm>
        </p:grpSpPr>
        <p:cxnSp>
          <p:nvCxnSpPr>
            <p:cNvPr id="26" name="Straight Connector 8"/>
            <p:cNvCxnSpPr>
              <a:endCxn id="36" idx="3"/>
            </p:cNvCxnSpPr>
            <p:nvPr/>
          </p:nvCxnSpPr>
          <p:spPr bwMode="gray">
            <a:xfrm flipH="1">
              <a:off x="1747816" y="3789341"/>
              <a:ext cx="32055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bwMode="gray">
            <a:xfrm>
              <a:off x="841264" y="3250550"/>
              <a:ext cx="1273105" cy="759700"/>
              <a:chOff x="820482" y="3735410"/>
              <a:chExt cx="1273105" cy="759700"/>
            </a:xfrm>
          </p:grpSpPr>
          <p:pic>
            <p:nvPicPr>
              <p:cNvPr id="36" name="图片 11" descr="开放网络-蓝.png"/>
              <p:cNvPicPr>
                <a:picLocks/>
              </p:cNvPicPr>
              <p:nvPr/>
            </p:nvPicPr>
            <p:blipFill>
              <a:blip r:embed="rId3" cstate="print"/>
              <a:stretch>
                <a:fillRect/>
              </a:stretch>
            </p:blipFill>
            <p:spPr bwMode="gray">
              <a:xfrm>
                <a:off x="1187034" y="4053292"/>
                <a:ext cx="540000" cy="441818"/>
              </a:xfrm>
              <a:prstGeom prst="rect">
                <a:avLst/>
              </a:prstGeom>
            </p:spPr>
          </p:pic>
          <p:sp>
            <p:nvSpPr>
              <p:cNvPr id="37" name="TextBox 12"/>
              <p:cNvSpPr txBox="1"/>
              <p:nvPr/>
            </p:nvSpPr>
            <p:spPr bwMode="gray">
              <a:xfrm>
                <a:off x="820482" y="3735410"/>
                <a:ext cx="1273105" cy="307777"/>
              </a:xfrm>
              <a:prstGeom prst="rect">
                <a:avLst/>
              </a:prstGeom>
              <a:noFill/>
            </p:spPr>
            <p:txBody>
              <a:bodyPr wrap="none" rtlCol="0">
                <a:spAutoFit/>
              </a:bodyPr>
              <a:lstStyle/>
              <a:p>
                <a:pPr algn="ctr"/>
                <a:r>
                  <a:rPr lang="en-US" altLang="zh-CN" sz="1400" dirty="0"/>
                  <a:t>802.1X</a:t>
                </a:r>
                <a:r>
                  <a:rPr lang="zh-CN" altLang="en-US" sz="1400" dirty="0"/>
                  <a:t>客户端</a:t>
                </a:r>
              </a:p>
            </p:txBody>
          </p:sp>
        </p:grpSp>
        <p:grpSp>
          <p:nvGrpSpPr>
            <p:cNvPr id="28" name="组合 27"/>
            <p:cNvGrpSpPr/>
            <p:nvPr/>
          </p:nvGrpSpPr>
          <p:grpSpPr bwMode="gray">
            <a:xfrm>
              <a:off x="4506188" y="3250550"/>
              <a:ext cx="1082349" cy="798040"/>
              <a:chOff x="4485406" y="3735410"/>
              <a:chExt cx="1082349" cy="798040"/>
            </a:xfrm>
          </p:grpSpPr>
          <p:sp>
            <p:nvSpPr>
              <p:cNvPr id="34" name="TextBox 14"/>
              <p:cNvSpPr txBox="1"/>
              <p:nvPr/>
            </p:nvSpPr>
            <p:spPr bwMode="gray">
              <a:xfrm>
                <a:off x="4485406" y="3735410"/>
                <a:ext cx="1082349" cy="307777"/>
              </a:xfrm>
              <a:prstGeom prst="rect">
                <a:avLst/>
              </a:prstGeom>
              <a:noFill/>
            </p:spPr>
            <p:txBody>
              <a:bodyPr wrap="none" rtlCol="0">
                <a:spAutoFit/>
              </a:bodyPr>
              <a:lstStyle/>
              <a:p>
                <a:pPr algn="ctr"/>
                <a:r>
                  <a:rPr lang="zh-CN" altLang="en-US" sz="1400" dirty="0"/>
                  <a:t>认证服务器</a:t>
                </a:r>
              </a:p>
            </p:txBody>
          </p:sp>
          <p:pic>
            <p:nvPicPr>
              <p:cNvPr id="35" name="图片 34" descr="RADIUS服务器-蓝.png"/>
              <p:cNvPicPr>
                <a:picLocks/>
              </p:cNvPicPr>
              <p:nvPr/>
            </p:nvPicPr>
            <p:blipFill>
              <a:blip r:embed="rId4" cstate="print"/>
              <a:stretch>
                <a:fillRect/>
              </a:stretch>
            </p:blipFill>
            <p:spPr bwMode="gray">
              <a:xfrm>
                <a:off x="4756580" y="4091632"/>
                <a:ext cx="540000" cy="441818"/>
              </a:xfrm>
              <a:prstGeom prst="rect">
                <a:avLst/>
              </a:prstGeom>
            </p:spPr>
          </p:pic>
        </p:grpSp>
        <p:sp>
          <p:nvSpPr>
            <p:cNvPr id="29" name="TextBox 13"/>
            <p:cNvSpPr txBox="1"/>
            <p:nvPr/>
          </p:nvSpPr>
          <p:spPr bwMode="gray">
            <a:xfrm>
              <a:off x="2679335" y="3250550"/>
              <a:ext cx="1261885" cy="307777"/>
            </a:xfrm>
            <a:prstGeom prst="rect">
              <a:avLst/>
            </a:prstGeom>
            <a:noFill/>
          </p:spPr>
          <p:txBody>
            <a:bodyPr wrap="none" rtlCol="0">
              <a:spAutoFit/>
            </a:bodyPr>
            <a:lstStyle/>
            <a:p>
              <a:pPr algn="ctr"/>
              <a:r>
                <a:rPr lang="zh-CN" altLang="en-US" sz="1400" dirty="0"/>
                <a:t>网络接入设备</a:t>
              </a:r>
            </a:p>
          </p:txBody>
        </p:sp>
        <p:cxnSp>
          <p:nvCxnSpPr>
            <p:cNvPr id="30" name="直接箭头连接符 29"/>
            <p:cNvCxnSpPr/>
            <p:nvPr/>
          </p:nvCxnSpPr>
          <p:spPr bwMode="gray">
            <a:xfrm>
              <a:off x="1811969" y="3910659"/>
              <a:ext cx="1063311" cy="0"/>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bwMode="gray">
            <a:xfrm>
              <a:off x="1957941" y="3927410"/>
              <a:ext cx="771365" cy="338554"/>
            </a:xfrm>
            <a:prstGeom prst="rect">
              <a:avLst/>
            </a:prstGeom>
            <a:noFill/>
          </p:spPr>
          <p:txBody>
            <a:bodyPr wrap="none" rtlCol="0">
              <a:spAutoFit/>
            </a:bodyPr>
            <a:lstStyle/>
            <a:p>
              <a:pPr algn="ctr"/>
              <a:r>
                <a:rPr lang="en-US" altLang="zh-CN" sz="1600" dirty="0" err="1"/>
                <a:t>EAPoL</a:t>
              </a:r>
              <a:endParaRPr lang="zh-CN" altLang="en-US" sz="1600" dirty="0"/>
            </a:p>
          </p:txBody>
        </p:sp>
        <p:cxnSp>
          <p:nvCxnSpPr>
            <p:cNvPr id="32" name="直接箭头连接符 31"/>
            <p:cNvCxnSpPr/>
            <p:nvPr/>
          </p:nvCxnSpPr>
          <p:spPr bwMode="gray">
            <a:xfrm>
              <a:off x="3633701" y="3910659"/>
              <a:ext cx="1063311" cy="0"/>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bwMode="gray">
            <a:xfrm>
              <a:off x="3720562" y="3927410"/>
              <a:ext cx="944489" cy="338554"/>
            </a:xfrm>
            <a:prstGeom prst="rect">
              <a:avLst/>
            </a:prstGeom>
            <a:noFill/>
          </p:spPr>
          <p:txBody>
            <a:bodyPr wrap="none" rtlCol="0">
              <a:spAutoFit/>
            </a:bodyPr>
            <a:lstStyle/>
            <a:p>
              <a:pPr algn="ctr"/>
              <a:r>
                <a:rPr lang="en-US" altLang="zh-CN" sz="1600" b="1" dirty="0">
                  <a:solidFill>
                    <a:srgbClr val="C7000B"/>
                  </a:solidFill>
                </a:rPr>
                <a:t>RADIUS</a:t>
              </a:r>
              <a:endParaRPr lang="zh-CN" altLang="en-US" sz="1600" b="1" dirty="0">
                <a:solidFill>
                  <a:srgbClr val="C7000B"/>
                </a:solidFill>
              </a:endParaRPr>
            </a:p>
          </p:txBody>
        </p:sp>
      </p:grpSp>
      <p:sp>
        <p:nvSpPr>
          <p:cNvPr id="7" name="圆角矩形 75"/>
          <p:cNvSpPr/>
          <p:nvPr/>
        </p:nvSpPr>
        <p:spPr bwMode="gray">
          <a:xfrm>
            <a:off x="6285719" y="2385148"/>
            <a:ext cx="523396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EAP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终结方式</a:t>
            </a:r>
          </a:p>
        </p:txBody>
      </p:sp>
      <p:sp>
        <p:nvSpPr>
          <p:cNvPr id="8" name="圆角矩形 75"/>
          <p:cNvSpPr/>
          <p:nvPr/>
        </p:nvSpPr>
        <p:spPr bwMode="gray">
          <a:xfrm>
            <a:off x="6285719" y="2788077"/>
            <a:ext cx="5233961" cy="284718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 name="组合 8"/>
          <p:cNvGrpSpPr/>
          <p:nvPr/>
        </p:nvGrpSpPr>
        <p:grpSpPr bwMode="gray">
          <a:xfrm>
            <a:off x="896613" y="3007999"/>
            <a:ext cx="4747273" cy="1289242"/>
            <a:chOff x="6194779" y="3735410"/>
            <a:chExt cx="4747273" cy="1289242"/>
          </a:xfrm>
        </p:grpSpPr>
        <p:cxnSp>
          <p:nvCxnSpPr>
            <p:cNvPr id="14" name="Straight Connector 8"/>
            <p:cNvCxnSpPr>
              <a:endCxn id="24" idx="3"/>
            </p:cNvCxnSpPr>
            <p:nvPr/>
          </p:nvCxnSpPr>
          <p:spPr bwMode="gray">
            <a:xfrm flipH="1">
              <a:off x="7101331" y="4274201"/>
              <a:ext cx="32055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bwMode="gray">
            <a:xfrm>
              <a:off x="6194779" y="3735410"/>
              <a:ext cx="1273105" cy="759700"/>
              <a:chOff x="820482" y="3735410"/>
              <a:chExt cx="1273105" cy="759700"/>
            </a:xfrm>
          </p:grpSpPr>
          <p:pic>
            <p:nvPicPr>
              <p:cNvPr id="24" name="图片 11" descr="开放网络-蓝.png"/>
              <p:cNvPicPr>
                <a:picLocks/>
              </p:cNvPicPr>
              <p:nvPr/>
            </p:nvPicPr>
            <p:blipFill>
              <a:blip r:embed="rId3" cstate="print"/>
              <a:stretch>
                <a:fillRect/>
              </a:stretch>
            </p:blipFill>
            <p:spPr bwMode="gray">
              <a:xfrm>
                <a:off x="1187034" y="4053292"/>
                <a:ext cx="540000" cy="441818"/>
              </a:xfrm>
              <a:prstGeom prst="rect">
                <a:avLst/>
              </a:prstGeom>
            </p:spPr>
          </p:pic>
          <p:sp>
            <p:nvSpPr>
              <p:cNvPr id="25" name="TextBox 12"/>
              <p:cNvSpPr txBox="1"/>
              <p:nvPr/>
            </p:nvSpPr>
            <p:spPr bwMode="gray">
              <a:xfrm>
                <a:off x="820482" y="3735410"/>
                <a:ext cx="1273105" cy="307777"/>
              </a:xfrm>
              <a:prstGeom prst="rect">
                <a:avLst/>
              </a:prstGeom>
              <a:noFill/>
            </p:spPr>
            <p:txBody>
              <a:bodyPr wrap="none" rtlCol="0">
                <a:spAutoFit/>
              </a:bodyPr>
              <a:lstStyle/>
              <a:p>
                <a:pPr algn="ctr"/>
                <a:r>
                  <a:rPr lang="en-US" altLang="zh-CN" sz="1400" dirty="0"/>
                  <a:t>802.1X</a:t>
                </a:r>
                <a:r>
                  <a:rPr lang="zh-CN" altLang="en-US" sz="1400" dirty="0"/>
                  <a:t>客户端</a:t>
                </a:r>
              </a:p>
            </p:txBody>
          </p:sp>
        </p:grpSp>
        <p:grpSp>
          <p:nvGrpSpPr>
            <p:cNvPr id="16" name="组合 15"/>
            <p:cNvGrpSpPr/>
            <p:nvPr/>
          </p:nvGrpSpPr>
          <p:grpSpPr bwMode="gray">
            <a:xfrm>
              <a:off x="9859703" y="3735410"/>
              <a:ext cx="1082349" cy="798040"/>
              <a:chOff x="4485406" y="3735410"/>
              <a:chExt cx="1082349" cy="798040"/>
            </a:xfrm>
          </p:grpSpPr>
          <p:sp>
            <p:nvSpPr>
              <p:cNvPr id="22" name="TextBox 14"/>
              <p:cNvSpPr txBox="1"/>
              <p:nvPr/>
            </p:nvSpPr>
            <p:spPr bwMode="gray">
              <a:xfrm>
                <a:off x="4485406" y="3735410"/>
                <a:ext cx="1082349" cy="307777"/>
              </a:xfrm>
              <a:prstGeom prst="rect">
                <a:avLst/>
              </a:prstGeom>
              <a:noFill/>
            </p:spPr>
            <p:txBody>
              <a:bodyPr wrap="none" rtlCol="0">
                <a:spAutoFit/>
              </a:bodyPr>
              <a:lstStyle/>
              <a:p>
                <a:pPr algn="ctr"/>
                <a:r>
                  <a:rPr lang="zh-CN" altLang="en-US" sz="1400" dirty="0"/>
                  <a:t>认证服务器</a:t>
                </a:r>
              </a:p>
            </p:txBody>
          </p:sp>
          <p:pic>
            <p:nvPicPr>
              <p:cNvPr id="23" name="图片 22" descr="RADIUS服务器-蓝.png"/>
              <p:cNvPicPr>
                <a:picLocks/>
              </p:cNvPicPr>
              <p:nvPr/>
            </p:nvPicPr>
            <p:blipFill>
              <a:blip r:embed="rId4" cstate="print"/>
              <a:stretch>
                <a:fillRect/>
              </a:stretch>
            </p:blipFill>
            <p:spPr bwMode="gray">
              <a:xfrm>
                <a:off x="4756580" y="4091632"/>
                <a:ext cx="540000" cy="441818"/>
              </a:xfrm>
              <a:prstGeom prst="rect">
                <a:avLst/>
              </a:prstGeom>
            </p:spPr>
          </p:pic>
        </p:grpSp>
        <p:sp>
          <p:nvSpPr>
            <p:cNvPr id="17" name="TextBox 13"/>
            <p:cNvSpPr txBox="1"/>
            <p:nvPr/>
          </p:nvSpPr>
          <p:spPr bwMode="gray">
            <a:xfrm>
              <a:off x="8032850" y="3735410"/>
              <a:ext cx="1261885" cy="307777"/>
            </a:xfrm>
            <a:prstGeom prst="rect">
              <a:avLst/>
            </a:prstGeom>
            <a:noFill/>
          </p:spPr>
          <p:txBody>
            <a:bodyPr wrap="none" rtlCol="0">
              <a:spAutoFit/>
            </a:bodyPr>
            <a:lstStyle/>
            <a:p>
              <a:pPr algn="ctr"/>
              <a:r>
                <a:rPr lang="zh-CN" altLang="en-US" sz="1400" dirty="0"/>
                <a:t>网络接入设备</a:t>
              </a:r>
            </a:p>
          </p:txBody>
        </p:sp>
        <p:cxnSp>
          <p:nvCxnSpPr>
            <p:cNvPr id="18" name="直接箭头连接符 17"/>
            <p:cNvCxnSpPr/>
            <p:nvPr/>
          </p:nvCxnSpPr>
          <p:spPr bwMode="gray">
            <a:xfrm>
              <a:off x="7165484" y="4395519"/>
              <a:ext cx="1063311" cy="0"/>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bwMode="gray">
            <a:xfrm>
              <a:off x="7311456" y="4439877"/>
              <a:ext cx="771365" cy="338554"/>
            </a:xfrm>
            <a:prstGeom prst="rect">
              <a:avLst/>
            </a:prstGeom>
            <a:noFill/>
          </p:spPr>
          <p:txBody>
            <a:bodyPr wrap="none" rtlCol="0">
              <a:spAutoFit/>
            </a:bodyPr>
            <a:lstStyle/>
            <a:p>
              <a:pPr algn="ctr"/>
              <a:r>
                <a:rPr lang="en-US" altLang="zh-CN" sz="1600" dirty="0" err="1"/>
                <a:t>EAPoL</a:t>
              </a:r>
              <a:endParaRPr lang="zh-CN" altLang="en-US" sz="1600" dirty="0"/>
            </a:p>
          </p:txBody>
        </p:sp>
        <p:cxnSp>
          <p:nvCxnSpPr>
            <p:cNvPr id="20" name="直接箭头连接符 19"/>
            <p:cNvCxnSpPr/>
            <p:nvPr/>
          </p:nvCxnSpPr>
          <p:spPr bwMode="gray">
            <a:xfrm>
              <a:off x="8987216" y="4395519"/>
              <a:ext cx="1063311" cy="0"/>
            </a:xfrm>
            <a:prstGeom prst="straightConnector1">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bwMode="gray">
            <a:xfrm>
              <a:off x="8557108" y="4439877"/>
              <a:ext cx="1978426" cy="584775"/>
            </a:xfrm>
            <a:prstGeom prst="rect">
              <a:avLst/>
            </a:prstGeom>
            <a:noFill/>
          </p:spPr>
          <p:txBody>
            <a:bodyPr wrap="none" rtlCol="0">
              <a:spAutoFit/>
            </a:bodyPr>
            <a:lstStyle>
              <a:defPPr>
                <a:defRPr lang="en-US"/>
              </a:defPPr>
              <a:lvl1pPr algn="ctr">
                <a:defRPr b="1">
                  <a:solidFill>
                    <a:srgbClr val="EC7061"/>
                  </a:solidFill>
                </a:defRPr>
              </a:lvl1pPr>
            </a:lstStyle>
            <a:p>
              <a:r>
                <a:rPr lang="en-US" altLang="zh-CN" sz="1600" dirty="0" err="1">
                  <a:solidFill>
                    <a:srgbClr val="C7000B"/>
                  </a:solidFill>
                </a:rPr>
                <a:t>EAPoR</a:t>
              </a:r>
              <a:endParaRPr lang="en-US" altLang="zh-CN" sz="1600" dirty="0">
                <a:solidFill>
                  <a:srgbClr val="C7000B"/>
                </a:solidFill>
              </a:endParaRPr>
            </a:p>
            <a:p>
              <a:r>
                <a:rPr lang="en-US" altLang="zh-CN" sz="1600" b="0" dirty="0">
                  <a:solidFill>
                    <a:schemeClr val="tx1"/>
                  </a:solidFill>
                </a:rPr>
                <a:t>(EAP over RADIUS)</a:t>
              </a:r>
              <a:endParaRPr lang="zh-CN" altLang="en-US" sz="1600" b="0" dirty="0">
                <a:solidFill>
                  <a:schemeClr val="tx1"/>
                </a:solidFill>
              </a:endParaRPr>
            </a:p>
          </p:txBody>
        </p:sp>
      </p:grpSp>
      <p:sp>
        <p:nvSpPr>
          <p:cNvPr id="10" name="圆角矩形 75"/>
          <p:cNvSpPr/>
          <p:nvPr/>
        </p:nvSpPr>
        <p:spPr bwMode="gray">
          <a:xfrm>
            <a:off x="653269" y="2379745"/>
            <a:ext cx="523396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EAP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中继方式</a:t>
            </a:r>
          </a:p>
        </p:txBody>
      </p:sp>
      <p:sp>
        <p:nvSpPr>
          <p:cNvPr id="11" name="圆角矩形 75"/>
          <p:cNvSpPr/>
          <p:nvPr/>
        </p:nvSpPr>
        <p:spPr bwMode="gray">
          <a:xfrm>
            <a:off x="653269" y="2782674"/>
            <a:ext cx="5233961" cy="285258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653269" y="4386120"/>
            <a:ext cx="5233961" cy="1092607"/>
          </a:xfrm>
          <a:prstGeom prst="rect">
            <a:avLst/>
          </a:prstGeom>
          <a:noFill/>
        </p:spPr>
        <p:txBody>
          <a:bodyPr wrap="square" rtlCol="0">
            <a:spAutoFit/>
          </a:bodyPr>
          <a:lstStyle/>
          <a:p>
            <a:pPr marL="285750" indent="-285750">
              <a:lnSpc>
                <a:spcPts val="2400"/>
              </a:lnSpc>
              <a:spcAft>
                <a:spcPts val="600"/>
              </a:spcAft>
              <a:buFont typeface="Arial" panose="020B0604020202020204" pitchFamily="34" charset="0"/>
              <a:buChar char="•"/>
            </a:pPr>
            <a:r>
              <a:rPr lang="zh-CN" altLang="en-US" sz="1600" dirty="0"/>
              <a:t>接入设备将</a:t>
            </a:r>
            <a:r>
              <a:rPr lang="en-US" altLang="zh-CN" sz="1600" dirty="0"/>
              <a:t>802.1X</a:t>
            </a:r>
            <a:r>
              <a:rPr lang="zh-CN" altLang="en-US" sz="1600" dirty="0"/>
              <a:t>客户端发来的</a:t>
            </a:r>
            <a:r>
              <a:rPr lang="en-US" altLang="zh-CN" sz="1600" dirty="0" err="1" smtClean="0"/>
              <a:t>EAPoL</a:t>
            </a:r>
            <a:r>
              <a:rPr lang="zh-CN" altLang="en-US" sz="1600" dirty="0" smtClean="0"/>
              <a:t>报文</a:t>
            </a:r>
            <a:r>
              <a:rPr lang="zh-CN" altLang="en-US" sz="1600" dirty="0"/>
              <a:t>直接封装到</a:t>
            </a:r>
            <a:r>
              <a:rPr lang="en-US" altLang="zh-CN" sz="1600" dirty="0"/>
              <a:t>RADIUS</a:t>
            </a:r>
            <a:r>
              <a:rPr lang="zh-CN" altLang="en-US" sz="1600" dirty="0"/>
              <a:t>报文中，无需对</a:t>
            </a:r>
            <a:r>
              <a:rPr lang="en-US" altLang="zh-CN" sz="1600" dirty="0"/>
              <a:t>EAP</a:t>
            </a:r>
            <a:r>
              <a:rPr lang="zh-CN" altLang="en-US" sz="1600" dirty="0"/>
              <a:t>内的数据进行处理。</a:t>
            </a:r>
            <a:endParaRPr lang="en-US" altLang="zh-CN" sz="1600" dirty="0"/>
          </a:p>
          <a:p>
            <a:pPr marL="285750" indent="-285750">
              <a:lnSpc>
                <a:spcPts val="2400"/>
              </a:lnSpc>
              <a:spcAft>
                <a:spcPts val="600"/>
              </a:spcAft>
              <a:buFont typeface="Arial" panose="020B0604020202020204" pitchFamily="34" charset="0"/>
              <a:buChar char="•"/>
            </a:pPr>
            <a:r>
              <a:rPr lang="zh-CN" altLang="en-US" sz="1600" dirty="0"/>
              <a:t>这种方式对认证服务器的要求较高。</a:t>
            </a:r>
          </a:p>
        </p:txBody>
      </p:sp>
      <p:sp>
        <p:nvSpPr>
          <p:cNvPr id="13" name="文本框 12"/>
          <p:cNvSpPr txBox="1"/>
          <p:nvPr/>
        </p:nvSpPr>
        <p:spPr bwMode="gray">
          <a:xfrm>
            <a:off x="6293333" y="4400419"/>
            <a:ext cx="5226347" cy="1092607"/>
          </a:xfrm>
          <a:prstGeom prst="rect">
            <a:avLst/>
          </a:prstGeom>
          <a:noFill/>
        </p:spPr>
        <p:txBody>
          <a:bodyPr wrap="square" rtlCol="0">
            <a:spAutoFit/>
          </a:bodyPr>
          <a:lstStyle/>
          <a:p>
            <a:pPr marL="285750" indent="-285750">
              <a:lnSpc>
                <a:spcPts val="2400"/>
              </a:lnSpc>
              <a:spcAft>
                <a:spcPts val="600"/>
              </a:spcAft>
              <a:buFont typeface="Arial" panose="020B0604020202020204" pitchFamily="34" charset="0"/>
              <a:buChar char="•"/>
            </a:pPr>
            <a:r>
              <a:rPr lang="zh-CN" altLang="en-US" sz="1600" dirty="0"/>
              <a:t>接入设备需要</a:t>
            </a:r>
            <a:r>
              <a:rPr lang="zh-CN" altLang="en-US" sz="1600" b="1" dirty="0"/>
              <a:t>“提取”</a:t>
            </a:r>
            <a:r>
              <a:rPr lang="en-US" altLang="zh-CN" sz="1600" dirty="0" err="1" smtClean="0"/>
              <a:t>EAPoL</a:t>
            </a:r>
            <a:r>
              <a:rPr lang="zh-CN" altLang="en-US" sz="1600" dirty="0" smtClean="0"/>
              <a:t>报文</a:t>
            </a:r>
            <a:r>
              <a:rPr lang="zh-CN" altLang="en-US" sz="1600" dirty="0"/>
              <a:t>中的信息并封装到</a:t>
            </a:r>
            <a:r>
              <a:rPr lang="en-US" altLang="zh-CN" sz="1600" dirty="0"/>
              <a:t>RADIUS</a:t>
            </a:r>
            <a:r>
              <a:rPr lang="zh-CN" altLang="en-US" sz="1600" dirty="0"/>
              <a:t>报文中发送给认证服务器。</a:t>
            </a:r>
            <a:endParaRPr lang="en-US" altLang="zh-CN" sz="1600" dirty="0"/>
          </a:p>
          <a:p>
            <a:pPr marL="285750" indent="-285750">
              <a:lnSpc>
                <a:spcPts val="2400"/>
              </a:lnSpc>
              <a:spcAft>
                <a:spcPts val="600"/>
              </a:spcAft>
              <a:buFont typeface="Arial" panose="020B0604020202020204" pitchFamily="34" charset="0"/>
              <a:buChar char="•"/>
            </a:pPr>
            <a:r>
              <a:rPr lang="zh-CN" altLang="en-US" sz="1600" dirty="0"/>
              <a:t>这种方式对接入设备的要求较高。</a:t>
            </a:r>
          </a:p>
        </p:txBody>
      </p:sp>
      <p:pic>
        <p:nvPicPr>
          <p:cNvPr id="38" name="图片 37" descr="通用交换机.png"/>
          <p:cNvPicPr>
            <a:picLocks noChangeAspect="1"/>
          </p:cNvPicPr>
          <p:nvPr/>
        </p:nvPicPr>
        <p:blipFill>
          <a:blip r:embed="rId5" cstate="print"/>
          <a:stretch>
            <a:fillRect/>
          </a:stretch>
        </p:blipFill>
        <p:spPr bwMode="gray">
          <a:xfrm>
            <a:off x="3044165" y="3364221"/>
            <a:ext cx="540000" cy="441818"/>
          </a:xfrm>
          <a:prstGeom prst="rect">
            <a:avLst/>
          </a:prstGeom>
        </p:spPr>
      </p:pic>
      <p:pic>
        <p:nvPicPr>
          <p:cNvPr id="39" name="图片 38" descr="通用交换机.png"/>
          <p:cNvPicPr>
            <a:picLocks noChangeAspect="1"/>
          </p:cNvPicPr>
          <p:nvPr/>
        </p:nvPicPr>
        <p:blipFill>
          <a:blip r:embed="rId5" cstate="print"/>
          <a:stretch>
            <a:fillRect/>
          </a:stretch>
        </p:blipFill>
        <p:spPr bwMode="gray">
          <a:xfrm>
            <a:off x="8712320" y="3451839"/>
            <a:ext cx="540000" cy="441818"/>
          </a:xfrm>
          <a:prstGeom prst="rect">
            <a:avLst/>
          </a:prstGeom>
        </p:spPr>
      </p:pic>
      <p:sp>
        <p:nvSpPr>
          <p:cNvPr id="40" name="五边形 39"/>
          <p:cNvSpPr/>
          <p:nvPr/>
        </p:nvSpPr>
        <p:spPr bwMode="gray">
          <a:xfrm>
            <a:off x="8802188" y="9848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gray">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42" name="燕尾形 41"/>
          <p:cNvSpPr/>
          <p:nvPr/>
        </p:nvSpPr>
        <p:spPr bwMode="gray">
          <a:xfrm>
            <a:off x="1021882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43" name="燕尾形 42"/>
          <p:cNvSpPr/>
          <p:nvPr/>
        </p:nvSpPr>
        <p:spPr bwMode="gray">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097241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en-US" altLang="zh-CN" dirty="0"/>
              <a:t>802.1X</a:t>
            </a:r>
            <a:r>
              <a:rPr lang="zh-CN" altLang="en-US" dirty="0"/>
              <a:t>用户认证流程</a:t>
            </a:r>
          </a:p>
        </p:txBody>
      </p:sp>
      <p:sp>
        <p:nvSpPr>
          <p:cNvPr id="5" name="TextBox 41">
            <a:extLst>
              <a:ext uri="{FF2B5EF4-FFF2-40B4-BE49-F238E27FC236}">
                <a16:creationId xmlns:a16="http://schemas.microsoft.com/office/drawing/2014/main" xmlns="" id="{6F3B110F-3337-4B77-9612-992102688C8A}"/>
              </a:ext>
            </a:extLst>
          </p:cNvPr>
          <p:cNvSpPr txBox="1"/>
          <p:nvPr/>
        </p:nvSpPr>
        <p:spPr bwMode="gray">
          <a:xfrm>
            <a:off x="1714877" y="5938075"/>
            <a:ext cx="2832633" cy="281603"/>
          </a:xfrm>
          <a:prstGeom prst="rect">
            <a:avLst/>
          </a:prstGeom>
          <a:noFill/>
        </p:spPr>
        <p:txBody>
          <a:bodyPr wrap="square" lIns="48000" tIns="48000" rIns="48000" bIns="48000" rtlCol="0">
            <a:spAutoFit/>
          </a:bodyPr>
          <a:lstStyle/>
          <a:p>
            <a:pPr algn="ctr"/>
            <a:r>
              <a:rPr lang="zh-CN" altLang="en-US" sz="1200" dirty="0">
                <a:solidFill>
                  <a:schemeClr val="bg1">
                    <a:lumMod val="50000"/>
                  </a:schemeClr>
                </a:solidFill>
                <a:cs typeface="Arial" pitchFamily="34" charset="0"/>
              </a:rPr>
              <a:t>以</a:t>
            </a:r>
            <a:r>
              <a:rPr lang="en-US" altLang="zh-CN" sz="1200" dirty="0">
                <a:solidFill>
                  <a:schemeClr val="bg1">
                    <a:lumMod val="50000"/>
                  </a:schemeClr>
                </a:solidFill>
                <a:cs typeface="Arial" pitchFamily="34" charset="0"/>
              </a:rPr>
              <a:t>EAP</a:t>
            </a:r>
            <a:r>
              <a:rPr lang="zh-CN" altLang="en-US" sz="1200" dirty="0">
                <a:solidFill>
                  <a:schemeClr val="bg1">
                    <a:lumMod val="50000"/>
                  </a:schemeClr>
                </a:solidFill>
                <a:cs typeface="Arial" pitchFamily="34" charset="0"/>
              </a:rPr>
              <a:t>中继方式的</a:t>
            </a:r>
            <a:r>
              <a:rPr lang="en-US" altLang="zh-CN" sz="1200" dirty="0">
                <a:solidFill>
                  <a:schemeClr val="bg1">
                    <a:lumMod val="50000"/>
                  </a:schemeClr>
                </a:solidFill>
                <a:cs typeface="Arial" pitchFamily="34" charset="0"/>
              </a:rPr>
              <a:t>EAP-MD5</a:t>
            </a:r>
            <a:r>
              <a:rPr lang="zh-CN" altLang="en-US" sz="1200" dirty="0">
                <a:solidFill>
                  <a:schemeClr val="bg1">
                    <a:lumMod val="50000"/>
                  </a:schemeClr>
                </a:solidFill>
                <a:cs typeface="Arial" pitchFamily="34" charset="0"/>
              </a:rPr>
              <a:t>认证为例</a:t>
            </a:r>
          </a:p>
        </p:txBody>
      </p:sp>
      <p:grpSp>
        <p:nvGrpSpPr>
          <p:cNvPr id="6" name="组合 5"/>
          <p:cNvGrpSpPr/>
          <p:nvPr/>
        </p:nvGrpSpPr>
        <p:grpSpPr bwMode="gray">
          <a:xfrm>
            <a:off x="1017836" y="1663164"/>
            <a:ext cx="4372286" cy="4140239"/>
            <a:chOff x="960637" y="1892241"/>
            <a:chExt cx="4372286" cy="4435201"/>
          </a:xfrm>
        </p:grpSpPr>
        <p:cxnSp>
          <p:nvCxnSpPr>
            <p:cNvPr id="7" name="直接连接符 6">
              <a:extLst>
                <a:ext uri="{FF2B5EF4-FFF2-40B4-BE49-F238E27FC236}">
                  <a16:creationId xmlns:a16="http://schemas.microsoft.com/office/drawing/2014/main" xmlns="" id="{F1724512-3E18-441D-B606-98D8A14238A6}"/>
                </a:ext>
              </a:extLst>
            </p:cNvPr>
            <p:cNvCxnSpPr/>
            <p:nvPr/>
          </p:nvCxnSpPr>
          <p:spPr bwMode="gray">
            <a:xfrm>
              <a:off x="960637" y="1892242"/>
              <a:ext cx="8128" cy="4435200"/>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8" name="直接连接符 7">
              <a:extLst>
                <a:ext uri="{FF2B5EF4-FFF2-40B4-BE49-F238E27FC236}">
                  <a16:creationId xmlns:a16="http://schemas.microsoft.com/office/drawing/2014/main" xmlns="" id="{5AE54BDB-0A1C-4FB1-AED8-87927D01A5D1}"/>
                </a:ext>
              </a:extLst>
            </p:cNvPr>
            <p:cNvCxnSpPr/>
            <p:nvPr/>
          </p:nvCxnSpPr>
          <p:spPr bwMode="gray">
            <a:xfrm>
              <a:off x="3164662" y="1892242"/>
              <a:ext cx="1101" cy="4435200"/>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9" name="直接连接符 8">
              <a:extLst>
                <a:ext uri="{FF2B5EF4-FFF2-40B4-BE49-F238E27FC236}">
                  <a16:creationId xmlns:a16="http://schemas.microsoft.com/office/drawing/2014/main" xmlns="" id="{DCCF7681-2AE3-4FF5-A42D-EB19F13249D0}"/>
                </a:ext>
              </a:extLst>
            </p:cNvPr>
            <p:cNvCxnSpPr/>
            <p:nvPr/>
          </p:nvCxnSpPr>
          <p:spPr bwMode="gray">
            <a:xfrm>
              <a:off x="5327915" y="1892241"/>
              <a:ext cx="5008" cy="4435200"/>
            </a:xfrm>
            <a:prstGeom prst="line">
              <a:avLst/>
            </a:prstGeom>
            <a:noFill/>
            <a:ln w="19050" cap="flat" cmpd="sng" algn="ctr">
              <a:solidFill>
                <a:schemeClr val="bg1">
                  <a:lumMod val="75000"/>
                </a:schemeClr>
              </a:solidFill>
              <a:prstDash val="sysDot"/>
              <a:round/>
              <a:headEnd type="none" w="med" len="med"/>
              <a:tailEnd type="none" w="med" len="med"/>
            </a:ln>
            <a:effectLst/>
          </p:spPr>
        </p:cxnSp>
      </p:grpSp>
      <p:sp>
        <p:nvSpPr>
          <p:cNvPr id="10" name="TextBox 40">
            <a:extLst>
              <a:ext uri="{FF2B5EF4-FFF2-40B4-BE49-F238E27FC236}">
                <a16:creationId xmlns:a16="http://schemas.microsoft.com/office/drawing/2014/main" xmlns="" id="{E23A3C99-EE95-4759-84F4-6525B1F88D30}"/>
              </a:ext>
            </a:extLst>
          </p:cNvPr>
          <p:cNvSpPr txBox="1"/>
          <p:nvPr/>
        </p:nvSpPr>
        <p:spPr bwMode="gray">
          <a:xfrm>
            <a:off x="678514" y="953633"/>
            <a:ext cx="824372"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用户终端</a:t>
            </a:r>
          </a:p>
        </p:txBody>
      </p:sp>
      <p:sp>
        <p:nvSpPr>
          <p:cNvPr id="11" name="TextBox 41">
            <a:extLst>
              <a:ext uri="{FF2B5EF4-FFF2-40B4-BE49-F238E27FC236}">
                <a16:creationId xmlns:a16="http://schemas.microsoft.com/office/drawing/2014/main" xmlns="" id="{107FF330-60DF-4117-B4EF-26EB0211B8ED}"/>
              </a:ext>
            </a:extLst>
          </p:cNvPr>
          <p:cNvSpPr txBox="1"/>
          <p:nvPr/>
        </p:nvSpPr>
        <p:spPr bwMode="gray">
          <a:xfrm>
            <a:off x="2592382" y="953633"/>
            <a:ext cx="1205332"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接入设备</a:t>
            </a:r>
          </a:p>
        </p:txBody>
      </p:sp>
      <p:sp>
        <p:nvSpPr>
          <p:cNvPr id="12" name="TextBox 42">
            <a:extLst>
              <a:ext uri="{FF2B5EF4-FFF2-40B4-BE49-F238E27FC236}">
                <a16:creationId xmlns:a16="http://schemas.microsoft.com/office/drawing/2014/main" xmlns="" id="{10D25089-1E74-43A4-A230-304F09C4C5A5}"/>
              </a:ext>
            </a:extLst>
          </p:cNvPr>
          <p:cNvSpPr txBox="1"/>
          <p:nvPr/>
        </p:nvSpPr>
        <p:spPr bwMode="gray">
          <a:xfrm>
            <a:off x="4830956" y="953633"/>
            <a:ext cx="1113327"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认证服务器</a:t>
            </a:r>
          </a:p>
        </p:txBody>
      </p:sp>
      <p:cxnSp>
        <p:nvCxnSpPr>
          <p:cNvPr id="13" name="直接箭头连接符 12">
            <a:extLst>
              <a:ext uri="{FF2B5EF4-FFF2-40B4-BE49-F238E27FC236}">
                <a16:creationId xmlns:a16="http://schemas.microsoft.com/office/drawing/2014/main" xmlns="" id="{CDB3F7C3-FB2E-4C89-962D-5B8ECBC54677}"/>
              </a:ext>
            </a:extLst>
          </p:cNvPr>
          <p:cNvCxnSpPr/>
          <p:nvPr/>
        </p:nvCxnSpPr>
        <p:spPr bwMode="gray">
          <a:xfrm>
            <a:off x="1024863" y="2088534"/>
            <a:ext cx="2194445" cy="0"/>
          </a:xfrm>
          <a:prstGeom prst="straightConnector1">
            <a:avLst/>
          </a:prstGeom>
          <a:noFill/>
          <a:ln w="12700" cap="flat" cmpd="sng" algn="ctr">
            <a:solidFill>
              <a:schemeClr val="tx1"/>
            </a:solidFill>
            <a:prstDash val="solid"/>
            <a:round/>
            <a:headEnd type="none" w="med" len="med"/>
            <a:tailEnd type="triangle"/>
          </a:ln>
          <a:effectLst/>
        </p:spPr>
      </p:cxnSp>
      <p:sp>
        <p:nvSpPr>
          <p:cNvPr id="14" name="TextBox 70">
            <a:extLst>
              <a:ext uri="{FF2B5EF4-FFF2-40B4-BE49-F238E27FC236}">
                <a16:creationId xmlns:a16="http://schemas.microsoft.com/office/drawing/2014/main" xmlns="" id="{E06C8464-DCA5-4947-AAAB-669C8670DC6D}"/>
              </a:ext>
            </a:extLst>
          </p:cNvPr>
          <p:cNvSpPr txBox="1">
            <a:spLocks noChangeArrowheads="1"/>
          </p:cNvSpPr>
          <p:nvPr/>
        </p:nvSpPr>
        <p:spPr bwMode="gray">
          <a:xfrm>
            <a:off x="1017836" y="1684797"/>
            <a:ext cx="1032902" cy="442035"/>
          </a:xfrm>
          <a:prstGeom prst="rect">
            <a:avLst/>
          </a:prstGeom>
          <a:noFill/>
          <a:ln w="9525">
            <a:noFill/>
            <a:miter lim="800000"/>
            <a:headEnd/>
            <a:tailEnd/>
          </a:ln>
        </p:spPr>
        <p:txBody>
          <a:bodyPr wrap="none" lIns="36000" tIns="36000" rIns="36000" bIns="36000">
            <a:spAutoFit/>
          </a:bodyPr>
          <a:lstStyle/>
          <a:p>
            <a:r>
              <a:rPr lang="en-US" altLang="zh-CN" sz="1200" dirty="0" smtClean="0">
                <a:cs typeface="Arial" charset="0"/>
              </a:rPr>
              <a:t>1.EAPoL-Start</a:t>
            </a:r>
            <a:endParaRPr lang="en-US" altLang="zh-CN" sz="1200" dirty="0">
              <a:cs typeface="Arial" charset="0"/>
            </a:endParaRPr>
          </a:p>
          <a:p>
            <a:r>
              <a:rPr lang="zh-CN" altLang="en-US" sz="1200" dirty="0">
                <a:cs typeface="Arial" charset="0"/>
              </a:rPr>
              <a:t>用户发起认证</a:t>
            </a:r>
            <a:endParaRPr lang="en-US" altLang="zh-CN" sz="1200" dirty="0">
              <a:cs typeface="Arial" charset="0"/>
            </a:endParaRPr>
          </a:p>
        </p:txBody>
      </p:sp>
      <p:cxnSp>
        <p:nvCxnSpPr>
          <p:cNvPr id="15" name="直接箭头连接符 14">
            <a:extLst>
              <a:ext uri="{FF2B5EF4-FFF2-40B4-BE49-F238E27FC236}">
                <a16:creationId xmlns:a16="http://schemas.microsoft.com/office/drawing/2014/main" xmlns="" id="{8BE5D06D-CD1B-4230-A323-8725DC482D33}"/>
              </a:ext>
            </a:extLst>
          </p:cNvPr>
          <p:cNvCxnSpPr/>
          <p:nvPr/>
        </p:nvCxnSpPr>
        <p:spPr bwMode="gray">
          <a:xfrm>
            <a:off x="1017836" y="2561887"/>
            <a:ext cx="2201492" cy="0"/>
          </a:xfrm>
          <a:prstGeom prst="straightConnector1">
            <a:avLst/>
          </a:prstGeom>
          <a:noFill/>
          <a:ln w="12700" cap="flat" cmpd="sng" algn="ctr">
            <a:solidFill>
              <a:schemeClr val="tx1"/>
            </a:solidFill>
            <a:prstDash val="solid"/>
            <a:round/>
            <a:headEnd type="triangle" w="med" len="med"/>
            <a:tailEnd type="none"/>
          </a:ln>
          <a:effectLst/>
        </p:spPr>
      </p:cxnSp>
      <p:sp>
        <p:nvSpPr>
          <p:cNvPr id="16" name="矩形 15">
            <a:extLst>
              <a:ext uri="{FF2B5EF4-FFF2-40B4-BE49-F238E27FC236}">
                <a16:creationId xmlns:a16="http://schemas.microsoft.com/office/drawing/2014/main" xmlns="" id="{6BA71957-17B6-47CD-B6D4-418CC731D36F}"/>
              </a:ext>
            </a:extLst>
          </p:cNvPr>
          <p:cNvSpPr/>
          <p:nvPr/>
        </p:nvSpPr>
        <p:spPr bwMode="gray">
          <a:xfrm>
            <a:off x="1566259" y="2150303"/>
            <a:ext cx="1670898" cy="442035"/>
          </a:xfrm>
          <a:prstGeom prst="rect">
            <a:avLst/>
          </a:prstGeom>
        </p:spPr>
        <p:txBody>
          <a:bodyPr wrap="none" lIns="36000" tIns="36000" rIns="36000" bIns="36000">
            <a:spAutoFit/>
          </a:bodyPr>
          <a:lstStyle/>
          <a:p>
            <a:pPr algn="r" defTabSz="1088578">
              <a:defRPr/>
            </a:pPr>
            <a:r>
              <a:rPr lang="en-US" altLang="zh-CN" sz="1200" kern="0" dirty="0"/>
              <a:t>2.EAP-Request/identity</a:t>
            </a:r>
          </a:p>
          <a:p>
            <a:pPr algn="r" defTabSz="1088578">
              <a:defRPr/>
            </a:pPr>
            <a:r>
              <a:rPr lang="zh-CN" altLang="en-US" sz="1200" kern="0" dirty="0"/>
              <a:t>你用户名是什么？</a:t>
            </a:r>
            <a:endParaRPr lang="en-US" altLang="zh-CN" sz="1200" kern="0" dirty="0"/>
          </a:p>
        </p:txBody>
      </p:sp>
      <p:cxnSp>
        <p:nvCxnSpPr>
          <p:cNvPr id="17" name="直接箭头连接符 16">
            <a:extLst>
              <a:ext uri="{FF2B5EF4-FFF2-40B4-BE49-F238E27FC236}">
                <a16:creationId xmlns:a16="http://schemas.microsoft.com/office/drawing/2014/main" xmlns="" id="{86A2BD9B-934A-46C6-99B4-2CF5205D442C}"/>
              </a:ext>
            </a:extLst>
          </p:cNvPr>
          <p:cNvCxnSpPr/>
          <p:nvPr/>
        </p:nvCxnSpPr>
        <p:spPr bwMode="gray">
          <a:xfrm>
            <a:off x="1024863" y="3055656"/>
            <a:ext cx="2194445" cy="0"/>
          </a:xfrm>
          <a:prstGeom prst="straightConnector1">
            <a:avLst/>
          </a:prstGeom>
          <a:noFill/>
          <a:ln w="12700" cap="flat" cmpd="sng" algn="ctr">
            <a:solidFill>
              <a:schemeClr val="tx1"/>
            </a:solidFill>
            <a:prstDash val="solid"/>
            <a:round/>
            <a:headEnd type="none" w="med" len="med"/>
            <a:tailEnd type="triangle"/>
          </a:ln>
          <a:effectLst/>
        </p:spPr>
      </p:cxnSp>
      <p:sp>
        <p:nvSpPr>
          <p:cNvPr id="18" name="TextBox 70">
            <a:extLst>
              <a:ext uri="{FF2B5EF4-FFF2-40B4-BE49-F238E27FC236}">
                <a16:creationId xmlns:a16="http://schemas.microsoft.com/office/drawing/2014/main" xmlns="" id="{A656F71D-A038-41F4-A018-C7B7DA57D604}"/>
              </a:ext>
            </a:extLst>
          </p:cNvPr>
          <p:cNvSpPr txBox="1">
            <a:spLocks noChangeArrowheads="1"/>
          </p:cNvSpPr>
          <p:nvPr/>
        </p:nvSpPr>
        <p:spPr bwMode="gray">
          <a:xfrm>
            <a:off x="1047068" y="2647980"/>
            <a:ext cx="1768680" cy="442035"/>
          </a:xfrm>
          <a:prstGeom prst="rect">
            <a:avLst/>
          </a:prstGeom>
          <a:noFill/>
          <a:ln w="9525">
            <a:noFill/>
            <a:miter lim="800000"/>
            <a:headEnd/>
            <a:tailEnd/>
          </a:ln>
        </p:spPr>
        <p:txBody>
          <a:bodyPr wrap="none" lIns="36000" tIns="36000" rIns="36000" bIns="36000">
            <a:spAutoFit/>
          </a:bodyPr>
          <a:lstStyle/>
          <a:p>
            <a:r>
              <a:rPr lang="en-US" altLang="zh-CN" sz="1200" dirty="0">
                <a:cs typeface="Arial" charset="0"/>
              </a:rPr>
              <a:t>3.EAP-Response/identity</a:t>
            </a:r>
          </a:p>
          <a:p>
            <a:r>
              <a:rPr lang="zh-CN" altLang="en-US" sz="1200" dirty="0">
                <a:cs typeface="Arial" charset="0"/>
              </a:rPr>
              <a:t>我的用户名是</a:t>
            </a:r>
            <a:r>
              <a:rPr lang="en-US" altLang="zh-CN" sz="1200" dirty="0">
                <a:cs typeface="Arial" charset="0"/>
              </a:rPr>
              <a:t>Hello</a:t>
            </a:r>
          </a:p>
        </p:txBody>
      </p:sp>
      <p:cxnSp>
        <p:nvCxnSpPr>
          <p:cNvPr id="19" name="直接箭头连接符 18">
            <a:extLst>
              <a:ext uri="{FF2B5EF4-FFF2-40B4-BE49-F238E27FC236}">
                <a16:creationId xmlns:a16="http://schemas.microsoft.com/office/drawing/2014/main" xmlns="" id="{6FE94054-C6FB-4746-8E23-927D97711ED8}"/>
              </a:ext>
            </a:extLst>
          </p:cNvPr>
          <p:cNvCxnSpPr/>
          <p:nvPr/>
        </p:nvCxnSpPr>
        <p:spPr bwMode="gray">
          <a:xfrm>
            <a:off x="3247538" y="3293862"/>
            <a:ext cx="2148171" cy="0"/>
          </a:xfrm>
          <a:prstGeom prst="straightConnector1">
            <a:avLst/>
          </a:prstGeom>
          <a:noFill/>
          <a:ln w="12700" cap="flat" cmpd="sng" algn="ctr">
            <a:solidFill>
              <a:schemeClr val="tx1"/>
            </a:solidFill>
            <a:prstDash val="solid"/>
            <a:round/>
            <a:headEnd type="none" w="med" len="med"/>
            <a:tailEnd type="triangle"/>
          </a:ln>
          <a:effectLst/>
        </p:spPr>
      </p:cxnSp>
      <p:sp>
        <p:nvSpPr>
          <p:cNvPr id="20" name="TextBox 70">
            <a:extLst>
              <a:ext uri="{FF2B5EF4-FFF2-40B4-BE49-F238E27FC236}">
                <a16:creationId xmlns:a16="http://schemas.microsoft.com/office/drawing/2014/main" xmlns="" id="{7F368A51-6012-44BC-BB13-8588A53B9B6B}"/>
              </a:ext>
            </a:extLst>
          </p:cNvPr>
          <p:cNvSpPr txBox="1">
            <a:spLocks noChangeArrowheads="1"/>
          </p:cNvSpPr>
          <p:nvPr/>
        </p:nvSpPr>
        <p:spPr bwMode="gray">
          <a:xfrm>
            <a:off x="3243226" y="3063838"/>
            <a:ext cx="1872876" cy="257369"/>
          </a:xfrm>
          <a:prstGeom prst="rect">
            <a:avLst/>
          </a:prstGeom>
          <a:noFill/>
          <a:ln w="9525">
            <a:noFill/>
            <a:miter lim="800000"/>
            <a:headEnd/>
            <a:tailEnd/>
          </a:ln>
        </p:spPr>
        <p:txBody>
          <a:bodyPr wrap="none" lIns="36000" tIns="36000" rIns="36000" bIns="36000">
            <a:spAutoFit/>
          </a:bodyPr>
          <a:lstStyle/>
          <a:p>
            <a:r>
              <a:rPr lang="en-US" altLang="zh-CN" sz="1200">
                <a:cs typeface="Arial" charset="0"/>
              </a:rPr>
              <a:t>4.RADIUS Access-request </a:t>
            </a:r>
          </a:p>
        </p:txBody>
      </p:sp>
      <p:cxnSp>
        <p:nvCxnSpPr>
          <p:cNvPr id="21" name="直接箭头连接符 20">
            <a:extLst>
              <a:ext uri="{FF2B5EF4-FFF2-40B4-BE49-F238E27FC236}">
                <a16:creationId xmlns:a16="http://schemas.microsoft.com/office/drawing/2014/main" xmlns="" id="{92E27AD2-F2F2-4191-86DF-AE0235D20586}"/>
              </a:ext>
            </a:extLst>
          </p:cNvPr>
          <p:cNvCxnSpPr/>
          <p:nvPr/>
        </p:nvCxnSpPr>
        <p:spPr bwMode="gray">
          <a:xfrm>
            <a:off x="3253124" y="3803549"/>
            <a:ext cx="2128628" cy="0"/>
          </a:xfrm>
          <a:prstGeom prst="straightConnector1">
            <a:avLst/>
          </a:prstGeom>
          <a:noFill/>
          <a:ln w="12700" cap="flat" cmpd="sng" algn="ctr">
            <a:solidFill>
              <a:schemeClr val="tx1"/>
            </a:solidFill>
            <a:prstDash val="solid"/>
            <a:round/>
            <a:headEnd type="triangle" w="med" len="med"/>
            <a:tailEnd type="none"/>
          </a:ln>
          <a:effectLst/>
        </p:spPr>
      </p:cxnSp>
      <p:sp>
        <p:nvSpPr>
          <p:cNvPr id="22" name="矩形 21">
            <a:extLst>
              <a:ext uri="{FF2B5EF4-FFF2-40B4-BE49-F238E27FC236}">
                <a16:creationId xmlns:a16="http://schemas.microsoft.com/office/drawing/2014/main" xmlns="" id="{B9CAA262-D0B9-49DE-8422-C7D0991A7E0B}"/>
              </a:ext>
            </a:extLst>
          </p:cNvPr>
          <p:cNvSpPr/>
          <p:nvPr/>
        </p:nvSpPr>
        <p:spPr bwMode="gray">
          <a:xfrm>
            <a:off x="3413752" y="3399373"/>
            <a:ext cx="1973866" cy="442035"/>
          </a:xfrm>
          <a:prstGeom prst="rect">
            <a:avLst/>
          </a:prstGeom>
        </p:spPr>
        <p:txBody>
          <a:bodyPr wrap="none" lIns="36000" tIns="36000" rIns="36000" bIns="36000">
            <a:spAutoFit/>
          </a:bodyPr>
          <a:lstStyle/>
          <a:p>
            <a:pPr algn="r" defTabSz="1088578">
              <a:defRPr/>
            </a:pPr>
            <a:r>
              <a:rPr lang="en-US" altLang="zh-CN" sz="1200" kern="0"/>
              <a:t>5.RADIUS Access-challenge</a:t>
            </a:r>
          </a:p>
          <a:p>
            <a:pPr algn="r" defTabSz="1088578">
              <a:defRPr/>
            </a:pPr>
            <a:r>
              <a:rPr lang="zh-CN" altLang="en-US" sz="1200" kern="0"/>
              <a:t>给你一个随机数</a:t>
            </a:r>
            <a:endParaRPr lang="en-US" altLang="zh-CN" sz="1200" kern="0"/>
          </a:p>
        </p:txBody>
      </p:sp>
      <p:cxnSp>
        <p:nvCxnSpPr>
          <p:cNvPr id="23" name="直接箭头连接符 22">
            <a:extLst>
              <a:ext uri="{FF2B5EF4-FFF2-40B4-BE49-F238E27FC236}">
                <a16:creationId xmlns:a16="http://schemas.microsoft.com/office/drawing/2014/main" xmlns="" id="{026911B1-C77A-4C59-AFD1-0DFA8A97076E}"/>
              </a:ext>
            </a:extLst>
          </p:cNvPr>
          <p:cNvCxnSpPr/>
          <p:nvPr/>
        </p:nvCxnSpPr>
        <p:spPr bwMode="gray">
          <a:xfrm>
            <a:off x="1017836" y="4013964"/>
            <a:ext cx="2186010" cy="0"/>
          </a:xfrm>
          <a:prstGeom prst="straightConnector1">
            <a:avLst/>
          </a:prstGeom>
          <a:noFill/>
          <a:ln w="12700" cap="flat" cmpd="sng" algn="ctr">
            <a:solidFill>
              <a:schemeClr val="tx1"/>
            </a:solidFill>
            <a:prstDash val="solid"/>
            <a:round/>
            <a:headEnd type="triangle" w="med" len="med"/>
            <a:tailEnd type="none"/>
          </a:ln>
          <a:effectLst/>
        </p:spPr>
      </p:cxnSp>
      <p:sp>
        <p:nvSpPr>
          <p:cNvPr id="24" name="矩形 23">
            <a:extLst>
              <a:ext uri="{FF2B5EF4-FFF2-40B4-BE49-F238E27FC236}">
                <a16:creationId xmlns:a16="http://schemas.microsoft.com/office/drawing/2014/main" xmlns="" id="{DB6FF6F5-DBCE-48CF-87CF-AC4E1F4FEC8F}"/>
              </a:ext>
            </a:extLst>
          </p:cNvPr>
          <p:cNvSpPr/>
          <p:nvPr/>
        </p:nvSpPr>
        <p:spPr bwMode="gray">
          <a:xfrm>
            <a:off x="1016238" y="3770691"/>
            <a:ext cx="2193475" cy="257369"/>
          </a:xfrm>
          <a:prstGeom prst="rect">
            <a:avLst/>
          </a:prstGeom>
        </p:spPr>
        <p:txBody>
          <a:bodyPr wrap="none" lIns="36000" tIns="36000" rIns="36000" bIns="36000">
            <a:spAutoFit/>
          </a:bodyPr>
          <a:lstStyle/>
          <a:p>
            <a:pPr algn="r" defTabSz="1088578">
              <a:defRPr/>
            </a:pPr>
            <a:r>
              <a:rPr lang="en-US" altLang="zh-CN" sz="1200" kern="0" dirty="0"/>
              <a:t>6.EAP Request/MD5 challenge</a:t>
            </a:r>
          </a:p>
        </p:txBody>
      </p:sp>
      <p:cxnSp>
        <p:nvCxnSpPr>
          <p:cNvPr id="25" name="直接箭头连接符 24">
            <a:extLst>
              <a:ext uri="{FF2B5EF4-FFF2-40B4-BE49-F238E27FC236}">
                <a16:creationId xmlns:a16="http://schemas.microsoft.com/office/drawing/2014/main" xmlns="" id="{53FC2D8B-FA5F-476E-8AE5-6C2F65577106}"/>
              </a:ext>
            </a:extLst>
          </p:cNvPr>
          <p:cNvCxnSpPr/>
          <p:nvPr/>
        </p:nvCxnSpPr>
        <p:spPr bwMode="gray">
          <a:xfrm>
            <a:off x="1024863" y="4702185"/>
            <a:ext cx="2194445" cy="0"/>
          </a:xfrm>
          <a:prstGeom prst="straightConnector1">
            <a:avLst/>
          </a:prstGeom>
          <a:noFill/>
          <a:ln w="12700" cap="flat" cmpd="sng" algn="ctr">
            <a:solidFill>
              <a:schemeClr val="tx1"/>
            </a:solidFill>
            <a:prstDash val="solid"/>
            <a:round/>
            <a:headEnd type="none" w="med" len="med"/>
            <a:tailEnd type="triangle"/>
          </a:ln>
          <a:effectLst/>
        </p:spPr>
      </p:cxnSp>
      <p:sp>
        <p:nvSpPr>
          <p:cNvPr id="26" name="TextBox 70">
            <a:extLst>
              <a:ext uri="{FF2B5EF4-FFF2-40B4-BE49-F238E27FC236}">
                <a16:creationId xmlns:a16="http://schemas.microsoft.com/office/drawing/2014/main" xmlns="" id="{A15D6E3D-5B54-4D0E-B2E2-5BB8195FDBC7}"/>
              </a:ext>
            </a:extLst>
          </p:cNvPr>
          <p:cNvSpPr txBox="1">
            <a:spLocks noChangeArrowheads="1"/>
          </p:cNvSpPr>
          <p:nvPr/>
        </p:nvSpPr>
        <p:spPr bwMode="gray">
          <a:xfrm>
            <a:off x="1047069" y="4083810"/>
            <a:ext cx="2084125" cy="626701"/>
          </a:xfrm>
          <a:prstGeom prst="rect">
            <a:avLst/>
          </a:prstGeom>
          <a:noFill/>
          <a:ln w="9525">
            <a:noFill/>
            <a:miter lim="800000"/>
            <a:headEnd/>
            <a:tailEnd/>
          </a:ln>
        </p:spPr>
        <p:txBody>
          <a:bodyPr wrap="square" lIns="36000" tIns="36000" rIns="36000" bIns="36000">
            <a:spAutoFit/>
          </a:bodyPr>
          <a:lstStyle/>
          <a:p>
            <a:r>
              <a:rPr lang="en-US" altLang="zh-CN" sz="1200" dirty="0">
                <a:cs typeface="Arial" charset="0"/>
              </a:rPr>
              <a:t>7.EAP-Response /</a:t>
            </a:r>
          </a:p>
          <a:p>
            <a:r>
              <a:rPr lang="en-US" altLang="zh-CN" sz="1200" dirty="0">
                <a:cs typeface="Arial" charset="0"/>
              </a:rPr>
              <a:t>MD5 challenge response</a:t>
            </a:r>
          </a:p>
          <a:p>
            <a:r>
              <a:rPr lang="zh-CN" altLang="en-US" sz="1200" dirty="0">
                <a:cs typeface="Arial" charset="0"/>
              </a:rPr>
              <a:t>用密码与随机数计算后的密文</a:t>
            </a:r>
            <a:endParaRPr lang="en-US" altLang="zh-CN" sz="1200" dirty="0">
              <a:cs typeface="Arial" charset="0"/>
            </a:endParaRPr>
          </a:p>
        </p:txBody>
      </p:sp>
      <p:cxnSp>
        <p:nvCxnSpPr>
          <p:cNvPr id="27" name="直接箭头连接符 26">
            <a:extLst>
              <a:ext uri="{FF2B5EF4-FFF2-40B4-BE49-F238E27FC236}">
                <a16:creationId xmlns:a16="http://schemas.microsoft.com/office/drawing/2014/main" xmlns="" id="{CA2784B8-AD93-4105-92A8-7915151A809A}"/>
              </a:ext>
            </a:extLst>
          </p:cNvPr>
          <p:cNvCxnSpPr/>
          <p:nvPr/>
        </p:nvCxnSpPr>
        <p:spPr bwMode="gray">
          <a:xfrm>
            <a:off x="3219308" y="4921270"/>
            <a:ext cx="2153889" cy="0"/>
          </a:xfrm>
          <a:prstGeom prst="straightConnector1">
            <a:avLst/>
          </a:prstGeom>
          <a:noFill/>
          <a:ln w="12700" cap="flat" cmpd="sng" algn="ctr">
            <a:solidFill>
              <a:schemeClr val="tx1"/>
            </a:solidFill>
            <a:prstDash val="solid"/>
            <a:round/>
            <a:headEnd type="none" w="med" len="med"/>
            <a:tailEnd type="triangle"/>
          </a:ln>
          <a:effectLst/>
        </p:spPr>
      </p:cxnSp>
      <p:sp>
        <p:nvSpPr>
          <p:cNvPr id="28" name="TextBox 70">
            <a:extLst>
              <a:ext uri="{FF2B5EF4-FFF2-40B4-BE49-F238E27FC236}">
                <a16:creationId xmlns:a16="http://schemas.microsoft.com/office/drawing/2014/main" xmlns="" id="{4162C595-7203-49D2-943E-9ACD5CE18CCB}"/>
              </a:ext>
            </a:extLst>
          </p:cNvPr>
          <p:cNvSpPr txBox="1">
            <a:spLocks noChangeArrowheads="1"/>
          </p:cNvSpPr>
          <p:nvPr/>
        </p:nvSpPr>
        <p:spPr bwMode="gray">
          <a:xfrm>
            <a:off x="3261178" y="4678402"/>
            <a:ext cx="1929492" cy="257369"/>
          </a:xfrm>
          <a:prstGeom prst="rect">
            <a:avLst/>
          </a:prstGeom>
          <a:noFill/>
          <a:ln w="9525">
            <a:noFill/>
            <a:miter lim="800000"/>
            <a:headEnd/>
            <a:tailEnd/>
          </a:ln>
        </p:spPr>
        <p:txBody>
          <a:bodyPr wrap="square" lIns="36000" tIns="36000" rIns="36000" bIns="36000">
            <a:spAutoFit/>
          </a:bodyPr>
          <a:lstStyle/>
          <a:p>
            <a:r>
              <a:rPr lang="en-US" altLang="zh-CN" sz="1200">
                <a:cs typeface="Arial" charset="0"/>
              </a:rPr>
              <a:t>8.RADIUS Access-request </a:t>
            </a:r>
          </a:p>
        </p:txBody>
      </p:sp>
      <p:cxnSp>
        <p:nvCxnSpPr>
          <p:cNvPr id="29" name="直接箭头连接符 28">
            <a:extLst>
              <a:ext uri="{FF2B5EF4-FFF2-40B4-BE49-F238E27FC236}">
                <a16:creationId xmlns:a16="http://schemas.microsoft.com/office/drawing/2014/main" xmlns="" id="{1FC9307F-BF26-4490-A3B9-376697098425}"/>
              </a:ext>
            </a:extLst>
          </p:cNvPr>
          <p:cNvCxnSpPr/>
          <p:nvPr/>
        </p:nvCxnSpPr>
        <p:spPr bwMode="gray">
          <a:xfrm>
            <a:off x="3253124" y="5262096"/>
            <a:ext cx="2128628" cy="0"/>
          </a:xfrm>
          <a:prstGeom prst="straightConnector1">
            <a:avLst/>
          </a:prstGeom>
          <a:noFill/>
          <a:ln w="12700" cap="flat" cmpd="sng" algn="ctr">
            <a:solidFill>
              <a:schemeClr val="tx1"/>
            </a:solidFill>
            <a:prstDash val="solid"/>
            <a:round/>
            <a:headEnd type="triangle" w="med" len="med"/>
            <a:tailEnd type="none"/>
          </a:ln>
          <a:effectLst/>
        </p:spPr>
      </p:cxnSp>
      <p:sp>
        <p:nvSpPr>
          <p:cNvPr id="30" name="矩形 29">
            <a:extLst>
              <a:ext uri="{FF2B5EF4-FFF2-40B4-BE49-F238E27FC236}">
                <a16:creationId xmlns:a16="http://schemas.microsoft.com/office/drawing/2014/main" xmlns="" id="{1B8D4E51-5AC2-4CEA-B88A-22D809AC87F0}"/>
              </a:ext>
            </a:extLst>
          </p:cNvPr>
          <p:cNvSpPr/>
          <p:nvPr/>
        </p:nvSpPr>
        <p:spPr bwMode="gray">
          <a:xfrm>
            <a:off x="4147928" y="5021017"/>
            <a:ext cx="1239690" cy="257369"/>
          </a:xfrm>
          <a:prstGeom prst="rect">
            <a:avLst/>
          </a:prstGeom>
        </p:spPr>
        <p:txBody>
          <a:bodyPr wrap="none" lIns="36000" tIns="36000" rIns="36000" bIns="36000">
            <a:spAutoFit/>
          </a:bodyPr>
          <a:lstStyle/>
          <a:p>
            <a:pPr algn="r" defTabSz="1088578">
              <a:defRPr/>
            </a:pPr>
            <a:r>
              <a:rPr lang="en-US" altLang="zh-CN" sz="1200" kern="0"/>
              <a:t>9.RADIUS accept</a:t>
            </a:r>
          </a:p>
        </p:txBody>
      </p:sp>
      <p:cxnSp>
        <p:nvCxnSpPr>
          <p:cNvPr id="31" name="直接箭头连接符 30">
            <a:extLst>
              <a:ext uri="{FF2B5EF4-FFF2-40B4-BE49-F238E27FC236}">
                <a16:creationId xmlns:a16="http://schemas.microsoft.com/office/drawing/2014/main" xmlns="" id="{B51E7B56-0BB6-48EA-BA70-609395AE9C83}"/>
              </a:ext>
            </a:extLst>
          </p:cNvPr>
          <p:cNvCxnSpPr/>
          <p:nvPr/>
        </p:nvCxnSpPr>
        <p:spPr bwMode="gray">
          <a:xfrm>
            <a:off x="1049150" y="5462826"/>
            <a:ext cx="2170158" cy="0"/>
          </a:xfrm>
          <a:prstGeom prst="straightConnector1">
            <a:avLst/>
          </a:prstGeom>
          <a:noFill/>
          <a:ln w="12700" cap="flat" cmpd="sng" algn="ctr">
            <a:solidFill>
              <a:schemeClr val="tx1"/>
            </a:solidFill>
            <a:prstDash val="solid"/>
            <a:round/>
            <a:headEnd type="triangle" w="med" len="med"/>
            <a:tailEnd type="none"/>
          </a:ln>
          <a:effectLst/>
        </p:spPr>
      </p:cxnSp>
      <p:sp>
        <p:nvSpPr>
          <p:cNvPr id="32" name="矩形 31">
            <a:extLst>
              <a:ext uri="{FF2B5EF4-FFF2-40B4-BE49-F238E27FC236}">
                <a16:creationId xmlns:a16="http://schemas.microsoft.com/office/drawing/2014/main" xmlns="" id="{37B5B194-EC7E-4840-ADBB-C895BE88DA37}"/>
              </a:ext>
            </a:extLst>
          </p:cNvPr>
          <p:cNvSpPr/>
          <p:nvPr/>
        </p:nvSpPr>
        <p:spPr bwMode="gray">
          <a:xfrm>
            <a:off x="2041738" y="5221653"/>
            <a:ext cx="1141907" cy="257369"/>
          </a:xfrm>
          <a:prstGeom prst="rect">
            <a:avLst/>
          </a:prstGeom>
        </p:spPr>
        <p:txBody>
          <a:bodyPr wrap="none" lIns="36000" tIns="36000" rIns="36000" bIns="36000">
            <a:spAutoFit/>
          </a:bodyPr>
          <a:lstStyle/>
          <a:p>
            <a:pPr algn="r" defTabSz="1088578">
              <a:defRPr/>
            </a:pPr>
            <a:r>
              <a:rPr lang="en-US" altLang="zh-CN" sz="1200" kern="0"/>
              <a:t>10.EAP-Success</a:t>
            </a:r>
          </a:p>
        </p:txBody>
      </p:sp>
      <p:sp>
        <p:nvSpPr>
          <p:cNvPr id="33" name="圆角矩形 3">
            <a:extLst>
              <a:ext uri="{FF2B5EF4-FFF2-40B4-BE49-F238E27FC236}">
                <a16:creationId xmlns:a16="http://schemas.microsoft.com/office/drawing/2014/main" xmlns="" id="{B8D9B063-0084-4EBB-B3EE-60114F44B108}"/>
              </a:ext>
            </a:extLst>
          </p:cNvPr>
          <p:cNvSpPr/>
          <p:nvPr/>
        </p:nvSpPr>
        <p:spPr bwMode="gray">
          <a:xfrm>
            <a:off x="2749617" y="5574326"/>
            <a:ext cx="1011581" cy="229077"/>
          </a:xfrm>
          <a:prstGeom prst="round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端口已授权</a:t>
            </a:r>
            <a:endParaRPr lang="en-US" sz="1200" dirty="0"/>
          </a:p>
        </p:txBody>
      </p:sp>
      <p:sp>
        <p:nvSpPr>
          <p:cNvPr id="34" name="弧形 33">
            <a:extLst>
              <a:ext uri="{FF2B5EF4-FFF2-40B4-BE49-F238E27FC236}">
                <a16:creationId xmlns:a16="http://schemas.microsoft.com/office/drawing/2014/main" xmlns="" id="{3DA70471-7798-42CD-B717-EB45EDA46C09}"/>
              </a:ext>
            </a:extLst>
          </p:cNvPr>
          <p:cNvSpPr/>
          <p:nvPr/>
        </p:nvSpPr>
        <p:spPr bwMode="gray">
          <a:xfrm>
            <a:off x="5215678" y="3257113"/>
            <a:ext cx="496061" cy="447207"/>
          </a:xfrm>
          <a:prstGeom prst="arc">
            <a:avLst>
              <a:gd name="adj1" fmla="val 15456015"/>
              <a:gd name="adj2" fmla="val 6243066"/>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pic>
        <p:nvPicPr>
          <p:cNvPr id="35" name="图片 34" descr="PC.png">
            <a:extLst>
              <a:ext uri="{FF2B5EF4-FFF2-40B4-BE49-F238E27FC236}">
                <a16:creationId xmlns:a16="http://schemas.microsoft.com/office/drawing/2014/main" xmlns="" id="{2EA9B862-B960-493C-AF31-1A65DB46F124}"/>
              </a:ext>
            </a:extLst>
          </p:cNvPr>
          <p:cNvPicPr>
            <a:picLocks noChangeAspect="1"/>
          </p:cNvPicPr>
          <p:nvPr/>
        </p:nvPicPr>
        <p:blipFill>
          <a:blip r:embed="rId3" cstate="print"/>
          <a:stretch>
            <a:fillRect/>
          </a:stretch>
        </p:blipFill>
        <p:spPr bwMode="gray">
          <a:xfrm>
            <a:off x="780068" y="1247292"/>
            <a:ext cx="566920" cy="402702"/>
          </a:xfrm>
          <a:prstGeom prst="rect">
            <a:avLst/>
          </a:prstGeom>
          <a:effectLst>
            <a:outerShdw blurRad="50800" dist="50800" dir="5400000" algn="ctr" rotWithShape="0">
              <a:schemeClr val="bg1"/>
            </a:outerShdw>
          </a:effectLst>
        </p:spPr>
      </p:pic>
      <p:pic>
        <p:nvPicPr>
          <p:cNvPr id="36" name="图片 35" descr="交换机.png"/>
          <p:cNvPicPr>
            <a:picLocks noChangeAspect="1"/>
          </p:cNvPicPr>
          <p:nvPr/>
        </p:nvPicPr>
        <p:blipFill>
          <a:blip r:embed="rId4" cstate="print"/>
          <a:stretch>
            <a:fillRect/>
          </a:stretch>
        </p:blipFill>
        <p:spPr bwMode="gray">
          <a:xfrm>
            <a:off x="5120122" y="1208177"/>
            <a:ext cx="539999" cy="441817"/>
          </a:xfrm>
          <a:prstGeom prst="rect">
            <a:avLst/>
          </a:prstGeom>
        </p:spPr>
      </p:pic>
      <p:pic>
        <p:nvPicPr>
          <p:cNvPr id="37" name="图片 36" descr="通用交换机.png"/>
          <p:cNvPicPr>
            <a:picLocks noChangeAspect="1"/>
          </p:cNvPicPr>
          <p:nvPr/>
        </p:nvPicPr>
        <p:blipFill>
          <a:blip r:embed="rId5" cstate="print"/>
          <a:stretch>
            <a:fillRect/>
          </a:stretch>
        </p:blipFill>
        <p:spPr bwMode="gray">
          <a:xfrm>
            <a:off x="2949308" y="1180502"/>
            <a:ext cx="540000" cy="441818"/>
          </a:xfrm>
          <a:prstGeom prst="rect">
            <a:avLst/>
          </a:prstGeom>
        </p:spPr>
      </p:pic>
      <p:sp>
        <p:nvSpPr>
          <p:cNvPr id="38" name="矩形 37">
            <a:extLst>
              <a:ext uri="{FF2B5EF4-FFF2-40B4-BE49-F238E27FC236}">
                <a16:creationId xmlns:a16="http://schemas.microsoft.com/office/drawing/2014/main" xmlns="" id="{ABAA294B-8AE9-47E0-B730-4203D9CE1427}"/>
              </a:ext>
            </a:extLst>
          </p:cNvPr>
          <p:cNvSpPr/>
          <p:nvPr/>
        </p:nvSpPr>
        <p:spPr bwMode="gray">
          <a:xfrm>
            <a:off x="6134294" y="1678097"/>
            <a:ext cx="5536813" cy="1667224"/>
          </a:xfrm>
          <a:prstGeom prst="rect">
            <a:avLst/>
          </a:prstGeom>
          <a:ln>
            <a:solidFill>
              <a:srgbClr val="BFBFBF"/>
            </a:solidFill>
          </a:ln>
        </p:spPr>
        <p:txBody>
          <a:bodyPr wrap="square" lIns="108000" tIns="108000" rIns="108000" bIns="108000">
            <a:spAutoFit/>
          </a:bodyPr>
          <a:lstStyle/>
          <a:p>
            <a:pPr marL="228594" lvl="1" indent="-228594" algn="just">
              <a:lnSpc>
                <a:spcPts val="2133"/>
              </a:lnSpc>
              <a:spcAft>
                <a:spcPts val="800"/>
              </a:spcAft>
              <a:buFont typeface="Arial" panose="020B0604020202020204" pitchFamily="34" charset="0"/>
              <a:buChar char="•"/>
              <a:tabLst>
                <a:tab pos="484673" algn="l"/>
              </a:tabLst>
            </a:pPr>
            <a:r>
              <a:rPr lang="zh-CN" altLang="en-US" sz="1400" b="1" dirty="0"/>
              <a:t>客户端主动触发方式：</a:t>
            </a:r>
            <a:r>
              <a:rPr lang="zh-CN" altLang="en-US" sz="1400" dirty="0"/>
              <a:t>用户主动开启客户端输入用户名和密码向接入设备发送</a:t>
            </a:r>
            <a:r>
              <a:rPr lang="en-US" altLang="zh-CN" sz="1400" dirty="0"/>
              <a:t>EAP</a:t>
            </a:r>
            <a:r>
              <a:rPr lang="zh-CN" altLang="en-US" sz="1400" dirty="0"/>
              <a:t>报文来触发认证。</a:t>
            </a:r>
            <a:r>
              <a:rPr lang="en-US" altLang="zh-CN" sz="1400" dirty="0"/>
              <a:t> </a:t>
            </a:r>
            <a:endParaRPr lang="zh-CN" altLang="en-US" sz="1400" dirty="0"/>
          </a:p>
          <a:p>
            <a:pPr marL="228594" lvl="1" indent="-228594" algn="just">
              <a:lnSpc>
                <a:spcPts val="2133"/>
              </a:lnSpc>
              <a:spcAft>
                <a:spcPts val="800"/>
              </a:spcAft>
              <a:buFont typeface="Arial" panose="020B0604020202020204" pitchFamily="34" charset="0"/>
              <a:buChar char="•"/>
              <a:tabLst>
                <a:tab pos="484673" algn="l"/>
              </a:tabLst>
            </a:pPr>
            <a:r>
              <a:rPr lang="zh-CN" altLang="en-US" sz="1400" b="1" dirty="0"/>
              <a:t>接入设备主动触发方式：</a:t>
            </a:r>
            <a:r>
              <a:rPr lang="zh-CN" altLang="en-US" sz="1400" dirty="0"/>
              <a:t>接入设备在接收到用户终端发送的</a:t>
            </a:r>
            <a:r>
              <a:rPr lang="en-US" altLang="zh-CN" sz="1400" dirty="0"/>
              <a:t>DHCP/ARP</a:t>
            </a:r>
            <a:r>
              <a:rPr lang="zh-CN" altLang="en-US" sz="1400" dirty="0"/>
              <a:t>报文后，主动触发用户终端自动弹出客户端界面，用户输入用户名和密码即可启动认证。</a:t>
            </a:r>
            <a:r>
              <a:rPr lang="en-US" altLang="zh-CN" sz="1400" dirty="0"/>
              <a:t> </a:t>
            </a:r>
          </a:p>
        </p:txBody>
      </p:sp>
      <p:sp>
        <p:nvSpPr>
          <p:cNvPr id="39" name="圆角矩形 75"/>
          <p:cNvSpPr/>
          <p:nvPr/>
        </p:nvSpPr>
        <p:spPr bwMode="gray">
          <a:xfrm>
            <a:off x="6134294" y="1252621"/>
            <a:ext cx="5536813"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认证触发方式</a:t>
            </a:r>
          </a:p>
        </p:txBody>
      </p:sp>
      <p:sp>
        <p:nvSpPr>
          <p:cNvPr id="40" name="矩形 39">
            <a:extLst>
              <a:ext uri="{FF2B5EF4-FFF2-40B4-BE49-F238E27FC236}">
                <a16:creationId xmlns:a16="http://schemas.microsoft.com/office/drawing/2014/main" xmlns="" id="{F94D39C3-E092-4F24-A460-855001DB1819}"/>
              </a:ext>
            </a:extLst>
          </p:cNvPr>
          <p:cNvSpPr/>
          <p:nvPr/>
        </p:nvSpPr>
        <p:spPr bwMode="gray">
          <a:xfrm>
            <a:off x="6134294" y="4051471"/>
            <a:ext cx="5536813" cy="1936529"/>
          </a:xfrm>
          <a:prstGeom prst="rect">
            <a:avLst/>
          </a:prstGeom>
          <a:ln>
            <a:solidFill>
              <a:srgbClr val="BFBFBF"/>
            </a:solidFill>
          </a:ln>
        </p:spPr>
        <p:txBody>
          <a:bodyPr wrap="square" lIns="108000" tIns="108000" rIns="108000" bIns="108000">
            <a:spAutoFit/>
          </a:bodyPr>
          <a:lstStyle/>
          <a:p>
            <a:pPr marL="228594" lvl="1" indent="-228594" algn="just">
              <a:lnSpc>
                <a:spcPts val="2133"/>
              </a:lnSpc>
              <a:spcAft>
                <a:spcPts val="800"/>
              </a:spcAft>
              <a:buFont typeface="Arial" panose="020B0604020202020204" pitchFamily="34" charset="0"/>
              <a:buChar char="•"/>
              <a:tabLst>
                <a:tab pos="484673" algn="l"/>
              </a:tabLst>
            </a:pPr>
            <a:r>
              <a:rPr lang="zh-CN" altLang="en-US" sz="1400" b="1" dirty="0"/>
              <a:t>基于端口模式：</a:t>
            </a:r>
            <a:r>
              <a:rPr lang="zh-CN" altLang="en-US" sz="1400" dirty="0"/>
              <a:t>当采用基于端口方式时，只要该端口下的第一个用户认证成功后，其他接入用户无须认证就可使用网络资源。但是当第一个用户下线后，其他用户也会被拒绝使用网络。 </a:t>
            </a:r>
          </a:p>
          <a:p>
            <a:pPr marL="228594" lvl="1" indent="-228594" algn="just">
              <a:lnSpc>
                <a:spcPts val="2133"/>
              </a:lnSpc>
              <a:spcAft>
                <a:spcPts val="800"/>
              </a:spcAft>
              <a:buFont typeface="Arial" panose="020B0604020202020204" pitchFamily="34" charset="0"/>
              <a:buChar char="•"/>
              <a:tabLst>
                <a:tab pos="484673" algn="l"/>
              </a:tabLst>
            </a:pPr>
            <a:r>
              <a:rPr lang="zh-CN" altLang="en-US" sz="1400" b="1" dirty="0"/>
              <a:t>基于</a:t>
            </a:r>
            <a:r>
              <a:rPr lang="en-US" altLang="zh-CN" sz="1400" b="1" dirty="0"/>
              <a:t>MAC</a:t>
            </a:r>
            <a:r>
              <a:rPr lang="zh-CN" altLang="en-US" sz="1400" b="1" dirty="0"/>
              <a:t>模式：</a:t>
            </a:r>
            <a:r>
              <a:rPr lang="zh-CN" altLang="en-US" sz="1400" dirty="0"/>
              <a:t>当采用基于</a:t>
            </a:r>
            <a:r>
              <a:rPr lang="en-US" altLang="zh-CN" sz="1400" dirty="0"/>
              <a:t>MAC</a:t>
            </a:r>
            <a:r>
              <a:rPr lang="zh-CN" altLang="en-US" sz="1400" dirty="0"/>
              <a:t>地址方式时，该端口下的所有接入用户均需要单独认证</a:t>
            </a:r>
            <a:r>
              <a:rPr lang="zh-CN" altLang="en-US" sz="1400" dirty="0" smtClean="0"/>
              <a:t>。当某一用户下线时，不影响其他用户接入网络。</a:t>
            </a:r>
            <a:endParaRPr lang="zh-CN" altLang="en-US" sz="1400" dirty="0"/>
          </a:p>
        </p:txBody>
      </p:sp>
      <p:sp>
        <p:nvSpPr>
          <p:cNvPr id="41" name="圆角矩形 75"/>
          <p:cNvSpPr/>
          <p:nvPr/>
        </p:nvSpPr>
        <p:spPr bwMode="gray">
          <a:xfrm>
            <a:off x="6134294" y="3617419"/>
            <a:ext cx="5536813"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接入控制方式</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五边形 41"/>
          <p:cNvSpPr/>
          <p:nvPr/>
        </p:nvSpPr>
        <p:spPr bwMode="gray">
          <a:xfrm>
            <a:off x="8802188" y="9848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gray">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44" name="燕尾形 43"/>
          <p:cNvSpPr/>
          <p:nvPr/>
        </p:nvSpPr>
        <p:spPr bwMode="gray">
          <a:xfrm>
            <a:off x="1021882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45" name="燕尾形 44"/>
          <p:cNvSpPr/>
          <p:nvPr/>
        </p:nvSpPr>
        <p:spPr bwMode="gray">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34920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54562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802.1X</a:t>
            </a:r>
            <a:r>
              <a:rPr lang="zh-CN" altLang="en-US" dirty="0"/>
              <a:t>认证基本配置命令 </a:t>
            </a:r>
            <a:r>
              <a:rPr lang="en-US" altLang="zh-CN" dirty="0"/>
              <a:t>(1)</a:t>
            </a:r>
            <a:endParaRPr lang="zh-CN" altLang="en-US" dirty="0"/>
          </a:p>
        </p:txBody>
      </p:sp>
      <p:sp>
        <p:nvSpPr>
          <p:cNvPr id="4" name="矩形 3">
            <a:extLst>
              <a:ext uri="{FF2B5EF4-FFF2-40B4-BE49-F238E27FC236}">
                <a16:creationId xmlns:a16="http://schemas.microsoft.com/office/drawing/2014/main" xmlns="" id="{4155CF1B-D6D5-4CBC-A7C4-3539BA1D8C49}"/>
              </a:ext>
            </a:extLst>
          </p:cNvPr>
          <p:cNvSpPr/>
          <p:nvPr/>
        </p:nvSpPr>
        <p:spPr>
          <a:xfrm>
            <a:off x="900000" y="1565637"/>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dot1x-access-profile name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access-profile-name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a:extLst>
              <a:ext uri="{FF2B5EF4-FFF2-40B4-BE49-F238E27FC236}">
                <a16:creationId xmlns:a16="http://schemas.microsoft.com/office/drawing/2014/main" xmlns="" id="{44C4E0BA-5C90-4FB6-BCA6-99B663B19FA8}"/>
              </a:ext>
            </a:extLst>
          </p:cNvPr>
          <p:cNvSpPr/>
          <p:nvPr/>
        </p:nvSpPr>
        <p:spPr>
          <a:xfrm>
            <a:off x="442913" y="1133490"/>
            <a:ext cx="1126966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a:extLst>
              <a:ext uri="{FF2B5EF4-FFF2-40B4-BE49-F238E27FC236}">
                <a16:creationId xmlns:a16="http://schemas.microsoft.com/office/drawing/2014/main" xmlns="" id="{2683E34D-F948-4861-A2DA-5897E9554D17}"/>
              </a:ext>
            </a:extLst>
          </p:cNvPr>
          <p:cNvSpPr/>
          <p:nvPr/>
        </p:nvSpPr>
        <p:spPr>
          <a:xfrm>
            <a:off x="900000" y="1918934"/>
            <a:ext cx="10798175"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设备通过</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接入模板统一管理</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接入相关的所有配置。缺省情况下，设备自带</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个名称为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dot1x_access_profile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a:extLst>
              <a:ext uri="{FF2B5EF4-FFF2-40B4-BE49-F238E27FC236}">
                <a16:creationId xmlns:a16="http://schemas.microsoft.com/office/drawing/2014/main" xmlns="" id="{4155CF1B-D6D5-4CBC-A7C4-3539BA1D8C49}"/>
              </a:ext>
            </a:extLst>
          </p:cNvPr>
          <p:cNvSpPr/>
          <p:nvPr/>
        </p:nvSpPr>
        <p:spPr>
          <a:xfrm>
            <a:off x="900000" y="3260545"/>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[Huawei-dot1x-access-profile-ProfileName]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dot1x authentication-method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chap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pap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eap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a:extLst>
              <a:ext uri="{FF2B5EF4-FFF2-40B4-BE49-F238E27FC236}">
                <a16:creationId xmlns:a16="http://schemas.microsoft.com/office/drawing/2014/main" xmlns="" id="{44C4E0BA-5C90-4FB6-BCA6-99B663B19FA8}"/>
              </a:ext>
            </a:extLst>
          </p:cNvPr>
          <p:cNvSpPr/>
          <p:nvPr/>
        </p:nvSpPr>
        <p:spPr>
          <a:xfrm>
            <a:off x="442913" y="2828398"/>
            <a:ext cx="1126966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用户的认证</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方式。</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矩形 8">
            <a:extLst>
              <a:ext uri="{FF2B5EF4-FFF2-40B4-BE49-F238E27FC236}">
                <a16:creationId xmlns:a16="http://schemas.microsoft.com/office/drawing/2014/main" xmlns="" id="{2683E34D-F948-4861-A2DA-5897E9554D17}"/>
              </a:ext>
            </a:extLst>
          </p:cNvPr>
          <p:cNvSpPr/>
          <p:nvPr/>
        </p:nvSpPr>
        <p:spPr>
          <a:xfrm>
            <a:off x="900000" y="3613842"/>
            <a:ext cx="10798175" cy="163121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认证中，设备支持</a:t>
            </a:r>
            <a:r>
              <a:rPr lang="en-US" altLang="zh-CN" sz="1600" dirty="0"/>
              <a:t>EAP</a:t>
            </a:r>
            <a:r>
              <a:rPr lang="zh-CN" altLang="en-US" sz="1600" dirty="0"/>
              <a:t>终结和</a:t>
            </a:r>
            <a:r>
              <a:rPr lang="en-US" altLang="zh-CN" sz="1600" dirty="0"/>
              <a:t>EAP</a:t>
            </a:r>
            <a:r>
              <a:rPr lang="zh-CN" altLang="en-US" sz="1600" dirty="0"/>
              <a:t>中继两种认证方式。</a:t>
            </a:r>
            <a:endParaRPr lang="en-US" altLang="zh-CN" sz="1600" dirty="0"/>
          </a:p>
          <a:p>
            <a:pPr marL="285750" indent="-285750">
              <a:lnSpc>
                <a:spcPts val="24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终结方式：设备直接解析</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报文，把报文中的用户认证信息封装到</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RADIUS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报文中发送给</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RADIUS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服务器进行认证。通过配置</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CHAP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或</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参数，指定设备与</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RADIUS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服务器之间的认证方式。</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285750" indent="-285750">
              <a:lnSpc>
                <a:spcPts val="24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中继方式：设备不对接收到的包含用户认证信息的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报文作任何处理，直接封装到</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RADIUS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报文中发送给</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RADIUS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服务器完成认证，这个技术也称为</a:t>
            </a:r>
            <a:r>
              <a:rPr lang="en-US" altLang="zh-CN" sz="1600" dirty="0" err="1"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EAPoR</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五边形 9"/>
          <p:cNvSpPr/>
          <p:nvPr/>
        </p:nvSpPr>
        <p:spPr bwMode="auto">
          <a:xfrm>
            <a:off x="8802188" y="9848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12" name="燕尾形 11"/>
          <p:cNvSpPr/>
          <p:nvPr/>
        </p:nvSpPr>
        <p:spPr bwMode="auto">
          <a:xfrm>
            <a:off x="1021882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13" name="燕尾形 12"/>
          <p:cNvSpPr/>
          <p:nvPr/>
        </p:nvSpPr>
        <p:spPr bwMode="auto">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740479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802.1X</a:t>
            </a:r>
            <a:r>
              <a:rPr lang="zh-CN" altLang="en-US" dirty="0"/>
              <a:t>认证基本配置命令 </a:t>
            </a:r>
            <a:r>
              <a:rPr lang="en-US" altLang="zh-CN" dirty="0"/>
              <a:t>(2)</a:t>
            </a:r>
            <a:endParaRPr lang="zh-CN" altLang="en-US" dirty="0"/>
          </a:p>
        </p:txBody>
      </p:sp>
      <p:sp>
        <p:nvSpPr>
          <p:cNvPr id="10" name="矩形 9">
            <a:extLst>
              <a:ext uri="{FF2B5EF4-FFF2-40B4-BE49-F238E27FC236}">
                <a16:creationId xmlns:a16="http://schemas.microsoft.com/office/drawing/2014/main" xmlns="" id="{4155CF1B-D6D5-4CBC-A7C4-3539BA1D8C49}"/>
              </a:ext>
            </a:extLst>
          </p:cNvPr>
          <p:cNvSpPr/>
          <p:nvPr/>
        </p:nvSpPr>
        <p:spPr>
          <a:xfrm>
            <a:off x="900000" y="1565637"/>
            <a:ext cx="10812575" cy="584775"/>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[Huawei-dot1x-access-profile-ProfileName]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authentication</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trigger-condition</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arp</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dhcpv6</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nd</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any-l2-packet</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a:extLst>
              <a:ext uri="{FF2B5EF4-FFF2-40B4-BE49-F238E27FC236}">
                <a16:creationId xmlns:a16="http://schemas.microsoft.com/office/drawing/2014/main" xmlns="" id="{44C4E0BA-5C90-4FB6-BCA6-99B663B19FA8}"/>
              </a:ext>
            </a:extLst>
          </p:cNvPr>
          <p:cNvSpPr/>
          <p:nvPr/>
        </p:nvSpPr>
        <p:spPr>
          <a:xfrm>
            <a:off x="442913" y="1133490"/>
            <a:ext cx="1126966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配置能够触发</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认证的报文</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类型。</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a:extLst>
              <a:ext uri="{FF2B5EF4-FFF2-40B4-BE49-F238E27FC236}">
                <a16:creationId xmlns:a16="http://schemas.microsoft.com/office/drawing/2014/main" xmlns="" id="{2683E34D-F948-4861-A2DA-5897E9554D17}"/>
              </a:ext>
            </a:extLst>
          </p:cNvPr>
          <p:cNvSpPr/>
          <p:nvPr/>
        </p:nvSpPr>
        <p:spPr>
          <a:xfrm>
            <a:off x="900000" y="2164872"/>
            <a:ext cx="10812575"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认证功能后，缺省情况下，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 </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DHCPv6 </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报文均能触发设备对用户进行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xmlns="" id="{4155CF1B-D6D5-4CBC-A7C4-3539BA1D8C49}"/>
              </a:ext>
            </a:extLst>
          </p:cNvPr>
          <p:cNvSpPr/>
          <p:nvPr/>
        </p:nvSpPr>
        <p:spPr>
          <a:xfrm>
            <a:off x="899999" y="3831707"/>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l2protocol-tunnel</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user-defined-protocol</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protocol-name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enable</a:t>
            </a:r>
          </a:p>
        </p:txBody>
      </p:sp>
      <p:sp>
        <p:nvSpPr>
          <p:cNvPr id="14" name="矩形 13">
            <a:extLst>
              <a:ext uri="{FF2B5EF4-FFF2-40B4-BE49-F238E27FC236}">
                <a16:creationId xmlns:a16="http://schemas.microsoft.com/office/drawing/2014/main" xmlns="" id="{44C4E0BA-5C90-4FB6-BCA6-99B663B19FA8}"/>
              </a:ext>
            </a:extLst>
          </p:cNvPr>
          <p:cNvSpPr/>
          <p:nvPr/>
        </p:nvSpPr>
        <p:spPr>
          <a:xfrm>
            <a:off x="442913" y="2747462"/>
            <a:ext cx="1126966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认证报文二层透明传输</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a:extLst>
              <a:ext uri="{FF2B5EF4-FFF2-40B4-BE49-F238E27FC236}">
                <a16:creationId xmlns:a16="http://schemas.microsoft.com/office/drawing/2014/main" xmlns="" id="{2683E34D-F948-4861-A2DA-5897E9554D17}"/>
              </a:ext>
            </a:extLst>
          </p:cNvPr>
          <p:cNvSpPr/>
          <p:nvPr/>
        </p:nvSpPr>
        <p:spPr>
          <a:xfrm>
            <a:off x="900000" y="4181131"/>
            <a:ext cx="10812573" cy="1938992"/>
          </a:xfrm>
          <a:prstGeom prst="rect">
            <a:avLst/>
          </a:prstGeom>
        </p:spPr>
        <p:txBody>
          <a:bodyPr wrap="square">
            <a:spAutoFit/>
          </a:bodyPr>
          <a:lstStyle/>
          <a:p>
            <a:pPr fontAlgn="auto">
              <a:lnSpc>
                <a:spcPts val="2400"/>
              </a:lnSpc>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认证场景中，如果使能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认证的接入设备和用户之间存在二层交换机，则需要在二层交换机上配置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认证报文二层透明传输功能，否则用户无法认证成功。</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285750" indent="-285750" fontAlgn="auto">
              <a:lnSpc>
                <a:spcPts val="2400"/>
              </a:lnSpc>
              <a:buFont typeface="Arial" panose="020B0604020202020204" pitchFamily="34" charset="0"/>
              <a:buChar char="•"/>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l2protocol-tunnel user-defined-protocol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命令用来自定义二层协议报文，包括协议的名称、报文组播目的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protocol-mac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）、报文被替换后的组播</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group-mac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）。对于</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而言，</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protocol-mac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group-mac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分别为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0180-c200-0003</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0100-0000-0002</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285750" indent="-285750" fontAlgn="auto">
              <a:lnSpc>
                <a:spcPts val="2400"/>
              </a:lnSpc>
              <a:buFont typeface="Arial" panose="020B0604020202020204" pitchFamily="34" charset="0"/>
              <a:buChar char="•"/>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l2protocol-tunnel</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enable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命令用来使能接口的二层协议透明传输功能。</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a:extLst>
              <a:ext uri="{FF2B5EF4-FFF2-40B4-BE49-F238E27FC236}">
                <a16:creationId xmlns:a16="http://schemas.microsoft.com/office/drawing/2014/main" xmlns="" id="{4155CF1B-D6D5-4CBC-A7C4-3539BA1D8C49}"/>
              </a:ext>
            </a:extLst>
          </p:cNvPr>
          <p:cNvSpPr/>
          <p:nvPr/>
        </p:nvSpPr>
        <p:spPr>
          <a:xfrm>
            <a:off x="899999" y="3116794"/>
            <a:ext cx="10812575" cy="584775"/>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l2protocol-tunnel</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user-defined-protocol</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protocol-name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protocol-mac</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protocol-mac</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group-mac</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group-mac</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p>
        </p:txBody>
      </p:sp>
      <p:sp>
        <p:nvSpPr>
          <p:cNvPr id="17" name="五边形 16"/>
          <p:cNvSpPr/>
          <p:nvPr/>
        </p:nvSpPr>
        <p:spPr bwMode="auto">
          <a:xfrm>
            <a:off x="8802188" y="9848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auto">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19" name="燕尾形 18"/>
          <p:cNvSpPr/>
          <p:nvPr/>
        </p:nvSpPr>
        <p:spPr bwMode="auto">
          <a:xfrm>
            <a:off x="1021882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20" name="燕尾形 19"/>
          <p:cNvSpPr/>
          <p:nvPr/>
        </p:nvSpPr>
        <p:spPr bwMode="auto">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836059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802.1X</a:t>
            </a:r>
            <a:r>
              <a:rPr lang="zh-CN" altLang="en-US"/>
              <a:t>概念小结</a:t>
            </a:r>
            <a:endParaRPr lang="zh-CN" altLang="en-US" dirty="0"/>
          </a:p>
        </p:txBody>
      </p:sp>
      <p:sp>
        <p:nvSpPr>
          <p:cNvPr id="3" name="文本占位符 2"/>
          <p:cNvSpPr>
            <a:spLocks noGrp="1"/>
          </p:cNvSpPr>
          <p:nvPr>
            <p:ph type="body" sz="quarter" idx="4294967295"/>
          </p:nvPr>
        </p:nvSpPr>
        <p:spPr>
          <a:xfrm>
            <a:off x="455613" y="975180"/>
            <a:ext cx="11256962" cy="3016249"/>
          </a:xfrm>
        </p:spPr>
        <p:txBody>
          <a:bodyPr/>
          <a:lstStyle/>
          <a:p>
            <a:r>
              <a:rPr lang="en-US" altLang="zh-CN" sz="2000" dirty="0"/>
              <a:t>802.1X</a:t>
            </a:r>
            <a:r>
              <a:rPr lang="zh-CN" altLang="en-US" sz="2000" dirty="0"/>
              <a:t>认证是一种基于端口的网络接入控制协议，采用</a:t>
            </a:r>
            <a:r>
              <a:rPr lang="en-US" altLang="zh-CN" sz="2000" dirty="0"/>
              <a:t>EAP</a:t>
            </a:r>
            <a:r>
              <a:rPr lang="zh-CN" altLang="en-US" sz="2000" dirty="0"/>
              <a:t>中的</a:t>
            </a:r>
            <a:r>
              <a:rPr lang="en-US" altLang="zh-CN" sz="2000" dirty="0" err="1"/>
              <a:t>EAPoL</a:t>
            </a:r>
            <a:r>
              <a:rPr lang="zh-CN" altLang="en-US" sz="2000" dirty="0"/>
              <a:t>格式来封装协议报文。</a:t>
            </a:r>
          </a:p>
          <a:p>
            <a:r>
              <a:rPr lang="zh-CN" altLang="en-US" sz="2000" dirty="0"/>
              <a:t>根据实际需求或设备情况的不同，可分为：</a:t>
            </a:r>
          </a:p>
          <a:p>
            <a:pPr lvl="1"/>
            <a:r>
              <a:rPr lang="zh-CN" altLang="en-US" sz="1800" dirty="0" smtClean="0"/>
              <a:t>接入控制方式：</a:t>
            </a:r>
            <a:r>
              <a:rPr lang="zh-CN" altLang="en-US" sz="1800" dirty="0"/>
              <a:t>基于接口或基于</a:t>
            </a:r>
            <a:r>
              <a:rPr lang="en-US" altLang="zh-CN" sz="1800" dirty="0"/>
              <a:t>MAC</a:t>
            </a:r>
            <a:r>
              <a:rPr lang="zh-CN" altLang="en-US" sz="1800" dirty="0"/>
              <a:t>。</a:t>
            </a:r>
          </a:p>
          <a:p>
            <a:pPr lvl="1"/>
            <a:r>
              <a:rPr lang="zh-CN" altLang="en-US" sz="1800" dirty="0"/>
              <a:t>认证方式：</a:t>
            </a:r>
            <a:r>
              <a:rPr lang="en-US" altLang="zh-CN" sz="1800" dirty="0"/>
              <a:t>EAP</a:t>
            </a:r>
            <a:r>
              <a:rPr lang="zh-CN" altLang="en-US" sz="1800" dirty="0"/>
              <a:t>终结或</a:t>
            </a:r>
            <a:r>
              <a:rPr lang="en-US" altLang="zh-CN" sz="1800" dirty="0"/>
              <a:t>EAP</a:t>
            </a:r>
            <a:r>
              <a:rPr lang="zh-CN" altLang="en-US" sz="1800" dirty="0"/>
              <a:t>中继。</a:t>
            </a:r>
            <a:endParaRPr lang="en-US" altLang="zh-CN" sz="1800" dirty="0"/>
          </a:p>
          <a:p>
            <a:pPr lvl="1"/>
            <a:r>
              <a:rPr lang="zh-CN" altLang="en-US" sz="1800" dirty="0"/>
              <a:t>认证触发方式：客户端主动触发方式或接入设备主动触发方式。</a:t>
            </a:r>
          </a:p>
          <a:p>
            <a:pPr lvl="1"/>
            <a:r>
              <a:rPr lang="zh-CN" altLang="en-US" sz="1800" dirty="0"/>
              <a:t>认证协议：</a:t>
            </a:r>
            <a:r>
              <a:rPr lang="en-US" altLang="zh-CN" sz="1800" dirty="0"/>
              <a:t>EAP-TLS</a:t>
            </a:r>
            <a:r>
              <a:rPr lang="zh-CN" altLang="en-US" sz="1800" dirty="0"/>
              <a:t>、</a:t>
            </a:r>
            <a:r>
              <a:rPr lang="en-US" altLang="zh-CN" sz="1800" dirty="0"/>
              <a:t>EAP-TTLS</a:t>
            </a:r>
            <a:r>
              <a:rPr lang="zh-CN" altLang="en-US" sz="1800" dirty="0"/>
              <a:t>、</a:t>
            </a:r>
            <a:r>
              <a:rPr lang="en-US" altLang="zh-CN" sz="1800" dirty="0"/>
              <a:t>EAP-PEAP</a:t>
            </a:r>
            <a:r>
              <a:rPr lang="zh-CN" altLang="en-US" sz="1800" dirty="0"/>
              <a:t>或</a:t>
            </a:r>
            <a:r>
              <a:rPr lang="en-US" altLang="zh-CN" sz="1800" dirty="0"/>
              <a:t>EAP-MD5</a:t>
            </a:r>
            <a:r>
              <a:rPr lang="zh-CN" altLang="en-US" sz="1800" dirty="0"/>
              <a:t>等。</a:t>
            </a:r>
          </a:p>
          <a:p>
            <a:endParaRPr lang="zh-CN" altLang="en-US" sz="2000" dirty="0"/>
          </a:p>
        </p:txBody>
      </p:sp>
      <p:sp>
        <p:nvSpPr>
          <p:cNvPr id="4" name="五边形 3"/>
          <p:cNvSpPr/>
          <p:nvPr/>
        </p:nvSpPr>
        <p:spPr bwMode="auto">
          <a:xfrm>
            <a:off x="8802188" y="9848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4"/>
          <p:cNvSpPr/>
          <p:nvPr/>
        </p:nvSpPr>
        <p:spPr bwMode="auto">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6" name="燕尾形 5"/>
          <p:cNvSpPr/>
          <p:nvPr/>
        </p:nvSpPr>
        <p:spPr bwMode="auto">
          <a:xfrm>
            <a:off x="1021882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7" name="燕尾形 6"/>
          <p:cNvSpPr/>
          <p:nvPr/>
        </p:nvSpPr>
        <p:spPr bwMode="auto">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938127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en-US" altLang="zh-CN" dirty="0"/>
              <a:t>MAC</a:t>
            </a:r>
            <a:r>
              <a:rPr lang="zh-CN" altLang="en-US" dirty="0"/>
              <a:t>地址认证概述</a:t>
            </a:r>
          </a:p>
        </p:txBody>
      </p:sp>
      <p:cxnSp>
        <p:nvCxnSpPr>
          <p:cNvPr id="5" name="直接箭头连接符 4">
            <a:extLst>
              <a:ext uri="{FF2B5EF4-FFF2-40B4-BE49-F238E27FC236}">
                <a16:creationId xmlns:a16="http://schemas.microsoft.com/office/drawing/2014/main" xmlns="" id="{7D2A6B36-0425-4AF5-8615-B057DC5231D8}"/>
              </a:ext>
            </a:extLst>
          </p:cNvPr>
          <p:cNvCxnSpPr/>
          <p:nvPr/>
        </p:nvCxnSpPr>
        <p:spPr bwMode="gray">
          <a:xfrm>
            <a:off x="1044059" y="3382347"/>
            <a:ext cx="2088000" cy="0"/>
          </a:xfrm>
          <a:prstGeom prst="straightConnector1">
            <a:avLst/>
          </a:prstGeom>
          <a:noFill/>
          <a:ln w="12700" cap="flat" cmpd="sng" algn="ctr">
            <a:solidFill>
              <a:schemeClr val="tx1"/>
            </a:solidFill>
            <a:prstDash val="solid"/>
            <a:round/>
            <a:headEnd type="none" w="med" len="med"/>
            <a:tailEnd type="triangle"/>
          </a:ln>
          <a:effectLst/>
        </p:spPr>
      </p:cxnSp>
      <p:sp>
        <p:nvSpPr>
          <p:cNvPr id="6"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1044060" y="2905314"/>
            <a:ext cx="2005467" cy="434710"/>
          </a:xfrm>
          <a:prstGeom prst="rect">
            <a:avLst/>
          </a:prstGeom>
          <a:noFill/>
          <a:ln w="9525">
            <a:noFill/>
            <a:miter lim="800000"/>
            <a:headEnd/>
            <a:tailEnd/>
          </a:ln>
        </p:spPr>
        <p:txBody>
          <a:bodyPr wrap="square" lIns="48000" tIns="48000" rIns="48000" bIns="48000">
            <a:noAutofit/>
          </a:bodyPr>
          <a:lstStyle/>
          <a:p>
            <a:r>
              <a:rPr lang="en-US" altLang="zh-CN" sz="1200" dirty="0">
                <a:cs typeface="Arial" charset="0"/>
              </a:rPr>
              <a:t>1.ARP/DHCP/ND/DHCPv6</a:t>
            </a:r>
            <a:r>
              <a:rPr lang="zh-CN" altLang="en-US" sz="1200" dirty="0">
                <a:cs typeface="Arial" charset="0"/>
              </a:rPr>
              <a:t>等报文触发</a:t>
            </a:r>
            <a:r>
              <a:rPr lang="en-US" altLang="zh-CN" sz="1200" dirty="0">
                <a:cs typeface="Arial" charset="0"/>
              </a:rPr>
              <a:t>MAC</a:t>
            </a:r>
            <a:r>
              <a:rPr lang="zh-CN" altLang="en-US" sz="1200" dirty="0">
                <a:cs typeface="Arial" charset="0"/>
              </a:rPr>
              <a:t>认证</a:t>
            </a:r>
          </a:p>
        </p:txBody>
      </p:sp>
      <p:cxnSp>
        <p:nvCxnSpPr>
          <p:cNvPr id="7" name="直接箭头连接符 6">
            <a:extLst>
              <a:ext uri="{FF2B5EF4-FFF2-40B4-BE49-F238E27FC236}">
                <a16:creationId xmlns:a16="http://schemas.microsoft.com/office/drawing/2014/main" xmlns="" id="{46872E63-9E29-40D9-8698-E678BA095303}"/>
              </a:ext>
            </a:extLst>
          </p:cNvPr>
          <p:cNvCxnSpPr/>
          <p:nvPr/>
        </p:nvCxnSpPr>
        <p:spPr bwMode="gray">
          <a:xfrm>
            <a:off x="3290822" y="3651739"/>
            <a:ext cx="2088000" cy="0"/>
          </a:xfrm>
          <a:prstGeom prst="straightConnector1">
            <a:avLst/>
          </a:prstGeom>
          <a:noFill/>
          <a:ln w="12700" cap="flat" cmpd="sng" algn="ctr">
            <a:solidFill>
              <a:schemeClr val="tx1"/>
            </a:solidFill>
            <a:prstDash val="solid"/>
            <a:round/>
            <a:headEnd type="none" w="med" len="med"/>
            <a:tailEnd type="triangle"/>
          </a:ln>
          <a:effectLst/>
        </p:spPr>
      </p:cxnSp>
      <p:sp>
        <p:nvSpPr>
          <p:cNvPr id="8" name="TextBox 70">
            <a:extLst>
              <a:ext uri="{FF2B5EF4-FFF2-40B4-BE49-F238E27FC236}">
                <a16:creationId xmlns:a16="http://schemas.microsoft.com/office/drawing/2014/main" xmlns="" id="{33759EA7-A1A0-4959-BE98-3FFFECD027E1}"/>
              </a:ext>
            </a:extLst>
          </p:cNvPr>
          <p:cNvSpPr txBox="1">
            <a:spLocks noChangeArrowheads="1"/>
          </p:cNvSpPr>
          <p:nvPr/>
        </p:nvSpPr>
        <p:spPr bwMode="gray">
          <a:xfrm>
            <a:off x="3225235" y="3187446"/>
            <a:ext cx="2156434" cy="381002"/>
          </a:xfrm>
          <a:prstGeom prst="rect">
            <a:avLst/>
          </a:prstGeom>
          <a:noFill/>
          <a:ln w="9525">
            <a:noFill/>
            <a:miter lim="800000"/>
            <a:headEnd/>
            <a:tailEnd/>
          </a:ln>
        </p:spPr>
        <p:txBody>
          <a:bodyPr wrap="none" lIns="48000" tIns="48000" rIns="48000" bIns="48000">
            <a:noAutofit/>
          </a:bodyPr>
          <a:lstStyle/>
          <a:p>
            <a:r>
              <a:rPr lang="en-US" altLang="zh-CN" sz="1200" dirty="0">
                <a:cs typeface="Arial" charset="0"/>
              </a:rPr>
              <a:t>2.RADIUS</a:t>
            </a:r>
            <a:r>
              <a:rPr lang="zh-CN" altLang="en-US" sz="1200" dirty="0">
                <a:cs typeface="Arial" charset="0"/>
              </a:rPr>
              <a:t>认证请求报文 </a:t>
            </a:r>
            <a:endParaRPr lang="en-US" altLang="zh-CN" sz="1200" dirty="0">
              <a:cs typeface="Arial" charset="0"/>
            </a:endParaRPr>
          </a:p>
          <a:p>
            <a:r>
              <a:rPr lang="zh-CN" altLang="en-US" sz="1200" dirty="0">
                <a:cs typeface="Arial" charset="0"/>
              </a:rPr>
              <a:t>向认证服务器发送用户名</a:t>
            </a:r>
            <a:r>
              <a:rPr lang="en-US" altLang="zh-CN" sz="1200" dirty="0">
                <a:cs typeface="Arial" charset="0"/>
              </a:rPr>
              <a:t>/</a:t>
            </a:r>
            <a:r>
              <a:rPr lang="zh-CN" altLang="en-US" sz="1200" dirty="0">
                <a:cs typeface="Arial" charset="0"/>
              </a:rPr>
              <a:t>密码</a:t>
            </a:r>
            <a:endParaRPr lang="en-US" altLang="zh-CN" sz="1200" dirty="0">
              <a:cs typeface="Arial" charset="0"/>
            </a:endParaRPr>
          </a:p>
        </p:txBody>
      </p:sp>
      <p:cxnSp>
        <p:nvCxnSpPr>
          <p:cNvPr id="9" name="直接箭头连接符 8">
            <a:extLst>
              <a:ext uri="{FF2B5EF4-FFF2-40B4-BE49-F238E27FC236}">
                <a16:creationId xmlns:a16="http://schemas.microsoft.com/office/drawing/2014/main" xmlns="" id="{AF0896D1-D83C-444F-8775-057FD7FB9276}"/>
              </a:ext>
            </a:extLst>
          </p:cNvPr>
          <p:cNvCxnSpPr/>
          <p:nvPr/>
        </p:nvCxnSpPr>
        <p:spPr bwMode="gray">
          <a:xfrm>
            <a:off x="3241942" y="4142520"/>
            <a:ext cx="2088000" cy="0"/>
          </a:xfrm>
          <a:prstGeom prst="straightConnector1">
            <a:avLst/>
          </a:prstGeom>
          <a:noFill/>
          <a:ln w="12700" cap="flat" cmpd="sng" algn="ctr">
            <a:solidFill>
              <a:schemeClr val="tx1"/>
            </a:solidFill>
            <a:prstDash val="solid"/>
            <a:round/>
            <a:headEnd type="triangle" w="med" len="med"/>
            <a:tailEnd type="none"/>
          </a:ln>
          <a:effectLst/>
        </p:spPr>
      </p:cxnSp>
      <p:sp>
        <p:nvSpPr>
          <p:cNvPr id="10" name="矩形 9">
            <a:extLst>
              <a:ext uri="{FF2B5EF4-FFF2-40B4-BE49-F238E27FC236}">
                <a16:creationId xmlns:a16="http://schemas.microsoft.com/office/drawing/2014/main" xmlns="" id="{84BF297C-5728-431E-AEA8-DC8145E3CA7D}"/>
              </a:ext>
            </a:extLst>
          </p:cNvPr>
          <p:cNvSpPr/>
          <p:nvPr/>
        </p:nvSpPr>
        <p:spPr bwMode="gray">
          <a:xfrm>
            <a:off x="4567223" y="3855261"/>
            <a:ext cx="809212" cy="287259"/>
          </a:xfrm>
          <a:prstGeom prst="rect">
            <a:avLst/>
          </a:prstGeom>
        </p:spPr>
        <p:txBody>
          <a:bodyPr wrap="none" lIns="48000">
            <a:noAutofit/>
          </a:bodyPr>
          <a:lstStyle/>
          <a:p>
            <a:pPr algn="r" defTabSz="1088578">
              <a:defRPr/>
            </a:pPr>
            <a:r>
              <a:rPr lang="en-US" altLang="zh-CN" sz="1200" kern="0" dirty="0"/>
              <a:t>3.</a:t>
            </a:r>
            <a:r>
              <a:rPr lang="zh-CN" altLang="en-US" sz="1200" kern="0" dirty="0"/>
              <a:t>认证成功</a:t>
            </a:r>
            <a:endParaRPr lang="en-US" altLang="zh-CN" sz="1200" kern="0" dirty="0"/>
          </a:p>
        </p:txBody>
      </p:sp>
      <p:cxnSp>
        <p:nvCxnSpPr>
          <p:cNvPr id="11" name="直接连接符 10">
            <a:extLst>
              <a:ext uri="{FF2B5EF4-FFF2-40B4-BE49-F238E27FC236}">
                <a16:creationId xmlns:a16="http://schemas.microsoft.com/office/drawing/2014/main" xmlns="" id="{8167F3A8-9685-4E01-BEFE-C0DDAD4244B1}"/>
              </a:ext>
            </a:extLst>
          </p:cNvPr>
          <p:cNvCxnSpPr/>
          <p:nvPr/>
        </p:nvCxnSpPr>
        <p:spPr bwMode="gray">
          <a:xfrm>
            <a:off x="1012387" y="2845925"/>
            <a:ext cx="0" cy="1482084"/>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2" name="TextBox 40">
            <a:extLst>
              <a:ext uri="{FF2B5EF4-FFF2-40B4-BE49-F238E27FC236}">
                <a16:creationId xmlns:a16="http://schemas.microsoft.com/office/drawing/2014/main" xmlns="" id="{E23A3C99-EE95-4759-84F4-6525B1F88D30}"/>
              </a:ext>
            </a:extLst>
          </p:cNvPr>
          <p:cNvSpPr txBox="1"/>
          <p:nvPr/>
        </p:nvSpPr>
        <p:spPr bwMode="gray">
          <a:xfrm>
            <a:off x="604265" y="1910767"/>
            <a:ext cx="824372"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哑终端</a:t>
            </a:r>
          </a:p>
        </p:txBody>
      </p:sp>
      <p:cxnSp>
        <p:nvCxnSpPr>
          <p:cNvPr id="13" name="直接连接符 12">
            <a:extLst>
              <a:ext uri="{FF2B5EF4-FFF2-40B4-BE49-F238E27FC236}">
                <a16:creationId xmlns:a16="http://schemas.microsoft.com/office/drawing/2014/main" xmlns="" id="{7D8452C5-3ED0-4502-A5EB-AFE7FC4D4C48}"/>
              </a:ext>
            </a:extLst>
          </p:cNvPr>
          <p:cNvCxnSpPr/>
          <p:nvPr/>
        </p:nvCxnSpPr>
        <p:spPr bwMode="gray">
          <a:xfrm>
            <a:off x="3170071" y="2860880"/>
            <a:ext cx="1101" cy="1482084"/>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4" name="圆角矩形 362">
            <a:extLst>
              <a:ext uri="{FF2B5EF4-FFF2-40B4-BE49-F238E27FC236}">
                <a16:creationId xmlns:a16="http://schemas.microsoft.com/office/drawing/2014/main" xmlns="" id="{39F20518-FC28-4BC6-9B35-49A9EA953A4D}"/>
              </a:ext>
            </a:extLst>
          </p:cNvPr>
          <p:cNvSpPr/>
          <p:nvPr/>
        </p:nvSpPr>
        <p:spPr bwMode="gray">
          <a:xfrm>
            <a:off x="2627931" y="4313860"/>
            <a:ext cx="1085381" cy="310834"/>
          </a:xfrm>
          <a:prstGeom prst="round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t>端口已授权</a:t>
            </a:r>
            <a:endParaRPr lang="en-US" sz="1200"/>
          </a:p>
        </p:txBody>
      </p:sp>
      <p:sp>
        <p:nvSpPr>
          <p:cNvPr id="15" name="TextBox 41">
            <a:extLst>
              <a:ext uri="{FF2B5EF4-FFF2-40B4-BE49-F238E27FC236}">
                <a16:creationId xmlns:a16="http://schemas.microsoft.com/office/drawing/2014/main" xmlns="" id="{107FF330-60DF-4117-B4EF-26EB0211B8ED}"/>
              </a:ext>
            </a:extLst>
          </p:cNvPr>
          <p:cNvSpPr txBox="1"/>
          <p:nvPr/>
        </p:nvSpPr>
        <p:spPr bwMode="gray">
          <a:xfrm>
            <a:off x="2567955" y="1910767"/>
            <a:ext cx="1205332"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接入设备</a:t>
            </a:r>
          </a:p>
        </p:txBody>
      </p:sp>
      <p:cxnSp>
        <p:nvCxnSpPr>
          <p:cNvPr id="16" name="直接连接符 15">
            <a:extLst>
              <a:ext uri="{FF2B5EF4-FFF2-40B4-BE49-F238E27FC236}">
                <a16:creationId xmlns:a16="http://schemas.microsoft.com/office/drawing/2014/main" xmlns="" id="{A465F2DA-AA08-4624-B062-B464732628C9}"/>
              </a:ext>
            </a:extLst>
          </p:cNvPr>
          <p:cNvCxnSpPr/>
          <p:nvPr/>
        </p:nvCxnSpPr>
        <p:spPr bwMode="gray">
          <a:xfrm>
            <a:off x="5550901" y="2873580"/>
            <a:ext cx="5008" cy="1482084"/>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7" name="TextBox 42">
            <a:extLst>
              <a:ext uri="{FF2B5EF4-FFF2-40B4-BE49-F238E27FC236}">
                <a16:creationId xmlns:a16="http://schemas.microsoft.com/office/drawing/2014/main" xmlns="" id="{10D25089-1E74-43A4-A230-304F09C4C5A5}"/>
              </a:ext>
            </a:extLst>
          </p:cNvPr>
          <p:cNvSpPr txBox="1"/>
          <p:nvPr/>
        </p:nvSpPr>
        <p:spPr bwMode="gray">
          <a:xfrm>
            <a:off x="4912605" y="1910767"/>
            <a:ext cx="1113327"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认证服务器</a:t>
            </a:r>
          </a:p>
        </p:txBody>
      </p:sp>
      <p:sp>
        <p:nvSpPr>
          <p:cNvPr id="18" name="文本框 17"/>
          <p:cNvSpPr txBox="1"/>
          <p:nvPr/>
        </p:nvSpPr>
        <p:spPr bwMode="gray">
          <a:xfrm>
            <a:off x="2402555" y="4911507"/>
            <a:ext cx="1455848" cy="338554"/>
          </a:xfrm>
          <a:prstGeom prst="rect">
            <a:avLst/>
          </a:prstGeom>
          <a:noFill/>
        </p:spPr>
        <p:txBody>
          <a:bodyPr wrap="none" rtlCol="0">
            <a:spAutoFit/>
          </a:bodyPr>
          <a:lstStyle/>
          <a:p>
            <a:r>
              <a:rPr lang="en-US" altLang="zh-CN" sz="1600" dirty="0"/>
              <a:t>MAC</a:t>
            </a:r>
            <a:r>
              <a:rPr lang="zh-CN" altLang="en-US" sz="1600" dirty="0"/>
              <a:t>认证流程</a:t>
            </a:r>
          </a:p>
        </p:txBody>
      </p:sp>
      <p:pic>
        <p:nvPicPr>
          <p:cNvPr id="19" name="图片 18" descr="IP电话.png"/>
          <p:cNvPicPr>
            <a:picLocks noChangeAspect="1"/>
          </p:cNvPicPr>
          <p:nvPr/>
        </p:nvPicPr>
        <p:blipFill>
          <a:blip r:embed="rId3" cstate="print"/>
          <a:stretch>
            <a:fillRect/>
          </a:stretch>
        </p:blipFill>
        <p:spPr bwMode="gray">
          <a:xfrm>
            <a:off x="747197" y="2253421"/>
            <a:ext cx="539947" cy="507600"/>
          </a:xfrm>
          <a:prstGeom prst="rect">
            <a:avLst/>
          </a:prstGeom>
        </p:spPr>
      </p:pic>
      <p:pic>
        <p:nvPicPr>
          <p:cNvPr id="20" name="图片 19" descr="交换机.png"/>
          <p:cNvPicPr>
            <a:picLocks noChangeAspect="1"/>
          </p:cNvPicPr>
          <p:nvPr/>
        </p:nvPicPr>
        <p:blipFill>
          <a:blip r:embed="rId4" cstate="print"/>
          <a:stretch>
            <a:fillRect/>
          </a:stretch>
        </p:blipFill>
        <p:spPr bwMode="gray">
          <a:xfrm>
            <a:off x="5205129" y="2249868"/>
            <a:ext cx="539999" cy="441817"/>
          </a:xfrm>
          <a:prstGeom prst="rect">
            <a:avLst/>
          </a:prstGeom>
        </p:spPr>
      </p:pic>
      <p:sp>
        <p:nvSpPr>
          <p:cNvPr id="21" name="矩形 20">
            <a:extLst>
              <a:ext uri="{FF2B5EF4-FFF2-40B4-BE49-F238E27FC236}">
                <a16:creationId xmlns:a16="http://schemas.microsoft.com/office/drawing/2014/main" xmlns="" id="{EC97A0CF-DE53-4644-B13E-9D2D83945E4C}"/>
              </a:ext>
            </a:extLst>
          </p:cNvPr>
          <p:cNvSpPr/>
          <p:nvPr/>
        </p:nvSpPr>
        <p:spPr bwMode="gray">
          <a:xfrm>
            <a:off x="6140365" y="5199914"/>
            <a:ext cx="5526503" cy="910607"/>
          </a:xfrm>
          <a:prstGeom prst="rect">
            <a:avLst/>
          </a:prstGeom>
          <a:ln>
            <a:solidFill>
              <a:srgbClr val="BFBFBF"/>
            </a:solidFill>
          </a:ln>
        </p:spPr>
        <p:txBody>
          <a:bodyPr wrap="square" lIns="108000" tIns="108000" rIns="108000" bIns="108000">
            <a:spAutoFit/>
          </a:bodyPr>
          <a:lstStyle/>
          <a:p>
            <a:pPr marL="228594" lvl="1" indent="-228594" algn="just">
              <a:lnSpc>
                <a:spcPts val="2400"/>
              </a:lnSpc>
              <a:spcAft>
                <a:spcPts val="600"/>
              </a:spcAft>
              <a:buFont typeface="Arial" panose="020B0604020202020204" pitchFamily="34" charset="0"/>
              <a:buChar char="•"/>
              <a:tabLst>
                <a:tab pos="484673" algn="l"/>
              </a:tabLst>
            </a:pPr>
            <a:r>
              <a:rPr lang="zh-CN" altLang="en-US" sz="1600" b="1" dirty="0">
                <a:solidFill>
                  <a:srgbClr val="C7000B"/>
                </a:solidFill>
              </a:rPr>
              <a:t>不需要</a:t>
            </a:r>
            <a:r>
              <a:rPr lang="zh-CN" altLang="en-US" sz="1600" dirty="0"/>
              <a:t>用户安装任何客户端软件。</a:t>
            </a:r>
            <a:endParaRPr lang="en-US" altLang="zh-CN" sz="1600" dirty="0"/>
          </a:p>
          <a:p>
            <a:pPr marL="228594" lvl="1" indent="-228594" algn="just">
              <a:lnSpc>
                <a:spcPts val="2400"/>
              </a:lnSpc>
              <a:spcAft>
                <a:spcPts val="600"/>
              </a:spcAft>
              <a:buFont typeface="Arial" panose="020B0604020202020204" pitchFamily="34" charset="0"/>
              <a:buChar char="•"/>
              <a:tabLst>
                <a:tab pos="484673" algn="l"/>
              </a:tabLst>
            </a:pPr>
            <a:r>
              <a:rPr lang="zh-CN" altLang="en-US" sz="1600" dirty="0"/>
              <a:t>适用于</a:t>
            </a:r>
            <a:r>
              <a:rPr lang="en-US" altLang="zh-CN" sz="1600" dirty="0"/>
              <a:t>IP</a:t>
            </a:r>
            <a:r>
              <a:rPr lang="zh-CN" altLang="en-US" sz="1600" dirty="0"/>
              <a:t>电话、打印机等</a:t>
            </a:r>
            <a:r>
              <a:rPr lang="zh-CN" altLang="en-US" sz="1600" b="1" dirty="0">
                <a:solidFill>
                  <a:srgbClr val="C7000B"/>
                </a:solidFill>
              </a:rPr>
              <a:t>哑终端</a:t>
            </a:r>
            <a:r>
              <a:rPr lang="zh-CN" altLang="en-US" sz="1600" dirty="0"/>
              <a:t>接入的场景。</a:t>
            </a:r>
          </a:p>
        </p:txBody>
      </p:sp>
      <p:sp>
        <p:nvSpPr>
          <p:cNvPr id="22" name="圆角矩形 75"/>
          <p:cNvSpPr/>
          <p:nvPr/>
        </p:nvSpPr>
        <p:spPr bwMode="gray">
          <a:xfrm>
            <a:off x="6140365" y="4779770"/>
            <a:ext cx="5526503"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应用场景</a:t>
            </a:r>
          </a:p>
        </p:txBody>
      </p:sp>
      <p:pic>
        <p:nvPicPr>
          <p:cNvPr id="23" name="图片 22" descr="通用交换机.png"/>
          <p:cNvPicPr>
            <a:picLocks noChangeAspect="1"/>
          </p:cNvPicPr>
          <p:nvPr/>
        </p:nvPicPr>
        <p:blipFill>
          <a:blip r:embed="rId5" cstate="print"/>
          <a:stretch>
            <a:fillRect/>
          </a:stretch>
        </p:blipFill>
        <p:spPr bwMode="gray">
          <a:xfrm>
            <a:off x="2894572" y="2264234"/>
            <a:ext cx="540000" cy="441818"/>
          </a:xfrm>
          <a:prstGeom prst="rect">
            <a:avLst/>
          </a:prstGeom>
        </p:spPr>
      </p:pic>
      <p:sp>
        <p:nvSpPr>
          <p:cNvPr id="24" name="矩形 23">
            <a:extLst>
              <a:ext uri="{FF2B5EF4-FFF2-40B4-BE49-F238E27FC236}">
                <a16:creationId xmlns:a16="http://schemas.microsoft.com/office/drawing/2014/main" xmlns="" id="{EC97A0CF-DE53-4644-B13E-9D2D83945E4C}"/>
              </a:ext>
            </a:extLst>
          </p:cNvPr>
          <p:cNvSpPr/>
          <p:nvPr/>
        </p:nvSpPr>
        <p:spPr bwMode="gray">
          <a:xfrm>
            <a:off x="6140365" y="4153020"/>
            <a:ext cx="5526503" cy="503509"/>
          </a:xfrm>
          <a:prstGeom prst="rect">
            <a:avLst/>
          </a:prstGeom>
          <a:ln>
            <a:solidFill>
              <a:srgbClr val="BFBFBF"/>
            </a:solidFill>
          </a:ln>
        </p:spPr>
        <p:txBody>
          <a:bodyPr wrap="square" lIns="108000" tIns="108000" rIns="108000" bIns="108000">
            <a:spAutoFit/>
          </a:bodyPr>
          <a:lstStyle/>
          <a:p>
            <a:pPr marL="228594" lvl="1" indent="-228594" algn="just">
              <a:lnSpc>
                <a:spcPts val="2400"/>
              </a:lnSpc>
              <a:spcAft>
                <a:spcPts val="600"/>
              </a:spcAft>
              <a:buFont typeface="Arial" panose="020B0604020202020204" pitchFamily="34" charset="0"/>
              <a:buChar char="•"/>
              <a:tabLst>
                <a:tab pos="484673" algn="l"/>
              </a:tabLst>
            </a:pPr>
            <a:r>
              <a:rPr lang="zh-CN" altLang="en-US" sz="1600" dirty="0"/>
              <a:t>包含认证客户端、接入设备和认证服务器。</a:t>
            </a:r>
          </a:p>
        </p:txBody>
      </p:sp>
      <p:sp>
        <p:nvSpPr>
          <p:cNvPr id="25" name="圆角矩形 75"/>
          <p:cNvSpPr/>
          <p:nvPr/>
        </p:nvSpPr>
        <p:spPr bwMode="gray">
          <a:xfrm>
            <a:off x="6140365" y="3753196"/>
            <a:ext cx="552650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组网方式</a:t>
            </a:r>
          </a:p>
        </p:txBody>
      </p:sp>
      <p:sp>
        <p:nvSpPr>
          <p:cNvPr id="26" name="矩形 25">
            <a:extLst>
              <a:ext uri="{FF2B5EF4-FFF2-40B4-BE49-F238E27FC236}">
                <a16:creationId xmlns:a16="http://schemas.microsoft.com/office/drawing/2014/main" xmlns="" id="{EC97A0CF-DE53-4644-B13E-9D2D83945E4C}"/>
              </a:ext>
            </a:extLst>
          </p:cNvPr>
          <p:cNvSpPr/>
          <p:nvPr/>
        </p:nvSpPr>
        <p:spPr bwMode="gray">
          <a:xfrm>
            <a:off x="6140365" y="1452110"/>
            <a:ext cx="5526503" cy="2218657"/>
          </a:xfrm>
          <a:prstGeom prst="rect">
            <a:avLst/>
          </a:prstGeom>
          <a:ln>
            <a:solidFill>
              <a:srgbClr val="BFBFBF"/>
            </a:solidFill>
          </a:ln>
        </p:spPr>
        <p:txBody>
          <a:bodyPr wrap="square" lIns="108000" tIns="108000" rIns="108000" bIns="108000">
            <a:spAutoFit/>
          </a:bodyPr>
          <a:lstStyle/>
          <a:p>
            <a:pPr marL="228594" lvl="1" indent="-228594" algn="just">
              <a:lnSpc>
                <a:spcPts val="2400"/>
              </a:lnSpc>
              <a:spcAft>
                <a:spcPts val="600"/>
              </a:spcAft>
              <a:buFont typeface="Arial" panose="020B0604020202020204" pitchFamily="34" charset="0"/>
              <a:buChar char="•"/>
              <a:tabLst>
                <a:tab pos="484673" algn="l"/>
              </a:tabLst>
            </a:pPr>
            <a:r>
              <a:rPr lang="en-US" altLang="zh-CN" sz="1600" dirty="0"/>
              <a:t>MAC</a:t>
            </a:r>
            <a:r>
              <a:rPr lang="zh-CN" altLang="en-US" sz="1600" dirty="0"/>
              <a:t>地址认证（简称</a:t>
            </a:r>
            <a:r>
              <a:rPr lang="en-US" altLang="zh-CN" sz="1600" dirty="0"/>
              <a:t>MAC</a:t>
            </a:r>
            <a:r>
              <a:rPr lang="zh-CN" altLang="en-US" sz="1600" dirty="0"/>
              <a:t>认证）是一种基于端口和</a:t>
            </a:r>
            <a:r>
              <a:rPr lang="en-US" altLang="zh-CN" sz="1600" dirty="0"/>
              <a:t>MAC</a:t>
            </a:r>
            <a:r>
              <a:rPr lang="zh-CN" altLang="en-US" sz="1600" dirty="0"/>
              <a:t>地址对用户的网络访问权限进行控制的认证方法。</a:t>
            </a:r>
            <a:endParaRPr lang="en-US" altLang="zh-CN" sz="1600" dirty="0"/>
          </a:p>
          <a:p>
            <a:pPr marL="228594" lvl="1" indent="-228594" algn="just">
              <a:lnSpc>
                <a:spcPts val="2400"/>
              </a:lnSpc>
              <a:spcAft>
                <a:spcPts val="600"/>
              </a:spcAft>
              <a:buFont typeface="Arial" panose="020B0604020202020204" pitchFamily="34" charset="0"/>
              <a:buChar char="•"/>
              <a:tabLst>
                <a:tab pos="484673" algn="l"/>
              </a:tabLst>
            </a:pPr>
            <a:r>
              <a:rPr lang="zh-CN" altLang="en-US" sz="1600" dirty="0"/>
              <a:t>以用户的</a:t>
            </a:r>
            <a:r>
              <a:rPr lang="en-US" altLang="zh-CN" sz="1600" dirty="0"/>
              <a:t>MAC</a:t>
            </a:r>
            <a:r>
              <a:rPr lang="zh-CN" altLang="en-US" sz="1600" dirty="0"/>
              <a:t>地址作为身份凭据到认证服务器进行认证。</a:t>
            </a:r>
            <a:endParaRPr lang="en-US" altLang="zh-CN" sz="1600" dirty="0"/>
          </a:p>
          <a:p>
            <a:pPr marL="228594" lvl="1" indent="-228594" algn="just">
              <a:lnSpc>
                <a:spcPts val="2400"/>
              </a:lnSpc>
              <a:spcAft>
                <a:spcPts val="600"/>
              </a:spcAft>
              <a:buFont typeface="Arial" panose="020B0604020202020204" pitchFamily="34" charset="0"/>
              <a:buChar char="•"/>
              <a:tabLst>
                <a:tab pos="484673" algn="l"/>
              </a:tabLst>
            </a:pPr>
            <a:r>
              <a:rPr lang="zh-CN" altLang="en-US" sz="1600" dirty="0"/>
              <a:t>缺省时，交换机收到</a:t>
            </a:r>
            <a:r>
              <a:rPr lang="en-US" altLang="zh-CN" sz="1600" dirty="0"/>
              <a:t>DHCP/ARP/DHCPv6/ND</a:t>
            </a:r>
            <a:r>
              <a:rPr lang="zh-CN" altLang="en-US" sz="1600" dirty="0"/>
              <a:t>报文后均能触发对用户进行</a:t>
            </a:r>
            <a:r>
              <a:rPr lang="en-US" altLang="zh-CN" sz="1600" dirty="0"/>
              <a:t>MAC</a:t>
            </a:r>
            <a:r>
              <a:rPr lang="zh-CN" altLang="en-US" sz="1600" dirty="0"/>
              <a:t>认证。支持通过配置，使交换机收到任意的数据帧后触发</a:t>
            </a:r>
            <a:r>
              <a:rPr lang="en-US" altLang="zh-CN" sz="1600" dirty="0"/>
              <a:t>MAC</a:t>
            </a:r>
            <a:r>
              <a:rPr lang="zh-CN" altLang="en-US" sz="1600" dirty="0"/>
              <a:t>认证。</a:t>
            </a:r>
          </a:p>
        </p:txBody>
      </p:sp>
      <p:sp>
        <p:nvSpPr>
          <p:cNvPr id="27" name="圆角矩形 75"/>
          <p:cNvSpPr/>
          <p:nvPr/>
        </p:nvSpPr>
        <p:spPr bwMode="gray">
          <a:xfrm>
            <a:off x="6140365" y="1052286"/>
            <a:ext cx="552650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简介</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五边形 27"/>
          <p:cNvSpPr/>
          <p:nvPr/>
        </p:nvSpPr>
        <p:spPr bwMode="gray">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gray">
          <a:xfrm>
            <a:off x="9510507"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30" name="燕尾形 29"/>
          <p:cNvSpPr/>
          <p:nvPr/>
        </p:nvSpPr>
        <p:spPr bwMode="gray">
          <a:xfrm>
            <a:off x="1021882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31" name="燕尾形 30"/>
          <p:cNvSpPr/>
          <p:nvPr/>
        </p:nvSpPr>
        <p:spPr bwMode="gray">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819744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MAC</a:t>
            </a:r>
            <a:r>
              <a:rPr lang="zh-CN" altLang="en-US" dirty="0"/>
              <a:t>认证配置命令 </a:t>
            </a:r>
            <a:r>
              <a:rPr lang="en-US" altLang="zh-CN" dirty="0"/>
              <a:t>(1)</a:t>
            </a:r>
            <a:endParaRPr lang="zh-CN" altLang="en-US" dirty="0"/>
          </a:p>
        </p:txBody>
      </p:sp>
      <p:sp>
        <p:nvSpPr>
          <p:cNvPr id="12" name="矩形 11">
            <a:extLst>
              <a:ext uri="{FF2B5EF4-FFF2-40B4-BE49-F238E27FC236}">
                <a16:creationId xmlns:a16="http://schemas.microsoft.com/office/drawing/2014/main" xmlns="" id="{4155CF1B-D6D5-4CBC-A7C4-3539BA1D8C49}"/>
              </a:ext>
            </a:extLst>
          </p:cNvPr>
          <p:cNvSpPr/>
          <p:nvPr/>
        </p:nvSpPr>
        <p:spPr>
          <a:xfrm>
            <a:off x="899999" y="1565637"/>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mac-access-profile name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access-profile-name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xmlns="" id="{44C4E0BA-5C90-4FB6-BCA6-99B663B19FA8}"/>
              </a:ext>
            </a:extLst>
          </p:cNvPr>
          <p:cNvSpPr/>
          <p:nvPr/>
        </p:nvSpPr>
        <p:spPr>
          <a:xfrm>
            <a:off x="455613" y="1133490"/>
            <a:ext cx="1125696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a:extLst>
              <a:ext uri="{FF2B5EF4-FFF2-40B4-BE49-F238E27FC236}">
                <a16:creationId xmlns:a16="http://schemas.microsoft.com/office/drawing/2014/main" xmlns="" id="{2683E34D-F948-4861-A2DA-5897E9554D17}"/>
              </a:ext>
            </a:extLst>
          </p:cNvPr>
          <p:cNvSpPr/>
          <p:nvPr/>
        </p:nvSpPr>
        <p:spPr>
          <a:xfrm>
            <a:off x="900000" y="1918934"/>
            <a:ext cx="10812575"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设备通过</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接入模板统一管理</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用户接入相关的配置。缺省情况下，设备自带</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个名称为</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mac_access_profile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a:extLst>
              <a:ext uri="{FF2B5EF4-FFF2-40B4-BE49-F238E27FC236}">
                <a16:creationId xmlns:a16="http://schemas.microsoft.com/office/drawing/2014/main" xmlns="" id="{4155CF1B-D6D5-4CBC-A7C4-3539BA1D8C49}"/>
              </a:ext>
            </a:extLst>
          </p:cNvPr>
          <p:cNvSpPr/>
          <p:nvPr/>
        </p:nvSpPr>
        <p:spPr>
          <a:xfrm>
            <a:off x="899999" y="3260545"/>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[Huawei-mac-access-profile-</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ProfileName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mac-authen authentication-method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chap</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pap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a:extLst>
              <a:ext uri="{FF2B5EF4-FFF2-40B4-BE49-F238E27FC236}">
                <a16:creationId xmlns:a16="http://schemas.microsoft.com/office/drawing/2014/main" xmlns="" id="{44C4E0BA-5C90-4FB6-BCA6-99B663B19FA8}"/>
              </a:ext>
            </a:extLst>
          </p:cNvPr>
          <p:cNvSpPr/>
          <p:nvPr/>
        </p:nvSpPr>
        <p:spPr>
          <a:xfrm>
            <a:off x="455613" y="2828398"/>
            <a:ext cx="1125696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认证用户的认证</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方式。</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a:extLst>
              <a:ext uri="{FF2B5EF4-FFF2-40B4-BE49-F238E27FC236}">
                <a16:creationId xmlns:a16="http://schemas.microsoft.com/office/drawing/2014/main" xmlns="" id="{2683E34D-F948-4861-A2DA-5897E9554D17}"/>
              </a:ext>
            </a:extLst>
          </p:cNvPr>
          <p:cNvSpPr/>
          <p:nvPr/>
        </p:nvSpPr>
        <p:spPr>
          <a:xfrm>
            <a:off x="900000" y="3600590"/>
            <a:ext cx="10812575"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认证用户认证方式为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认证时，接入设备和认证服务器之间通过</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RADIUS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报文进行交互，有</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CHAP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两种交互方式，</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CHAP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方式较</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方式安全性更高。</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a:extLst>
              <a:ext uri="{FF2B5EF4-FFF2-40B4-BE49-F238E27FC236}">
                <a16:creationId xmlns:a16="http://schemas.microsoft.com/office/drawing/2014/main" xmlns="" id="{4155CF1B-D6D5-4CBC-A7C4-3539BA1D8C49}"/>
              </a:ext>
            </a:extLst>
          </p:cNvPr>
          <p:cNvSpPr/>
          <p:nvPr/>
        </p:nvSpPr>
        <p:spPr>
          <a:xfrm>
            <a:off x="899999" y="4915825"/>
            <a:ext cx="10812575" cy="584775"/>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[Huawei-mac-access-profile-</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ProfileName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authentication trigger-condition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dhcpv6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nd</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any-l2-packet } </a:t>
            </a:r>
            <a:endParaRPr lang="zh-CN" altLang="en-US" sz="1600" b="1"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矩形 18">
            <a:extLst>
              <a:ext uri="{FF2B5EF4-FFF2-40B4-BE49-F238E27FC236}">
                <a16:creationId xmlns:a16="http://schemas.microsoft.com/office/drawing/2014/main" xmlns="" id="{44C4E0BA-5C90-4FB6-BCA6-99B663B19FA8}"/>
              </a:ext>
            </a:extLst>
          </p:cNvPr>
          <p:cNvSpPr/>
          <p:nvPr/>
        </p:nvSpPr>
        <p:spPr>
          <a:xfrm>
            <a:off x="455613" y="4483678"/>
            <a:ext cx="1125696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配置能够触发</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认证的报文</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类型。</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a:extLst>
              <a:ext uri="{FF2B5EF4-FFF2-40B4-BE49-F238E27FC236}">
                <a16:creationId xmlns:a16="http://schemas.microsoft.com/office/drawing/2014/main" xmlns="" id="{2683E34D-F948-4861-A2DA-5897E9554D17}"/>
              </a:ext>
            </a:extLst>
          </p:cNvPr>
          <p:cNvSpPr/>
          <p:nvPr/>
        </p:nvSpPr>
        <p:spPr>
          <a:xfrm>
            <a:off x="900000" y="5494406"/>
            <a:ext cx="10812575"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DHCP/ARP/DHCPv6/ND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报文均能够触发</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五边形 20"/>
          <p:cNvSpPr/>
          <p:nvPr/>
        </p:nvSpPr>
        <p:spPr bwMode="auto">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auto">
          <a:xfrm>
            <a:off x="9510507"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23" name="燕尾形 22"/>
          <p:cNvSpPr/>
          <p:nvPr/>
        </p:nvSpPr>
        <p:spPr bwMode="auto">
          <a:xfrm>
            <a:off x="1021882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24" name="燕尾形 23"/>
          <p:cNvSpPr/>
          <p:nvPr/>
        </p:nvSpPr>
        <p:spPr bwMode="auto">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276370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MAC</a:t>
            </a:r>
            <a:r>
              <a:rPr lang="zh-CN" altLang="en-US" dirty="0"/>
              <a:t>认证配置命令 </a:t>
            </a:r>
            <a:r>
              <a:rPr lang="en-US" altLang="zh-CN" dirty="0"/>
              <a:t>(2)</a:t>
            </a:r>
            <a:endParaRPr lang="zh-CN" altLang="en-US" dirty="0"/>
          </a:p>
        </p:txBody>
      </p:sp>
      <p:sp>
        <p:nvSpPr>
          <p:cNvPr id="12" name="矩形 11">
            <a:extLst>
              <a:ext uri="{FF2B5EF4-FFF2-40B4-BE49-F238E27FC236}">
                <a16:creationId xmlns:a16="http://schemas.microsoft.com/office/drawing/2014/main" xmlns="" id="{4155CF1B-D6D5-4CBC-A7C4-3539BA1D8C49}"/>
              </a:ext>
            </a:extLst>
          </p:cNvPr>
          <p:cNvSpPr/>
          <p:nvPr/>
        </p:nvSpPr>
        <p:spPr>
          <a:xfrm>
            <a:off x="900000" y="1565637"/>
            <a:ext cx="10812575" cy="584775"/>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[Huawei-mac-access-profile-</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ProfileName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mac-authen</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username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fixed</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username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password</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cipher</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password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macaddress</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format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with-hyphen</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without-hyphen</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password</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cipher</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password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xmlns="" id="{44C4E0BA-5C90-4FB6-BCA6-99B663B19FA8}"/>
              </a:ext>
            </a:extLst>
          </p:cNvPr>
          <p:cNvSpPr/>
          <p:nvPr/>
        </p:nvSpPr>
        <p:spPr>
          <a:xfrm>
            <a:off x="455613" y="1133490"/>
            <a:ext cx="1125696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认证用户采用的用户名</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形式。</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a:extLst>
              <a:ext uri="{FF2B5EF4-FFF2-40B4-BE49-F238E27FC236}">
                <a16:creationId xmlns:a16="http://schemas.microsoft.com/office/drawing/2014/main" xmlns="" id="{2683E34D-F948-4861-A2DA-5897E9554D17}"/>
              </a:ext>
            </a:extLst>
          </p:cNvPr>
          <p:cNvSpPr/>
          <p:nvPr/>
        </p:nvSpPr>
        <p:spPr>
          <a:xfrm>
            <a:off x="900000" y="2144220"/>
            <a:ext cx="10812575" cy="2192395"/>
          </a:xfrm>
          <a:prstGeom prst="rect">
            <a:avLst/>
          </a:prstGeom>
        </p:spPr>
        <p:txBody>
          <a:bodyPr wrap="square">
            <a:spAutoFit/>
          </a:bodyPr>
          <a:lstStyle/>
          <a:p>
            <a:pPr marL="285750" indent="-285750" fontAlgn="auto">
              <a:lnSpc>
                <a:spcPts val="2400"/>
              </a:lnSpc>
              <a:buFont typeface="Arial" panose="020B0604020202020204" pitchFamily="34" charset="0"/>
              <a:buChar char="•"/>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fixed</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username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a:t>
            </a:r>
            <a:r>
              <a:rPr lang="zh-CN" altLang="en-US" sz="1600" dirty="0"/>
              <a:t>指定</a:t>
            </a:r>
            <a:r>
              <a:rPr lang="en-US" altLang="zh-CN" sz="1600" dirty="0"/>
              <a:t>MAC</a:t>
            </a:r>
            <a:r>
              <a:rPr lang="zh-CN" altLang="en-US" sz="1600" dirty="0"/>
              <a:t>认证用户采用的用户名为固定用户名。若不设置密码则用户无需使用密码即可登录，不建议使用。</a:t>
            </a:r>
            <a:endParaRPr lang="en-US" altLang="zh-CN" sz="1600" dirty="0"/>
          </a:p>
          <a:p>
            <a:pPr marL="285750" indent="-285750" fontAlgn="auto">
              <a:lnSpc>
                <a:spcPts val="2400"/>
              </a:lnSpc>
              <a:buFont typeface="Arial" panose="020B0604020202020204" pitchFamily="34" charset="0"/>
              <a:buChar char="•"/>
            </a:pP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macaddress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参数指定</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认证用户采用的用户名为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地址。若不设置密码则用户密码即为用户的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地址。当采用本地认证时，必须配置密码</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with-hyphen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：指定</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地址带有分隔符。</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en-US" altLang="zh-CN" sz="1600" b="1" dirty="0">
                <a:latin typeface="Huawei Sans" panose="020C0503030203020204" pitchFamily="34" charset="0"/>
                <a:ea typeface="方正兰亭黑简体" panose="02000000000000000000" pitchFamily="2" charset="-122"/>
              </a:rPr>
              <a:t>without-hyphen</a:t>
            </a:r>
            <a:r>
              <a:rPr lang="zh-CN" altLang="en-US" sz="1600" dirty="0">
                <a:latin typeface="Huawei Sans" panose="020C0503030203020204" pitchFamily="34" charset="0"/>
                <a:ea typeface="方正兰亭黑简体" panose="02000000000000000000" pitchFamily="2" charset="-122"/>
              </a:rPr>
              <a:t>：指定</a:t>
            </a:r>
            <a:r>
              <a:rPr lang="en-US" altLang="zh-CN" sz="1600" dirty="0">
                <a:latin typeface="Huawei Sans" panose="020C0503030203020204" pitchFamily="34" charset="0"/>
                <a:ea typeface="方正兰亭黑简体" panose="02000000000000000000" pitchFamily="2" charset="-122"/>
              </a:rPr>
              <a:t>MAC</a:t>
            </a:r>
            <a:r>
              <a:rPr lang="zh-CN" altLang="en-US" sz="1600" dirty="0">
                <a:latin typeface="Huawei Sans" panose="020C0503030203020204" pitchFamily="34" charset="0"/>
                <a:ea typeface="方正兰亭黑简体" panose="02000000000000000000" pitchFamily="2" charset="-122"/>
              </a:rPr>
              <a:t>地址不带有分隔符。</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五边形 20"/>
          <p:cNvSpPr/>
          <p:nvPr/>
        </p:nvSpPr>
        <p:spPr bwMode="auto">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auto">
          <a:xfrm>
            <a:off x="9510507"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23" name="燕尾形 22"/>
          <p:cNvSpPr/>
          <p:nvPr/>
        </p:nvSpPr>
        <p:spPr bwMode="auto">
          <a:xfrm>
            <a:off x="1021882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24" name="燕尾形 23"/>
          <p:cNvSpPr/>
          <p:nvPr/>
        </p:nvSpPr>
        <p:spPr bwMode="auto">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713159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en-US" altLang="zh-CN" dirty="0"/>
              <a:t>Portal</a:t>
            </a:r>
            <a:r>
              <a:rPr lang="zh-CN" altLang="en-US" dirty="0"/>
              <a:t>认证概述</a:t>
            </a:r>
          </a:p>
        </p:txBody>
      </p:sp>
      <p:sp>
        <p:nvSpPr>
          <p:cNvPr id="4" name="任意多边形 3"/>
          <p:cNvSpPr/>
          <p:nvPr/>
        </p:nvSpPr>
        <p:spPr bwMode="gray">
          <a:xfrm>
            <a:off x="1009215" y="3116443"/>
            <a:ext cx="4147022" cy="2956215"/>
          </a:xfrm>
          <a:custGeom>
            <a:avLst/>
            <a:gdLst>
              <a:gd name="connsiteX0" fmla="*/ 2070230 w 4140460"/>
              <a:gd name="connsiteY0" fmla="*/ 0 h 2654826"/>
              <a:gd name="connsiteX1" fmla="*/ 2243680 w 4140460"/>
              <a:gd name="connsiteY1" fmla="*/ 241322 h 2654826"/>
              <a:gd name="connsiteX2" fmla="*/ 4059946 w 4140460"/>
              <a:gd name="connsiteY2" fmla="*/ 241322 h 2654826"/>
              <a:gd name="connsiteX3" fmla="*/ 4140460 w 4140460"/>
              <a:gd name="connsiteY3" fmla="*/ 321836 h 2654826"/>
              <a:gd name="connsiteX4" fmla="*/ 4140460 w 4140460"/>
              <a:gd name="connsiteY4" fmla="*/ 2574312 h 2654826"/>
              <a:gd name="connsiteX5" fmla="*/ 4059946 w 4140460"/>
              <a:gd name="connsiteY5" fmla="*/ 2654826 h 2654826"/>
              <a:gd name="connsiteX6" fmla="*/ 80514 w 4140460"/>
              <a:gd name="connsiteY6" fmla="*/ 2654826 h 2654826"/>
              <a:gd name="connsiteX7" fmla="*/ 0 w 4140460"/>
              <a:gd name="connsiteY7" fmla="*/ 2574312 h 2654826"/>
              <a:gd name="connsiteX8" fmla="*/ 0 w 4140460"/>
              <a:gd name="connsiteY8" fmla="*/ 321836 h 2654826"/>
              <a:gd name="connsiteX9" fmla="*/ 80514 w 4140460"/>
              <a:gd name="connsiteY9" fmla="*/ 241322 h 2654826"/>
              <a:gd name="connsiteX10" fmla="*/ 1896780 w 4140460"/>
              <a:gd name="connsiteY10" fmla="*/ 241322 h 2654826"/>
              <a:gd name="connsiteX0" fmla="*/ 2070230 w 4140460"/>
              <a:gd name="connsiteY0" fmla="*/ 0 h 2654826"/>
              <a:gd name="connsiteX1" fmla="*/ 2243680 w 4140460"/>
              <a:gd name="connsiteY1" fmla="*/ 241322 h 2654826"/>
              <a:gd name="connsiteX2" fmla="*/ 4059946 w 4140460"/>
              <a:gd name="connsiteY2" fmla="*/ 241322 h 2654826"/>
              <a:gd name="connsiteX3" fmla="*/ 4140460 w 4140460"/>
              <a:gd name="connsiteY3" fmla="*/ 321836 h 2654826"/>
              <a:gd name="connsiteX4" fmla="*/ 4140460 w 4140460"/>
              <a:gd name="connsiteY4" fmla="*/ 2574312 h 2654826"/>
              <a:gd name="connsiteX5" fmla="*/ 4059946 w 4140460"/>
              <a:gd name="connsiteY5" fmla="*/ 2654826 h 2654826"/>
              <a:gd name="connsiteX6" fmla="*/ 80514 w 4140460"/>
              <a:gd name="connsiteY6" fmla="*/ 2654826 h 2654826"/>
              <a:gd name="connsiteX7" fmla="*/ 0 w 4140460"/>
              <a:gd name="connsiteY7" fmla="*/ 2574312 h 2654826"/>
              <a:gd name="connsiteX8" fmla="*/ 0 w 4140460"/>
              <a:gd name="connsiteY8" fmla="*/ 321836 h 2654826"/>
              <a:gd name="connsiteX9" fmla="*/ 80514 w 4140460"/>
              <a:gd name="connsiteY9" fmla="*/ 241322 h 2654826"/>
              <a:gd name="connsiteX10" fmla="*/ 277374 w 4140460"/>
              <a:gd name="connsiteY10" fmla="*/ 241322 h 2654826"/>
              <a:gd name="connsiteX11" fmla="*/ 2070230 w 4140460"/>
              <a:gd name="connsiteY11" fmla="*/ 0 h 2654826"/>
              <a:gd name="connsiteX0" fmla="*/ 2070230 w 4140460"/>
              <a:gd name="connsiteY0" fmla="*/ 0 h 2654826"/>
              <a:gd name="connsiteX1" fmla="*/ 472117 w 4140460"/>
              <a:gd name="connsiteY1" fmla="*/ 251875 h 2654826"/>
              <a:gd name="connsiteX2" fmla="*/ 4059946 w 4140460"/>
              <a:gd name="connsiteY2" fmla="*/ 241322 h 2654826"/>
              <a:gd name="connsiteX3" fmla="*/ 4140460 w 4140460"/>
              <a:gd name="connsiteY3" fmla="*/ 321836 h 2654826"/>
              <a:gd name="connsiteX4" fmla="*/ 4140460 w 4140460"/>
              <a:gd name="connsiteY4" fmla="*/ 2574312 h 2654826"/>
              <a:gd name="connsiteX5" fmla="*/ 4059946 w 4140460"/>
              <a:gd name="connsiteY5" fmla="*/ 2654826 h 2654826"/>
              <a:gd name="connsiteX6" fmla="*/ 80514 w 4140460"/>
              <a:gd name="connsiteY6" fmla="*/ 2654826 h 2654826"/>
              <a:gd name="connsiteX7" fmla="*/ 0 w 4140460"/>
              <a:gd name="connsiteY7" fmla="*/ 2574312 h 2654826"/>
              <a:gd name="connsiteX8" fmla="*/ 0 w 4140460"/>
              <a:gd name="connsiteY8" fmla="*/ 321836 h 2654826"/>
              <a:gd name="connsiteX9" fmla="*/ 80514 w 4140460"/>
              <a:gd name="connsiteY9" fmla="*/ 241322 h 2654826"/>
              <a:gd name="connsiteX10" fmla="*/ 277374 w 4140460"/>
              <a:gd name="connsiteY10" fmla="*/ 241322 h 2654826"/>
              <a:gd name="connsiteX11" fmla="*/ 2070230 w 4140460"/>
              <a:gd name="connsiteY11" fmla="*/ 0 h 2654826"/>
              <a:gd name="connsiteX0" fmla="*/ 255192 w 4140460"/>
              <a:gd name="connsiteY0" fmla="*/ 0 h 2855335"/>
              <a:gd name="connsiteX1" fmla="*/ 472117 w 4140460"/>
              <a:gd name="connsiteY1" fmla="*/ 452384 h 2855335"/>
              <a:gd name="connsiteX2" fmla="*/ 4059946 w 4140460"/>
              <a:gd name="connsiteY2" fmla="*/ 441831 h 2855335"/>
              <a:gd name="connsiteX3" fmla="*/ 4140460 w 4140460"/>
              <a:gd name="connsiteY3" fmla="*/ 522345 h 2855335"/>
              <a:gd name="connsiteX4" fmla="*/ 4140460 w 4140460"/>
              <a:gd name="connsiteY4" fmla="*/ 2774821 h 2855335"/>
              <a:gd name="connsiteX5" fmla="*/ 4059946 w 4140460"/>
              <a:gd name="connsiteY5" fmla="*/ 2855335 h 2855335"/>
              <a:gd name="connsiteX6" fmla="*/ 80514 w 4140460"/>
              <a:gd name="connsiteY6" fmla="*/ 2855335 h 2855335"/>
              <a:gd name="connsiteX7" fmla="*/ 0 w 4140460"/>
              <a:gd name="connsiteY7" fmla="*/ 2774821 h 2855335"/>
              <a:gd name="connsiteX8" fmla="*/ 0 w 4140460"/>
              <a:gd name="connsiteY8" fmla="*/ 522345 h 2855335"/>
              <a:gd name="connsiteX9" fmla="*/ 80514 w 4140460"/>
              <a:gd name="connsiteY9" fmla="*/ 441831 h 2855335"/>
              <a:gd name="connsiteX10" fmla="*/ 277374 w 4140460"/>
              <a:gd name="connsiteY10" fmla="*/ 441831 h 2855335"/>
              <a:gd name="connsiteX11" fmla="*/ 255192 w 4140460"/>
              <a:gd name="connsiteY11" fmla="*/ 0 h 2855335"/>
              <a:gd name="connsiteX0" fmla="*/ 320402 w 4140460"/>
              <a:gd name="connsiteY0" fmla="*/ 0 h 2865888"/>
              <a:gd name="connsiteX1" fmla="*/ 472117 w 4140460"/>
              <a:gd name="connsiteY1" fmla="*/ 462937 h 2865888"/>
              <a:gd name="connsiteX2" fmla="*/ 4059946 w 4140460"/>
              <a:gd name="connsiteY2" fmla="*/ 452384 h 2865888"/>
              <a:gd name="connsiteX3" fmla="*/ 4140460 w 4140460"/>
              <a:gd name="connsiteY3" fmla="*/ 532898 h 2865888"/>
              <a:gd name="connsiteX4" fmla="*/ 4140460 w 4140460"/>
              <a:gd name="connsiteY4" fmla="*/ 2785374 h 2865888"/>
              <a:gd name="connsiteX5" fmla="*/ 4059946 w 4140460"/>
              <a:gd name="connsiteY5" fmla="*/ 2865888 h 2865888"/>
              <a:gd name="connsiteX6" fmla="*/ 80514 w 4140460"/>
              <a:gd name="connsiteY6" fmla="*/ 2865888 h 2865888"/>
              <a:gd name="connsiteX7" fmla="*/ 0 w 4140460"/>
              <a:gd name="connsiteY7" fmla="*/ 2785374 h 2865888"/>
              <a:gd name="connsiteX8" fmla="*/ 0 w 4140460"/>
              <a:gd name="connsiteY8" fmla="*/ 532898 h 2865888"/>
              <a:gd name="connsiteX9" fmla="*/ 80514 w 4140460"/>
              <a:gd name="connsiteY9" fmla="*/ 452384 h 2865888"/>
              <a:gd name="connsiteX10" fmla="*/ 277374 w 4140460"/>
              <a:gd name="connsiteY10" fmla="*/ 452384 h 2865888"/>
              <a:gd name="connsiteX11" fmla="*/ 320402 w 4140460"/>
              <a:gd name="connsiteY11" fmla="*/ 0 h 2865888"/>
              <a:gd name="connsiteX0" fmla="*/ 320402 w 4140460"/>
              <a:gd name="connsiteY0" fmla="*/ 0 h 2865888"/>
              <a:gd name="connsiteX1" fmla="*/ 602538 w 4140460"/>
              <a:gd name="connsiteY1" fmla="*/ 462937 h 2865888"/>
              <a:gd name="connsiteX2" fmla="*/ 4059946 w 4140460"/>
              <a:gd name="connsiteY2" fmla="*/ 452384 h 2865888"/>
              <a:gd name="connsiteX3" fmla="*/ 4140460 w 4140460"/>
              <a:gd name="connsiteY3" fmla="*/ 532898 h 2865888"/>
              <a:gd name="connsiteX4" fmla="*/ 4140460 w 4140460"/>
              <a:gd name="connsiteY4" fmla="*/ 2785374 h 2865888"/>
              <a:gd name="connsiteX5" fmla="*/ 4059946 w 4140460"/>
              <a:gd name="connsiteY5" fmla="*/ 2865888 h 2865888"/>
              <a:gd name="connsiteX6" fmla="*/ 80514 w 4140460"/>
              <a:gd name="connsiteY6" fmla="*/ 2865888 h 2865888"/>
              <a:gd name="connsiteX7" fmla="*/ 0 w 4140460"/>
              <a:gd name="connsiteY7" fmla="*/ 2785374 h 2865888"/>
              <a:gd name="connsiteX8" fmla="*/ 0 w 4140460"/>
              <a:gd name="connsiteY8" fmla="*/ 532898 h 2865888"/>
              <a:gd name="connsiteX9" fmla="*/ 80514 w 4140460"/>
              <a:gd name="connsiteY9" fmla="*/ 452384 h 2865888"/>
              <a:gd name="connsiteX10" fmla="*/ 277374 w 4140460"/>
              <a:gd name="connsiteY10" fmla="*/ 452384 h 2865888"/>
              <a:gd name="connsiteX11" fmla="*/ 320402 w 4140460"/>
              <a:gd name="connsiteY11" fmla="*/ 0 h 2865888"/>
              <a:gd name="connsiteX0" fmla="*/ 320402 w 4140460"/>
              <a:gd name="connsiteY0" fmla="*/ 0 h 2865888"/>
              <a:gd name="connsiteX1" fmla="*/ 602538 w 4140460"/>
              <a:gd name="connsiteY1" fmla="*/ 462937 h 2865888"/>
              <a:gd name="connsiteX2" fmla="*/ 4059946 w 4140460"/>
              <a:gd name="connsiteY2" fmla="*/ 452384 h 2865888"/>
              <a:gd name="connsiteX3" fmla="*/ 4140460 w 4140460"/>
              <a:gd name="connsiteY3" fmla="*/ 532898 h 2865888"/>
              <a:gd name="connsiteX4" fmla="*/ 4140460 w 4140460"/>
              <a:gd name="connsiteY4" fmla="*/ 2785374 h 2865888"/>
              <a:gd name="connsiteX5" fmla="*/ 4059946 w 4140460"/>
              <a:gd name="connsiteY5" fmla="*/ 2865888 h 2865888"/>
              <a:gd name="connsiteX6" fmla="*/ 80514 w 4140460"/>
              <a:gd name="connsiteY6" fmla="*/ 2865888 h 2865888"/>
              <a:gd name="connsiteX7" fmla="*/ 0 w 4140460"/>
              <a:gd name="connsiteY7" fmla="*/ 2785374 h 2865888"/>
              <a:gd name="connsiteX8" fmla="*/ 0 w 4140460"/>
              <a:gd name="connsiteY8" fmla="*/ 532898 h 2865888"/>
              <a:gd name="connsiteX9" fmla="*/ 80514 w 4140460"/>
              <a:gd name="connsiteY9" fmla="*/ 452384 h 2865888"/>
              <a:gd name="connsiteX10" fmla="*/ 277374 w 4140460"/>
              <a:gd name="connsiteY10" fmla="*/ 452384 h 2865888"/>
              <a:gd name="connsiteX11" fmla="*/ 320402 w 4140460"/>
              <a:gd name="connsiteY11" fmla="*/ 0 h 2865888"/>
              <a:gd name="connsiteX0" fmla="*/ 320402 w 4140460"/>
              <a:gd name="connsiteY0" fmla="*/ 0 h 2865888"/>
              <a:gd name="connsiteX1" fmla="*/ 602538 w 4140460"/>
              <a:gd name="connsiteY1" fmla="*/ 462937 h 2865888"/>
              <a:gd name="connsiteX2" fmla="*/ 4059946 w 4140460"/>
              <a:gd name="connsiteY2" fmla="*/ 452384 h 2865888"/>
              <a:gd name="connsiteX3" fmla="*/ 4140460 w 4140460"/>
              <a:gd name="connsiteY3" fmla="*/ 532898 h 2865888"/>
              <a:gd name="connsiteX4" fmla="*/ 4140460 w 4140460"/>
              <a:gd name="connsiteY4" fmla="*/ 2785374 h 2865888"/>
              <a:gd name="connsiteX5" fmla="*/ 4059946 w 4140460"/>
              <a:gd name="connsiteY5" fmla="*/ 2865888 h 2865888"/>
              <a:gd name="connsiteX6" fmla="*/ 80514 w 4140460"/>
              <a:gd name="connsiteY6" fmla="*/ 2865888 h 2865888"/>
              <a:gd name="connsiteX7" fmla="*/ 0 w 4140460"/>
              <a:gd name="connsiteY7" fmla="*/ 2785374 h 2865888"/>
              <a:gd name="connsiteX8" fmla="*/ 0 w 4140460"/>
              <a:gd name="connsiteY8" fmla="*/ 532898 h 2865888"/>
              <a:gd name="connsiteX9" fmla="*/ 80514 w 4140460"/>
              <a:gd name="connsiteY9" fmla="*/ 452384 h 2865888"/>
              <a:gd name="connsiteX10" fmla="*/ 277374 w 4140460"/>
              <a:gd name="connsiteY10" fmla="*/ 452384 h 2865888"/>
              <a:gd name="connsiteX11" fmla="*/ 320402 w 4140460"/>
              <a:gd name="connsiteY11" fmla="*/ 0 h 2865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40460" h="2865888">
                <a:moveTo>
                  <a:pt x="320402" y="0"/>
                </a:moveTo>
                <a:lnTo>
                  <a:pt x="602538" y="462937"/>
                </a:lnTo>
                <a:lnTo>
                  <a:pt x="4059946" y="452384"/>
                </a:lnTo>
                <a:cubicBezTo>
                  <a:pt x="4104413" y="452384"/>
                  <a:pt x="4140460" y="488431"/>
                  <a:pt x="4140460" y="532898"/>
                </a:cubicBezTo>
                <a:lnTo>
                  <a:pt x="4140460" y="2785374"/>
                </a:lnTo>
                <a:cubicBezTo>
                  <a:pt x="4140460" y="2829841"/>
                  <a:pt x="4104413" y="2865888"/>
                  <a:pt x="4059946" y="2865888"/>
                </a:cubicBezTo>
                <a:lnTo>
                  <a:pt x="80514" y="2865888"/>
                </a:lnTo>
                <a:cubicBezTo>
                  <a:pt x="36047" y="2865888"/>
                  <a:pt x="0" y="2829841"/>
                  <a:pt x="0" y="2785374"/>
                </a:cubicBezTo>
                <a:lnTo>
                  <a:pt x="0" y="532898"/>
                </a:lnTo>
                <a:cubicBezTo>
                  <a:pt x="0" y="488431"/>
                  <a:pt x="36047" y="452384"/>
                  <a:pt x="80514" y="452384"/>
                </a:cubicBezTo>
                <a:lnTo>
                  <a:pt x="277374" y="452384"/>
                </a:lnTo>
                <a:cubicBezTo>
                  <a:pt x="324322" y="-18522"/>
                  <a:pt x="327796" y="122652"/>
                  <a:pt x="320402" y="0"/>
                </a:cubicBezTo>
                <a:close/>
              </a:path>
            </a:pathLst>
          </a:custGeom>
          <a:solidFill>
            <a:schemeClr val="bg1">
              <a:lumMod val="85000"/>
            </a:schemeClr>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342900" indent="-342900" algn="ctr" fontAlgn="auto">
              <a:buFont typeface="+mj-lt"/>
              <a:buAutoNum type="arabicPeriod"/>
            </a:pPr>
            <a:endParaRPr lang="zh-CN" altLang="en-US" sz="1800">
              <a:latin typeface="Huawei Sans" panose="020C0503030203020204" pitchFamily="34" charset="0"/>
              <a:ea typeface="方正兰亭黑简体" panose="02000000000000000000" pitchFamily="2" charset="-122"/>
              <a:cs typeface="Courier New" panose="02070309020205020404" pitchFamily="49" charset="0"/>
            </a:endParaRPr>
          </a:p>
        </p:txBody>
      </p:sp>
      <p:cxnSp>
        <p:nvCxnSpPr>
          <p:cNvPr id="5" name="直接连接符 4"/>
          <p:cNvCxnSpPr/>
          <p:nvPr/>
        </p:nvCxnSpPr>
        <p:spPr bwMode="gray">
          <a:xfrm>
            <a:off x="3123745" y="1811853"/>
            <a:ext cx="1698" cy="7564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bwMode="gray">
          <a:xfrm>
            <a:off x="1330954" y="2610869"/>
            <a:ext cx="36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6" descr="交换机.png"/>
          <p:cNvPicPr>
            <a:picLocks noChangeAspect="1"/>
          </p:cNvPicPr>
          <p:nvPr/>
        </p:nvPicPr>
        <p:blipFill>
          <a:blip r:embed="rId3" cstate="print"/>
          <a:stretch>
            <a:fillRect/>
          </a:stretch>
        </p:blipFill>
        <p:spPr bwMode="gray">
          <a:xfrm>
            <a:off x="962933" y="2403028"/>
            <a:ext cx="539999" cy="441817"/>
          </a:xfrm>
          <a:prstGeom prst="rect">
            <a:avLst/>
          </a:prstGeom>
        </p:spPr>
      </p:pic>
      <p:pic>
        <p:nvPicPr>
          <p:cNvPr id="8" name="图片 7" descr="交换机.png"/>
          <p:cNvPicPr>
            <a:picLocks noChangeAspect="1"/>
          </p:cNvPicPr>
          <p:nvPr/>
        </p:nvPicPr>
        <p:blipFill>
          <a:blip r:embed="rId4" cstate="print"/>
          <a:stretch>
            <a:fillRect/>
          </a:stretch>
        </p:blipFill>
        <p:spPr bwMode="gray">
          <a:xfrm>
            <a:off x="2854594" y="1558585"/>
            <a:ext cx="540000" cy="441817"/>
          </a:xfrm>
          <a:prstGeom prst="rect">
            <a:avLst/>
          </a:prstGeom>
        </p:spPr>
      </p:pic>
      <p:sp>
        <p:nvSpPr>
          <p:cNvPr id="9" name="文本框 8"/>
          <p:cNvSpPr txBox="1"/>
          <p:nvPr/>
        </p:nvSpPr>
        <p:spPr bwMode="gray">
          <a:xfrm>
            <a:off x="865325" y="2855420"/>
            <a:ext cx="723275" cy="307777"/>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rPr>
              <a:t>客户端</a:t>
            </a:r>
          </a:p>
        </p:txBody>
      </p:sp>
      <p:sp>
        <p:nvSpPr>
          <p:cNvPr id="10" name="文本框 9"/>
          <p:cNvSpPr txBox="1"/>
          <p:nvPr/>
        </p:nvSpPr>
        <p:spPr bwMode="gray">
          <a:xfrm>
            <a:off x="2518499" y="1237742"/>
            <a:ext cx="1212191" cy="307777"/>
          </a:xfrm>
          <a:prstGeom prst="rect">
            <a:avLst/>
          </a:prstGeom>
          <a:noFill/>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rPr>
              <a:t>Portal</a:t>
            </a:r>
            <a:r>
              <a:rPr lang="zh-CN" altLang="en-US" sz="1400" dirty="0">
                <a:latin typeface="Huawei Sans" panose="020C0503030203020204" pitchFamily="34" charset="0"/>
                <a:ea typeface="方正兰亭黑简体" panose="02000000000000000000" pitchFamily="2" charset="-122"/>
              </a:rPr>
              <a:t>服务器</a:t>
            </a:r>
          </a:p>
        </p:txBody>
      </p:sp>
      <p:sp>
        <p:nvSpPr>
          <p:cNvPr id="11" name="文本框 10"/>
          <p:cNvSpPr txBox="1"/>
          <p:nvPr/>
        </p:nvSpPr>
        <p:spPr bwMode="gray">
          <a:xfrm>
            <a:off x="2673189" y="2886221"/>
            <a:ext cx="902811" cy="307777"/>
          </a:xfrm>
          <a:prstGeom prst="rect">
            <a:avLst/>
          </a:prstGeom>
          <a:noFill/>
        </p:spPr>
        <p:txBody>
          <a:bodyPr wrap="square" rtlCol="0">
            <a:spAutoFit/>
          </a:bodyPr>
          <a:lstStyle/>
          <a:p>
            <a:pPr algn="ctr"/>
            <a:r>
              <a:rPr lang="zh-CN" altLang="en-US" sz="1400" dirty="0">
                <a:latin typeface="Huawei Sans" panose="020C0503030203020204" pitchFamily="34" charset="0"/>
                <a:ea typeface="方正兰亭黑简体" panose="02000000000000000000" pitchFamily="2" charset="-122"/>
              </a:rPr>
              <a:t>接入设备</a:t>
            </a:r>
          </a:p>
        </p:txBody>
      </p:sp>
      <p:sp>
        <p:nvSpPr>
          <p:cNvPr id="12" name="文本框 11"/>
          <p:cNvSpPr txBox="1"/>
          <p:nvPr/>
        </p:nvSpPr>
        <p:spPr bwMode="gray">
          <a:xfrm>
            <a:off x="4408730" y="2884732"/>
            <a:ext cx="1082348" cy="307777"/>
          </a:xfrm>
          <a:prstGeom prst="rect">
            <a:avLst/>
          </a:prstGeom>
          <a:noFill/>
        </p:spPr>
        <p:txBody>
          <a:bodyPr wrap="square" rtlCol="0">
            <a:spAutoFit/>
          </a:bodyPr>
          <a:lstStyle/>
          <a:p>
            <a:pPr algn="ctr"/>
            <a:r>
              <a:rPr lang="zh-CN" altLang="en-US" sz="1400" dirty="0">
                <a:latin typeface="Huawei Sans" panose="020C0503030203020204" pitchFamily="34" charset="0"/>
                <a:ea typeface="方正兰亭黑简体" panose="02000000000000000000" pitchFamily="2" charset="-122"/>
              </a:rPr>
              <a:t>认证服务器</a:t>
            </a:r>
          </a:p>
        </p:txBody>
      </p:sp>
      <p:pic>
        <p:nvPicPr>
          <p:cNvPr id="13" name="图片 12" descr="交换机.png"/>
          <p:cNvPicPr>
            <a:picLocks noChangeAspect="1"/>
          </p:cNvPicPr>
          <p:nvPr/>
        </p:nvPicPr>
        <p:blipFill>
          <a:blip r:embed="rId5" cstate="print"/>
          <a:stretch>
            <a:fillRect/>
          </a:stretch>
        </p:blipFill>
        <p:spPr bwMode="gray">
          <a:xfrm>
            <a:off x="4679905" y="2403028"/>
            <a:ext cx="539999" cy="441817"/>
          </a:xfrm>
          <a:prstGeom prst="rect">
            <a:avLst/>
          </a:prstGeom>
        </p:spPr>
      </p:pic>
      <p:pic>
        <p:nvPicPr>
          <p:cNvPr id="14" name="图片 13" descr="通用交换机.png"/>
          <p:cNvPicPr>
            <a:picLocks noChangeAspect="1"/>
          </p:cNvPicPr>
          <p:nvPr/>
        </p:nvPicPr>
        <p:blipFill>
          <a:blip r:embed="rId6" cstate="print"/>
          <a:stretch>
            <a:fillRect/>
          </a:stretch>
        </p:blipFill>
        <p:spPr bwMode="gray">
          <a:xfrm>
            <a:off x="2852789" y="2339125"/>
            <a:ext cx="540000" cy="441818"/>
          </a:xfrm>
          <a:prstGeom prst="rect">
            <a:avLst/>
          </a:prstGeom>
        </p:spPr>
      </p:pic>
      <p:pic>
        <p:nvPicPr>
          <p:cNvPr id="15" name="图片 14"/>
          <p:cNvPicPr>
            <a:picLocks noChangeAspect="1"/>
          </p:cNvPicPr>
          <p:nvPr/>
        </p:nvPicPr>
        <p:blipFill rotWithShape="1">
          <a:blip r:embed="rId7"/>
          <a:srcRect t="1031" b="6709"/>
          <a:stretch/>
        </p:blipFill>
        <p:spPr bwMode="gray">
          <a:xfrm>
            <a:off x="1330954" y="3728360"/>
            <a:ext cx="3526485" cy="2209950"/>
          </a:xfrm>
          <a:prstGeom prst="rect">
            <a:avLst/>
          </a:prstGeom>
        </p:spPr>
      </p:pic>
      <p:sp>
        <p:nvSpPr>
          <p:cNvPr id="16" name="圆角矩形 75"/>
          <p:cNvSpPr/>
          <p:nvPr/>
        </p:nvSpPr>
        <p:spPr bwMode="gray">
          <a:xfrm>
            <a:off x="6096000" y="964297"/>
            <a:ext cx="561340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rPr>
              <a:t>简介</a:t>
            </a:r>
          </a:p>
        </p:txBody>
      </p:sp>
      <p:sp>
        <p:nvSpPr>
          <p:cNvPr id="17" name="圆角矩形 75"/>
          <p:cNvSpPr/>
          <p:nvPr/>
        </p:nvSpPr>
        <p:spPr bwMode="gray">
          <a:xfrm>
            <a:off x="6096000" y="5008381"/>
            <a:ext cx="561340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rPr>
              <a:t>应用场景</a:t>
            </a:r>
          </a:p>
        </p:txBody>
      </p:sp>
      <p:sp>
        <p:nvSpPr>
          <p:cNvPr id="18" name="圆角矩形 75"/>
          <p:cNvSpPr/>
          <p:nvPr/>
        </p:nvSpPr>
        <p:spPr bwMode="gray">
          <a:xfrm>
            <a:off x="6096000" y="5410923"/>
            <a:ext cx="5613400" cy="778107"/>
          </a:xfrm>
          <a:prstGeom prst="roundRect">
            <a:avLst>
              <a:gd name="adj" fmla="val 874"/>
            </a:avLst>
          </a:prstGeom>
          <a:no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chorCtr="0"/>
          <a:lstStyle/>
          <a:p>
            <a:pPr marL="182563" indent="-182563">
              <a:lnSpc>
                <a:spcPts val="2400"/>
              </a:lnSpc>
              <a:spcAft>
                <a:spcPts val="600"/>
              </a:spcAft>
              <a:buFont typeface="Arial" panose="020B0604020202020204" pitchFamily="34" charset="0"/>
              <a:buChar char="•"/>
            </a:pP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Portal</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认证不需要安装专门的客户端软件，因此主要用于无客户端软件要求的接入场景或访客接入场景。</a:t>
            </a:r>
          </a:p>
        </p:txBody>
      </p:sp>
      <p:sp>
        <p:nvSpPr>
          <p:cNvPr id="19" name="圆角矩形 75"/>
          <p:cNvSpPr/>
          <p:nvPr/>
        </p:nvSpPr>
        <p:spPr bwMode="gray">
          <a:xfrm>
            <a:off x="6096000" y="1373923"/>
            <a:ext cx="5613400" cy="2542758"/>
          </a:xfrm>
          <a:prstGeom prst="roundRect">
            <a:avLst>
              <a:gd name="adj" fmla="val 874"/>
            </a:avLst>
          </a:prstGeom>
          <a:no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lstStyle/>
          <a:p>
            <a:pPr marL="182563" indent="-182563" fontAlgn="auto">
              <a:lnSpc>
                <a:spcPts val="2400"/>
              </a:lnSpc>
              <a:spcAft>
                <a:spcPts val="600"/>
              </a:spcAft>
              <a:buFont typeface="Arial" panose="020B0604020202020204" pitchFamily="34" charset="0"/>
              <a:buChar char="•"/>
            </a:pP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Portal</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认证也称为</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Web</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认证。用户可以通过</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Web</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认证页面，输入用户帐号和密码信息，实现对终端用户身份的认证。</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endParaRPr>
          </a:p>
          <a:p>
            <a:pPr marL="182563" indent="-182563" fontAlgn="auto">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用户可通过两种方式实现认证页面访问：</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endParaRPr>
          </a:p>
          <a:p>
            <a:pPr marL="573750" lvl="1" indent="-285750">
              <a:lnSpc>
                <a:spcPts val="2400"/>
              </a:lnSpc>
              <a:spcAft>
                <a:spcPts val="600"/>
              </a:spcAft>
              <a:buSzPct val="50000"/>
              <a:buFont typeface="Wingdings" panose="05000000000000000000" pitchFamily="2" charset="2"/>
              <a:buChar char="p"/>
            </a:pPr>
            <a:r>
              <a:rPr lang="zh-CN" altLang="en-US" sz="1600" dirty="0">
                <a:solidFill>
                  <a:srgbClr val="C7000B"/>
                </a:solidFill>
              </a:rPr>
              <a:t>主动认证</a:t>
            </a:r>
            <a:r>
              <a:rPr lang="zh-CN" altLang="en-US" sz="1600" dirty="0">
                <a:solidFill>
                  <a:schemeClr val="tx1"/>
                </a:solidFill>
              </a:rPr>
              <a:t>：用户通过浏览器主动访问</a:t>
            </a:r>
            <a:r>
              <a:rPr lang="en-US" altLang="zh-CN" sz="1600" dirty="0">
                <a:solidFill>
                  <a:schemeClr val="tx1"/>
                </a:solidFill>
              </a:rPr>
              <a:t>Portal</a:t>
            </a:r>
            <a:r>
              <a:rPr lang="zh-CN" altLang="en-US" sz="1600" dirty="0">
                <a:solidFill>
                  <a:schemeClr val="tx1"/>
                </a:solidFill>
              </a:rPr>
              <a:t>认证网站。</a:t>
            </a:r>
          </a:p>
          <a:p>
            <a:pPr marL="573750" lvl="1" indent="-285750">
              <a:lnSpc>
                <a:spcPts val="2400"/>
              </a:lnSpc>
              <a:spcAft>
                <a:spcPts val="600"/>
              </a:spcAft>
              <a:buSzPct val="50000"/>
              <a:buFont typeface="Wingdings" panose="05000000000000000000" pitchFamily="2" charset="2"/>
              <a:buChar char="p"/>
            </a:pPr>
            <a:r>
              <a:rPr lang="zh-CN" altLang="en-US" sz="1600" dirty="0">
                <a:solidFill>
                  <a:srgbClr val="C7000B"/>
                </a:solidFill>
              </a:rPr>
              <a:t>重定向认证</a:t>
            </a:r>
            <a:r>
              <a:rPr lang="zh-CN" altLang="en-US" sz="1600" dirty="0">
                <a:solidFill>
                  <a:schemeClr val="tx1"/>
                </a:solidFill>
              </a:rPr>
              <a:t>：用户输入的访问地址不是</a:t>
            </a:r>
            <a:r>
              <a:rPr lang="en-US" altLang="zh-CN" sz="1600" dirty="0">
                <a:solidFill>
                  <a:schemeClr val="tx1"/>
                </a:solidFill>
              </a:rPr>
              <a:t>Portal</a:t>
            </a:r>
            <a:r>
              <a:rPr lang="zh-CN" altLang="en-US" sz="1600" dirty="0">
                <a:solidFill>
                  <a:schemeClr val="tx1"/>
                </a:solidFill>
              </a:rPr>
              <a:t>认证网站地址，被接入设备强制访问</a:t>
            </a:r>
            <a:r>
              <a:rPr lang="en-US" altLang="zh-CN" sz="1600" dirty="0">
                <a:solidFill>
                  <a:schemeClr val="tx1"/>
                </a:solidFill>
              </a:rPr>
              <a:t>Portal</a:t>
            </a:r>
            <a:r>
              <a:rPr lang="zh-CN" altLang="en-US" sz="1600" dirty="0">
                <a:solidFill>
                  <a:schemeClr val="tx1"/>
                </a:solidFill>
              </a:rPr>
              <a:t>认证网站（通常称为重定向）。</a:t>
            </a:r>
          </a:p>
        </p:txBody>
      </p:sp>
      <p:sp>
        <p:nvSpPr>
          <p:cNvPr id="22" name="圆角矩形 75"/>
          <p:cNvSpPr/>
          <p:nvPr/>
        </p:nvSpPr>
        <p:spPr bwMode="gray">
          <a:xfrm>
            <a:off x="6096000" y="4038212"/>
            <a:ext cx="561340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组网方式</a:t>
            </a:r>
          </a:p>
        </p:txBody>
      </p:sp>
      <p:sp>
        <p:nvSpPr>
          <p:cNvPr id="23" name="圆角矩形 75"/>
          <p:cNvSpPr/>
          <p:nvPr/>
        </p:nvSpPr>
        <p:spPr bwMode="gray">
          <a:xfrm>
            <a:off x="6096000" y="4440755"/>
            <a:ext cx="5613400" cy="420806"/>
          </a:xfrm>
          <a:prstGeom prst="roundRect">
            <a:avLst>
              <a:gd name="adj" fmla="val 874"/>
            </a:avLst>
          </a:prstGeom>
          <a:no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chorCtr="0"/>
          <a:lstStyle/>
          <a:p>
            <a:pPr marL="182563" indent="-182563">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包含认证客户端、接入设备、</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Portal</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服务器和认证服务器。</a:t>
            </a:r>
          </a:p>
        </p:txBody>
      </p:sp>
      <p:sp>
        <p:nvSpPr>
          <p:cNvPr id="24" name="五边形 23"/>
          <p:cNvSpPr/>
          <p:nvPr/>
        </p:nvSpPr>
        <p:spPr bwMode="gray">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26" name="燕尾形 25"/>
          <p:cNvSpPr/>
          <p:nvPr/>
        </p:nvSpPr>
        <p:spPr bwMode="gray">
          <a:xfrm>
            <a:off x="10218826"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27" name="燕尾形 26"/>
          <p:cNvSpPr/>
          <p:nvPr/>
        </p:nvSpPr>
        <p:spPr bwMode="gray">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83869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descr="通用交换机.png"/>
          <p:cNvPicPr>
            <a:picLocks noChangeAspect="1"/>
          </p:cNvPicPr>
          <p:nvPr/>
        </p:nvPicPr>
        <p:blipFill>
          <a:blip r:embed="rId3" cstate="print"/>
          <a:stretch>
            <a:fillRect/>
          </a:stretch>
        </p:blipFill>
        <p:spPr bwMode="gray">
          <a:xfrm>
            <a:off x="3801831" y="1525761"/>
            <a:ext cx="540000" cy="441818"/>
          </a:xfrm>
          <a:prstGeom prst="rect">
            <a:avLst/>
          </a:prstGeom>
        </p:spPr>
      </p:pic>
      <p:sp>
        <p:nvSpPr>
          <p:cNvPr id="3" name="圆角矩形 2"/>
          <p:cNvSpPr/>
          <p:nvPr/>
        </p:nvSpPr>
        <p:spPr bwMode="gray">
          <a:xfrm>
            <a:off x="640167" y="5061080"/>
            <a:ext cx="5281964" cy="987139"/>
          </a:xfrm>
          <a:prstGeom prst="roundRect">
            <a:avLst>
              <a:gd name="adj" fmla="val 7929"/>
            </a:avLst>
          </a:prstGeom>
          <a:solidFill>
            <a:schemeClr val="bg1">
              <a:lumMod val="95000"/>
            </a:schemeClr>
          </a:solidFill>
          <a:ln w="12700" cap="flat" cmpd="sng" algn="ctr">
            <a:solidFill>
              <a:schemeClr val="bg1">
                <a:lumMod val="75000"/>
              </a:schemeClr>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en-US" altLang="zh-CN" dirty="0"/>
              <a:t>Portal</a:t>
            </a:r>
            <a:r>
              <a:rPr lang="zh-CN" altLang="en-US" dirty="0"/>
              <a:t>认证流程</a:t>
            </a:r>
          </a:p>
        </p:txBody>
      </p:sp>
      <p:pic>
        <p:nvPicPr>
          <p:cNvPr id="4" name="图片 3" descr="交换机.png"/>
          <p:cNvPicPr>
            <a:picLocks noChangeAspect="1"/>
          </p:cNvPicPr>
          <p:nvPr/>
        </p:nvPicPr>
        <p:blipFill>
          <a:blip r:embed="rId4" cstate="print"/>
          <a:stretch>
            <a:fillRect/>
          </a:stretch>
        </p:blipFill>
        <p:spPr bwMode="gray">
          <a:xfrm>
            <a:off x="640166" y="1516267"/>
            <a:ext cx="539999" cy="441817"/>
          </a:xfrm>
          <a:prstGeom prst="rect">
            <a:avLst/>
          </a:prstGeom>
        </p:spPr>
      </p:pic>
      <p:sp>
        <p:nvSpPr>
          <p:cNvPr id="5" name="文本框 4"/>
          <p:cNvSpPr txBox="1"/>
          <p:nvPr/>
        </p:nvSpPr>
        <p:spPr bwMode="gray">
          <a:xfrm>
            <a:off x="542558" y="1228924"/>
            <a:ext cx="723275" cy="307777"/>
          </a:xfrm>
          <a:prstGeom prst="rect">
            <a:avLst/>
          </a:prstGeom>
          <a:noFill/>
        </p:spPr>
        <p:txBody>
          <a:bodyPr wrap="square" rtlCol="0">
            <a:spAutoFit/>
          </a:bodyPr>
          <a:lstStyle/>
          <a:p>
            <a:r>
              <a:rPr lang="zh-CN" altLang="en-US" sz="1400" dirty="0"/>
              <a:t>客户端</a:t>
            </a:r>
          </a:p>
        </p:txBody>
      </p:sp>
      <p:grpSp>
        <p:nvGrpSpPr>
          <p:cNvPr id="6" name="组合 5"/>
          <p:cNvGrpSpPr/>
          <p:nvPr/>
        </p:nvGrpSpPr>
        <p:grpSpPr bwMode="gray">
          <a:xfrm>
            <a:off x="1884724" y="1216786"/>
            <a:ext cx="1212191" cy="729160"/>
            <a:chOff x="3417499" y="1220260"/>
            <a:chExt cx="1212191" cy="729160"/>
          </a:xfrm>
        </p:grpSpPr>
        <p:pic>
          <p:nvPicPr>
            <p:cNvPr id="7" name="图片 6" descr="交换机.png"/>
            <p:cNvPicPr>
              <a:picLocks noChangeAspect="1"/>
            </p:cNvPicPr>
            <p:nvPr/>
          </p:nvPicPr>
          <p:blipFill>
            <a:blip r:embed="rId5" cstate="print"/>
            <a:stretch>
              <a:fillRect/>
            </a:stretch>
          </p:blipFill>
          <p:spPr bwMode="gray">
            <a:xfrm>
              <a:off x="3753595" y="1507603"/>
              <a:ext cx="540000" cy="441817"/>
            </a:xfrm>
            <a:prstGeom prst="rect">
              <a:avLst/>
            </a:prstGeom>
          </p:spPr>
        </p:pic>
        <p:sp>
          <p:nvSpPr>
            <p:cNvPr id="8" name="文本框 7"/>
            <p:cNvSpPr txBox="1"/>
            <p:nvPr/>
          </p:nvSpPr>
          <p:spPr bwMode="gray">
            <a:xfrm>
              <a:off x="3417499" y="1220260"/>
              <a:ext cx="1212191" cy="307777"/>
            </a:xfrm>
            <a:prstGeom prst="rect">
              <a:avLst/>
            </a:prstGeom>
            <a:noFill/>
          </p:spPr>
          <p:txBody>
            <a:bodyPr wrap="square" rtlCol="0">
              <a:spAutoFit/>
            </a:bodyPr>
            <a:lstStyle/>
            <a:p>
              <a:pPr algn="ctr"/>
              <a:r>
                <a:rPr lang="en-US" altLang="zh-CN" sz="1400" dirty="0"/>
                <a:t>Portal</a:t>
              </a:r>
              <a:r>
                <a:rPr lang="zh-CN" altLang="en-US" sz="1400" dirty="0"/>
                <a:t>服务器</a:t>
              </a:r>
            </a:p>
          </p:txBody>
        </p:sp>
      </p:grpSp>
      <p:sp>
        <p:nvSpPr>
          <p:cNvPr id="9" name="文本框 8"/>
          <p:cNvSpPr txBox="1"/>
          <p:nvPr/>
        </p:nvSpPr>
        <p:spPr bwMode="gray">
          <a:xfrm>
            <a:off x="3621152" y="1216786"/>
            <a:ext cx="902811" cy="307777"/>
          </a:xfrm>
          <a:prstGeom prst="rect">
            <a:avLst/>
          </a:prstGeom>
          <a:noFill/>
        </p:spPr>
        <p:txBody>
          <a:bodyPr wrap="square" rtlCol="0">
            <a:spAutoFit/>
          </a:bodyPr>
          <a:lstStyle/>
          <a:p>
            <a:pPr algn="ctr"/>
            <a:r>
              <a:rPr lang="zh-CN" altLang="en-US" sz="1400" dirty="0"/>
              <a:t>接入设备</a:t>
            </a:r>
          </a:p>
        </p:txBody>
      </p:sp>
      <p:sp>
        <p:nvSpPr>
          <p:cNvPr id="10" name="文本框 9"/>
          <p:cNvSpPr txBox="1"/>
          <p:nvPr/>
        </p:nvSpPr>
        <p:spPr bwMode="gray">
          <a:xfrm>
            <a:off x="5110956" y="1228924"/>
            <a:ext cx="1082348" cy="307777"/>
          </a:xfrm>
          <a:prstGeom prst="rect">
            <a:avLst/>
          </a:prstGeom>
          <a:noFill/>
        </p:spPr>
        <p:txBody>
          <a:bodyPr wrap="square" rtlCol="0">
            <a:spAutoFit/>
          </a:bodyPr>
          <a:lstStyle/>
          <a:p>
            <a:pPr algn="ctr"/>
            <a:r>
              <a:rPr lang="zh-CN" altLang="en-US" sz="1400" dirty="0"/>
              <a:t>认证服务器</a:t>
            </a:r>
          </a:p>
        </p:txBody>
      </p:sp>
      <p:pic>
        <p:nvPicPr>
          <p:cNvPr id="11" name="图片 10" descr="交换机.png"/>
          <p:cNvPicPr>
            <a:picLocks noChangeAspect="1"/>
          </p:cNvPicPr>
          <p:nvPr/>
        </p:nvPicPr>
        <p:blipFill>
          <a:blip r:embed="rId6" cstate="print"/>
          <a:stretch>
            <a:fillRect/>
          </a:stretch>
        </p:blipFill>
        <p:spPr bwMode="gray">
          <a:xfrm>
            <a:off x="5382131" y="1516267"/>
            <a:ext cx="539999" cy="441817"/>
          </a:xfrm>
          <a:prstGeom prst="rect">
            <a:avLst/>
          </a:prstGeom>
        </p:spPr>
      </p:pic>
      <p:grpSp>
        <p:nvGrpSpPr>
          <p:cNvPr id="12" name="组合 11"/>
          <p:cNvGrpSpPr/>
          <p:nvPr/>
        </p:nvGrpSpPr>
        <p:grpSpPr bwMode="gray">
          <a:xfrm>
            <a:off x="879893" y="2110733"/>
            <a:ext cx="4769555" cy="3937487"/>
            <a:chOff x="832013" y="2102069"/>
            <a:chExt cx="4769555" cy="4118400"/>
          </a:xfrm>
        </p:grpSpPr>
        <p:cxnSp>
          <p:nvCxnSpPr>
            <p:cNvPr id="13" name="直接连接符 12"/>
            <p:cNvCxnSpPr/>
            <p:nvPr/>
          </p:nvCxnSpPr>
          <p:spPr bwMode="gray">
            <a:xfrm>
              <a:off x="832013" y="2102069"/>
              <a:ext cx="0" cy="4118400"/>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14" name="直接连接符 13"/>
            <p:cNvCxnSpPr/>
            <p:nvPr/>
          </p:nvCxnSpPr>
          <p:spPr bwMode="gray">
            <a:xfrm>
              <a:off x="2418101" y="2102069"/>
              <a:ext cx="0" cy="4118400"/>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15" name="直接连接符 14"/>
            <p:cNvCxnSpPr/>
            <p:nvPr/>
          </p:nvCxnSpPr>
          <p:spPr bwMode="gray">
            <a:xfrm>
              <a:off x="4026768" y="2102069"/>
              <a:ext cx="0" cy="4118400"/>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16" name="直接连接符 15"/>
            <p:cNvCxnSpPr/>
            <p:nvPr/>
          </p:nvCxnSpPr>
          <p:spPr bwMode="gray">
            <a:xfrm>
              <a:off x="5601568" y="2102069"/>
              <a:ext cx="0" cy="4118400"/>
            </a:xfrm>
            <a:prstGeom prst="line">
              <a:avLst/>
            </a:prstGeom>
            <a:noFill/>
            <a:ln w="19050" cap="flat" cmpd="sng" algn="ctr">
              <a:solidFill>
                <a:schemeClr val="bg1">
                  <a:lumMod val="75000"/>
                </a:schemeClr>
              </a:solidFill>
              <a:prstDash val="sysDot"/>
              <a:round/>
              <a:headEnd type="none" w="med" len="med"/>
              <a:tailEnd type="none" w="med" len="med"/>
            </a:ln>
            <a:effectLst/>
          </p:spPr>
        </p:cxnSp>
      </p:grpSp>
      <p:cxnSp>
        <p:nvCxnSpPr>
          <p:cNvPr id="17" name="直接箭头连接符 16">
            <a:extLst>
              <a:ext uri="{FF2B5EF4-FFF2-40B4-BE49-F238E27FC236}">
                <a16:creationId xmlns:a16="http://schemas.microsoft.com/office/drawing/2014/main" xmlns="" id="{7D2A6B36-0425-4AF5-8615-B057DC5231D8}"/>
              </a:ext>
            </a:extLst>
          </p:cNvPr>
          <p:cNvCxnSpPr/>
          <p:nvPr/>
        </p:nvCxnSpPr>
        <p:spPr bwMode="gray">
          <a:xfrm>
            <a:off x="937526" y="2523369"/>
            <a:ext cx="3027598" cy="0"/>
          </a:xfrm>
          <a:prstGeom prst="straightConnector1">
            <a:avLst/>
          </a:prstGeom>
          <a:noFill/>
          <a:ln w="12700" cap="flat" cmpd="sng" algn="ctr">
            <a:solidFill>
              <a:schemeClr val="tx1"/>
            </a:solidFill>
            <a:prstDash val="solid"/>
            <a:round/>
            <a:headEnd type="none" w="med" len="med"/>
            <a:tailEnd type="triangle"/>
          </a:ln>
          <a:effectLst/>
        </p:spPr>
      </p:cxnSp>
      <p:sp>
        <p:nvSpPr>
          <p:cNvPr id="18" name="文本框 17"/>
          <p:cNvSpPr txBox="1"/>
          <p:nvPr/>
        </p:nvSpPr>
        <p:spPr bwMode="gray">
          <a:xfrm>
            <a:off x="879893" y="2233129"/>
            <a:ext cx="2460930" cy="276999"/>
          </a:xfrm>
          <a:prstGeom prst="rect">
            <a:avLst/>
          </a:prstGeom>
          <a:noFill/>
        </p:spPr>
        <p:txBody>
          <a:bodyPr wrap="none" rtlCol="0">
            <a:spAutoFit/>
          </a:bodyPr>
          <a:lstStyle/>
          <a:p>
            <a:r>
              <a:rPr lang="en-US" altLang="zh-CN" sz="1200" dirty="0"/>
              <a:t>1.</a:t>
            </a:r>
            <a:r>
              <a:rPr lang="zh-CN" altLang="en-US" sz="1200" dirty="0"/>
              <a:t>建立</a:t>
            </a:r>
            <a:r>
              <a:rPr lang="zh-CN" altLang="en-US" sz="1200" dirty="0" smtClean="0"/>
              <a:t>预</a:t>
            </a:r>
            <a:r>
              <a:rPr lang="zh-CN" altLang="en-US" sz="1200" dirty="0"/>
              <a:t>连接</a:t>
            </a:r>
            <a:r>
              <a:rPr lang="zh-CN" altLang="en-US" sz="1200" dirty="0" smtClean="0"/>
              <a:t>（</a:t>
            </a:r>
            <a:r>
              <a:rPr lang="zh-CN" altLang="en-US" sz="1200" dirty="0"/>
              <a:t>仅二层组网需要）</a:t>
            </a:r>
          </a:p>
        </p:txBody>
      </p:sp>
      <p:cxnSp>
        <p:nvCxnSpPr>
          <p:cNvPr id="19" name="直接箭头连接符 18">
            <a:extLst>
              <a:ext uri="{FF2B5EF4-FFF2-40B4-BE49-F238E27FC236}">
                <a16:creationId xmlns:a16="http://schemas.microsoft.com/office/drawing/2014/main" xmlns="" id="{7D2A6B36-0425-4AF5-8615-B057DC5231D8}"/>
              </a:ext>
            </a:extLst>
          </p:cNvPr>
          <p:cNvCxnSpPr/>
          <p:nvPr/>
        </p:nvCxnSpPr>
        <p:spPr bwMode="gray">
          <a:xfrm>
            <a:off x="940537" y="2944752"/>
            <a:ext cx="3024587" cy="0"/>
          </a:xfrm>
          <a:prstGeom prst="straightConnector1">
            <a:avLst/>
          </a:prstGeom>
          <a:noFill/>
          <a:ln w="12700" cap="flat" cmpd="sng" algn="ctr">
            <a:solidFill>
              <a:schemeClr val="tx1"/>
            </a:solidFill>
            <a:prstDash val="solid"/>
            <a:round/>
            <a:headEnd type="none" w="med" len="med"/>
            <a:tailEnd type="triangle"/>
          </a:ln>
          <a:effectLst/>
        </p:spPr>
      </p:cxnSp>
      <p:sp>
        <p:nvSpPr>
          <p:cNvPr id="20" name="文本框 19"/>
          <p:cNvSpPr txBox="1"/>
          <p:nvPr/>
        </p:nvSpPr>
        <p:spPr bwMode="gray">
          <a:xfrm>
            <a:off x="875510" y="2654511"/>
            <a:ext cx="1300356" cy="276999"/>
          </a:xfrm>
          <a:prstGeom prst="rect">
            <a:avLst/>
          </a:prstGeom>
          <a:noFill/>
        </p:spPr>
        <p:txBody>
          <a:bodyPr wrap="none" rtlCol="0">
            <a:spAutoFit/>
          </a:bodyPr>
          <a:lstStyle/>
          <a:p>
            <a:r>
              <a:rPr lang="en-US" altLang="zh-CN" sz="1200" dirty="0"/>
              <a:t>2.HTTP</a:t>
            </a:r>
            <a:r>
              <a:rPr lang="zh-CN" altLang="en-US" sz="1200" dirty="0"/>
              <a:t>连接请求</a:t>
            </a:r>
          </a:p>
        </p:txBody>
      </p:sp>
      <p:cxnSp>
        <p:nvCxnSpPr>
          <p:cNvPr id="21" name="直接箭头连接符 20">
            <a:extLst>
              <a:ext uri="{FF2B5EF4-FFF2-40B4-BE49-F238E27FC236}">
                <a16:creationId xmlns:a16="http://schemas.microsoft.com/office/drawing/2014/main" xmlns="" id="{7D2A6B36-0425-4AF5-8615-B057DC5231D8}"/>
              </a:ext>
            </a:extLst>
          </p:cNvPr>
          <p:cNvCxnSpPr/>
          <p:nvPr/>
        </p:nvCxnSpPr>
        <p:spPr bwMode="gray">
          <a:xfrm>
            <a:off x="953687" y="3379375"/>
            <a:ext cx="3024587" cy="0"/>
          </a:xfrm>
          <a:prstGeom prst="straightConnector1">
            <a:avLst/>
          </a:prstGeom>
          <a:noFill/>
          <a:ln w="12700" cap="flat" cmpd="sng" algn="ctr">
            <a:solidFill>
              <a:schemeClr val="tx1"/>
            </a:solidFill>
            <a:prstDash val="solid"/>
            <a:round/>
            <a:headEnd type="triangle" w="med" len="med"/>
            <a:tailEnd type="none"/>
          </a:ln>
          <a:effectLst/>
        </p:spPr>
      </p:cxnSp>
      <p:sp>
        <p:nvSpPr>
          <p:cNvPr id="22" name="文本框 21"/>
          <p:cNvSpPr txBox="1"/>
          <p:nvPr/>
        </p:nvSpPr>
        <p:spPr bwMode="gray">
          <a:xfrm>
            <a:off x="1884725" y="3083910"/>
            <a:ext cx="2189924" cy="276999"/>
          </a:xfrm>
          <a:prstGeom prst="rect">
            <a:avLst/>
          </a:prstGeom>
          <a:noFill/>
        </p:spPr>
        <p:txBody>
          <a:bodyPr wrap="square" rtlCol="0">
            <a:spAutoFit/>
          </a:bodyPr>
          <a:lstStyle/>
          <a:p>
            <a:pPr algn="ctr"/>
            <a:r>
              <a:rPr lang="en-US" altLang="zh-CN" sz="1200" dirty="0"/>
              <a:t>3.HTTP</a:t>
            </a:r>
            <a:r>
              <a:rPr lang="zh-CN" altLang="en-US" sz="1200" dirty="0"/>
              <a:t>重定向到</a:t>
            </a:r>
            <a:r>
              <a:rPr lang="en-US" altLang="zh-CN" sz="1200" dirty="0"/>
              <a:t>Portal</a:t>
            </a:r>
            <a:r>
              <a:rPr lang="zh-CN" altLang="en-US" sz="1200" dirty="0"/>
              <a:t>服务器</a:t>
            </a:r>
          </a:p>
        </p:txBody>
      </p:sp>
      <p:cxnSp>
        <p:nvCxnSpPr>
          <p:cNvPr id="23" name="直接箭头连接符 22">
            <a:extLst>
              <a:ext uri="{FF2B5EF4-FFF2-40B4-BE49-F238E27FC236}">
                <a16:creationId xmlns:a16="http://schemas.microsoft.com/office/drawing/2014/main" xmlns="" id="{7D2A6B36-0425-4AF5-8615-B057DC5231D8}"/>
              </a:ext>
            </a:extLst>
          </p:cNvPr>
          <p:cNvCxnSpPr/>
          <p:nvPr/>
        </p:nvCxnSpPr>
        <p:spPr bwMode="gray">
          <a:xfrm>
            <a:off x="944920" y="3774486"/>
            <a:ext cx="1417182" cy="0"/>
          </a:xfrm>
          <a:prstGeom prst="straightConnector1">
            <a:avLst/>
          </a:prstGeom>
          <a:noFill/>
          <a:ln w="12700" cap="flat" cmpd="sng" algn="ctr">
            <a:solidFill>
              <a:schemeClr val="tx1"/>
            </a:solidFill>
            <a:prstDash val="solid"/>
            <a:round/>
            <a:headEnd type="none" w="med" len="med"/>
            <a:tailEnd type="triangle"/>
          </a:ln>
          <a:effectLst/>
        </p:spPr>
      </p:cxnSp>
      <p:sp>
        <p:nvSpPr>
          <p:cNvPr id="24" name="文本框 23"/>
          <p:cNvSpPr txBox="1"/>
          <p:nvPr/>
        </p:nvSpPr>
        <p:spPr bwMode="gray">
          <a:xfrm>
            <a:off x="879893" y="3484245"/>
            <a:ext cx="1300356" cy="276999"/>
          </a:xfrm>
          <a:prstGeom prst="rect">
            <a:avLst/>
          </a:prstGeom>
          <a:noFill/>
        </p:spPr>
        <p:txBody>
          <a:bodyPr wrap="none" rtlCol="0">
            <a:spAutoFit/>
          </a:bodyPr>
          <a:lstStyle/>
          <a:p>
            <a:r>
              <a:rPr lang="en-US" altLang="zh-CN" sz="1200" dirty="0"/>
              <a:t>4.HTTP</a:t>
            </a:r>
            <a:r>
              <a:rPr lang="zh-CN" altLang="en-US" sz="1200" dirty="0"/>
              <a:t>连接请求</a:t>
            </a:r>
          </a:p>
        </p:txBody>
      </p:sp>
      <p:cxnSp>
        <p:nvCxnSpPr>
          <p:cNvPr id="25" name="直接箭头连接符 24">
            <a:extLst>
              <a:ext uri="{FF2B5EF4-FFF2-40B4-BE49-F238E27FC236}">
                <a16:creationId xmlns:a16="http://schemas.microsoft.com/office/drawing/2014/main" xmlns="" id="{7D2A6B36-0425-4AF5-8615-B057DC5231D8}"/>
              </a:ext>
            </a:extLst>
          </p:cNvPr>
          <p:cNvCxnSpPr/>
          <p:nvPr/>
        </p:nvCxnSpPr>
        <p:spPr bwMode="gray">
          <a:xfrm>
            <a:off x="944920" y="4135072"/>
            <a:ext cx="1430827" cy="0"/>
          </a:xfrm>
          <a:prstGeom prst="straightConnector1">
            <a:avLst/>
          </a:prstGeom>
          <a:noFill/>
          <a:ln w="12700" cap="flat" cmpd="sng" algn="ctr">
            <a:solidFill>
              <a:schemeClr val="tx1"/>
            </a:solidFill>
            <a:prstDash val="solid"/>
            <a:round/>
            <a:headEnd type="triangle" w="med" len="med"/>
            <a:tailEnd type="none"/>
          </a:ln>
          <a:effectLst/>
        </p:spPr>
      </p:cxnSp>
      <p:sp>
        <p:nvSpPr>
          <p:cNvPr id="26" name="文本框 25"/>
          <p:cNvSpPr txBox="1"/>
          <p:nvPr/>
        </p:nvSpPr>
        <p:spPr bwMode="gray">
          <a:xfrm>
            <a:off x="989418" y="3844831"/>
            <a:ext cx="1482209" cy="276999"/>
          </a:xfrm>
          <a:prstGeom prst="rect">
            <a:avLst/>
          </a:prstGeom>
          <a:noFill/>
        </p:spPr>
        <p:txBody>
          <a:bodyPr wrap="square" rtlCol="0">
            <a:spAutoFit/>
          </a:bodyPr>
          <a:lstStyle/>
          <a:p>
            <a:pPr algn="r"/>
            <a:r>
              <a:rPr lang="en-US" altLang="zh-CN" sz="1200" dirty="0"/>
              <a:t>5.</a:t>
            </a:r>
            <a:r>
              <a:rPr lang="zh-CN" altLang="en-US" sz="1200" dirty="0"/>
              <a:t>返回</a:t>
            </a:r>
            <a:r>
              <a:rPr lang="en-US" altLang="zh-CN" sz="1200" dirty="0"/>
              <a:t>Portal</a:t>
            </a:r>
            <a:r>
              <a:rPr lang="zh-CN" altLang="en-US" sz="1200" dirty="0"/>
              <a:t>页面</a:t>
            </a:r>
          </a:p>
        </p:txBody>
      </p:sp>
      <p:cxnSp>
        <p:nvCxnSpPr>
          <p:cNvPr id="27" name="直接箭头连接符 26">
            <a:extLst>
              <a:ext uri="{FF2B5EF4-FFF2-40B4-BE49-F238E27FC236}">
                <a16:creationId xmlns:a16="http://schemas.microsoft.com/office/drawing/2014/main" xmlns="" id="{7D2A6B36-0425-4AF5-8615-B057DC5231D8}"/>
              </a:ext>
            </a:extLst>
          </p:cNvPr>
          <p:cNvCxnSpPr/>
          <p:nvPr/>
        </p:nvCxnSpPr>
        <p:spPr bwMode="gray">
          <a:xfrm>
            <a:off x="923659" y="4521588"/>
            <a:ext cx="1430827" cy="0"/>
          </a:xfrm>
          <a:prstGeom prst="straightConnector1">
            <a:avLst/>
          </a:prstGeom>
          <a:noFill/>
          <a:ln w="12700" cap="flat" cmpd="sng" algn="ctr">
            <a:solidFill>
              <a:schemeClr val="tx1"/>
            </a:solidFill>
            <a:prstDash val="solid"/>
            <a:round/>
            <a:headEnd type="none" w="med" len="med"/>
            <a:tailEnd type="triangle"/>
          </a:ln>
          <a:effectLst/>
        </p:spPr>
      </p:cxnSp>
      <p:sp>
        <p:nvSpPr>
          <p:cNvPr id="28" name="文本框 27"/>
          <p:cNvSpPr txBox="1"/>
          <p:nvPr/>
        </p:nvSpPr>
        <p:spPr bwMode="gray">
          <a:xfrm>
            <a:off x="858631" y="4231347"/>
            <a:ext cx="1482209" cy="276999"/>
          </a:xfrm>
          <a:prstGeom prst="rect">
            <a:avLst/>
          </a:prstGeom>
          <a:noFill/>
        </p:spPr>
        <p:txBody>
          <a:bodyPr wrap="square" rtlCol="0">
            <a:spAutoFit/>
          </a:bodyPr>
          <a:lstStyle/>
          <a:p>
            <a:r>
              <a:rPr lang="en-US" altLang="zh-CN" sz="1200" dirty="0"/>
              <a:t>6.Portal</a:t>
            </a:r>
            <a:r>
              <a:rPr lang="zh-CN" altLang="en-US" sz="1200" dirty="0"/>
              <a:t>认证请求</a:t>
            </a:r>
          </a:p>
        </p:txBody>
      </p:sp>
      <p:sp>
        <p:nvSpPr>
          <p:cNvPr id="29" name="文本框 28"/>
          <p:cNvSpPr txBox="1"/>
          <p:nvPr/>
        </p:nvSpPr>
        <p:spPr bwMode="gray">
          <a:xfrm>
            <a:off x="1956646" y="5090832"/>
            <a:ext cx="2649006" cy="276999"/>
          </a:xfrm>
          <a:prstGeom prst="rect">
            <a:avLst/>
          </a:prstGeom>
          <a:noFill/>
        </p:spPr>
        <p:txBody>
          <a:bodyPr wrap="square" rtlCol="0">
            <a:spAutoFit/>
          </a:bodyPr>
          <a:lstStyle/>
          <a:p>
            <a:pPr algn="ctr"/>
            <a:r>
              <a:rPr lang="zh-CN" altLang="en-US" sz="1200" dirty="0">
                <a:solidFill>
                  <a:schemeClr val="bg1">
                    <a:lumMod val="50000"/>
                  </a:schemeClr>
                </a:solidFill>
              </a:rPr>
              <a:t>基于</a:t>
            </a:r>
            <a:r>
              <a:rPr lang="en-US" altLang="zh-CN" sz="1200" dirty="0">
                <a:solidFill>
                  <a:schemeClr val="bg1">
                    <a:lumMod val="50000"/>
                  </a:schemeClr>
                </a:solidFill>
              </a:rPr>
              <a:t>Portal</a:t>
            </a:r>
            <a:r>
              <a:rPr lang="zh-CN" altLang="en-US" sz="1200" dirty="0">
                <a:solidFill>
                  <a:schemeClr val="bg1">
                    <a:lumMod val="50000"/>
                  </a:schemeClr>
                </a:solidFill>
              </a:rPr>
              <a:t>协议的</a:t>
            </a:r>
            <a:r>
              <a:rPr lang="en-US" altLang="zh-CN" sz="1200" dirty="0">
                <a:solidFill>
                  <a:schemeClr val="bg1">
                    <a:lumMod val="50000"/>
                  </a:schemeClr>
                </a:solidFill>
              </a:rPr>
              <a:t>Portal</a:t>
            </a:r>
            <a:r>
              <a:rPr lang="zh-CN" altLang="en-US" sz="1200" dirty="0">
                <a:solidFill>
                  <a:schemeClr val="bg1">
                    <a:lumMod val="50000"/>
                  </a:schemeClr>
                </a:solidFill>
              </a:rPr>
              <a:t>认证</a:t>
            </a:r>
          </a:p>
        </p:txBody>
      </p:sp>
      <p:sp>
        <p:nvSpPr>
          <p:cNvPr id="30" name="文本框 29"/>
          <p:cNvSpPr txBox="1"/>
          <p:nvPr/>
        </p:nvSpPr>
        <p:spPr bwMode="gray">
          <a:xfrm>
            <a:off x="759856" y="5550106"/>
            <a:ext cx="3379363" cy="276999"/>
          </a:xfrm>
          <a:prstGeom prst="rect">
            <a:avLst/>
          </a:prstGeom>
          <a:noFill/>
        </p:spPr>
        <p:txBody>
          <a:bodyPr wrap="square" rtlCol="0">
            <a:spAutoFit/>
          </a:bodyPr>
          <a:lstStyle/>
          <a:p>
            <a:pPr algn="ctr"/>
            <a:r>
              <a:rPr lang="zh-CN" altLang="en-US" sz="1200" dirty="0">
                <a:solidFill>
                  <a:schemeClr val="bg1">
                    <a:lumMod val="50000"/>
                  </a:schemeClr>
                </a:solidFill>
              </a:rPr>
              <a:t>基于</a:t>
            </a:r>
            <a:r>
              <a:rPr lang="en-US" altLang="zh-CN" sz="1200" dirty="0">
                <a:solidFill>
                  <a:schemeClr val="bg1">
                    <a:lumMod val="50000"/>
                  </a:schemeClr>
                </a:solidFill>
              </a:rPr>
              <a:t>HTTP/HTTPS</a:t>
            </a:r>
            <a:r>
              <a:rPr lang="zh-CN" altLang="en-US" sz="1200" dirty="0">
                <a:solidFill>
                  <a:schemeClr val="bg1">
                    <a:lumMod val="50000"/>
                  </a:schemeClr>
                </a:solidFill>
              </a:rPr>
              <a:t>协议的</a:t>
            </a:r>
            <a:r>
              <a:rPr lang="en-US" altLang="zh-CN" sz="1200" dirty="0">
                <a:solidFill>
                  <a:schemeClr val="bg1">
                    <a:lumMod val="50000"/>
                  </a:schemeClr>
                </a:solidFill>
              </a:rPr>
              <a:t>Portal</a:t>
            </a:r>
            <a:r>
              <a:rPr lang="zh-CN" altLang="en-US" sz="1200" dirty="0">
                <a:solidFill>
                  <a:schemeClr val="bg1">
                    <a:lumMod val="50000"/>
                  </a:schemeClr>
                </a:solidFill>
              </a:rPr>
              <a:t>认证</a:t>
            </a:r>
          </a:p>
        </p:txBody>
      </p:sp>
      <p:sp>
        <p:nvSpPr>
          <p:cNvPr id="31" name="文本框 30"/>
          <p:cNvSpPr txBox="1"/>
          <p:nvPr/>
        </p:nvSpPr>
        <p:spPr bwMode="gray">
          <a:xfrm>
            <a:off x="2528037" y="4748579"/>
            <a:ext cx="1691489" cy="276999"/>
          </a:xfrm>
          <a:prstGeom prst="rect">
            <a:avLst/>
          </a:prstGeom>
          <a:noFill/>
        </p:spPr>
        <p:txBody>
          <a:bodyPr wrap="none" rtlCol="0">
            <a:spAutoFit/>
          </a:bodyPr>
          <a:lstStyle/>
          <a:p>
            <a:r>
              <a:rPr lang="en-US" altLang="zh-CN" sz="1200" dirty="0"/>
              <a:t>7.</a:t>
            </a:r>
            <a:r>
              <a:rPr lang="zh-CN" altLang="en-US" sz="1200" dirty="0"/>
              <a:t>认证协议（二选一）</a:t>
            </a:r>
          </a:p>
        </p:txBody>
      </p:sp>
      <p:cxnSp>
        <p:nvCxnSpPr>
          <p:cNvPr id="33" name="直接箭头连接符 32">
            <a:extLst>
              <a:ext uri="{FF2B5EF4-FFF2-40B4-BE49-F238E27FC236}">
                <a16:creationId xmlns:a16="http://schemas.microsoft.com/office/drawing/2014/main" xmlns="" id="{7D2A6B36-0425-4AF5-8615-B057DC5231D8}"/>
              </a:ext>
            </a:extLst>
          </p:cNvPr>
          <p:cNvCxnSpPr/>
          <p:nvPr/>
        </p:nvCxnSpPr>
        <p:spPr bwMode="gray">
          <a:xfrm>
            <a:off x="2488027" y="5397456"/>
            <a:ext cx="1543519" cy="0"/>
          </a:xfrm>
          <a:prstGeom prst="straightConnector1">
            <a:avLst/>
          </a:prstGeom>
          <a:noFill/>
          <a:ln w="12700" cap="flat" cmpd="sng" algn="ctr">
            <a:solidFill>
              <a:schemeClr val="bg1">
                <a:lumMod val="50000"/>
              </a:schemeClr>
            </a:solidFill>
            <a:prstDash val="solid"/>
            <a:round/>
            <a:headEnd type="triangle" w="med" len="med"/>
            <a:tailEnd type="triangle"/>
          </a:ln>
          <a:effectLst/>
        </p:spPr>
      </p:cxnSp>
      <p:cxnSp>
        <p:nvCxnSpPr>
          <p:cNvPr id="34" name="直接箭头连接符 33">
            <a:extLst>
              <a:ext uri="{FF2B5EF4-FFF2-40B4-BE49-F238E27FC236}">
                <a16:creationId xmlns:a16="http://schemas.microsoft.com/office/drawing/2014/main" xmlns="" id="{7D2A6B36-0425-4AF5-8615-B057DC5231D8}"/>
              </a:ext>
            </a:extLst>
          </p:cNvPr>
          <p:cNvCxnSpPr/>
          <p:nvPr/>
        </p:nvCxnSpPr>
        <p:spPr bwMode="gray">
          <a:xfrm>
            <a:off x="952040" y="5850440"/>
            <a:ext cx="3071974" cy="0"/>
          </a:xfrm>
          <a:prstGeom prst="straightConnector1">
            <a:avLst/>
          </a:prstGeom>
          <a:noFill/>
          <a:ln w="12700" cap="flat" cmpd="sng" algn="ctr">
            <a:solidFill>
              <a:schemeClr val="bg1">
                <a:lumMod val="50000"/>
              </a:schemeClr>
            </a:solidFill>
            <a:prstDash val="solid"/>
            <a:round/>
            <a:headEnd type="triangle" w="med" len="med"/>
            <a:tailEnd type="triangle"/>
          </a:ln>
          <a:effectLst/>
        </p:spPr>
      </p:cxnSp>
      <p:sp>
        <p:nvSpPr>
          <p:cNvPr id="35" name="矩形 34">
            <a:extLst>
              <a:ext uri="{FF2B5EF4-FFF2-40B4-BE49-F238E27FC236}">
                <a16:creationId xmlns:a16="http://schemas.microsoft.com/office/drawing/2014/main" xmlns="" id="{8DAF5267-0E7A-4282-B5E3-24A52A24C6AE}"/>
              </a:ext>
            </a:extLst>
          </p:cNvPr>
          <p:cNvSpPr/>
          <p:nvPr/>
        </p:nvSpPr>
        <p:spPr bwMode="gray">
          <a:xfrm>
            <a:off x="6380917" y="1520620"/>
            <a:ext cx="5043566" cy="1490376"/>
          </a:xfrm>
          <a:prstGeom prst="rect">
            <a:avLst/>
          </a:prstGeom>
          <a:no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72000" bIns="72000" rtlCol="0" anchor="t" anchorCtr="0"/>
          <a:lstStyle/>
          <a:p>
            <a:pPr marL="182563" indent="-182563">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当客户端与接入设备之间为二层网络时，可配置</a:t>
            </a:r>
            <a:r>
              <a:rPr lang="zh-CN" altLang="en-US" sz="16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rPr>
              <a:t>二层</a:t>
            </a:r>
            <a:r>
              <a:rPr lang="en-US" altLang="zh-CN" sz="16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rPr>
              <a:t>Portal</a:t>
            </a:r>
            <a:r>
              <a:rPr lang="zh-CN" altLang="en-US" sz="16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rPr>
              <a:t>认证方式</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endParaRPr>
          </a:p>
          <a:p>
            <a:pPr marL="182563" indent="-182563">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当客户端与接入设备之间为三层网络时，需要将</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Portal</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认证配置为</a:t>
            </a:r>
            <a:r>
              <a:rPr lang="zh-CN" altLang="en-US" sz="16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rPr>
              <a:t>三层</a:t>
            </a:r>
            <a:r>
              <a:rPr lang="en-US" altLang="zh-CN" sz="16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rPr>
              <a:t>Portal</a:t>
            </a:r>
            <a:r>
              <a:rPr lang="zh-CN" altLang="en-US" sz="16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rPr>
              <a:t>认证方式</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36" name="矩形 35">
            <a:extLst>
              <a:ext uri="{FF2B5EF4-FFF2-40B4-BE49-F238E27FC236}">
                <a16:creationId xmlns:a16="http://schemas.microsoft.com/office/drawing/2014/main" xmlns="" id="{EC97A0CF-DE53-4644-B13E-9D2D83945E4C}"/>
              </a:ext>
            </a:extLst>
          </p:cNvPr>
          <p:cNvSpPr/>
          <p:nvPr/>
        </p:nvSpPr>
        <p:spPr bwMode="gray">
          <a:xfrm>
            <a:off x="6380917" y="4720259"/>
            <a:ext cx="5043566" cy="1404988"/>
          </a:xfrm>
          <a:prstGeom prst="rect">
            <a:avLst/>
          </a:prstGeom>
          <a:ln>
            <a:solidFill>
              <a:srgbClr val="99DFF9"/>
            </a:solidFill>
          </a:ln>
        </p:spPr>
        <p:txBody>
          <a:bodyPr wrap="square" lIns="144000" tIns="48000" rIns="48000" bIns="48000">
            <a:spAutoFit/>
          </a:bodyPr>
          <a:lstStyle/>
          <a:p>
            <a:pPr marL="182563" indent="-182563">
              <a:lnSpc>
                <a:spcPts val="2400"/>
              </a:lnSpc>
              <a:spcAft>
                <a:spcPts val="600"/>
              </a:spcAft>
              <a:buFont typeface="Arial" panose="020B0604020202020204" pitchFamily="34" charset="0"/>
              <a:buChar char="•"/>
              <a:tabLst>
                <a:tab pos="484673" algn="l"/>
              </a:tabLst>
            </a:pPr>
            <a:r>
              <a:rPr lang="en-US" altLang="zh-CN" sz="1600" dirty="0">
                <a:latin typeface="Huawei Sans" panose="020C0503030203020204" pitchFamily="34" charset="0"/>
                <a:ea typeface="方正兰亭黑简体" panose="02000000000000000000" pitchFamily="2" charset="-122"/>
                <a:cs typeface="Arial" panose="020B0604020202020204" pitchFamily="34" charset="0"/>
              </a:rPr>
              <a:t>Portal</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rPr>
              <a:t>协议：描述了</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rPr>
              <a:t>Portal</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rPr>
              <a:t>服务器和接入设备之间的协议交互。</a:t>
            </a:r>
          </a:p>
          <a:p>
            <a:pPr marL="182563" indent="-182563">
              <a:lnSpc>
                <a:spcPts val="2400"/>
              </a:lnSpc>
              <a:spcAft>
                <a:spcPts val="600"/>
              </a:spcAft>
              <a:buFont typeface="Arial" panose="020B0604020202020204" pitchFamily="34" charset="0"/>
              <a:buChar char="•"/>
              <a:tabLst>
                <a:tab pos="484673" algn="l"/>
              </a:tabLst>
            </a:pPr>
            <a:r>
              <a:rPr lang="en-US" altLang="zh-CN" sz="1600" dirty="0">
                <a:latin typeface="Huawei Sans" panose="020C0503030203020204" pitchFamily="34" charset="0"/>
                <a:ea typeface="方正兰亭黑简体" panose="02000000000000000000" pitchFamily="2" charset="-122"/>
                <a:cs typeface="Arial" panose="020B0604020202020204" pitchFamily="34" charset="0"/>
              </a:rPr>
              <a:t>HTTP/HTTPS</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rPr>
              <a:t>协议：描述了客户端和接入设备之间的协议交互。</a:t>
            </a:r>
          </a:p>
        </p:txBody>
      </p:sp>
      <p:sp>
        <p:nvSpPr>
          <p:cNvPr id="37" name="圆角矩形 75"/>
          <p:cNvSpPr/>
          <p:nvPr/>
        </p:nvSpPr>
        <p:spPr bwMode="gray">
          <a:xfrm>
            <a:off x="6380917" y="1119820"/>
            <a:ext cx="5043566"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认证方式</a:t>
            </a:r>
          </a:p>
        </p:txBody>
      </p:sp>
      <p:sp>
        <p:nvSpPr>
          <p:cNvPr id="38" name="圆角矩形 75"/>
          <p:cNvSpPr/>
          <p:nvPr/>
        </p:nvSpPr>
        <p:spPr bwMode="gray">
          <a:xfrm>
            <a:off x="6380917" y="4319461"/>
            <a:ext cx="5043566"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认证协议</a:t>
            </a:r>
          </a:p>
        </p:txBody>
      </p:sp>
      <p:sp>
        <p:nvSpPr>
          <p:cNvPr id="78" name="矩形 77">
            <a:extLst>
              <a:ext uri="{FF2B5EF4-FFF2-40B4-BE49-F238E27FC236}">
                <a16:creationId xmlns:a16="http://schemas.microsoft.com/office/drawing/2014/main" xmlns="" id="{8DAF5267-0E7A-4282-B5E3-24A52A24C6AE}"/>
              </a:ext>
            </a:extLst>
          </p:cNvPr>
          <p:cNvSpPr/>
          <p:nvPr/>
        </p:nvSpPr>
        <p:spPr bwMode="gray">
          <a:xfrm>
            <a:off x="6380917" y="3530126"/>
            <a:ext cx="5043566" cy="706302"/>
          </a:xfrm>
          <a:prstGeom prst="rect">
            <a:avLst/>
          </a:prstGeom>
          <a:no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72000" bIns="72000" rtlCol="0" anchor="t" anchorCtr="0"/>
          <a:lstStyle/>
          <a:p>
            <a:pPr marL="182563" indent="-182563">
              <a:lnSpc>
                <a:spcPts val="2400"/>
              </a:lnSpc>
              <a:spcAft>
                <a:spcPts val="600"/>
              </a:spcAft>
              <a:buFont typeface="Arial" panose="020B0604020202020204" pitchFamily="34" charset="0"/>
              <a:buChar char="•"/>
              <a:tabLst>
                <a:tab pos="484673" algn="l"/>
              </a:tabLst>
            </a:pP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HTTP/HTTPS</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协议，描述了客户端和</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Portal</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服务器之间的协议交互。</a:t>
            </a:r>
          </a:p>
        </p:txBody>
      </p:sp>
      <p:sp>
        <p:nvSpPr>
          <p:cNvPr id="79" name="圆角矩形 75"/>
          <p:cNvSpPr/>
          <p:nvPr/>
        </p:nvSpPr>
        <p:spPr bwMode="gray">
          <a:xfrm>
            <a:off x="6380917" y="3129326"/>
            <a:ext cx="5043566"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接入协议</a:t>
            </a:r>
          </a:p>
        </p:txBody>
      </p:sp>
      <p:sp>
        <p:nvSpPr>
          <p:cNvPr id="80" name="五边形 79"/>
          <p:cNvSpPr/>
          <p:nvPr/>
        </p:nvSpPr>
        <p:spPr bwMode="gray">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燕尾形 80"/>
          <p:cNvSpPr/>
          <p:nvPr/>
        </p:nvSpPr>
        <p:spPr bwMode="gray">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82" name="燕尾形 81"/>
          <p:cNvSpPr/>
          <p:nvPr/>
        </p:nvSpPr>
        <p:spPr bwMode="gray">
          <a:xfrm>
            <a:off x="10218826"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83" name="燕尾形 82"/>
          <p:cNvSpPr/>
          <p:nvPr/>
        </p:nvSpPr>
        <p:spPr bwMode="gray">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664383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圆角矩形 44"/>
          <p:cNvSpPr/>
          <p:nvPr/>
        </p:nvSpPr>
        <p:spPr bwMode="gray">
          <a:xfrm>
            <a:off x="1941834" y="2644890"/>
            <a:ext cx="2633654" cy="3329410"/>
          </a:xfrm>
          <a:prstGeom prst="roundRect">
            <a:avLst>
              <a:gd name="adj" fmla="val 3661"/>
            </a:avLst>
          </a:prstGeom>
          <a:solidFill>
            <a:srgbClr val="F5FCFD"/>
          </a:solidFill>
          <a:ln w="9525">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7" name="组合 46"/>
          <p:cNvGrpSpPr/>
          <p:nvPr/>
        </p:nvGrpSpPr>
        <p:grpSpPr bwMode="gray">
          <a:xfrm>
            <a:off x="2375988" y="3053626"/>
            <a:ext cx="1606997" cy="276999"/>
            <a:chOff x="2352181" y="3045319"/>
            <a:chExt cx="1606997" cy="276999"/>
          </a:xfrm>
        </p:grpSpPr>
        <p:cxnSp>
          <p:nvCxnSpPr>
            <p:cNvPr id="81" name="直接箭头连接符 80">
              <a:extLst>
                <a:ext uri="{FF2B5EF4-FFF2-40B4-BE49-F238E27FC236}">
                  <a16:creationId xmlns:a16="http://schemas.microsoft.com/office/drawing/2014/main" xmlns="" id="{7D2A6B36-0425-4AF5-8615-B057DC5231D8}"/>
                </a:ext>
              </a:extLst>
            </p:cNvPr>
            <p:cNvCxnSpPr/>
            <p:nvPr/>
          </p:nvCxnSpPr>
          <p:spPr bwMode="gray">
            <a:xfrm>
              <a:off x="2452756" y="3265710"/>
              <a:ext cx="1506422" cy="0"/>
            </a:xfrm>
            <a:prstGeom prst="straightConnector1">
              <a:avLst/>
            </a:prstGeom>
            <a:noFill/>
            <a:ln w="12700" cap="flat" cmpd="sng" algn="ctr">
              <a:solidFill>
                <a:schemeClr val="tx1"/>
              </a:solidFill>
              <a:prstDash val="solid"/>
              <a:round/>
              <a:headEnd type="none" w="med" len="med"/>
              <a:tailEnd type="triangle"/>
            </a:ln>
            <a:effectLst/>
          </p:spPr>
        </p:cxnSp>
        <p:sp>
          <p:nvSpPr>
            <p:cNvPr id="82" name="文本框 81"/>
            <p:cNvSpPr txBox="1"/>
            <p:nvPr/>
          </p:nvSpPr>
          <p:spPr bwMode="gray">
            <a:xfrm>
              <a:off x="2352181" y="3045319"/>
              <a:ext cx="1560625" cy="276999"/>
            </a:xfrm>
            <a:prstGeom prst="rect">
              <a:avLst/>
            </a:prstGeom>
            <a:noFill/>
          </p:spPr>
          <p:txBody>
            <a:bodyPr wrap="square" rtlCol="0">
              <a:spAutoFit/>
            </a:bodyPr>
            <a:lstStyle/>
            <a:p>
              <a:r>
                <a:rPr lang="en-US" altLang="zh-CN" sz="1200" dirty="0"/>
                <a:t>7.Portal</a:t>
              </a:r>
              <a:r>
                <a:rPr lang="zh-CN" altLang="en-US" sz="1200" dirty="0"/>
                <a:t>挑战字请求</a:t>
              </a:r>
            </a:p>
          </p:txBody>
        </p:sp>
      </p:grpSp>
      <p:grpSp>
        <p:nvGrpSpPr>
          <p:cNvPr id="48" name="组合 47"/>
          <p:cNvGrpSpPr/>
          <p:nvPr/>
        </p:nvGrpSpPr>
        <p:grpSpPr bwMode="gray">
          <a:xfrm>
            <a:off x="2410253" y="3426827"/>
            <a:ext cx="1663629" cy="276999"/>
            <a:chOff x="2386446" y="3438153"/>
            <a:chExt cx="1663629" cy="276999"/>
          </a:xfrm>
        </p:grpSpPr>
        <p:cxnSp>
          <p:nvCxnSpPr>
            <p:cNvPr id="79" name="直接箭头连接符 78">
              <a:extLst>
                <a:ext uri="{FF2B5EF4-FFF2-40B4-BE49-F238E27FC236}">
                  <a16:creationId xmlns:a16="http://schemas.microsoft.com/office/drawing/2014/main" xmlns="" id="{7D2A6B36-0425-4AF5-8615-B057DC5231D8}"/>
                </a:ext>
              </a:extLst>
            </p:cNvPr>
            <p:cNvCxnSpPr/>
            <p:nvPr/>
          </p:nvCxnSpPr>
          <p:spPr bwMode="gray">
            <a:xfrm>
              <a:off x="2452756" y="3658544"/>
              <a:ext cx="1506422" cy="0"/>
            </a:xfrm>
            <a:prstGeom prst="straightConnector1">
              <a:avLst/>
            </a:prstGeom>
            <a:noFill/>
            <a:ln w="12700" cap="flat" cmpd="sng" algn="ctr">
              <a:solidFill>
                <a:schemeClr val="tx1"/>
              </a:solidFill>
              <a:prstDash val="solid"/>
              <a:round/>
              <a:headEnd type="triangle" w="med" len="med"/>
              <a:tailEnd type="none"/>
            </a:ln>
            <a:effectLst/>
          </p:spPr>
        </p:cxnSp>
        <p:sp>
          <p:nvSpPr>
            <p:cNvPr id="80" name="文本框 79"/>
            <p:cNvSpPr txBox="1"/>
            <p:nvPr/>
          </p:nvSpPr>
          <p:spPr bwMode="gray">
            <a:xfrm>
              <a:off x="2386446" y="3438153"/>
              <a:ext cx="1663629" cy="276999"/>
            </a:xfrm>
            <a:prstGeom prst="rect">
              <a:avLst/>
            </a:prstGeom>
            <a:noFill/>
          </p:spPr>
          <p:txBody>
            <a:bodyPr wrap="square" rtlCol="0">
              <a:spAutoFit/>
            </a:bodyPr>
            <a:lstStyle/>
            <a:p>
              <a:pPr algn="r"/>
              <a:r>
                <a:rPr lang="en-US" altLang="zh-CN" sz="1200" dirty="0"/>
                <a:t>8.Portal</a:t>
              </a:r>
              <a:r>
                <a:rPr lang="zh-CN" altLang="en-US" sz="1200" dirty="0"/>
                <a:t>挑战字响应</a:t>
              </a:r>
            </a:p>
          </p:txBody>
        </p:sp>
      </p:grpSp>
      <p:grpSp>
        <p:nvGrpSpPr>
          <p:cNvPr id="49" name="组合 48"/>
          <p:cNvGrpSpPr/>
          <p:nvPr/>
        </p:nvGrpSpPr>
        <p:grpSpPr bwMode="gray">
          <a:xfrm>
            <a:off x="2410254" y="3800028"/>
            <a:ext cx="1572731" cy="276999"/>
            <a:chOff x="2386447" y="3800969"/>
            <a:chExt cx="1572731" cy="276999"/>
          </a:xfrm>
        </p:grpSpPr>
        <p:cxnSp>
          <p:nvCxnSpPr>
            <p:cNvPr id="77" name="直接箭头连接符 76">
              <a:extLst>
                <a:ext uri="{FF2B5EF4-FFF2-40B4-BE49-F238E27FC236}">
                  <a16:creationId xmlns:a16="http://schemas.microsoft.com/office/drawing/2014/main" xmlns="" id="{7D2A6B36-0425-4AF5-8615-B057DC5231D8}"/>
                </a:ext>
              </a:extLst>
            </p:cNvPr>
            <p:cNvCxnSpPr/>
            <p:nvPr/>
          </p:nvCxnSpPr>
          <p:spPr bwMode="gray">
            <a:xfrm>
              <a:off x="2452756" y="4027710"/>
              <a:ext cx="1506422" cy="0"/>
            </a:xfrm>
            <a:prstGeom prst="straightConnector1">
              <a:avLst/>
            </a:prstGeom>
            <a:noFill/>
            <a:ln w="12700" cap="flat" cmpd="sng" algn="ctr">
              <a:solidFill>
                <a:schemeClr val="tx1"/>
              </a:solidFill>
              <a:prstDash val="solid"/>
              <a:round/>
              <a:headEnd type="none" w="med" len="med"/>
              <a:tailEnd type="triangle"/>
            </a:ln>
            <a:effectLst/>
          </p:spPr>
        </p:cxnSp>
        <p:sp>
          <p:nvSpPr>
            <p:cNvPr id="78" name="文本框 77"/>
            <p:cNvSpPr txBox="1"/>
            <p:nvPr/>
          </p:nvSpPr>
          <p:spPr bwMode="gray">
            <a:xfrm>
              <a:off x="2386447" y="3800969"/>
              <a:ext cx="1560625" cy="276999"/>
            </a:xfrm>
            <a:prstGeom prst="rect">
              <a:avLst/>
            </a:prstGeom>
            <a:noFill/>
          </p:spPr>
          <p:txBody>
            <a:bodyPr wrap="square" rtlCol="0">
              <a:spAutoFit/>
            </a:bodyPr>
            <a:lstStyle/>
            <a:p>
              <a:r>
                <a:rPr lang="en-US" altLang="zh-CN" sz="1200" dirty="0"/>
                <a:t>9.Portal</a:t>
              </a:r>
              <a:r>
                <a:rPr lang="zh-CN" altLang="en-US" sz="1200" dirty="0"/>
                <a:t>认证请求</a:t>
              </a:r>
            </a:p>
          </p:txBody>
        </p:sp>
      </p:grpSp>
      <p:grpSp>
        <p:nvGrpSpPr>
          <p:cNvPr id="50" name="组合 49"/>
          <p:cNvGrpSpPr/>
          <p:nvPr/>
        </p:nvGrpSpPr>
        <p:grpSpPr bwMode="gray">
          <a:xfrm>
            <a:off x="3969598" y="4173229"/>
            <a:ext cx="1740732" cy="461665"/>
            <a:chOff x="3945791" y="3893053"/>
            <a:chExt cx="1740732" cy="461665"/>
          </a:xfrm>
        </p:grpSpPr>
        <p:cxnSp>
          <p:nvCxnSpPr>
            <p:cNvPr id="75" name="直接箭头连接符 74">
              <a:extLst>
                <a:ext uri="{FF2B5EF4-FFF2-40B4-BE49-F238E27FC236}">
                  <a16:creationId xmlns:a16="http://schemas.microsoft.com/office/drawing/2014/main" xmlns="" id="{7D2A6B36-0425-4AF5-8615-B057DC5231D8}"/>
                </a:ext>
              </a:extLst>
            </p:cNvPr>
            <p:cNvCxnSpPr/>
            <p:nvPr/>
          </p:nvCxnSpPr>
          <p:spPr bwMode="gray">
            <a:xfrm>
              <a:off x="4050076" y="4294410"/>
              <a:ext cx="1506422" cy="0"/>
            </a:xfrm>
            <a:prstGeom prst="straightConnector1">
              <a:avLst/>
            </a:prstGeom>
            <a:noFill/>
            <a:ln w="12700" cap="flat" cmpd="sng" algn="ctr">
              <a:solidFill>
                <a:schemeClr val="tx1"/>
              </a:solidFill>
              <a:prstDash val="solid"/>
              <a:round/>
              <a:headEnd type="triangle" w="med" len="med"/>
              <a:tailEnd type="triangle"/>
            </a:ln>
            <a:effectLst/>
          </p:spPr>
        </p:cxnSp>
        <p:sp>
          <p:nvSpPr>
            <p:cNvPr id="76" name="文本框 75"/>
            <p:cNvSpPr txBox="1"/>
            <p:nvPr/>
          </p:nvSpPr>
          <p:spPr bwMode="gray">
            <a:xfrm>
              <a:off x="3945791" y="3893053"/>
              <a:ext cx="1740732" cy="461665"/>
            </a:xfrm>
            <a:prstGeom prst="rect">
              <a:avLst/>
            </a:prstGeom>
            <a:noFill/>
          </p:spPr>
          <p:txBody>
            <a:bodyPr wrap="square" rtlCol="0">
              <a:spAutoFit/>
            </a:bodyPr>
            <a:lstStyle/>
            <a:p>
              <a:pPr algn="ctr"/>
              <a:r>
                <a:rPr lang="en-US" altLang="zh-CN" sz="1200" dirty="0"/>
                <a:t>10.RADIUS</a:t>
              </a:r>
              <a:r>
                <a:rPr lang="zh-CN" altLang="en-US" sz="1200" dirty="0"/>
                <a:t>认证</a:t>
              </a:r>
              <a:endParaRPr lang="en-US" altLang="zh-CN" sz="1200" dirty="0"/>
            </a:p>
            <a:p>
              <a:pPr algn="ctr"/>
              <a:r>
                <a:rPr lang="zh-CN" altLang="en-US" sz="1200" dirty="0"/>
                <a:t>与计费交互</a:t>
              </a:r>
            </a:p>
          </p:txBody>
        </p:sp>
      </p:grpSp>
      <p:grpSp>
        <p:nvGrpSpPr>
          <p:cNvPr id="51" name="组合 50"/>
          <p:cNvGrpSpPr/>
          <p:nvPr/>
        </p:nvGrpSpPr>
        <p:grpSpPr bwMode="gray">
          <a:xfrm>
            <a:off x="2424749" y="4731096"/>
            <a:ext cx="1663629" cy="276999"/>
            <a:chOff x="2400942" y="4489191"/>
            <a:chExt cx="1663629" cy="276999"/>
          </a:xfrm>
        </p:grpSpPr>
        <p:cxnSp>
          <p:nvCxnSpPr>
            <p:cNvPr id="73" name="直接箭头连接符 72">
              <a:extLst>
                <a:ext uri="{FF2B5EF4-FFF2-40B4-BE49-F238E27FC236}">
                  <a16:creationId xmlns:a16="http://schemas.microsoft.com/office/drawing/2014/main" xmlns="" id="{7D2A6B36-0425-4AF5-8615-B057DC5231D8}"/>
                </a:ext>
              </a:extLst>
            </p:cNvPr>
            <p:cNvCxnSpPr/>
            <p:nvPr/>
          </p:nvCxnSpPr>
          <p:spPr bwMode="gray">
            <a:xfrm>
              <a:off x="2467252" y="4706294"/>
              <a:ext cx="1506422" cy="0"/>
            </a:xfrm>
            <a:prstGeom prst="straightConnector1">
              <a:avLst/>
            </a:prstGeom>
            <a:noFill/>
            <a:ln w="12700" cap="flat" cmpd="sng" algn="ctr">
              <a:solidFill>
                <a:schemeClr val="tx1"/>
              </a:solidFill>
              <a:prstDash val="solid"/>
              <a:round/>
              <a:headEnd type="triangle" w="med" len="med"/>
              <a:tailEnd type="none"/>
            </a:ln>
            <a:effectLst/>
          </p:spPr>
        </p:cxnSp>
        <p:sp>
          <p:nvSpPr>
            <p:cNvPr id="74" name="文本框 73"/>
            <p:cNvSpPr txBox="1"/>
            <p:nvPr/>
          </p:nvSpPr>
          <p:spPr bwMode="gray">
            <a:xfrm>
              <a:off x="2400942" y="4489191"/>
              <a:ext cx="1663629" cy="276999"/>
            </a:xfrm>
            <a:prstGeom prst="rect">
              <a:avLst/>
            </a:prstGeom>
            <a:noFill/>
          </p:spPr>
          <p:txBody>
            <a:bodyPr wrap="square" rtlCol="0">
              <a:spAutoFit/>
            </a:bodyPr>
            <a:lstStyle/>
            <a:p>
              <a:pPr algn="r"/>
              <a:r>
                <a:rPr lang="en-US" altLang="zh-CN" sz="1200" dirty="0"/>
                <a:t>11.Portal</a:t>
              </a:r>
              <a:r>
                <a:rPr lang="zh-CN" altLang="en-US" sz="1200" dirty="0"/>
                <a:t>认证结果</a:t>
              </a:r>
            </a:p>
          </p:txBody>
        </p:sp>
      </p:grpSp>
      <p:grpSp>
        <p:nvGrpSpPr>
          <p:cNvPr id="52" name="组合 51"/>
          <p:cNvGrpSpPr/>
          <p:nvPr/>
        </p:nvGrpSpPr>
        <p:grpSpPr bwMode="gray">
          <a:xfrm>
            <a:off x="841824" y="5104297"/>
            <a:ext cx="1663629" cy="276999"/>
            <a:chOff x="818017" y="4766190"/>
            <a:chExt cx="1663629" cy="276999"/>
          </a:xfrm>
        </p:grpSpPr>
        <p:cxnSp>
          <p:nvCxnSpPr>
            <p:cNvPr id="71" name="直接箭头连接符 70">
              <a:extLst>
                <a:ext uri="{FF2B5EF4-FFF2-40B4-BE49-F238E27FC236}">
                  <a16:creationId xmlns:a16="http://schemas.microsoft.com/office/drawing/2014/main" xmlns="" id="{7D2A6B36-0425-4AF5-8615-B057DC5231D8}"/>
                </a:ext>
              </a:extLst>
            </p:cNvPr>
            <p:cNvCxnSpPr/>
            <p:nvPr/>
          </p:nvCxnSpPr>
          <p:spPr bwMode="gray">
            <a:xfrm>
              <a:off x="897042" y="4994029"/>
              <a:ext cx="1506422" cy="0"/>
            </a:xfrm>
            <a:prstGeom prst="straightConnector1">
              <a:avLst/>
            </a:prstGeom>
            <a:noFill/>
            <a:ln w="12700" cap="flat" cmpd="sng" algn="ctr">
              <a:solidFill>
                <a:schemeClr val="tx1"/>
              </a:solidFill>
              <a:prstDash val="solid"/>
              <a:round/>
              <a:headEnd type="triangle" w="med" len="med"/>
              <a:tailEnd type="none"/>
            </a:ln>
            <a:effectLst/>
          </p:spPr>
        </p:cxnSp>
        <p:sp>
          <p:nvSpPr>
            <p:cNvPr id="72" name="文本框 71"/>
            <p:cNvSpPr txBox="1"/>
            <p:nvPr/>
          </p:nvSpPr>
          <p:spPr bwMode="gray">
            <a:xfrm>
              <a:off x="818017" y="4766190"/>
              <a:ext cx="1663629" cy="276999"/>
            </a:xfrm>
            <a:prstGeom prst="rect">
              <a:avLst/>
            </a:prstGeom>
            <a:noFill/>
          </p:spPr>
          <p:txBody>
            <a:bodyPr wrap="square" rtlCol="0">
              <a:spAutoFit/>
            </a:bodyPr>
            <a:lstStyle/>
            <a:p>
              <a:pPr algn="r"/>
              <a:r>
                <a:rPr lang="en-US" altLang="zh-CN" sz="1200" dirty="0"/>
                <a:t>12.</a:t>
              </a:r>
              <a:r>
                <a:rPr lang="zh-CN" altLang="en-US" sz="1200" dirty="0"/>
                <a:t>通知用户认证结果</a:t>
              </a:r>
            </a:p>
          </p:txBody>
        </p:sp>
      </p:grpSp>
      <p:grpSp>
        <p:nvGrpSpPr>
          <p:cNvPr id="53" name="组合 52"/>
          <p:cNvGrpSpPr/>
          <p:nvPr/>
        </p:nvGrpSpPr>
        <p:grpSpPr bwMode="gray">
          <a:xfrm>
            <a:off x="2408973" y="5477499"/>
            <a:ext cx="1572731" cy="276999"/>
            <a:chOff x="2385166" y="5043189"/>
            <a:chExt cx="1572731" cy="276999"/>
          </a:xfrm>
        </p:grpSpPr>
        <p:cxnSp>
          <p:nvCxnSpPr>
            <p:cNvPr id="69" name="直接箭头连接符 68">
              <a:extLst>
                <a:ext uri="{FF2B5EF4-FFF2-40B4-BE49-F238E27FC236}">
                  <a16:creationId xmlns:a16="http://schemas.microsoft.com/office/drawing/2014/main" xmlns="" id="{7D2A6B36-0425-4AF5-8615-B057DC5231D8}"/>
                </a:ext>
              </a:extLst>
            </p:cNvPr>
            <p:cNvCxnSpPr/>
            <p:nvPr/>
          </p:nvCxnSpPr>
          <p:spPr bwMode="gray">
            <a:xfrm>
              <a:off x="2451475" y="5269930"/>
              <a:ext cx="1506422" cy="0"/>
            </a:xfrm>
            <a:prstGeom prst="straightConnector1">
              <a:avLst/>
            </a:prstGeom>
            <a:noFill/>
            <a:ln w="12700" cap="flat" cmpd="sng" algn="ctr">
              <a:solidFill>
                <a:schemeClr val="tx1"/>
              </a:solidFill>
              <a:prstDash val="solid"/>
              <a:round/>
              <a:headEnd type="none" w="med" len="med"/>
              <a:tailEnd type="triangle"/>
            </a:ln>
            <a:effectLst/>
          </p:spPr>
        </p:cxnSp>
        <p:sp>
          <p:nvSpPr>
            <p:cNvPr id="70" name="文本框 69"/>
            <p:cNvSpPr txBox="1"/>
            <p:nvPr/>
          </p:nvSpPr>
          <p:spPr bwMode="gray">
            <a:xfrm>
              <a:off x="2385166" y="5043189"/>
              <a:ext cx="1560625" cy="276999"/>
            </a:xfrm>
            <a:prstGeom prst="rect">
              <a:avLst/>
            </a:prstGeom>
            <a:noFill/>
          </p:spPr>
          <p:txBody>
            <a:bodyPr wrap="square" rtlCol="0">
              <a:spAutoFit/>
            </a:bodyPr>
            <a:lstStyle/>
            <a:p>
              <a:r>
                <a:rPr lang="en-US" altLang="zh-CN" sz="1200" dirty="0"/>
                <a:t>13.</a:t>
              </a:r>
              <a:r>
                <a:rPr lang="zh-CN" altLang="en-US" sz="1200" dirty="0"/>
                <a:t>认证结果确认</a:t>
              </a:r>
            </a:p>
          </p:txBody>
        </p:sp>
      </p:grpSp>
      <p:pic>
        <p:nvPicPr>
          <p:cNvPr id="54" name="图片 53" descr="交换机.png"/>
          <p:cNvPicPr>
            <a:picLocks noChangeAspect="1"/>
          </p:cNvPicPr>
          <p:nvPr/>
        </p:nvPicPr>
        <p:blipFill>
          <a:blip r:embed="rId3" cstate="print"/>
          <a:stretch>
            <a:fillRect/>
          </a:stretch>
        </p:blipFill>
        <p:spPr bwMode="gray">
          <a:xfrm>
            <a:off x="616093" y="1517983"/>
            <a:ext cx="539999" cy="441817"/>
          </a:xfrm>
          <a:prstGeom prst="rect">
            <a:avLst/>
          </a:prstGeom>
        </p:spPr>
      </p:pic>
      <p:sp>
        <p:nvSpPr>
          <p:cNvPr id="55" name="文本框 54"/>
          <p:cNvSpPr txBox="1"/>
          <p:nvPr/>
        </p:nvSpPr>
        <p:spPr bwMode="gray">
          <a:xfrm>
            <a:off x="518485" y="1230640"/>
            <a:ext cx="723275" cy="307777"/>
          </a:xfrm>
          <a:prstGeom prst="rect">
            <a:avLst/>
          </a:prstGeom>
          <a:noFill/>
        </p:spPr>
        <p:txBody>
          <a:bodyPr wrap="square" rtlCol="0">
            <a:spAutoFit/>
          </a:bodyPr>
          <a:lstStyle/>
          <a:p>
            <a:r>
              <a:rPr lang="zh-CN" altLang="en-US" sz="1400" dirty="0"/>
              <a:t>客户端</a:t>
            </a:r>
          </a:p>
        </p:txBody>
      </p:sp>
      <p:grpSp>
        <p:nvGrpSpPr>
          <p:cNvPr id="56" name="组合 55"/>
          <p:cNvGrpSpPr/>
          <p:nvPr/>
        </p:nvGrpSpPr>
        <p:grpSpPr bwMode="gray">
          <a:xfrm>
            <a:off x="1860651" y="1218502"/>
            <a:ext cx="1212191" cy="729160"/>
            <a:chOff x="3417499" y="1220260"/>
            <a:chExt cx="1212191" cy="729160"/>
          </a:xfrm>
        </p:grpSpPr>
        <p:pic>
          <p:nvPicPr>
            <p:cNvPr id="67" name="图片 66" descr="交换机.png"/>
            <p:cNvPicPr>
              <a:picLocks noChangeAspect="1"/>
            </p:cNvPicPr>
            <p:nvPr/>
          </p:nvPicPr>
          <p:blipFill>
            <a:blip r:embed="rId4" cstate="print"/>
            <a:stretch>
              <a:fillRect/>
            </a:stretch>
          </p:blipFill>
          <p:spPr bwMode="gray">
            <a:xfrm>
              <a:off x="3753595" y="1507603"/>
              <a:ext cx="540000" cy="441817"/>
            </a:xfrm>
            <a:prstGeom prst="rect">
              <a:avLst/>
            </a:prstGeom>
          </p:spPr>
        </p:pic>
        <p:sp>
          <p:nvSpPr>
            <p:cNvPr id="68" name="文本框 67"/>
            <p:cNvSpPr txBox="1"/>
            <p:nvPr/>
          </p:nvSpPr>
          <p:spPr bwMode="gray">
            <a:xfrm>
              <a:off x="3417499" y="1220260"/>
              <a:ext cx="1212191" cy="307777"/>
            </a:xfrm>
            <a:prstGeom prst="rect">
              <a:avLst/>
            </a:prstGeom>
            <a:noFill/>
          </p:spPr>
          <p:txBody>
            <a:bodyPr wrap="square" rtlCol="0">
              <a:spAutoFit/>
            </a:bodyPr>
            <a:lstStyle/>
            <a:p>
              <a:pPr algn="ctr"/>
              <a:r>
                <a:rPr lang="en-US" altLang="zh-CN" sz="1400" dirty="0"/>
                <a:t>Portal</a:t>
              </a:r>
              <a:r>
                <a:rPr lang="zh-CN" altLang="en-US" sz="1400" dirty="0"/>
                <a:t>服务器</a:t>
              </a:r>
            </a:p>
          </p:txBody>
        </p:sp>
      </p:grpSp>
      <p:sp>
        <p:nvSpPr>
          <p:cNvPr id="57" name="文本框 56"/>
          <p:cNvSpPr txBox="1"/>
          <p:nvPr/>
        </p:nvSpPr>
        <p:spPr bwMode="gray">
          <a:xfrm>
            <a:off x="3597079" y="1218502"/>
            <a:ext cx="902811" cy="307777"/>
          </a:xfrm>
          <a:prstGeom prst="rect">
            <a:avLst/>
          </a:prstGeom>
          <a:noFill/>
        </p:spPr>
        <p:txBody>
          <a:bodyPr wrap="square" rtlCol="0">
            <a:spAutoFit/>
          </a:bodyPr>
          <a:lstStyle/>
          <a:p>
            <a:pPr algn="ctr"/>
            <a:r>
              <a:rPr lang="zh-CN" altLang="en-US" sz="1400" dirty="0"/>
              <a:t>接入设备</a:t>
            </a:r>
          </a:p>
        </p:txBody>
      </p:sp>
      <p:sp>
        <p:nvSpPr>
          <p:cNvPr id="58" name="文本框 57"/>
          <p:cNvSpPr txBox="1"/>
          <p:nvPr/>
        </p:nvSpPr>
        <p:spPr bwMode="gray">
          <a:xfrm>
            <a:off x="5086883" y="1230640"/>
            <a:ext cx="1082348" cy="307777"/>
          </a:xfrm>
          <a:prstGeom prst="rect">
            <a:avLst/>
          </a:prstGeom>
          <a:noFill/>
        </p:spPr>
        <p:txBody>
          <a:bodyPr wrap="square" rtlCol="0">
            <a:spAutoFit/>
          </a:bodyPr>
          <a:lstStyle/>
          <a:p>
            <a:pPr algn="ctr"/>
            <a:r>
              <a:rPr lang="zh-CN" altLang="en-US" sz="1400" dirty="0"/>
              <a:t>认证服务器</a:t>
            </a:r>
          </a:p>
        </p:txBody>
      </p:sp>
      <p:pic>
        <p:nvPicPr>
          <p:cNvPr id="59" name="图片 58" descr="交换机.png"/>
          <p:cNvPicPr>
            <a:picLocks noChangeAspect="1"/>
          </p:cNvPicPr>
          <p:nvPr/>
        </p:nvPicPr>
        <p:blipFill>
          <a:blip r:embed="rId5" cstate="print"/>
          <a:stretch>
            <a:fillRect/>
          </a:stretch>
        </p:blipFill>
        <p:spPr bwMode="gray">
          <a:xfrm>
            <a:off x="5358058" y="1517983"/>
            <a:ext cx="539999" cy="441817"/>
          </a:xfrm>
          <a:prstGeom prst="rect">
            <a:avLst/>
          </a:prstGeom>
        </p:spPr>
      </p:pic>
      <p:cxnSp>
        <p:nvCxnSpPr>
          <p:cNvPr id="60" name="直接连接符 59"/>
          <p:cNvCxnSpPr/>
          <p:nvPr/>
        </p:nvCxnSpPr>
        <p:spPr bwMode="gray">
          <a:xfrm>
            <a:off x="855820" y="2112448"/>
            <a:ext cx="0" cy="3959684"/>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61" name="直接连接符 60"/>
          <p:cNvCxnSpPr/>
          <p:nvPr/>
        </p:nvCxnSpPr>
        <p:spPr bwMode="gray">
          <a:xfrm>
            <a:off x="2441908" y="2112449"/>
            <a:ext cx="0" cy="3959684"/>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62" name="直接连接符 61"/>
          <p:cNvCxnSpPr/>
          <p:nvPr/>
        </p:nvCxnSpPr>
        <p:spPr bwMode="gray">
          <a:xfrm>
            <a:off x="4050575" y="2112449"/>
            <a:ext cx="0" cy="3959684"/>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63" name="直接连接符 62"/>
          <p:cNvCxnSpPr/>
          <p:nvPr/>
        </p:nvCxnSpPr>
        <p:spPr bwMode="gray">
          <a:xfrm>
            <a:off x="5625375" y="2112449"/>
            <a:ext cx="0" cy="3959684"/>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64" name="直接箭头连接符 63">
            <a:extLst>
              <a:ext uri="{FF2B5EF4-FFF2-40B4-BE49-F238E27FC236}">
                <a16:creationId xmlns:a16="http://schemas.microsoft.com/office/drawing/2014/main" xmlns="" id="{7D2A6B36-0425-4AF5-8615-B057DC5231D8}"/>
              </a:ext>
            </a:extLst>
          </p:cNvPr>
          <p:cNvCxnSpPr/>
          <p:nvPr/>
        </p:nvCxnSpPr>
        <p:spPr bwMode="gray">
          <a:xfrm>
            <a:off x="929614" y="2402690"/>
            <a:ext cx="1430827" cy="0"/>
          </a:xfrm>
          <a:prstGeom prst="straightConnector1">
            <a:avLst/>
          </a:prstGeom>
          <a:noFill/>
          <a:ln w="12700" cap="flat" cmpd="sng" algn="ctr">
            <a:solidFill>
              <a:schemeClr val="tx1"/>
            </a:solidFill>
            <a:prstDash val="solid"/>
            <a:round/>
            <a:headEnd type="none" w="med" len="med"/>
            <a:tailEnd type="triangle"/>
          </a:ln>
          <a:effectLst/>
        </p:spPr>
      </p:cxnSp>
      <p:sp>
        <p:nvSpPr>
          <p:cNvPr id="65" name="文本框 64"/>
          <p:cNvSpPr txBox="1"/>
          <p:nvPr/>
        </p:nvSpPr>
        <p:spPr bwMode="gray">
          <a:xfrm>
            <a:off x="864586" y="2112449"/>
            <a:ext cx="1482209" cy="276999"/>
          </a:xfrm>
          <a:prstGeom prst="rect">
            <a:avLst/>
          </a:prstGeom>
          <a:noFill/>
        </p:spPr>
        <p:txBody>
          <a:bodyPr wrap="square" rtlCol="0">
            <a:spAutoFit/>
          </a:bodyPr>
          <a:lstStyle/>
          <a:p>
            <a:r>
              <a:rPr lang="en-US" altLang="zh-CN" sz="1200" dirty="0"/>
              <a:t>6.Portal</a:t>
            </a:r>
            <a:r>
              <a:rPr lang="zh-CN" altLang="en-US" sz="1200" dirty="0"/>
              <a:t>认证请求</a:t>
            </a:r>
          </a:p>
        </p:txBody>
      </p:sp>
      <p:pic>
        <p:nvPicPr>
          <p:cNvPr id="66" name="图片 65" descr="通用交换机.png"/>
          <p:cNvPicPr>
            <a:picLocks noChangeAspect="1"/>
          </p:cNvPicPr>
          <p:nvPr/>
        </p:nvPicPr>
        <p:blipFill>
          <a:blip r:embed="rId6" cstate="print"/>
          <a:stretch>
            <a:fillRect/>
          </a:stretch>
        </p:blipFill>
        <p:spPr bwMode="gray">
          <a:xfrm>
            <a:off x="3780575" y="1525761"/>
            <a:ext cx="540000" cy="441818"/>
          </a:xfrm>
          <a:prstGeom prst="rect">
            <a:avLst/>
          </a:prstGeom>
        </p:spPr>
      </p:pic>
      <p:sp>
        <p:nvSpPr>
          <p:cNvPr id="2" name="标题 1"/>
          <p:cNvSpPr>
            <a:spLocks noGrp="1"/>
          </p:cNvSpPr>
          <p:nvPr>
            <p:ph type="title"/>
          </p:nvPr>
        </p:nvSpPr>
        <p:spPr bwMode="gray"/>
        <p:txBody>
          <a:bodyPr>
            <a:normAutofit/>
          </a:bodyPr>
          <a:lstStyle/>
          <a:p>
            <a:r>
              <a:rPr lang="en-US" altLang="zh-CN" dirty="0"/>
              <a:t>Portal</a:t>
            </a:r>
            <a:r>
              <a:rPr lang="zh-CN" altLang="en-US" dirty="0"/>
              <a:t>认证</a:t>
            </a:r>
            <a:r>
              <a:rPr lang="zh-CN" altLang="en-US" dirty="0" smtClean="0"/>
              <a:t>流程：认证协议为</a:t>
            </a:r>
            <a:r>
              <a:rPr lang="en-US" altLang="zh-CN" dirty="0" smtClean="0"/>
              <a:t>Portal</a:t>
            </a:r>
            <a:r>
              <a:rPr lang="zh-CN" altLang="en-US" dirty="0"/>
              <a:t>协议</a:t>
            </a:r>
          </a:p>
        </p:txBody>
      </p:sp>
      <p:sp>
        <p:nvSpPr>
          <p:cNvPr id="41" name="文本框 40"/>
          <p:cNvSpPr txBox="1"/>
          <p:nvPr/>
        </p:nvSpPr>
        <p:spPr bwMode="gray">
          <a:xfrm>
            <a:off x="6306489" y="2266689"/>
            <a:ext cx="5192423" cy="3247043"/>
          </a:xfrm>
          <a:prstGeom prst="rect">
            <a:avLst/>
          </a:prstGeom>
          <a:noFill/>
          <a:ln>
            <a:solidFill>
              <a:srgbClr val="99DFF9"/>
            </a:solidFill>
          </a:ln>
        </p:spPr>
        <p:txBody>
          <a:bodyPr wrap="square" rtlCol="0" anchor="ctr">
            <a:spAutoFit/>
          </a:bodyPr>
          <a:lstStyle/>
          <a:p>
            <a:pPr marL="285750" indent="-285750">
              <a:lnSpc>
                <a:spcPts val="2400"/>
              </a:lnSpc>
              <a:spcAft>
                <a:spcPts val="600"/>
              </a:spcAft>
              <a:buFont typeface="Arial" panose="020B0604020202020204" pitchFamily="34" charset="0"/>
              <a:buChar char="•"/>
            </a:pPr>
            <a:r>
              <a:rPr lang="zh-CN" altLang="en-US" sz="1600" dirty="0"/>
              <a:t>该协议描述了</a:t>
            </a:r>
            <a:r>
              <a:rPr lang="en-US" altLang="zh-CN" sz="1600" dirty="0"/>
              <a:t>Portal</a:t>
            </a:r>
            <a:r>
              <a:rPr lang="zh-CN" altLang="en-US" sz="1600" dirty="0"/>
              <a:t>服务器和接入设备之间的协议交互，可以用来传递用户名和密码等参数。一般情况下，建议采用</a:t>
            </a:r>
            <a:r>
              <a:rPr lang="en-US" altLang="zh-CN" sz="1600" dirty="0"/>
              <a:t>Portal</a:t>
            </a:r>
            <a:r>
              <a:rPr lang="zh-CN" altLang="en-US" sz="1600" dirty="0"/>
              <a:t>协议作为认证协议。</a:t>
            </a:r>
            <a:endParaRPr lang="en-US" altLang="zh-CN" sz="1600" dirty="0"/>
          </a:p>
          <a:p>
            <a:pPr marL="285750" indent="-285750">
              <a:lnSpc>
                <a:spcPts val="2400"/>
              </a:lnSpc>
              <a:spcAft>
                <a:spcPts val="600"/>
              </a:spcAft>
              <a:buFont typeface="Arial" panose="020B0604020202020204" pitchFamily="34" charset="0"/>
              <a:buChar char="•"/>
            </a:pPr>
            <a:r>
              <a:rPr lang="zh-CN" altLang="en-US" sz="1600" dirty="0"/>
              <a:t>该协议特点包括：</a:t>
            </a:r>
            <a:endParaRPr lang="en-US" altLang="zh-CN" sz="1600" dirty="0"/>
          </a:p>
          <a:p>
            <a:pPr marL="573750" indent="-285750">
              <a:lnSpc>
                <a:spcPts val="2400"/>
              </a:lnSpc>
              <a:spcAft>
                <a:spcPts val="600"/>
              </a:spcAft>
              <a:buSzPct val="50000"/>
              <a:buFont typeface="Wingdings" panose="05000000000000000000" pitchFamily="2" charset="2"/>
              <a:buChar char="p"/>
            </a:pPr>
            <a:r>
              <a:rPr lang="zh-CN" altLang="en-US" sz="1400" dirty="0"/>
              <a:t>采用客户机</a:t>
            </a:r>
            <a:r>
              <a:rPr lang="en-US" altLang="zh-CN" sz="1400" dirty="0"/>
              <a:t>/</a:t>
            </a:r>
            <a:r>
              <a:rPr lang="zh-CN" altLang="en-US" sz="1400" dirty="0"/>
              <a:t>服务器结构，基于</a:t>
            </a:r>
            <a:r>
              <a:rPr lang="en-US" altLang="zh-CN" sz="1400" dirty="0"/>
              <a:t>UDP</a:t>
            </a:r>
            <a:r>
              <a:rPr lang="zh-CN" altLang="en-US" sz="1400" dirty="0"/>
              <a:t>运行。 </a:t>
            </a:r>
            <a:endParaRPr lang="en-US" altLang="zh-CN" sz="1400" dirty="0"/>
          </a:p>
          <a:p>
            <a:pPr marL="573750" indent="-285750">
              <a:lnSpc>
                <a:spcPts val="2400"/>
              </a:lnSpc>
              <a:spcAft>
                <a:spcPts val="600"/>
              </a:spcAft>
              <a:buSzPct val="50000"/>
              <a:buFont typeface="Wingdings" panose="05000000000000000000" pitchFamily="2" charset="2"/>
              <a:buChar char="p"/>
            </a:pPr>
            <a:r>
              <a:rPr lang="zh-CN" altLang="en-US" sz="1400" dirty="0"/>
              <a:t>支持</a:t>
            </a:r>
            <a:r>
              <a:rPr lang="en-US" altLang="zh-CN" sz="1400" dirty="0"/>
              <a:t>CHAP</a:t>
            </a:r>
            <a:r>
              <a:rPr lang="zh-CN" altLang="en-US" sz="1400" dirty="0"/>
              <a:t>和</a:t>
            </a:r>
            <a:r>
              <a:rPr lang="en-US" altLang="zh-CN" sz="1400" dirty="0"/>
              <a:t>PAP</a:t>
            </a:r>
            <a:r>
              <a:rPr lang="zh-CN" altLang="en-US" sz="1400" dirty="0"/>
              <a:t>两种认证方式。相比较</a:t>
            </a:r>
            <a:r>
              <a:rPr lang="en-US" altLang="zh-CN" sz="1400" dirty="0"/>
              <a:t>PAP</a:t>
            </a:r>
            <a:r>
              <a:rPr lang="zh-CN" altLang="en-US" sz="1400" dirty="0"/>
              <a:t>，</a:t>
            </a:r>
            <a:r>
              <a:rPr lang="en-US" altLang="zh-CN" sz="1400" dirty="0"/>
              <a:t>CHAP</a:t>
            </a:r>
            <a:r>
              <a:rPr lang="zh-CN" altLang="en-US" sz="1400" dirty="0"/>
              <a:t>有更高的安全性。</a:t>
            </a:r>
            <a:endParaRPr lang="en-US" altLang="zh-CN" sz="1400" dirty="0"/>
          </a:p>
          <a:p>
            <a:pPr marL="573750" indent="-285750">
              <a:lnSpc>
                <a:spcPts val="2400"/>
              </a:lnSpc>
              <a:spcAft>
                <a:spcPts val="600"/>
              </a:spcAft>
              <a:buSzPct val="50000"/>
              <a:buFont typeface="Wingdings" panose="05000000000000000000" pitchFamily="2" charset="2"/>
              <a:buChar char="p"/>
            </a:pPr>
            <a:r>
              <a:rPr lang="zh-CN" altLang="en-US" sz="1400" dirty="0"/>
              <a:t>报文采用</a:t>
            </a:r>
            <a:r>
              <a:rPr lang="en-US" altLang="zh-CN" sz="1400" dirty="0"/>
              <a:t>TLV</a:t>
            </a:r>
            <a:r>
              <a:rPr lang="zh-CN" altLang="en-US" sz="1400" dirty="0"/>
              <a:t>格式携带用户名、密码、用户</a:t>
            </a:r>
            <a:r>
              <a:rPr lang="en-US" altLang="zh-CN" sz="1400" dirty="0"/>
              <a:t>MAC</a:t>
            </a:r>
            <a:r>
              <a:rPr lang="zh-CN" altLang="en-US" sz="1400" dirty="0"/>
              <a:t>等属性信息。</a:t>
            </a:r>
            <a:endParaRPr lang="en-US" altLang="zh-CN" sz="1400" dirty="0"/>
          </a:p>
        </p:txBody>
      </p:sp>
      <p:sp>
        <p:nvSpPr>
          <p:cNvPr id="42" name="圆角矩形 75"/>
          <p:cNvSpPr/>
          <p:nvPr/>
        </p:nvSpPr>
        <p:spPr bwMode="gray">
          <a:xfrm>
            <a:off x="6306489" y="1858149"/>
            <a:ext cx="519242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协议</a:t>
            </a:r>
          </a:p>
        </p:txBody>
      </p:sp>
      <p:sp>
        <p:nvSpPr>
          <p:cNvPr id="46" name="文本框 45"/>
          <p:cNvSpPr txBox="1"/>
          <p:nvPr/>
        </p:nvSpPr>
        <p:spPr bwMode="gray">
          <a:xfrm>
            <a:off x="1930131" y="2692841"/>
            <a:ext cx="2649006" cy="307777"/>
          </a:xfrm>
          <a:prstGeom prst="rect">
            <a:avLst/>
          </a:prstGeom>
          <a:noFill/>
        </p:spPr>
        <p:txBody>
          <a:bodyPr wrap="square" rtlCol="0">
            <a:spAutoFit/>
          </a:bodyPr>
          <a:lstStyle/>
          <a:p>
            <a:pPr algn="ctr"/>
            <a:r>
              <a:rPr lang="zh-CN" altLang="en-US" sz="1400" b="1" dirty="0">
                <a:solidFill>
                  <a:srgbClr val="F28944"/>
                </a:solidFill>
              </a:rPr>
              <a:t>基于</a:t>
            </a:r>
            <a:r>
              <a:rPr lang="en-US" altLang="zh-CN" sz="1400" b="1" dirty="0">
                <a:solidFill>
                  <a:srgbClr val="F28944"/>
                </a:solidFill>
              </a:rPr>
              <a:t>Portal</a:t>
            </a:r>
            <a:r>
              <a:rPr lang="zh-CN" altLang="en-US" sz="1400" b="1" dirty="0">
                <a:solidFill>
                  <a:srgbClr val="F28944"/>
                </a:solidFill>
              </a:rPr>
              <a:t>协议的</a:t>
            </a:r>
            <a:r>
              <a:rPr lang="en-US" altLang="zh-CN" sz="1400" b="1" dirty="0">
                <a:solidFill>
                  <a:srgbClr val="F28944"/>
                </a:solidFill>
              </a:rPr>
              <a:t>Portal</a:t>
            </a:r>
            <a:r>
              <a:rPr lang="zh-CN" altLang="en-US" sz="1400" b="1" dirty="0">
                <a:solidFill>
                  <a:srgbClr val="F28944"/>
                </a:solidFill>
              </a:rPr>
              <a:t>认证</a:t>
            </a:r>
          </a:p>
        </p:txBody>
      </p:sp>
      <p:sp>
        <p:nvSpPr>
          <p:cNvPr id="114" name="五边形 113"/>
          <p:cNvSpPr/>
          <p:nvPr/>
        </p:nvSpPr>
        <p:spPr bwMode="gray">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燕尾形 114"/>
          <p:cNvSpPr/>
          <p:nvPr/>
        </p:nvSpPr>
        <p:spPr bwMode="gray">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116" name="燕尾形 115"/>
          <p:cNvSpPr/>
          <p:nvPr/>
        </p:nvSpPr>
        <p:spPr bwMode="gray">
          <a:xfrm>
            <a:off x="10218826"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117" name="燕尾形 116"/>
          <p:cNvSpPr/>
          <p:nvPr/>
        </p:nvSpPr>
        <p:spPr bwMode="gray">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925823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45043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t>Portal</a:t>
            </a:r>
            <a:r>
              <a:rPr lang="zh-CN" altLang="en-US" dirty="0"/>
              <a:t>认证</a:t>
            </a:r>
            <a:r>
              <a:rPr lang="zh-CN" altLang="en-US" dirty="0" smtClean="0"/>
              <a:t>流程：认证协议为</a:t>
            </a:r>
            <a:r>
              <a:rPr lang="en-US" altLang="zh-CN" dirty="0" smtClean="0"/>
              <a:t>HTTP/HTTPS</a:t>
            </a:r>
            <a:r>
              <a:rPr lang="zh-CN" altLang="en-US" dirty="0"/>
              <a:t>协议</a:t>
            </a:r>
          </a:p>
        </p:txBody>
      </p:sp>
      <p:sp>
        <p:nvSpPr>
          <p:cNvPr id="35" name="圆角矩形 34"/>
          <p:cNvSpPr/>
          <p:nvPr/>
        </p:nvSpPr>
        <p:spPr bwMode="gray">
          <a:xfrm>
            <a:off x="642238" y="2619867"/>
            <a:ext cx="3637928" cy="2805707"/>
          </a:xfrm>
          <a:prstGeom prst="roundRect">
            <a:avLst>
              <a:gd name="adj" fmla="val 5912"/>
            </a:avLst>
          </a:prstGeom>
          <a:solidFill>
            <a:srgbClr val="F5FCFD"/>
          </a:solidFill>
          <a:ln w="9525">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481596" y="2726299"/>
            <a:ext cx="4011593" cy="307777"/>
          </a:xfrm>
          <a:prstGeom prst="rect">
            <a:avLst/>
          </a:prstGeom>
          <a:noFill/>
        </p:spPr>
        <p:txBody>
          <a:bodyPr wrap="square" rtlCol="0">
            <a:spAutoFit/>
          </a:bodyPr>
          <a:lstStyle/>
          <a:p>
            <a:pPr algn="ctr"/>
            <a:r>
              <a:rPr lang="zh-CN" altLang="en-US" sz="1400" b="1" dirty="0">
                <a:solidFill>
                  <a:srgbClr val="F28944"/>
                </a:solidFill>
              </a:rPr>
              <a:t>基于</a:t>
            </a:r>
            <a:r>
              <a:rPr lang="en-US" altLang="zh-CN" sz="1400" b="1" dirty="0">
                <a:solidFill>
                  <a:srgbClr val="F28944"/>
                </a:solidFill>
              </a:rPr>
              <a:t>HTTP/HTTPS</a:t>
            </a:r>
            <a:r>
              <a:rPr lang="zh-CN" altLang="en-US" sz="1400" b="1" dirty="0">
                <a:solidFill>
                  <a:srgbClr val="F28944"/>
                </a:solidFill>
              </a:rPr>
              <a:t>协议的</a:t>
            </a:r>
            <a:r>
              <a:rPr lang="en-US" altLang="zh-CN" sz="1400" b="1" dirty="0">
                <a:solidFill>
                  <a:srgbClr val="F28944"/>
                </a:solidFill>
              </a:rPr>
              <a:t>Portal</a:t>
            </a:r>
            <a:r>
              <a:rPr lang="zh-CN" altLang="en-US" sz="1400" b="1" dirty="0">
                <a:solidFill>
                  <a:srgbClr val="F28944"/>
                </a:solidFill>
              </a:rPr>
              <a:t>认证</a:t>
            </a:r>
          </a:p>
        </p:txBody>
      </p:sp>
      <p:grpSp>
        <p:nvGrpSpPr>
          <p:cNvPr id="37" name="组合 36"/>
          <p:cNvGrpSpPr/>
          <p:nvPr/>
        </p:nvGrpSpPr>
        <p:grpSpPr bwMode="gray">
          <a:xfrm>
            <a:off x="844201" y="3681736"/>
            <a:ext cx="3166794" cy="646331"/>
            <a:chOff x="2423392" y="3666250"/>
            <a:chExt cx="1560625" cy="646331"/>
          </a:xfrm>
        </p:grpSpPr>
        <p:cxnSp>
          <p:nvCxnSpPr>
            <p:cNvPr id="61" name="直接箭头连接符 60">
              <a:extLst>
                <a:ext uri="{FF2B5EF4-FFF2-40B4-BE49-F238E27FC236}">
                  <a16:creationId xmlns:a16="http://schemas.microsoft.com/office/drawing/2014/main" xmlns="" id="{7D2A6B36-0425-4AF5-8615-B057DC5231D8}"/>
                </a:ext>
              </a:extLst>
            </p:cNvPr>
            <p:cNvCxnSpPr/>
            <p:nvPr/>
          </p:nvCxnSpPr>
          <p:spPr bwMode="gray">
            <a:xfrm>
              <a:off x="2439015" y="4279824"/>
              <a:ext cx="1506422" cy="0"/>
            </a:xfrm>
            <a:prstGeom prst="straightConnector1">
              <a:avLst/>
            </a:prstGeom>
            <a:noFill/>
            <a:ln w="12700" cap="flat" cmpd="sng" algn="ctr">
              <a:solidFill>
                <a:schemeClr val="tx1"/>
              </a:solidFill>
              <a:prstDash val="solid"/>
              <a:round/>
              <a:headEnd type="none" w="med" len="med"/>
              <a:tailEnd type="triangle"/>
            </a:ln>
            <a:effectLst/>
          </p:spPr>
        </p:cxnSp>
        <p:sp>
          <p:nvSpPr>
            <p:cNvPr id="62" name="文本框 61"/>
            <p:cNvSpPr txBox="1"/>
            <p:nvPr/>
          </p:nvSpPr>
          <p:spPr bwMode="gray">
            <a:xfrm>
              <a:off x="2423392" y="3666250"/>
              <a:ext cx="1560625" cy="646331"/>
            </a:xfrm>
            <a:prstGeom prst="rect">
              <a:avLst/>
            </a:prstGeom>
            <a:noFill/>
          </p:spPr>
          <p:txBody>
            <a:bodyPr wrap="square" rtlCol="0">
              <a:spAutoFit/>
            </a:bodyPr>
            <a:lstStyle/>
            <a:p>
              <a:r>
                <a:rPr lang="en-US" altLang="zh-CN" sz="1200" dirty="0"/>
                <a:t>8.Portal</a:t>
              </a:r>
              <a:r>
                <a:rPr lang="zh-CN" altLang="en-US" sz="1200" dirty="0"/>
                <a:t>认证请求</a:t>
              </a:r>
              <a:r>
                <a:rPr lang="zh-CN" altLang="en-US" sz="1200" b="1" dirty="0">
                  <a:solidFill>
                    <a:srgbClr val="F28944"/>
                  </a:solidFill>
                </a:rPr>
                <a:t>（</a:t>
              </a:r>
              <a:r>
                <a:rPr lang="en-US" altLang="zh-CN" sz="1200" b="1" dirty="0">
                  <a:solidFill>
                    <a:srgbClr val="F28944"/>
                  </a:solidFill>
                </a:rPr>
                <a:t>HTTP/HTTPS</a:t>
              </a:r>
              <a:r>
                <a:rPr lang="zh-CN" altLang="en-US" sz="1200" b="1" dirty="0">
                  <a:solidFill>
                    <a:srgbClr val="F28944"/>
                  </a:solidFill>
                </a:rPr>
                <a:t>）</a:t>
              </a:r>
              <a:endParaRPr lang="en-US" altLang="zh-CN" sz="1200" b="1" dirty="0">
                <a:solidFill>
                  <a:srgbClr val="F28944"/>
                </a:solidFill>
              </a:endParaRPr>
            </a:p>
            <a:p>
              <a:r>
                <a:rPr lang="en-US" altLang="zh-CN" sz="1200" dirty="0"/>
                <a:t>https://Portal.example.com/login?</a:t>
              </a:r>
              <a:r>
                <a:rPr lang="en-US" altLang="zh-CN" sz="1200" b="1" dirty="0"/>
                <a:t>userName=test&amp;password=Huawei@123</a:t>
              </a:r>
              <a:endParaRPr lang="zh-CN" altLang="en-US" sz="1200" b="1" dirty="0">
                <a:solidFill>
                  <a:srgbClr val="EC7061"/>
                </a:solidFill>
              </a:endParaRPr>
            </a:p>
          </p:txBody>
        </p:sp>
      </p:grpSp>
      <p:grpSp>
        <p:nvGrpSpPr>
          <p:cNvPr id="38" name="组合 37"/>
          <p:cNvGrpSpPr/>
          <p:nvPr/>
        </p:nvGrpSpPr>
        <p:grpSpPr bwMode="gray">
          <a:xfrm>
            <a:off x="3932709" y="4295310"/>
            <a:ext cx="1740732" cy="461665"/>
            <a:chOff x="3945791" y="3893053"/>
            <a:chExt cx="1740732" cy="461665"/>
          </a:xfrm>
        </p:grpSpPr>
        <p:cxnSp>
          <p:nvCxnSpPr>
            <p:cNvPr id="59" name="直接箭头连接符 58">
              <a:extLst>
                <a:ext uri="{FF2B5EF4-FFF2-40B4-BE49-F238E27FC236}">
                  <a16:creationId xmlns:a16="http://schemas.microsoft.com/office/drawing/2014/main" xmlns="" id="{7D2A6B36-0425-4AF5-8615-B057DC5231D8}"/>
                </a:ext>
              </a:extLst>
            </p:cNvPr>
            <p:cNvCxnSpPr/>
            <p:nvPr/>
          </p:nvCxnSpPr>
          <p:spPr bwMode="gray">
            <a:xfrm>
              <a:off x="4050076" y="4294410"/>
              <a:ext cx="1506422" cy="0"/>
            </a:xfrm>
            <a:prstGeom prst="straightConnector1">
              <a:avLst/>
            </a:prstGeom>
            <a:noFill/>
            <a:ln w="12700" cap="flat" cmpd="sng" algn="ctr">
              <a:solidFill>
                <a:schemeClr val="tx1"/>
              </a:solidFill>
              <a:prstDash val="solid"/>
              <a:round/>
              <a:headEnd type="triangle" w="med" len="med"/>
              <a:tailEnd type="triangle"/>
            </a:ln>
            <a:effectLst/>
          </p:spPr>
        </p:cxnSp>
        <p:sp>
          <p:nvSpPr>
            <p:cNvPr id="60" name="文本框 59"/>
            <p:cNvSpPr txBox="1"/>
            <p:nvPr/>
          </p:nvSpPr>
          <p:spPr bwMode="gray">
            <a:xfrm>
              <a:off x="3945791" y="3893053"/>
              <a:ext cx="1740732" cy="461665"/>
            </a:xfrm>
            <a:prstGeom prst="rect">
              <a:avLst/>
            </a:prstGeom>
            <a:noFill/>
          </p:spPr>
          <p:txBody>
            <a:bodyPr wrap="square" rtlCol="0">
              <a:spAutoFit/>
            </a:bodyPr>
            <a:lstStyle/>
            <a:p>
              <a:pPr algn="ctr"/>
              <a:r>
                <a:rPr lang="en-US" altLang="zh-CN" sz="1200" dirty="0"/>
                <a:t>9.RADIUS</a:t>
              </a:r>
              <a:r>
                <a:rPr lang="zh-CN" altLang="en-US" sz="1200" dirty="0"/>
                <a:t>认证</a:t>
              </a:r>
              <a:endParaRPr lang="en-US" altLang="zh-CN" sz="1200" dirty="0"/>
            </a:p>
            <a:p>
              <a:pPr algn="ctr"/>
              <a:r>
                <a:rPr lang="zh-CN" altLang="en-US" sz="1200" dirty="0"/>
                <a:t>与计费交互</a:t>
              </a:r>
            </a:p>
          </p:txBody>
        </p:sp>
      </p:grpSp>
      <p:grpSp>
        <p:nvGrpSpPr>
          <p:cNvPr id="39" name="组合 38"/>
          <p:cNvGrpSpPr/>
          <p:nvPr/>
        </p:nvGrpSpPr>
        <p:grpSpPr bwMode="gray">
          <a:xfrm>
            <a:off x="800474" y="4958831"/>
            <a:ext cx="3232558" cy="276999"/>
            <a:chOff x="2400942" y="4489191"/>
            <a:chExt cx="1663629" cy="276999"/>
          </a:xfrm>
        </p:grpSpPr>
        <p:cxnSp>
          <p:nvCxnSpPr>
            <p:cNvPr id="57" name="直接箭头连接符 56">
              <a:extLst>
                <a:ext uri="{FF2B5EF4-FFF2-40B4-BE49-F238E27FC236}">
                  <a16:creationId xmlns:a16="http://schemas.microsoft.com/office/drawing/2014/main" xmlns="" id="{7D2A6B36-0425-4AF5-8615-B057DC5231D8}"/>
                </a:ext>
              </a:extLst>
            </p:cNvPr>
            <p:cNvCxnSpPr/>
            <p:nvPr/>
          </p:nvCxnSpPr>
          <p:spPr bwMode="gray">
            <a:xfrm>
              <a:off x="2467252" y="4706294"/>
              <a:ext cx="1506422" cy="0"/>
            </a:xfrm>
            <a:prstGeom prst="straightConnector1">
              <a:avLst/>
            </a:prstGeom>
            <a:noFill/>
            <a:ln w="12700" cap="flat" cmpd="sng" algn="ctr">
              <a:solidFill>
                <a:schemeClr val="tx1"/>
              </a:solidFill>
              <a:prstDash val="solid"/>
              <a:round/>
              <a:headEnd type="triangle" w="med" len="med"/>
              <a:tailEnd type="none"/>
            </a:ln>
            <a:effectLst/>
          </p:spPr>
        </p:cxnSp>
        <p:sp>
          <p:nvSpPr>
            <p:cNvPr id="58" name="文本框 57"/>
            <p:cNvSpPr txBox="1"/>
            <p:nvPr/>
          </p:nvSpPr>
          <p:spPr bwMode="gray">
            <a:xfrm>
              <a:off x="2400942" y="4489191"/>
              <a:ext cx="1663629" cy="276999"/>
            </a:xfrm>
            <a:prstGeom prst="rect">
              <a:avLst/>
            </a:prstGeom>
            <a:noFill/>
          </p:spPr>
          <p:txBody>
            <a:bodyPr wrap="square" rtlCol="0">
              <a:spAutoFit/>
            </a:bodyPr>
            <a:lstStyle/>
            <a:p>
              <a:pPr algn="r"/>
              <a:r>
                <a:rPr lang="en-US" altLang="zh-CN" sz="1200" dirty="0"/>
                <a:t>10.Portal</a:t>
              </a:r>
              <a:r>
                <a:rPr lang="zh-CN" altLang="en-US" sz="1200" dirty="0"/>
                <a:t>认证结果</a:t>
              </a:r>
            </a:p>
          </p:txBody>
        </p:sp>
      </p:grpSp>
      <p:pic>
        <p:nvPicPr>
          <p:cNvPr id="40" name="图片 39" descr="交换机.png"/>
          <p:cNvPicPr>
            <a:picLocks noChangeAspect="1"/>
          </p:cNvPicPr>
          <p:nvPr/>
        </p:nvPicPr>
        <p:blipFill>
          <a:blip r:embed="rId3" cstate="print"/>
          <a:stretch>
            <a:fillRect/>
          </a:stretch>
        </p:blipFill>
        <p:spPr bwMode="gray">
          <a:xfrm>
            <a:off x="579204" y="1512877"/>
            <a:ext cx="539999" cy="441817"/>
          </a:xfrm>
          <a:prstGeom prst="rect">
            <a:avLst/>
          </a:prstGeom>
        </p:spPr>
      </p:pic>
      <p:sp>
        <p:nvSpPr>
          <p:cNvPr id="41" name="文本框 40"/>
          <p:cNvSpPr txBox="1"/>
          <p:nvPr/>
        </p:nvSpPr>
        <p:spPr bwMode="gray">
          <a:xfrm>
            <a:off x="481596" y="1225534"/>
            <a:ext cx="723275" cy="307777"/>
          </a:xfrm>
          <a:prstGeom prst="rect">
            <a:avLst/>
          </a:prstGeom>
          <a:noFill/>
        </p:spPr>
        <p:txBody>
          <a:bodyPr wrap="square" rtlCol="0">
            <a:spAutoFit/>
          </a:bodyPr>
          <a:lstStyle/>
          <a:p>
            <a:r>
              <a:rPr lang="zh-CN" altLang="en-US" sz="1400" dirty="0"/>
              <a:t>客户端</a:t>
            </a:r>
          </a:p>
        </p:txBody>
      </p:sp>
      <p:pic>
        <p:nvPicPr>
          <p:cNvPr id="42" name="图片 41" descr="交换机.png"/>
          <p:cNvPicPr>
            <a:picLocks noChangeAspect="1"/>
          </p:cNvPicPr>
          <p:nvPr/>
        </p:nvPicPr>
        <p:blipFill>
          <a:blip r:embed="rId4" cstate="print"/>
          <a:stretch>
            <a:fillRect/>
          </a:stretch>
        </p:blipFill>
        <p:spPr bwMode="gray">
          <a:xfrm>
            <a:off x="2159858" y="1500739"/>
            <a:ext cx="540000" cy="441817"/>
          </a:xfrm>
          <a:prstGeom prst="rect">
            <a:avLst/>
          </a:prstGeom>
        </p:spPr>
      </p:pic>
      <p:sp>
        <p:nvSpPr>
          <p:cNvPr id="43" name="文本框 42"/>
          <p:cNvSpPr txBox="1"/>
          <p:nvPr/>
        </p:nvSpPr>
        <p:spPr bwMode="gray">
          <a:xfrm>
            <a:off x="1823762" y="1213396"/>
            <a:ext cx="1212191" cy="307777"/>
          </a:xfrm>
          <a:prstGeom prst="rect">
            <a:avLst/>
          </a:prstGeom>
          <a:noFill/>
        </p:spPr>
        <p:txBody>
          <a:bodyPr wrap="square" rtlCol="0">
            <a:spAutoFit/>
          </a:bodyPr>
          <a:lstStyle/>
          <a:p>
            <a:pPr algn="ctr"/>
            <a:r>
              <a:rPr lang="en-US" altLang="zh-CN" sz="1400" dirty="0"/>
              <a:t>Portal</a:t>
            </a:r>
            <a:r>
              <a:rPr lang="zh-CN" altLang="en-US" sz="1400" dirty="0"/>
              <a:t>服务器</a:t>
            </a:r>
          </a:p>
        </p:txBody>
      </p:sp>
      <p:sp>
        <p:nvSpPr>
          <p:cNvPr id="44" name="文本框 43"/>
          <p:cNvSpPr txBox="1"/>
          <p:nvPr/>
        </p:nvSpPr>
        <p:spPr bwMode="gray">
          <a:xfrm>
            <a:off x="3560190" y="1213396"/>
            <a:ext cx="902811" cy="307777"/>
          </a:xfrm>
          <a:prstGeom prst="rect">
            <a:avLst/>
          </a:prstGeom>
          <a:noFill/>
        </p:spPr>
        <p:txBody>
          <a:bodyPr wrap="square" rtlCol="0">
            <a:spAutoFit/>
          </a:bodyPr>
          <a:lstStyle/>
          <a:p>
            <a:pPr algn="ctr"/>
            <a:r>
              <a:rPr lang="zh-CN" altLang="en-US" sz="1400" dirty="0"/>
              <a:t>接入设备</a:t>
            </a:r>
          </a:p>
        </p:txBody>
      </p:sp>
      <p:sp>
        <p:nvSpPr>
          <p:cNvPr id="45" name="文本框 44"/>
          <p:cNvSpPr txBox="1"/>
          <p:nvPr/>
        </p:nvSpPr>
        <p:spPr bwMode="gray">
          <a:xfrm>
            <a:off x="5049994" y="1225534"/>
            <a:ext cx="1082348" cy="307777"/>
          </a:xfrm>
          <a:prstGeom prst="rect">
            <a:avLst/>
          </a:prstGeom>
          <a:noFill/>
        </p:spPr>
        <p:txBody>
          <a:bodyPr wrap="square" rtlCol="0">
            <a:spAutoFit/>
          </a:bodyPr>
          <a:lstStyle/>
          <a:p>
            <a:pPr algn="ctr"/>
            <a:r>
              <a:rPr lang="zh-CN" altLang="en-US" sz="1400" dirty="0"/>
              <a:t>认证服务器</a:t>
            </a:r>
          </a:p>
        </p:txBody>
      </p:sp>
      <p:pic>
        <p:nvPicPr>
          <p:cNvPr id="46" name="图片 45" descr="交换机.png"/>
          <p:cNvPicPr>
            <a:picLocks noChangeAspect="1"/>
          </p:cNvPicPr>
          <p:nvPr/>
        </p:nvPicPr>
        <p:blipFill>
          <a:blip r:embed="rId5" cstate="print"/>
          <a:stretch>
            <a:fillRect/>
          </a:stretch>
        </p:blipFill>
        <p:spPr bwMode="gray">
          <a:xfrm>
            <a:off x="5321169" y="1512877"/>
            <a:ext cx="539999" cy="441817"/>
          </a:xfrm>
          <a:prstGeom prst="rect">
            <a:avLst/>
          </a:prstGeom>
        </p:spPr>
      </p:pic>
      <p:cxnSp>
        <p:nvCxnSpPr>
          <p:cNvPr id="47" name="直接连接符 46"/>
          <p:cNvCxnSpPr/>
          <p:nvPr/>
        </p:nvCxnSpPr>
        <p:spPr bwMode="gray">
          <a:xfrm>
            <a:off x="2405019" y="2107343"/>
            <a:ext cx="0" cy="3439415"/>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48" name="直接连接符 47"/>
          <p:cNvCxnSpPr/>
          <p:nvPr/>
        </p:nvCxnSpPr>
        <p:spPr bwMode="gray">
          <a:xfrm>
            <a:off x="4013686" y="2107344"/>
            <a:ext cx="0" cy="3439415"/>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49" name="直接连接符 48"/>
          <p:cNvCxnSpPr/>
          <p:nvPr/>
        </p:nvCxnSpPr>
        <p:spPr bwMode="gray">
          <a:xfrm>
            <a:off x="5588486" y="2107344"/>
            <a:ext cx="0" cy="3439415"/>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50" name="直接箭头连接符 49">
            <a:extLst>
              <a:ext uri="{FF2B5EF4-FFF2-40B4-BE49-F238E27FC236}">
                <a16:creationId xmlns:a16="http://schemas.microsoft.com/office/drawing/2014/main" xmlns="" id="{7D2A6B36-0425-4AF5-8615-B057DC5231D8}"/>
              </a:ext>
            </a:extLst>
          </p:cNvPr>
          <p:cNvCxnSpPr/>
          <p:nvPr/>
        </p:nvCxnSpPr>
        <p:spPr bwMode="gray">
          <a:xfrm>
            <a:off x="892725" y="2397584"/>
            <a:ext cx="1430827" cy="0"/>
          </a:xfrm>
          <a:prstGeom prst="straightConnector1">
            <a:avLst/>
          </a:prstGeom>
          <a:noFill/>
          <a:ln w="12700" cap="flat" cmpd="sng" algn="ctr">
            <a:solidFill>
              <a:schemeClr val="tx1"/>
            </a:solidFill>
            <a:prstDash val="solid"/>
            <a:round/>
            <a:headEnd type="none" w="med" len="med"/>
            <a:tailEnd type="triangle"/>
          </a:ln>
          <a:effectLst/>
        </p:spPr>
      </p:cxnSp>
      <p:sp>
        <p:nvSpPr>
          <p:cNvPr id="51" name="文本框 50"/>
          <p:cNvSpPr txBox="1"/>
          <p:nvPr/>
        </p:nvSpPr>
        <p:spPr bwMode="gray">
          <a:xfrm>
            <a:off x="827697" y="2107343"/>
            <a:ext cx="1482209" cy="276999"/>
          </a:xfrm>
          <a:prstGeom prst="rect">
            <a:avLst/>
          </a:prstGeom>
          <a:noFill/>
        </p:spPr>
        <p:txBody>
          <a:bodyPr wrap="square" rtlCol="0">
            <a:spAutoFit/>
          </a:bodyPr>
          <a:lstStyle/>
          <a:p>
            <a:r>
              <a:rPr lang="en-US" altLang="zh-CN" sz="1200" dirty="0"/>
              <a:t>6.Portal</a:t>
            </a:r>
            <a:r>
              <a:rPr lang="zh-CN" altLang="en-US" sz="1200" dirty="0"/>
              <a:t>认证请求</a:t>
            </a:r>
          </a:p>
        </p:txBody>
      </p:sp>
      <p:grpSp>
        <p:nvGrpSpPr>
          <p:cNvPr id="52" name="组合 51"/>
          <p:cNvGrpSpPr/>
          <p:nvPr/>
        </p:nvGrpSpPr>
        <p:grpSpPr bwMode="gray">
          <a:xfrm>
            <a:off x="774764" y="3152934"/>
            <a:ext cx="1663629" cy="461665"/>
            <a:chOff x="2377695" y="3224156"/>
            <a:chExt cx="1663629" cy="461665"/>
          </a:xfrm>
        </p:grpSpPr>
        <p:cxnSp>
          <p:nvCxnSpPr>
            <p:cNvPr id="55" name="直接箭头连接符 54">
              <a:extLst>
                <a:ext uri="{FF2B5EF4-FFF2-40B4-BE49-F238E27FC236}">
                  <a16:creationId xmlns:a16="http://schemas.microsoft.com/office/drawing/2014/main" xmlns="" id="{7D2A6B36-0425-4AF5-8615-B057DC5231D8}"/>
                </a:ext>
              </a:extLst>
            </p:cNvPr>
            <p:cNvCxnSpPr/>
            <p:nvPr/>
          </p:nvCxnSpPr>
          <p:spPr bwMode="gray">
            <a:xfrm>
              <a:off x="2452756" y="3658544"/>
              <a:ext cx="1506422" cy="0"/>
            </a:xfrm>
            <a:prstGeom prst="straightConnector1">
              <a:avLst/>
            </a:prstGeom>
            <a:noFill/>
            <a:ln w="12700" cap="flat" cmpd="sng" algn="ctr">
              <a:solidFill>
                <a:schemeClr val="tx1"/>
              </a:solidFill>
              <a:prstDash val="solid"/>
              <a:round/>
              <a:headEnd type="triangle" w="med" len="med"/>
              <a:tailEnd type="none"/>
            </a:ln>
            <a:effectLst/>
          </p:spPr>
        </p:cxnSp>
        <p:sp>
          <p:nvSpPr>
            <p:cNvPr id="56" name="文本框 55"/>
            <p:cNvSpPr txBox="1"/>
            <p:nvPr/>
          </p:nvSpPr>
          <p:spPr bwMode="gray">
            <a:xfrm>
              <a:off x="2377695" y="3224156"/>
              <a:ext cx="1663629" cy="461665"/>
            </a:xfrm>
            <a:prstGeom prst="rect">
              <a:avLst/>
            </a:prstGeom>
            <a:noFill/>
          </p:spPr>
          <p:txBody>
            <a:bodyPr wrap="square" rtlCol="0">
              <a:spAutoFit/>
            </a:bodyPr>
            <a:lstStyle/>
            <a:p>
              <a:pPr algn="r"/>
              <a:r>
                <a:rPr lang="en-US" altLang="zh-CN" sz="1200" dirty="0"/>
                <a:t>7.</a:t>
              </a:r>
              <a:r>
                <a:rPr lang="zh-CN" altLang="en-US" sz="1200" dirty="0"/>
                <a:t>通知客户端向接入设备发起认证请求</a:t>
              </a:r>
            </a:p>
          </p:txBody>
        </p:sp>
      </p:grpSp>
      <p:cxnSp>
        <p:nvCxnSpPr>
          <p:cNvPr id="53" name="直接连接符 52"/>
          <p:cNvCxnSpPr/>
          <p:nvPr/>
        </p:nvCxnSpPr>
        <p:spPr bwMode="gray">
          <a:xfrm>
            <a:off x="818931" y="2107343"/>
            <a:ext cx="0" cy="3439415"/>
          </a:xfrm>
          <a:prstGeom prst="line">
            <a:avLst/>
          </a:prstGeom>
          <a:noFill/>
          <a:ln w="19050" cap="flat" cmpd="sng" algn="ctr">
            <a:solidFill>
              <a:schemeClr val="bg1">
                <a:lumMod val="75000"/>
              </a:schemeClr>
            </a:solidFill>
            <a:prstDash val="sysDot"/>
            <a:round/>
            <a:headEnd type="none" w="med" len="med"/>
            <a:tailEnd type="none" w="med" len="med"/>
          </a:ln>
          <a:effectLst/>
        </p:spPr>
      </p:cxnSp>
      <p:pic>
        <p:nvPicPr>
          <p:cNvPr id="54" name="图片 53" descr="通用交换机.png"/>
          <p:cNvPicPr>
            <a:picLocks noChangeAspect="1"/>
          </p:cNvPicPr>
          <p:nvPr/>
        </p:nvPicPr>
        <p:blipFill>
          <a:blip r:embed="rId6" cstate="print"/>
          <a:stretch>
            <a:fillRect/>
          </a:stretch>
        </p:blipFill>
        <p:spPr bwMode="gray">
          <a:xfrm>
            <a:off x="3743686" y="1520655"/>
            <a:ext cx="540000" cy="441818"/>
          </a:xfrm>
          <a:prstGeom prst="rect">
            <a:avLst/>
          </a:prstGeom>
        </p:spPr>
      </p:pic>
      <p:sp>
        <p:nvSpPr>
          <p:cNvPr id="63" name="文本框 62"/>
          <p:cNvSpPr txBox="1"/>
          <p:nvPr/>
        </p:nvSpPr>
        <p:spPr bwMode="gray">
          <a:xfrm>
            <a:off x="6306489" y="2051727"/>
            <a:ext cx="5192423" cy="3495031"/>
          </a:xfrm>
          <a:prstGeom prst="rect">
            <a:avLst/>
          </a:prstGeom>
          <a:noFill/>
          <a:ln>
            <a:solidFill>
              <a:srgbClr val="99DFF9"/>
            </a:solidFill>
          </a:ln>
        </p:spPr>
        <p:txBody>
          <a:bodyPr wrap="square" rtlCol="0" anchor="ctr">
            <a:noAutofit/>
          </a:bodyPr>
          <a:lstStyle/>
          <a:p>
            <a:pPr marL="285750" indent="-285750">
              <a:lnSpc>
                <a:spcPts val="2400"/>
              </a:lnSpc>
              <a:spcAft>
                <a:spcPts val="600"/>
              </a:spcAft>
              <a:buFont typeface="Arial" panose="020B0604020202020204" pitchFamily="34" charset="0"/>
              <a:buChar char="•"/>
            </a:pPr>
            <a:r>
              <a:rPr lang="zh-CN" altLang="en-US" sz="1600" dirty="0"/>
              <a:t>该协议描述了客户端和接入设备之间的协议交互，可以用来传递用户名和密码等参数。当</a:t>
            </a:r>
            <a:r>
              <a:rPr lang="en-US" altLang="zh-CN" sz="1600" dirty="0"/>
              <a:t>Portal</a:t>
            </a:r>
            <a:r>
              <a:rPr lang="zh-CN" altLang="en-US" sz="1600" dirty="0"/>
              <a:t>服务器不支持</a:t>
            </a:r>
            <a:r>
              <a:rPr lang="en-US" altLang="zh-CN" sz="1600" dirty="0"/>
              <a:t>Portal</a:t>
            </a:r>
            <a:r>
              <a:rPr lang="zh-CN" altLang="en-US" sz="1600" dirty="0"/>
              <a:t>协议时，可采用</a:t>
            </a:r>
            <a:r>
              <a:rPr lang="en-US" altLang="zh-CN" sz="1600" dirty="0"/>
              <a:t>HTTP/HTTPS</a:t>
            </a:r>
            <a:r>
              <a:rPr lang="zh-CN" altLang="en-US" sz="1600" dirty="0"/>
              <a:t>作为认证协议。</a:t>
            </a:r>
          </a:p>
          <a:p>
            <a:pPr marL="285750" indent="-285750">
              <a:lnSpc>
                <a:spcPts val="2400"/>
              </a:lnSpc>
              <a:spcAft>
                <a:spcPts val="600"/>
              </a:spcAft>
              <a:buFont typeface="Arial" panose="020B0604020202020204" pitchFamily="34" charset="0"/>
              <a:buChar char="•"/>
            </a:pPr>
            <a:r>
              <a:rPr lang="zh-CN" altLang="en-US" sz="1600" dirty="0"/>
              <a:t>客户端直接将用户信息通过</a:t>
            </a:r>
            <a:r>
              <a:rPr lang="en-US" altLang="zh-CN" sz="1600" dirty="0"/>
              <a:t>HTTP</a:t>
            </a:r>
            <a:r>
              <a:rPr lang="zh-CN" altLang="en-US" sz="1600" dirty="0"/>
              <a:t>请求的方式传递给接入设备，目前支持</a:t>
            </a:r>
            <a:r>
              <a:rPr lang="en-US" altLang="zh-CN" sz="1600" dirty="0"/>
              <a:t>POST</a:t>
            </a:r>
            <a:r>
              <a:rPr lang="zh-CN" altLang="en-US" sz="1600" dirty="0"/>
              <a:t>和</a:t>
            </a:r>
            <a:r>
              <a:rPr lang="en-US" altLang="zh-CN" sz="1600" dirty="0"/>
              <a:t>GET</a:t>
            </a:r>
            <a:r>
              <a:rPr lang="zh-CN" altLang="en-US" sz="1600" dirty="0"/>
              <a:t>两种请求方法。</a:t>
            </a:r>
            <a:endParaRPr lang="en-US" altLang="zh-CN" sz="1600" dirty="0"/>
          </a:p>
          <a:p>
            <a:pPr marL="573750" lvl="1" indent="-285750">
              <a:lnSpc>
                <a:spcPts val="2400"/>
              </a:lnSpc>
              <a:spcAft>
                <a:spcPts val="600"/>
              </a:spcAft>
              <a:buSzPct val="50000"/>
              <a:buFont typeface="Wingdings" panose="05000000000000000000" pitchFamily="2" charset="2"/>
              <a:buChar char="p"/>
            </a:pPr>
            <a:r>
              <a:rPr lang="en-US" altLang="zh-CN" sz="1400" dirty="0"/>
              <a:t>POST</a:t>
            </a:r>
            <a:r>
              <a:rPr lang="zh-CN" altLang="en-US" sz="1400" dirty="0"/>
              <a:t>：请求的数据放置在</a:t>
            </a:r>
            <a:r>
              <a:rPr lang="en-US" altLang="zh-CN" sz="1400" dirty="0"/>
              <a:t>HTTP</a:t>
            </a:r>
            <a:r>
              <a:rPr lang="zh-CN" altLang="en-US" sz="1400" dirty="0"/>
              <a:t>请求消息的消息正文中，不作为</a:t>
            </a:r>
            <a:r>
              <a:rPr lang="en-US" altLang="zh-CN" sz="1400" dirty="0"/>
              <a:t>URL</a:t>
            </a:r>
            <a:r>
              <a:rPr lang="zh-CN" altLang="en-US" sz="1400" dirty="0"/>
              <a:t>的一部分。设备默认支持此请求方法。</a:t>
            </a:r>
            <a:endParaRPr lang="en-US" altLang="zh-CN" sz="1400" dirty="0"/>
          </a:p>
          <a:p>
            <a:pPr marL="573750" lvl="1" indent="-285750">
              <a:lnSpc>
                <a:spcPts val="2400"/>
              </a:lnSpc>
              <a:spcAft>
                <a:spcPts val="600"/>
              </a:spcAft>
              <a:buSzPct val="50000"/>
              <a:buFont typeface="Wingdings" panose="05000000000000000000" pitchFamily="2" charset="2"/>
              <a:buChar char="p"/>
            </a:pPr>
            <a:r>
              <a:rPr lang="en-US" altLang="zh-CN" sz="1400" dirty="0"/>
              <a:t>GET</a:t>
            </a:r>
            <a:r>
              <a:rPr lang="zh-CN" altLang="en-US" sz="1400" dirty="0"/>
              <a:t>：请求的数据会附加在</a:t>
            </a:r>
            <a:r>
              <a:rPr lang="en-US" altLang="zh-CN" sz="1400" dirty="0"/>
              <a:t>URL</a:t>
            </a:r>
            <a:r>
              <a:rPr lang="zh-CN" altLang="en-US" sz="1400" dirty="0"/>
              <a:t>之后，以“</a:t>
            </a:r>
            <a:r>
              <a:rPr lang="en-US" altLang="zh-CN" sz="1400" dirty="0"/>
              <a:t>?</a:t>
            </a:r>
            <a:r>
              <a:rPr lang="zh-CN" altLang="en-US" sz="1400" dirty="0"/>
              <a:t>”分割</a:t>
            </a:r>
            <a:r>
              <a:rPr lang="en-US" altLang="zh-CN" sz="1400" dirty="0"/>
              <a:t>URL</a:t>
            </a:r>
            <a:r>
              <a:rPr lang="zh-CN" altLang="en-US" sz="1400" dirty="0"/>
              <a:t>和数据，数据在</a:t>
            </a:r>
            <a:r>
              <a:rPr lang="en-US" altLang="zh-CN" sz="1400" dirty="0"/>
              <a:t>URL</a:t>
            </a:r>
            <a:r>
              <a:rPr lang="zh-CN" altLang="en-US" sz="1400" dirty="0"/>
              <a:t>中对所有人都是可见的。</a:t>
            </a:r>
            <a:endParaRPr lang="en-US" altLang="zh-CN" sz="1400" dirty="0"/>
          </a:p>
        </p:txBody>
      </p:sp>
      <p:sp>
        <p:nvSpPr>
          <p:cNvPr id="64" name="圆角矩形 75"/>
          <p:cNvSpPr/>
          <p:nvPr/>
        </p:nvSpPr>
        <p:spPr bwMode="gray">
          <a:xfrm>
            <a:off x="6306489" y="1644494"/>
            <a:ext cx="519242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HTTP/HTTPS</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认证协议</a:t>
            </a:r>
          </a:p>
        </p:txBody>
      </p:sp>
      <p:sp>
        <p:nvSpPr>
          <p:cNvPr id="66" name="五边形 65"/>
          <p:cNvSpPr/>
          <p:nvPr/>
        </p:nvSpPr>
        <p:spPr bwMode="gray">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燕尾形 66"/>
          <p:cNvSpPr/>
          <p:nvPr/>
        </p:nvSpPr>
        <p:spPr bwMode="gray">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68" name="燕尾形 67"/>
          <p:cNvSpPr/>
          <p:nvPr/>
        </p:nvSpPr>
        <p:spPr bwMode="gray">
          <a:xfrm>
            <a:off x="10218826"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69" name="燕尾形 68"/>
          <p:cNvSpPr/>
          <p:nvPr/>
        </p:nvSpPr>
        <p:spPr bwMode="gray">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04463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Portal</a:t>
            </a:r>
            <a:r>
              <a:rPr lang="zh-CN" altLang="en-US" dirty="0"/>
              <a:t>认证配置命令 </a:t>
            </a:r>
            <a:r>
              <a:rPr lang="en-US" altLang="zh-CN" dirty="0"/>
              <a:t>- </a:t>
            </a:r>
            <a:r>
              <a:rPr lang="zh-CN" altLang="en-US" dirty="0"/>
              <a:t>配置外置</a:t>
            </a:r>
            <a:r>
              <a:rPr lang="en-US" altLang="zh-CN" dirty="0"/>
              <a:t>Portal</a:t>
            </a:r>
            <a:r>
              <a:rPr lang="zh-CN" altLang="en-US" dirty="0"/>
              <a:t>服务器 </a:t>
            </a:r>
            <a:r>
              <a:rPr lang="en-US" altLang="zh-CN" dirty="0"/>
              <a:t>(1)</a:t>
            </a:r>
            <a:endParaRPr lang="zh-CN" altLang="en-US" dirty="0"/>
          </a:p>
        </p:txBody>
      </p:sp>
      <p:sp>
        <p:nvSpPr>
          <p:cNvPr id="12" name="矩形 11">
            <a:extLst>
              <a:ext uri="{FF2B5EF4-FFF2-40B4-BE49-F238E27FC236}">
                <a16:creationId xmlns:a16="http://schemas.microsoft.com/office/drawing/2014/main" xmlns="" id="{4155CF1B-D6D5-4CBC-A7C4-3539BA1D8C49}"/>
              </a:ext>
            </a:extLst>
          </p:cNvPr>
          <p:cNvSpPr/>
          <p:nvPr/>
        </p:nvSpPr>
        <p:spPr>
          <a:xfrm>
            <a:off x="899999" y="1565637"/>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 web-authen-server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http | https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ssl</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-policy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policy-name</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port-number</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xmlns="" id="{44C4E0BA-5C90-4FB6-BCA6-99B663B19FA8}"/>
              </a:ext>
            </a:extLst>
          </p:cNvPr>
          <p:cNvSpPr/>
          <p:nvPr/>
        </p:nvSpPr>
        <p:spPr>
          <a:xfrm>
            <a:off x="442913" y="1133490"/>
            <a:ext cx="1126966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开启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HTTP/HTTPS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对接</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a:extLst>
              <a:ext uri="{FF2B5EF4-FFF2-40B4-BE49-F238E27FC236}">
                <a16:creationId xmlns:a16="http://schemas.microsoft.com/office/drawing/2014/main" xmlns="" id="{2683E34D-F948-4861-A2DA-5897E9554D17}"/>
              </a:ext>
            </a:extLst>
          </p:cNvPr>
          <p:cNvSpPr/>
          <p:nvPr/>
        </p:nvSpPr>
        <p:spPr>
          <a:xfrm>
            <a:off x="900000" y="1918934"/>
            <a:ext cx="10812575"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当采用基于</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HTTP/HTTPS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认证时，需要开启设备的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HTTP/HTTPS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对接功能。若为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HTTPS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协议对接，还需指定对应的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SSL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策略名。</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a:extLst>
              <a:ext uri="{FF2B5EF4-FFF2-40B4-BE49-F238E27FC236}">
                <a16:creationId xmlns:a16="http://schemas.microsoft.com/office/drawing/2014/main" xmlns="" id="{4155CF1B-D6D5-4CBC-A7C4-3539BA1D8C49}"/>
              </a:ext>
            </a:extLst>
          </p:cNvPr>
          <p:cNvSpPr/>
          <p:nvPr/>
        </p:nvSpPr>
        <p:spPr>
          <a:xfrm>
            <a:off x="899999" y="3260545"/>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web-</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server-name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a:extLst>
              <a:ext uri="{FF2B5EF4-FFF2-40B4-BE49-F238E27FC236}">
                <a16:creationId xmlns:a16="http://schemas.microsoft.com/office/drawing/2014/main" xmlns="" id="{44C4E0BA-5C90-4FB6-BCA6-99B663B19FA8}"/>
              </a:ext>
            </a:extLst>
          </p:cNvPr>
          <p:cNvSpPr/>
          <p:nvPr/>
        </p:nvSpPr>
        <p:spPr>
          <a:xfrm>
            <a:off x="442913" y="2828398"/>
            <a:ext cx="1126966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a:extLst>
              <a:ext uri="{FF2B5EF4-FFF2-40B4-BE49-F238E27FC236}">
                <a16:creationId xmlns:a16="http://schemas.microsoft.com/office/drawing/2014/main" xmlns="" id="{2683E34D-F948-4861-A2DA-5897E9554D17}"/>
              </a:ext>
            </a:extLst>
          </p:cNvPr>
          <p:cNvSpPr/>
          <p:nvPr/>
        </p:nvSpPr>
        <p:spPr>
          <a:xfrm>
            <a:off x="900000" y="3600590"/>
            <a:ext cx="10812575" cy="400110"/>
          </a:xfrm>
          <a:prstGeom prst="rect">
            <a:avLst/>
          </a:prstGeom>
        </p:spPr>
        <p:txBody>
          <a:bodyPr wrap="square">
            <a:spAutoFit/>
          </a:bodyPr>
          <a:lstStyle/>
          <a:p>
            <a:pPr fontAlgn="auto">
              <a:lnSpc>
                <a:spcPts val="2400"/>
              </a:lnSpc>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服务器模板用来统一配置外置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服务器的参数，如</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URL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等。</a:t>
            </a:r>
          </a:p>
        </p:txBody>
      </p:sp>
      <p:sp>
        <p:nvSpPr>
          <p:cNvPr id="18" name="矩形 17">
            <a:extLst>
              <a:ext uri="{FF2B5EF4-FFF2-40B4-BE49-F238E27FC236}">
                <a16:creationId xmlns:a16="http://schemas.microsoft.com/office/drawing/2014/main" xmlns="" id="{4155CF1B-D6D5-4CBC-A7C4-3539BA1D8C49}"/>
              </a:ext>
            </a:extLst>
          </p:cNvPr>
          <p:cNvSpPr/>
          <p:nvPr/>
        </p:nvSpPr>
        <p:spPr>
          <a:xfrm>
            <a:off x="899999" y="4708004"/>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[Huawei-web-</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protocol</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http</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password-encrypt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none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uam</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矩形 18">
            <a:extLst>
              <a:ext uri="{FF2B5EF4-FFF2-40B4-BE49-F238E27FC236}">
                <a16:creationId xmlns:a16="http://schemas.microsoft.com/office/drawing/2014/main" xmlns="" id="{44C4E0BA-5C90-4FB6-BCA6-99B663B19FA8}"/>
              </a:ext>
            </a:extLst>
          </p:cNvPr>
          <p:cNvSpPr/>
          <p:nvPr/>
        </p:nvSpPr>
        <p:spPr>
          <a:xfrm>
            <a:off x="442913" y="4275857"/>
            <a:ext cx="1126966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认证时所使用的</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a:extLst>
              <a:ext uri="{FF2B5EF4-FFF2-40B4-BE49-F238E27FC236}">
                <a16:creationId xmlns:a16="http://schemas.microsoft.com/office/drawing/2014/main" xmlns="" id="{2683E34D-F948-4861-A2DA-5897E9554D17}"/>
              </a:ext>
            </a:extLst>
          </p:cNvPr>
          <p:cNvSpPr/>
          <p:nvPr/>
        </p:nvSpPr>
        <p:spPr>
          <a:xfrm>
            <a:off x="900000" y="5051054"/>
            <a:ext cx="10812575" cy="400110"/>
          </a:xfrm>
          <a:prstGeom prst="rect">
            <a:avLst/>
          </a:prstGeom>
        </p:spPr>
        <p:txBody>
          <a:bodyPr wrap="square">
            <a:spAutoFit/>
          </a:bodyPr>
          <a:lstStyle/>
          <a:p>
            <a:pPr fontAlgn="auto">
              <a:lnSpc>
                <a:spcPts val="2400"/>
              </a:lnSpc>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protocol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命令可配置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认证时采用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HTTP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HTTPS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5" name="五边形 24"/>
          <p:cNvSpPr/>
          <p:nvPr/>
        </p:nvSpPr>
        <p:spPr bwMode="auto">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auto">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27" name="燕尾形 26"/>
          <p:cNvSpPr/>
          <p:nvPr/>
        </p:nvSpPr>
        <p:spPr bwMode="auto">
          <a:xfrm>
            <a:off x="10218826"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28" name="燕尾形 27"/>
          <p:cNvSpPr/>
          <p:nvPr/>
        </p:nvSpPr>
        <p:spPr bwMode="auto">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353587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Portal</a:t>
            </a:r>
            <a:r>
              <a:rPr lang="zh-CN" altLang="en-US" dirty="0"/>
              <a:t>认证配置命令 </a:t>
            </a:r>
            <a:r>
              <a:rPr lang="en-US" altLang="zh-CN" dirty="0"/>
              <a:t>- </a:t>
            </a:r>
            <a:r>
              <a:rPr lang="zh-CN" altLang="en-US" dirty="0"/>
              <a:t>配置外置</a:t>
            </a:r>
            <a:r>
              <a:rPr lang="en-US" altLang="zh-CN" dirty="0"/>
              <a:t>Portal</a:t>
            </a:r>
            <a:r>
              <a:rPr lang="zh-CN" altLang="en-US" dirty="0"/>
              <a:t>服务器 </a:t>
            </a:r>
            <a:r>
              <a:rPr lang="en-US" altLang="zh-CN" dirty="0"/>
              <a:t>(2)</a:t>
            </a:r>
            <a:endParaRPr lang="zh-CN" altLang="en-US" dirty="0"/>
          </a:p>
        </p:txBody>
      </p:sp>
      <p:sp>
        <p:nvSpPr>
          <p:cNvPr id="12" name="矩形 11">
            <a:extLst>
              <a:ext uri="{FF2B5EF4-FFF2-40B4-BE49-F238E27FC236}">
                <a16:creationId xmlns:a16="http://schemas.microsoft.com/office/drawing/2014/main" xmlns="" id="{4155CF1B-D6D5-4CBC-A7C4-3539BA1D8C49}"/>
              </a:ext>
            </a:extLst>
          </p:cNvPr>
          <p:cNvSpPr/>
          <p:nvPr/>
        </p:nvSpPr>
        <p:spPr>
          <a:xfrm>
            <a:off x="899999" y="1565637"/>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[Huawei-web-</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t> server-</a:t>
            </a:r>
            <a:r>
              <a:rPr lang="en-US" altLang="zh-CN" sz="1600" b="1" dirty="0" err="1"/>
              <a:t>ip</a:t>
            </a:r>
            <a:r>
              <a:rPr lang="en-US" altLang="zh-CN" sz="1600" dirty="0"/>
              <a:t> </a:t>
            </a:r>
            <a:r>
              <a:rPr lang="en-US" altLang="zh-CN" sz="1600" i="1" dirty="0" smtClean="0"/>
              <a:t>server-</a:t>
            </a:r>
            <a:r>
              <a:rPr lang="en-US" altLang="zh-CN" sz="1600" i="1" dirty="0" err="1" smtClean="0"/>
              <a:t>ip</a:t>
            </a:r>
            <a:r>
              <a:rPr lang="en-US" altLang="zh-CN" sz="1600" i="1" dirty="0" smtClean="0"/>
              <a:t>-address</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xmlns="" id="{44C4E0BA-5C90-4FB6-BCA6-99B663B19FA8}"/>
              </a:ext>
            </a:extLst>
          </p:cNvPr>
          <p:cNvSpPr/>
          <p:nvPr/>
        </p:nvSpPr>
        <p:spPr>
          <a:xfrm>
            <a:off x="442913" y="1133490"/>
            <a:ext cx="1126966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基于</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服务器参数</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a:extLst>
              <a:ext uri="{FF2B5EF4-FFF2-40B4-BE49-F238E27FC236}">
                <a16:creationId xmlns:a16="http://schemas.microsoft.com/office/drawing/2014/main" xmlns="" id="{2683E34D-F948-4861-A2DA-5897E9554D17}"/>
              </a:ext>
            </a:extLst>
          </p:cNvPr>
          <p:cNvSpPr/>
          <p:nvPr/>
        </p:nvSpPr>
        <p:spPr>
          <a:xfrm>
            <a:off x="900000" y="3230219"/>
            <a:ext cx="10812575" cy="1015663"/>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当采用基于</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认证时，需要通过</a:t>
            </a:r>
            <a:r>
              <a:rPr lang="en-US" altLang="zh-CN" sz="1600" b="1" dirty="0"/>
              <a:t>server-</a:t>
            </a:r>
            <a:r>
              <a:rPr lang="en-US" altLang="zh-CN" sz="1600" b="1" dirty="0" err="1"/>
              <a:t>ip</a:t>
            </a:r>
            <a:r>
              <a:rPr lang="zh-CN" altLang="en-US" sz="1600" dirty="0"/>
              <a:t>配置</a:t>
            </a:r>
            <a:r>
              <a:rPr lang="en-US" altLang="zh-CN" sz="1600" dirty="0"/>
              <a:t>Portal</a:t>
            </a:r>
            <a:r>
              <a:rPr lang="zh-CN" altLang="en-US" sz="1600" dirty="0"/>
              <a:t>服务器的</a:t>
            </a:r>
            <a:r>
              <a:rPr lang="en-US" altLang="zh-CN" sz="1600" dirty="0"/>
              <a:t>IP</a:t>
            </a:r>
            <a:r>
              <a:rPr lang="zh-CN" altLang="en-US" sz="1600" dirty="0"/>
              <a:t>地址，通过</a:t>
            </a:r>
            <a:r>
              <a:rPr lang="en-US" altLang="zh-CN" sz="1600" b="1" dirty="0"/>
              <a:t>source-</a:t>
            </a:r>
            <a:r>
              <a:rPr lang="en-US" altLang="zh-CN" sz="1600" b="1" dirty="0" err="1"/>
              <a:t>ip</a:t>
            </a:r>
            <a:r>
              <a:rPr lang="zh-CN" altLang="en-US" sz="1600" dirty="0"/>
              <a:t>命令配置与</a:t>
            </a:r>
            <a:r>
              <a:rPr lang="en-US" altLang="zh-CN" sz="1600" dirty="0"/>
              <a:t>Portal</a:t>
            </a:r>
            <a:r>
              <a:rPr lang="zh-CN" altLang="en-US" sz="1600" dirty="0"/>
              <a:t>服务器通信的地址，通过</a:t>
            </a:r>
            <a:r>
              <a:rPr lang="en-US" altLang="zh-CN" sz="1600" b="1" dirty="0"/>
              <a:t>shared-key</a:t>
            </a:r>
            <a:r>
              <a:rPr lang="zh-CN" altLang="en-US" sz="1600" dirty="0"/>
              <a:t>命令配置设备与</a:t>
            </a:r>
            <a:r>
              <a:rPr lang="en-US" altLang="zh-CN" sz="1600" dirty="0"/>
              <a:t>Portal</a:t>
            </a:r>
            <a:r>
              <a:rPr lang="zh-CN" altLang="en-US" sz="1600" dirty="0"/>
              <a:t>服务器信息交互的共享秘钥，通过</a:t>
            </a:r>
            <a:r>
              <a:rPr lang="en-US" altLang="zh-CN" sz="1600" b="1" dirty="0" err="1"/>
              <a:t>url</a:t>
            </a:r>
            <a:r>
              <a:rPr lang="zh-CN" altLang="en-US" sz="1600" dirty="0"/>
              <a:t>命令配置给接入终端发送的重定向</a:t>
            </a:r>
            <a:r>
              <a:rPr lang="en-US" altLang="zh-CN" sz="1600" dirty="0"/>
              <a:t>URL</a:t>
            </a:r>
            <a:r>
              <a:rPr lang="zh-CN" altLang="en-US" sz="1600" dirty="0"/>
              <a:t>或强制推送的</a:t>
            </a:r>
            <a:r>
              <a:rPr lang="en-US" altLang="zh-CN" sz="1600" dirty="0"/>
              <a:t>URL</a:t>
            </a:r>
            <a:r>
              <a:rPr lang="zh-CN" altLang="en-US" sz="1600" dirty="0"/>
              <a:t>。</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a:extLst>
              <a:ext uri="{FF2B5EF4-FFF2-40B4-BE49-F238E27FC236}">
                <a16:creationId xmlns:a16="http://schemas.microsoft.com/office/drawing/2014/main" xmlns="" id="{4155CF1B-D6D5-4CBC-A7C4-3539BA1D8C49}"/>
              </a:ext>
            </a:extLst>
          </p:cNvPr>
          <p:cNvSpPr/>
          <p:nvPr/>
        </p:nvSpPr>
        <p:spPr>
          <a:xfrm>
            <a:off x="899999" y="2020166"/>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[Huawei-web-</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t> source-</a:t>
            </a:r>
            <a:r>
              <a:rPr lang="en-US" altLang="zh-CN" sz="1600" b="1" dirty="0" err="1"/>
              <a:t>ip</a:t>
            </a:r>
            <a:r>
              <a:rPr lang="en-US" altLang="zh-CN" sz="1600" dirty="0"/>
              <a:t> </a:t>
            </a:r>
            <a:r>
              <a:rPr lang="en-US" altLang="zh-CN" sz="1600" i="1" dirty="0" err="1"/>
              <a:t>ip</a:t>
            </a:r>
            <a:r>
              <a:rPr lang="en-US" altLang="zh-CN" sz="1600" i="1" dirty="0"/>
              <a:t>-address</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2" name="矩形 21">
            <a:extLst>
              <a:ext uri="{FF2B5EF4-FFF2-40B4-BE49-F238E27FC236}">
                <a16:creationId xmlns:a16="http://schemas.microsoft.com/office/drawing/2014/main" xmlns="" id="{4155CF1B-D6D5-4CBC-A7C4-3539BA1D8C49}"/>
              </a:ext>
            </a:extLst>
          </p:cNvPr>
          <p:cNvSpPr/>
          <p:nvPr/>
        </p:nvSpPr>
        <p:spPr>
          <a:xfrm>
            <a:off x="899999" y="2469372"/>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[Huawei-web-</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t> shared-key</a:t>
            </a:r>
            <a:r>
              <a:rPr lang="en-US" altLang="zh-CN" sz="1600" dirty="0"/>
              <a:t> </a:t>
            </a:r>
            <a:r>
              <a:rPr lang="en-US" altLang="zh-CN" sz="1600" b="1" dirty="0"/>
              <a:t>cipher</a:t>
            </a:r>
            <a:r>
              <a:rPr lang="en-US" altLang="zh-CN" sz="1600" dirty="0"/>
              <a:t> </a:t>
            </a:r>
            <a:r>
              <a:rPr lang="en-US" altLang="zh-CN" sz="1600" i="1" dirty="0"/>
              <a:t>key-string</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3" name="矩形 22">
            <a:extLst>
              <a:ext uri="{FF2B5EF4-FFF2-40B4-BE49-F238E27FC236}">
                <a16:creationId xmlns:a16="http://schemas.microsoft.com/office/drawing/2014/main" xmlns="" id="{4155CF1B-D6D5-4CBC-A7C4-3539BA1D8C49}"/>
              </a:ext>
            </a:extLst>
          </p:cNvPr>
          <p:cNvSpPr/>
          <p:nvPr/>
        </p:nvSpPr>
        <p:spPr>
          <a:xfrm>
            <a:off x="899999" y="2901519"/>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[Huawei-web-</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t> </a:t>
            </a:r>
            <a:r>
              <a:rPr lang="en-US" altLang="zh-CN" sz="1600" b="1" dirty="0" err="1"/>
              <a:t>url</a:t>
            </a:r>
            <a:r>
              <a:rPr lang="en-US" altLang="zh-CN" sz="1600" dirty="0"/>
              <a:t> </a:t>
            </a:r>
            <a:r>
              <a:rPr lang="en-US" altLang="zh-CN" sz="1600" i="1" dirty="0" err="1"/>
              <a:t>url</a:t>
            </a:r>
            <a:r>
              <a:rPr lang="en-US" altLang="zh-CN" sz="1600" i="1" dirty="0"/>
              <a:t>-string</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4" name="矩形 23">
            <a:extLst>
              <a:ext uri="{FF2B5EF4-FFF2-40B4-BE49-F238E27FC236}">
                <a16:creationId xmlns:a16="http://schemas.microsoft.com/office/drawing/2014/main" xmlns="" id="{4155CF1B-D6D5-4CBC-A7C4-3539BA1D8C49}"/>
              </a:ext>
            </a:extLst>
          </p:cNvPr>
          <p:cNvSpPr/>
          <p:nvPr/>
        </p:nvSpPr>
        <p:spPr>
          <a:xfrm>
            <a:off x="899999" y="4920036"/>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[Huawei-web-</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ServerName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t> </a:t>
            </a:r>
            <a:r>
              <a:rPr lang="en-US" altLang="zh-CN" sz="1600" b="1" dirty="0" err="1"/>
              <a:t>url</a:t>
            </a:r>
            <a:r>
              <a:rPr lang="en-US" altLang="zh-CN" sz="1600" dirty="0"/>
              <a:t> </a:t>
            </a:r>
            <a:r>
              <a:rPr lang="en-US" altLang="zh-CN" sz="1600" i="1" dirty="0" err="1"/>
              <a:t>url</a:t>
            </a:r>
            <a:r>
              <a:rPr lang="en-US" altLang="zh-CN" sz="1600" i="1" dirty="0"/>
              <a:t>-string</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5" name="矩形 24">
            <a:extLst>
              <a:ext uri="{FF2B5EF4-FFF2-40B4-BE49-F238E27FC236}">
                <a16:creationId xmlns:a16="http://schemas.microsoft.com/office/drawing/2014/main" xmlns="" id="{44C4E0BA-5C90-4FB6-BCA6-99B663B19FA8}"/>
              </a:ext>
            </a:extLst>
          </p:cNvPr>
          <p:cNvSpPr/>
          <p:nvPr/>
        </p:nvSpPr>
        <p:spPr>
          <a:xfrm>
            <a:off x="442913" y="4487889"/>
            <a:ext cx="11269662" cy="338554"/>
          </a:xfrm>
          <a:prstGeom prst="rect">
            <a:avLst/>
          </a:prstGeom>
        </p:spPr>
        <p:txBody>
          <a:bodyPr wrap="square">
            <a:spAutoFit/>
          </a:bodyPr>
          <a:lstStyle/>
          <a:p>
            <a:pPr marL="342900" indent="-342900" fontAlgn="auto">
              <a:buFont typeface="+mj-lt"/>
              <a:buAutoNum type="arabicPeriod" startAt="5"/>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基于</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HTTP/HTTPS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服务器参数</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6" name="矩形 25">
            <a:extLst>
              <a:ext uri="{FF2B5EF4-FFF2-40B4-BE49-F238E27FC236}">
                <a16:creationId xmlns:a16="http://schemas.microsoft.com/office/drawing/2014/main" xmlns="" id="{2683E34D-F948-4861-A2DA-5897E9554D17}"/>
              </a:ext>
            </a:extLst>
          </p:cNvPr>
          <p:cNvSpPr/>
          <p:nvPr/>
        </p:nvSpPr>
        <p:spPr>
          <a:xfrm>
            <a:off x="900000" y="5263086"/>
            <a:ext cx="10812575"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当基于</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HTTP/HTTPS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协议进行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认证时，配置</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URL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参数即可。</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7" name="五边形 26"/>
          <p:cNvSpPr/>
          <p:nvPr/>
        </p:nvSpPr>
        <p:spPr bwMode="auto">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auto">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29" name="燕尾形 28"/>
          <p:cNvSpPr/>
          <p:nvPr/>
        </p:nvSpPr>
        <p:spPr bwMode="auto">
          <a:xfrm>
            <a:off x="10218826"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30" name="燕尾形 29"/>
          <p:cNvSpPr/>
          <p:nvPr/>
        </p:nvSpPr>
        <p:spPr bwMode="auto">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001670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Portal</a:t>
            </a:r>
            <a:r>
              <a:rPr lang="zh-CN" altLang="en-US" dirty="0"/>
              <a:t>认证配置命令 </a:t>
            </a:r>
            <a:r>
              <a:rPr lang="en-US" altLang="zh-CN" dirty="0"/>
              <a:t>- </a:t>
            </a:r>
            <a:r>
              <a:rPr lang="zh-CN" altLang="en-US" dirty="0"/>
              <a:t>配置</a:t>
            </a:r>
            <a:r>
              <a:rPr lang="en-US" altLang="zh-CN" dirty="0"/>
              <a:t>Portal</a:t>
            </a:r>
            <a:r>
              <a:rPr lang="zh-CN" altLang="en-US" dirty="0"/>
              <a:t>接入模板</a:t>
            </a:r>
          </a:p>
        </p:txBody>
      </p:sp>
      <p:sp>
        <p:nvSpPr>
          <p:cNvPr id="12" name="矩形 11">
            <a:extLst>
              <a:ext uri="{FF2B5EF4-FFF2-40B4-BE49-F238E27FC236}">
                <a16:creationId xmlns:a16="http://schemas.microsoft.com/office/drawing/2014/main" xmlns="" id="{4155CF1B-D6D5-4CBC-A7C4-3539BA1D8C49}"/>
              </a:ext>
            </a:extLst>
          </p:cNvPr>
          <p:cNvSpPr/>
          <p:nvPr/>
        </p:nvSpPr>
        <p:spPr>
          <a:xfrm>
            <a:off x="900000" y="1565637"/>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b="1" dirty="0"/>
              <a:t> portal-access-profile</a:t>
            </a:r>
            <a:r>
              <a:rPr lang="en-US" altLang="zh-CN" sz="1600" dirty="0"/>
              <a:t> </a:t>
            </a:r>
            <a:r>
              <a:rPr lang="en-US" altLang="zh-CN" sz="1600" b="1" dirty="0"/>
              <a:t>name</a:t>
            </a:r>
            <a:r>
              <a:rPr lang="en-US" altLang="zh-CN" sz="1600" dirty="0"/>
              <a:t> </a:t>
            </a:r>
            <a:r>
              <a:rPr lang="en-US" altLang="zh-CN" sz="1600" i="1" dirty="0"/>
              <a:t>access-profile-name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xmlns="" id="{44C4E0BA-5C90-4FB6-BCA6-99B663B19FA8}"/>
              </a:ext>
            </a:extLst>
          </p:cNvPr>
          <p:cNvSpPr/>
          <p:nvPr/>
        </p:nvSpPr>
        <p:spPr>
          <a:xfrm>
            <a:off x="455613" y="1133490"/>
            <a:ext cx="1125696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a:extLst>
              <a:ext uri="{FF2B5EF4-FFF2-40B4-BE49-F238E27FC236}">
                <a16:creationId xmlns:a16="http://schemas.microsoft.com/office/drawing/2014/main" xmlns="" id="{2683E34D-F948-4861-A2DA-5897E9554D17}"/>
              </a:ext>
            </a:extLst>
          </p:cNvPr>
          <p:cNvSpPr/>
          <p:nvPr/>
        </p:nvSpPr>
        <p:spPr>
          <a:xfrm>
            <a:off x="900000" y="1918934"/>
            <a:ext cx="10812575"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设备通过</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接入模板统一管理</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用户接入相关的所有配置。</a:t>
            </a:r>
            <a:r>
              <a:rPr lang="zh-CN" altLang="en-US" sz="1600" dirty="0"/>
              <a:t>设备缺省自带</a:t>
            </a:r>
            <a:r>
              <a:rPr lang="en-US" altLang="zh-CN" sz="1600" dirty="0"/>
              <a:t>1</a:t>
            </a:r>
            <a:r>
              <a:rPr lang="zh-CN" altLang="en-US" sz="1600" dirty="0"/>
              <a:t>个名称为</a:t>
            </a:r>
            <a:r>
              <a:rPr lang="en-US" altLang="zh-CN" sz="1600" dirty="0" err="1"/>
              <a:t>portal_access_profile</a:t>
            </a:r>
            <a:r>
              <a:rPr lang="zh-CN" altLang="en-US" sz="1600" dirty="0"/>
              <a:t>的</a:t>
            </a:r>
            <a:r>
              <a:rPr lang="en-US" altLang="zh-CN" sz="1600" dirty="0"/>
              <a:t>Portal</a:t>
            </a:r>
            <a:r>
              <a:rPr lang="zh-CN" altLang="en-US" sz="1600" dirty="0"/>
              <a:t>接入模板。</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a:extLst>
              <a:ext uri="{FF2B5EF4-FFF2-40B4-BE49-F238E27FC236}">
                <a16:creationId xmlns:a16="http://schemas.microsoft.com/office/drawing/2014/main" xmlns="" id="{4155CF1B-D6D5-4CBC-A7C4-3539BA1D8C49}"/>
              </a:ext>
            </a:extLst>
          </p:cNvPr>
          <p:cNvSpPr/>
          <p:nvPr/>
        </p:nvSpPr>
        <p:spPr>
          <a:xfrm>
            <a:off x="900000" y="3260545"/>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Huawei-portal-</a:t>
            </a:r>
            <a:r>
              <a:rPr lang="en-US" altLang="zh-CN" sz="1600" dirty="0" err="1"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acces</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-profile-</a:t>
            </a:r>
            <a:r>
              <a:rPr lang="en-US" altLang="zh-CN" sz="1600" dirty="0" err="1"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ProfileName</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smtClean="0"/>
              <a:t> </a:t>
            </a:r>
            <a:r>
              <a:rPr lang="en-US" altLang="zh-CN" sz="1600" b="1" dirty="0"/>
              <a:t>web-</a:t>
            </a:r>
            <a:r>
              <a:rPr lang="en-US" altLang="zh-CN" sz="1600" b="1" dirty="0" err="1"/>
              <a:t>auth</a:t>
            </a:r>
            <a:r>
              <a:rPr lang="en-US" altLang="zh-CN" sz="1600" b="1" dirty="0"/>
              <a:t>-server</a:t>
            </a:r>
            <a:r>
              <a:rPr lang="en-US" altLang="zh-CN" sz="1600" dirty="0"/>
              <a:t> </a:t>
            </a:r>
            <a:r>
              <a:rPr lang="en-US" altLang="zh-CN" sz="1600" i="1" dirty="0"/>
              <a:t>server-name</a:t>
            </a:r>
            <a:r>
              <a:rPr lang="en-US" altLang="zh-CN" sz="1600" dirty="0"/>
              <a:t>  { </a:t>
            </a:r>
            <a:r>
              <a:rPr lang="en-US" altLang="zh-CN" sz="1600" b="1" dirty="0"/>
              <a:t>direct</a:t>
            </a:r>
            <a:r>
              <a:rPr lang="en-US" altLang="zh-CN" sz="1600" dirty="0"/>
              <a:t> | </a:t>
            </a:r>
            <a:r>
              <a:rPr lang="en-US" altLang="zh-CN" sz="1600" b="1" dirty="0"/>
              <a:t>layer3</a:t>
            </a:r>
            <a:r>
              <a:rPr lang="en-US" altLang="zh-CN" sz="1600" dirty="0"/>
              <a:t>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a:extLst>
              <a:ext uri="{FF2B5EF4-FFF2-40B4-BE49-F238E27FC236}">
                <a16:creationId xmlns:a16="http://schemas.microsoft.com/office/drawing/2014/main" xmlns="" id="{44C4E0BA-5C90-4FB6-BCA6-99B663B19FA8}"/>
              </a:ext>
            </a:extLst>
          </p:cNvPr>
          <p:cNvSpPr/>
          <p:nvPr/>
        </p:nvSpPr>
        <p:spPr>
          <a:xfrm>
            <a:off x="455613" y="2828398"/>
            <a:ext cx="1125696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接入模板使用的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a:extLst>
              <a:ext uri="{FF2B5EF4-FFF2-40B4-BE49-F238E27FC236}">
                <a16:creationId xmlns:a16="http://schemas.microsoft.com/office/drawing/2014/main" xmlns="" id="{2683E34D-F948-4861-A2DA-5897E9554D17}"/>
              </a:ext>
            </a:extLst>
          </p:cNvPr>
          <p:cNvSpPr/>
          <p:nvPr/>
        </p:nvSpPr>
        <p:spPr>
          <a:xfrm>
            <a:off x="900000" y="3600590"/>
            <a:ext cx="10812575" cy="163121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当该</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接入模板的用户在访问受限的网络资源时，</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HTTP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请求将被强制重定向到</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服务器的认证页面，即可进行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285750" indent="-285750" fontAlgn="auto">
              <a:lnSpc>
                <a:spcPts val="24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当用户与设备（认证点设备）之间没有三层转发设备时，使用</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direct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参数指定</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认证采用二层认证方式，此时可利用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地址来识别用户。</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285750" indent="-285750" fontAlgn="auto">
              <a:lnSpc>
                <a:spcPts val="2400"/>
              </a:lnSpc>
              <a:buFont typeface="Arial" panose="020B0604020202020204" pitchFamily="34" charset="0"/>
              <a:buChar char="•"/>
            </a:pPr>
            <a:r>
              <a:rPr lang="zh-CN" altLang="en-US" sz="1600" dirty="0"/>
              <a:t>当用户与设备之间存在三层转发设备时，使用</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layer3</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参数指定</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认证采用三层认证方式，此时用</a:t>
            </a:r>
            <a:r>
              <a:rPr lang="en-US" altLang="zh-CN" sz="1600" dirty="0"/>
              <a:t>IP</a:t>
            </a:r>
            <a:r>
              <a:rPr lang="zh-CN" altLang="en-US" sz="1600" dirty="0"/>
              <a:t>地址标识用户。</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五边形 20"/>
          <p:cNvSpPr/>
          <p:nvPr/>
        </p:nvSpPr>
        <p:spPr bwMode="auto">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auto">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23" name="燕尾形 22"/>
          <p:cNvSpPr/>
          <p:nvPr/>
        </p:nvSpPr>
        <p:spPr bwMode="auto">
          <a:xfrm>
            <a:off x="10218826"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24" name="燕尾形 23"/>
          <p:cNvSpPr/>
          <p:nvPr/>
        </p:nvSpPr>
        <p:spPr bwMode="auto">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995666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mtClean="0"/>
              <a:t>用户认证技术对比</a:t>
            </a:r>
            <a:endParaRPr lang="zh-CN" altLang="en-US" dirty="0"/>
          </a:p>
        </p:txBody>
      </p:sp>
      <p:sp>
        <p:nvSpPr>
          <p:cNvPr id="4" name="文本占位符 3"/>
          <p:cNvSpPr>
            <a:spLocks noGrp="1"/>
          </p:cNvSpPr>
          <p:nvPr>
            <p:ph type="body" sz="quarter" idx="10"/>
          </p:nvPr>
        </p:nvSpPr>
        <p:spPr>
          <a:xfrm>
            <a:off x="455613" y="1047750"/>
            <a:ext cx="11256962" cy="1563475"/>
          </a:xfrm>
        </p:spPr>
        <p:txBody>
          <a:bodyPr/>
          <a:lstStyle/>
          <a:p>
            <a:r>
              <a:rPr lang="zh-CN" altLang="en-US" sz="2000" smtClean="0"/>
              <a:t>华为公司网络准入控制方案支持</a:t>
            </a:r>
            <a:r>
              <a:rPr lang="en-US" altLang="zh-CN" sz="2000" smtClean="0"/>
              <a:t>802.1X</a:t>
            </a:r>
            <a:r>
              <a:rPr lang="zh-CN" altLang="en-US" sz="2000" smtClean="0"/>
              <a:t>认证、</a:t>
            </a:r>
            <a:r>
              <a:rPr lang="en-US" altLang="zh-CN" sz="2000" smtClean="0"/>
              <a:t>MAC</a:t>
            </a:r>
            <a:r>
              <a:rPr lang="zh-CN" altLang="en-US" sz="2000" smtClean="0"/>
              <a:t>认证及</a:t>
            </a:r>
            <a:r>
              <a:rPr lang="en-US" altLang="zh-CN" sz="2000" smtClean="0"/>
              <a:t>Portal</a:t>
            </a:r>
            <a:r>
              <a:rPr lang="zh-CN" altLang="en-US" sz="2000" smtClean="0"/>
              <a:t>认证等多种用户认证方式，可将认证点灵活部署在用户网络的接入交换机、汇聚交换机、无线控制器、路由器、防火墙等多种网络设备上，配合认证服务器</a:t>
            </a:r>
            <a:r>
              <a:rPr lang="en-US" altLang="zh-CN" sz="2000" smtClean="0"/>
              <a:t>iMaster NCE-Campus</a:t>
            </a:r>
            <a:r>
              <a:rPr lang="zh-CN" altLang="en-US" sz="2000" smtClean="0"/>
              <a:t>共同完成网络准入控制。</a:t>
            </a:r>
            <a:endParaRPr lang="zh-CN" altLang="en-US" sz="2000" dirty="0"/>
          </a:p>
        </p:txBody>
      </p:sp>
      <p:graphicFrame>
        <p:nvGraphicFramePr>
          <p:cNvPr id="5" name="表格 4"/>
          <p:cNvGraphicFramePr>
            <a:graphicFrameLocks noGrp="1"/>
          </p:cNvGraphicFramePr>
          <p:nvPr>
            <p:extLst/>
          </p:nvPr>
        </p:nvGraphicFramePr>
        <p:xfrm>
          <a:off x="750000" y="2890050"/>
          <a:ext cx="10692001" cy="2294522"/>
        </p:xfrm>
        <a:graphic>
          <a:graphicData uri="http://schemas.openxmlformats.org/drawingml/2006/table">
            <a:tbl>
              <a:tblPr/>
              <a:tblGrid>
                <a:gridCol w="1746457">
                  <a:extLst>
                    <a:ext uri="{9D8B030D-6E8A-4147-A177-3AD203B41FA5}">
                      <a16:colId xmlns:a16="http://schemas.microsoft.com/office/drawing/2014/main" xmlns="" val="20000"/>
                    </a:ext>
                  </a:extLst>
                </a:gridCol>
                <a:gridCol w="2981848">
                  <a:extLst>
                    <a:ext uri="{9D8B030D-6E8A-4147-A177-3AD203B41FA5}">
                      <a16:colId xmlns:a16="http://schemas.microsoft.com/office/drawing/2014/main" xmlns="" val="20001"/>
                    </a:ext>
                  </a:extLst>
                </a:gridCol>
                <a:gridCol w="2981848">
                  <a:extLst>
                    <a:ext uri="{9D8B030D-6E8A-4147-A177-3AD203B41FA5}">
                      <a16:colId xmlns:a16="http://schemas.microsoft.com/office/drawing/2014/main" xmlns="" val="20002"/>
                    </a:ext>
                  </a:extLst>
                </a:gridCol>
                <a:gridCol w="2981848">
                  <a:extLst>
                    <a:ext uri="{9D8B030D-6E8A-4147-A177-3AD203B41FA5}">
                      <a16:colId xmlns:a16="http://schemas.microsoft.com/office/drawing/2014/main" xmlns="" val="20003"/>
                    </a:ext>
                  </a:extLst>
                </a:gridCol>
              </a:tblGrid>
              <a:tr h="337244">
                <a:tc>
                  <a:txBody>
                    <a:bodyPr/>
                    <a:lstStyle/>
                    <a:p>
                      <a:pPr algn="ctr">
                        <a:lnSpc>
                          <a:spcPct val="100000"/>
                        </a:lnSpc>
                      </a:pPr>
                      <a:r>
                        <a:rPr lang="zh-CN" altLang="en-US" sz="1600" b="1" dirty="0">
                          <a:effectLst/>
                          <a:sym typeface="Huawei Sans" panose="020C0503030203020204" pitchFamily="34" charset="0"/>
                        </a:rPr>
                        <a:t>对比项</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en-US" altLang="zh-CN" sz="1600" b="1" dirty="0">
                          <a:effectLst/>
                          <a:sym typeface="Huawei Sans" panose="020C0503030203020204" pitchFamily="34" charset="0"/>
                        </a:rPr>
                        <a:t>802.1X</a:t>
                      </a:r>
                      <a:r>
                        <a:rPr lang="zh-CN" altLang="en-US" sz="1600" b="1" dirty="0">
                          <a:effectLst/>
                          <a:sym typeface="Huawei Sans" panose="020C0503030203020204" pitchFamily="34" charset="0"/>
                        </a:rPr>
                        <a:t>认证</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en-US" altLang="zh-CN" sz="1600" b="1" dirty="0">
                          <a:effectLst/>
                          <a:sym typeface="Huawei Sans" panose="020C0503030203020204" pitchFamily="34" charset="0"/>
                        </a:rPr>
                        <a:t>Portal</a:t>
                      </a:r>
                      <a:r>
                        <a:rPr lang="zh-CN" altLang="en-US" sz="1600" b="1" dirty="0">
                          <a:effectLst/>
                          <a:sym typeface="Huawei Sans" panose="020C0503030203020204" pitchFamily="34" charset="0"/>
                        </a:rPr>
                        <a:t>认证</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en-US" altLang="zh-CN" sz="1600" b="1" dirty="0">
                          <a:effectLst/>
                          <a:sym typeface="Huawei Sans" panose="020C0503030203020204" pitchFamily="34" charset="0"/>
                        </a:rPr>
                        <a:t>MAC</a:t>
                      </a:r>
                      <a:r>
                        <a:rPr lang="zh-CN" altLang="en-US" sz="1600" b="1" dirty="0">
                          <a:effectLst/>
                          <a:sym typeface="Huawei Sans" panose="020C0503030203020204" pitchFamily="34" charset="0"/>
                        </a:rPr>
                        <a:t>认证</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0"/>
                  </a:ext>
                </a:extLst>
              </a:tr>
              <a:tr h="423509">
                <a:tc>
                  <a:txBody>
                    <a:bodyPr/>
                    <a:lstStyle/>
                    <a:p>
                      <a:pPr algn="ctr">
                        <a:lnSpc>
                          <a:spcPct val="100000"/>
                        </a:lnSpc>
                      </a:pPr>
                      <a:r>
                        <a:rPr lang="zh-CN" altLang="en-US" sz="1600" dirty="0" smtClean="0">
                          <a:effectLst/>
                          <a:sym typeface="Huawei Sans" panose="020C0503030203020204" pitchFamily="34" charset="0"/>
                        </a:rPr>
                        <a:t>客户端软件需求</a:t>
                      </a:r>
                      <a:endPar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必须安装</a:t>
                      </a:r>
                      <a:endPar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不需要</a:t>
                      </a:r>
                      <a:endPar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不需要</a:t>
                      </a:r>
                      <a:endPar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23509">
                <a:tc>
                  <a:txBody>
                    <a:bodyPr/>
                    <a:lstStyle/>
                    <a:p>
                      <a:pPr algn="ctr">
                        <a:lnSpc>
                          <a:spcPct val="100000"/>
                        </a:lnSpc>
                      </a:pPr>
                      <a:r>
                        <a:rPr lang="zh-CN" altLang="en-US" sz="1600" dirty="0">
                          <a:effectLst/>
                          <a:sym typeface="Huawei Sans" panose="020C0503030203020204" pitchFamily="34" charset="0"/>
                        </a:rPr>
                        <a:t>优点</a:t>
                      </a:r>
                      <a:endPar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安全性高</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部署灵活</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无需安装客户端</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423509">
                <a:tc>
                  <a:txBody>
                    <a:bodyPr/>
                    <a:lstStyle/>
                    <a:p>
                      <a:pPr algn="ctr">
                        <a:lnSpc>
                          <a:spcPct val="100000"/>
                        </a:lnSpc>
                      </a:pPr>
                      <a:r>
                        <a:rPr lang="zh-CN" altLang="en-US" sz="1600" dirty="0">
                          <a:effectLst/>
                          <a:sym typeface="Huawei Sans" panose="020C0503030203020204" pitchFamily="34" charset="0"/>
                        </a:rPr>
                        <a:t>缺点</a:t>
                      </a:r>
                      <a:endPar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部署不灵活</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安全性不高</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需登记</a:t>
                      </a:r>
                      <a:r>
                        <a:rPr lang="en-US" altLang="zh-CN" sz="1600" dirty="0">
                          <a:effectLst/>
                          <a:sym typeface="Huawei Sans" panose="020C0503030203020204" pitchFamily="34" charset="0"/>
                        </a:rPr>
                        <a:t>MAC</a:t>
                      </a:r>
                      <a:r>
                        <a:rPr lang="zh-CN" altLang="en-US" sz="1600" dirty="0">
                          <a:effectLst/>
                          <a:sym typeface="Huawei Sans" panose="020C0503030203020204" pitchFamily="34" charset="0"/>
                        </a:rPr>
                        <a:t>地址，管理复杂</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686751">
                <a:tc>
                  <a:txBody>
                    <a:bodyPr/>
                    <a:lstStyle/>
                    <a:p>
                      <a:pPr algn="ctr">
                        <a:lnSpc>
                          <a:spcPct val="100000"/>
                        </a:lnSpc>
                      </a:pPr>
                      <a:r>
                        <a:rPr lang="zh-CN" altLang="en-US" sz="1600" dirty="0">
                          <a:effectLst/>
                          <a:sym typeface="Huawei Sans" panose="020C0503030203020204" pitchFamily="34" charset="0"/>
                        </a:rPr>
                        <a:t>适用场景</a:t>
                      </a:r>
                      <a:endPar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新建网络、用户集中、信息安全要求严格的场景</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用户分散、用户流动性大的场景</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600" dirty="0">
                          <a:effectLst/>
                          <a:sym typeface="Huawei Sans" panose="020C0503030203020204" pitchFamily="34" charset="0"/>
                        </a:rPr>
                        <a:t>打印机、传真机等哑终端接入认证的场景</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
        <p:nvSpPr>
          <p:cNvPr id="6" name="五边形 5"/>
          <p:cNvSpPr/>
          <p:nvPr/>
        </p:nvSpPr>
        <p:spPr bwMode="auto">
          <a:xfrm>
            <a:off x="8802188" y="98481"/>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6"/>
          <p:cNvSpPr/>
          <p:nvPr/>
        </p:nvSpPr>
        <p:spPr bwMode="auto">
          <a:xfrm>
            <a:off x="9510507"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8" name="燕尾形 7"/>
          <p:cNvSpPr/>
          <p:nvPr/>
        </p:nvSpPr>
        <p:spPr bwMode="auto">
          <a:xfrm>
            <a:off x="10218826"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9" name="燕尾形 8"/>
          <p:cNvSpPr/>
          <p:nvPr/>
        </p:nvSpPr>
        <p:spPr bwMode="auto">
          <a:xfrm>
            <a:off x="10927145"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381783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smtClean="0"/>
              <a:t>MAC</a:t>
            </a:r>
            <a:r>
              <a:rPr lang="zh-CN" altLang="en-US" smtClean="0"/>
              <a:t>旁路认证</a:t>
            </a:r>
            <a:endParaRPr lang="zh-CN" altLang="en-US" dirty="0"/>
          </a:p>
        </p:txBody>
      </p:sp>
      <p:sp>
        <p:nvSpPr>
          <p:cNvPr id="4" name="文本占位符 3"/>
          <p:cNvSpPr>
            <a:spLocks noGrp="1"/>
          </p:cNvSpPr>
          <p:nvPr>
            <p:ph type="body" sz="quarter" idx="10"/>
          </p:nvPr>
        </p:nvSpPr>
        <p:spPr>
          <a:xfrm>
            <a:off x="455613" y="1047750"/>
            <a:ext cx="11256962" cy="868923"/>
          </a:xfrm>
        </p:spPr>
        <p:txBody>
          <a:bodyPr/>
          <a:lstStyle/>
          <a:p>
            <a:r>
              <a:rPr lang="en-US" altLang="zh-CN" sz="2000" smtClean="0"/>
              <a:t>802.1X</a:t>
            </a:r>
            <a:r>
              <a:rPr lang="zh-CN" altLang="en-US" sz="2000" smtClean="0"/>
              <a:t>认证、</a:t>
            </a:r>
            <a:r>
              <a:rPr lang="en-US" altLang="zh-CN" sz="2000" smtClean="0"/>
              <a:t>MAC</a:t>
            </a:r>
            <a:r>
              <a:rPr lang="zh-CN" altLang="en-US" sz="2000" smtClean="0"/>
              <a:t>认证和</a:t>
            </a:r>
            <a:r>
              <a:rPr lang="en-US" altLang="zh-CN" sz="2000" smtClean="0"/>
              <a:t>Portal</a:t>
            </a:r>
            <a:r>
              <a:rPr lang="zh-CN" altLang="en-US" sz="2000" smtClean="0"/>
              <a:t>认证各有各的特点，可采用混合认证的方式来满足不同的应用场景与认证需求。</a:t>
            </a:r>
            <a:endParaRPr lang="zh-CN" altLang="en-US" sz="2000" dirty="0"/>
          </a:p>
        </p:txBody>
      </p:sp>
      <p:sp>
        <p:nvSpPr>
          <p:cNvPr id="5" name="TextBox 41">
            <a:extLst>
              <a:ext uri="{FF2B5EF4-FFF2-40B4-BE49-F238E27FC236}">
                <a16:creationId xmlns:a16="http://schemas.microsoft.com/office/drawing/2014/main" xmlns="" id="{107FF330-60DF-4117-B4EF-26EB0211B8ED}"/>
              </a:ext>
            </a:extLst>
          </p:cNvPr>
          <p:cNvSpPr txBox="1"/>
          <p:nvPr/>
        </p:nvSpPr>
        <p:spPr>
          <a:xfrm>
            <a:off x="3133118" y="2284241"/>
            <a:ext cx="790848" cy="288147"/>
          </a:xfrm>
          <a:prstGeom prst="rect">
            <a:avLst/>
          </a:prstGeom>
          <a:noFill/>
        </p:spPr>
        <p:txBody>
          <a:bodyPr wrap="none" lIns="36000" tIns="36000" rIns="36000" bIns="36000" rtlCol="0">
            <a:spAutoFit/>
          </a:bodyPr>
          <a:lstStyle/>
          <a:p>
            <a:pPr algn="ctr"/>
            <a:r>
              <a:rPr lang="zh-CN" altLang="en-US" sz="1400" dirty="0">
                <a:cs typeface="Arial" pitchFamily="34" charset="0"/>
              </a:rPr>
              <a:t>接入设备</a:t>
            </a:r>
          </a:p>
        </p:txBody>
      </p:sp>
      <p:sp>
        <p:nvSpPr>
          <p:cNvPr id="6" name="TextBox 42">
            <a:extLst>
              <a:ext uri="{FF2B5EF4-FFF2-40B4-BE49-F238E27FC236}">
                <a16:creationId xmlns:a16="http://schemas.microsoft.com/office/drawing/2014/main" xmlns="" id="{10D25089-1E74-43A4-A230-304F09C4C5A5}"/>
              </a:ext>
            </a:extLst>
          </p:cNvPr>
          <p:cNvSpPr txBox="1"/>
          <p:nvPr/>
        </p:nvSpPr>
        <p:spPr>
          <a:xfrm>
            <a:off x="5217773" y="2284241"/>
            <a:ext cx="970385" cy="288147"/>
          </a:xfrm>
          <a:prstGeom prst="rect">
            <a:avLst/>
          </a:prstGeom>
          <a:noFill/>
        </p:spPr>
        <p:txBody>
          <a:bodyPr wrap="none" lIns="36000" tIns="36000" rIns="36000" bIns="36000" rtlCol="0">
            <a:spAutoFit/>
          </a:bodyPr>
          <a:lstStyle/>
          <a:p>
            <a:pPr algn="ctr"/>
            <a:r>
              <a:rPr lang="zh-CN" altLang="en-US" sz="1400" dirty="0">
                <a:cs typeface="Arial" pitchFamily="34" charset="0"/>
              </a:rPr>
              <a:t>认证服务器</a:t>
            </a:r>
          </a:p>
        </p:txBody>
      </p:sp>
      <p:pic>
        <p:nvPicPr>
          <p:cNvPr id="7" name="图片 6" descr="IP电话.png"/>
          <p:cNvPicPr>
            <a:picLocks/>
          </p:cNvPicPr>
          <p:nvPr/>
        </p:nvPicPr>
        <p:blipFill>
          <a:blip r:embed="rId3" cstate="print"/>
          <a:stretch>
            <a:fillRect/>
          </a:stretch>
        </p:blipFill>
        <p:spPr>
          <a:xfrm>
            <a:off x="837962" y="2723566"/>
            <a:ext cx="320394" cy="246062"/>
          </a:xfrm>
          <a:prstGeom prst="rect">
            <a:avLst/>
          </a:prstGeom>
        </p:spPr>
      </p:pic>
      <p:pic>
        <p:nvPicPr>
          <p:cNvPr id="8" name="图片 7" descr="交换机.png"/>
          <p:cNvPicPr>
            <a:picLocks noChangeAspect="1"/>
          </p:cNvPicPr>
          <p:nvPr/>
        </p:nvPicPr>
        <p:blipFill>
          <a:blip r:embed="rId4" cstate="print"/>
          <a:stretch>
            <a:fillRect/>
          </a:stretch>
        </p:blipFill>
        <p:spPr>
          <a:xfrm>
            <a:off x="5438826" y="2625689"/>
            <a:ext cx="539999" cy="441817"/>
          </a:xfrm>
          <a:prstGeom prst="rect">
            <a:avLst/>
          </a:prstGeom>
        </p:spPr>
      </p:pic>
      <p:pic>
        <p:nvPicPr>
          <p:cNvPr id="9" name="图片 8" descr="PC.png"/>
          <p:cNvPicPr>
            <a:picLocks/>
          </p:cNvPicPr>
          <p:nvPr/>
        </p:nvPicPr>
        <p:blipFill>
          <a:blip r:embed="rId5" cstate="print"/>
          <a:stretch>
            <a:fillRect/>
          </a:stretch>
        </p:blipFill>
        <p:spPr>
          <a:xfrm>
            <a:off x="1233672" y="2723566"/>
            <a:ext cx="320394" cy="246062"/>
          </a:xfrm>
          <a:prstGeom prst="rect">
            <a:avLst/>
          </a:prstGeom>
        </p:spPr>
      </p:pic>
      <p:sp>
        <p:nvSpPr>
          <p:cNvPr id="10" name="TextBox 41">
            <a:extLst>
              <a:ext uri="{FF2B5EF4-FFF2-40B4-BE49-F238E27FC236}">
                <a16:creationId xmlns:a16="http://schemas.microsoft.com/office/drawing/2014/main" xmlns="" id="{107FF330-60DF-4117-B4EF-26EB0211B8ED}"/>
              </a:ext>
            </a:extLst>
          </p:cNvPr>
          <p:cNvSpPr txBox="1"/>
          <p:nvPr/>
        </p:nvSpPr>
        <p:spPr>
          <a:xfrm>
            <a:off x="1055884" y="2284241"/>
            <a:ext cx="431777" cy="288147"/>
          </a:xfrm>
          <a:prstGeom prst="rect">
            <a:avLst/>
          </a:prstGeom>
          <a:noFill/>
        </p:spPr>
        <p:txBody>
          <a:bodyPr wrap="none" lIns="36000" tIns="36000" rIns="36000" bIns="36000" rtlCol="0">
            <a:spAutoFit/>
          </a:bodyPr>
          <a:lstStyle/>
          <a:p>
            <a:pPr algn="ctr"/>
            <a:r>
              <a:rPr lang="zh-CN" altLang="en-US" sz="1400" dirty="0">
                <a:cs typeface="Arial" pitchFamily="34" charset="0"/>
              </a:rPr>
              <a:t>终端</a:t>
            </a:r>
          </a:p>
        </p:txBody>
      </p:sp>
      <p:cxnSp>
        <p:nvCxnSpPr>
          <p:cNvPr id="11" name="直接箭头连接符 10">
            <a:extLst>
              <a:ext uri="{FF2B5EF4-FFF2-40B4-BE49-F238E27FC236}">
                <a16:creationId xmlns:a16="http://schemas.microsoft.com/office/drawing/2014/main" xmlns="" id="{7D2A6B36-0425-4AF5-8615-B057DC5231D8}"/>
              </a:ext>
            </a:extLst>
          </p:cNvPr>
          <p:cNvCxnSpPr/>
          <p:nvPr/>
        </p:nvCxnSpPr>
        <p:spPr bwMode="auto">
          <a:xfrm>
            <a:off x="1212932" y="3435074"/>
            <a:ext cx="2169364" cy="0"/>
          </a:xfrm>
          <a:prstGeom prst="straightConnector1">
            <a:avLst/>
          </a:prstGeom>
          <a:noFill/>
          <a:ln w="12700" cap="flat" cmpd="sng" algn="ctr">
            <a:solidFill>
              <a:schemeClr val="tx1"/>
            </a:solidFill>
            <a:prstDash val="solid"/>
            <a:round/>
            <a:headEnd type="none" w="med" len="med"/>
            <a:tailEnd type="triangle"/>
          </a:ln>
          <a:effectLst/>
        </p:spPr>
      </p:cxnSp>
      <p:sp>
        <p:nvSpPr>
          <p:cNvPr id="12" name="TextBox 70">
            <a:extLst>
              <a:ext uri="{FF2B5EF4-FFF2-40B4-BE49-F238E27FC236}">
                <a16:creationId xmlns:a16="http://schemas.microsoft.com/office/drawing/2014/main" xmlns="" id="{8FC2629A-B753-4949-AFE0-7A774C3FD9BB}"/>
              </a:ext>
            </a:extLst>
          </p:cNvPr>
          <p:cNvSpPr txBox="1">
            <a:spLocks noChangeArrowheads="1"/>
          </p:cNvSpPr>
          <p:nvPr/>
        </p:nvSpPr>
        <p:spPr bwMode="auto">
          <a:xfrm>
            <a:off x="1212933" y="3152942"/>
            <a:ext cx="1142095" cy="281603"/>
          </a:xfrm>
          <a:prstGeom prst="rect">
            <a:avLst/>
          </a:prstGeom>
          <a:noFill/>
          <a:ln w="9525">
            <a:noFill/>
            <a:miter lim="800000"/>
            <a:headEnd/>
            <a:tailEnd/>
          </a:ln>
        </p:spPr>
        <p:txBody>
          <a:bodyPr wrap="square" lIns="48000" tIns="48000" rIns="48000" bIns="48000">
            <a:spAutoFit/>
          </a:bodyPr>
          <a:lstStyle/>
          <a:p>
            <a:r>
              <a:rPr lang="en-US" altLang="zh-CN" sz="1200">
                <a:cs typeface="Arial" charset="0"/>
              </a:rPr>
              <a:t>1.</a:t>
            </a:r>
            <a:r>
              <a:rPr lang="zh-CN" altLang="en-US" sz="1200">
                <a:cs typeface="Arial" charset="0"/>
              </a:rPr>
              <a:t>终端发出流量</a:t>
            </a:r>
            <a:endParaRPr lang="zh-CN" altLang="en-US" sz="1200" dirty="0">
              <a:cs typeface="Arial" charset="0"/>
            </a:endParaRPr>
          </a:p>
        </p:txBody>
      </p:sp>
      <p:cxnSp>
        <p:nvCxnSpPr>
          <p:cNvPr id="13" name="直接箭头连接符 12">
            <a:extLst>
              <a:ext uri="{FF2B5EF4-FFF2-40B4-BE49-F238E27FC236}">
                <a16:creationId xmlns:a16="http://schemas.microsoft.com/office/drawing/2014/main" xmlns="" id="{46872E63-9E29-40D9-8698-E678BA095303}"/>
              </a:ext>
            </a:extLst>
          </p:cNvPr>
          <p:cNvCxnSpPr/>
          <p:nvPr/>
        </p:nvCxnSpPr>
        <p:spPr bwMode="auto">
          <a:xfrm>
            <a:off x="1233672" y="4196961"/>
            <a:ext cx="2169364" cy="0"/>
          </a:xfrm>
          <a:prstGeom prst="straightConnector1">
            <a:avLst/>
          </a:prstGeom>
          <a:noFill/>
          <a:ln w="12700" cap="flat" cmpd="sng" algn="ctr">
            <a:solidFill>
              <a:schemeClr val="tx1"/>
            </a:solidFill>
            <a:prstDash val="solid"/>
            <a:round/>
            <a:headEnd type="triangle" w="med" len="med"/>
            <a:tailEnd type="none"/>
          </a:ln>
          <a:effectLst/>
        </p:spPr>
      </p:cxnSp>
      <p:sp>
        <p:nvSpPr>
          <p:cNvPr id="14" name="TextBox 70">
            <a:extLst>
              <a:ext uri="{FF2B5EF4-FFF2-40B4-BE49-F238E27FC236}">
                <a16:creationId xmlns:a16="http://schemas.microsoft.com/office/drawing/2014/main" xmlns="" id="{33759EA7-A1A0-4959-BE98-3FFFECD027E1}"/>
              </a:ext>
            </a:extLst>
          </p:cNvPr>
          <p:cNvSpPr txBox="1">
            <a:spLocks noChangeArrowheads="1"/>
          </p:cNvSpPr>
          <p:nvPr/>
        </p:nvSpPr>
        <p:spPr bwMode="auto">
          <a:xfrm>
            <a:off x="2462899" y="3935876"/>
            <a:ext cx="997825" cy="281603"/>
          </a:xfrm>
          <a:prstGeom prst="rect">
            <a:avLst/>
          </a:prstGeom>
          <a:noFill/>
          <a:ln w="9525">
            <a:noFill/>
            <a:miter lim="800000"/>
            <a:headEnd/>
            <a:tailEnd/>
          </a:ln>
        </p:spPr>
        <p:txBody>
          <a:bodyPr wrap="square" lIns="48000" tIns="48000" rIns="48000" bIns="48000">
            <a:spAutoFit/>
          </a:bodyPr>
          <a:lstStyle/>
          <a:p>
            <a:r>
              <a:rPr lang="en-US" altLang="zh-CN" sz="1200">
                <a:cs typeface="Arial" charset="0"/>
              </a:rPr>
              <a:t>3.802.1X</a:t>
            </a:r>
            <a:r>
              <a:rPr lang="zh-CN" altLang="en-US" sz="1200" dirty="0">
                <a:cs typeface="Arial" charset="0"/>
              </a:rPr>
              <a:t>认证</a:t>
            </a:r>
            <a:endParaRPr lang="en-US" altLang="zh-CN" sz="1200" dirty="0">
              <a:cs typeface="Arial" charset="0"/>
            </a:endParaRPr>
          </a:p>
        </p:txBody>
      </p:sp>
      <p:cxnSp>
        <p:nvCxnSpPr>
          <p:cNvPr id="15" name="直接箭头连接符 14">
            <a:extLst>
              <a:ext uri="{FF2B5EF4-FFF2-40B4-BE49-F238E27FC236}">
                <a16:creationId xmlns:a16="http://schemas.microsoft.com/office/drawing/2014/main" xmlns="" id="{AF0896D1-D83C-444F-8775-057FD7FB9276}"/>
              </a:ext>
            </a:extLst>
          </p:cNvPr>
          <p:cNvCxnSpPr/>
          <p:nvPr/>
        </p:nvCxnSpPr>
        <p:spPr bwMode="auto">
          <a:xfrm>
            <a:off x="3502369" y="5542837"/>
            <a:ext cx="2170843" cy="0"/>
          </a:xfrm>
          <a:prstGeom prst="straightConnector1">
            <a:avLst/>
          </a:prstGeom>
          <a:noFill/>
          <a:ln w="12700" cap="flat" cmpd="sng" algn="ctr">
            <a:solidFill>
              <a:schemeClr val="tx1"/>
            </a:solidFill>
            <a:prstDash val="solid"/>
            <a:round/>
            <a:headEnd type="triangle" w="med" len="med"/>
            <a:tailEnd type="triangle"/>
          </a:ln>
          <a:effectLst/>
        </p:spPr>
      </p:cxnSp>
      <p:sp>
        <p:nvSpPr>
          <p:cNvPr id="16" name="矩形 15">
            <a:extLst>
              <a:ext uri="{FF2B5EF4-FFF2-40B4-BE49-F238E27FC236}">
                <a16:creationId xmlns:a16="http://schemas.microsoft.com/office/drawing/2014/main" xmlns="" id="{84BF297C-5728-431E-AEA8-DC8145E3CA7D}"/>
              </a:ext>
            </a:extLst>
          </p:cNvPr>
          <p:cNvSpPr/>
          <p:nvPr/>
        </p:nvSpPr>
        <p:spPr>
          <a:xfrm>
            <a:off x="4153990" y="5298263"/>
            <a:ext cx="908641" cy="276999"/>
          </a:xfrm>
          <a:prstGeom prst="rect">
            <a:avLst/>
          </a:prstGeom>
        </p:spPr>
        <p:txBody>
          <a:bodyPr wrap="none" lIns="48000">
            <a:spAutoFit/>
          </a:bodyPr>
          <a:lstStyle/>
          <a:p>
            <a:pPr algn="r" defTabSz="1088578">
              <a:defRPr/>
            </a:pPr>
            <a:r>
              <a:rPr lang="en-US" altLang="zh-CN" sz="1200" kern="0"/>
              <a:t>4.MAC</a:t>
            </a:r>
            <a:r>
              <a:rPr lang="zh-CN" altLang="en-US" sz="1200" kern="0" dirty="0"/>
              <a:t>认证</a:t>
            </a:r>
            <a:endParaRPr lang="en-US" altLang="zh-CN" sz="1200" kern="0" dirty="0"/>
          </a:p>
        </p:txBody>
      </p:sp>
      <p:grpSp>
        <p:nvGrpSpPr>
          <p:cNvPr id="17" name="组合 16"/>
          <p:cNvGrpSpPr/>
          <p:nvPr/>
        </p:nvGrpSpPr>
        <p:grpSpPr>
          <a:xfrm>
            <a:off x="1181260" y="3187561"/>
            <a:ext cx="4568677" cy="2446214"/>
            <a:chOff x="946874" y="3573586"/>
            <a:chExt cx="4568677" cy="1661069"/>
          </a:xfrm>
        </p:grpSpPr>
        <p:cxnSp>
          <p:nvCxnSpPr>
            <p:cNvPr id="18" name="直接连接符 17">
              <a:extLst>
                <a:ext uri="{FF2B5EF4-FFF2-40B4-BE49-F238E27FC236}">
                  <a16:creationId xmlns:a16="http://schemas.microsoft.com/office/drawing/2014/main" xmlns="" id="{8167F3A8-9685-4E01-BEFE-C0DDAD4244B1}"/>
                </a:ext>
              </a:extLst>
            </p:cNvPr>
            <p:cNvCxnSpPr/>
            <p:nvPr/>
          </p:nvCxnSpPr>
          <p:spPr bwMode="auto">
            <a:xfrm>
              <a:off x="946874" y="3573586"/>
              <a:ext cx="0" cy="1633414"/>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19" name="直接连接符 18">
              <a:extLst>
                <a:ext uri="{FF2B5EF4-FFF2-40B4-BE49-F238E27FC236}">
                  <a16:creationId xmlns:a16="http://schemas.microsoft.com/office/drawing/2014/main" xmlns="" id="{7D8452C5-3ED0-4502-A5EB-AFE7FC4D4C48}"/>
                </a:ext>
              </a:extLst>
            </p:cNvPr>
            <p:cNvCxnSpPr/>
            <p:nvPr/>
          </p:nvCxnSpPr>
          <p:spPr bwMode="auto">
            <a:xfrm>
              <a:off x="3228782" y="3588541"/>
              <a:ext cx="1101" cy="1633414"/>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20" name="直接连接符 19">
              <a:extLst>
                <a:ext uri="{FF2B5EF4-FFF2-40B4-BE49-F238E27FC236}">
                  <a16:creationId xmlns:a16="http://schemas.microsoft.com/office/drawing/2014/main" xmlns="" id="{A465F2DA-AA08-4624-B062-B464732628C9}"/>
                </a:ext>
              </a:extLst>
            </p:cNvPr>
            <p:cNvCxnSpPr/>
            <p:nvPr/>
          </p:nvCxnSpPr>
          <p:spPr bwMode="auto">
            <a:xfrm>
              <a:off x="5515551" y="3601241"/>
              <a:ext cx="0" cy="1633414"/>
            </a:xfrm>
            <a:prstGeom prst="line">
              <a:avLst/>
            </a:prstGeom>
            <a:noFill/>
            <a:ln w="19050" cap="flat" cmpd="sng" algn="ctr">
              <a:solidFill>
                <a:schemeClr val="bg1">
                  <a:lumMod val="75000"/>
                </a:schemeClr>
              </a:solidFill>
              <a:prstDash val="sysDot"/>
              <a:round/>
              <a:headEnd type="none" w="med" len="med"/>
              <a:tailEnd type="none" w="med" len="med"/>
            </a:ln>
            <a:effectLst/>
          </p:spPr>
        </p:cxnSp>
      </p:grpSp>
      <p:sp>
        <p:nvSpPr>
          <p:cNvPr id="21" name="圆角矩形 362">
            <a:extLst>
              <a:ext uri="{FF2B5EF4-FFF2-40B4-BE49-F238E27FC236}">
                <a16:creationId xmlns:a16="http://schemas.microsoft.com/office/drawing/2014/main" xmlns="" id="{39F20518-FC28-4BC6-9B35-49A9EA953A4D}"/>
              </a:ext>
            </a:extLst>
          </p:cNvPr>
          <p:cNvSpPr/>
          <p:nvPr/>
        </p:nvSpPr>
        <p:spPr>
          <a:xfrm>
            <a:off x="1711582" y="4651176"/>
            <a:ext cx="2573585" cy="248684"/>
          </a:xfrm>
          <a:prstGeom prst="round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802.1X</a:t>
            </a:r>
            <a:r>
              <a:rPr lang="zh-CN" altLang="en-US" sz="1200"/>
              <a:t>认证超时，转为</a:t>
            </a:r>
            <a:r>
              <a:rPr lang="en-US" altLang="zh-CN" sz="1200"/>
              <a:t>MAC</a:t>
            </a:r>
            <a:r>
              <a:rPr lang="zh-CN" altLang="en-US" sz="1200" dirty="0"/>
              <a:t>认证</a:t>
            </a:r>
            <a:endParaRPr lang="en-US" sz="1200" dirty="0"/>
          </a:p>
        </p:txBody>
      </p:sp>
      <p:pic>
        <p:nvPicPr>
          <p:cNvPr id="22" name="图片 21" descr="通用交换机.png"/>
          <p:cNvPicPr>
            <a:picLocks noChangeAspect="1"/>
          </p:cNvPicPr>
          <p:nvPr/>
        </p:nvPicPr>
        <p:blipFill>
          <a:blip r:embed="rId6" cstate="print"/>
          <a:stretch>
            <a:fillRect/>
          </a:stretch>
        </p:blipFill>
        <p:spPr>
          <a:xfrm>
            <a:off x="3204673" y="2625688"/>
            <a:ext cx="540000" cy="441818"/>
          </a:xfrm>
          <a:prstGeom prst="rect">
            <a:avLst/>
          </a:prstGeom>
        </p:spPr>
      </p:pic>
      <p:sp>
        <p:nvSpPr>
          <p:cNvPr id="23" name="TextBox 70">
            <a:extLst>
              <a:ext uri="{FF2B5EF4-FFF2-40B4-BE49-F238E27FC236}">
                <a16:creationId xmlns:a16="http://schemas.microsoft.com/office/drawing/2014/main" xmlns="" id="{8FC2629A-B753-4949-AFE0-7A774C3FD9BB}"/>
              </a:ext>
            </a:extLst>
          </p:cNvPr>
          <p:cNvSpPr txBox="1">
            <a:spLocks noChangeArrowheads="1"/>
          </p:cNvSpPr>
          <p:nvPr/>
        </p:nvSpPr>
        <p:spPr bwMode="auto">
          <a:xfrm>
            <a:off x="3463169" y="3658661"/>
            <a:ext cx="1599462" cy="281603"/>
          </a:xfrm>
          <a:prstGeom prst="rect">
            <a:avLst/>
          </a:prstGeom>
          <a:noFill/>
          <a:ln w="9525">
            <a:noFill/>
            <a:miter lim="800000"/>
            <a:headEnd/>
            <a:tailEnd/>
          </a:ln>
        </p:spPr>
        <p:txBody>
          <a:bodyPr wrap="square" lIns="48000" tIns="48000" rIns="48000" bIns="48000">
            <a:spAutoFit/>
          </a:bodyPr>
          <a:lstStyle/>
          <a:p>
            <a:r>
              <a:rPr lang="en-US" altLang="zh-CN" sz="1200" dirty="0">
                <a:cs typeface="Arial" charset="0"/>
              </a:rPr>
              <a:t>2.</a:t>
            </a:r>
            <a:r>
              <a:rPr lang="zh-CN" altLang="en-US" sz="1200" dirty="0">
                <a:cs typeface="Arial" charset="0"/>
              </a:rPr>
              <a:t>触发</a:t>
            </a:r>
            <a:r>
              <a:rPr lang="en-US" altLang="zh-CN" sz="1200" dirty="0">
                <a:cs typeface="Arial" charset="0"/>
              </a:rPr>
              <a:t>802.1X</a:t>
            </a:r>
            <a:r>
              <a:rPr lang="zh-CN" altLang="en-US" sz="1200" dirty="0">
                <a:cs typeface="Arial" charset="0"/>
              </a:rPr>
              <a:t>认证</a:t>
            </a:r>
          </a:p>
        </p:txBody>
      </p:sp>
      <p:cxnSp>
        <p:nvCxnSpPr>
          <p:cNvPr id="24" name="直接箭头连接符 23">
            <a:extLst>
              <a:ext uri="{FF2B5EF4-FFF2-40B4-BE49-F238E27FC236}">
                <a16:creationId xmlns:a16="http://schemas.microsoft.com/office/drawing/2014/main" xmlns="" id="{46872E63-9E29-40D9-8698-E678BA095303}"/>
              </a:ext>
            </a:extLst>
          </p:cNvPr>
          <p:cNvCxnSpPr/>
          <p:nvPr/>
        </p:nvCxnSpPr>
        <p:spPr bwMode="auto">
          <a:xfrm>
            <a:off x="1233672" y="4273161"/>
            <a:ext cx="2169364" cy="0"/>
          </a:xfrm>
          <a:prstGeom prst="straightConnector1">
            <a:avLst/>
          </a:prstGeom>
          <a:noFill/>
          <a:ln w="12700" cap="flat" cmpd="sng" algn="ctr">
            <a:solidFill>
              <a:schemeClr val="tx1"/>
            </a:solidFill>
            <a:prstDash val="solid"/>
            <a:round/>
            <a:headEnd type="triangle" w="med" len="med"/>
            <a:tailEnd type="none"/>
          </a:ln>
          <a:effectLst/>
        </p:spPr>
      </p:cxnSp>
      <p:cxnSp>
        <p:nvCxnSpPr>
          <p:cNvPr id="25" name="直接箭头连接符 24">
            <a:extLst>
              <a:ext uri="{FF2B5EF4-FFF2-40B4-BE49-F238E27FC236}">
                <a16:creationId xmlns:a16="http://schemas.microsoft.com/office/drawing/2014/main" xmlns="" id="{46872E63-9E29-40D9-8698-E678BA095303}"/>
              </a:ext>
            </a:extLst>
          </p:cNvPr>
          <p:cNvCxnSpPr/>
          <p:nvPr/>
        </p:nvCxnSpPr>
        <p:spPr bwMode="auto">
          <a:xfrm>
            <a:off x="1233672" y="4349361"/>
            <a:ext cx="2169364" cy="0"/>
          </a:xfrm>
          <a:prstGeom prst="straightConnector1">
            <a:avLst/>
          </a:prstGeom>
          <a:noFill/>
          <a:ln w="12700" cap="flat" cmpd="sng" algn="ctr">
            <a:solidFill>
              <a:schemeClr val="tx1"/>
            </a:solidFill>
            <a:prstDash val="solid"/>
            <a:round/>
            <a:headEnd type="triangle" w="med" len="med"/>
            <a:tailEnd type="none"/>
          </a:ln>
          <a:effectLst/>
        </p:spPr>
      </p:cxnSp>
      <p:sp>
        <p:nvSpPr>
          <p:cNvPr id="26" name="文本框 25"/>
          <p:cNvSpPr txBox="1"/>
          <p:nvPr/>
        </p:nvSpPr>
        <p:spPr>
          <a:xfrm>
            <a:off x="6255791" y="2791496"/>
            <a:ext cx="5293817" cy="1708160"/>
          </a:xfrm>
          <a:prstGeom prst="rect">
            <a:avLst/>
          </a:prstGeom>
          <a:noFill/>
        </p:spPr>
        <p:txBody>
          <a:bodyPr wrap="square" rtlCol="0">
            <a:spAutoFit/>
          </a:bodyPr>
          <a:lstStyle/>
          <a:p>
            <a:pPr marL="285750" indent="-285750">
              <a:lnSpc>
                <a:spcPts val="2400"/>
              </a:lnSpc>
              <a:spcAft>
                <a:spcPts val="600"/>
              </a:spcAft>
              <a:buFont typeface="Arial" panose="020B0604020202020204" pitchFamily="34" charset="0"/>
              <a:buChar char="•"/>
            </a:pPr>
            <a:r>
              <a:rPr lang="zh-CN" altLang="en-US" sz="1600" dirty="0"/>
              <a:t>当接入设备接口下同时存在</a:t>
            </a:r>
            <a:r>
              <a:rPr lang="en-US" altLang="zh-CN" sz="1600" dirty="0"/>
              <a:t>PC</a:t>
            </a:r>
            <a:r>
              <a:rPr lang="zh-CN" altLang="en-US" sz="1600" dirty="0"/>
              <a:t>和打印机</a:t>
            </a:r>
            <a:r>
              <a:rPr lang="en-US" altLang="zh-CN" sz="1600" dirty="0"/>
              <a:t>/</a:t>
            </a:r>
            <a:r>
              <a:rPr lang="zh-CN" altLang="en-US" sz="1600" dirty="0"/>
              <a:t>传真机等哑终端时，可以通过</a:t>
            </a:r>
            <a:r>
              <a:rPr lang="en-US" altLang="zh-CN" sz="1600" dirty="0"/>
              <a:t>MAC</a:t>
            </a:r>
            <a:r>
              <a:rPr lang="zh-CN" altLang="en-US" sz="1600" dirty="0"/>
              <a:t>旁路认证功能，使不具备</a:t>
            </a:r>
            <a:r>
              <a:rPr lang="en-US" altLang="zh-CN" sz="1600" dirty="0"/>
              <a:t>802.1X</a:t>
            </a:r>
            <a:r>
              <a:rPr lang="zh-CN" altLang="en-US" sz="1600" dirty="0"/>
              <a:t>认证能力的哑终端能够通过</a:t>
            </a:r>
            <a:r>
              <a:rPr lang="en-US" altLang="zh-CN" sz="1600" dirty="0"/>
              <a:t>MAC</a:t>
            </a:r>
            <a:r>
              <a:rPr lang="zh-CN" altLang="en-US" sz="1600" dirty="0"/>
              <a:t>认证方式接入网络。</a:t>
            </a:r>
            <a:endParaRPr lang="en-US" altLang="zh-CN" sz="1600" dirty="0"/>
          </a:p>
          <a:p>
            <a:pPr marL="285750" indent="-285750">
              <a:lnSpc>
                <a:spcPts val="2400"/>
              </a:lnSpc>
              <a:spcAft>
                <a:spcPts val="600"/>
              </a:spcAft>
              <a:buFont typeface="Arial" panose="020B0604020202020204" pitchFamily="34" charset="0"/>
              <a:buChar char="•"/>
            </a:pPr>
            <a:r>
              <a:rPr lang="en-US" altLang="zh-CN" sz="1600" dirty="0"/>
              <a:t>MAC</a:t>
            </a:r>
            <a:r>
              <a:rPr lang="zh-CN" altLang="en-US" sz="1600" dirty="0"/>
              <a:t>旁路认证比单纯的</a:t>
            </a:r>
            <a:r>
              <a:rPr lang="en-US" altLang="zh-CN" sz="1600" dirty="0"/>
              <a:t>MAC</a:t>
            </a:r>
            <a:r>
              <a:rPr lang="zh-CN" altLang="en-US" sz="1600" dirty="0"/>
              <a:t>认证多一个</a:t>
            </a:r>
            <a:r>
              <a:rPr lang="en-US" altLang="zh-CN" sz="1600" dirty="0"/>
              <a:t>802.1X</a:t>
            </a:r>
            <a:r>
              <a:rPr lang="zh-CN" altLang="en-US" sz="1600" dirty="0"/>
              <a:t>认证环节，故时间要比</a:t>
            </a:r>
            <a:r>
              <a:rPr lang="en-US" altLang="zh-CN" sz="1600" dirty="0"/>
              <a:t>MAC</a:t>
            </a:r>
            <a:r>
              <a:rPr lang="zh-CN" altLang="en-US" sz="1600" dirty="0"/>
              <a:t>认证时间长。</a:t>
            </a:r>
          </a:p>
        </p:txBody>
      </p:sp>
      <p:sp>
        <p:nvSpPr>
          <p:cNvPr id="27" name="五边形 26"/>
          <p:cNvSpPr/>
          <p:nvPr/>
        </p:nvSpPr>
        <p:spPr bwMode="auto">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auto">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29" name="燕尾形 28"/>
          <p:cNvSpPr/>
          <p:nvPr/>
        </p:nvSpPr>
        <p:spPr bwMode="auto">
          <a:xfrm>
            <a:off x="1021882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30" name="燕尾形 29"/>
          <p:cNvSpPr/>
          <p:nvPr/>
        </p:nvSpPr>
        <p:spPr bwMode="auto">
          <a:xfrm>
            <a:off x="10927145"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607038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en-US" altLang="zh-CN" dirty="0"/>
              <a:t>MAC</a:t>
            </a:r>
            <a:r>
              <a:rPr lang="zh-CN" altLang="en-US" dirty="0"/>
              <a:t>优先的</a:t>
            </a:r>
            <a:r>
              <a:rPr lang="en-US" altLang="zh-CN" dirty="0"/>
              <a:t>Portal</a:t>
            </a:r>
            <a:r>
              <a:rPr lang="zh-CN" altLang="en-US" dirty="0"/>
              <a:t>认证</a:t>
            </a:r>
          </a:p>
        </p:txBody>
      </p:sp>
      <p:sp>
        <p:nvSpPr>
          <p:cNvPr id="5" name="TextBox 41">
            <a:extLst>
              <a:ext uri="{FF2B5EF4-FFF2-40B4-BE49-F238E27FC236}">
                <a16:creationId xmlns:a16="http://schemas.microsoft.com/office/drawing/2014/main" xmlns="" id="{107FF330-60DF-4117-B4EF-26EB0211B8ED}"/>
              </a:ext>
            </a:extLst>
          </p:cNvPr>
          <p:cNvSpPr txBox="1"/>
          <p:nvPr/>
        </p:nvSpPr>
        <p:spPr bwMode="gray">
          <a:xfrm>
            <a:off x="2377834" y="1064148"/>
            <a:ext cx="790848" cy="288147"/>
          </a:xfrm>
          <a:prstGeom prst="rect">
            <a:avLst/>
          </a:prstGeom>
          <a:noFill/>
        </p:spPr>
        <p:txBody>
          <a:bodyPr wrap="none" lIns="36000" tIns="36000" rIns="36000" bIns="36000" rtlCol="0">
            <a:spAutoFit/>
          </a:bodyPr>
          <a:lstStyle/>
          <a:p>
            <a:pPr algn="ctr"/>
            <a:r>
              <a:rPr lang="zh-CN" altLang="en-US" sz="1400" dirty="0">
                <a:cs typeface="Arial" pitchFamily="34" charset="0"/>
              </a:rPr>
              <a:t>接入设备</a:t>
            </a:r>
          </a:p>
        </p:txBody>
      </p:sp>
      <p:sp>
        <p:nvSpPr>
          <p:cNvPr id="6" name="TextBox 42">
            <a:extLst>
              <a:ext uri="{FF2B5EF4-FFF2-40B4-BE49-F238E27FC236}">
                <a16:creationId xmlns:a16="http://schemas.microsoft.com/office/drawing/2014/main" xmlns="" id="{10D25089-1E74-43A4-A230-304F09C4C5A5}"/>
              </a:ext>
            </a:extLst>
          </p:cNvPr>
          <p:cNvSpPr txBox="1"/>
          <p:nvPr/>
        </p:nvSpPr>
        <p:spPr bwMode="gray">
          <a:xfrm>
            <a:off x="3939276" y="1064148"/>
            <a:ext cx="1100229" cy="288147"/>
          </a:xfrm>
          <a:prstGeom prst="rect">
            <a:avLst/>
          </a:prstGeom>
          <a:noFill/>
        </p:spPr>
        <p:txBody>
          <a:bodyPr wrap="none" lIns="36000" tIns="36000" rIns="36000" bIns="36000" rtlCol="0">
            <a:spAutoFit/>
          </a:bodyPr>
          <a:lstStyle/>
          <a:p>
            <a:pPr algn="ctr"/>
            <a:r>
              <a:rPr lang="en-US" altLang="zh-CN" sz="1400">
                <a:cs typeface="Arial" pitchFamily="34" charset="0"/>
              </a:rPr>
              <a:t>Portal</a:t>
            </a:r>
            <a:r>
              <a:rPr lang="zh-CN" altLang="en-US" sz="1400">
                <a:cs typeface="Arial" pitchFamily="34" charset="0"/>
              </a:rPr>
              <a:t>服务器</a:t>
            </a:r>
            <a:endParaRPr lang="zh-CN" altLang="en-US" sz="1400" dirty="0">
              <a:cs typeface="Arial" pitchFamily="34" charset="0"/>
            </a:endParaRPr>
          </a:p>
        </p:txBody>
      </p:sp>
      <p:pic>
        <p:nvPicPr>
          <p:cNvPr id="7" name="图片 6" descr="交换机.png"/>
          <p:cNvPicPr>
            <a:picLocks noChangeAspect="1"/>
          </p:cNvPicPr>
          <p:nvPr/>
        </p:nvPicPr>
        <p:blipFill>
          <a:blip r:embed="rId3" cstate="print"/>
          <a:stretch>
            <a:fillRect/>
          </a:stretch>
        </p:blipFill>
        <p:spPr bwMode="gray">
          <a:xfrm>
            <a:off x="4225251" y="1405596"/>
            <a:ext cx="539999" cy="441817"/>
          </a:xfrm>
          <a:prstGeom prst="rect">
            <a:avLst/>
          </a:prstGeom>
        </p:spPr>
      </p:pic>
      <p:sp>
        <p:nvSpPr>
          <p:cNvPr id="8" name="TextBox 41">
            <a:extLst>
              <a:ext uri="{FF2B5EF4-FFF2-40B4-BE49-F238E27FC236}">
                <a16:creationId xmlns:a16="http://schemas.microsoft.com/office/drawing/2014/main" xmlns="" id="{107FF330-60DF-4117-B4EF-26EB0211B8ED}"/>
              </a:ext>
            </a:extLst>
          </p:cNvPr>
          <p:cNvSpPr txBox="1"/>
          <p:nvPr/>
        </p:nvSpPr>
        <p:spPr bwMode="gray">
          <a:xfrm>
            <a:off x="562131" y="1064148"/>
            <a:ext cx="431777" cy="288147"/>
          </a:xfrm>
          <a:prstGeom prst="rect">
            <a:avLst/>
          </a:prstGeom>
          <a:noFill/>
        </p:spPr>
        <p:txBody>
          <a:bodyPr wrap="none" lIns="36000" tIns="36000" rIns="36000" bIns="36000" rtlCol="0">
            <a:spAutoFit/>
          </a:bodyPr>
          <a:lstStyle/>
          <a:p>
            <a:pPr algn="ctr"/>
            <a:r>
              <a:rPr lang="zh-CN" altLang="en-US" sz="1400" dirty="0">
                <a:cs typeface="Arial" pitchFamily="34" charset="0"/>
              </a:rPr>
              <a:t>终端</a:t>
            </a:r>
          </a:p>
        </p:txBody>
      </p:sp>
      <p:pic>
        <p:nvPicPr>
          <p:cNvPr id="9" name="图片 8" descr="通用交换机.png"/>
          <p:cNvPicPr>
            <a:picLocks noChangeAspect="1"/>
          </p:cNvPicPr>
          <p:nvPr/>
        </p:nvPicPr>
        <p:blipFill>
          <a:blip r:embed="rId4" cstate="print"/>
          <a:stretch>
            <a:fillRect/>
          </a:stretch>
        </p:blipFill>
        <p:spPr bwMode="gray">
          <a:xfrm>
            <a:off x="2503258" y="1405595"/>
            <a:ext cx="540000" cy="441818"/>
          </a:xfrm>
          <a:prstGeom prst="rect">
            <a:avLst/>
          </a:prstGeom>
        </p:spPr>
      </p:pic>
      <p:pic>
        <p:nvPicPr>
          <p:cNvPr id="10" name="图片 79" descr="PC.png">
            <a:extLst>
              <a:ext uri="{FF2B5EF4-FFF2-40B4-BE49-F238E27FC236}">
                <a16:creationId xmlns:a16="http://schemas.microsoft.com/office/drawing/2014/main" xmlns="" id="{4666702E-823D-4236-BF2F-880359158C83}"/>
              </a:ext>
            </a:extLst>
          </p:cNvPr>
          <p:cNvPicPr>
            <a:picLocks noChangeAspect="1"/>
          </p:cNvPicPr>
          <p:nvPr/>
        </p:nvPicPr>
        <p:blipFill>
          <a:blip r:embed="rId5" cstate="print"/>
          <a:stretch>
            <a:fillRect/>
          </a:stretch>
        </p:blipFill>
        <p:spPr bwMode="gray">
          <a:xfrm>
            <a:off x="508488" y="1469338"/>
            <a:ext cx="539063" cy="414000"/>
          </a:xfrm>
          <a:prstGeom prst="rect">
            <a:avLst/>
          </a:prstGeom>
        </p:spPr>
      </p:pic>
      <p:sp>
        <p:nvSpPr>
          <p:cNvPr id="11" name="TextBox 42">
            <a:extLst>
              <a:ext uri="{FF2B5EF4-FFF2-40B4-BE49-F238E27FC236}">
                <a16:creationId xmlns:a16="http://schemas.microsoft.com/office/drawing/2014/main" xmlns="" id="{10D25089-1E74-43A4-A230-304F09C4C5A5}"/>
              </a:ext>
            </a:extLst>
          </p:cNvPr>
          <p:cNvSpPr txBox="1"/>
          <p:nvPr/>
        </p:nvSpPr>
        <p:spPr bwMode="gray">
          <a:xfrm>
            <a:off x="5597568" y="1064148"/>
            <a:ext cx="1246101" cy="288147"/>
          </a:xfrm>
          <a:prstGeom prst="rect">
            <a:avLst/>
          </a:prstGeom>
          <a:noFill/>
        </p:spPr>
        <p:txBody>
          <a:bodyPr wrap="none" lIns="36000" tIns="36000" rIns="36000" bIns="36000" rtlCol="0">
            <a:spAutoFit/>
          </a:bodyPr>
          <a:lstStyle/>
          <a:p>
            <a:pPr algn="ctr"/>
            <a:r>
              <a:rPr lang="en-US" altLang="zh-CN" sz="1400">
                <a:cs typeface="Arial" pitchFamily="34" charset="0"/>
              </a:rPr>
              <a:t>RADIUS</a:t>
            </a:r>
            <a:r>
              <a:rPr lang="zh-CN" altLang="en-US" sz="1400">
                <a:cs typeface="Arial" pitchFamily="34" charset="0"/>
              </a:rPr>
              <a:t>服务器</a:t>
            </a:r>
            <a:endParaRPr lang="zh-CN" altLang="en-US" sz="1400" dirty="0">
              <a:cs typeface="Arial" pitchFamily="34" charset="0"/>
            </a:endParaRPr>
          </a:p>
        </p:txBody>
      </p:sp>
      <p:pic>
        <p:nvPicPr>
          <p:cNvPr id="12" name="图片 11" descr="交换机.png"/>
          <p:cNvPicPr>
            <a:picLocks noChangeAspect="1"/>
          </p:cNvPicPr>
          <p:nvPr/>
        </p:nvPicPr>
        <p:blipFill>
          <a:blip r:embed="rId3" cstate="print"/>
          <a:stretch>
            <a:fillRect/>
          </a:stretch>
        </p:blipFill>
        <p:spPr bwMode="gray">
          <a:xfrm>
            <a:off x="5956479" y="1405596"/>
            <a:ext cx="539999" cy="441817"/>
          </a:xfrm>
          <a:prstGeom prst="rect">
            <a:avLst/>
          </a:prstGeom>
        </p:spPr>
      </p:pic>
      <p:grpSp>
        <p:nvGrpSpPr>
          <p:cNvPr id="13" name="组合 12"/>
          <p:cNvGrpSpPr/>
          <p:nvPr/>
        </p:nvGrpSpPr>
        <p:grpSpPr bwMode="gray">
          <a:xfrm>
            <a:off x="818952" y="1967468"/>
            <a:ext cx="5421449" cy="4196299"/>
            <a:chOff x="801619" y="2647264"/>
            <a:chExt cx="5421449" cy="2405487"/>
          </a:xfrm>
        </p:grpSpPr>
        <p:cxnSp>
          <p:nvCxnSpPr>
            <p:cNvPr id="14" name="直接连接符 13">
              <a:extLst>
                <a:ext uri="{FF2B5EF4-FFF2-40B4-BE49-F238E27FC236}">
                  <a16:creationId xmlns:a16="http://schemas.microsoft.com/office/drawing/2014/main" xmlns="" id="{8167F3A8-9685-4E01-BEFE-C0DDAD4244B1}"/>
                </a:ext>
              </a:extLst>
            </p:cNvPr>
            <p:cNvCxnSpPr/>
            <p:nvPr/>
          </p:nvCxnSpPr>
          <p:spPr bwMode="gray">
            <a:xfrm>
              <a:off x="801619" y="2647264"/>
              <a:ext cx="0" cy="2405487"/>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15" name="直接连接符 14">
              <a:extLst>
                <a:ext uri="{FF2B5EF4-FFF2-40B4-BE49-F238E27FC236}">
                  <a16:creationId xmlns:a16="http://schemas.microsoft.com/office/drawing/2014/main" xmlns="" id="{8167F3A8-9685-4E01-BEFE-C0DDAD4244B1}"/>
                </a:ext>
              </a:extLst>
            </p:cNvPr>
            <p:cNvCxnSpPr/>
            <p:nvPr/>
          </p:nvCxnSpPr>
          <p:spPr bwMode="gray">
            <a:xfrm>
              <a:off x="2769082" y="2647264"/>
              <a:ext cx="0" cy="2405487"/>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16" name="直接连接符 15">
              <a:extLst>
                <a:ext uri="{FF2B5EF4-FFF2-40B4-BE49-F238E27FC236}">
                  <a16:creationId xmlns:a16="http://schemas.microsoft.com/office/drawing/2014/main" xmlns="" id="{8167F3A8-9685-4E01-BEFE-C0DDAD4244B1}"/>
                </a:ext>
              </a:extLst>
            </p:cNvPr>
            <p:cNvCxnSpPr/>
            <p:nvPr/>
          </p:nvCxnSpPr>
          <p:spPr bwMode="gray">
            <a:xfrm>
              <a:off x="4499332" y="2647264"/>
              <a:ext cx="0" cy="2405487"/>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17" name="直接连接符 16">
              <a:extLst>
                <a:ext uri="{FF2B5EF4-FFF2-40B4-BE49-F238E27FC236}">
                  <a16:creationId xmlns:a16="http://schemas.microsoft.com/office/drawing/2014/main" xmlns="" id="{8167F3A8-9685-4E01-BEFE-C0DDAD4244B1}"/>
                </a:ext>
              </a:extLst>
            </p:cNvPr>
            <p:cNvCxnSpPr/>
            <p:nvPr/>
          </p:nvCxnSpPr>
          <p:spPr bwMode="gray">
            <a:xfrm>
              <a:off x="6223068" y="2647264"/>
              <a:ext cx="0" cy="2405487"/>
            </a:xfrm>
            <a:prstGeom prst="line">
              <a:avLst/>
            </a:prstGeom>
            <a:noFill/>
            <a:ln w="19050" cap="flat" cmpd="sng" algn="ctr">
              <a:solidFill>
                <a:schemeClr val="bg1">
                  <a:lumMod val="75000"/>
                </a:schemeClr>
              </a:solidFill>
              <a:prstDash val="sysDot"/>
              <a:round/>
              <a:headEnd type="none" w="med" len="med"/>
              <a:tailEnd type="none" w="med" len="med"/>
            </a:ln>
            <a:effectLst/>
          </p:spPr>
        </p:cxnSp>
      </p:grpSp>
      <p:cxnSp>
        <p:nvCxnSpPr>
          <p:cNvPr id="18" name="直接箭头连接符 17">
            <a:extLst>
              <a:ext uri="{FF2B5EF4-FFF2-40B4-BE49-F238E27FC236}">
                <a16:creationId xmlns:a16="http://schemas.microsoft.com/office/drawing/2014/main" xmlns="" id="{7D2A6B36-0425-4AF5-8615-B057DC5231D8}"/>
              </a:ext>
            </a:extLst>
          </p:cNvPr>
          <p:cNvCxnSpPr/>
          <p:nvPr/>
        </p:nvCxnSpPr>
        <p:spPr bwMode="gray">
          <a:xfrm>
            <a:off x="818952" y="2532468"/>
            <a:ext cx="1967463" cy="0"/>
          </a:xfrm>
          <a:prstGeom prst="straightConnector1">
            <a:avLst/>
          </a:prstGeom>
          <a:noFill/>
          <a:ln w="12700" cap="flat" cmpd="sng" algn="ctr">
            <a:solidFill>
              <a:schemeClr val="tx1"/>
            </a:solidFill>
            <a:prstDash val="solid"/>
            <a:round/>
            <a:headEnd type="none" w="med" len="med"/>
            <a:tailEnd type="triangle"/>
          </a:ln>
          <a:effectLst/>
        </p:spPr>
      </p:cxnSp>
      <p:sp>
        <p:nvSpPr>
          <p:cNvPr id="19"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829026" y="2066199"/>
            <a:ext cx="1465078" cy="466269"/>
          </a:xfrm>
          <a:prstGeom prst="rect">
            <a:avLst/>
          </a:prstGeom>
          <a:noFill/>
          <a:ln w="9525">
            <a:noFill/>
            <a:miter lim="800000"/>
            <a:headEnd/>
            <a:tailEnd/>
          </a:ln>
        </p:spPr>
        <p:txBody>
          <a:bodyPr wrap="square" lIns="48000" tIns="48000" rIns="48000" bIns="48000">
            <a:spAutoFit/>
          </a:bodyPr>
          <a:lstStyle/>
          <a:p>
            <a:r>
              <a:rPr lang="en-US" altLang="zh-CN" sz="1200" dirty="0">
                <a:cs typeface="Arial" charset="0"/>
              </a:rPr>
              <a:t>1.</a:t>
            </a:r>
            <a:r>
              <a:rPr lang="zh-CN" altLang="en-US" sz="1200" dirty="0">
                <a:cs typeface="Arial" charset="0"/>
              </a:rPr>
              <a:t>用户浏览网页，终端发出</a:t>
            </a:r>
            <a:r>
              <a:rPr lang="en-US" altLang="zh-CN" sz="1200" dirty="0">
                <a:cs typeface="Arial" charset="0"/>
              </a:rPr>
              <a:t>HTTP</a:t>
            </a:r>
            <a:r>
              <a:rPr lang="zh-CN" altLang="en-US" sz="1200" dirty="0">
                <a:cs typeface="Arial" charset="0"/>
              </a:rPr>
              <a:t>流量</a:t>
            </a:r>
          </a:p>
        </p:txBody>
      </p:sp>
      <p:cxnSp>
        <p:nvCxnSpPr>
          <p:cNvPr id="20" name="直接箭头连接符 19">
            <a:extLst>
              <a:ext uri="{FF2B5EF4-FFF2-40B4-BE49-F238E27FC236}">
                <a16:creationId xmlns:a16="http://schemas.microsoft.com/office/drawing/2014/main" xmlns="" id="{7D2A6B36-0425-4AF5-8615-B057DC5231D8}"/>
              </a:ext>
            </a:extLst>
          </p:cNvPr>
          <p:cNvCxnSpPr/>
          <p:nvPr/>
        </p:nvCxnSpPr>
        <p:spPr bwMode="gray">
          <a:xfrm>
            <a:off x="2795651" y="2856063"/>
            <a:ext cx="3444750" cy="0"/>
          </a:xfrm>
          <a:prstGeom prst="straightConnector1">
            <a:avLst/>
          </a:prstGeom>
          <a:noFill/>
          <a:ln w="12700" cap="flat" cmpd="sng" algn="ctr">
            <a:solidFill>
              <a:schemeClr val="tx1"/>
            </a:solidFill>
            <a:prstDash val="solid"/>
            <a:round/>
            <a:headEnd type="triangle" w="med" len="med"/>
            <a:tailEnd type="triangle"/>
          </a:ln>
          <a:effectLst/>
        </p:spPr>
      </p:cxnSp>
      <p:sp>
        <p:nvSpPr>
          <p:cNvPr id="21"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3448214" y="2574460"/>
            <a:ext cx="1930319" cy="281603"/>
          </a:xfrm>
          <a:prstGeom prst="rect">
            <a:avLst/>
          </a:prstGeom>
          <a:noFill/>
          <a:ln w="9525">
            <a:noFill/>
            <a:miter lim="800000"/>
            <a:headEnd/>
            <a:tailEnd/>
          </a:ln>
        </p:spPr>
        <p:txBody>
          <a:bodyPr wrap="square" lIns="48000" tIns="48000" rIns="48000" bIns="48000">
            <a:spAutoFit/>
          </a:bodyPr>
          <a:lstStyle/>
          <a:p>
            <a:r>
              <a:rPr lang="en-US" altLang="zh-CN" sz="1200">
                <a:cs typeface="Arial" charset="0"/>
              </a:rPr>
              <a:t>2.</a:t>
            </a:r>
            <a:r>
              <a:rPr lang="zh-CN" altLang="en-US" sz="1200">
                <a:cs typeface="Arial" charset="0"/>
              </a:rPr>
              <a:t>执行</a:t>
            </a:r>
            <a:r>
              <a:rPr lang="en-US" altLang="zh-CN" sz="1200">
                <a:cs typeface="Arial" charset="0"/>
              </a:rPr>
              <a:t>MAC</a:t>
            </a:r>
            <a:r>
              <a:rPr lang="zh-CN" altLang="en-US" sz="1200">
                <a:cs typeface="Arial" charset="0"/>
              </a:rPr>
              <a:t>认证，结果失败</a:t>
            </a:r>
            <a:endParaRPr lang="zh-CN" altLang="en-US" sz="1200" dirty="0">
              <a:cs typeface="Arial" charset="0"/>
            </a:endParaRPr>
          </a:p>
        </p:txBody>
      </p:sp>
      <p:cxnSp>
        <p:nvCxnSpPr>
          <p:cNvPr id="22" name="直接箭头连接符 21">
            <a:extLst>
              <a:ext uri="{FF2B5EF4-FFF2-40B4-BE49-F238E27FC236}">
                <a16:creationId xmlns:a16="http://schemas.microsoft.com/office/drawing/2014/main" xmlns="" id="{7D2A6B36-0425-4AF5-8615-B057DC5231D8}"/>
              </a:ext>
            </a:extLst>
          </p:cNvPr>
          <p:cNvCxnSpPr/>
          <p:nvPr/>
        </p:nvCxnSpPr>
        <p:spPr bwMode="gray">
          <a:xfrm>
            <a:off x="818952" y="3265811"/>
            <a:ext cx="1967463" cy="0"/>
          </a:xfrm>
          <a:prstGeom prst="straightConnector1">
            <a:avLst/>
          </a:prstGeom>
          <a:noFill/>
          <a:ln w="12700" cap="flat" cmpd="sng" algn="ctr">
            <a:solidFill>
              <a:schemeClr val="tx1"/>
            </a:solidFill>
            <a:prstDash val="solid"/>
            <a:round/>
            <a:headEnd type="triangle" w="med" len="med"/>
            <a:tailEnd type="none"/>
          </a:ln>
          <a:effectLst/>
        </p:spPr>
      </p:cxnSp>
      <p:sp>
        <p:nvSpPr>
          <p:cNvPr id="23"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1089367" y="2805153"/>
            <a:ext cx="1663848" cy="466269"/>
          </a:xfrm>
          <a:prstGeom prst="rect">
            <a:avLst/>
          </a:prstGeom>
          <a:noFill/>
          <a:ln w="9525">
            <a:noFill/>
            <a:miter lim="800000"/>
            <a:headEnd/>
            <a:tailEnd/>
          </a:ln>
        </p:spPr>
        <p:txBody>
          <a:bodyPr wrap="square" lIns="48000" tIns="48000" rIns="48000" bIns="48000">
            <a:spAutoFit/>
          </a:bodyPr>
          <a:lstStyle/>
          <a:p>
            <a:pPr algn="r"/>
            <a:r>
              <a:rPr lang="en-US" altLang="zh-CN" sz="1200" dirty="0">
                <a:cs typeface="Arial" charset="0"/>
              </a:rPr>
              <a:t>3.</a:t>
            </a:r>
            <a:r>
              <a:rPr lang="zh-CN" altLang="en-US" sz="1200" dirty="0">
                <a:cs typeface="Arial" charset="0"/>
              </a:rPr>
              <a:t>将用户的</a:t>
            </a:r>
            <a:r>
              <a:rPr lang="en-US" altLang="zh-CN" sz="1200" dirty="0">
                <a:cs typeface="Arial" charset="0"/>
              </a:rPr>
              <a:t>HTTP</a:t>
            </a:r>
            <a:r>
              <a:rPr lang="zh-CN" altLang="en-US" sz="1200" dirty="0">
                <a:cs typeface="Arial" charset="0"/>
              </a:rPr>
              <a:t>请求重定向到</a:t>
            </a:r>
            <a:r>
              <a:rPr lang="en-US" altLang="zh-CN" sz="1200" dirty="0">
                <a:cs typeface="Arial" charset="0"/>
              </a:rPr>
              <a:t>Portal</a:t>
            </a:r>
            <a:r>
              <a:rPr lang="zh-CN" altLang="en-US" sz="1200" dirty="0">
                <a:cs typeface="Arial" charset="0"/>
              </a:rPr>
              <a:t>认证页面</a:t>
            </a:r>
          </a:p>
        </p:txBody>
      </p:sp>
      <p:cxnSp>
        <p:nvCxnSpPr>
          <p:cNvPr id="24" name="直接箭头连接符 23">
            <a:extLst>
              <a:ext uri="{FF2B5EF4-FFF2-40B4-BE49-F238E27FC236}">
                <a16:creationId xmlns:a16="http://schemas.microsoft.com/office/drawing/2014/main" xmlns="" id="{7D2A6B36-0425-4AF5-8615-B057DC5231D8}"/>
              </a:ext>
            </a:extLst>
          </p:cNvPr>
          <p:cNvCxnSpPr/>
          <p:nvPr/>
        </p:nvCxnSpPr>
        <p:spPr bwMode="gray">
          <a:xfrm>
            <a:off x="780883" y="3836954"/>
            <a:ext cx="2014768" cy="0"/>
          </a:xfrm>
          <a:prstGeom prst="straightConnector1">
            <a:avLst/>
          </a:prstGeom>
          <a:noFill/>
          <a:ln w="12700" cap="flat" cmpd="sng" algn="ctr">
            <a:solidFill>
              <a:schemeClr val="tx1"/>
            </a:solidFill>
            <a:prstDash val="solid"/>
            <a:round/>
            <a:headEnd type="triangle" w="med" len="med"/>
            <a:tailEnd type="triangle"/>
          </a:ln>
          <a:effectLst/>
        </p:spPr>
      </p:cxnSp>
      <p:cxnSp>
        <p:nvCxnSpPr>
          <p:cNvPr id="25" name="直接箭头连接符 24">
            <a:extLst>
              <a:ext uri="{FF2B5EF4-FFF2-40B4-BE49-F238E27FC236}">
                <a16:creationId xmlns:a16="http://schemas.microsoft.com/office/drawing/2014/main" xmlns="" id="{7D2A6B36-0425-4AF5-8615-B057DC5231D8}"/>
              </a:ext>
            </a:extLst>
          </p:cNvPr>
          <p:cNvCxnSpPr/>
          <p:nvPr/>
        </p:nvCxnSpPr>
        <p:spPr bwMode="gray">
          <a:xfrm>
            <a:off x="2795651" y="3836954"/>
            <a:ext cx="1693739" cy="0"/>
          </a:xfrm>
          <a:prstGeom prst="straightConnector1">
            <a:avLst/>
          </a:prstGeom>
          <a:noFill/>
          <a:ln w="12700" cap="flat" cmpd="sng" algn="ctr">
            <a:solidFill>
              <a:schemeClr val="tx1"/>
            </a:solidFill>
            <a:prstDash val="solid"/>
            <a:round/>
            <a:headEnd type="triangle" w="med" len="med"/>
            <a:tailEnd type="triangle"/>
          </a:ln>
          <a:effectLst/>
        </p:spPr>
      </p:cxnSp>
      <p:cxnSp>
        <p:nvCxnSpPr>
          <p:cNvPr id="26" name="直接箭头连接符 25">
            <a:extLst>
              <a:ext uri="{FF2B5EF4-FFF2-40B4-BE49-F238E27FC236}">
                <a16:creationId xmlns:a16="http://schemas.microsoft.com/office/drawing/2014/main" xmlns="" id="{7D2A6B36-0425-4AF5-8615-B057DC5231D8}"/>
              </a:ext>
            </a:extLst>
          </p:cNvPr>
          <p:cNvCxnSpPr/>
          <p:nvPr/>
        </p:nvCxnSpPr>
        <p:spPr bwMode="gray">
          <a:xfrm>
            <a:off x="4516665" y="3836954"/>
            <a:ext cx="1693739" cy="0"/>
          </a:xfrm>
          <a:prstGeom prst="straightConnector1">
            <a:avLst/>
          </a:prstGeom>
          <a:noFill/>
          <a:ln w="12700" cap="flat" cmpd="sng" algn="ctr">
            <a:solidFill>
              <a:schemeClr val="tx1"/>
            </a:solidFill>
            <a:prstDash val="solid"/>
            <a:round/>
            <a:headEnd type="triangle" w="med" len="med"/>
            <a:tailEnd type="triangle"/>
          </a:ln>
          <a:effectLst/>
        </p:spPr>
      </p:cxnSp>
      <p:sp>
        <p:nvSpPr>
          <p:cNvPr id="27"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2615896" y="3544109"/>
            <a:ext cx="2149354" cy="281603"/>
          </a:xfrm>
          <a:prstGeom prst="rect">
            <a:avLst/>
          </a:prstGeom>
          <a:noFill/>
          <a:ln w="9525">
            <a:noFill/>
            <a:miter lim="800000"/>
            <a:headEnd/>
            <a:tailEnd/>
          </a:ln>
        </p:spPr>
        <p:txBody>
          <a:bodyPr wrap="square" lIns="48000" tIns="48000" rIns="48000" bIns="48000">
            <a:spAutoFit/>
          </a:bodyPr>
          <a:lstStyle/>
          <a:p>
            <a:r>
              <a:rPr lang="en-US" altLang="zh-CN" sz="1200">
                <a:cs typeface="Arial" charset="0"/>
              </a:rPr>
              <a:t>4.</a:t>
            </a:r>
            <a:r>
              <a:rPr lang="zh-CN" altLang="en-US" sz="1200">
                <a:cs typeface="Arial" charset="0"/>
              </a:rPr>
              <a:t>执行</a:t>
            </a:r>
            <a:r>
              <a:rPr lang="en-US" altLang="zh-CN" sz="1200">
                <a:cs typeface="Arial" charset="0"/>
              </a:rPr>
              <a:t>Portal</a:t>
            </a:r>
            <a:r>
              <a:rPr lang="zh-CN" altLang="en-US" sz="1200">
                <a:cs typeface="Arial" charset="0"/>
              </a:rPr>
              <a:t>认证，结果成功</a:t>
            </a:r>
            <a:endParaRPr lang="zh-CN" altLang="en-US" sz="1200" dirty="0">
              <a:cs typeface="Arial" charset="0"/>
            </a:endParaRPr>
          </a:p>
        </p:txBody>
      </p:sp>
      <p:sp>
        <p:nvSpPr>
          <p:cNvPr id="28" name="弧形 27"/>
          <p:cNvSpPr/>
          <p:nvPr/>
        </p:nvSpPr>
        <p:spPr bwMode="gray">
          <a:xfrm>
            <a:off x="543865" y="4105547"/>
            <a:ext cx="550174" cy="550174"/>
          </a:xfrm>
          <a:prstGeom prst="arc">
            <a:avLst>
              <a:gd name="adj1" fmla="val 16200000"/>
              <a:gd name="adj2" fmla="val 5752641"/>
            </a:avLst>
          </a:prstGeom>
          <a:noFill/>
          <a:ln w="12700" cap="flat" cmpd="sng" algn="ctr">
            <a:solidFill>
              <a:schemeClr val="tx1"/>
            </a:solidFill>
            <a:prstDash val="solid"/>
            <a:round/>
            <a:headEnd type="none" w="med" len="med"/>
            <a:tailEnd type="triangle"/>
          </a:ln>
          <a:effectLst/>
        </p:spPr>
        <p:txBody>
          <a:bodyPr rtlCol="0" anchor="ctr"/>
          <a:lstStyle/>
          <a:p>
            <a:pPr algn="ctr"/>
            <a:endParaRPr lang="zh-CN" altLang="en-US"/>
          </a:p>
        </p:txBody>
      </p:sp>
      <p:sp>
        <p:nvSpPr>
          <p:cNvPr id="29"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1121314" y="4239832"/>
            <a:ext cx="832318" cy="281603"/>
          </a:xfrm>
          <a:prstGeom prst="rect">
            <a:avLst/>
          </a:prstGeom>
          <a:noFill/>
          <a:ln w="9525">
            <a:noFill/>
            <a:miter lim="800000"/>
            <a:headEnd/>
            <a:tailEnd/>
          </a:ln>
        </p:spPr>
        <p:txBody>
          <a:bodyPr wrap="square" lIns="48000" tIns="48000" rIns="48000" bIns="48000">
            <a:spAutoFit/>
          </a:bodyPr>
          <a:lstStyle/>
          <a:p>
            <a:r>
              <a:rPr lang="en-US" altLang="zh-CN" sz="1200">
                <a:cs typeface="Arial" charset="0"/>
              </a:rPr>
              <a:t>5.</a:t>
            </a:r>
            <a:r>
              <a:rPr lang="zh-CN" altLang="en-US" sz="1200">
                <a:cs typeface="Arial" charset="0"/>
              </a:rPr>
              <a:t>用户掉线</a:t>
            </a:r>
            <a:endParaRPr lang="zh-CN" altLang="en-US" sz="1200" dirty="0">
              <a:cs typeface="Arial" charset="0"/>
            </a:endParaRPr>
          </a:p>
        </p:txBody>
      </p:sp>
      <p:cxnSp>
        <p:nvCxnSpPr>
          <p:cNvPr id="30" name="直接箭头连接符 29">
            <a:extLst>
              <a:ext uri="{FF2B5EF4-FFF2-40B4-BE49-F238E27FC236}">
                <a16:creationId xmlns:a16="http://schemas.microsoft.com/office/drawing/2014/main" xmlns="" id="{7D2A6B36-0425-4AF5-8615-B057DC5231D8}"/>
              </a:ext>
            </a:extLst>
          </p:cNvPr>
          <p:cNvCxnSpPr/>
          <p:nvPr/>
        </p:nvCxnSpPr>
        <p:spPr bwMode="gray">
          <a:xfrm>
            <a:off x="818952" y="5176609"/>
            <a:ext cx="1967463" cy="0"/>
          </a:xfrm>
          <a:prstGeom prst="straightConnector1">
            <a:avLst/>
          </a:prstGeom>
          <a:noFill/>
          <a:ln w="12700" cap="flat" cmpd="sng" algn="ctr">
            <a:solidFill>
              <a:schemeClr val="tx1"/>
            </a:solidFill>
            <a:prstDash val="solid"/>
            <a:round/>
            <a:headEnd type="none" w="med" len="med"/>
            <a:tailEnd type="triangle"/>
          </a:ln>
          <a:effectLst/>
        </p:spPr>
      </p:cxnSp>
      <p:sp>
        <p:nvSpPr>
          <p:cNvPr id="31"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869494" y="4710340"/>
            <a:ext cx="1679708" cy="466269"/>
          </a:xfrm>
          <a:prstGeom prst="rect">
            <a:avLst/>
          </a:prstGeom>
          <a:noFill/>
          <a:ln w="9525">
            <a:noFill/>
            <a:miter lim="800000"/>
            <a:headEnd/>
            <a:tailEnd/>
          </a:ln>
        </p:spPr>
        <p:txBody>
          <a:bodyPr wrap="square" lIns="48000" tIns="48000" rIns="48000" bIns="48000">
            <a:spAutoFit/>
          </a:bodyPr>
          <a:lstStyle/>
          <a:p>
            <a:r>
              <a:rPr lang="en-US" altLang="zh-CN" sz="1200">
                <a:cs typeface="Arial" charset="0"/>
              </a:rPr>
              <a:t>6.</a:t>
            </a:r>
            <a:r>
              <a:rPr lang="zh-CN" altLang="en-US" sz="1200">
                <a:cs typeface="Arial" charset="0"/>
              </a:rPr>
              <a:t>在</a:t>
            </a:r>
            <a:r>
              <a:rPr lang="en-US" altLang="zh-CN" sz="1200">
                <a:cs typeface="Arial" charset="0"/>
              </a:rPr>
              <a:t>MAC</a:t>
            </a:r>
            <a:r>
              <a:rPr lang="zh-CN" altLang="en-US" sz="1200">
                <a:cs typeface="Arial" charset="0"/>
              </a:rPr>
              <a:t>地址有效期内，用户继续上网</a:t>
            </a:r>
            <a:endParaRPr lang="zh-CN" altLang="en-US" sz="1200" dirty="0">
              <a:cs typeface="Arial" charset="0"/>
            </a:endParaRPr>
          </a:p>
        </p:txBody>
      </p:sp>
      <p:cxnSp>
        <p:nvCxnSpPr>
          <p:cNvPr id="32" name="直接箭头连接符 31">
            <a:extLst>
              <a:ext uri="{FF2B5EF4-FFF2-40B4-BE49-F238E27FC236}">
                <a16:creationId xmlns:a16="http://schemas.microsoft.com/office/drawing/2014/main" xmlns="" id="{7D2A6B36-0425-4AF5-8615-B057DC5231D8}"/>
              </a:ext>
            </a:extLst>
          </p:cNvPr>
          <p:cNvCxnSpPr/>
          <p:nvPr/>
        </p:nvCxnSpPr>
        <p:spPr bwMode="gray">
          <a:xfrm>
            <a:off x="2795651" y="5402353"/>
            <a:ext cx="3444750" cy="0"/>
          </a:xfrm>
          <a:prstGeom prst="straightConnector1">
            <a:avLst/>
          </a:prstGeom>
          <a:noFill/>
          <a:ln w="12700" cap="flat" cmpd="sng" algn="ctr">
            <a:solidFill>
              <a:schemeClr val="tx1"/>
            </a:solidFill>
            <a:prstDash val="solid"/>
            <a:round/>
            <a:headEnd type="triangle" w="med" len="med"/>
            <a:tailEnd type="triangle"/>
          </a:ln>
          <a:effectLst/>
        </p:spPr>
      </p:cxnSp>
      <p:sp>
        <p:nvSpPr>
          <p:cNvPr id="33"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3224170" y="4918166"/>
            <a:ext cx="2508265" cy="466269"/>
          </a:xfrm>
          <a:prstGeom prst="rect">
            <a:avLst/>
          </a:prstGeom>
          <a:noFill/>
          <a:ln w="9525">
            <a:noFill/>
            <a:miter lim="800000"/>
            <a:headEnd/>
            <a:tailEnd/>
          </a:ln>
        </p:spPr>
        <p:txBody>
          <a:bodyPr wrap="square" lIns="48000" tIns="48000" rIns="48000" bIns="48000">
            <a:spAutoFit/>
          </a:bodyPr>
          <a:lstStyle/>
          <a:p>
            <a:r>
              <a:rPr lang="en-US" altLang="zh-CN" sz="1200">
                <a:cs typeface="Arial" charset="0"/>
              </a:rPr>
              <a:t>7.</a:t>
            </a:r>
            <a:r>
              <a:rPr lang="zh-CN" altLang="en-US" sz="1200">
                <a:cs typeface="Arial" charset="0"/>
              </a:rPr>
              <a:t>执行</a:t>
            </a:r>
            <a:r>
              <a:rPr lang="en-US" altLang="zh-CN" sz="1200">
                <a:cs typeface="Arial" charset="0"/>
              </a:rPr>
              <a:t>MAC</a:t>
            </a:r>
            <a:r>
              <a:rPr lang="zh-CN" altLang="en-US" sz="1200">
                <a:cs typeface="Arial" charset="0"/>
              </a:rPr>
              <a:t>认证，</a:t>
            </a:r>
            <a:r>
              <a:rPr lang="en-US" altLang="zh-CN" sz="1200">
                <a:cs typeface="Arial" charset="0"/>
              </a:rPr>
              <a:t>RADIUS</a:t>
            </a:r>
            <a:r>
              <a:rPr lang="zh-CN" altLang="en-US" sz="1200">
                <a:cs typeface="Arial" charset="0"/>
              </a:rPr>
              <a:t>服务器缓存了该</a:t>
            </a:r>
            <a:r>
              <a:rPr lang="en-US" altLang="zh-CN" sz="1200">
                <a:cs typeface="Arial" charset="0"/>
              </a:rPr>
              <a:t>MAC</a:t>
            </a:r>
            <a:r>
              <a:rPr lang="zh-CN" altLang="en-US" sz="1200">
                <a:cs typeface="Arial" charset="0"/>
              </a:rPr>
              <a:t>地址的记录，认证成功</a:t>
            </a:r>
            <a:endParaRPr lang="zh-CN" altLang="en-US" sz="1200" dirty="0">
              <a:cs typeface="Arial" charset="0"/>
            </a:endParaRPr>
          </a:p>
        </p:txBody>
      </p:sp>
      <p:cxnSp>
        <p:nvCxnSpPr>
          <p:cNvPr id="34" name="直接箭头连接符 33">
            <a:extLst>
              <a:ext uri="{FF2B5EF4-FFF2-40B4-BE49-F238E27FC236}">
                <a16:creationId xmlns:a16="http://schemas.microsoft.com/office/drawing/2014/main" xmlns="" id="{7D2A6B36-0425-4AF5-8615-B057DC5231D8}"/>
              </a:ext>
            </a:extLst>
          </p:cNvPr>
          <p:cNvCxnSpPr/>
          <p:nvPr/>
        </p:nvCxnSpPr>
        <p:spPr bwMode="gray">
          <a:xfrm>
            <a:off x="818952" y="5945784"/>
            <a:ext cx="1967463" cy="0"/>
          </a:xfrm>
          <a:prstGeom prst="straightConnector1">
            <a:avLst/>
          </a:prstGeom>
          <a:noFill/>
          <a:ln w="12700" cap="flat" cmpd="sng" algn="ctr">
            <a:solidFill>
              <a:schemeClr val="tx1"/>
            </a:solidFill>
            <a:prstDash val="solid"/>
            <a:round/>
            <a:headEnd type="none" w="med" len="med"/>
            <a:tailEnd type="triangle"/>
          </a:ln>
          <a:effectLst/>
        </p:spPr>
      </p:cxnSp>
      <p:sp>
        <p:nvSpPr>
          <p:cNvPr id="35"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869494" y="5646052"/>
            <a:ext cx="1679708" cy="281603"/>
          </a:xfrm>
          <a:prstGeom prst="rect">
            <a:avLst/>
          </a:prstGeom>
          <a:noFill/>
          <a:ln w="9525">
            <a:noFill/>
            <a:miter lim="800000"/>
            <a:headEnd/>
            <a:tailEnd/>
          </a:ln>
        </p:spPr>
        <p:txBody>
          <a:bodyPr wrap="square" lIns="48000" tIns="48000" rIns="48000" bIns="48000">
            <a:spAutoFit/>
          </a:bodyPr>
          <a:lstStyle/>
          <a:p>
            <a:r>
              <a:rPr lang="en-US" altLang="zh-CN" sz="1200">
                <a:cs typeface="Arial" charset="0"/>
              </a:rPr>
              <a:t>8.</a:t>
            </a:r>
            <a:r>
              <a:rPr lang="zh-CN" altLang="en-US" sz="1200">
                <a:cs typeface="Arial" charset="0"/>
              </a:rPr>
              <a:t>用户无需重新认证</a:t>
            </a:r>
            <a:endParaRPr lang="zh-CN" altLang="en-US" sz="1200" dirty="0">
              <a:cs typeface="Arial" charset="0"/>
            </a:endParaRPr>
          </a:p>
        </p:txBody>
      </p:sp>
      <p:sp>
        <p:nvSpPr>
          <p:cNvPr id="36" name="文本框 35"/>
          <p:cNvSpPr txBox="1"/>
          <p:nvPr/>
        </p:nvSpPr>
        <p:spPr bwMode="gray">
          <a:xfrm>
            <a:off x="6841244" y="2226264"/>
            <a:ext cx="4618920" cy="810478"/>
          </a:xfrm>
          <a:prstGeom prst="rect">
            <a:avLst/>
          </a:prstGeom>
          <a:noFill/>
          <a:ln>
            <a:solidFill>
              <a:srgbClr val="99DFF9"/>
            </a:solidFill>
          </a:ln>
        </p:spPr>
        <p:txBody>
          <a:bodyPr wrap="square" rtlCol="0">
            <a:spAutoFit/>
          </a:bodyPr>
          <a:lstStyle/>
          <a:p>
            <a:pPr>
              <a:lnSpc>
                <a:spcPts val="2800"/>
              </a:lnSpc>
              <a:spcAft>
                <a:spcPts val="600"/>
              </a:spcAft>
            </a:pPr>
            <a:r>
              <a:rPr lang="zh-CN" altLang="en-US" sz="1600" dirty="0"/>
              <a:t>用户进行</a:t>
            </a:r>
            <a:r>
              <a:rPr lang="en-US" altLang="zh-CN" sz="1600" dirty="0"/>
              <a:t>Portal</a:t>
            </a:r>
            <a:r>
              <a:rPr lang="zh-CN" altLang="en-US" sz="1600" dirty="0"/>
              <a:t>认证成功后，如果断开网络，重新连接时需要再次输入用户名、密码，体验差。</a:t>
            </a:r>
            <a:endParaRPr lang="en-US" altLang="zh-CN" sz="1600" dirty="0"/>
          </a:p>
        </p:txBody>
      </p:sp>
      <p:sp>
        <p:nvSpPr>
          <p:cNvPr id="37" name="圆角矩形 75"/>
          <p:cNvSpPr/>
          <p:nvPr/>
        </p:nvSpPr>
        <p:spPr bwMode="gray">
          <a:xfrm>
            <a:off x="6841244" y="1791966"/>
            <a:ext cx="461892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技术背景</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6841244" y="3645489"/>
            <a:ext cx="4618920" cy="2323713"/>
          </a:xfrm>
          <a:prstGeom prst="rect">
            <a:avLst/>
          </a:prstGeom>
          <a:noFill/>
          <a:ln>
            <a:solidFill>
              <a:srgbClr val="99DFF9"/>
            </a:solidFill>
          </a:ln>
        </p:spPr>
        <p:txBody>
          <a:bodyPr wrap="square" rtlCol="0">
            <a:spAutoFit/>
          </a:bodyPr>
          <a:lstStyle/>
          <a:p>
            <a:pPr marL="285750" indent="-285750">
              <a:lnSpc>
                <a:spcPts val="2800"/>
              </a:lnSpc>
              <a:spcAft>
                <a:spcPts val="600"/>
              </a:spcAft>
              <a:buFont typeface="Arial" panose="020B0604020202020204" pitchFamily="34" charset="0"/>
              <a:buChar char="•"/>
            </a:pPr>
            <a:r>
              <a:rPr lang="zh-CN" altLang="en-US" sz="1600" dirty="0"/>
              <a:t>用户进行</a:t>
            </a:r>
            <a:r>
              <a:rPr lang="en-US" altLang="zh-CN" sz="1600" dirty="0"/>
              <a:t>Portal</a:t>
            </a:r>
            <a:r>
              <a:rPr lang="zh-CN" altLang="en-US" sz="1600" dirty="0"/>
              <a:t>认证成功后，在一定时间内断开网络重新连接，能够直接通过</a:t>
            </a:r>
            <a:r>
              <a:rPr lang="en-US" altLang="zh-CN" sz="1600" dirty="0"/>
              <a:t>MAC</a:t>
            </a:r>
            <a:r>
              <a:rPr lang="zh-CN" altLang="en-US" sz="1600" dirty="0"/>
              <a:t>认证接入，无需输入用户名、密码重新进行</a:t>
            </a:r>
            <a:r>
              <a:rPr lang="en-US" altLang="zh-CN" sz="1600" dirty="0"/>
              <a:t>Portal</a:t>
            </a:r>
            <a:r>
              <a:rPr lang="zh-CN" altLang="en-US" sz="1600" dirty="0"/>
              <a:t>认证。</a:t>
            </a:r>
            <a:endParaRPr lang="en-US" altLang="zh-CN" sz="1600" dirty="0"/>
          </a:p>
          <a:p>
            <a:pPr marL="285750" indent="-285750">
              <a:lnSpc>
                <a:spcPts val="2800"/>
              </a:lnSpc>
              <a:spcAft>
                <a:spcPts val="600"/>
              </a:spcAft>
              <a:buFont typeface="Arial" panose="020B0604020202020204" pitchFamily="34" charset="0"/>
              <a:buChar char="•"/>
            </a:pPr>
            <a:r>
              <a:rPr lang="zh-CN" altLang="en-US" sz="1600" dirty="0"/>
              <a:t>该功能需要在设备配置</a:t>
            </a:r>
            <a:r>
              <a:rPr lang="en-US" altLang="zh-CN" sz="1600" dirty="0" err="1" smtClean="0"/>
              <a:t>MAC+Portal</a:t>
            </a:r>
            <a:r>
              <a:rPr lang="zh-CN" altLang="en-US" sz="1600" dirty="0"/>
              <a:t>的混合认证，同时在认证服务器上开启</a:t>
            </a:r>
            <a:r>
              <a:rPr lang="en-US" altLang="zh-CN" sz="1600" dirty="0"/>
              <a:t>MAC</a:t>
            </a:r>
            <a:r>
              <a:rPr lang="zh-CN" altLang="en-US" sz="1600" dirty="0"/>
              <a:t>优先的</a:t>
            </a:r>
            <a:r>
              <a:rPr lang="en-US" altLang="zh-CN" sz="1600" dirty="0"/>
              <a:t>Portal</a:t>
            </a:r>
            <a:r>
              <a:rPr lang="zh-CN" altLang="en-US" sz="1600" dirty="0"/>
              <a:t>认证功能并配置</a:t>
            </a:r>
            <a:r>
              <a:rPr lang="en-US" altLang="zh-CN" sz="1600" dirty="0"/>
              <a:t>MAC</a:t>
            </a:r>
            <a:r>
              <a:rPr lang="zh-CN" altLang="en-US" sz="1600" dirty="0"/>
              <a:t>地址有效时间。</a:t>
            </a:r>
            <a:endParaRPr lang="en-US" altLang="zh-CN" sz="1600" dirty="0"/>
          </a:p>
        </p:txBody>
      </p:sp>
      <p:sp>
        <p:nvSpPr>
          <p:cNvPr id="39" name="圆角矩形 75"/>
          <p:cNvSpPr/>
          <p:nvPr/>
        </p:nvSpPr>
        <p:spPr bwMode="gray">
          <a:xfrm>
            <a:off x="6841244" y="3211191"/>
            <a:ext cx="461892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优先的</a:t>
            </a: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认证</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五边形 39"/>
          <p:cNvSpPr/>
          <p:nvPr/>
        </p:nvSpPr>
        <p:spPr bwMode="gray">
          <a:xfrm>
            <a:off x="8802188" y="98481"/>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802.1X</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gray">
          <a:xfrm>
            <a:off x="9510507"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p>
        </p:txBody>
      </p:sp>
      <p:sp>
        <p:nvSpPr>
          <p:cNvPr id="42" name="燕尾形 41"/>
          <p:cNvSpPr/>
          <p:nvPr/>
        </p:nvSpPr>
        <p:spPr bwMode="gray">
          <a:xfrm>
            <a:off x="10218826"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Portal</a:t>
            </a:r>
          </a:p>
        </p:txBody>
      </p:sp>
      <p:sp>
        <p:nvSpPr>
          <p:cNvPr id="43" name="燕尾形 42"/>
          <p:cNvSpPr/>
          <p:nvPr/>
        </p:nvSpPr>
        <p:spPr bwMode="gray">
          <a:xfrm>
            <a:off x="10927145"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混合</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704580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网络准入控制概述</a:t>
            </a:r>
          </a:p>
          <a:p>
            <a:r>
              <a:rPr lang="zh-CN" altLang="en-US" dirty="0">
                <a:solidFill>
                  <a:schemeClr val="bg1">
                    <a:lumMod val="50000"/>
                  </a:schemeClr>
                </a:solidFill>
              </a:rPr>
              <a:t>用户认证技术</a:t>
            </a:r>
            <a:endParaRPr lang="en-US" altLang="zh-CN" dirty="0">
              <a:solidFill>
                <a:schemeClr val="bg1">
                  <a:lumMod val="50000"/>
                </a:schemeClr>
              </a:solidFill>
            </a:endParaRPr>
          </a:p>
          <a:p>
            <a:r>
              <a:rPr lang="zh-CN" altLang="en-US" b="1" dirty="0"/>
              <a:t>用户授权与下线</a:t>
            </a:r>
          </a:p>
          <a:p>
            <a:r>
              <a:rPr lang="en-US" altLang="zh-CN" dirty="0">
                <a:solidFill>
                  <a:schemeClr val="bg1">
                    <a:lumMod val="50000"/>
                  </a:schemeClr>
                </a:solidFill>
              </a:rPr>
              <a:t>NAC</a:t>
            </a:r>
            <a:r>
              <a:rPr lang="zh-CN" altLang="en-US" dirty="0">
                <a:solidFill>
                  <a:schemeClr val="bg1">
                    <a:lumMod val="50000"/>
                  </a:schemeClr>
                </a:solidFill>
              </a:rPr>
              <a:t>配置实现</a:t>
            </a:r>
          </a:p>
          <a:p>
            <a:r>
              <a:rPr lang="zh-CN" altLang="en-US" dirty="0">
                <a:solidFill>
                  <a:schemeClr val="bg1">
                    <a:lumMod val="50000"/>
                  </a:schemeClr>
                </a:solidFill>
              </a:rPr>
              <a:t>策略联动</a:t>
            </a:r>
          </a:p>
        </p:txBody>
      </p:sp>
    </p:spTree>
    <p:extLst>
      <p:ext uri="{BB962C8B-B14F-4D97-AF65-F5344CB8AC3E}">
        <p14:creationId xmlns:p14="http://schemas.microsoft.com/office/powerpoint/2010/main" val="10597168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认证成功授权</a:t>
            </a:r>
          </a:p>
        </p:txBody>
      </p:sp>
      <p:sp>
        <p:nvSpPr>
          <p:cNvPr id="4" name="文本占位符 3"/>
          <p:cNvSpPr>
            <a:spLocks noGrp="1"/>
          </p:cNvSpPr>
          <p:nvPr>
            <p:ph type="body" sz="quarter" idx="4294967295"/>
          </p:nvPr>
        </p:nvSpPr>
        <p:spPr>
          <a:xfrm>
            <a:off x="442913" y="1047750"/>
            <a:ext cx="11269662" cy="4879975"/>
          </a:xfrm>
        </p:spPr>
        <p:txBody>
          <a:bodyPr/>
          <a:lstStyle/>
          <a:p>
            <a:r>
              <a:rPr lang="zh-CN" altLang="en-US" sz="2000" dirty="0"/>
              <a:t>认证用于确认尝试接入网络的用户身份是否合法，而授权则用于指定身份合法的用户所能拥有的网络访问权限，即用户能够访问哪些资源。</a:t>
            </a:r>
          </a:p>
          <a:p>
            <a:r>
              <a:rPr lang="zh-CN" altLang="en-US" sz="2000" dirty="0"/>
              <a:t>以</a:t>
            </a:r>
            <a:r>
              <a:rPr lang="en-US" altLang="zh-CN" sz="2000" dirty="0"/>
              <a:t>RADIUS</a:t>
            </a:r>
            <a:r>
              <a:rPr lang="zh-CN" altLang="en-US" sz="2000" dirty="0"/>
              <a:t>服务器授权为例，常见的授权信息有：</a:t>
            </a:r>
          </a:p>
          <a:p>
            <a:pPr lvl="1"/>
            <a:r>
              <a:rPr lang="en-US" altLang="zh-CN" sz="1800" b="1" dirty="0"/>
              <a:t>VLAN</a:t>
            </a:r>
            <a:r>
              <a:rPr lang="zh-CN" altLang="en-US" sz="1800" dirty="0"/>
              <a:t>：为了将受限的网络资源与未认证用户隔离，通常将受限的网络资源和未认证的用户划分到不同的</a:t>
            </a:r>
            <a:r>
              <a:rPr lang="en-US" altLang="zh-CN" sz="1800" dirty="0"/>
              <a:t>VLAN</a:t>
            </a:r>
            <a:r>
              <a:rPr lang="zh-CN" altLang="en-US" sz="1800" dirty="0"/>
              <a:t>。用户认证成功后，认证服务器将指定</a:t>
            </a:r>
            <a:r>
              <a:rPr lang="en-US" altLang="zh-CN" sz="1800" dirty="0"/>
              <a:t>VLAN</a:t>
            </a:r>
            <a:r>
              <a:rPr lang="zh-CN" altLang="en-US" sz="1800" dirty="0"/>
              <a:t>授权给用户。</a:t>
            </a:r>
          </a:p>
          <a:p>
            <a:pPr lvl="1"/>
            <a:r>
              <a:rPr lang="en-US" altLang="zh-CN" sz="1800" b="1" dirty="0"/>
              <a:t>ACL</a:t>
            </a:r>
            <a:r>
              <a:rPr lang="zh-CN" altLang="en-US" sz="1800" dirty="0"/>
              <a:t>：用户认证成功后，认证服务器将指定</a:t>
            </a:r>
            <a:r>
              <a:rPr lang="en-US" altLang="zh-CN" sz="1800" dirty="0"/>
              <a:t>ACL</a:t>
            </a:r>
            <a:r>
              <a:rPr lang="zh-CN" altLang="en-US" sz="1800" dirty="0"/>
              <a:t>授权给用户，则设备会根据该</a:t>
            </a:r>
            <a:r>
              <a:rPr lang="en-US" altLang="zh-CN" sz="1800" dirty="0"/>
              <a:t>ACL</a:t>
            </a:r>
            <a:r>
              <a:rPr lang="zh-CN" altLang="en-US" sz="1800" dirty="0"/>
              <a:t>对用户报文进行控制。</a:t>
            </a:r>
          </a:p>
          <a:p>
            <a:pPr lvl="1"/>
            <a:r>
              <a:rPr lang="en-US" altLang="zh-CN" sz="1800" b="1" dirty="0" smtClean="0"/>
              <a:t>UCL</a:t>
            </a:r>
            <a:r>
              <a:rPr lang="zh-CN" altLang="en-US" sz="1800" b="1" dirty="0" smtClean="0"/>
              <a:t>组</a:t>
            </a:r>
            <a:r>
              <a:rPr lang="zh-CN" altLang="en-US" sz="1800" dirty="0" smtClean="0"/>
              <a:t>：</a:t>
            </a:r>
            <a:r>
              <a:rPr lang="en-US" altLang="zh-CN" sz="1800" dirty="0" smtClean="0"/>
              <a:t>UCL</a:t>
            </a:r>
            <a:r>
              <a:rPr lang="zh-CN" altLang="en-US" sz="1800" dirty="0"/>
              <a:t>（</a:t>
            </a:r>
            <a:r>
              <a:rPr lang="en-US" altLang="zh-CN" sz="1800" dirty="0"/>
              <a:t>User Control </a:t>
            </a:r>
            <a:r>
              <a:rPr lang="en-US" altLang="zh-CN" sz="1800" dirty="0" smtClean="0"/>
              <a:t>List</a:t>
            </a:r>
            <a:r>
              <a:rPr lang="zh-CN" altLang="en-US" sz="1800" dirty="0"/>
              <a:t>，用户控制列表）组</a:t>
            </a:r>
            <a:r>
              <a:rPr lang="zh-CN" altLang="en-US" sz="1800" dirty="0" smtClean="0"/>
              <a:t>是</a:t>
            </a:r>
            <a:r>
              <a:rPr lang="zh-CN" altLang="en-US" sz="1800" dirty="0"/>
              <a:t>网络成员的集合。</a:t>
            </a:r>
            <a:r>
              <a:rPr lang="en-US" altLang="zh-CN" sz="1800" dirty="0"/>
              <a:t>UCL</a:t>
            </a:r>
            <a:r>
              <a:rPr lang="zh-CN" altLang="en-US" sz="1800" dirty="0"/>
              <a:t>组里面的成员，可以是</a:t>
            </a:r>
            <a:r>
              <a:rPr lang="en-US" altLang="zh-CN" sz="1800" dirty="0"/>
              <a:t>PC</a:t>
            </a:r>
            <a:r>
              <a:rPr lang="zh-CN" altLang="en-US" sz="1800" dirty="0"/>
              <a:t>、手机等网络终端设备。借助</a:t>
            </a:r>
            <a:r>
              <a:rPr lang="en-US" altLang="zh-CN" sz="1800" dirty="0"/>
              <a:t>UCL</a:t>
            </a:r>
            <a:r>
              <a:rPr lang="zh-CN" altLang="en-US" sz="1800" dirty="0"/>
              <a:t>组，管理员可以将具有相同网络访问策略的一类用户划分为同一个组，然后为其部署一组网络访问策略，满足该类别所有用户的网络访问需求。相对于为每个用户部署网络访问策略，基于</a:t>
            </a:r>
            <a:r>
              <a:rPr lang="en-US" altLang="zh-CN" sz="1800" dirty="0"/>
              <a:t>UCL</a:t>
            </a:r>
            <a:r>
              <a:rPr lang="zh-CN" altLang="en-US" sz="1800" dirty="0"/>
              <a:t>组的网络控制方案能够极大的减少管理员的工作量。</a:t>
            </a:r>
          </a:p>
          <a:p>
            <a:endParaRPr lang="zh-CN" altLang="en-US" sz="2000" dirty="0"/>
          </a:p>
        </p:txBody>
      </p:sp>
      <p:sp>
        <p:nvSpPr>
          <p:cNvPr id="5" name="五边形 4"/>
          <p:cNvSpPr/>
          <p:nvPr/>
        </p:nvSpPr>
        <p:spPr bwMode="auto">
          <a:xfrm>
            <a:off x="9986688" y="98481"/>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用户授权</a:t>
            </a:r>
          </a:p>
        </p:txBody>
      </p:sp>
      <p:sp>
        <p:nvSpPr>
          <p:cNvPr id="8" name="燕尾形 7"/>
          <p:cNvSpPr/>
          <p:nvPr/>
        </p:nvSpPr>
        <p:spPr bwMode="auto">
          <a:xfrm>
            <a:off x="10808345"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用户下线</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763615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zh-CN" altLang="en-US" dirty="0"/>
              <a:t>免认证与认证事件授权</a:t>
            </a:r>
          </a:p>
        </p:txBody>
      </p:sp>
      <p:sp>
        <p:nvSpPr>
          <p:cNvPr id="5" name="文本占位符 2"/>
          <p:cNvSpPr txBox="1">
            <a:spLocks/>
          </p:cNvSpPr>
          <p:nvPr/>
        </p:nvSpPr>
        <p:spPr bwMode="gray">
          <a:xfrm>
            <a:off x="654346" y="1641515"/>
            <a:ext cx="5202987" cy="11714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Wingdings" panose="05000000000000000000" pitchFamily="2" charset="2"/>
              <a:buNone/>
            </a:pPr>
            <a:r>
              <a:rPr lang="zh-CN" altLang="en-US" sz="1600" dirty="0"/>
              <a:t>用户认证成功之前，为满足用户基本的网络访问需求，譬如下载</a:t>
            </a:r>
            <a:r>
              <a:rPr lang="en-US" altLang="zh-CN" sz="1600" dirty="0"/>
              <a:t>802.1X</a:t>
            </a:r>
            <a:r>
              <a:rPr lang="zh-CN" altLang="en-US" sz="1600" dirty="0"/>
              <a:t>客户端、更新病毒库等，需要用户免认证就能获取部分网络访问权限。</a:t>
            </a:r>
            <a:endParaRPr lang="en-US" altLang="zh-CN" sz="1600" dirty="0"/>
          </a:p>
        </p:txBody>
      </p:sp>
      <p:sp>
        <p:nvSpPr>
          <p:cNvPr id="6" name="圆角矩形 75"/>
          <p:cNvSpPr/>
          <p:nvPr/>
        </p:nvSpPr>
        <p:spPr bwMode="gray">
          <a:xfrm>
            <a:off x="649895" y="1211007"/>
            <a:ext cx="5209415"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免认证（</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free-rule</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7" name="TextBox 41"/>
          <p:cNvSpPr txBox="1"/>
          <p:nvPr/>
        </p:nvSpPr>
        <p:spPr bwMode="gray">
          <a:xfrm>
            <a:off x="6293239" y="3075466"/>
            <a:ext cx="815083" cy="312381"/>
          </a:xfrm>
          <a:prstGeom prst="rect">
            <a:avLst/>
          </a:prstGeom>
          <a:noFill/>
        </p:spPr>
        <p:txBody>
          <a:bodyPr wrap="none" lIns="48000" tIns="48000" rIns="48000" bIns="48000" rtlCol="0">
            <a:spAutoFit/>
          </a:bodyPr>
          <a:lstStyle/>
          <a:p>
            <a:pPr algn="ctr"/>
            <a:r>
              <a:rPr lang="zh-CN" altLang="en-US" sz="1400" dirty="0">
                <a:solidFill>
                  <a:srgbClr val="C7000B"/>
                </a:solidFill>
                <a:latin typeface="+mj-lt"/>
                <a:cs typeface="Arial" pitchFamily="34" charset="0"/>
              </a:rPr>
              <a:t>授权参数</a:t>
            </a:r>
            <a:endParaRPr lang="en-US" altLang="zh-CN" sz="1400" dirty="0">
              <a:solidFill>
                <a:srgbClr val="C7000B"/>
              </a:solidFill>
              <a:latin typeface="+mj-lt"/>
              <a:cs typeface="Arial" pitchFamily="34" charset="0"/>
            </a:endParaRPr>
          </a:p>
        </p:txBody>
      </p:sp>
      <p:sp>
        <p:nvSpPr>
          <p:cNvPr id="8" name="TextBox 41"/>
          <p:cNvSpPr txBox="1"/>
          <p:nvPr/>
        </p:nvSpPr>
        <p:spPr bwMode="gray">
          <a:xfrm>
            <a:off x="7314364" y="3610283"/>
            <a:ext cx="4397109" cy="527825"/>
          </a:xfrm>
          <a:prstGeom prst="rect">
            <a:avLst/>
          </a:prstGeom>
          <a:noFill/>
        </p:spPr>
        <p:txBody>
          <a:bodyPr wrap="square" lIns="48000" tIns="48000" rIns="48000" bIns="48000" rtlCol="0">
            <a:spAutoFit/>
          </a:bodyPr>
          <a:lstStyle/>
          <a:p>
            <a:r>
              <a:rPr lang="zh-CN" altLang="en-US" sz="1400" dirty="0">
                <a:latin typeface="+mj-lt"/>
                <a:cs typeface="Arial" pitchFamily="34" charset="0"/>
              </a:rPr>
              <a:t>业务方案（</a:t>
            </a:r>
            <a:r>
              <a:rPr lang="en-US" altLang="zh-CN" sz="1400" dirty="0">
                <a:latin typeface="+mj-lt"/>
                <a:cs typeface="Arial" pitchFamily="34" charset="0"/>
              </a:rPr>
              <a:t>service-scheme</a:t>
            </a:r>
            <a:r>
              <a:rPr lang="zh-CN" altLang="en-US" sz="1400" dirty="0">
                <a:latin typeface="+mj-lt"/>
                <a:cs typeface="Arial" pitchFamily="34" charset="0"/>
              </a:rPr>
              <a:t>）：可在业务方案内绑定</a:t>
            </a:r>
            <a:r>
              <a:rPr lang="en-US" altLang="zh-CN" sz="1400" dirty="0" smtClean="0">
                <a:latin typeface="+mj-lt"/>
                <a:cs typeface="Arial" pitchFamily="34" charset="0"/>
              </a:rPr>
              <a:t>UCL</a:t>
            </a:r>
            <a:r>
              <a:rPr lang="zh-CN" altLang="en-US" sz="1400" dirty="0" smtClean="0">
                <a:latin typeface="+mj-lt"/>
                <a:cs typeface="Arial" pitchFamily="34" charset="0"/>
              </a:rPr>
              <a:t>组、</a:t>
            </a:r>
            <a:r>
              <a:rPr lang="en-US" altLang="zh-CN" sz="1400" dirty="0">
                <a:latin typeface="+mj-lt"/>
                <a:cs typeface="Arial" pitchFamily="34" charset="0"/>
              </a:rPr>
              <a:t>VLAN</a:t>
            </a:r>
            <a:r>
              <a:rPr lang="zh-CN" altLang="en-US" sz="1400" dirty="0">
                <a:latin typeface="+mj-lt"/>
                <a:cs typeface="Arial" pitchFamily="34" charset="0"/>
              </a:rPr>
              <a:t>、</a:t>
            </a:r>
            <a:r>
              <a:rPr lang="en-US" altLang="zh-CN" sz="1400" dirty="0" err="1">
                <a:latin typeface="+mj-lt"/>
                <a:cs typeface="Arial" pitchFamily="34" charset="0"/>
              </a:rPr>
              <a:t>QoS</a:t>
            </a:r>
            <a:r>
              <a:rPr lang="en-US" altLang="zh-CN" sz="1400" dirty="0">
                <a:latin typeface="+mj-lt"/>
                <a:cs typeface="Arial" pitchFamily="34" charset="0"/>
              </a:rPr>
              <a:t>-profile</a:t>
            </a:r>
            <a:r>
              <a:rPr lang="zh-CN" altLang="en-US" sz="1400" dirty="0">
                <a:latin typeface="+mj-lt"/>
                <a:cs typeface="Arial" pitchFamily="34" charset="0"/>
              </a:rPr>
              <a:t>等参数。</a:t>
            </a:r>
          </a:p>
        </p:txBody>
      </p:sp>
      <p:sp>
        <p:nvSpPr>
          <p:cNvPr id="9" name="TextBox 41"/>
          <p:cNvSpPr txBox="1"/>
          <p:nvPr/>
        </p:nvSpPr>
        <p:spPr bwMode="gray">
          <a:xfrm>
            <a:off x="7314365" y="2444837"/>
            <a:ext cx="4189264" cy="312381"/>
          </a:xfrm>
          <a:prstGeom prst="rect">
            <a:avLst/>
          </a:prstGeom>
          <a:noFill/>
        </p:spPr>
        <p:txBody>
          <a:bodyPr wrap="square" lIns="48000" tIns="48000" rIns="48000" bIns="48000" rtlCol="0">
            <a:spAutoFit/>
          </a:bodyPr>
          <a:lstStyle/>
          <a:p>
            <a:r>
              <a:rPr lang="en-US" altLang="zh-CN" sz="1400" dirty="0">
                <a:latin typeface="+mj-lt"/>
                <a:cs typeface="Arial" pitchFamily="34" charset="0"/>
              </a:rPr>
              <a:t>VLAN</a:t>
            </a:r>
            <a:r>
              <a:rPr lang="zh-CN" altLang="en-US" sz="1400" dirty="0">
                <a:latin typeface="+mj-lt"/>
                <a:cs typeface="Arial" pitchFamily="34" charset="0"/>
              </a:rPr>
              <a:t>：授予用户相应</a:t>
            </a:r>
            <a:r>
              <a:rPr lang="en-US" altLang="zh-CN" sz="1400" dirty="0">
                <a:latin typeface="+mj-lt"/>
                <a:cs typeface="Arial" pitchFamily="34" charset="0"/>
              </a:rPr>
              <a:t>VLAN</a:t>
            </a:r>
            <a:r>
              <a:rPr lang="zh-CN" altLang="en-US" sz="1400" dirty="0">
                <a:latin typeface="+mj-lt"/>
                <a:cs typeface="Arial" pitchFamily="34" charset="0"/>
              </a:rPr>
              <a:t>内的资源访问权限。</a:t>
            </a:r>
          </a:p>
        </p:txBody>
      </p:sp>
      <p:sp>
        <p:nvSpPr>
          <p:cNvPr id="10" name="左大括号 9"/>
          <p:cNvSpPr/>
          <p:nvPr/>
        </p:nvSpPr>
        <p:spPr bwMode="gray">
          <a:xfrm>
            <a:off x="7247159" y="2601028"/>
            <a:ext cx="67205" cy="1243012"/>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11" name="TextBox 41"/>
          <p:cNvSpPr txBox="1"/>
          <p:nvPr/>
        </p:nvSpPr>
        <p:spPr bwMode="gray">
          <a:xfrm>
            <a:off x="2189294" y="5354433"/>
            <a:ext cx="2187941" cy="466269"/>
          </a:xfrm>
          <a:prstGeom prst="rect">
            <a:avLst/>
          </a:prstGeom>
          <a:noFill/>
        </p:spPr>
        <p:txBody>
          <a:bodyPr wrap="square" lIns="48000" tIns="48000" rIns="48000" bIns="48000" rtlCol="0">
            <a:spAutoFit/>
          </a:bodyPr>
          <a:lstStyle/>
          <a:p>
            <a:pPr algn="ctr"/>
            <a:r>
              <a:rPr lang="zh-CN" altLang="en-US" sz="1200" b="1" dirty="0">
                <a:solidFill>
                  <a:srgbClr val="30B5C5"/>
                </a:solidFill>
                <a:latin typeface="Huawei Sans" panose="020C0503030203020204" pitchFamily="34" charset="0"/>
                <a:ea typeface="方正兰亭黑简体" panose="02000000000000000000" pitchFamily="2" charset="-122"/>
                <a:cs typeface="Arial" pitchFamily="34" charset="0"/>
              </a:rPr>
              <a:t>允许用户在认证成功之前访问</a:t>
            </a:r>
            <a:r>
              <a:rPr lang="en-US" altLang="zh-CN" sz="1200" b="1" dirty="0">
                <a:solidFill>
                  <a:srgbClr val="30B5C5"/>
                </a:solidFill>
                <a:latin typeface="Huawei Sans" panose="020C0503030203020204" pitchFamily="34" charset="0"/>
                <a:ea typeface="方正兰亭黑简体" panose="02000000000000000000" pitchFamily="2" charset="-122"/>
                <a:cs typeface="Arial" pitchFamily="34" charset="0"/>
              </a:rPr>
              <a:t>192.168.1.1</a:t>
            </a:r>
            <a:r>
              <a:rPr lang="zh-CN" altLang="en-US" sz="1200" b="1" dirty="0">
                <a:solidFill>
                  <a:srgbClr val="30B5C5"/>
                </a:solidFill>
                <a:latin typeface="Huawei Sans" panose="020C0503030203020204" pitchFamily="34" charset="0"/>
                <a:ea typeface="方正兰亭黑简体" panose="02000000000000000000" pitchFamily="2" charset="-122"/>
                <a:cs typeface="Arial" pitchFamily="34" charset="0"/>
              </a:rPr>
              <a:t>下载客户端</a:t>
            </a:r>
          </a:p>
        </p:txBody>
      </p:sp>
      <p:sp>
        <p:nvSpPr>
          <p:cNvPr id="12" name="TextBox 40">
            <a:extLst>
              <a:ext uri="{FF2B5EF4-FFF2-40B4-BE49-F238E27FC236}">
                <a16:creationId xmlns:a16="http://schemas.microsoft.com/office/drawing/2014/main" xmlns="" id="{E23A3C99-EE95-4759-84F4-6525B1F88D30}"/>
              </a:ext>
            </a:extLst>
          </p:cNvPr>
          <p:cNvSpPr txBox="1"/>
          <p:nvPr/>
        </p:nvSpPr>
        <p:spPr bwMode="gray">
          <a:xfrm>
            <a:off x="731948" y="4365352"/>
            <a:ext cx="824372"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用户终端</a:t>
            </a:r>
          </a:p>
        </p:txBody>
      </p:sp>
      <p:sp>
        <p:nvSpPr>
          <p:cNvPr id="13" name="TextBox 41">
            <a:extLst>
              <a:ext uri="{FF2B5EF4-FFF2-40B4-BE49-F238E27FC236}">
                <a16:creationId xmlns:a16="http://schemas.microsoft.com/office/drawing/2014/main" xmlns="" id="{107FF330-60DF-4117-B4EF-26EB0211B8ED}"/>
              </a:ext>
            </a:extLst>
          </p:cNvPr>
          <p:cNvSpPr txBox="1"/>
          <p:nvPr/>
        </p:nvSpPr>
        <p:spPr bwMode="gray">
          <a:xfrm>
            <a:off x="2645816" y="4365352"/>
            <a:ext cx="1205332"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接入设备</a:t>
            </a:r>
          </a:p>
        </p:txBody>
      </p:sp>
      <p:sp>
        <p:nvSpPr>
          <p:cNvPr id="14" name="TextBox 42">
            <a:extLst>
              <a:ext uri="{FF2B5EF4-FFF2-40B4-BE49-F238E27FC236}">
                <a16:creationId xmlns:a16="http://schemas.microsoft.com/office/drawing/2014/main" xmlns="" id="{10D25089-1E74-43A4-A230-304F09C4C5A5}"/>
              </a:ext>
            </a:extLst>
          </p:cNvPr>
          <p:cNvSpPr txBox="1"/>
          <p:nvPr/>
        </p:nvSpPr>
        <p:spPr bwMode="gray">
          <a:xfrm>
            <a:off x="4743295" y="4365352"/>
            <a:ext cx="1365407" cy="466269"/>
          </a:xfrm>
          <a:prstGeom prst="rect">
            <a:avLst/>
          </a:prstGeom>
          <a:noFill/>
        </p:spPr>
        <p:txBody>
          <a:bodyPr wrap="square" lIns="48000" tIns="48000" rIns="48000" bIns="48000" rtlCol="0">
            <a:spAutoFit/>
          </a:bodyPr>
          <a:lstStyle/>
          <a:p>
            <a:pPr algn="ctr"/>
            <a:r>
              <a:rPr lang="zh-CN" altLang="en-US" sz="1200" b="1">
                <a:cs typeface="Arial" pitchFamily="34" charset="0"/>
              </a:rPr>
              <a:t>软件服务器</a:t>
            </a:r>
            <a:endParaRPr lang="en-US" altLang="zh-CN" sz="1200" b="1" dirty="0">
              <a:cs typeface="Arial" pitchFamily="34" charset="0"/>
            </a:endParaRPr>
          </a:p>
          <a:p>
            <a:pPr algn="ctr"/>
            <a:r>
              <a:rPr lang="en-US" altLang="zh-CN" sz="1200" dirty="0">
                <a:cs typeface="Arial" pitchFamily="34" charset="0"/>
              </a:rPr>
              <a:t>192.168.1.1</a:t>
            </a:r>
            <a:endParaRPr lang="zh-CN" altLang="en-US" sz="1200" dirty="0">
              <a:cs typeface="Arial" pitchFamily="34" charset="0"/>
            </a:endParaRPr>
          </a:p>
        </p:txBody>
      </p:sp>
      <p:pic>
        <p:nvPicPr>
          <p:cNvPr id="15" name="图片 14" descr="PC.png">
            <a:extLst>
              <a:ext uri="{FF2B5EF4-FFF2-40B4-BE49-F238E27FC236}">
                <a16:creationId xmlns:a16="http://schemas.microsoft.com/office/drawing/2014/main" xmlns="" id="{2EA9B862-B960-493C-AF31-1A65DB46F124}"/>
              </a:ext>
            </a:extLst>
          </p:cNvPr>
          <p:cNvPicPr>
            <a:picLocks noChangeAspect="1"/>
          </p:cNvPicPr>
          <p:nvPr/>
        </p:nvPicPr>
        <p:blipFill>
          <a:blip r:embed="rId3" cstate="print"/>
          <a:stretch>
            <a:fillRect/>
          </a:stretch>
        </p:blipFill>
        <p:spPr bwMode="gray">
          <a:xfrm>
            <a:off x="833502" y="4880439"/>
            <a:ext cx="566920" cy="402702"/>
          </a:xfrm>
          <a:prstGeom prst="rect">
            <a:avLst/>
          </a:prstGeom>
          <a:effectLst>
            <a:outerShdw blurRad="50800" dist="50800" dir="5400000" algn="ctr" rotWithShape="0">
              <a:schemeClr val="bg1"/>
            </a:outerShdw>
          </a:effectLst>
        </p:spPr>
      </p:pic>
      <p:pic>
        <p:nvPicPr>
          <p:cNvPr id="17" name="图片 16" descr="通用服务器-蓝.png"/>
          <p:cNvPicPr>
            <a:picLocks/>
          </p:cNvPicPr>
          <p:nvPr/>
        </p:nvPicPr>
        <p:blipFill>
          <a:blip r:embed="rId4" cstate="print"/>
          <a:stretch>
            <a:fillRect/>
          </a:stretch>
        </p:blipFill>
        <p:spPr bwMode="gray">
          <a:xfrm>
            <a:off x="5189947" y="4841324"/>
            <a:ext cx="540000" cy="441817"/>
          </a:xfrm>
          <a:prstGeom prst="rect">
            <a:avLst/>
          </a:prstGeom>
        </p:spPr>
      </p:pic>
      <p:cxnSp>
        <p:nvCxnSpPr>
          <p:cNvPr id="18" name="直接箭头连接符 17">
            <a:extLst>
              <a:ext uri="{FF2B5EF4-FFF2-40B4-BE49-F238E27FC236}">
                <a16:creationId xmlns:a16="http://schemas.microsoft.com/office/drawing/2014/main" xmlns="" id="{7D2A6B36-0425-4AF5-8615-B057DC5231D8}"/>
              </a:ext>
            </a:extLst>
          </p:cNvPr>
          <p:cNvCxnSpPr/>
          <p:nvPr/>
        </p:nvCxnSpPr>
        <p:spPr bwMode="gray">
          <a:xfrm>
            <a:off x="1556320" y="5076732"/>
            <a:ext cx="1414759" cy="0"/>
          </a:xfrm>
          <a:prstGeom prst="straightConnector1">
            <a:avLst/>
          </a:prstGeom>
          <a:noFill/>
          <a:ln w="12700" cap="flat" cmpd="sng" algn="ctr">
            <a:solidFill>
              <a:schemeClr val="tx1"/>
            </a:solidFill>
            <a:prstDash val="solid"/>
            <a:round/>
            <a:headEnd type="none" w="med" len="med"/>
            <a:tailEnd type="triangle"/>
          </a:ln>
          <a:effectLst/>
        </p:spPr>
      </p:cxnSp>
      <p:cxnSp>
        <p:nvCxnSpPr>
          <p:cNvPr id="19" name="直接箭头连接符 18">
            <a:extLst>
              <a:ext uri="{FF2B5EF4-FFF2-40B4-BE49-F238E27FC236}">
                <a16:creationId xmlns:a16="http://schemas.microsoft.com/office/drawing/2014/main" xmlns="" id="{7D2A6B36-0425-4AF5-8615-B057DC5231D8}"/>
              </a:ext>
            </a:extLst>
          </p:cNvPr>
          <p:cNvCxnSpPr/>
          <p:nvPr/>
        </p:nvCxnSpPr>
        <p:spPr bwMode="gray">
          <a:xfrm>
            <a:off x="3678197" y="5064608"/>
            <a:ext cx="1414759" cy="0"/>
          </a:xfrm>
          <a:prstGeom prst="straightConnector1">
            <a:avLst/>
          </a:prstGeom>
          <a:noFill/>
          <a:ln w="12700" cap="flat" cmpd="sng" algn="ctr">
            <a:solidFill>
              <a:schemeClr val="tx1"/>
            </a:solidFill>
            <a:prstDash val="solid"/>
            <a:round/>
            <a:headEnd type="none" w="med" len="med"/>
            <a:tailEnd type="triangle"/>
          </a:ln>
          <a:effectLst/>
        </p:spPr>
      </p:cxnSp>
      <p:sp>
        <p:nvSpPr>
          <p:cNvPr id="20" name="文本框 19"/>
          <p:cNvSpPr txBox="1"/>
          <p:nvPr/>
        </p:nvSpPr>
        <p:spPr bwMode="gray">
          <a:xfrm>
            <a:off x="1660111" y="4649606"/>
            <a:ext cx="1337017" cy="461665"/>
          </a:xfrm>
          <a:prstGeom prst="rect">
            <a:avLst/>
          </a:prstGeom>
          <a:noFill/>
        </p:spPr>
        <p:txBody>
          <a:bodyPr wrap="square" rtlCol="0">
            <a:spAutoFit/>
          </a:bodyPr>
          <a:lstStyle/>
          <a:p>
            <a:r>
              <a:rPr lang="zh-CN" altLang="en-US" sz="1200" dirty="0"/>
              <a:t>免认证即可访问</a:t>
            </a:r>
            <a:endParaRPr lang="en-US" altLang="zh-CN" sz="1200" dirty="0"/>
          </a:p>
          <a:p>
            <a:r>
              <a:rPr lang="en-US" altLang="zh-CN" sz="1200" dirty="0"/>
              <a:t>192.168.1.1</a:t>
            </a:r>
            <a:endParaRPr lang="zh-CN" altLang="en-US" sz="1200" dirty="0"/>
          </a:p>
        </p:txBody>
      </p:sp>
      <p:sp>
        <p:nvSpPr>
          <p:cNvPr id="21" name="圆角矩形 75"/>
          <p:cNvSpPr/>
          <p:nvPr/>
        </p:nvSpPr>
        <p:spPr bwMode="gray">
          <a:xfrm>
            <a:off x="654348" y="1641515"/>
            <a:ext cx="5209414" cy="440475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75"/>
          <p:cNvSpPr/>
          <p:nvPr/>
        </p:nvSpPr>
        <p:spPr bwMode="gray">
          <a:xfrm>
            <a:off x="6247684" y="1207562"/>
            <a:ext cx="5388784"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认证事件授权</a:t>
            </a:r>
          </a:p>
        </p:txBody>
      </p:sp>
      <p:sp>
        <p:nvSpPr>
          <p:cNvPr id="23" name="圆角矩形 75"/>
          <p:cNvSpPr/>
          <p:nvPr/>
        </p:nvSpPr>
        <p:spPr bwMode="gray">
          <a:xfrm>
            <a:off x="6252136" y="1638070"/>
            <a:ext cx="5388783" cy="440475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占位符 2"/>
          <p:cNvSpPr txBox="1">
            <a:spLocks/>
          </p:cNvSpPr>
          <p:nvPr/>
        </p:nvSpPr>
        <p:spPr bwMode="gray">
          <a:xfrm>
            <a:off x="6271549" y="1638071"/>
            <a:ext cx="5364920" cy="72715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Arial" panose="020B0604020202020204" pitchFamily="34" charset="0"/>
              <a:buNone/>
            </a:pPr>
            <a:r>
              <a:rPr lang="zh-CN" altLang="en-US" sz="1600" dirty="0"/>
              <a:t>用户在认证过程中遇到不同事件时（如认证前、认证失败、认证服务器失效等），需要拥有一定的权限。</a:t>
            </a:r>
            <a:endParaRPr lang="en-US" altLang="zh-CN" sz="1600" dirty="0"/>
          </a:p>
        </p:txBody>
      </p:sp>
      <p:grpSp>
        <p:nvGrpSpPr>
          <p:cNvPr id="25" name="组合 24"/>
          <p:cNvGrpSpPr/>
          <p:nvPr/>
        </p:nvGrpSpPr>
        <p:grpSpPr bwMode="gray">
          <a:xfrm>
            <a:off x="579138" y="2809533"/>
            <a:ext cx="5619717" cy="1104119"/>
            <a:chOff x="354448" y="3691910"/>
            <a:chExt cx="5619717" cy="1104119"/>
          </a:xfrm>
        </p:grpSpPr>
        <p:sp>
          <p:nvSpPr>
            <p:cNvPr id="26" name="TextBox 41"/>
            <p:cNvSpPr txBox="1"/>
            <p:nvPr/>
          </p:nvSpPr>
          <p:spPr bwMode="gray">
            <a:xfrm>
              <a:off x="354448" y="3955823"/>
              <a:ext cx="1967642" cy="527825"/>
            </a:xfrm>
            <a:prstGeom prst="rect">
              <a:avLst/>
            </a:prstGeom>
            <a:noFill/>
          </p:spPr>
          <p:txBody>
            <a:bodyPr wrap="none" lIns="48000" tIns="48000" rIns="48000" bIns="48000" rtlCol="0">
              <a:spAutoFit/>
            </a:bodyPr>
            <a:lstStyle/>
            <a:p>
              <a:pPr algn="ctr"/>
              <a:r>
                <a:rPr lang="zh-CN" altLang="en-US" sz="1400" dirty="0">
                  <a:solidFill>
                    <a:srgbClr val="C7000B"/>
                  </a:solidFill>
                  <a:latin typeface="+mj-lt"/>
                  <a:cs typeface="Arial" pitchFamily="34" charset="0"/>
                </a:rPr>
                <a:t>免认证规则模板</a:t>
              </a:r>
              <a:endParaRPr lang="en-US" altLang="zh-CN" sz="1400" dirty="0">
                <a:solidFill>
                  <a:srgbClr val="C7000B"/>
                </a:solidFill>
                <a:latin typeface="+mj-lt"/>
                <a:cs typeface="Arial" pitchFamily="34" charset="0"/>
              </a:endParaRPr>
            </a:p>
            <a:p>
              <a:pPr algn="ctr"/>
              <a:r>
                <a:rPr lang="zh-CN" altLang="en-US" sz="1400" dirty="0">
                  <a:solidFill>
                    <a:srgbClr val="C7000B"/>
                  </a:solidFill>
                  <a:latin typeface="+mj-lt"/>
                  <a:cs typeface="Arial" pitchFamily="34" charset="0"/>
                </a:rPr>
                <a:t>（</a:t>
              </a:r>
              <a:r>
                <a:rPr lang="en-US" altLang="zh-CN" sz="1400" dirty="0">
                  <a:solidFill>
                    <a:srgbClr val="C7000B"/>
                  </a:solidFill>
                  <a:latin typeface="+mj-lt"/>
                  <a:cs typeface="Arial" pitchFamily="34" charset="0"/>
                </a:rPr>
                <a:t>free-rule-template</a:t>
              </a:r>
              <a:r>
                <a:rPr lang="zh-CN" altLang="en-US" sz="1400" dirty="0">
                  <a:solidFill>
                    <a:srgbClr val="C7000B"/>
                  </a:solidFill>
                  <a:latin typeface="+mj-lt"/>
                  <a:cs typeface="Arial" pitchFamily="34" charset="0"/>
                </a:rPr>
                <a:t>）</a:t>
              </a:r>
            </a:p>
          </p:txBody>
        </p:sp>
        <p:sp>
          <p:nvSpPr>
            <p:cNvPr id="27" name="TextBox 41"/>
            <p:cNvSpPr txBox="1"/>
            <p:nvPr/>
          </p:nvSpPr>
          <p:spPr bwMode="gray">
            <a:xfrm>
              <a:off x="2414022" y="3691910"/>
              <a:ext cx="3560143" cy="527825"/>
            </a:xfrm>
            <a:prstGeom prst="rect">
              <a:avLst/>
            </a:prstGeom>
            <a:noFill/>
          </p:spPr>
          <p:txBody>
            <a:bodyPr wrap="square" lIns="48000" tIns="48000" rIns="48000" bIns="48000" rtlCol="0">
              <a:spAutoFit/>
            </a:bodyPr>
            <a:lstStyle/>
            <a:p>
              <a:r>
                <a:rPr lang="zh-CN" altLang="en-US" sz="1400" dirty="0">
                  <a:latin typeface="+mj-lt"/>
                  <a:cs typeface="Arial" pitchFamily="34" charset="0"/>
                </a:rPr>
                <a:t>方式</a:t>
              </a:r>
              <a:r>
                <a:rPr lang="en-US" altLang="zh-CN" sz="1400" dirty="0">
                  <a:latin typeface="+mj-lt"/>
                  <a:cs typeface="Arial" pitchFamily="34" charset="0"/>
                </a:rPr>
                <a:t>1</a:t>
              </a:r>
              <a:r>
                <a:rPr lang="zh-CN" altLang="en-US" sz="1400" dirty="0">
                  <a:latin typeface="+mj-lt"/>
                  <a:cs typeface="Arial" pitchFamily="34" charset="0"/>
                </a:rPr>
                <a:t>：普通的免认证规则，由</a:t>
              </a:r>
              <a:r>
                <a:rPr lang="en-US" altLang="zh-CN" sz="1400" dirty="0">
                  <a:latin typeface="+mj-lt"/>
                  <a:cs typeface="Arial" pitchFamily="34" charset="0"/>
                </a:rPr>
                <a:t>IP</a:t>
              </a:r>
              <a:r>
                <a:rPr lang="zh-CN" altLang="en-US" sz="1400" dirty="0">
                  <a:latin typeface="+mj-lt"/>
                  <a:cs typeface="Arial" pitchFamily="34" charset="0"/>
                </a:rPr>
                <a:t>地址、</a:t>
              </a:r>
              <a:r>
                <a:rPr lang="en-US" altLang="zh-CN" sz="1400" dirty="0">
                  <a:latin typeface="+mj-lt"/>
                  <a:cs typeface="Arial" pitchFamily="34" charset="0"/>
                </a:rPr>
                <a:t>MAC</a:t>
              </a:r>
              <a:r>
                <a:rPr lang="zh-CN" altLang="en-US" sz="1400" dirty="0">
                  <a:latin typeface="+mj-lt"/>
                  <a:cs typeface="Arial" pitchFamily="34" charset="0"/>
                </a:rPr>
                <a:t>地址、源接口、</a:t>
              </a:r>
              <a:r>
                <a:rPr lang="en-US" altLang="zh-CN" sz="1400" dirty="0">
                  <a:latin typeface="+mj-lt"/>
                  <a:cs typeface="Arial" pitchFamily="34" charset="0"/>
                </a:rPr>
                <a:t>VLAN</a:t>
              </a:r>
              <a:r>
                <a:rPr lang="zh-CN" altLang="en-US" sz="1400" dirty="0">
                  <a:latin typeface="+mj-lt"/>
                  <a:cs typeface="Arial" pitchFamily="34" charset="0"/>
                </a:rPr>
                <a:t>等参数确定。</a:t>
              </a:r>
            </a:p>
          </p:txBody>
        </p:sp>
        <p:sp>
          <p:nvSpPr>
            <p:cNvPr id="28" name="TextBox 41"/>
            <p:cNvSpPr txBox="1"/>
            <p:nvPr/>
          </p:nvSpPr>
          <p:spPr bwMode="gray">
            <a:xfrm>
              <a:off x="2414022" y="4483648"/>
              <a:ext cx="1925907" cy="312381"/>
            </a:xfrm>
            <a:prstGeom prst="rect">
              <a:avLst/>
            </a:prstGeom>
            <a:noFill/>
          </p:spPr>
          <p:txBody>
            <a:bodyPr wrap="square" lIns="48000" tIns="48000" rIns="48000" bIns="48000" rtlCol="0">
              <a:spAutoFit/>
            </a:bodyPr>
            <a:lstStyle/>
            <a:p>
              <a:r>
                <a:rPr lang="zh-CN" altLang="en-US" sz="1400" dirty="0">
                  <a:latin typeface="+mj-lt"/>
                  <a:cs typeface="Arial" pitchFamily="34" charset="0"/>
                </a:rPr>
                <a:t>方式</a:t>
              </a:r>
              <a:r>
                <a:rPr lang="en-US" altLang="zh-CN" sz="1400" dirty="0">
                  <a:latin typeface="+mj-lt"/>
                  <a:cs typeface="Arial" pitchFamily="34" charset="0"/>
                </a:rPr>
                <a:t>2</a:t>
              </a:r>
              <a:r>
                <a:rPr lang="zh-CN" altLang="en-US" sz="1400" dirty="0">
                  <a:latin typeface="+mj-lt"/>
                  <a:cs typeface="Arial" pitchFamily="34" charset="0"/>
                </a:rPr>
                <a:t>：关联</a:t>
              </a:r>
              <a:r>
                <a:rPr lang="en-US" altLang="zh-CN" sz="1400" dirty="0">
                  <a:latin typeface="+mj-lt"/>
                  <a:cs typeface="Arial" pitchFamily="34" charset="0"/>
                </a:rPr>
                <a:t>ACL</a:t>
              </a:r>
              <a:r>
                <a:rPr lang="zh-CN" altLang="en-US" sz="1400" dirty="0">
                  <a:latin typeface="+mj-lt"/>
                  <a:cs typeface="Arial" pitchFamily="34" charset="0"/>
                </a:rPr>
                <a:t>。</a:t>
              </a:r>
            </a:p>
          </p:txBody>
        </p:sp>
        <p:sp>
          <p:nvSpPr>
            <p:cNvPr id="29" name="左大括号 28"/>
            <p:cNvSpPr/>
            <p:nvPr/>
          </p:nvSpPr>
          <p:spPr bwMode="gray">
            <a:xfrm>
              <a:off x="2292187" y="3932509"/>
              <a:ext cx="67204" cy="715380"/>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sp>
        <p:nvSpPr>
          <p:cNvPr id="30" name="TextBox 41"/>
          <p:cNvSpPr txBox="1"/>
          <p:nvPr/>
        </p:nvSpPr>
        <p:spPr bwMode="gray">
          <a:xfrm>
            <a:off x="7314364" y="2976429"/>
            <a:ext cx="4482280" cy="527825"/>
          </a:xfrm>
          <a:prstGeom prst="rect">
            <a:avLst/>
          </a:prstGeom>
          <a:noFill/>
        </p:spPr>
        <p:txBody>
          <a:bodyPr wrap="square" lIns="48000" tIns="48000" rIns="48000" bIns="48000" rtlCol="0">
            <a:spAutoFit/>
          </a:bodyPr>
          <a:lstStyle/>
          <a:p>
            <a:r>
              <a:rPr lang="zh-CN" altLang="en-US" sz="1400" dirty="0">
                <a:latin typeface="+mj-lt"/>
                <a:cs typeface="Arial" pitchFamily="34" charset="0"/>
              </a:rPr>
              <a:t>用户组（</a:t>
            </a:r>
            <a:r>
              <a:rPr lang="en-US" altLang="zh-CN" sz="1400" dirty="0" smtClean="0">
                <a:latin typeface="+mj-lt"/>
                <a:cs typeface="Arial" pitchFamily="34" charset="0"/>
              </a:rPr>
              <a:t>UCL</a:t>
            </a:r>
            <a:r>
              <a:rPr lang="zh-CN" altLang="en-US" sz="1400" dirty="0" smtClean="0">
                <a:latin typeface="+mj-lt"/>
                <a:cs typeface="Arial" pitchFamily="34" charset="0"/>
              </a:rPr>
              <a:t>组）</a:t>
            </a:r>
            <a:r>
              <a:rPr lang="zh-CN" altLang="en-US" sz="1400" dirty="0">
                <a:latin typeface="+mj-lt"/>
                <a:cs typeface="Arial" pitchFamily="34" charset="0"/>
              </a:rPr>
              <a:t>：根据用户组对具有相同特征的用户进行权限下发。</a:t>
            </a:r>
          </a:p>
        </p:txBody>
      </p:sp>
      <p:sp>
        <p:nvSpPr>
          <p:cNvPr id="31" name="TextBox 41"/>
          <p:cNvSpPr txBox="1"/>
          <p:nvPr/>
        </p:nvSpPr>
        <p:spPr bwMode="gray">
          <a:xfrm>
            <a:off x="7800929" y="5329258"/>
            <a:ext cx="2187941" cy="466269"/>
          </a:xfrm>
          <a:prstGeom prst="rect">
            <a:avLst/>
          </a:prstGeom>
          <a:noFill/>
        </p:spPr>
        <p:txBody>
          <a:bodyPr wrap="square" lIns="48000" tIns="48000" rIns="48000" bIns="48000" rtlCol="0">
            <a:spAutoFit/>
          </a:bodyPr>
          <a:lstStyle/>
          <a:p>
            <a:pPr algn="ctr"/>
            <a:r>
              <a:rPr lang="zh-CN" altLang="en-US" sz="1200" b="1" dirty="0">
                <a:solidFill>
                  <a:srgbClr val="30B5C5"/>
                </a:solidFill>
                <a:latin typeface="Huawei Sans" panose="020C0503030203020204" pitchFamily="34" charset="0"/>
                <a:ea typeface="方正兰亭黑简体" panose="02000000000000000000" pitchFamily="2" charset="-122"/>
                <a:cs typeface="Arial" pitchFamily="34" charset="0"/>
              </a:rPr>
              <a:t>允许用户在认证失败之后访问</a:t>
            </a:r>
            <a:r>
              <a:rPr lang="en-US" altLang="zh-CN" sz="1200" b="1" dirty="0">
                <a:solidFill>
                  <a:srgbClr val="30B5C5"/>
                </a:solidFill>
                <a:latin typeface="Huawei Sans" panose="020C0503030203020204" pitchFamily="34" charset="0"/>
                <a:ea typeface="方正兰亭黑简体" panose="02000000000000000000" pitchFamily="2" charset="-122"/>
                <a:cs typeface="Arial" pitchFamily="34" charset="0"/>
              </a:rPr>
              <a:t>192.168.1.1</a:t>
            </a:r>
            <a:r>
              <a:rPr lang="zh-CN" altLang="en-US" sz="1200" b="1" dirty="0">
                <a:solidFill>
                  <a:srgbClr val="30B5C5"/>
                </a:solidFill>
                <a:latin typeface="Huawei Sans" panose="020C0503030203020204" pitchFamily="34" charset="0"/>
                <a:ea typeface="方正兰亭黑简体" panose="02000000000000000000" pitchFamily="2" charset="-122"/>
                <a:cs typeface="Arial" pitchFamily="34" charset="0"/>
              </a:rPr>
              <a:t>更新病毒库</a:t>
            </a:r>
          </a:p>
        </p:txBody>
      </p:sp>
      <p:sp>
        <p:nvSpPr>
          <p:cNvPr id="32" name="TextBox 40">
            <a:extLst>
              <a:ext uri="{FF2B5EF4-FFF2-40B4-BE49-F238E27FC236}">
                <a16:creationId xmlns:a16="http://schemas.microsoft.com/office/drawing/2014/main" xmlns="" id="{E23A3C99-EE95-4759-84F4-6525B1F88D30}"/>
              </a:ext>
            </a:extLst>
          </p:cNvPr>
          <p:cNvSpPr txBox="1"/>
          <p:nvPr/>
        </p:nvSpPr>
        <p:spPr bwMode="gray">
          <a:xfrm>
            <a:off x="6333958" y="4365352"/>
            <a:ext cx="824372"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用户终端</a:t>
            </a:r>
          </a:p>
        </p:txBody>
      </p:sp>
      <p:sp>
        <p:nvSpPr>
          <p:cNvPr id="33" name="TextBox 41">
            <a:extLst>
              <a:ext uri="{FF2B5EF4-FFF2-40B4-BE49-F238E27FC236}">
                <a16:creationId xmlns:a16="http://schemas.microsoft.com/office/drawing/2014/main" xmlns="" id="{107FF330-60DF-4117-B4EF-26EB0211B8ED}"/>
              </a:ext>
            </a:extLst>
          </p:cNvPr>
          <p:cNvSpPr txBox="1"/>
          <p:nvPr/>
        </p:nvSpPr>
        <p:spPr bwMode="gray">
          <a:xfrm>
            <a:off x="8247826" y="4365352"/>
            <a:ext cx="1205332"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接入设备</a:t>
            </a:r>
          </a:p>
        </p:txBody>
      </p:sp>
      <p:sp>
        <p:nvSpPr>
          <p:cNvPr id="34" name="TextBox 42">
            <a:extLst>
              <a:ext uri="{FF2B5EF4-FFF2-40B4-BE49-F238E27FC236}">
                <a16:creationId xmlns:a16="http://schemas.microsoft.com/office/drawing/2014/main" xmlns="" id="{10D25089-1E74-43A4-A230-304F09C4C5A5}"/>
              </a:ext>
            </a:extLst>
          </p:cNvPr>
          <p:cNvSpPr txBox="1"/>
          <p:nvPr/>
        </p:nvSpPr>
        <p:spPr bwMode="gray">
          <a:xfrm>
            <a:off x="10345305" y="4365352"/>
            <a:ext cx="1365407" cy="466269"/>
          </a:xfrm>
          <a:prstGeom prst="rect">
            <a:avLst/>
          </a:prstGeom>
          <a:noFill/>
        </p:spPr>
        <p:txBody>
          <a:bodyPr wrap="square" lIns="48000" tIns="48000" rIns="48000" bIns="48000" rtlCol="0">
            <a:spAutoFit/>
          </a:bodyPr>
          <a:lstStyle/>
          <a:p>
            <a:pPr algn="ctr"/>
            <a:r>
              <a:rPr lang="zh-CN" altLang="en-US" sz="1200" b="1" dirty="0">
                <a:cs typeface="Arial" pitchFamily="34" charset="0"/>
              </a:rPr>
              <a:t>病毒库服务器</a:t>
            </a:r>
            <a:endParaRPr lang="en-US" altLang="zh-CN" sz="1200" b="1" dirty="0">
              <a:cs typeface="Arial" pitchFamily="34" charset="0"/>
            </a:endParaRPr>
          </a:p>
          <a:p>
            <a:pPr algn="ctr"/>
            <a:r>
              <a:rPr lang="en-US" altLang="zh-CN" sz="1200" dirty="0">
                <a:cs typeface="Arial" pitchFamily="34" charset="0"/>
              </a:rPr>
              <a:t>192.168.1.1</a:t>
            </a:r>
            <a:endParaRPr lang="zh-CN" altLang="en-US" sz="1200" dirty="0">
              <a:cs typeface="Arial" pitchFamily="34" charset="0"/>
            </a:endParaRPr>
          </a:p>
        </p:txBody>
      </p:sp>
      <p:pic>
        <p:nvPicPr>
          <p:cNvPr id="35" name="图片 34" descr="PC.png">
            <a:extLst>
              <a:ext uri="{FF2B5EF4-FFF2-40B4-BE49-F238E27FC236}">
                <a16:creationId xmlns:a16="http://schemas.microsoft.com/office/drawing/2014/main" xmlns="" id="{2EA9B862-B960-493C-AF31-1A65DB46F124}"/>
              </a:ext>
            </a:extLst>
          </p:cNvPr>
          <p:cNvPicPr>
            <a:picLocks noChangeAspect="1"/>
          </p:cNvPicPr>
          <p:nvPr/>
        </p:nvPicPr>
        <p:blipFill>
          <a:blip r:embed="rId3" cstate="print"/>
          <a:stretch>
            <a:fillRect/>
          </a:stretch>
        </p:blipFill>
        <p:spPr bwMode="gray">
          <a:xfrm>
            <a:off x="6435512" y="4855264"/>
            <a:ext cx="566920" cy="402702"/>
          </a:xfrm>
          <a:prstGeom prst="rect">
            <a:avLst/>
          </a:prstGeom>
          <a:effectLst>
            <a:outerShdw blurRad="50800" dist="50800" dir="5400000" algn="ctr" rotWithShape="0">
              <a:schemeClr val="bg1"/>
            </a:outerShdw>
          </a:effectLst>
        </p:spPr>
      </p:pic>
      <p:pic>
        <p:nvPicPr>
          <p:cNvPr id="37" name="图片 36" descr="通用服务器-蓝.png"/>
          <p:cNvPicPr>
            <a:picLocks/>
          </p:cNvPicPr>
          <p:nvPr/>
        </p:nvPicPr>
        <p:blipFill>
          <a:blip r:embed="rId4" cstate="print"/>
          <a:stretch>
            <a:fillRect/>
          </a:stretch>
        </p:blipFill>
        <p:spPr bwMode="gray">
          <a:xfrm>
            <a:off x="10791957" y="4816149"/>
            <a:ext cx="540000" cy="441817"/>
          </a:xfrm>
          <a:prstGeom prst="rect">
            <a:avLst/>
          </a:prstGeom>
        </p:spPr>
      </p:pic>
      <p:cxnSp>
        <p:nvCxnSpPr>
          <p:cNvPr id="38" name="直接箭头连接符 37">
            <a:extLst>
              <a:ext uri="{FF2B5EF4-FFF2-40B4-BE49-F238E27FC236}">
                <a16:creationId xmlns:a16="http://schemas.microsoft.com/office/drawing/2014/main" xmlns="" id="{7D2A6B36-0425-4AF5-8615-B057DC5231D8}"/>
              </a:ext>
            </a:extLst>
          </p:cNvPr>
          <p:cNvCxnSpPr/>
          <p:nvPr/>
        </p:nvCxnSpPr>
        <p:spPr bwMode="gray">
          <a:xfrm>
            <a:off x="7158330" y="5051557"/>
            <a:ext cx="1414759" cy="0"/>
          </a:xfrm>
          <a:prstGeom prst="straightConnector1">
            <a:avLst/>
          </a:prstGeom>
          <a:noFill/>
          <a:ln w="12700" cap="flat" cmpd="sng" algn="ctr">
            <a:solidFill>
              <a:schemeClr val="tx1"/>
            </a:solidFill>
            <a:prstDash val="solid"/>
            <a:round/>
            <a:headEnd type="none" w="med" len="med"/>
            <a:tailEnd type="triangle"/>
          </a:ln>
          <a:effectLst/>
        </p:spPr>
      </p:cxnSp>
      <p:cxnSp>
        <p:nvCxnSpPr>
          <p:cNvPr id="39" name="直接箭头连接符 38">
            <a:extLst>
              <a:ext uri="{FF2B5EF4-FFF2-40B4-BE49-F238E27FC236}">
                <a16:creationId xmlns:a16="http://schemas.microsoft.com/office/drawing/2014/main" xmlns="" id="{7D2A6B36-0425-4AF5-8615-B057DC5231D8}"/>
              </a:ext>
            </a:extLst>
          </p:cNvPr>
          <p:cNvCxnSpPr/>
          <p:nvPr/>
        </p:nvCxnSpPr>
        <p:spPr bwMode="gray">
          <a:xfrm>
            <a:off x="9280207" y="5039433"/>
            <a:ext cx="1414759" cy="0"/>
          </a:xfrm>
          <a:prstGeom prst="straightConnector1">
            <a:avLst/>
          </a:prstGeom>
          <a:noFill/>
          <a:ln w="12700" cap="flat" cmpd="sng" algn="ctr">
            <a:solidFill>
              <a:schemeClr val="tx1"/>
            </a:solidFill>
            <a:prstDash val="solid"/>
            <a:round/>
            <a:headEnd type="none" w="med" len="med"/>
            <a:tailEnd type="triangle"/>
          </a:ln>
          <a:effectLst/>
        </p:spPr>
      </p:cxnSp>
      <p:sp>
        <p:nvSpPr>
          <p:cNvPr id="40" name="文本框 39"/>
          <p:cNvSpPr txBox="1"/>
          <p:nvPr/>
        </p:nvSpPr>
        <p:spPr bwMode="gray">
          <a:xfrm>
            <a:off x="7158331" y="4624431"/>
            <a:ext cx="1440808" cy="461665"/>
          </a:xfrm>
          <a:prstGeom prst="rect">
            <a:avLst/>
          </a:prstGeom>
          <a:noFill/>
        </p:spPr>
        <p:txBody>
          <a:bodyPr wrap="square" rtlCol="0">
            <a:spAutoFit/>
          </a:bodyPr>
          <a:lstStyle/>
          <a:p>
            <a:r>
              <a:rPr lang="zh-CN" altLang="en-US" sz="1200" dirty="0"/>
              <a:t>认证失败后依然可访问</a:t>
            </a:r>
            <a:r>
              <a:rPr lang="en-US" altLang="zh-CN" sz="1200" dirty="0"/>
              <a:t>192.168.1.1</a:t>
            </a:r>
            <a:endParaRPr lang="zh-CN" altLang="en-US" sz="1200" dirty="0"/>
          </a:p>
        </p:txBody>
      </p:sp>
      <p:sp>
        <p:nvSpPr>
          <p:cNvPr id="41" name="五边形 40"/>
          <p:cNvSpPr/>
          <p:nvPr/>
        </p:nvSpPr>
        <p:spPr bwMode="gray">
          <a:xfrm>
            <a:off x="9986688" y="98481"/>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用户授权</a:t>
            </a:r>
          </a:p>
        </p:txBody>
      </p:sp>
      <p:sp>
        <p:nvSpPr>
          <p:cNvPr id="42" name="燕尾形 41"/>
          <p:cNvSpPr/>
          <p:nvPr/>
        </p:nvSpPr>
        <p:spPr bwMode="gray">
          <a:xfrm>
            <a:off x="10808345"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用户下线</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4" name="图片 43" descr="通用交换机.png"/>
          <p:cNvPicPr>
            <a:picLocks noChangeAspect="1"/>
          </p:cNvPicPr>
          <p:nvPr/>
        </p:nvPicPr>
        <p:blipFill>
          <a:blip r:embed="rId5" cstate="print"/>
          <a:stretch>
            <a:fillRect/>
          </a:stretch>
        </p:blipFill>
        <p:spPr>
          <a:xfrm>
            <a:off x="3041928" y="4848977"/>
            <a:ext cx="540000" cy="441818"/>
          </a:xfrm>
          <a:prstGeom prst="rect">
            <a:avLst/>
          </a:prstGeom>
        </p:spPr>
      </p:pic>
      <p:pic>
        <p:nvPicPr>
          <p:cNvPr id="45" name="图片 44" descr="通用交换机.png"/>
          <p:cNvPicPr>
            <a:picLocks noChangeAspect="1"/>
          </p:cNvPicPr>
          <p:nvPr/>
        </p:nvPicPr>
        <p:blipFill>
          <a:blip r:embed="rId5" cstate="print"/>
          <a:stretch>
            <a:fillRect/>
          </a:stretch>
        </p:blipFill>
        <p:spPr>
          <a:xfrm>
            <a:off x="8662222" y="4848977"/>
            <a:ext cx="540000" cy="441818"/>
          </a:xfrm>
          <a:prstGeom prst="rect">
            <a:avLst/>
          </a:prstGeom>
        </p:spPr>
      </p:pic>
    </p:spTree>
    <p:extLst>
      <p:ext uri="{BB962C8B-B14F-4D97-AF65-F5344CB8AC3E}">
        <p14:creationId xmlns:p14="http://schemas.microsoft.com/office/powerpoint/2010/main" val="2527354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a:t>用户下线</a:t>
            </a:r>
            <a:endParaRPr lang="zh-CN" altLang="en-US" dirty="0"/>
          </a:p>
        </p:txBody>
      </p:sp>
      <p:sp>
        <p:nvSpPr>
          <p:cNvPr id="4" name="文本占位符 3"/>
          <p:cNvSpPr>
            <a:spLocks noGrp="1"/>
          </p:cNvSpPr>
          <p:nvPr>
            <p:ph type="body" sz="quarter" idx="4294967295"/>
          </p:nvPr>
        </p:nvSpPr>
        <p:spPr>
          <a:xfrm>
            <a:off x="442913" y="1047750"/>
            <a:ext cx="11269662" cy="4879975"/>
          </a:xfrm>
        </p:spPr>
        <p:txBody>
          <a:bodyPr/>
          <a:lstStyle/>
          <a:p>
            <a:r>
              <a:rPr lang="zh-CN" altLang="en-US" sz="2000" dirty="0"/>
              <a:t>当用户已下线，而接入设备、</a:t>
            </a:r>
            <a:r>
              <a:rPr lang="en-US" altLang="zh-CN" sz="2000" dirty="0"/>
              <a:t>RADIUS</a:t>
            </a:r>
            <a:r>
              <a:rPr lang="zh-CN" altLang="en-US" sz="2000" dirty="0"/>
              <a:t>服务器和</a:t>
            </a:r>
            <a:r>
              <a:rPr lang="en-US" altLang="zh-CN" sz="2000" dirty="0"/>
              <a:t>Portal</a:t>
            </a:r>
            <a:r>
              <a:rPr lang="zh-CN" altLang="en-US" sz="2000" dirty="0"/>
              <a:t>服务器未感知到该用户已下线时，会产生以下问题：</a:t>
            </a:r>
          </a:p>
          <a:p>
            <a:pPr lvl="1"/>
            <a:r>
              <a:rPr lang="en-US" altLang="zh-CN" sz="1800" dirty="0"/>
              <a:t>RADIUS</a:t>
            </a:r>
            <a:r>
              <a:rPr lang="zh-CN" altLang="en-US" sz="1800" dirty="0"/>
              <a:t>服务器仍会对该用户进行计费，造成误计费。</a:t>
            </a:r>
          </a:p>
          <a:p>
            <a:pPr lvl="1"/>
            <a:r>
              <a:rPr lang="zh-CN" altLang="en-US" sz="1800" dirty="0"/>
              <a:t>存在非法用户仿冒合法用户</a:t>
            </a:r>
            <a:r>
              <a:rPr lang="en-US" altLang="zh-CN" sz="1800" dirty="0"/>
              <a:t>IP</a:t>
            </a:r>
            <a:r>
              <a:rPr lang="zh-CN" altLang="en-US" sz="1800" dirty="0"/>
              <a:t>地址和</a:t>
            </a:r>
            <a:r>
              <a:rPr lang="en-US" altLang="zh-CN" sz="1800" dirty="0"/>
              <a:t>MAC</a:t>
            </a:r>
            <a:r>
              <a:rPr lang="zh-CN" altLang="en-US" sz="1800" dirty="0"/>
              <a:t>地址接入网络的风险。</a:t>
            </a:r>
          </a:p>
          <a:p>
            <a:pPr lvl="1"/>
            <a:r>
              <a:rPr lang="zh-CN" altLang="en-US" sz="1800" dirty="0"/>
              <a:t>已下线用户数量过多的情况下，还会占用设备用户规格，可能会导致其他用户无法接入网络。</a:t>
            </a:r>
          </a:p>
          <a:p>
            <a:r>
              <a:rPr lang="zh-CN" altLang="en-US" sz="2000" dirty="0"/>
              <a:t>因此，接入设备要能够及时感知到用户已下线，删除该用户表项，并通知</a:t>
            </a:r>
            <a:r>
              <a:rPr lang="en-US" altLang="zh-CN" sz="2000" dirty="0"/>
              <a:t>RADIUS</a:t>
            </a:r>
            <a:r>
              <a:rPr lang="zh-CN" altLang="en-US" sz="2000" dirty="0"/>
              <a:t>服务器停止对该用户进行计费。</a:t>
            </a:r>
          </a:p>
          <a:p>
            <a:r>
              <a:rPr lang="zh-CN" altLang="en-US" sz="2000" dirty="0"/>
              <a:t>用户下线方式分为客户端主动下线，接入设备控制用户下线和服务器控制用户下线。</a:t>
            </a:r>
          </a:p>
          <a:p>
            <a:endParaRPr lang="zh-CN" altLang="en-US" sz="2000" dirty="0"/>
          </a:p>
        </p:txBody>
      </p:sp>
      <p:sp>
        <p:nvSpPr>
          <p:cNvPr id="5" name="五边形 4"/>
          <p:cNvSpPr/>
          <p:nvPr/>
        </p:nvSpPr>
        <p:spPr bwMode="auto">
          <a:xfrm>
            <a:off x="998668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用户授权</a:t>
            </a:r>
          </a:p>
        </p:txBody>
      </p:sp>
      <p:sp>
        <p:nvSpPr>
          <p:cNvPr id="6" name="燕尾形 5"/>
          <p:cNvSpPr/>
          <p:nvPr/>
        </p:nvSpPr>
        <p:spPr bwMode="auto">
          <a:xfrm>
            <a:off x="10808345"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用户下线</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9783399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网络准入控制概述</a:t>
            </a:r>
          </a:p>
          <a:p>
            <a:r>
              <a:rPr lang="zh-CN" altLang="en-US" dirty="0">
                <a:solidFill>
                  <a:schemeClr val="bg1">
                    <a:lumMod val="50000"/>
                  </a:schemeClr>
                </a:solidFill>
              </a:rPr>
              <a:t>用户认证技术</a:t>
            </a:r>
            <a:endParaRPr lang="en-US" altLang="zh-CN" dirty="0">
              <a:solidFill>
                <a:schemeClr val="bg1">
                  <a:lumMod val="50000"/>
                </a:schemeClr>
              </a:solidFill>
            </a:endParaRPr>
          </a:p>
          <a:p>
            <a:r>
              <a:rPr lang="zh-CN" altLang="en-US" dirty="0">
                <a:solidFill>
                  <a:schemeClr val="bg1">
                    <a:lumMod val="50000"/>
                  </a:schemeClr>
                </a:solidFill>
              </a:rPr>
              <a:t>用户授权与下线</a:t>
            </a:r>
          </a:p>
          <a:p>
            <a:r>
              <a:rPr lang="en-US" altLang="zh-CN" b="1" dirty="0"/>
              <a:t>NAC</a:t>
            </a:r>
            <a:r>
              <a:rPr lang="zh-CN" altLang="en-US" b="1" dirty="0"/>
              <a:t>配置实现</a:t>
            </a:r>
          </a:p>
          <a:p>
            <a:r>
              <a:rPr lang="zh-CN" altLang="en-US" dirty="0">
                <a:solidFill>
                  <a:schemeClr val="bg1">
                    <a:lumMod val="50000"/>
                  </a:schemeClr>
                </a:solidFill>
              </a:rPr>
              <a:t>策略联动</a:t>
            </a:r>
          </a:p>
        </p:txBody>
      </p:sp>
    </p:spTree>
    <p:extLst>
      <p:ext uri="{BB962C8B-B14F-4D97-AF65-F5344CB8AC3E}">
        <p14:creationId xmlns:p14="http://schemas.microsoft.com/office/powerpoint/2010/main" val="200095940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latin typeface="Huawei Sans" panose="020C0503030203020204" pitchFamily="34" charset="0"/>
                <a:ea typeface="方正兰亭黑简体" panose="02000000000000000000" pitchFamily="2" charset="-122"/>
              </a:rPr>
              <a:t>用户接入认证配置思路</a:t>
            </a:r>
            <a:endParaRPr lang="zh-CN" altLang="en-US" dirty="0"/>
          </a:p>
        </p:txBody>
      </p:sp>
      <p:sp>
        <p:nvSpPr>
          <p:cNvPr id="22" name="Right Arrow 157"/>
          <p:cNvSpPr/>
          <p:nvPr/>
        </p:nvSpPr>
        <p:spPr bwMode="gray">
          <a:xfrm>
            <a:off x="4857233" y="2220255"/>
            <a:ext cx="1217478" cy="356242"/>
          </a:xfrm>
          <a:prstGeom prst="rightArrow">
            <a:avLst>
              <a:gd name="adj1" fmla="val 40000"/>
              <a:gd name="adj2" fmla="val 50000"/>
            </a:avLst>
          </a:prstGeom>
          <a:gradFill flip="none" rotWithShape="1">
            <a:gsLst>
              <a:gs pos="0">
                <a:schemeClr val="accent1">
                  <a:lumMod val="5000"/>
                  <a:lumOff val="95000"/>
                  <a:alpha val="0"/>
                </a:schemeClr>
              </a:gs>
              <a:gs pos="50000">
                <a:srgbClr val="F5FCFD"/>
              </a:gs>
            </a:gsLst>
            <a:lin ang="0" scaled="1"/>
            <a:tileRect/>
          </a:gradFill>
          <a:ln w="15875">
            <a:gradFill flip="none" rotWithShape="1">
              <a:gsLst>
                <a:gs pos="11000">
                  <a:schemeClr val="accent1">
                    <a:lumMod val="0"/>
                    <a:lumOff val="100000"/>
                    <a:alpha val="0"/>
                  </a:schemeClr>
                </a:gs>
                <a:gs pos="67000">
                  <a:srgbClr val="BEE9EE"/>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742354" y="1693929"/>
            <a:ext cx="1457173" cy="584775"/>
          </a:xfrm>
          <a:prstGeom prst="rect">
            <a:avLst/>
          </a:prstGeom>
          <a:noFill/>
        </p:spPr>
        <p:txBody>
          <a:bodyPr wrap="square" rtlCol="0">
            <a:spAutoFit/>
          </a:bodyPr>
          <a:lstStyle/>
          <a:p>
            <a:pPr algn="ctr"/>
            <a:r>
              <a:rPr lang="zh-CN" altLang="en-US" sz="1600" dirty="0"/>
              <a:t>绑定接入模板</a:t>
            </a:r>
            <a:endParaRPr lang="en-US" altLang="zh-CN" sz="1600" dirty="0"/>
          </a:p>
          <a:p>
            <a:pPr algn="ctr"/>
            <a:r>
              <a:rPr lang="zh-CN" altLang="en-US" sz="1600" dirty="0"/>
              <a:t>到认证模板</a:t>
            </a:r>
          </a:p>
        </p:txBody>
      </p:sp>
      <p:grpSp>
        <p:nvGrpSpPr>
          <p:cNvPr id="6" name="组合 5"/>
          <p:cNvGrpSpPr/>
          <p:nvPr/>
        </p:nvGrpSpPr>
        <p:grpSpPr bwMode="gray">
          <a:xfrm>
            <a:off x="9116385" y="3630741"/>
            <a:ext cx="2346177" cy="1038455"/>
            <a:chOff x="9116385" y="3630741"/>
            <a:chExt cx="2346177" cy="1038455"/>
          </a:xfrm>
        </p:grpSpPr>
        <p:sp>
          <p:nvSpPr>
            <p:cNvPr id="40" name="圆角矩形 39"/>
            <p:cNvSpPr/>
            <p:nvPr/>
          </p:nvSpPr>
          <p:spPr bwMode="gray">
            <a:xfrm>
              <a:off x="9116385" y="3630741"/>
              <a:ext cx="2346177" cy="972221"/>
            </a:xfrm>
            <a:prstGeom prst="roundRect">
              <a:avLst>
                <a:gd name="adj" fmla="val 10789"/>
              </a:avLst>
            </a:prstGeom>
            <a:solidFill>
              <a:srgbClr val="F5FCFD"/>
            </a:solidFill>
            <a:ln w="12700" cap="flat" cmpd="sng" algn="ctr">
              <a:solidFill>
                <a:srgbClr val="BEE9EE"/>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接口或</a:t>
              </a:r>
              <a:r>
                <a:rPr lang="en-US" altLang="zh-CN" sz="1600" kern="0" dirty="0">
                  <a:latin typeface="Huawei Sans" panose="020C0503030203020204" pitchFamily="34" charset="0"/>
                  <a:ea typeface="方正兰亭黑简体" panose="02000000000000000000" pitchFamily="2" charset="-122"/>
                  <a:sym typeface="Huawei Sans" panose="020C0503030203020204" pitchFamily="34" charset="0"/>
                </a:rPr>
                <a:t>VAP</a:t>
              </a: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模板</a:t>
              </a:r>
            </a:p>
          </p:txBody>
        </p:sp>
        <p:sp>
          <p:nvSpPr>
            <p:cNvPr id="43" name="圆角矩形 42"/>
            <p:cNvSpPr/>
            <p:nvPr/>
          </p:nvSpPr>
          <p:spPr bwMode="gray">
            <a:xfrm>
              <a:off x="9299036" y="3988387"/>
              <a:ext cx="1980875" cy="362706"/>
            </a:xfrm>
            <a:prstGeom prst="roundRect">
              <a:avLst>
                <a:gd name="adj" fmla="val 15000"/>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认证模板</a:t>
              </a:r>
            </a:p>
          </p:txBody>
        </p:sp>
        <p:sp>
          <p:nvSpPr>
            <p:cNvPr id="44" name="文本框 43"/>
            <p:cNvSpPr txBox="1"/>
            <p:nvPr/>
          </p:nvSpPr>
          <p:spPr bwMode="gray">
            <a:xfrm>
              <a:off x="10072907" y="4145976"/>
              <a:ext cx="433132" cy="523220"/>
            </a:xfrm>
            <a:prstGeom prst="rect">
              <a:avLst/>
            </a:prstGeom>
            <a:noFill/>
          </p:spPr>
          <p:txBody>
            <a:bodyPr wrap="none" rtlCol="0">
              <a:spAutoFit/>
            </a:bodyPr>
            <a:lstStyle/>
            <a:p>
              <a:r>
                <a:rPr lang="en-US" altLang="zh-CN" sz="2800" dirty="0">
                  <a:latin typeface="Huawei Sans" panose="020C0503030203020204" pitchFamily="34" charset="0"/>
                  <a:ea typeface="方正兰亭黑简体" panose="02000000000000000000" pitchFamily="2" charset="-122"/>
                </a:rPr>
                <a:t>…</a:t>
              </a:r>
              <a:endParaRPr lang="zh-CN" altLang="en-US" sz="2800" dirty="0">
                <a:latin typeface="Huawei Sans" panose="020C0503030203020204" pitchFamily="34" charset="0"/>
                <a:ea typeface="方正兰亭黑简体" panose="02000000000000000000" pitchFamily="2" charset="-122"/>
              </a:endParaRPr>
            </a:p>
          </p:txBody>
        </p:sp>
      </p:grpSp>
      <p:grpSp>
        <p:nvGrpSpPr>
          <p:cNvPr id="3" name="组合 2"/>
          <p:cNvGrpSpPr/>
          <p:nvPr/>
        </p:nvGrpSpPr>
        <p:grpSpPr bwMode="gray">
          <a:xfrm>
            <a:off x="768403" y="1144206"/>
            <a:ext cx="4036815" cy="2344003"/>
            <a:chOff x="768403" y="1144206"/>
            <a:chExt cx="4036815" cy="2344003"/>
          </a:xfrm>
        </p:grpSpPr>
        <p:sp>
          <p:nvSpPr>
            <p:cNvPr id="4" name="圆角矩形 3"/>
            <p:cNvSpPr>
              <a:spLocks/>
            </p:cNvSpPr>
            <p:nvPr/>
          </p:nvSpPr>
          <p:spPr bwMode="gray">
            <a:xfrm>
              <a:off x="768403" y="1144206"/>
              <a:ext cx="4036815" cy="2344003"/>
            </a:xfrm>
            <a:prstGeom prst="roundRect">
              <a:avLst>
                <a:gd name="adj" fmla="val 7008"/>
              </a:avLst>
            </a:prstGeom>
            <a:solidFill>
              <a:srgbClr val="F5FCFD"/>
            </a:solidFill>
            <a:ln w="12700" cap="flat" cmpd="sng" algn="ctr">
              <a:solidFill>
                <a:srgbClr val="BEE9EE"/>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2078924" y="1206239"/>
              <a:ext cx="1415772" cy="338554"/>
            </a:xfrm>
            <a:prstGeom prst="rect">
              <a:avLst/>
            </a:prstGeom>
            <a:noFill/>
          </p:spPr>
          <p:txBody>
            <a:bodyPr wrap="none" rtlCol="0">
              <a:spAutoFit/>
            </a:bodyPr>
            <a:lstStyle/>
            <a:p>
              <a:r>
                <a:rPr lang="zh-CN" altLang="en-US" sz="1600" dirty="0">
                  <a:solidFill>
                    <a:srgbClr val="30B5C5"/>
                  </a:solidFill>
                </a:rPr>
                <a:t>配置接入模板</a:t>
              </a:r>
            </a:p>
          </p:txBody>
        </p:sp>
        <p:sp>
          <p:nvSpPr>
            <p:cNvPr id="9" name="圆角矩形 8"/>
            <p:cNvSpPr>
              <a:spLocks/>
            </p:cNvSpPr>
            <p:nvPr/>
          </p:nvSpPr>
          <p:spPr bwMode="gray">
            <a:xfrm>
              <a:off x="1036056" y="1623611"/>
              <a:ext cx="350150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kern="0" dirty="0">
                  <a:solidFill>
                    <a:srgbClr val="1D1D1A"/>
                  </a:solidFill>
                  <a:latin typeface="Huawei Sans" panose="020C0503030203020204" pitchFamily="34" charset="0"/>
                  <a:ea typeface="方正兰亭黑简体" panose="02000000000000000000" pitchFamily="2" charset="-122"/>
                </a:rPr>
                <a:t>802.1X</a:t>
              </a:r>
              <a:r>
                <a:rPr lang="zh-CN" altLang="en-US" sz="1400" kern="0" dirty="0">
                  <a:solidFill>
                    <a:srgbClr val="1D1D1A"/>
                  </a:solidFill>
                  <a:latin typeface="Huawei Sans" panose="020C0503030203020204" pitchFamily="34" charset="0"/>
                  <a:ea typeface="方正兰亭黑简体" panose="02000000000000000000" pitchFamily="2" charset="-122"/>
                </a:rPr>
                <a:t>接入模板（</a:t>
              </a:r>
              <a:r>
                <a:rPr lang="en-US" altLang="zh-CN" sz="1400" kern="0" dirty="0">
                  <a:solidFill>
                    <a:srgbClr val="1D1D1A"/>
                  </a:solidFill>
                  <a:latin typeface="Huawei Sans" panose="020C0503030203020204" pitchFamily="34" charset="0"/>
                  <a:ea typeface="方正兰亭黑简体" panose="02000000000000000000" pitchFamily="2" charset="-122"/>
                </a:rPr>
                <a:t>dot1x-access-profile</a:t>
              </a:r>
              <a:r>
                <a:rPr lang="zh-CN" altLang="en-US" sz="1400" kern="0" dirty="0">
                  <a:solidFill>
                    <a:srgbClr val="1D1D1A"/>
                  </a:solidFill>
                  <a:latin typeface="Huawei Sans" panose="020C0503030203020204" pitchFamily="34" charset="0"/>
                  <a:ea typeface="方正兰亭黑简体" panose="02000000000000000000" pitchFamily="2" charset="-122"/>
                </a:rPr>
                <a:t>）</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10" name="圆角矩形 9"/>
            <p:cNvSpPr>
              <a:spLocks/>
            </p:cNvSpPr>
            <p:nvPr/>
          </p:nvSpPr>
          <p:spPr bwMode="gray">
            <a:xfrm>
              <a:off x="1036056" y="2230030"/>
              <a:ext cx="350150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kern="0" dirty="0">
                  <a:solidFill>
                    <a:srgbClr val="1D1D1A"/>
                  </a:solidFill>
                  <a:latin typeface="Huawei Sans" panose="020C0503030203020204" pitchFamily="34" charset="0"/>
                  <a:ea typeface="方正兰亭黑简体" panose="02000000000000000000" pitchFamily="2" charset="-122"/>
                </a:rPr>
                <a:t>MAC</a:t>
              </a:r>
              <a:r>
                <a:rPr lang="zh-CN" altLang="en-US" sz="1400" kern="0" dirty="0">
                  <a:solidFill>
                    <a:srgbClr val="1D1D1A"/>
                  </a:solidFill>
                  <a:latin typeface="Huawei Sans" panose="020C0503030203020204" pitchFamily="34" charset="0"/>
                  <a:ea typeface="方正兰亭黑简体" panose="02000000000000000000" pitchFamily="2" charset="-122"/>
                </a:rPr>
                <a:t>接入模板（</a:t>
              </a:r>
              <a:r>
                <a:rPr lang="en-US" altLang="zh-CN" sz="1400" kern="0" dirty="0">
                  <a:solidFill>
                    <a:srgbClr val="1D1D1A"/>
                  </a:solidFill>
                  <a:latin typeface="Huawei Sans" panose="020C0503030203020204" pitchFamily="34" charset="0"/>
                  <a:ea typeface="方正兰亭黑简体" panose="02000000000000000000" pitchFamily="2" charset="-122"/>
                </a:rPr>
                <a:t>mac-access-profile</a:t>
              </a:r>
              <a:r>
                <a:rPr lang="zh-CN" altLang="en-US" sz="1400" kern="0" dirty="0">
                  <a:solidFill>
                    <a:srgbClr val="1D1D1A"/>
                  </a:solidFill>
                  <a:latin typeface="Huawei Sans" panose="020C0503030203020204" pitchFamily="34" charset="0"/>
                  <a:ea typeface="方正兰亭黑简体" panose="02000000000000000000" pitchFamily="2" charset="-122"/>
                </a:rPr>
                <a:t>）</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11" name="圆角矩形 10"/>
            <p:cNvSpPr>
              <a:spLocks/>
            </p:cNvSpPr>
            <p:nvPr/>
          </p:nvSpPr>
          <p:spPr bwMode="gray">
            <a:xfrm>
              <a:off x="1036056" y="2836449"/>
              <a:ext cx="350150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kern="0">
                  <a:solidFill>
                    <a:srgbClr val="1D1D1A"/>
                  </a:solidFill>
                  <a:latin typeface="Huawei Sans" panose="020C0503030203020204" pitchFamily="34" charset="0"/>
                  <a:ea typeface="方正兰亭黑简体" panose="02000000000000000000" pitchFamily="2" charset="-122"/>
                </a:rPr>
                <a:t>Portal</a:t>
              </a:r>
              <a:r>
                <a:rPr lang="zh-CN" altLang="en-US" sz="1400" kern="0">
                  <a:solidFill>
                    <a:srgbClr val="1D1D1A"/>
                  </a:solidFill>
                  <a:latin typeface="Huawei Sans" panose="020C0503030203020204" pitchFamily="34" charset="0"/>
                  <a:ea typeface="方正兰亭黑简体" panose="02000000000000000000" pitchFamily="2" charset="-122"/>
                </a:rPr>
                <a:t>接入模板（</a:t>
              </a:r>
              <a:r>
                <a:rPr lang="en-US" altLang="zh-CN" sz="1400" kern="0">
                  <a:solidFill>
                    <a:srgbClr val="1D1D1A"/>
                  </a:solidFill>
                  <a:latin typeface="Huawei Sans" panose="020C0503030203020204" pitchFamily="34" charset="0"/>
                  <a:ea typeface="方正兰亭黑简体" panose="02000000000000000000" pitchFamily="2" charset="-122"/>
                </a:rPr>
                <a:t>portal-access-profile</a:t>
              </a:r>
              <a:r>
                <a:rPr lang="zh-CN" altLang="en-US" sz="1400" kern="0">
                  <a:solidFill>
                    <a:srgbClr val="1D1D1A"/>
                  </a:solidFill>
                  <a:latin typeface="Huawei Sans" panose="020C0503030203020204" pitchFamily="34" charset="0"/>
                  <a:ea typeface="方正兰亭黑简体" panose="02000000000000000000" pitchFamily="2" charset="-122"/>
                </a:rPr>
                <a:t>）</a:t>
              </a:r>
              <a:endParaRPr lang="en-US" altLang="zh-CN" sz="1400" kern="0">
                <a:solidFill>
                  <a:srgbClr val="1D1D1A"/>
                </a:solidFill>
                <a:latin typeface="Huawei Sans" panose="020C0503030203020204" pitchFamily="34" charset="0"/>
                <a:ea typeface="方正兰亭黑简体" panose="02000000000000000000" pitchFamily="2" charset="-122"/>
              </a:endParaRPr>
            </a:p>
          </p:txBody>
        </p:sp>
        <p:sp>
          <p:nvSpPr>
            <p:cNvPr id="34" name="Oval 4"/>
            <p:cNvSpPr>
              <a:spLocks noChangeAspect="1"/>
            </p:cNvSpPr>
            <p:nvPr/>
          </p:nvSpPr>
          <p:spPr bwMode="gray">
            <a:xfrm>
              <a:off x="1826924" y="1242162"/>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a:ea typeface="方正兰亭黑简体"/>
                  <a:cs typeface="+mn-cs"/>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a:ea typeface="方正兰亭黑简体"/>
                <a:cs typeface="+mn-cs"/>
                <a:sym typeface="Huawei Sans" panose="020C0503030203020204" pitchFamily="34" charset="0"/>
              </a:endParaRPr>
            </a:p>
          </p:txBody>
        </p:sp>
      </p:grpSp>
      <p:grpSp>
        <p:nvGrpSpPr>
          <p:cNvPr id="5" name="组合 4"/>
          <p:cNvGrpSpPr/>
          <p:nvPr/>
        </p:nvGrpSpPr>
        <p:grpSpPr bwMode="gray">
          <a:xfrm>
            <a:off x="6115271" y="1412957"/>
            <a:ext cx="2933742" cy="1783248"/>
            <a:chOff x="6115271" y="1412957"/>
            <a:chExt cx="2933742" cy="1783248"/>
          </a:xfrm>
        </p:grpSpPr>
        <p:sp>
          <p:nvSpPr>
            <p:cNvPr id="26" name="圆角矩形 25"/>
            <p:cNvSpPr/>
            <p:nvPr/>
          </p:nvSpPr>
          <p:spPr bwMode="gray">
            <a:xfrm>
              <a:off x="6115271" y="1412957"/>
              <a:ext cx="2933742" cy="1783248"/>
            </a:xfrm>
            <a:prstGeom prst="roundRect">
              <a:avLst>
                <a:gd name="adj" fmla="val 11173"/>
              </a:avLst>
            </a:prstGeom>
            <a:solidFill>
              <a:srgbClr val="F5FCFD"/>
            </a:solidFill>
            <a:ln w="12700" cap="flat" cmpd="sng" algn="ctr">
              <a:solidFill>
                <a:srgbClr val="BEE9EE"/>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配置认证模板</a:t>
              </a:r>
            </a:p>
          </p:txBody>
        </p:sp>
        <p:sp>
          <p:nvSpPr>
            <p:cNvPr id="27" name="圆角矩形 26"/>
            <p:cNvSpPr>
              <a:spLocks/>
            </p:cNvSpPr>
            <p:nvPr/>
          </p:nvSpPr>
          <p:spPr bwMode="gray">
            <a:xfrm>
              <a:off x="6404316" y="1864374"/>
              <a:ext cx="234461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rPr>
                <a:t>认证方式（包括接入模板）</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28" name="圆角矩形 27"/>
            <p:cNvSpPr>
              <a:spLocks/>
            </p:cNvSpPr>
            <p:nvPr/>
          </p:nvSpPr>
          <p:spPr bwMode="gray">
            <a:xfrm>
              <a:off x="6404316" y="2379480"/>
              <a:ext cx="234461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rPr>
                <a:t>用户授权</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29" name="文本框 28"/>
            <p:cNvSpPr txBox="1"/>
            <p:nvPr/>
          </p:nvSpPr>
          <p:spPr bwMode="gray">
            <a:xfrm>
              <a:off x="7360059" y="2672985"/>
              <a:ext cx="433132" cy="523220"/>
            </a:xfrm>
            <a:prstGeom prst="rect">
              <a:avLst/>
            </a:prstGeom>
            <a:noFill/>
          </p:spPr>
          <p:txBody>
            <a:bodyPr wrap="none" rtlCol="0">
              <a:spAutoFit/>
            </a:bodyPr>
            <a:lstStyle/>
            <a:p>
              <a:r>
                <a:rPr lang="en-US" altLang="zh-CN" sz="2800" dirty="0">
                  <a:latin typeface="Huawei Sans" panose="020C0503030203020204" pitchFamily="34" charset="0"/>
                  <a:ea typeface="方正兰亭黑简体" panose="02000000000000000000" pitchFamily="2" charset="-122"/>
                </a:rPr>
                <a:t>…</a:t>
              </a:r>
              <a:endParaRPr lang="zh-CN" altLang="en-US" sz="2800" dirty="0">
                <a:latin typeface="Huawei Sans" panose="020C0503030203020204" pitchFamily="34" charset="0"/>
                <a:ea typeface="方正兰亭黑简体" panose="02000000000000000000" pitchFamily="2" charset="-122"/>
              </a:endParaRPr>
            </a:p>
          </p:txBody>
        </p:sp>
        <p:sp>
          <p:nvSpPr>
            <p:cNvPr id="35" name="Oval 4"/>
            <p:cNvSpPr>
              <a:spLocks noChangeAspect="1"/>
            </p:cNvSpPr>
            <p:nvPr/>
          </p:nvSpPr>
          <p:spPr bwMode="gray">
            <a:xfrm>
              <a:off x="6669307" y="1506584"/>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a:ea typeface="方正兰亭黑简体"/>
                  <a:cs typeface="+mn-cs"/>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a:ea typeface="方正兰亭黑简体"/>
                <a:cs typeface="+mn-cs"/>
                <a:sym typeface="Huawei Sans" panose="020C0503030203020204" pitchFamily="34" charset="0"/>
              </a:endParaRPr>
            </a:p>
          </p:txBody>
        </p:sp>
      </p:grpSp>
      <p:grpSp>
        <p:nvGrpSpPr>
          <p:cNvPr id="7" name="组合 6"/>
          <p:cNvGrpSpPr/>
          <p:nvPr/>
        </p:nvGrpSpPr>
        <p:grpSpPr bwMode="gray">
          <a:xfrm>
            <a:off x="9156877" y="2361338"/>
            <a:ext cx="1935777" cy="950220"/>
            <a:chOff x="9156877" y="2361338"/>
            <a:chExt cx="1935777" cy="950220"/>
          </a:xfrm>
        </p:grpSpPr>
        <p:sp>
          <p:nvSpPr>
            <p:cNvPr id="39" name="Freeform 9"/>
            <p:cNvSpPr>
              <a:spLocks/>
            </p:cNvSpPr>
            <p:nvPr/>
          </p:nvSpPr>
          <p:spPr bwMode="gray">
            <a:xfrm rot="1074581" flipV="1">
              <a:off x="9156877" y="2361338"/>
              <a:ext cx="1578279" cy="950220"/>
            </a:xfrm>
            <a:custGeom>
              <a:avLst/>
              <a:gdLst>
                <a:gd name="T0" fmla="*/ 30278 w 32079"/>
                <a:gd name="T1" fmla="*/ 4424 h 15622"/>
                <a:gd name="T2" fmla="*/ 2783 w 32079"/>
                <a:gd name="T3" fmla="*/ 15622 h 15622"/>
                <a:gd name="T4" fmla="*/ 0 w 32079"/>
                <a:gd name="T5" fmla="*/ 15523 h 15622"/>
                <a:gd name="T6" fmla="*/ 26897 w 32079"/>
                <a:gd name="T7" fmla="*/ 2112 h 15622"/>
                <a:gd name="T8" fmla="*/ 25060 w 32079"/>
                <a:gd name="T9" fmla="*/ 856 h 15622"/>
                <a:gd name="T10" fmla="*/ 27928 w 32079"/>
                <a:gd name="T11" fmla="*/ 428 h 15622"/>
                <a:gd name="T12" fmla="*/ 30796 w 32079"/>
                <a:gd name="T13" fmla="*/ 0 h 15622"/>
                <a:gd name="T14" fmla="*/ 31438 w 32079"/>
                <a:gd name="T15" fmla="*/ 2828 h 15622"/>
                <a:gd name="T16" fmla="*/ 32079 w 32079"/>
                <a:gd name="T17" fmla="*/ 5656 h 15622"/>
                <a:gd name="T18" fmla="*/ 30278 w 32079"/>
                <a:gd name="T19" fmla="*/ 4424 h 15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079" h="15622">
                  <a:moveTo>
                    <a:pt x="30278" y="4424"/>
                  </a:moveTo>
                  <a:cubicBezTo>
                    <a:pt x="23182" y="11352"/>
                    <a:pt x="13481" y="15622"/>
                    <a:pt x="2783" y="15622"/>
                  </a:cubicBezTo>
                  <a:cubicBezTo>
                    <a:pt x="1847" y="15622"/>
                    <a:pt x="920" y="15587"/>
                    <a:pt x="0" y="15523"/>
                  </a:cubicBezTo>
                  <a:cubicBezTo>
                    <a:pt x="10716" y="14774"/>
                    <a:pt x="20250" y="9734"/>
                    <a:pt x="26897" y="2112"/>
                  </a:cubicBezTo>
                  <a:lnTo>
                    <a:pt x="25060" y="856"/>
                  </a:lnTo>
                  <a:lnTo>
                    <a:pt x="27928" y="428"/>
                  </a:lnTo>
                  <a:lnTo>
                    <a:pt x="30796" y="0"/>
                  </a:lnTo>
                  <a:lnTo>
                    <a:pt x="31438" y="2828"/>
                  </a:lnTo>
                  <a:lnTo>
                    <a:pt x="32079" y="5656"/>
                  </a:lnTo>
                  <a:lnTo>
                    <a:pt x="30278" y="4424"/>
                  </a:lnTo>
                  <a:close/>
                </a:path>
              </a:pathLst>
            </a:custGeom>
            <a:gradFill flip="none" rotWithShape="1">
              <a:gsLst>
                <a:gs pos="0">
                  <a:schemeClr val="accent1">
                    <a:lumMod val="5000"/>
                    <a:lumOff val="95000"/>
                    <a:alpha val="0"/>
                  </a:schemeClr>
                </a:gs>
                <a:gs pos="50000">
                  <a:srgbClr val="F5FCFD"/>
                </a:gs>
              </a:gsLst>
              <a:lin ang="0" scaled="1"/>
              <a:tileRect/>
            </a:gradFill>
            <a:ln w="15875">
              <a:gradFill flip="none" rotWithShape="1">
                <a:gsLst>
                  <a:gs pos="11000">
                    <a:schemeClr val="accent1">
                      <a:lumMod val="0"/>
                      <a:lumOff val="100000"/>
                      <a:alpha val="0"/>
                    </a:schemeClr>
                  </a:gs>
                  <a:gs pos="67000">
                    <a:srgbClr val="BEE9EE"/>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9670470" y="2588608"/>
              <a:ext cx="1422184" cy="584775"/>
            </a:xfrm>
            <a:prstGeom prst="rect">
              <a:avLst/>
            </a:prstGeom>
            <a:solidFill>
              <a:schemeClr val="bg1"/>
            </a:solidFill>
          </p:spPr>
          <p:txBody>
            <a:bodyPr wrap="none" rtlCol="0">
              <a:spAutoFit/>
            </a:bodyPr>
            <a:lstStyle/>
            <a:p>
              <a:pPr algn="ctr"/>
              <a:r>
                <a:rPr lang="zh-CN" altLang="en-US" sz="1600" dirty="0">
                  <a:solidFill>
                    <a:srgbClr val="30B5C5"/>
                  </a:solidFill>
                </a:rPr>
                <a:t>应用到</a:t>
              </a:r>
              <a:r>
                <a:rPr lang="zh-CN" altLang="en-US" sz="1600" dirty="0" smtClean="0">
                  <a:solidFill>
                    <a:srgbClr val="30B5C5"/>
                  </a:solidFill>
                </a:rPr>
                <a:t>接口</a:t>
              </a:r>
              <a:endParaRPr lang="en-US" altLang="zh-CN" sz="1600" dirty="0">
                <a:solidFill>
                  <a:srgbClr val="30B5C5"/>
                </a:solidFill>
              </a:endParaRPr>
            </a:p>
            <a:p>
              <a:pPr algn="ctr"/>
              <a:r>
                <a:rPr lang="zh-CN" altLang="en-US" sz="1600" dirty="0">
                  <a:solidFill>
                    <a:srgbClr val="30B5C5"/>
                  </a:solidFill>
                </a:rPr>
                <a:t>开启</a:t>
              </a:r>
              <a:r>
                <a:rPr lang="en-US" altLang="zh-CN" sz="1600" dirty="0">
                  <a:solidFill>
                    <a:srgbClr val="30B5C5"/>
                  </a:solidFill>
                </a:rPr>
                <a:t>NAC</a:t>
              </a:r>
              <a:r>
                <a:rPr lang="zh-CN" altLang="en-US" sz="1600" dirty="0">
                  <a:solidFill>
                    <a:srgbClr val="30B5C5"/>
                  </a:solidFill>
                </a:rPr>
                <a:t>功能</a:t>
              </a:r>
            </a:p>
          </p:txBody>
        </p:sp>
        <p:sp>
          <p:nvSpPr>
            <p:cNvPr id="45" name="Oval 4"/>
            <p:cNvSpPr>
              <a:spLocks noChangeAspect="1"/>
            </p:cNvSpPr>
            <p:nvPr/>
          </p:nvSpPr>
          <p:spPr bwMode="gray">
            <a:xfrm>
              <a:off x="9475282" y="2628995"/>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a:ea typeface="方正兰亭黑简体"/>
                  <a:cs typeface="+mn-cs"/>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a:ea typeface="方正兰亭黑简体"/>
                <a:cs typeface="+mn-cs"/>
                <a:sym typeface="Huawei Sans" panose="020C0503030203020204" pitchFamily="34" charset="0"/>
              </a:endParaRPr>
            </a:p>
          </p:txBody>
        </p:sp>
      </p:grpSp>
      <p:grpSp>
        <p:nvGrpSpPr>
          <p:cNvPr id="13" name="组合 12"/>
          <p:cNvGrpSpPr/>
          <p:nvPr/>
        </p:nvGrpSpPr>
        <p:grpSpPr bwMode="gray">
          <a:xfrm>
            <a:off x="1000297" y="3706065"/>
            <a:ext cx="4036815" cy="2344003"/>
            <a:chOff x="1000297" y="3706065"/>
            <a:chExt cx="4036815" cy="2344003"/>
          </a:xfrm>
        </p:grpSpPr>
        <p:sp>
          <p:nvSpPr>
            <p:cNvPr id="57" name="圆角矩形 56"/>
            <p:cNvSpPr>
              <a:spLocks/>
            </p:cNvSpPr>
            <p:nvPr/>
          </p:nvSpPr>
          <p:spPr bwMode="gray">
            <a:xfrm>
              <a:off x="1000297" y="3706065"/>
              <a:ext cx="4036815" cy="2344003"/>
            </a:xfrm>
            <a:prstGeom prst="roundRect">
              <a:avLst>
                <a:gd name="adj" fmla="val 7590"/>
              </a:avLst>
            </a:prstGeom>
            <a:noFill/>
            <a:ln w="12700" cap="flat" cmpd="sng" algn="ctr">
              <a:solidFill>
                <a:sysClr val="window" lastClr="FFFFFF">
                  <a:lumMod val="75000"/>
                </a:sys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defRPr/>
              </a:pPr>
              <a:endParaRPr lang="en-US" altLang="zh-CN" sz="8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2540097" y="3709167"/>
              <a:ext cx="998991" cy="338554"/>
            </a:xfrm>
            <a:prstGeom prst="rect">
              <a:avLst/>
            </a:prstGeom>
            <a:noFill/>
          </p:spPr>
          <p:txBody>
            <a:bodyPr wrap="none" rtlCol="0">
              <a:spAutoFit/>
            </a:bodyPr>
            <a:lstStyle/>
            <a:p>
              <a:r>
                <a:rPr lang="en-US" altLang="zh-CN" sz="1600" dirty="0"/>
                <a:t>AAA</a:t>
              </a:r>
              <a:r>
                <a:rPr lang="zh-CN" altLang="en-US" sz="1600" dirty="0"/>
                <a:t>配置</a:t>
              </a:r>
            </a:p>
          </p:txBody>
        </p:sp>
        <p:sp>
          <p:nvSpPr>
            <p:cNvPr id="59" name="圆角矩形 58"/>
            <p:cNvSpPr>
              <a:spLocks/>
            </p:cNvSpPr>
            <p:nvPr/>
          </p:nvSpPr>
          <p:spPr bwMode="gray">
            <a:xfrm>
              <a:off x="1188058" y="4147734"/>
              <a:ext cx="2351030" cy="1675690"/>
            </a:xfrm>
            <a:prstGeom prst="roundRect">
              <a:avLst/>
            </a:prstGeom>
            <a:solidFill>
              <a:schemeClr val="bg1">
                <a:lumMod val="95000"/>
              </a:schemeClr>
            </a:solidFill>
            <a:ln w="12700" cap="flat" cmpd="sng" algn="ctr">
              <a:solidFill>
                <a:schemeClr val="bg1">
                  <a:lumMod val="75000"/>
                </a:schemeClr>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altLang="zh-CN" sz="1400" kern="0" dirty="0">
                  <a:solidFill>
                    <a:srgbClr val="1D1D1A"/>
                  </a:solidFill>
                  <a:latin typeface="Huawei Sans" panose="020C0503030203020204" pitchFamily="34" charset="0"/>
                  <a:ea typeface="方正兰亭黑简体" panose="02000000000000000000" pitchFamily="2" charset="-122"/>
                </a:rPr>
                <a:t>AAA</a:t>
              </a:r>
              <a:r>
                <a:rPr lang="zh-CN" altLang="en-US" sz="1400" kern="0" dirty="0">
                  <a:solidFill>
                    <a:srgbClr val="1D1D1A"/>
                  </a:solidFill>
                  <a:latin typeface="Huawei Sans" panose="020C0503030203020204" pitchFamily="34" charset="0"/>
                  <a:ea typeface="方正兰亭黑简体" panose="02000000000000000000" pitchFamily="2" charset="-122"/>
                </a:rPr>
                <a:t>方案</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60" name="圆角矩形 59"/>
            <p:cNvSpPr/>
            <p:nvPr/>
          </p:nvSpPr>
          <p:spPr bwMode="gray">
            <a:xfrm>
              <a:off x="1401250" y="4510965"/>
              <a:ext cx="1879108" cy="360000"/>
            </a:xfrm>
            <a:prstGeom prst="roundRect">
              <a:avLst>
                <a:gd name="adj" fmla="val 15000"/>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认证方案</a:t>
              </a:r>
            </a:p>
          </p:txBody>
        </p:sp>
        <p:sp>
          <p:nvSpPr>
            <p:cNvPr id="61" name="圆角矩形 60"/>
            <p:cNvSpPr/>
            <p:nvPr/>
          </p:nvSpPr>
          <p:spPr bwMode="gray">
            <a:xfrm>
              <a:off x="1401250" y="4943236"/>
              <a:ext cx="1879108" cy="360000"/>
            </a:xfrm>
            <a:prstGeom prst="roundRect">
              <a:avLst>
                <a:gd name="adj" fmla="val 15000"/>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授权方案</a:t>
              </a:r>
            </a:p>
          </p:txBody>
        </p:sp>
        <p:sp>
          <p:nvSpPr>
            <p:cNvPr id="62" name="圆角矩形 61"/>
            <p:cNvSpPr/>
            <p:nvPr/>
          </p:nvSpPr>
          <p:spPr bwMode="gray">
            <a:xfrm>
              <a:off x="1401250" y="5375508"/>
              <a:ext cx="1879108" cy="360000"/>
            </a:xfrm>
            <a:prstGeom prst="roundRect">
              <a:avLst>
                <a:gd name="adj" fmla="val 15000"/>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计费方案</a:t>
              </a:r>
            </a:p>
          </p:txBody>
        </p:sp>
        <p:sp>
          <p:nvSpPr>
            <p:cNvPr id="63" name="圆角矩形 62"/>
            <p:cNvSpPr>
              <a:spLocks/>
            </p:cNvSpPr>
            <p:nvPr/>
          </p:nvSpPr>
          <p:spPr bwMode="gray">
            <a:xfrm>
              <a:off x="3634564" y="4138881"/>
              <a:ext cx="1184726" cy="1675690"/>
            </a:xfrm>
            <a:prstGeom prst="roundRect">
              <a:avLst/>
            </a:prstGeom>
            <a:solidFill>
              <a:schemeClr val="bg1">
                <a:lumMod val="95000"/>
              </a:schemeClr>
            </a:solidFill>
            <a:ln w="12700" cap="flat" cmpd="sng" algn="ctr">
              <a:solidFill>
                <a:schemeClr val="bg1">
                  <a:lumMod val="75000"/>
                </a:schemeClr>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endParaRPr lang="en-US" altLang="zh-CN" sz="1400" kern="0" dirty="0">
                <a:solidFill>
                  <a:srgbClr val="1D1D1A"/>
                </a:solidFill>
                <a:latin typeface="Huawei Sans" panose="020C0503030203020204" pitchFamily="34" charset="0"/>
                <a:ea typeface="方正兰亭黑简体" panose="02000000000000000000" pitchFamily="2" charset="-122"/>
              </a:endParaRPr>
            </a:p>
            <a:p>
              <a:pPr algn="ctr"/>
              <a:endParaRPr lang="en-US" altLang="zh-CN" sz="1400" kern="0" dirty="0">
                <a:solidFill>
                  <a:srgbClr val="1D1D1A"/>
                </a:solidFill>
                <a:latin typeface="Huawei Sans" panose="020C0503030203020204" pitchFamily="34" charset="0"/>
                <a:ea typeface="方正兰亭黑简体" panose="02000000000000000000" pitchFamily="2" charset="-122"/>
              </a:endParaRPr>
            </a:p>
            <a:p>
              <a:pPr algn="ctr"/>
              <a:r>
                <a:rPr lang="zh-CN" altLang="en-US" sz="1400" kern="0" dirty="0">
                  <a:solidFill>
                    <a:srgbClr val="1D1D1A"/>
                  </a:solidFill>
                  <a:latin typeface="Huawei Sans" panose="020C0503030203020204" pitchFamily="34" charset="0"/>
                  <a:ea typeface="方正兰亭黑简体" panose="02000000000000000000" pitchFamily="2" charset="-122"/>
                </a:rPr>
                <a:t>配置</a:t>
              </a:r>
              <a:r>
                <a:rPr lang="en-US" altLang="zh-CN" sz="1400" kern="0" dirty="0">
                  <a:solidFill>
                    <a:srgbClr val="1D1D1A"/>
                  </a:solidFill>
                  <a:latin typeface="Huawei Sans" panose="020C0503030203020204" pitchFamily="34" charset="0"/>
                  <a:ea typeface="方正兰亭黑简体" panose="02000000000000000000" pitchFamily="2" charset="-122"/>
                </a:rPr>
                <a:t>RADIUS</a:t>
              </a:r>
              <a:r>
                <a:rPr lang="zh-CN" altLang="en-US" sz="1400" kern="0" dirty="0">
                  <a:solidFill>
                    <a:srgbClr val="1D1D1A"/>
                  </a:solidFill>
                  <a:latin typeface="Huawei Sans" panose="020C0503030203020204" pitchFamily="34" charset="0"/>
                  <a:ea typeface="方正兰亭黑简体" panose="02000000000000000000" pitchFamily="2" charset="-122"/>
                </a:rPr>
                <a:t>服务器模板或本地用户</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grpSp>
      <p:grpSp>
        <p:nvGrpSpPr>
          <p:cNvPr id="14" name="组合 13"/>
          <p:cNvGrpSpPr/>
          <p:nvPr/>
        </p:nvGrpSpPr>
        <p:grpSpPr bwMode="gray">
          <a:xfrm>
            <a:off x="5357511" y="4525246"/>
            <a:ext cx="1304950" cy="752801"/>
            <a:chOff x="5357511" y="4525246"/>
            <a:chExt cx="1304950" cy="752801"/>
          </a:xfrm>
        </p:grpSpPr>
        <p:sp>
          <p:nvSpPr>
            <p:cNvPr id="64" name="Right Arrow 157"/>
            <p:cNvSpPr/>
            <p:nvPr/>
          </p:nvSpPr>
          <p:spPr bwMode="gray">
            <a:xfrm>
              <a:off x="5357511" y="4525246"/>
              <a:ext cx="1304950" cy="752801"/>
            </a:xfrm>
            <a:prstGeom prst="rightArrow">
              <a:avLst>
                <a:gd name="adj1" fmla="val 40000"/>
                <a:gd name="adj2" fmla="val 50000"/>
              </a:avLst>
            </a:prstGeom>
            <a:gradFill flip="none" rotWithShape="1">
              <a:gsLst>
                <a:gs pos="0">
                  <a:schemeClr val="accent1">
                    <a:lumMod val="5000"/>
                    <a:lumOff val="95000"/>
                    <a:alpha val="0"/>
                  </a:schemeClr>
                </a:gs>
                <a:gs pos="50000">
                  <a:schemeClr val="bg1">
                    <a:lumMod val="95000"/>
                  </a:schemeClr>
                </a:gs>
              </a:gsLst>
              <a:lin ang="0" scaled="1"/>
              <a:tileRect/>
            </a:gradFill>
            <a:ln w="15875">
              <a:gradFill flip="none" rotWithShape="1">
                <a:gsLst>
                  <a:gs pos="11000">
                    <a:schemeClr val="accent1">
                      <a:lumMod val="0"/>
                      <a:lumOff val="100000"/>
                      <a:alpha val="0"/>
                    </a:schemeClr>
                  </a:gs>
                  <a:gs pos="67000">
                    <a:schemeClr val="bg1">
                      <a:lumMod val="7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p:cNvSpPr txBox="1"/>
            <p:nvPr/>
          </p:nvSpPr>
          <p:spPr bwMode="gray">
            <a:xfrm>
              <a:off x="5521855" y="4754541"/>
              <a:ext cx="868299" cy="338554"/>
            </a:xfrm>
            <a:prstGeom prst="rect">
              <a:avLst/>
            </a:prstGeom>
            <a:noFill/>
          </p:spPr>
          <p:txBody>
            <a:bodyPr wrap="square" rtlCol="0">
              <a:spAutoFit/>
            </a:bodyPr>
            <a:lstStyle/>
            <a:p>
              <a:pPr algn="ctr"/>
              <a:r>
                <a:rPr lang="zh-CN" altLang="en-US" sz="1600" dirty="0"/>
                <a:t>绑定到</a:t>
              </a:r>
            </a:p>
          </p:txBody>
        </p:sp>
      </p:grpSp>
      <p:sp>
        <p:nvSpPr>
          <p:cNvPr id="66" name="圆角矩形 65"/>
          <p:cNvSpPr/>
          <p:nvPr/>
        </p:nvSpPr>
        <p:spPr bwMode="gray">
          <a:xfrm>
            <a:off x="6945006" y="4525246"/>
            <a:ext cx="1496071" cy="746376"/>
          </a:xfrm>
          <a:prstGeom prst="roundRect">
            <a:avLst>
              <a:gd name="adj" fmla="val 15000"/>
            </a:avLst>
          </a:prstGeom>
          <a:solidFill>
            <a:schemeClr val="bg1">
              <a:lumMod val="95000"/>
            </a:schemeClr>
          </a:solidFill>
          <a:ln w="12700" cap="flat" cmpd="sng" algn="ctr">
            <a:solidFill>
              <a:schemeClr val="bg1">
                <a:lumMod val="7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域（</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Domain</a:t>
            </a: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p:txBody>
      </p:sp>
      <p:grpSp>
        <p:nvGrpSpPr>
          <p:cNvPr id="12" name="组合 11"/>
          <p:cNvGrpSpPr/>
          <p:nvPr/>
        </p:nvGrpSpPr>
        <p:grpSpPr bwMode="gray">
          <a:xfrm>
            <a:off x="6369602" y="3196205"/>
            <a:ext cx="2646878" cy="1293756"/>
            <a:chOff x="6369602" y="3196205"/>
            <a:chExt cx="2646878" cy="1293756"/>
          </a:xfrm>
        </p:grpSpPr>
        <p:sp>
          <p:nvSpPr>
            <p:cNvPr id="67" name="下箭头 63"/>
            <p:cNvSpPr>
              <a:spLocks noChangeAspect="1"/>
            </p:cNvSpPr>
            <p:nvPr/>
          </p:nvSpPr>
          <p:spPr bwMode="gray">
            <a:xfrm>
              <a:off x="7015340" y="3196205"/>
              <a:ext cx="1355403" cy="1293756"/>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0">
                  <a:schemeClr val="accent1">
                    <a:lumMod val="5000"/>
                    <a:lumOff val="95000"/>
                    <a:alpha val="0"/>
                  </a:schemeClr>
                </a:gs>
                <a:gs pos="50000">
                  <a:schemeClr val="bg1">
                    <a:lumMod val="95000"/>
                  </a:schemeClr>
                </a:gs>
              </a:gsLst>
              <a:lin ang="0" scaled="1"/>
              <a:tileRect/>
            </a:gradFill>
            <a:ln w="15875">
              <a:gradFill flip="none" rotWithShape="1">
                <a:gsLst>
                  <a:gs pos="11000">
                    <a:schemeClr val="accent1">
                      <a:lumMod val="0"/>
                      <a:lumOff val="100000"/>
                      <a:alpha val="0"/>
                    </a:schemeClr>
                  </a:gs>
                  <a:gs pos="67000">
                    <a:schemeClr val="bg1">
                      <a:lumMod val="75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文本框 67"/>
            <p:cNvSpPr txBox="1"/>
            <p:nvPr/>
          </p:nvSpPr>
          <p:spPr bwMode="gray">
            <a:xfrm>
              <a:off x="6369602" y="3649833"/>
              <a:ext cx="2646878" cy="338554"/>
            </a:xfrm>
            <a:prstGeom prst="rect">
              <a:avLst/>
            </a:prstGeom>
            <a:solidFill>
              <a:schemeClr val="bg1"/>
            </a:solidFill>
          </p:spPr>
          <p:txBody>
            <a:bodyPr wrap="none" rtlCol="0">
              <a:spAutoFit/>
            </a:bodyPr>
            <a:lstStyle/>
            <a:p>
              <a:r>
                <a:rPr lang="zh-CN" altLang="en-US" sz="1600" dirty="0"/>
                <a:t>用户到相应的域下进行认证</a:t>
              </a:r>
            </a:p>
          </p:txBody>
        </p:sp>
      </p:grpSp>
      <p:sp>
        <p:nvSpPr>
          <p:cNvPr id="69" name="矩形 68"/>
          <p:cNvSpPr/>
          <p:nvPr/>
        </p:nvSpPr>
        <p:spPr bwMode="gray">
          <a:xfrm>
            <a:off x="768403" y="3630741"/>
            <a:ext cx="8280609" cy="2554932"/>
          </a:xfrm>
          <a:prstGeom prst="rect">
            <a:avLst/>
          </a:prstGeom>
          <a:noFill/>
          <a:ln w="12700" cap="flat" cmpd="sng" algn="ctr">
            <a:solidFill>
              <a:schemeClr val="bg1">
                <a:lumMod val="50000"/>
              </a:schemeClr>
            </a:solidFill>
            <a:prstDash val="dashDot"/>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defRPr/>
            </a:pPr>
            <a:endParaRPr lang="en-US" altLang="zh-CN" sz="8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圆角矩形 69"/>
          <p:cNvSpPr/>
          <p:nvPr/>
        </p:nvSpPr>
        <p:spPr bwMode="gray">
          <a:xfrm>
            <a:off x="9428865" y="5432911"/>
            <a:ext cx="1980875" cy="362706"/>
          </a:xfrm>
          <a:prstGeom prst="roundRect">
            <a:avLst>
              <a:gd name="adj" fmla="val 15000"/>
            </a:avLst>
          </a:prstGeom>
          <a:solidFill>
            <a:schemeClr val="bg1">
              <a:lumMod val="95000"/>
            </a:schemeClr>
          </a:solidFill>
          <a:ln w="12700" cap="flat" cmpd="sng" algn="ctr">
            <a:solidFill>
              <a:schemeClr val="bg1">
                <a:lumMod val="7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扩展功能</a:t>
            </a:r>
          </a:p>
        </p:txBody>
      </p:sp>
      <p:sp>
        <p:nvSpPr>
          <p:cNvPr id="71" name="Right Arrow 157"/>
          <p:cNvSpPr/>
          <p:nvPr/>
        </p:nvSpPr>
        <p:spPr bwMode="gray">
          <a:xfrm rot="16200000" flipV="1">
            <a:off x="10083027" y="4823826"/>
            <a:ext cx="642862" cy="399703"/>
          </a:xfrm>
          <a:prstGeom prst="rightArrow">
            <a:avLst>
              <a:gd name="adj1" fmla="val 40000"/>
              <a:gd name="adj2" fmla="val 50000"/>
            </a:avLst>
          </a:prstGeom>
          <a:gradFill flip="none" rotWithShape="1">
            <a:gsLst>
              <a:gs pos="0">
                <a:schemeClr val="accent1">
                  <a:lumMod val="5000"/>
                  <a:lumOff val="95000"/>
                  <a:alpha val="0"/>
                </a:schemeClr>
              </a:gs>
              <a:gs pos="50000">
                <a:schemeClr val="bg1">
                  <a:lumMod val="95000"/>
                </a:schemeClr>
              </a:gs>
            </a:gsLst>
            <a:lin ang="0" scaled="1"/>
            <a:tileRect/>
          </a:gradFill>
          <a:ln w="15875">
            <a:gradFill flip="none" rotWithShape="1">
              <a:gsLst>
                <a:gs pos="11000">
                  <a:schemeClr val="accent1">
                    <a:lumMod val="0"/>
                    <a:lumOff val="100000"/>
                    <a:alpha val="0"/>
                  </a:schemeClr>
                </a:gs>
                <a:gs pos="67000">
                  <a:schemeClr val="bg1">
                    <a:lumMod val="7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92432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left)">
                                      <p:cBhvr>
                                        <p:cTn id="14" dur="500"/>
                                        <p:tgtEl>
                                          <p:spTgt spid="22"/>
                                        </p:tgtEl>
                                      </p:cBhvr>
                                    </p:animEffec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up)">
                                      <p:cBhvr>
                                        <p:cTn id="22" dur="500"/>
                                        <p:tgtEl>
                                          <p:spTgt spid="12"/>
                                        </p:tgtEl>
                                      </p:cBhvr>
                                    </p:animEffec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6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6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22" presetClass="entr" presetSubtype="8"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up)">
                                      <p:cBhvr>
                                        <p:cTn id="40" dur="500"/>
                                        <p:tgtEl>
                                          <p:spTgt spid="7"/>
                                        </p:tgtEl>
                                      </p:cBhvr>
                                    </p:animEffect>
                                  </p:childTnLst>
                                </p:cTn>
                              </p:par>
                            </p:childTnLst>
                          </p:cTn>
                        </p:par>
                        <p:par>
                          <p:cTn id="41" fill="hold">
                            <p:stCondLst>
                              <p:cond delay="500"/>
                            </p:stCondLst>
                            <p:childTnLst>
                              <p:par>
                                <p:cTn id="42" presetID="1" presetClass="entr" presetSubtype="0"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0"/>
                                        </p:tgtEl>
                                        <p:attrNameLst>
                                          <p:attrName>style.visibility</p:attrName>
                                        </p:attrNameLst>
                                      </p:cBhvr>
                                      <p:to>
                                        <p:strVal val="visible"/>
                                      </p:to>
                                    </p:set>
                                  </p:childTnLst>
                                </p:cTn>
                              </p:par>
                            </p:childTnLst>
                          </p:cTn>
                        </p:par>
                        <p:par>
                          <p:cTn id="48" fill="hold">
                            <p:stCondLst>
                              <p:cond delay="0"/>
                            </p:stCondLst>
                            <p:childTnLst>
                              <p:par>
                                <p:cTn id="49" presetID="22" presetClass="entr" presetSubtype="4" fill="hold" grpId="0" nodeType="afterEffect">
                                  <p:stCondLst>
                                    <p:cond delay="0"/>
                                  </p:stCondLst>
                                  <p:childTnLst>
                                    <p:set>
                                      <p:cBhvr>
                                        <p:cTn id="50" dur="1" fill="hold">
                                          <p:stCondLst>
                                            <p:cond delay="0"/>
                                          </p:stCondLst>
                                        </p:cTn>
                                        <p:tgtEl>
                                          <p:spTgt spid="71"/>
                                        </p:tgtEl>
                                        <p:attrNameLst>
                                          <p:attrName>style.visibility</p:attrName>
                                        </p:attrNameLst>
                                      </p:cBhvr>
                                      <p:to>
                                        <p:strVal val="visible"/>
                                      </p:to>
                                    </p:set>
                                    <p:animEffect transition="in" filter="wipe(down)">
                                      <p:cBhvr>
                                        <p:cTn id="51"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66" grpId="0" animBg="1"/>
      <p:bldP spid="69" grpId="0" animBg="1"/>
      <p:bldP spid="70" grpId="0" animBg="1"/>
      <p:bldP spid="7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认证模板配置 </a:t>
            </a:r>
            <a:r>
              <a:rPr lang="en-US" altLang="zh-CN"/>
              <a:t>(1)</a:t>
            </a:r>
            <a:endParaRPr lang="zh-CN" altLang="en-US" dirty="0"/>
          </a:p>
        </p:txBody>
      </p:sp>
      <p:sp>
        <p:nvSpPr>
          <p:cNvPr id="4" name="矩形 3">
            <a:extLst>
              <a:ext uri="{FF2B5EF4-FFF2-40B4-BE49-F238E27FC236}">
                <a16:creationId xmlns:a16="http://schemas.microsoft.com/office/drawing/2014/main" xmlns="" id="{4155CF1B-D6D5-4CBC-A7C4-3539BA1D8C49}"/>
              </a:ext>
            </a:extLst>
          </p:cNvPr>
          <p:cNvSpPr/>
          <p:nvPr/>
        </p:nvSpPr>
        <p:spPr>
          <a:xfrm>
            <a:off x="899999" y="1586700"/>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authentication-profile name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authentication-profile-name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a:extLst>
              <a:ext uri="{FF2B5EF4-FFF2-40B4-BE49-F238E27FC236}">
                <a16:creationId xmlns:a16="http://schemas.microsoft.com/office/drawing/2014/main" xmlns="" id="{44C4E0BA-5C90-4FB6-BCA6-99B663B19FA8}"/>
              </a:ext>
            </a:extLst>
          </p:cNvPr>
          <p:cNvSpPr/>
          <p:nvPr/>
        </p:nvSpPr>
        <p:spPr>
          <a:xfrm>
            <a:off x="442914" y="1140462"/>
            <a:ext cx="11017250"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进入认证</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a:extLst>
              <a:ext uri="{FF2B5EF4-FFF2-40B4-BE49-F238E27FC236}">
                <a16:creationId xmlns:a16="http://schemas.microsoft.com/office/drawing/2014/main" xmlns="" id="{2683E34D-F948-4861-A2DA-5897E9554D17}"/>
              </a:ext>
            </a:extLst>
          </p:cNvPr>
          <p:cNvSpPr/>
          <p:nvPr/>
        </p:nvSpPr>
        <p:spPr>
          <a:xfrm>
            <a:off x="900000" y="1925254"/>
            <a:ext cx="10812575"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设备通过认证模板下的参数配置，实现为不同用户进行不同的接入控制。认证模板配置之后，需要被应用到接口或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模板下来使能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a:extLst>
              <a:ext uri="{FF2B5EF4-FFF2-40B4-BE49-F238E27FC236}">
                <a16:creationId xmlns:a16="http://schemas.microsoft.com/office/drawing/2014/main" xmlns="" id="{4155CF1B-D6D5-4CBC-A7C4-3539BA1D8C49}"/>
              </a:ext>
            </a:extLst>
          </p:cNvPr>
          <p:cNvSpPr/>
          <p:nvPr/>
        </p:nvSpPr>
        <p:spPr>
          <a:xfrm>
            <a:off x="900000" y="3267517"/>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[Huawei-authen-profile-</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ProfileName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dot1x-access-profile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access-profile-name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a:extLst>
              <a:ext uri="{FF2B5EF4-FFF2-40B4-BE49-F238E27FC236}">
                <a16:creationId xmlns:a16="http://schemas.microsoft.com/office/drawing/2014/main" xmlns="" id="{44C4E0BA-5C90-4FB6-BCA6-99B663B19FA8}"/>
              </a:ext>
            </a:extLst>
          </p:cNvPr>
          <p:cNvSpPr/>
          <p:nvPr/>
        </p:nvSpPr>
        <p:spPr>
          <a:xfrm>
            <a:off x="442913" y="2835370"/>
            <a:ext cx="11017251" cy="338554"/>
          </a:xfrm>
          <a:prstGeom prst="rect">
            <a:avLst/>
          </a:prstGeom>
        </p:spPr>
        <p:txBody>
          <a:bodyPr wrap="square">
            <a:spAutoFit/>
          </a:bodyPr>
          <a:lstStyle/>
          <a:p>
            <a:pPr marL="342900" indent="-342900" fontAlgn="auto">
              <a:buFont typeface="+mj-lt"/>
              <a:buAutoNum type="arabicPeriod" startAt="2"/>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配置认证</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模板下绑定的接入</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xmlns="" id="{4155CF1B-D6D5-4CBC-A7C4-3539BA1D8C49}"/>
              </a:ext>
            </a:extLst>
          </p:cNvPr>
          <p:cNvSpPr/>
          <p:nvPr/>
        </p:nvSpPr>
        <p:spPr>
          <a:xfrm>
            <a:off x="899999" y="3729190"/>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[Huawei-authen-profile-</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ProfileName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mac-access-profile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access-profile-name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a:extLst>
              <a:ext uri="{FF2B5EF4-FFF2-40B4-BE49-F238E27FC236}">
                <a16:creationId xmlns:a16="http://schemas.microsoft.com/office/drawing/2014/main" xmlns="" id="{4155CF1B-D6D5-4CBC-A7C4-3539BA1D8C49}"/>
              </a:ext>
            </a:extLst>
          </p:cNvPr>
          <p:cNvSpPr/>
          <p:nvPr/>
        </p:nvSpPr>
        <p:spPr>
          <a:xfrm>
            <a:off x="900000" y="4220144"/>
            <a:ext cx="10812574"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[Huawei-authen-profile-</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ProfileName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portal-access-profile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access-profile-name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a:extLst>
              <a:ext uri="{FF2B5EF4-FFF2-40B4-BE49-F238E27FC236}">
                <a16:creationId xmlns:a16="http://schemas.microsoft.com/office/drawing/2014/main" xmlns="" id="{2683E34D-F948-4861-A2DA-5897E9554D17}"/>
              </a:ext>
            </a:extLst>
          </p:cNvPr>
          <p:cNvSpPr/>
          <p:nvPr/>
        </p:nvSpPr>
        <p:spPr>
          <a:xfrm>
            <a:off x="900000" y="4569195"/>
            <a:ext cx="10812574" cy="1015663"/>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以在认证模板下根据需要绑定相应的接入模板。当绑定超过一个接入模板，即采用混合认证，绑定接入模板的顺序没有限制，设备先接收到哪种认证报文，就会优先触发哪种认证。一个认证模板同时最多支持绑定一个</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接入模板、一个</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接入模板和一个</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52218988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认证模板配置 </a:t>
            </a:r>
            <a:r>
              <a:rPr lang="en-US" altLang="zh-CN"/>
              <a:t>(2)</a:t>
            </a:r>
            <a:endParaRPr lang="zh-CN" altLang="en-US" dirty="0"/>
          </a:p>
        </p:txBody>
      </p:sp>
      <p:sp>
        <p:nvSpPr>
          <p:cNvPr id="4" name="矩形 3">
            <a:extLst>
              <a:ext uri="{FF2B5EF4-FFF2-40B4-BE49-F238E27FC236}">
                <a16:creationId xmlns:a16="http://schemas.microsoft.com/office/drawing/2014/main" xmlns="" id="{4155CF1B-D6D5-4CBC-A7C4-3539BA1D8C49}"/>
              </a:ext>
            </a:extLst>
          </p:cNvPr>
          <p:cNvSpPr/>
          <p:nvPr/>
        </p:nvSpPr>
        <p:spPr>
          <a:xfrm>
            <a:off x="900000" y="1578516"/>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[Huawei-authen-profile-</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ProfileName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authentication dot1x-mac-bypass</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a:extLst>
              <a:ext uri="{FF2B5EF4-FFF2-40B4-BE49-F238E27FC236}">
                <a16:creationId xmlns:a16="http://schemas.microsoft.com/office/drawing/2014/main" xmlns="" id="{44C4E0BA-5C90-4FB6-BCA6-99B663B19FA8}"/>
              </a:ext>
            </a:extLst>
          </p:cNvPr>
          <p:cNvSpPr/>
          <p:nvPr/>
        </p:nvSpPr>
        <p:spPr>
          <a:xfrm>
            <a:off x="442913" y="1146369"/>
            <a:ext cx="11017250"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旁路认证</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a:extLst>
              <a:ext uri="{FF2B5EF4-FFF2-40B4-BE49-F238E27FC236}">
                <a16:creationId xmlns:a16="http://schemas.microsoft.com/office/drawing/2014/main" xmlns="" id="{2683E34D-F948-4861-A2DA-5897E9554D17}"/>
              </a:ext>
            </a:extLst>
          </p:cNvPr>
          <p:cNvSpPr/>
          <p:nvPr/>
        </p:nvSpPr>
        <p:spPr>
          <a:xfrm>
            <a:off x="900000" y="1935170"/>
            <a:ext cx="10812575" cy="707886"/>
          </a:xfrm>
          <a:prstGeom prst="rect">
            <a:avLst/>
          </a:prstGeom>
        </p:spPr>
        <p:txBody>
          <a:bodyPr wrap="square">
            <a:spAutoFit/>
          </a:bodyPr>
          <a:lstStyle/>
          <a:p>
            <a:pPr fontAlgn="auto">
              <a:lnSpc>
                <a:spcPts val="2400"/>
              </a:lnSpc>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旁路认证功能包含了</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认证两部分。使用该功能前，需要保证认证模板下已经绑定了</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802.1X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接入模板。</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a:extLst>
              <a:ext uri="{FF2B5EF4-FFF2-40B4-BE49-F238E27FC236}">
                <a16:creationId xmlns:a16="http://schemas.microsoft.com/office/drawing/2014/main" xmlns="" id="{4155CF1B-D6D5-4CBC-A7C4-3539BA1D8C49}"/>
              </a:ext>
            </a:extLst>
          </p:cNvPr>
          <p:cNvSpPr/>
          <p:nvPr/>
        </p:nvSpPr>
        <p:spPr>
          <a:xfrm>
            <a:off x="900000" y="3273424"/>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[Huawei-authen-profile-</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ProfileName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access-domain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domain-name</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dot1x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mac-authen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portal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force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a:extLst>
              <a:ext uri="{FF2B5EF4-FFF2-40B4-BE49-F238E27FC236}">
                <a16:creationId xmlns:a16="http://schemas.microsoft.com/office/drawing/2014/main" xmlns="" id="{44C4E0BA-5C90-4FB6-BCA6-99B663B19FA8}"/>
              </a:ext>
            </a:extLst>
          </p:cNvPr>
          <p:cNvSpPr/>
          <p:nvPr/>
        </p:nvSpPr>
        <p:spPr>
          <a:xfrm>
            <a:off x="442913" y="2841277"/>
            <a:ext cx="11017250"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配置用户的默认域或强制域。</a:t>
            </a:r>
          </a:p>
        </p:txBody>
      </p:sp>
      <p:sp>
        <p:nvSpPr>
          <p:cNvPr id="15" name="矩形 14">
            <a:extLst>
              <a:ext uri="{FF2B5EF4-FFF2-40B4-BE49-F238E27FC236}">
                <a16:creationId xmlns:a16="http://schemas.microsoft.com/office/drawing/2014/main" xmlns="" id="{2683E34D-F948-4861-A2DA-5897E9554D17}"/>
              </a:ext>
            </a:extLst>
          </p:cNvPr>
          <p:cNvSpPr/>
          <p:nvPr/>
        </p:nvSpPr>
        <p:spPr>
          <a:xfrm>
            <a:off x="900000" y="3670087"/>
            <a:ext cx="10812575" cy="1323439"/>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设备对用户的管理通过域来实现。</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force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参数指定配置的域为强制域。若不指定该参数，配置的域为默认域。</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dot1x</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mac-authen</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参数分别指定不同用户的默认域或强制域。命令配置情况与认证域对应情况如下：</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540000" indent="-285750" fontAlgn="auto">
              <a:lnSpc>
                <a:spcPts val="24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配置默认域：设备根据用户名中携带的域名进行认证，未携带域名则将该用户在默认域中进行认证。</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540000" indent="-285750" fontAlgn="auto">
              <a:lnSpc>
                <a:spcPts val="24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配置强制域：无论用户名中是否携带域名，都将用户在强制域中进行认证。</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179861300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拓展功能 </a:t>
            </a:r>
            <a:r>
              <a:rPr lang="en-US" altLang="zh-CN" smtClean="0"/>
              <a:t>- </a:t>
            </a:r>
            <a:r>
              <a:rPr lang="zh-CN" altLang="en-US" smtClean="0"/>
              <a:t>配置静态用户</a:t>
            </a:r>
            <a:endParaRPr lang="zh-CN" altLang="en-US" dirty="0"/>
          </a:p>
        </p:txBody>
      </p:sp>
      <p:sp>
        <p:nvSpPr>
          <p:cNvPr id="15" name="文本占位符 14"/>
          <p:cNvSpPr>
            <a:spLocks noGrp="1"/>
          </p:cNvSpPr>
          <p:nvPr>
            <p:ph type="body" sz="quarter" idx="10"/>
          </p:nvPr>
        </p:nvSpPr>
        <p:spPr>
          <a:xfrm>
            <a:off x="455613" y="1047750"/>
            <a:ext cx="11256962" cy="5153025"/>
          </a:xfrm>
        </p:spPr>
        <p:txBody>
          <a:bodyPr/>
          <a:lstStyle/>
          <a:p>
            <a:r>
              <a:rPr lang="zh-CN" altLang="en-US" sz="2000" dirty="0" smtClean="0"/>
              <a:t>在网络部署中，对于打印机等哑终端，管理员一般都是为其分配静态</a:t>
            </a:r>
            <a:r>
              <a:rPr lang="en-US" altLang="zh-CN" sz="2000" dirty="0" smtClean="0"/>
              <a:t>IP</a:t>
            </a:r>
            <a:r>
              <a:rPr lang="zh-CN" altLang="en-US" sz="2000" dirty="0" smtClean="0"/>
              <a:t>地址。对于这类用户，为了更加灵活的对其进行认证，可将其配置为静态用户。</a:t>
            </a:r>
            <a:endParaRPr lang="en-US" altLang="zh-CN" sz="2000" dirty="0" smtClean="0"/>
          </a:p>
          <a:p>
            <a:endParaRPr lang="en-US" altLang="zh-CN" sz="2000" dirty="0" smtClean="0"/>
          </a:p>
          <a:p>
            <a:endParaRPr lang="en-US" altLang="zh-CN" sz="2000" dirty="0" smtClean="0"/>
          </a:p>
          <a:p>
            <a:endParaRPr lang="en-US" altLang="zh-CN" sz="2000" dirty="0" smtClean="0"/>
          </a:p>
          <a:p>
            <a:endParaRPr lang="en-US" altLang="zh-CN" sz="2000" dirty="0" smtClean="0"/>
          </a:p>
          <a:p>
            <a:endParaRPr lang="en-US" altLang="zh-CN" sz="2000" dirty="0" smtClean="0"/>
          </a:p>
          <a:p>
            <a:endParaRPr lang="en-US" altLang="zh-CN" sz="2000" dirty="0" smtClean="0"/>
          </a:p>
          <a:p>
            <a:r>
              <a:rPr lang="zh-CN" altLang="en-US" sz="2000" dirty="0" smtClean="0"/>
              <a:t>在配置完成静态用户后，只要在静态用户所连接的接口上使能了</a:t>
            </a:r>
            <a:r>
              <a:rPr lang="en-US" altLang="zh-CN" sz="2000" dirty="0" smtClean="0"/>
              <a:t>802.1X</a:t>
            </a:r>
            <a:r>
              <a:rPr lang="zh-CN" altLang="en-US" sz="2000" dirty="0" smtClean="0"/>
              <a:t>认证、</a:t>
            </a:r>
            <a:r>
              <a:rPr lang="en-US" altLang="zh-CN" sz="2000" dirty="0" smtClean="0"/>
              <a:t>MAC</a:t>
            </a:r>
            <a:r>
              <a:rPr lang="zh-CN" altLang="en-US" sz="2000" dirty="0" smtClean="0"/>
              <a:t>认证以及</a:t>
            </a:r>
            <a:r>
              <a:rPr lang="en-US" altLang="zh-CN" sz="2000" dirty="0" smtClean="0"/>
              <a:t>Portal</a:t>
            </a:r>
            <a:r>
              <a:rPr lang="zh-CN" altLang="en-US" sz="2000" dirty="0" smtClean="0"/>
              <a:t>认证中的任意一种，设备就能够使用静态用户的</a:t>
            </a:r>
            <a:r>
              <a:rPr lang="en-US" altLang="zh-CN" sz="2000" dirty="0" smtClean="0"/>
              <a:t>IP</a:t>
            </a:r>
            <a:r>
              <a:rPr lang="zh-CN" altLang="en-US" sz="2000" dirty="0" smtClean="0"/>
              <a:t>地址等信息作为用户名进行认证。</a:t>
            </a:r>
            <a:endParaRPr lang="zh-CN" altLang="en-US" sz="2000" dirty="0"/>
          </a:p>
        </p:txBody>
      </p:sp>
      <p:sp>
        <p:nvSpPr>
          <p:cNvPr id="12" name="矩形 11">
            <a:extLst>
              <a:ext uri="{FF2B5EF4-FFF2-40B4-BE49-F238E27FC236}">
                <a16:creationId xmlns:a16="http://schemas.microsoft.com/office/drawing/2014/main" xmlns="" id="{4155CF1B-D6D5-4CBC-A7C4-3539BA1D8C49}"/>
              </a:ext>
            </a:extLst>
          </p:cNvPr>
          <p:cNvSpPr/>
          <p:nvPr/>
        </p:nvSpPr>
        <p:spPr>
          <a:xfrm>
            <a:off x="900000" y="2479980"/>
            <a:ext cx="10812574" cy="523220"/>
          </a:xfrm>
          <a:prstGeom prst="rect">
            <a:avLst/>
          </a:prstGeom>
          <a:solidFill>
            <a:schemeClr val="bg1">
              <a:lumMod val="85000"/>
            </a:schemeClr>
          </a:solidFill>
          <a:ln>
            <a:noFill/>
          </a:ln>
        </p:spPr>
        <p:txBody>
          <a:bodyPr wrap="square">
            <a:spAutoFit/>
          </a:bodyPr>
          <a:lstStyle/>
          <a:p>
            <a:pPr fontAlgn="base"/>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static-user </a:t>
            </a:r>
            <a:r>
              <a:rPr lang="en-US" altLang="zh-CN"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start-</a:t>
            </a:r>
            <a:r>
              <a:rPr lang="en-US" altLang="zh-CN" sz="14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-address</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end-</a:t>
            </a:r>
            <a:r>
              <a:rPr lang="en-US" altLang="zh-CN" sz="14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-address</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domain-name</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domain-name</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interface-type</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interface-number</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mac-address</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mac-address</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xmlns="" id="{44C4E0BA-5C90-4FB6-BCA6-99B663B19FA8}"/>
              </a:ext>
            </a:extLst>
          </p:cNvPr>
          <p:cNvSpPr/>
          <p:nvPr/>
        </p:nvSpPr>
        <p:spPr>
          <a:xfrm>
            <a:off x="455613" y="2047833"/>
            <a:ext cx="11004551"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配置静态用户所属的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地址范围、域名、接口、</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等参数。</a:t>
            </a:r>
          </a:p>
        </p:txBody>
      </p:sp>
      <p:sp>
        <p:nvSpPr>
          <p:cNvPr id="16" name="矩形 15">
            <a:extLst>
              <a:ext uri="{FF2B5EF4-FFF2-40B4-BE49-F238E27FC236}">
                <a16:creationId xmlns:a16="http://schemas.microsoft.com/office/drawing/2014/main" xmlns="" id="{4155CF1B-D6D5-4CBC-A7C4-3539BA1D8C49}"/>
              </a:ext>
            </a:extLst>
          </p:cNvPr>
          <p:cNvSpPr/>
          <p:nvPr/>
        </p:nvSpPr>
        <p:spPr>
          <a:xfrm>
            <a:off x="900000" y="3588560"/>
            <a:ext cx="10812575" cy="523220"/>
          </a:xfrm>
          <a:prstGeom prst="rect">
            <a:avLst/>
          </a:prstGeom>
          <a:solidFill>
            <a:schemeClr val="bg1">
              <a:lumMod val="85000"/>
            </a:schemeClr>
          </a:solidFill>
          <a:ln>
            <a:noFill/>
          </a:ln>
        </p:spPr>
        <p:txBody>
          <a:bodyPr wrap="square">
            <a:spAutoFit/>
          </a:bodyPr>
          <a:lstStyle/>
          <a:p>
            <a:pPr fontAlgn="base"/>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static-user</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username</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macaddress</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format</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with-hyphen</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normal</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colon</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without-hyphen</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uppercase</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password-with-</a:t>
            </a:r>
            <a:r>
              <a:rPr lang="en-US" altLang="zh-CN" sz="14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macaddress</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a:extLst>
              <a:ext uri="{FF2B5EF4-FFF2-40B4-BE49-F238E27FC236}">
                <a16:creationId xmlns:a16="http://schemas.microsoft.com/office/drawing/2014/main" xmlns="" id="{44C4E0BA-5C90-4FB6-BCA6-99B663B19FA8}"/>
              </a:ext>
            </a:extLst>
          </p:cNvPr>
          <p:cNvSpPr/>
          <p:nvPr/>
        </p:nvSpPr>
        <p:spPr>
          <a:xfrm>
            <a:off x="455613" y="3156413"/>
            <a:ext cx="1100455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配置静态用户名或密码等相关</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a:extLst>
              <a:ext uri="{FF2B5EF4-FFF2-40B4-BE49-F238E27FC236}">
                <a16:creationId xmlns:a16="http://schemas.microsoft.com/office/drawing/2014/main" xmlns="" id="{4155CF1B-D6D5-4CBC-A7C4-3539BA1D8C49}"/>
              </a:ext>
            </a:extLst>
          </p:cNvPr>
          <p:cNvSpPr/>
          <p:nvPr/>
        </p:nvSpPr>
        <p:spPr>
          <a:xfrm>
            <a:off x="900000" y="4233396"/>
            <a:ext cx="10812575" cy="307777"/>
          </a:xfrm>
          <a:prstGeom prst="rect">
            <a:avLst/>
          </a:prstGeom>
          <a:solidFill>
            <a:schemeClr val="bg1">
              <a:lumMod val="85000"/>
            </a:schemeClr>
          </a:solidFill>
          <a:ln>
            <a:noFill/>
          </a:ln>
        </p:spPr>
        <p:txBody>
          <a:bodyPr wrap="square">
            <a:spAutoFit/>
          </a:bodyPr>
          <a:lstStyle/>
          <a:p>
            <a:pPr fontAlgn="base"/>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400" b="1" dirty="0"/>
              <a:t>static-user username format-include</a:t>
            </a:r>
            <a:r>
              <a:rPr lang="en-US" altLang="zh-CN" sz="1400" dirty="0"/>
              <a:t> { </a:t>
            </a:r>
            <a:r>
              <a:rPr lang="en-US" altLang="zh-CN" sz="1400" b="1" dirty="0" err="1"/>
              <a:t>ip</a:t>
            </a:r>
            <a:r>
              <a:rPr lang="en-US" altLang="zh-CN" sz="1400" b="1" dirty="0"/>
              <a:t>-address</a:t>
            </a:r>
            <a:r>
              <a:rPr lang="en-US" altLang="zh-CN" sz="1400" dirty="0"/>
              <a:t> | </a:t>
            </a:r>
            <a:r>
              <a:rPr lang="en-US" altLang="zh-CN" sz="1400" b="1" dirty="0"/>
              <a:t>mac-address</a:t>
            </a:r>
            <a:r>
              <a:rPr lang="en-US" altLang="zh-CN" sz="1400" dirty="0"/>
              <a:t> | </a:t>
            </a:r>
            <a:r>
              <a:rPr lang="en-US" altLang="zh-CN" sz="1400" b="1" dirty="0"/>
              <a:t>system-name</a:t>
            </a:r>
            <a:r>
              <a:rPr lang="en-US" altLang="zh-CN" sz="1400" dirty="0"/>
              <a:t>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矩形 18">
            <a:extLst>
              <a:ext uri="{FF2B5EF4-FFF2-40B4-BE49-F238E27FC236}">
                <a16:creationId xmlns:a16="http://schemas.microsoft.com/office/drawing/2014/main" xmlns="" id="{4155CF1B-D6D5-4CBC-A7C4-3539BA1D8C49}"/>
              </a:ext>
            </a:extLst>
          </p:cNvPr>
          <p:cNvSpPr/>
          <p:nvPr/>
        </p:nvSpPr>
        <p:spPr>
          <a:xfrm>
            <a:off x="900000" y="4693572"/>
            <a:ext cx="10812575" cy="307777"/>
          </a:xfrm>
          <a:prstGeom prst="rect">
            <a:avLst/>
          </a:prstGeom>
          <a:solidFill>
            <a:schemeClr val="bg1">
              <a:lumMod val="85000"/>
            </a:schemeClr>
          </a:solidFill>
          <a:ln>
            <a:noFill/>
          </a:ln>
        </p:spPr>
        <p:txBody>
          <a:bodyPr wrap="square">
            <a:spAutoFit/>
          </a:bodyPr>
          <a:lstStyle/>
          <a:p>
            <a:pPr fontAlgn="base"/>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400" b="1" dirty="0"/>
              <a:t>static-user password cipher </a:t>
            </a:r>
            <a:r>
              <a:rPr lang="en-US" altLang="zh-CN" sz="1400" i="1" dirty="0"/>
              <a:t>password</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76935962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应用</a:t>
            </a:r>
            <a:r>
              <a:rPr lang="en-US" altLang="zh-CN" smtClean="0"/>
              <a:t>NAC</a:t>
            </a:r>
            <a:r>
              <a:rPr lang="zh-CN" altLang="en-US" smtClean="0"/>
              <a:t>配置命令</a:t>
            </a:r>
            <a:endParaRPr lang="zh-CN" altLang="en-US" dirty="0"/>
          </a:p>
        </p:txBody>
      </p:sp>
      <p:sp>
        <p:nvSpPr>
          <p:cNvPr id="3" name="文本占位符 2"/>
          <p:cNvSpPr>
            <a:spLocks noGrp="1"/>
          </p:cNvSpPr>
          <p:nvPr>
            <p:ph type="body" sz="quarter" idx="10"/>
          </p:nvPr>
        </p:nvSpPr>
        <p:spPr>
          <a:xfrm>
            <a:off x="455613" y="1047750"/>
            <a:ext cx="11256962" cy="1621027"/>
          </a:xfrm>
        </p:spPr>
        <p:txBody>
          <a:bodyPr/>
          <a:lstStyle/>
          <a:p>
            <a:r>
              <a:rPr lang="zh-CN" altLang="en-US" sz="2000" smtClean="0"/>
              <a:t>认证模板的作用是统一管理</a:t>
            </a:r>
            <a:r>
              <a:rPr lang="en-US" altLang="zh-CN" sz="2000" smtClean="0"/>
              <a:t>NAC</a:t>
            </a:r>
            <a:r>
              <a:rPr lang="zh-CN" altLang="en-US" sz="2000" smtClean="0"/>
              <a:t>的相关配置。通过将认证模板绑定到接口或</a:t>
            </a:r>
            <a:r>
              <a:rPr lang="en-US" altLang="zh-CN" sz="2000" smtClean="0"/>
              <a:t>VAP</a:t>
            </a:r>
            <a:r>
              <a:rPr lang="zh-CN" altLang="en-US" sz="2000" smtClean="0"/>
              <a:t>模板视图下来使能</a:t>
            </a:r>
            <a:r>
              <a:rPr lang="en-US" altLang="zh-CN" sz="2000" smtClean="0"/>
              <a:t>NAC</a:t>
            </a:r>
            <a:r>
              <a:rPr lang="zh-CN" altLang="en-US" sz="2000" smtClean="0"/>
              <a:t>，实现对接口或</a:t>
            </a:r>
            <a:r>
              <a:rPr lang="en-US" altLang="zh-CN" sz="2000" smtClean="0"/>
              <a:t>VAP</a:t>
            </a:r>
            <a:r>
              <a:rPr lang="zh-CN" altLang="en-US" sz="2000" smtClean="0"/>
              <a:t>模板下的用户进行接入控制。</a:t>
            </a:r>
            <a:endParaRPr lang="en-US" altLang="zh-CN" sz="2000" smtClean="0"/>
          </a:p>
          <a:p>
            <a:r>
              <a:rPr lang="zh-CN" altLang="en-US" sz="2000" smtClean="0"/>
              <a:t>接口或</a:t>
            </a:r>
            <a:r>
              <a:rPr lang="en-US" altLang="zh-CN" sz="2000" smtClean="0"/>
              <a:t>VAP</a:t>
            </a:r>
            <a:r>
              <a:rPr lang="zh-CN" altLang="en-US" sz="2000" smtClean="0"/>
              <a:t>模板下用户的认证类型由认证模板下绑定的接入模板决定。</a:t>
            </a:r>
            <a:endParaRPr lang="zh-CN" altLang="en-US" sz="2000" dirty="0"/>
          </a:p>
        </p:txBody>
      </p:sp>
      <p:sp>
        <p:nvSpPr>
          <p:cNvPr id="4" name="矩形 3">
            <a:extLst>
              <a:ext uri="{FF2B5EF4-FFF2-40B4-BE49-F238E27FC236}">
                <a16:creationId xmlns:a16="http://schemas.microsoft.com/office/drawing/2014/main" xmlns="" id="{4155CF1B-D6D5-4CBC-A7C4-3539BA1D8C49}"/>
              </a:ext>
            </a:extLst>
          </p:cNvPr>
          <p:cNvSpPr/>
          <p:nvPr/>
        </p:nvSpPr>
        <p:spPr>
          <a:xfrm>
            <a:off x="899999" y="3693458"/>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authentication-profile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authentication-profile-name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a:extLst>
              <a:ext uri="{FF2B5EF4-FFF2-40B4-BE49-F238E27FC236}">
                <a16:creationId xmlns:a16="http://schemas.microsoft.com/office/drawing/2014/main" xmlns="" id="{44C4E0BA-5C90-4FB6-BCA6-99B663B19FA8}"/>
              </a:ext>
            </a:extLst>
          </p:cNvPr>
          <p:cNvSpPr/>
          <p:nvPr/>
        </p:nvSpPr>
        <p:spPr>
          <a:xfrm>
            <a:off x="455613" y="3261311"/>
            <a:ext cx="11004551"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应用相应的认证模板，以</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口</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为例。</a:t>
            </a:r>
          </a:p>
        </p:txBody>
      </p:sp>
      <p:sp>
        <p:nvSpPr>
          <p:cNvPr id="6" name="矩形 5">
            <a:extLst>
              <a:ext uri="{FF2B5EF4-FFF2-40B4-BE49-F238E27FC236}">
                <a16:creationId xmlns:a16="http://schemas.microsoft.com/office/drawing/2014/main" xmlns="" id="{2683E34D-F948-4861-A2DA-5897E9554D17}"/>
              </a:ext>
            </a:extLst>
          </p:cNvPr>
          <p:cNvSpPr/>
          <p:nvPr/>
        </p:nvSpPr>
        <p:spPr>
          <a:xfrm>
            <a:off x="899999" y="4050112"/>
            <a:ext cx="10812575" cy="707886"/>
          </a:xfrm>
          <a:prstGeom prst="rect">
            <a:avLst/>
          </a:prstGeom>
        </p:spPr>
        <p:txBody>
          <a:bodyPr wrap="square">
            <a:spAutoFit/>
          </a:bodyPr>
          <a:lstStyle/>
          <a:p>
            <a:pPr fontAlgn="auto">
              <a:lnSpc>
                <a:spcPts val="2400"/>
              </a:lnSpc>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authentication-profile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命令用来在接口或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模板下应用认证模板。缺省情况下，接口或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模板下没有应用认证模板。不同类型的接口或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模板对不同的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功能的支持情况可能有所不同，具体情况请查询对应产品文档。</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a:extLst>
              <a:ext uri="{FF2B5EF4-FFF2-40B4-BE49-F238E27FC236}">
                <a16:creationId xmlns:a16="http://schemas.microsoft.com/office/drawing/2014/main" xmlns="" id="{44C4E0BA-5C90-4FB6-BCA6-99B663B19FA8}"/>
              </a:ext>
            </a:extLst>
          </p:cNvPr>
          <p:cNvSpPr/>
          <p:nvPr/>
        </p:nvSpPr>
        <p:spPr>
          <a:xfrm>
            <a:off x="455613" y="2762370"/>
            <a:ext cx="11004551"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进入接口视图或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模板视图。</a:t>
            </a:r>
          </a:p>
        </p:txBody>
      </p:sp>
    </p:spTree>
    <p:extLst>
      <p:ext uri="{BB962C8B-B14F-4D97-AF65-F5344CB8AC3E}">
        <p14:creationId xmlns:p14="http://schemas.microsoft.com/office/powerpoint/2010/main" val="347539455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直接连接符 52"/>
          <p:cNvCxnSpPr/>
          <p:nvPr/>
        </p:nvCxnSpPr>
        <p:spPr bwMode="gray">
          <a:xfrm flipH="1">
            <a:off x="2862995" y="2676864"/>
            <a:ext cx="13914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8" idx="0"/>
          </p:cNvCxnSpPr>
          <p:nvPr/>
        </p:nvCxnSpPr>
        <p:spPr bwMode="gray">
          <a:xfrm flipV="1">
            <a:off x="2862525" y="1720402"/>
            <a:ext cx="470" cy="7355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normAutofit/>
          </a:bodyPr>
          <a:lstStyle/>
          <a:p>
            <a:r>
              <a:rPr lang="zh-CN" altLang="en-US"/>
              <a:t>配置案例 </a:t>
            </a:r>
            <a:r>
              <a:rPr lang="en-US" altLang="zh-CN"/>
              <a:t>- </a:t>
            </a:r>
            <a:r>
              <a:rPr lang="zh-CN" altLang="en-US"/>
              <a:t>组网需求与认证规划</a:t>
            </a:r>
            <a:endParaRPr lang="zh-CN" altLang="en-US" dirty="0"/>
          </a:p>
        </p:txBody>
      </p:sp>
      <p:pic>
        <p:nvPicPr>
          <p:cNvPr id="7" name="图片 6" descr="接入交换机.png"/>
          <p:cNvPicPr>
            <a:picLocks noChangeAspect="1"/>
          </p:cNvPicPr>
          <p:nvPr/>
        </p:nvPicPr>
        <p:blipFill>
          <a:blip r:embed="rId3" cstate="print"/>
          <a:stretch>
            <a:fillRect/>
          </a:stretch>
        </p:blipFill>
        <p:spPr bwMode="gray">
          <a:xfrm>
            <a:off x="1368429" y="4765164"/>
            <a:ext cx="540000" cy="441818"/>
          </a:xfrm>
          <a:prstGeom prst="rect">
            <a:avLst/>
          </a:prstGeom>
        </p:spPr>
      </p:pic>
      <p:pic>
        <p:nvPicPr>
          <p:cNvPr id="10" name="图片 9" descr="打印机.png"/>
          <p:cNvPicPr>
            <a:picLocks noChangeAspect="1"/>
          </p:cNvPicPr>
          <p:nvPr/>
        </p:nvPicPr>
        <p:blipFill>
          <a:blip r:embed="rId4" cstate="print"/>
          <a:stretch>
            <a:fillRect/>
          </a:stretch>
        </p:blipFill>
        <p:spPr bwMode="gray">
          <a:xfrm>
            <a:off x="1806251" y="5592053"/>
            <a:ext cx="538191" cy="428400"/>
          </a:xfrm>
          <a:prstGeom prst="rect">
            <a:avLst/>
          </a:prstGeom>
        </p:spPr>
      </p:pic>
      <p:pic>
        <p:nvPicPr>
          <p:cNvPr id="11" name="图片 10" descr="PC.png"/>
          <p:cNvPicPr>
            <a:picLocks noChangeAspect="1"/>
          </p:cNvPicPr>
          <p:nvPr/>
        </p:nvPicPr>
        <p:blipFill>
          <a:blip r:embed="rId5" cstate="print"/>
          <a:stretch>
            <a:fillRect/>
          </a:stretch>
        </p:blipFill>
        <p:spPr bwMode="gray">
          <a:xfrm>
            <a:off x="931544" y="5599253"/>
            <a:ext cx="539063" cy="414000"/>
          </a:xfrm>
          <a:prstGeom prst="rect">
            <a:avLst/>
          </a:prstGeom>
        </p:spPr>
      </p:pic>
      <p:pic>
        <p:nvPicPr>
          <p:cNvPr id="13" name="图片 12" descr="接入交换机.png"/>
          <p:cNvPicPr>
            <a:picLocks noChangeAspect="1"/>
          </p:cNvPicPr>
          <p:nvPr/>
        </p:nvPicPr>
        <p:blipFill>
          <a:blip r:embed="rId3" cstate="print"/>
          <a:stretch>
            <a:fillRect/>
          </a:stretch>
        </p:blipFill>
        <p:spPr bwMode="gray">
          <a:xfrm>
            <a:off x="3816620" y="4765164"/>
            <a:ext cx="540000" cy="441818"/>
          </a:xfrm>
          <a:prstGeom prst="rect">
            <a:avLst/>
          </a:prstGeom>
        </p:spPr>
      </p:pic>
      <p:pic>
        <p:nvPicPr>
          <p:cNvPr id="14" name="图片 13" descr="打印机.png"/>
          <p:cNvPicPr>
            <a:picLocks noChangeAspect="1"/>
          </p:cNvPicPr>
          <p:nvPr/>
        </p:nvPicPr>
        <p:blipFill>
          <a:blip r:embed="rId4" cstate="print"/>
          <a:stretch>
            <a:fillRect/>
          </a:stretch>
        </p:blipFill>
        <p:spPr bwMode="gray">
          <a:xfrm>
            <a:off x="4254444" y="5592053"/>
            <a:ext cx="538191" cy="428400"/>
          </a:xfrm>
          <a:prstGeom prst="rect">
            <a:avLst/>
          </a:prstGeom>
        </p:spPr>
      </p:pic>
      <p:pic>
        <p:nvPicPr>
          <p:cNvPr id="15" name="图片 14" descr="PC.png"/>
          <p:cNvPicPr>
            <a:picLocks noChangeAspect="1"/>
          </p:cNvPicPr>
          <p:nvPr/>
        </p:nvPicPr>
        <p:blipFill>
          <a:blip r:embed="rId5" cstate="print"/>
          <a:stretch>
            <a:fillRect/>
          </a:stretch>
        </p:blipFill>
        <p:spPr bwMode="gray">
          <a:xfrm>
            <a:off x="3379735" y="5599253"/>
            <a:ext cx="539063" cy="414000"/>
          </a:xfrm>
          <a:prstGeom prst="rect">
            <a:avLst/>
          </a:prstGeom>
        </p:spPr>
      </p:pic>
      <p:pic>
        <p:nvPicPr>
          <p:cNvPr id="6" name="图片 5" descr="汇聚交换机.png"/>
          <p:cNvPicPr>
            <a:picLocks noChangeAspect="1"/>
          </p:cNvPicPr>
          <p:nvPr/>
        </p:nvPicPr>
        <p:blipFill>
          <a:blip r:embed="rId6" cstate="print"/>
          <a:stretch>
            <a:fillRect/>
          </a:stretch>
        </p:blipFill>
        <p:spPr bwMode="gray">
          <a:xfrm>
            <a:off x="2592525" y="3680523"/>
            <a:ext cx="540000" cy="441818"/>
          </a:xfrm>
          <a:prstGeom prst="rect">
            <a:avLst/>
          </a:prstGeom>
        </p:spPr>
      </p:pic>
      <p:pic>
        <p:nvPicPr>
          <p:cNvPr id="8" name="图片 7" descr="核心交换机.png"/>
          <p:cNvPicPr>
            <a:picLocks noChangeAspect="1"/>
          </p:cNvPicPr>
          <p:nvPr/>
        </p:nvPicPr>
        <p:blipFill>
          <a:blip r:embed="rId7" cstate="print"/>
          <a:stretch>
            <a:fillRect/>
          </a:stretch>
        </p:blipFill>
        <p:spPr bwMode="gray">
          <a:xfrm>
            <a:off x="2592525" y="2455955"/>
            <a:ext cx="540000" cy="441818"/>
          </a:xfrm>
          <a:prstGeom prst="rect">
            <a:avLst/>
          </a:prstGeom>
        </p:spPr>
      </p:pic>
      <p:cxnSp>
        <p:nvCxnSpPr>
          <p:cNvPr id="19" name="直接连接符 18"/>
          <p:cNvCxnSpPr>
            <a:stCxn id="7" idx="2"/>
            <a:endCxn id="11" idx="0"/>
          </p:cNvCxnSpPr>
          <p:nvPr/>
        </p:nvCxnSpPr>
        <p:spPr bwMode="gray">
          <a:xfrm flipH="1">
            <a:off x="1201076" y="5206982"/>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0" idx="0"/>
            <a:endCxn id="7" idx="2"/>
          </p:cNvCxnSpPr>
          <p:nvPr/>
        </p:nvCxnSpPr>
        <p:spPr bwMode="gray">
          <a:xfrm flipH="1" flipV="1">
            <a:off x="1638429" y="5206982"/>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5" idx="0"/>
            <a:endCxn id="13" idx="2"/>
          </p:cNvCxnSpPr>
          <p:nvPr/>
        </p:nvCxnSpPr>
        <p:spPr bwMode="gray">
          <a:xfrm flipV="1">
            <a:off x="3649267" y="5206982"/>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0"/>
            <a:endCxn id="13" idx="2"/>
          </p:cNvCxnSpPr>
          <p:nvPr/>
        </p:nvCxnSpPr>
        <p:spPr bwMode="gray">
          <a:xfrm flipH="1" flipV="1">
            <a:off x="4086620" y="5206982"/>
            <a:ext cx="436920"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7" idx="0"/>
            <a:endCxn id="6" idx="2"/>
          </p:cNvCxnSpPr>
          <p:nvPr/>
        </p:nvCxnSpPr>
        <p:spPr bwMode="gray">
          <a:xfrm flipV="1">
            <a:off x="1638429" y="4122341"/>
            <a:ext cx="1224096" cy="6428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3" idx="0"/>
            <a:endCxn id="6" idx="2"/>
          </p:cNvCxnSpPr>
          <p:nvPr/>
        </p:nvCxnSpPr>
        <p:spPr bwMode="gray">
          <a:xfrm flipH="1" flipV="1">
            <a:off x="2862525" y="4122341"/>
            <a:ext cx="1224095" cy="6428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6" idx="0"/>
            <a:endCxn id="8" idx="2"/>
          </p:cNvCxnSpPr>
          <p:nvPr/>
        </p:nvCxnSpPr>
        <p:spPr bwMode="gray">
          <a:xfrm flipV="1">
            <a:off x="2862525" y="2897773"/>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6" name="图片 35"/>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5064628" y="2724656"/>
            <a:ext cx="540000" cy="442800"/>
          </a:xfrm>
          <a:prstGeom prst="rect">
            <a:avLst/>
          </a:prstGeom>
        </p:spPr>
      </p:pic>
      <p:cxnSp>
        <p:nvCxnSpPr>
          <p:cNvPr id="38" name="直接连接符 37"/>
          <p:cNvCxnSpPr/>
          <p:nvPr/>
        </p:nvCxnSpPr>
        <p:spPr bwMode="gray">
          <a:xfrm flipV="1">
            <a:off x="4238772" y="1941311"/>
            <a:ext cx="825857" cy="5026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endCxn id="36" idx="1"/>
          </p:cNvCxnSpPr>
          <p:nvPr/>
        </p:nvCxnSpPr>
        <p:spPr bwMode="gray">
          <a:xfrm>
            <a:off x="4212709" y="2664838"/>
            <a:ext cx="851919" cy="2812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bwMode="gray">
          <a:xfrm>
            <a:off x="1857380" y="4068010"/>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43" name="文本框 42"/>
          <p:cNvSpPr txBox="1"/>
          <p:nvPr/>
        </p:nvSpPr>
        <p:spPr bwMode="gray">
          <a:xfrm>
            <a:off x="3106867" y="4068010"/>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44" name="文本框 43"/>
          <p:cNvSpPr txBox="1"/>
          <p:nvPr/>
        </p:nvSpPr>
        <p:spPr bwMode="gray">
          <a:xfrm>
            <a:off x="2862525" y="3372746"/>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49" name="Freeform 159"/>
          <p:cNvSpPr>
            <a:spLocks noChangeAspect="1"/>
          </p:cNvSpPr>
          <p:nvPr/>
        </p:nvSpPr>
        <p:spPr bwMode="gray">
          <a:xfrm flipH="1">
            <a:off x="2272603" y="1465946"/>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园区出口</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159"/>
          <p:cNvSpPr>
            <a:spLocks noChangeAspect="1"/>
          </p:cNvSpPr>
          <p:nvPr/>
        </p:nvSpPr>
        <p:spPr bwMode="gray">
          <a:xfrm flipH="1">
            <a:off x="3657542" y="2217620"/>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3854392" y="2447266"/>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57" name="文本框 56"/>
          <p:cNvSpPr txBox="1"/>
          <p:nvPr/>
        </p:nvSpPr>
        <p:spPr bwMode="gray">
          <a:xfrm>
            <a:off x="2074063" y="2522975"/>
            <a:ext cx="575799" cy="307777"/>
          </a:xfrm>
          <a:prstGeom prst="rect">
            <a:avLst/>
          </a:prstGeom>
          <a:noFill/>
        </p:spPr>
        <p:txBody>
          <a:bodyPr wrap="none" rtlCol="0">
            <a:spAutoFit/>
          </a:bodyPr>
          <a:lstStyle/>
          <a:p>
            <a:r>
              <a:rPr lang="en-US" altLang="zh-CN" sz="1400" b="1" dirty="0"/>
              <a:t>SW1</a:t>
            </a:r>
            <a:endParaRPr lang="zh-CN" altLang="en-US" sz="1400" b="1" dirty="0"/>
          </a:p>
        </p:txBody>
      </p:sp>
      <p:sp>
        <p:nvSpPr>
          <p:cNvPr id="58" name="文本框 57"/>
          <p:cNvSpPr txBox="1"/>
          <p:nvPr/>
        </p:nvSpPr>
        <p:spPr bwMode="gray">
          <a:xfrm>
            <a:off x="3106867" y="3777648"/>
            <a:ext cx="575799" cy="307777"/>
          </a:xfrm>
          <a:prstGeom prst="rect">
            <a:avLst/>
          </a:prstGeom>
          <a:noFill/>
        </p:spPr>
        <p:txBody>
          <a:bodyPr wrap="none" rtlCol="0">
            <a:spAutoFit/>
          </a:bodyPr>
          <a:lstStyle/>
          <a:p>
            <a:r>
              <a:rPr lang="en-US" altLang="zh-CN" sz="1400" b="1" dirty="0"/>
              <a:t>SW2</a:t>
            </a:r>
            <a:endParaRPr lang="zh-CN" altLang="en-US" sz="1400" b="1" dirty="0"/>
          </a:p>
        </p:txBody>
      </p:sp>
      <p:sp>
        <p:nvSpPr>
          <p:cNvPr id="59" name="文本框 58"/>
          <p:cNvSpPr txBox="1"/>
          <p:nvPr/>
        </p:nvSpPr>
        <p:spPr bwMode="gray">
          <a:xfrm>
            <a:off x="1846637" y="4873486"/>
            <a:ext cx="575799" cy="307777"/>
          </a:xfrm>
          <a:prstGeom prst="rect">
            <a:avLst/>
          </a:prstGeom>
          <a:noFill/>
        </p:spPr>
        <p:txBody>
          <a:bodyPr wrap="none" rtlCol="0">
            <a:spAutoFit/>
          </a:bodyPr>
          <a:lstStyle/>
          <a:p>
            <a:r>
              <a:rPr lang="en-US" altLang="zh-CN" sz="1400" b="1" dirty="0"/>
              <a:t>SW3</a:t>
            </a:r>
            <a:endParaRPr lang="zh-CN" altLang="en-US" sz="1400" b="1" dirty="0"/>
          </a:p>
        </p:txBody>
      </p:sp>
      <p:sp>
        <p:nvSpPr>
          <p:cNvPr id="60" name="文本框 59"/>
          <p:cNvSpPr txBox="1"/>
          <p:nvPr/>
        </p:nvSpPr>
        <p:spPr bwMode="gray">
          <a:xfrm>
            <a:off x="4323745" y="4873486"/>
            <a:ext cx="575799" cy="307777"/>
          </a:xfrm>
          <a:prstGeom prst="rect">
            <a:avLst/>
          </a:prstGeom>
          <a:noFill/>
        </p:spPr>
        <p:txBody>
          <a:bodyPr wrap="none" rtlCol="0">
            <a:spAutoFit/>
          </a:bodyPr>
          <a:lstStyle/>
          <a:p>
            <a:r>
              <a:rPr lang="en-US" altLang="zh-CN" sz="1400" b="1" dirty="0"/>
              <a:t>SW4</a:t>
            </a:r>
            <a:endParaRPr lang="zh-CN" altLang="en-US" sz="1400" b="1" dirty="0"/>
          </a:p>
        </p:txBody>
      </p:sp>
      <p:sp>
        <p:nvSpPr>
          <p:cNvPr id="61" name="文本框 60"/>
          <p:cNvSpPr txBox="1"/>
          <p:nvPr/>
        </p:nvSpPr>
        <p:spPr bwMode="gray">
          <a:xfrm>
            <a:off x="4523540" y="1205990"/>
            <a:ext cx="1521570" cy="523220"/>
          </a:xfrm>
          <a:prstGeom prst="rect">
            <a:avLst/>
          </a:prstGeom>
          <a:noFill/>
        </p:spPr>
        <p:txBody>
          <a:bodyPr wrap="none" rtlCol="0">
            <a:spAutoFit/>
          </a:bodyPr>
          <a:lstStyle/>
          <a:p>
            <a:pPr algn="ctr"/>
            <a:r>
              <a:rPr lang="zh-CN" altLang="en-US" sz="1400" dirty="0"/>
              <a:t>认证服务器</a:t>
            </a:r>
            <a:endParaRPr lang="en-US" altLang="zh-CN" sz="1400" dirty="0"/>
          </a:p>
          <a:p>
            <a:pPr algn="ctr"/>
            <a:r>
              <a:rPr lang="en-US" altLang="zh-CN" sz="1400" dirty="0"/>
              <a:t>192.168.100.100</a:t>
            </a:r>
            <a:endParaRPr lang="zh-CN" altLang="en-US" sz="1400" dirty="0"/>
          </a:p>
        </p:txBody>
      </p:sp>
      <p:sp>
        <p:nvSpPr>
          <p:cNvPr id="62" name="文本框 61"/>
          <p:cNvSpPr txBox="1"/>
          <p:nvPr/>
        </p:nvSpPr>
        <p:spPr bwMode="gray">
          <a:xfrm>
            <a:off x="4523540" y="3167456"/>
            <a:ext cx="1620957" cy="523220"/>
          </a:xfrm>
          <a:prstGeom prst="rect">
            <a:avLst/>
          </a:prstGeom>
          <a:noFill/>
        </p:spPr>
        <p:txBody>
          <a:bodyPr wrap="none" rtlCol="0">
            <a:spAutoFit/>
          </a:bodyPr>
          <a:lstStyle/>
          <a:p>
            <a:r>
              <a:rPr lang="zh-CN" altLang="en-US" sz="1400" dirty="0"/>
              <a:t>公司内部服务器群</a:t>
            </a:r>
            <a:endParaRPr lang="en-US" altLang="zh-CN" sz="1400" dirty="0"/>
          </a:p>
          <a:p>
            <a:r>
              <a:rPr lang="en-US" altLang="zh-CN" sz="1400" dirty="0"/>
              <a:t>192.168.101.0/24</a:t>
            </a:r>
            <a:endParaRPr lang="zh-CN" altLang="en-US" sz="1400" dirty="0"/>
          </a:p>
        </p:txBody>
      </p:sp>
      <p:sp>
        <p:nvSpPr>
          <p:cNvPr id="66" name="文本框 65"/>
          <p:cNvSpPr txBox="1"/>
          <p:nvPr/>
        </p:nvSpPr>
        <p:spPr bwMode="gray">
          <a:xfrm>
            <a:off x="969176" y="4439140"/>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67" name="文本框 66"/>
          <p:cNvSpPr txBox="1"/>
          <p:nvPr/>
        </p:nvSpPr>
        <p:spPr bwMode="gray">
          <a:xfrm>
            <a:off x="722494" y="5136855"/>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68" name="文本框 67"/>
          <p:cNvSpPr txBox="1"/>
          <p:nvPr/>
        </p:nvSpPr>
        <p:spPr bwMode="gray">
          <a:xfrm>
            <a:off x="1726409" y="5139311"/>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69" name="文本框 68"/>
          <p:cNvSpPr txBox="1"/>
          <p:nvPr/>
        </p:nvSpPr>
        <p:spPr bwMode="gray">
          <a:xfrm>
            <a:off x="3162775" y="5137000"/>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70" name="文本框 69"/>
          <p:cNvSpPr txBox="1"/>
          <p:nvPr/>
        </p:nvSpPr>
        <p:spPr bwMode="gray">
          <a:xfrm>
            <a:off x="4166690" y="5139456"/>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71" name="文本框 70"/>
          <p:cNvSpPr txBox="1"/>
          <p:nvPr/>
        </p:nvSpPr>
        <p:spPr bwMode="gray">
          <a:xfrm>
            <a:off x="3956234" y="448026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74" name="圆角矩形 75"/>
          <p:cNvSpPr/>
          <p:nvPr/>
        </p:nvSpPr>
        <p:spPr bwMode="gray">
          <a:xfrm>
            <a:off x="6247865" y="1191239"/>
            <a:ext cx="5364163"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组网需求介绍</a:t>
            </a:r>
          </a:p>
        </p:txBody>
      </p:sp>
      <p:sp>
        <p:nvSpPr>
          <p:cNvPr id="75" name="矩形 74">
            <a:extLst>
              <a:ext uri="{FF2B5EF4-FFF2-40B4-BE49-F238E27FC236}">
                <a16:creationId xmlns:a16="http://schemas.microsoft.com/office/drawing/2014/main" xmlns="" id="{8DAF5267-0E7A-4282-B5E3-24A52A24C6AE}"/>
              </a:ext>
            </a:extLst>
          </p:cNvPr>
          <p:cNvSpPr/>
          <p:nvPr/>
        </p:nvSpPr>
        <p:spPr bwMode="gray">
          <a:xfrm>
            <a:off x="6247865" y="1597859"/>
            <a:ext cx="5364163" cy="2604291"/>
          </a:xfrm>
          <a:prstGeom prst="rect">
            <a:avLst/>
          </a:prstGeom>
        </p:spPr>
        <p:txBody>
          <a:bodyPr wrap="square" lIns="48000" tIns="48000" rIns="48000" bIns="48000">
            <a:spAutoFit/>
          </a:bodyPr>
          <a:lstStyle/>
          <a:p>
            <a:pPr>
              <a:lnSpc>
                <a:spcPct val="130000"/>
              </a:lnSpc>
            </a:pPr>
            <a:r>
              <a:rPr lang="zh-CN" altLang="en-US" sz="1400" dirty="0"/>
              <a:t>某企业需要对其网络进行安全加固，要求所有终端（包括</a:t>
            </a:r>
            <a:r>
              <a:rPr lang="en-US" altLang="zh-CN" sz="1400" dirty="0"/>
              <a:t>PC</a:t>
            </a:r>
            <a:r>
              <a:rPr lang="zh-CN" altLang="en-US" sz="1400" dirty="0"/>
              <a:t>、打印机、</a:t>
            </a:r>
            <a:r>
              <a:rPr lang="en-US" altLang="zh-CN" sz="1400" dirty="0"/>
              <a:t>IP</a:t>
            </a:r>
            <a:r>
              <a:rPr lang="zh-CN" altLang="en-US" sz="1400" dirty="0"/>
              <a:t>电话等）必须通过认证才能接入网络。</a:t>
            </a:r>
            <a:endParaRPr lang="en-US" altLang="zh-CN" sz="1400" dirty="0"/>
          </a:p>
          <a:p>
            <a:pPr>
              <a:lnSpc>
                <a:spcPct val="130000"/>
              </a:lnSpc>
            </a:pPr>
            <a:r>
              <a:rPr lang="zh-CN" altLang="en-US" sz="1400" dirty="0"/>
              <a:t>该企业当前的网络情况如下：</a:t>
            </a:r>
            <a:endParaRPr lang="en-US" altLang="zh-CN" sz="1400" dirty="0"/>
          </a:p>
          <a:p>
            <a:pPr marL="285750" indent="-285750">
              <a:lnSpc>
                <a:spcPts val="2600"/>
              </a:lnSpc>
              <a:buFont typeface="Arial" panose="020B0604020202020204" pitchFamily="34" charset="0"/>
              <a:buChar char="•"/>
            </a:pPr>
            <a:r>
              <a:rPr lang="zh-CN" altLang="en-US" sz="1400" dirty="0"/>
              <a:t>因网络组建较早，现有接入交换机均不支持</a:t>
            </a:r>
            <a:r>
              <a:rPr lang="en-US" altLang="zh-CN" sz="1400" dirty="0"/>
              <a:t>802.1X</a:t>
            </a:r>
            <a:r>
              <a:rPr lang="zh-CN" altLang="en-US" sz="1400" dirty="0"/>
              <a:t>功能。</a:t>
            </a:r>
          </a:p>
          <a:p>
            <a:pPr marL="285750" indent="-285750">
              <a:lnSpc>
                <a:spcPts val="2600"/>
              </a:lnSpc>
              <a:buFont typeface="Arial" panose="020B0604020202020204" pitchFamily="34" charset="0"/>
              <a:buChar char="•"/>
            </a:pPr>
            <a:r>
              <a:rPr lang="zh-CN" altLang="en-US" sz="1400" dirty="0"/>
              <a:t>公司园区规模较小，且不存在分支机构，网络相对集中。</a:t>
            </a:r>
          </a:p>
          <a:p>
            <a:pPr marL="285750" indent="-285750">
              <a:lnSpc>
                <a:spcPts val="2600"/>
              </a:lnSpc>
              <a:buFont typeface="Arial" panose="020B0604020202020204" pitchFamily="34" charset="0"/>
              <a:buChar char="•"/>
            </a:pPr>
            <a:r>
              <a:rPr lang="zh-CN" altLang="en-US" sz="1400" dirty="0"/>
              <a:t>公司现有员工不超过</a:t>
            </a:r>
            <a:r>
              <a:rPr lang="en-US" altLang="zh-CN" sz="1400" dirty="0"/>
              <a:t>1000</a:t>
            </a:r>
            <a:r>
              <a:rPr lang="zh-CN" altLang="en-US" sz="1400" dirty="0"/>
              <a:t>人，包括访客日均终端接入量低于</a:t>
            </a:r>
            <a:r>
              <a:rPr lang="en-US" altLang="zh-CN" sz="1400" dirty="0"/>
              <a:t>2000</a:t>
            </a:r>
            <a:r>
              <a:rPr lang="zh-CN" altLang="en-US" sz="1400" dirty="0"/>
              <a:t>。</a:t>
            </a:r>
          </a:p>
          <a:p>
            <a:pPr marL="285750" indent="-285750">
              <a:lnSpc>
                <a:spcPts val="2600"/>
              </a:lnSpc>
              <a:buFont typeface="Arial" panose="020B0604020202020204" pitchFamily="34" charset="0"/>
              <a:buChar char="•"/>
            </a:pPr>
            <a:r>
              <a:rPr lang="zh-CN" altLang="en-US" sz="1400" dirty="0"/>
              <a:t>公司网络中需要接入哑终端，如</a:t>
            </a:r>
            <a:r>
              <a:rPr lang="en-US" altLang="zh-CN" sz="1400" dirty="0"/>
              <a:t>IP</a:t>
            </a:r>
            <a:r>
              <a:rPr lang="zh-CN" altLang="en-US" sz="1400" dirty="0"/>
              <a:t>电话、打印机等。</a:t>
            </a:r>
            <a:endParaRPr lang="en-US" altLang="zh-CN" sz="1400" dirty="0"/>
          </a:p>
        </p:txBody>
      </p:sp>
      <p:sp>
        <p:nvSpPr>
          <p:cNvPr id="76" name="圆角矩形 75"/>
          <p:cNvSpPr/>
          <p:nvPr/>
        </p:nvSpPr>
        <p:spPr bwMode="gray">
          <a:xfrm>
            <a:off x="6301814" y="4207428"/>
            <a:ext cx="5310213"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认证规划</a:t>
            </a:r>
          </a:p>
        </p:txBody>
      </p:sp>
      <p:sp>
        <p:nvSpPr>
          <p:cNvPr id="77" name="矩形 76">
            <a:extLst>
              <a:ext uri="{FF2B5EF4-FFF2-40B4-BE49-F238E27FC236}">
                <a16:creationId xmlns:a16="http://schemas.microsoft.com/office/drawing/2014/main" xmlns="" id="{8DAF5267-0E7A-4282-B5E3-24A52A24C6AE}"/>
              </a:ext>
            </a:extLst>
          </p:cNvPr>
          <p:cNvSpPr/>
          <p:nvPr/>
        </p:nvSpPr>
        <p:spPr bwMode="gray">
          <a:xfrm>
            <a:off x="6301814" y="4614048"/>
            <a:ext cx="5595963" cy="351303"/>
          </a:xfrm>
          <a:prstGeom prst="rect">
            <a:avLst/>
          </a:prstGeom>
        </p:spPr>
        <p:txBody>
          <a:bodyPr wrap="square" lIns="48000" tIns="48000" rIns="48000" bIns="48000">
            <a:spAutoFit/>
          </a:bodyPr>
          <a:lstStyle/>
          <a:p>
            <a:pPr>
              <a:lnSpc>
                <a:spcPct val="130000"/>
              </a:lnSpc>
            </a:pPr>
            <a:endParaRPr lang="en-US" altLang="zh-CN" sz="1400" dirty="0"/>
          </a:p>
        </p:txBody>
      </p:sp>
      <p:sp>
        <p:nvSpPr>
          <p:cNvPr id="78" name="矩形 77">
            <a:extLst>
              <a:ext uri="{FF2B5EF4-FFF2-40B4-BE49-F238E27FC236}">
                <a16:creationId xmlns:a16="http://schemas.microsoft.com/office/drawing/2014/main" xmlns="" id="{8DAF5267-0E7A-4282-B5E3-24A52A24C6AE}"/>
              </a:ext>
            </a:extLst>
          </p:cNvPr>
          <p:cNvSpPr/>
          <p:nvPr/>
        </p:nvSpPr>
        <p:spPr bwMode="gray">
          <a:xfrm>
            <a:off x="6247865" y="4625963"/>
            <a:ext cx="5364163" cy="1377288"/>
          </a:xfrm>
          <a:prstGeom prst="rect">
            <a:avLst/>
          </a:prstGeom>
        </p:spPr>
        <p:txBody>
          <a:bodyPr wrap="square" lIns="48000" tIns="48000" rIns="48000" bIns="48000">
            <a:spAutoFit/>
          </a:bodyPr>
          <a:lstStyle/>
          <a:p>
            <a:pPr>
              <a:lnSpc>
                <a:spcPct val="130000"/>
              </a:lnSpc>
            </a:pPr>
            <a:r>
              <a:rPr lang="zh-CN" altLang="en-US" sz="1400" dirty="0"/>
              <a:t>综合考虑网络情况与需求，认证规划如下：</a:t>
            </a:r>
            <a:endParaRPr lang="en-US" altLang="zh-CN" sz="1400" dirty="0"/>
          </a:p>
          <a:p>
            <a:pPr marL="285750" indent="-285750">
              <a:lnSpc>
                <a:spcPts val="2600"/>
              </a:lnSpc>
              <a:buFont typeface="Arial" panose="020B0604020202020204" pitchFamily="34" charset="0"/>
              <a:buChar char="•"/>
            </a:pPr>
            <a:r>
              <a:rPr lang="zh-CN" altLang="en-US" sz="1400" dirty="0"/>
              <a:t>汇聚层交换机上部署</a:t>
            </a:r>
            <a:r>
              <a:rPr lang="en-US" altLang="zh-CN" sz="1400" dirty="0"/>
              <a:t>802.1X</a:t>
            </a:r>
            <a:r>
              <a:rPr lang="zh-CN" altLang="en-US" sz="1400" dirty="0"/>
              <a:t>认证控制点。</a:t>
            </a:r>
            <a:endParaRPr lang="en-US" altLang="zh-CN" sz="1400" dirty="0"/>
          </a:p>
          <a:p>
            <a:pPr marL="285750" indent="-285750">
              <a:lnSpc>
                <a:spcPts val="2600"/>
              </a:lnSpc>
              <a:buFont typeface="Arial" panose="020B0604020202020204" pitchFamily="34" charset="0"/>
              <a:buChar char="•"/>
            </a:pPr>
            <a:r>
              <a:rPr lang="zh-CN" altLang="en-US" sz="1400" dirty="0"/>
              <a:t>针对哑终端接入场景，部署</a:t>
            </a:r>
            <a:r>
              <a:rPr lang="en-US" altLang="zh-CN" sz="1400" dirty="0"/>
              <a:t>MAC</a:t>
            </a:r>
            <a:r>
              <a:rPr lang="zh-CN" altLang="en-US" sz="1400" dirty="0"/>
              <a:t>认证。</a:t>
            </a:r>
            <a:endParaRPr lang="en-US" altLang="zh-CN" sz="1400" dirty="0"/>
          </a:p>
          <a:p>
            <a:pPr marL="285750" indent="-285750">
              <a:lnSpc>
                <a:spcPts val="2600"/>
              </a:lnSpc>
              <a:buFont typeface="Arial" panose="020B0604020202020204" pitchFamily="34" charset="0"/>
              <a:buChar char="•"/>
            </a:pPr>
            <a:r>
              <a:rPr lang="zh-CN" altLang="en-US" sz="1400" dirty="0"/>
              <a:t>认证通过的用户能够访问公司内部服务器群。</a:t>
            </a:r>
          </a:p>
        </p:txBody>
      </p:sp>
      <p:pic>
        <p:nvPicPr>
          <p:cNvPr id="79" name="图片 78" descr="交换机.png"/>
          <p:cNvPicPr>
            <a:picLocks noChangeAspect="1"/>
          </p:cNvPicPr>
          <p:nvPr/>
        </p:nvPicPr>
        <p:blipFill>
          <a:blip r:embed="rId9" cstate="print"/>
          <a:stretch>
            <a:fillRect/>
          </a:stretch>
        </p:blipFill>
        <p:spPr bwMode="gray">
          <a:xfrm>
            <a:off x="5018205" y="1711954"/>
            <a:ext cx="539999" cy="441817"/>
          </a:xfrm>
          <a:prstGeom prst="rect">
            <a:avLst/>
          </a:prstGeom>
        </p:spPr>
      </p:pic>
    </p:spTree>
    <p:extLst>
      <p:ext uri="{BB962C8B-B14F-4D97-AF65-F5344CB8AC3E}">
        <p14:creationId xmlns:p14="http://schemas.microsoft.com/office/powerpoint/2010/main" val="21986926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配置案例 </a:t>
            </a:r>
            <a:r>
              <a:rPr lang="en-US" altLang="zh-CN"/>
              <a:t>- </a:t>
            </a:r>
            <a:r>
              <a:rPr lang="zh-CN" altLang="en-US"/>
              <a:t>数据规划</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404959342"/>
              </p:ext>
            </p:extLst>
          </p:nvPr>
        </p:nvGraphicFramePr>
        <p:xfrm>
          <a:off x="2042434" y="1414654"/>
          <a:ext cx="8107132" cy="3652355"/>
        </p:xfrm>
        <a:graphic>
          <a:graphicData uri="http://schemas.openxmlformats.org/drawingml/2006/table">
            <a:tbl>
              <a:tblPr/>
              <a:tblGrid>
                <a:gridCol w="2525482">
                  <a:extLst>
                    <a:ext uri="{9D8B030D-6E8A-4147-A177-3AD203B41FA5}">
                      <a16:colId xmlns:a16="http://schemas.microsoft.com/office/drawing/2014/main" xmlns="" val="20000"/>
                    </a:ext>
                  </a:extLst>
                </a:gridCol>
                <a:gridCol w="5581650">
                  <a:extLst>
                    <a:ext uri="{9D8B030D-6E8A-4147-A177-3AD203B41FA5}">
                      <a16:colId xmlns:a16="http://schemas.microsoft.com/office/drawing/2014/main" xmlns="" val="20001"/>
                    </a:ext>
                  </a:extLst>
                </a:gridCol>
              </a:tblGrid>
              <a:tr h="382011">
                <a:tc>
                  <a:txBody>
                    <a:bodyPr/>
                    <a:lstStyle/>
                    <a:p>
                      <a:pPr algn="ctr">
                        <a:lnSpc>
                          <a:spcPct val="100000"/>
                        </a:lnSpc>
                      </a:pPr>
                      <a:r>
                        <a:rPr lang="zh-CN" altLang="en-US" sz="1600" b="1" dirty="0">
                          <a:effectLst/>
                          <a:sym typeface="Huawei Sans" panose="020C0503030203020204" pitchFamily="34" charset="0"/>
                        </a:rPr>
                        <a:t>项目</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a:effectLst/>
                          <a:sym typeface="Huawei Sans" panose="020C0503030203020204" pitchFamily="34" charset="0"/>
                        </a:rPr>
                        <a:t>数据</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0"/>
                  </a:ext>
                </a:extLst>
              </a:tr>
              <a:tr h="345146">
                <a:tc>
                  <a:txBody>
                    <a:bodyPr/>
                    <a:lstStyle/>
                    <a:p>
                      <a:pPr algn="l">
                        <a:lnSpc>
                          <a:spcPct val="100000"/>
                        </a:lnSpc>
                      </a:pPr>
                      <a:r>
                        <a:rPr lang="en-US" sz="1400" dirty="0">
                          <a:effectLst/>
                          <a:sym typeface="Huawei Sans" panose="020C0503030203020204" pitchFamily="34" charset="0"/>
                        </a:rPr>
                        <a:t>RADIUS</a:t>
                      </a:r>
                      <a:r>
                        <a:rPr lang="zh-CN" altLang="en-US" sz="1400" dirty="0">
                          <a:effectLst/>
                          <a:sym typeface="Huawei Sans" panose="020C0503030203020204" pitchFamily="34" charset="0"/>
                        </a:rPr>
                        <a:t>服务器</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en-US" sz="1400" dirty="0">
                          <a:effectLst/>
                          <a:sym typeface="Huawei Sans" panose="020C0503030203020204" pitchFamily="34" charset="0"/>
                        </a:rPr>
                        <a:t>IP</a:t>
                      </a:r>
                      <a:r>
                        <a:rPr lang="zh-CN" altLang="en-US" sz="1400" dirty="0">
                          <a:effectLst/>
                          <a:sym typeface="Huawei Sans" panose="020C0503030203020204" pitchFamily="34" charset="0"/>
                        </a:rPr>
                        <a:t>地址：</a:t>
                      </a:r>
                      <a:r>
                        <a:rPr lang="en-US" altLang="zh-CN" sz="1400" dirty="0">
                          <a:effectLst/>
                          <a:sym typeface="Huawei Sans" panose="020C0503030203020204" pitchFamily="34" charset="0"/>
                        </a:rPr>
                        <a:t>192.168.100.100</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345146">
                <a:tc>
                  <a:txBody>
                    <a:bodyPr/>
                    <a:lstStyle/>
                    <a:p>
                      <a:pPr algn="l">
                        <a:lnSpc>
                          <a:spcPct val="100000"/>
                        </a:lnSpc>
                      </a:pPr>
                      <a:r>
                        <a:rPr lang="zh-CN" altLang="en-US" sz="1400" dirty="0">
                          <a:effectLst/>
                          <a:sym typeface="Huawei Sans" panose="020C0503030203020204" pitchFamily="34" charset="0"/>
                        </a:rPr>
                        <a:t>公司内部服务器群</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zh-CN" altLang="en-US" sz="1400" dirty="0">
                          <a:effectLst/>
                          <a:sym typeface="Huawei Sans" panose="020C0503030203020204" pitchFamily="34" charset="0"/>
                        </a:rPr>
                        <a:t>网段：</a:t>
                      </a:r>
                      <a:r>
                        <a:rPr lang="en-US" altLang="zh-CN" sz="1400" dirty="0">
                          <a:effectLst/>
                          <a:sym typeface="Huawei Sans" panose="020C0503030203020204" pitchFamily="34" charset="0"/>
                        </a:rPr>
                        <a:t>192.168.101.0/24</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345146">
                <a:tc>
                  <a:txBody>
                    <a:bodyPr/>
                    <a:lstStyle/>
                    <a:p>
                      <a:pPr algn="l">
                        <a:lnSpc>
                          <a:spcPct val="100000"/>
                        </a:lnSpc>
                      </a:pPr>
                      <a:r>
                        <a:rPr lang="zh-CN" altLang="en-US" sz="1400" dirty="0">
                          <a:effectLst/>
                          <a:sym typeface="Huawei Sans" panose="020C0503030203020204" pitchFamily="34" charset="0"/>
                        </a:rPr>
                        <a:t>汇聚交换机（</a:t>
                      </a:r>
                      <a:r>
                        <a:rPr lang="en-US" altLang="zh-CN" sz="1400" dirty="0">
                          <a:effectLst/>
                          <a:sym typeface="Huawei Sans" panose="020C0503030203020204" pitchFamily="34" charset="0"/>
                        </a:rPr>
                        <a:t>SW2</a:t>
                      </a:r>
                      <a:r>
                        <a:rPr lang="zh-CN" altLang="en-US" sz="1400" dirty="0">
                          <a:effectLst/>
                          <a:sym typeface="Huawei Sans" panose="020C0503030203020204" pitchFamily="34" charset="0"/>
                        </a:rPr>
                        <a:t>）</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zh-CN" altLang="en-US" sz="1400" dirty="0" smtClean="0">
                          <a:effectLst/>
                          <a:sym typeface="Huawei Sans" panose="020C0503030203020204" pitchFamily="34" charset="0"/>
                        </a:rPr>
                        <a:t>上联接口所属的</a:t>
                      </a:r>
                      <a:r>
                        <a:rPr lang="en-US" altLang="zh-CN" sz="1400" dirty="0" smtClean="0">
                          <a:effectLst/>
                          <a:sym typeface="Huawei Sans" panose="020C0503030203020204" pitchFamily="34" charset="0"/>
                        </a:rPr>
                        <a:t>VLAN</a:t>
                      </a:r>
                      <a:r>
                        <a:rPr lang="zh-CN" altLang="en-US" sz="1400" dirty="0" smtClean="0">
                          <a:effectLst/>
                          <a:sym typeface="Huawei Sans" panose="020C0503030203020204" pitchFamily="34" charset="0"/>
                        </a:rPr>
                        <a:t>：</a:t>
                      </a:r>
                      <a:r>
                        <a:rPr lang="en-US" altLang="zh-CN" sz="1400" dirty="0" smtClean="0">
                          <a:effectLst/>
                          <a:sym typeface="Huawei Sans" panose="020C0503030203020204" pitchFamily="34" charset="0"/>
                        </a:rPr>
                        <a:t>VLAN 100</a:t>
                      </a:r>
                    </a:p>
                    <a:p>
                      <a:pPr algn="l">
                        <a:lnSpc>
                          <a:spcPct val="100000"/>
                        </a:lnSpc>
                      </a:pPr>
                      <a:r>
                        <a:rPr lang="zh-CN" altLang="en-US" sz="1400" dirty="0" smtClean="0">
                          <a:effectLst/>
                          <a:sym typeface="Huawei Sans" panose="020C0503030203020204" pitchFamily="34" charset="0"/>
                        </a:rPr>
                        <a:t>下行接口</a:t>
                      </a:r>
                      <a:r>
                        <a:rPr lang="en-US" altLang="zh-CN" sz="1400" dirty="0" smtClean="0">
                          <a:effectLst/>
                          <a:sym typeface="Huawei Sans" panose="020C0503030203020204" pitchFamily="34" charset="0"/>
                        </a:rPr>
                        <a:t>GE0/0/1</a:t>
                      </a:r>
                      <a:r>
                        <a:rPr lang="zh-CN" altLang="en-US" sz="1400" dirty="0" smtClean="0">
                          <a:effectLst/>
                          <a:sym typeface="Huawei Sans" panose="020C0503030203020204" pitchFamily="34" charset="0"/>
                        </a:rPr>
                        <a:t>、</a:t>
                      </a:r>
                      <a:r>
                        <a:rPr lang="en-US" altLang="zh-CN" sz="1400" dirty="0" smtClean="0">
                          <a:effectLst/>
                          <a:sym typeface="Huawei Sans" panose="020C0503030203020204" pitchFamily="34" charset="0"/>
                        </a:rPr>
                        <a:t>GE0/0/2</a:t>
                      </a:r>
                      <a:r>
                        <a:rPr lang="zh-CN" altLang="en-US" sz="1400" dirty="0" smtClean="0">
                          <a:effectLst/>
                          <a:sym typeface="Huawei Sans" panose="020C0503030203020204" pitchFamily="34" charset="0"/>
                        </a:rPr>
                        <a:t>所属</a:t>
                      </a:r>
                      <a:r>
                        <a:rPr lang="en-US" altLang="zh-CN" sz="1400" dirty="0" smtClean="0">
                          <a:effectLst/>
                          <a:sym typeface="Huawei Sans" panose="020C0503030203020204" pitchFamily="34" charset="0"/>
                        </a:rPr>
                        <a:t>VLAN</a:t>
                      </a:r>
                      <a:r>
                        <a:rPr lang="zh-CN" altLang="en-US" sz="1400" dirty="0" smtClean="0">
                          <a:effectLst/>
                          <a:sym typeface="Huawei Sans" panose="020C0503030203020204" pitchFamily="34" charset="0"/>
                        </a:rPr>
                        <a:t>：</a:t>
                      </a:r>
                      <a:r>
                        <a:rPr lang="en-US" altLang="zh-CN" sz="1400" dirty="0" smtClean="0">
                          <a:effectLst/>
                          <a:sym typeface="Huawei Sans" panose="020C0503030203020204" pitchFamily="34" charset="0"/>
                        </a:rPr>
                        <a:t>VLAN 200</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345146">
                <a:tc>
                  <a:txBody>
                    <a:bodyPr/>
                    <a:lstStyle/>
                    <a:p>
                      <a:pPr algn="l">
                        <a:lnSpc>
                          <a:spcPct val="100000"/>
                        </a:lnSpc>
                      </a:pPr>
                      <a:r>
                        <a:rPr lang="zh-CN" altLang="en-US" sz="1400" dirty="0">
                          <a:effectLst/>
                          <a:sym typeface="Huawei Sans" panose="020C0503030203020204" pitchFamily="34" charset="0"/>
                        </a:rPr>
                        <a:t>接入交换机（</a:t>
                      </a:r>
                      <a:r>
                        <a:rPr lang="en-US" altLang="zh-CN" sz="1400" dirty="0">
                          <a:effectLst/>
                          <a:sym typeface="Huawei Sans" panose="020C0503030203020204" pitchFamily="34" charset="0"/>
                        </a:rPr>
                        <a:t>SW3</a:t>
                      </a:r>
                      <a:r>
                        <a:rPr lang="zh-CN" altLang="en-US" sz="1400" dirty="0">
                          <a:effectLst/>
                          <a:sym typeface="Huawei Sans" panose="020C0503030203020204" pitchFamily="34" charset="0"/>
                        </a:rPr>
                        <a:t>、</a:t>
                      </a:r>
                      <a:r>
                        <a:rPr lang="en-US" altLang="zh-CN" sz="1400" dirty="0">
                          <a:effectLst/>
                          <a:sym typeface="Huawei Sans" panose="020C0503030203020204" pitchFamily="34" charset="0"/>
                        </a:rPr>
                        <a:t>SW4</a:t>
                      </a:r>
                      <a:r>
                        <a:rPr lang="zh-CN" altLang="en-US" sz="1400" dirty="0">
                          <a:effectLst/>
                          <a:sym typeface="Huawei Sans" panose="020C0503030203020204" pitchFamily="34" charset="0"/>
                        </a:rPr>
                        <a:t>）</a:t>
                      </a:r>
                      <a:endPar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zh-CN" altLang="en-US" sz="1400" dirty="0">
                          <a:effectLst/>
                          <a:sym typeface="Huawei Sans" panose="020C0503030203020204" pitchFamily="34" charset="0"/>
                        </a:rPr>
                        <a:t>用户所属的</a:t>
                      </a:r>
                      <a:r>
                        <a:rPr lang="en-US" sz="1400" dirty="0">
                          <a:effectLst/>
                          <a:sym typeface="Huawei Sans" panose="020C0503030203020204" pitchFamily="34" charset="0"/>
                        </a:rPr>
                        <a:t>VLAN ID：200</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345146">
                <a:tc>
                  <a:txBody>
                    <a:bodyPr/>
                    <a:lstStyle/>
                    <a:p>
                      <a:pPr algn="l">
                        <a:lnSpc>
                          <a:spcPct val="100000"/>
                        </a:lnSpc>
                      </a:pPr>
                      <a:r>
                        <a:rPr lang="en-US" sz="1400" dirty="0">
                          <a:effectLst/>
                          <a:sym typeface="Huawei Sans" panose="020C0503030203020204" pitchFamily="34" charset="0"/>
                        </a:rPr>
                        <a:t>RADIUS</a:t>
                      </a:r>
                      <a:r>
                        <a:rPr lang="zh-CN" altLang="en-US" sz="1400" dirty="0">
                          <a:effectLst/>
                          <a:sym typeface="Huawei Sans" panose="020C0503030203020204" pitchFamily="34" charset="0"/>
                        </a:rPr>
                        <a:t>方案</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zh-CN" altLang="en-US" sz="1400" dirty="0">
                          <a:effectLst/>
                          <a:sym typeface="Huawei Sans" panose="020C0503030203020204" pitchFamily="34" charset="0"/>
                        </a:rPr>
                        <a:t>认证服务器</a:t>
                      </a:r>
                      <a:r>
                        <a:rPr lang="en-US" sz="1400" dirty="0">
                          <a:effectLst/>
                          <a:sym typeface="Huawei Sans" panose="020C0503030203020204" pitchFamily="34" charset="0"/>
                        </a:rPr>
                        <a:t>IP</a:t>
                      </a:r>
                      <a:r>
                        <a:rPr lang="zh-CN" altLang="en-US" sz="1400" dirty="0">
                          <a:effectLst/>
                          <a:sym typeface="Huawei Sans" panose="020C0503030203020204" pitchFamily="34" charset="0"/>
                        </a:rPr>
                        <a:t>地址</a:t>
                      </a:r>
                      <a:r>
                        <a:rPr lang="zh-CN" altLang="en-US" sz="1400" dirty="0" smtClean="0">
                          <a:effectLst/>
                          <a:sym typeface="Huawei Sans" panose="020C0503030203020204" pitchFamily="34" charset="0"/>
                        </a:rPr>
                        <a:t>：</a:t>
                      </a:r>
                      <a:r>
                        <a:rPr lang="en-US" altLang="zh-CN" sz="1400" dirty="0" smtClean="0">
                          <a:effectLst/>
                          <a:sym typeface="Huawei Sans" panose="020C0503030203020204" pitchFamily="34" charset="0"/>
                        </a:rPr>
                        <a:t>192.168.100.100</a:t>
                      </a:r>
                      <a:endParaRPr lang="en-US" altLang="zh-CN" sz="1400" dirty="0">
                        <a:effectLst/>
                        <a:sym typeface="Huawei Sans" panose="020C0503030203020204" pitchFamily="34" charset="0"/>
                      </a:endParaRPr>
                    </a:p>
                    <a:p>
                      <a:pPr algn="l">
                        <a:lnSpc>
                          <a:spcPct val="100000"/>
                        </a:lnSpc>
                      </a:pPr>
                      <a:r>
                        <a:rPr lang="zh-CN" altLang="en-US" sz="1400" dirty="0">
                          <a:effectLst/>
                          <a:sym typeface="Huawei Sans" panose="020C0503030203020204" pitchFamily="34" charset="0"/>
                        </a:rPr>
                        <a:t>认证服务器端口号：</a:t>
                      </a:r>
                      <a:r>
                        <a:rPr lang="en-US" altLang="zh-CN" sz="1400" dirty="0">
                          <a:effectLst/>
                          <a:sym typeface="Huawei Sans" panose="020C0503030203020204" pitchFamily="34" charset="0"/>
                        </a:rPr>
                        <a:t>1812</a:t>
                      </a:r>
                    </a:p>
                    <a:p>
                      <a:pPr algn="l">
                        <a:lnSpc>
                          <a:spcPct val="100000"/>
                        </a:lnSpc>
                      </a:pPr>
                      <a:r>
                        <a:rPr lang="zh-CN" altLang="en-US" sz="1400" dirty="0">
                          <a:effectLst/>
                          <a:sym typeface="Huawei Sans" panose="020C0503030203020204" pitchFamily="34" charset="0"/>
                        </a:rPr>
                        <a:t>计费服务器</a:t>
                      </a:r>
                      <a:r>
                        <a:rPr lang="en-US" sz="1400" dirty="0">
                          <a:effectLst/>
                          <a:sym typeface="Huawei Sans" panose="020C0503030203020204" pitchFamily="34" charset="0"/>
                        </a:rPr>
                        <a:t>IP</a:t>
                      </a:r>
                      <a:r>
                        <a:rPr lang="zh-CN" altLang="en-US" sz="1400" dirty="0">
                          <a:effectLst/>
                          <a:sym typeface="Huawei Sans" panose="020C0503030203020204" pitchFamily="34" charset="0"/>
                        </a:rPr>
                        <a:t>地址：</a:t>
                      </a:r>
                      <a:r>
                        <a:rPr lang="en-US" altLang="zh-CN" sz="1400" dirty="0">
                          <a:effectLst/>
                          <a:sym typeface="Huawei Sans" panose="020C0503030203020204" pitchFamily="34" charset="0"/>
                        </a:rPr>
                        <a:t>192.168.100.100</a:t>
                      </a:r>
                    </a:p>
                    <a:p>
                      <a:pPr algn="l">
                        <a:lnSpc>
                          <a:spcPct val="100000"/>
                        </a:lnSpc>
                      </a:pPr>
                      <a:r>
                        <a:rPr lang="zh-CN" altLang="en-US" sz="1400" dirty="0">
                          <a:effectLst/>
                          <a:sym typeface="Huawei Sans" panose="020C0503030203020204" pitchFamily="34" charset="0"/>
                        </a:rPr>
                        <a:t>计费服务器端口号：</a:t>
                      </a:r>
                      <a:r>
                        <a:rPr lang="en-US" altLang="zh-CN" sz="1400" dirty="0">
                          <a:effectLst/>
                          <a:sym typeface="Huawei Sans" panose="020C0503030203020204" pitchFamily="34" charset="0"/>
                        </a:rPr>
                        <a:t>1813</a:t>
                      </a:r>
                    </a:p>
                    <a:p>
                      <a:pPr algn="l">
                        <a:lnSpc>
                          <a:spcPct val="100000"/>
                        </a:lnSpc>
                      </a:pPr>
                      <a:r>
                        <a:rPr lang="en-US" sz="1400" dirty="0">
                          <a:effectLst/>
                          <a:sym typeface="Huawei Sans" panose="020C0503030203020204" pitchFamily="34" charset="0"/>
                        </a:rPr>
                        <a:t>RADIUS</a:t>
                      </a:r>
                      <a:r>
                        <a:rPr lang="zh-CN" altLang="en-US" sz="1400" dirty="0">
                          <a:effectLst/>
                          <a:sym typeface="Huawei Sans" panose="020C0503030203020204" pitchFamily="34" charset="0"/>
                        </a:rPr>
                        <a:t>服务器共享密钥</a:t>
                      </a:r>
                      <a:r>
                        <a:rPr lang="zh-CN" altLang="en-US" sz="1400" dirty="0" smtClean="0">
                          <a:effectLst/>
                          <a:sym typeface="Huawei Sans" panose="020C0503030203020204" pitchFamily="34" charset="0"/>
                        </a:rPr>
                        <a:t>：</a:t>
                      </a:r>
                      <a:r>
                        <a:rPr lang="en-US" sz="1400" dirty="0" smtClean="0">
                          <a:effectLst/>
                          <a:sym typeface="Huawei Sans" panose="020C0503030203020204" pitchFamily="34" charset="0"/>
                        </a:rPr>
                        <a:t>Huawei@123</a:t>
                      </a:r>
                      <a:endParaRPr lang="en-US" sz="1400" dirty="0">
                        <a:effectLst/>
                        <a:sym typeface="Huawei Sans" panose="020C0503030203020204" pitchFamily="34" charset="0"/>
                      </a:endParaRPr>
                    </a:p>
                    <a:p>
                      <a:pPr algn="l">
                        <a:lnSpc>
                          <a:spcPct val="100000"/>
                        </a:lnSpc>
                      </a:pPr>
                      <a:r>
                        <a:rPr lang="zh-CN" altLang="en-US" sz="1400" dirty="0">
                          <a:effectLst/>
                          <a:sym typeface="Huawei Sans" panose="020C0503030203020204" pitchFamily="34" charset="0"/>
                        </a:rPr>
                        <a:t>认证域：</a:t>
                      </a:r>
                      <a:r>
                        <a:rPr lang="en-US" altLang="zh-CN" sz="1400" dirty="0" err="1">
                          <a:effectLst/>
                          <a:sym typeface="Huawei Sans" panose="020C0503030203020204" pitchFamily="34" charset="0"/>
                        </a:rPr>
                        <a:t>nac</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r h="345146">
                <a:tc>
                  <a:txBody>
                    <a:bodyPr/>
                    <a:lstStyle/>
                    <a:p>
                      <a:pPr algn="l">
                        <a:lnSpc>
                          <a:spcPct val="100000"/>
                        </a:lnSpc>
                      </a:pPr>
                      <a:r>
                        <a:rPr lang="zh-CN" altLang="en-US" sz="1400" dirty="0">
                          <a:effectLst/>
                          <a:sym typeface="Huawei Sans" panose="020C0503030203020204" pitchFamily="34" charset="0"/>
                        </a:rPr>
                        <a:t>认证后域</a:t>
                      </a:r>
                      <a:r>
                        <a:rPr lang="en-US" altLang="zh-CN" sz="1400" dirty="0">
                          <a:effectLst/>
                          <a:sym typeface="Huawei Sans" panose="020C0503030203020204" pitchFamily="34" charset="0"/>
                        </a:rPr>
                        <a:t>ACL</a:t>
                      </a:r>
                      <a:r>
                        <a:rPr lang="zh-CN" altLang="en-US" sz="1400" dirty="0">
                          <a:effectLst/>
                          <a:sym typeface="Huawei Sans" panose="020C0503030203020204" pitchFamily="34" charset="0"/>
                        </a:rPr>
                        <a:t>编号</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ct val="100000"/>
                        </a:lnSpc>
                      </a:pPr>
                      <a:r>
                        <a:rPr lang="en-US" sz="1400" dirty="0">
                          <a:effectLst/>
                          <a:sym typeface="Huawei Sans" panose="020C0503030203020204" pitchFamily="34" charset="0"/>
                        </a:rPr>
                        <a:t>3001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413636274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t>配置案例 </a:t>
            </a:r>
            <a:r>
              <a:rPr lang="en-US" altLang="zh-CN"/>
              <a:t>- </a:t>
            </a:r>
            <a:r>
              <a:rPr lang="zh-CN" altLang="en-US"/>
              <a:t>操作步骤 </a:t>
            </a:r>
            <a:r>
              <a:rPr lang="en-US" altLang="zh-CN"/>
              <a:t>(1)</a:t>
            </a:r>
            <a:endParaRPr lang="zh-CN" altLang="en-US" dirty="0"/>
          </a:p>
        </p:txBody>
      </p:sp>
      <p:sp>
        <p:nvSpPr>
          <p:cNvPr id="4" name="Rectangle 3"/>
          <p:cNvSpPr/>
          <p:nvPr/>
        </p:nvSpPr>
        <p:spPr bwMode="gray">
          <a:xfrm>
            <a:off x="6128561" y="2179424"/>
            <a:ext cx="5555439" cy="3231654"/>
          </a:xfrm>
          <a:prstGeom prst="rect">
            <a:avLst/>
          </a:prstGeom>
          <a:solidFill>
            <a:schemeClr val="bg1">
              <a:lumMod val="85000"/>
            </a:schemeClr>
          </a:solidFill>
          <a:ln>
            <a:noFill/>
          </a:ln>
        </p:spPr>
        <p:txBody>
          <a:bodyPr wrap="square">
            <a:spAutoFit/>
          </a:bodyPr>
          <a:lstStyle/>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 l2protocol-tunnel user-defined-protocol 802.1X protocol-mac 0180-c200-0003 group-mac 0100-0000-0002</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 interface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0/0/1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[SW3-GigabitEthernet0/0/1] l2protocol-tunnel user-defined-protocol 802.1X enable</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[SW3-GigabitEthernet0/0/1]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bpdu</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enable</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[SW3-GigabitEthernet0/0/1] quit</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 interface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0/0/2</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[SW3-GigabitEthernet0/0/2] l2protocol-tunnel user-defined-protocol 802.1X enable</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[SW3-GigabitEthernet0/0/2]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bpdu</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enable</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[SW3-GigabitEthernet0/0/2] quit</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 interface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0/0/3</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[SW3-GigabitEthernet0/0/3] l2protocol-tunnel user-defined-protocol 802.1X enable</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[SW3-GigabitEthernet0/0/3]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bpdu</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enable</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[SW3-GigabitEthernet0/0/3] quit</a:t>
            </a:r>
          </a:p>
        </p:txBody>
      </p:sp>
      <p:sp>
        <p:nvSpPr>
          <p:cNvPr id="5" name="文本框 4"/>
          <p:cNvSpPr txBox="1"/>
          <p:nvPr/>
        </p:nvSpPr>
        <p:spPr bwMode="gray">
          <a:xfrm>
            <a:off x="6175185" y="1350394"/>
            <a:ext cx="4665150"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配置网络互连互通。（略）</a:t>
            </a:r>
          </a:p>
        </p:txBody>
      </p:sp>
      <p:sp>
        <p:nvSpPr>
          <p:cNvPr id="6" name="文本框 5"/>
          <p:cNvSpPr txBox="1"/>
          <p:nvPr/>
        </p:nvSpPr>
        <p:spPr bwMode="gray">
          <a:xfrm>
            <a:off x="6175185" y="1746978"/>
            <a:ext cx="4665150"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2"/>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报文透传功能，以</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SW3</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为例：</a:t>
            </a:r>
          </a:p>
        </p:txBody>
      </p:sp>
      <p:cxnSp>
        <p:nvCxnSpPr>
          <p:cNvPr id="7" name="直接连接符 6"/>
          <p:cNvCxnSpPr/>
          <p:nvPr/>
        </p:nvCxnSpPr>
        <p:spPr bwMode="gray">
          <a:xfrm flipH="1">
            <a:off x="2895119" y="2782767"/>
            <a:ext cx="13914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16" idx="0"/>
          </p:cNvCxnSpPr>
          <p:nvPr/>
        </p:nvCxnSpPr>
        <p:spPr bwMode="gray">
          <a:xfrm flipV="1">
            <a:off x="2894649" y="1826305"/>
            <a:ext cx="470" cy="7355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descr="接入交换机.png"/>
          <p:cNvPicPr>
            <a:picLocks noChangeAspect="1"/>
          </p:cNvPicPr>
          <p:nvPr/>
        </p:nvPicPr>
        <p:blipFill>
          <a:blip r:embed="rId3" cstate="print"/>
          <a:stretch>
            <a:fillRect/>
          </a:stretch>
        </p:blipFill>
        <p:spPr bwMode="gray">
          <a:xfrm>
            <a:off x="1400553" y="4871067"/>
            <a:ext cx="540000" cy="441818"/>
          </a:xfrm>
          <a:prstGeom prst="rect">
            <a:avLst/>
          </a:prstGeom>
        </p:spPr>
      </p:pic>
      <p:pic>
        <p:nvPicPr>
          <p:cNvPr id="10" name="图片 9" descr="打印机.png"/>
          <p:cNvPicPr>
            <a:picLocks noChangeAspect="1"/>
          </p:cNvPicPr>
          <p:nvPr/>
        </p:nvPicPr>
        <p:blipFill>
          <a:blip r:embed="rId4" cstate="print"/>
          <a:stretch>
            <a:fillRect/>
          </a:stretch>
        </p:blipFill>
        <p:spPr bwMode="gray">
          <a:xfrm>
            <a:off x="1838375" y="5697956"/>
            <a:ext cx="538191" cy="428400"/>
          </a:xfrm>
          <a:prstGeom prst="rect">
            <a:avLst/>
          </a:prstGeom>
        </p:spPr>
      </p:pic>
      <p:pic>
        <p:nvPicPr>
          <p:cNvPr id="11" name="图片 10" descr="PC.png"/>
          <p:cNvPicPr>
            <a:picLocks noChangeAspect="1"/>
          </p:cNvPicPr>
          <p:nvPr/>
        </p:nvPicPr>
        <p:blipFill>
          <a:blip r:embed="rId5" cstate="print"/>
          <a:stretch>
            <a:fillRect/>
          </a:stretch>
        </p:blipFill>
        <p:spPr bwMode="gray">
          <a:xfrm>
            <a:off x="963668" y="5705156"/>
            <a:ext cx="539063" cy="414000"/>
          </a:xfrm>
          <a:prstGeom prst="rect">
            <a:avLst/>
          </a:prstGeom>
        </p:spPr>
      </p:pic>
      <p:pic>
        <p:nvPicPr>
          <p:cNvPr id="12" name="图片 11" descr="接入交换机.png"/>
          <p:cNvPicPr>
            <a:picLocks noChangeAspect="1"/>
          </p:cNvPicPr>
          <p:nvPr/>
        </p:nvPicPr>
        <p:blipFill>
          <a:blip r:embed="rId3" cstate="print"/>
          <a:stretch>
            <a:fillRect/>
          </a:stretch>
        </p:blipFill>
        <p:spPr bwMode="gray">
          <a:xfrm>
            <a:off x="3848744" y="4871067"/>
            <a:ext cx="540000" cy="441818"/>
          </a:xfrm>
          <a:prstGeom prst="rect">
            <a:avLst/>
          </a:prstGeom>
        </p:spPr>
      </p:pic>
      <p:pic>
        <p:nvPicPr>
          <p:cNvPr id="13" name="图片 12" descr="打印机.png"/>
          <p:cNvPicPr>
            <a:picLocks noChangeAspect="1"/>
          </p:cNvPicPr>
          <p:nvPr/>
        </p:nvPicPr>
        <p:blipFill>
          <a:blip r:embed="rId4" cstate="print"/>
          <a:stretch>
            <a:fillRect/>
          </a:stretch>
        </p:blipFill>
        <p:spPr bwMode="gray">
          <a:xfrm>
            <a:off x="4286568" y="5697956"/>
            <a:ext cx="538191" cy="428400"/>
          </a:xfrm>
          <a:prstGeom prst="rect">
            <a:avLst/>
          </a:prstGeom>
        </p:spPr>
      </p:pic>
      <p:pic>
        <p:nvPicPr>
          <p:cNvPr id="14" name="图片 13" descr="PC.png"/>
          <p:cNvPicPr>
            <a:picLocks noChangeAspect="1"/>
          </p:cNvPicPr>
          <p:nvPr/>
        </p:nvPicPr>
        <p:blipFill>
          <a:blip r:embed="rId5" cstate="print"/>
          <a:stretch>
            <a:fillRect/>
          </a:stretch>
        </p:blipFill>
        <p:spPr bwMode="gray">
          <a:xfrm>
            <a:off x="3411859" y="5705156"/>
            <a:ext cx="539063" cy="414000"/>
          </a:xfrm>
          <a:prstGeom prst="rect">
            <a:avLst/>
          </a:prstGeom>
        </p:spPr>
      </p:pic>
      <p:pic>
        <p:nvPicPr>
          <p:cNvPr id="15" name="图片 14" descr="汇聚交换机.png"/>
          <p:cNvPicPr>
            <a:picLocks noChangeAspect="1"/>
          </p:cNvPicPr>
          <p:nvPr/>
        </p:nvPicPr>
        <p:blipFill>
          <a:blip r:embed="rId6" cstate="print"/>
          <a:stretch>
            <a:fillRect/>
          </a:stretch>
        </p:blipFill>
        <p:spPr bwMode="gray">
          <a:xfrm>
            <a:off x="2624649" y="3786426"/>
            <a:ext cx="540000" cy="441818"/>
          </a:xfrm>
          <a:prstGeom prst="rect">
            <a:avLst/>
          </a:prstGeom>
        </p:spPr>
      </p:pic>
      <p:pic>
        <p:nvPicPr>
          <p:cNvPr id="16" name="图片 15" descr="核心交换机.png"/>
          <p:cNvPicPr>
            <a:picLocks noChangeAspect="1"/>
          </p:cNvPicPr>
          <p:nvPr/>
        </p:nvPicPr>
        <p:blipFill>
          <a:blip r:embed="rId7" cstate="print"/>
          <a:stretch>
            <a:fillRect/>
          </a:stretch>
        </p:blipFill>
        <p:spPr bwMode="gray">
          <a:xfrm>
            <a:off x="2624649" y="2561858"/>
            <a:ext cx="540000" cy="441818"/>
          </a:xfrm>
          <a:prstGeom prst="rect">
            <a:avLst/>
          </a:prstGeom>
        </p:spPr>
      </p:pic>
      <p:cxnSp>
        <p:nvCxnSpPr>
          <p:cNvPr id="17" name="直接连接符 16"/>
          <p:cNvCxnSpPr>
            <a:stCxn id="9" idx="2"/>
            <a:endCxn id="11" idx="0"/>
          </p:cNvCxnSpPr>
          <p:nvPr/>
        </p:nvCxnSpPr>
        <p:spPr bwMode="gray">
          <a:xfrm flipH="1">
            <a:off x="1233200" y="5312885"/>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0" idx="0"/>
            <a:endCxn id="9" idx="2"/>
          </p:cNvCxnSpPr>
          <p:nvPr/>
        </p:nvCxnSpPr>
        <p:spPr bwMode="gray">
          <a:xfrm flipH="1" flipV="1">
            <a:off x="1670553" y="5312885"/>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4" idx="0"/>
            <a:endCxn id="12" idx="2"/>
          </p:cNvCxnSpPr>
          <p:nvPr/>
        </p:nvCxnSpPr>
        <p:spPr bwMode="gray">
          <a:xfrm flipV="1">
            <a:off x="3681391" y="5312885"/>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3" idx="0"/>
            <a:endCxn id="12" idx="2"/>
          </p:cNvCxnSpPr>
          <p:nvPr/>
        </p:nvCxnSpPr>
        <p:spPr bwMode="gray">
          <a:xfrm flipH="1" flipV="1">
            <a:off x="4118744" y="5312885"/>
            <a:ext cx="436920"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9" idx="0"/>
            <a:endCxn id="15" idx="2"/>
          </p:cNvCxnSpPr>
          <p:nvPr/>
        </p:nvCxnSpPr>
        <p:spPr bwMode="gray">
          <a:xfrm flipV="1">
            <a:off x="1670553" y="4228244"/>
            <a:ext cx="1224096" cy="6428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2" idx="0"/>
            <a:endCxn id="15" idx="2"/>
          </p:cNvCxnSpPr>
          <p:nvPr/>
        </p:nvCxnSpPr>
        <p:spPr bwMode="gray">
          <a:xfrm flipH="1" flipV="1">
            <a:off x="2894649" y="4228244"/>
            <a:ext cx="1224095" cy="6428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5" idx="0"/>
            <a:endCxn id="16" idx="2"/>
          </p:cNvCxnSpPr>
          <p:nvPr/>
        </p:nvCxnSpPr>
        <p:spPr bwMode="gray">
          <a:xfrm flipV="1">
            <a:off x="2894649" y="3003676"/>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图片 23"/>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5096752" y="2830559"/>
            <a:ext cx="540000" cy="442800"/>
          </a:xfrm>
          <a:prstGeom prst="rect">
            <a:avLst/>
          </a:prstGeom>
        </p:spPr>
      </p:pic>
      <p:cxnSp>
        <p:nvCxnSpPr>
          <p:cNvPr id="25" name="直接连接符 24"/>
          <p:cNvCxnSpPr/>
          <p:nvPr/>
        </p:nvCxnSpPr>
        <p:spPr bwMode="gray">
          <a:xfrm flipV="1">
            <a:off x="4270896" y="2047214"/>
            <a:ext cx="825857" cy="5026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4" idx="1"/>
          </p:cNvCxnSpPr>
          <p:nvPr/>
        </p:nvCxnSpPr>
        <p:spPr bwMode="gray">
          <a:xfrm>
            <a:off x="4244833" y="2770741"/>
            <a:ext cx="851919" cy="2812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bwMode="gray">
          <a:xfrm>
            <a:off x="1889504" y="417391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28" name="文本框 27"/>
          <p:cNvSpPr txBox="1"/>
          <p:nvPr/>
        </p:nvSpPr>
        <p:spPr bwMode="gray">
          <a:xfrm>
            <a:off x="3138991" y="4173913"/>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29" name="文本框 28"/>
          <p:cNvSpPr txBox="1"/>
          <p:nvPr/>
        </p:nvSpPr>
        <p:spPr bwMode="gray">
          <a:xfrm>
            <a:off x="2894649" y="3478649"/>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30" name="Freeform 159"/>
          <p:cNvSpPr>
            <a:spLocks noChangeAspect="1"/>
          </p:cNvSpPr>
          <p:nvPr/>
        </p:nvSpPr>
        <p:spPr bwMode="gray">
          <a:xfrm flipH="1">
            <a:off x="2304727" y="1571849"/>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园区出口</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Freeform 159"/>
          <p:cNvSpPr>
            <a:spLocks noChangeAspect="1"/>
          </p:cNvSpPr>
          <p:nvPr/>
        </p:nvSpPr>
        <p:spPr bwMode="gray">
          <a:xfrm flipH="1">
            <a:off x="3689666" y="2323523"/>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3886516" y="2553169"/>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33" name="文本框 32"/>
          <p:cNvSpPr txBox="1"/>
          <p:nvPr/>
        </p:nvSpPr>
        <p:spPr bwMode="gray">
          <a:xfrm>
            <a:off x="2106187" y="2628878"/>
            <a:ext cx="575799" cy="307777"/>
          </a:xfrm>
          <a:prstGeom prst="rect">
            <a:avLst/>
          </a:prstGeom>
          <a:noFill/>
        </p:spPr>
        <p:txBody>
          <a:bodyPr wrap="none" rtlCol="0">
            <a:spAutoFit/>
          </a:bodyPr>
          <a:lstStyle/>
          <a:p>
            <a:r>
              <a:rPr lang="en-US" altLang="zh-CN" sz="1400" b="1" dirty="0"/>
              <a:t>SW1</a:t>
            </a:r>
            <a:endParaRPr lang="zh-CN" altLang="en-US" sz="1400" b="1" dirty="0"/>
          </a:p>
        </p:txBody>
      </p:sp>
      <p:sp>
        <p:nvSpPr>
          <p:cNvPr id="34" name="文本框 33"/>
          <p:cNvSpPr txBox="1"/>
          <p:nvPr/>
        </p:nvSpPr>
        <p:spPr bwMode="gray">
          <a:xfrm>
            <a:off x="3138991" y="3883551"/>
            <a:ext cx="575799" cy="307777"/>
          </a:xfrm>
          <a:prstGeom prst="rect">
            <a:avLst/>
          </a:prstGeom>
          <a:noFill/>
        </p:spPr>
        <p:txBody>
          <a:bodyPr wrap="none" rtlCol="0">
            <a:spAutoFit/>
          </a:bodyPr>
          <a:lstStyle/>
          <a:p>
            <a:r>
              <a:rPr lang="en-US" altLang="zh-CN" sz="1400" b="1" dirty="0"/>
              <a:t>SW2</a:t>
            </a:r>
            <a:endParaRPr lang="zh-CN" altLang="en-US" sz="1400" b="1" dirty="0"/>
          </a:p>
        </p:txBody>
      </p:sp>
      <p:sp>
        <p:nvSpPr>
          <p:cNvPr id="35" name="文本框 34"/>
          <p:cNvSpPr txBox="1"/>
          <p:nvPr/>
        </p:nvSpPr>
        <p:spPr bwMode="gray">
          <a:xfrm>
            <a:off x="1878761" y="4979389"/>
            <a:ext cx="575799" cy="307777"/>
          </a:xfrm>
          <a:prstGeom prst="rect">
            <a:avLst/>
          </a:prstGeom>
          <a:noFill/>
        </p:spPr>
        <p:txBody>
          <a:bodyPr wrap="none" rtlCol="0">
            <a:spAutoFit/>
          </a:bodyPr>
          <a:lstStyle/>
          <a:p>
            <a:r>
              <a:rPr lang="en-US" altLang="zh-CN" sz="1400" b="1" dirty="0"/>
              <a:t>SW3</a:t>
            </a:r>
            <a:endParaRPr lang="zh-CN" altLang="en-US" sz="1400" b="1" dirty="0"/>
          </a:p>
        </p:txBody>
      </p:sp>
      <p:sp>
        <p:nvSpPr>
          <p:cNvPr id="36" name="文本框 35"/>
          <p:cNvSpPr txBox="1"/>
          <p:nvPr/>
        </p:nvSpPr>
        <p:spPr bwMode="gray">
          <a:xfrm>
            <a:off x="4355869" y="4979389"/>
            <a:ext cx="575799" cy="307777"/>
          </a:xfrm>
          <a:prstGeom prst="rect">
            <a:avLst/>
          </a:prstGeom>
          <a:noFill/>
        </p:spPr>
        <p:txBody>
          <a:bodyPr wrap="none" rtlCol="0">
            <a:spAutoFit/>
          </a:bodyPr>
          <a:lstStyle/>
          <a:p>
            <a:r>
              <a:rPr lang="en-US" altLang="zh-CN" sz="1400" b="1" dirty="0"/>
              <a:t>SW4</a:t>
            </a:r>
            <a:endParaRPr lang="zh-CN" altLang="en-US" sz="1400" b="1" dirty="0"/>
          </a:p>
        </p:txBody>
      </p:sp>
      <p:sp>
        <p:nvSpPr>
          <p:cNvPr id="37" name="文本框 36"/>
          <p:cNvSpPr txBox="1"/>
          <p:nvPr/>
        </p:nvSpPr>
        <p:spPr bwMode="gray">
          <a:xfrm>
            <a:off x="4555664" y="1311893"/>
            <a:ext cx="1521570" cy="523220"/>
          </a:xfrm>
          <a:prstGeom prst="rect">
            <a:avLst/>
          </a:prstGeom>
          <a:noFill/>
        </p:spPr>
        <p:txBody>
          <a:bodyPr wrap="none" rtlCol="0">
            <a:spAutoFit/>
          </a:bodyPr>
          <a:lstStyle/>
          <a:p>
            <a:pPr algn="ctr"/>
            <a:r>
              <a:rPr lang="zh-CN" altLang="en-US" sz="1400" dirty="0"/>
              <a:t>认证服务器</a:t>
            </a:r>
            <a:endParaRPr lang="en-US" altLang="zh-CN" sz="1400" dirty="0"/>
          </a:p>
          <a:p>
            <a:pPr algn="ctr"/>
            <a:r>
              <a:rPr lang="en-US" altLang="zh-CN" sz="1400" dirty="0"/>
              <a:t>192.168.100.100</a:t>
            </a:r>
            <a:endParaRPr lang="zh-CN" altLang="en-US" sz="1400" dirty="0"/>
          </a:p>
        </p:txBody>
      </p:sp>
      <p:sp>
        <p:nvSpPr>
          <p:cNvPr id="38" name="文本框 37"/>
          <p:cNvSpPr txBox="1"/>
          <p:nvPr/>
        </p:nvSpPr>
        <p:spPr bwMode="gray">
          <a:xfrm>
            <a:off x="4555664" y="3273359"/>
            <a:ext cx="1620957" cy="523220"/>
          </a:xfrm>
          <a:prstGeom prst="rect">
            <a:avLst/>
          </a:prstGeom>
          <a:noFill/>
        </p:spPr>
        <p:txBody>
          <a:bodyPr wrap="none" rtlCol="0">
            <a:spAutoFit/>
          </a:bodyPr>
          <a:lstStyle/>
          <a:p>
            <a:r>
              <a:rPr lang="zh-CN" altLang="en-US" sz="1400" dirty="0"/>
              <a:t>公司内部服务器群</a:t>
            </a:r>
            <a:endParaRPr lang="en-US" altLang="zh-CN" sz="1400" dirty="0"/>
          </a:p>
          <a:p>
            <a:r>
              <a:rPr lang="en-US" altLang="zh-CN" sz="1400" dirty="0"/>
              <a:t>192.168.101.0/24</a:t>
            </a:r>
            <a:endParaRPr lang="zh-CN" altLang="en-US" sz="1400" dirty="0"/>
          </a:p>
        </p:txBody>
      </p:sp>
      <p:sp>
        <p:nvSpPr>
          <p:cNvPr id="39" name="文本框 38"/>
          <p:cNvSpPr txBox="1"/>
          <p:nvPr/>
        </p:nvSpPr>
        <p:spPr bwMode="gray">
          <a:xfrm>
            <a:off x="1001300" y="454504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40" name="文本框 39"/>
          <p:cNvSpPr txBox="1"/>
          <p:nvPr/>
        </p:nvSpPr>
        <p:spPr bwMode="gray">
          <a:xfrm>
            <a:off x="754618" y="5229110"/>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41" name="文本框 40"/>
          <p:cNvSpPr txBox="1"/>
          <p:nvPr/>
        </p:nvSpPr>
        <p:spPr bwMode="gray">
          <a:xfrm>
            <a:off x="1758533" y="5231566"/>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42" name="文本框 41"/>
          <p:cNvSpPr txBox="1"/>
          <p:nvPr/>
        </p:nvSpPr>
        <p:spPr bwMode="gray">
          <a:xfrm>
            <a:off x="3194899" y="5229255"/>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43" name="文本框 42"/>
          <p:cNvSpPr txBox="1"/>
          <p:nvPr/>
        </p:nvSpPr>
        <p:spPr bwMode="gray">
          <a:xfrm>
            <a:off x="4198814" y="5231711"/>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44" name="文本框 43"/>
          <p:cNvSpPr txBox="1"/>
          <p:nvPr/>
        </p:nvSpPr>
        <p:spPr bwMode="gray">
          <a:xfrm>
            <a:off x="3988358" y="4586166"/>
            <a:ext cx="851515" cy="307777"/>
          </a:xfrm>
          <a:prstGeom prst="rect">
            <a:avLst/>
          </a:prstGeom>
          <a:noFill/>
        </p:spPr>
        <p:txBody>
          <a:bodyPr wrap="none" rtlCol="0">
            <a:spAutoFit/>
          </a:bodyPr>
          <a:lstStyle/>
          <a:p>
            <a:r>
              <a:rPr lang="en-US" altLang="zh-CN" sz="1400" dirty="0"/>
              <a:t>GE0/0/1</a:t>
            </a:r>
            <a:endParaRPr lang="zh-CN" altLang="en-US" sz="1400" dirty="0"/>
          </a:p>
        </p:txBody>
      </p:sp>
      <p:pic>
        <p:nvPicPr>
          <p:cNvPr id="45" name="图片 44" descr="交换机.png"/>
          <p:cNvPicPr>
            <a:picLocks noChangeAspect="1"/>
          </p:cNvPicPr>
          <p:nvPr/>
        </p:nvPicPr>
        <p:blipFill>
          <a:blip r:embed="rId9" cstate="print"/>
          <a:stretch>
            <a:fillRect/>
          </a:stretch>
        </p:blipFill>
        <p:spPr bwMode="gray">
          <a:xfrm>
            <a:off x="5050329" y="1817857"/>
            <a:ext cx="539999" cy="441817"/>
          </a:xfrm>
          <a:prstGeom prst="rect">
            <a:avLst/>
          </a:prstGeom>
        </p:spPr>
      </p:pic>
    </p:spTree>
    <p:extLst>
      <p:ext uri="{BB962C8B-B14F-4D97-AF65-F5344CB8AC3E}">
        <p14:creationId xmlns:p14="http://schemas.microsoft.com/office/powerpoint/2010/main" val="386699801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t>配置案例 </a:t>
            </a:r>
            <a:r>
              <a:rPr lang="en-US" altLang="zh-CN"/>
              <a:t>- </a:t>
            </a:r>
            <a:r>
              <a:rPr lang="zh-CN" altLang="en-US"/>
              <a:t>操作步骤 </a:t>
            </a:r>
            <a:r>
              <a:rPr lang="en-US" altLang="zh-CN"/>
              <a:t>(2)</a:t>
            </a:r>
            <a:endParaRPr lang="zh-CN" altLang="en-US" dirty="0"/>
          </a:p>
        </p:txBody>
      </p:sp>
      <p:sp>
        <p:nvSpPr>
          <p:cNvPr id="4" name="Rectangle 3"/>
          <p:cNvSpPr/>
          <p:nvPr/>
        </p:nvSpPr>
        <p:spPr bwMode="gray">
          <a:xfrm>
            <a:off x="6116157" y="3050529"/>
            <a:ext cx="5256403" cy="2492990"/>
          </a:xfrm>
          <a:prstGeom prst="rect">
            <a:avLst/>
          </a:prstGeom>
          <a:solidFill>
            <a:schemeClr val="bg1">
              <a:lumMod val="85000"/>
            </a:schemeClr>
          </a:solidFill>
          <a:ln>
            <a:noFill/>
          </a:ln>
        </p:spPr>
        <p:txBody>
          <a:bodyPr wrap="square">
            <a:spAutoFit/>
          </a:bodyPr>
          <a:lstStyle/>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 aaa</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[SW2-aaa] authentication-scheme </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a1</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SW2-aaa-authen-a1] </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authentication-mode radius</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SW2-aaa-authen-a1] quit</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[SW2-aaa] </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accounting-scheme a2</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SW2-aaa-accounting-a2] accounting-mode </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radius</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[SW2-aaa-accounting-a2</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 quit</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[SW2-aaa] domain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nac</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[SW2-aaa-domain-nac] authentication-scheme a1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[SW2-aaa-domain-nac] accounting-scheme a1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[SW2-aaa-domain-nac] radius-server rd1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[SW2-aaa-domain-nac] quit</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[SW2-aaa] </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quit</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 name="文本框 4"/>
          <p:cNvSpPr txBox="1"/>
          <p:nvPr/>
        </p:nvSpPr>
        <p:spPr bwMode="gray">
          <a:xfrm>
            <a:off x="6127560" y="948681"/>
            <a:ext cx="466515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3"/>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RADIUS</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模板：</a:t>
            </a:r>
          </a:p>
        </p:txBody>
      </p:sp>
      <p:sp>
        <p:nvSpPr>
          <p:cNvPr id="6" name="文本框 5"/>
          <p:cNvSpPr txBox="1"/>
          <p:nvPr/>
        </p:nvSpPr>
        <p:spPr bwMode="gray">
          <a:xfrm>
            <a:off x="6127560" y="2654093"/>
            <a:ext cx="466515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4"/>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AAA</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认证</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方案、计费方案和认证</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域：</a:t>
            </a:r>
          </a:p>
        </p:txBody>
      </p:sp>
      <p:sp>
        <p:nvSpPr>
          <p:cNvPr id="47" name="Rectangle 3"/>
          <p:cNvSpPr/>
          <p:nvPr/>
        </p:nvSpPr>
        <p:spPr bwMode="gray">
          <a:xfrm>
            <a:off x="6127560" y="1302087"/>
            <a:ext cx="5256403" cy="1015663"/>
          </a:xfrm>
          <a:prstGeom prst="rect">
            <a:avLst/>
          </a:prstGeom>
          <a:solidFill>
            <a:schemeClr val="bg1">
              <a:lumMod val="85000"/>
            </a:schemeClr>
          </a:solidFill>
          <a:ln>
            <a:noFill/>
          </a:ln>
        </p:spPr>
        <p:txBody>
          <a:bodyPr wrap="square">
            <a:spAutoFit/>
          </a:bodyPr>
          <a:lstStyle/>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 radius-server template rd1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[SW2-radius-rd1] radius-server authentication 192.168.100.100 1812</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[SW2-radius-rd1] radius-server accounting 192.168.100.100 1813</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[SW2-radius-rd1] radius-server shared-key cipher </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Huawei@123</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[SW2-radius-rd1] quit</a:t>
            </a:r>
          </a:p>
        </p:txBody>
      </p:sp>
      <p:cxnSp>
        <p:nvCxnSpPr>
          <p:cNvPr id="49" name="直接连接符 48"/>
          <p:cNvCxnSpPr/>
          <p:nvPr/>
        </p:nvCxnSpPr>
        <p:spPr bwMode="gray">
          <a:xfrm flipH="1">
            <a:off x="2895119" y="2782767"/>
            <a:ext cx="13914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58" idx="0"/>
          </p:cNvCxnSpPr>
          <p:nvPr/>
        </p:nvCxnSpPr>
        <p:spPr bwMode="gray">
          <a:xfrm flipV="1">
            <a:off x="2894649" y="1826305"/>
            <a:ext cx="470" cy="7355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1" name="图片 50" descr="接入交换机.png"/>
          <p:cNvPicPr>
            <a:picLocks noChangeAspect="1"/>
          </p:cNvPicPr>
          <p:nvPr/>
        </p:nvPicPr>
        <p:blipFill>
          <a:blip r:embed="rId3" cstate="print"/>
          <a:stretch>
            <a:fillRect/>
          </a:stretch>
        </p:blipFill>
        <p:spPr bwMode="gray">
          <a:xfrm>
            <a:off x="1400553" y="4871067"/>
            <a:ext cx="540000" cy="441818"/>
          </a:xfrm>
          <a:prstGeom prst="rect">
            <a:avLst/>
          </a:prstGeom>
        </p:spPr>
      </p:pic>
      <p:pic>
        <p:nvPicPr>
          <p:cNvPr id="52" name="图片 51" descr="打印机.png"/>
          <p:cNvPicPr>
            <a:picLocks noChangeAspect="1"/>
          </p:cNvPicPr>
          <p:nvPr/>
        </p:nvPicPr>
        <p:blipFill>
          <a:blip r:embed="rId4" cstate="print"/>
          <a:stretch>
            <a:fillRect/>
          </a:stretch>
        </p:blipFill>
        <p:spPr bwMode="gray">
          <a:xfrm>
            <a:off x="1838375" y="5697956"/>
            <a:ext cx="538191" cy="428400"/>
          </a:xfrm>
          <a:prstGeom prst="rect">
            <a:avLst/>
          </a:prstGeom>
        </p:spPr>
      </p:pic>
      <p:pic>
        <p:nvPicPr>
          <p:cNvPr id="53" name="图片 52" descr="PC.png"/>
          <p:cNvPicPr>
            <a:picLocks noChangeAspect="1"/>
          </p:cNvPicPr>
          <p:nvPr/>
        </p:nvPicPr>
        <p:blipFill>
          <a:blip r:embed="rId5" cstate="print"/>
          <a:stretch>
            <a:fillRect/>
          </a:stretch>
        </p:blipFill>
        <p:spPr bwMode="gray">
          <a:xfrm>
            <a:off x="963668" y="5705156"/>
            <a:ext cx="539063" cy="414000"/>
          </a:xfrm>
          <a:prstGeom prst="rect">
            <a:avLst/>
          </a:prstGeom>
        </p:spPr>
      </p:pic>
      <p:pic>
        <p:nvPicPr>
          <p:cNvPr id="54" name="图片 53" descr="接入交换机.png"/>
          <p:cNvPicPr>
            <a:picLocks noChangeAspect="1"/>
          </p:cNvPicPr>
          <p:nvPr/>
        </p:nvPicPr>
        <p:blipFill>
          <a:blip r:embed="rId3" cstate="print"/>
          <a:stretch>
            <a:fillRect/>
          </a:stretch>
        </p:blipFill>
        <p:spPr bwMode="gray">
          <a:xfrm>
            <a:off x="3848744" y="4871067"/>
            <a:ext cx="540000" cy="441818"/>
          </a:xfrm>
          <a:prstGeom prst="rect">
            <a:avLst/>
          </a:prstGeom>
        </p:spPr>
      </p:pic>
      <p:pic>
        <p:nvPicPr>
          <p:cNvPr id="55" name="图片 54" descr="打印机.png"/>
          <p:cNvPicPr>
            <a:picLocks noChangeAspect="1"/>
          </p:cNvPicPr>
          <p:nvPr/>
        </p:nvPicPr>
        <p:blipFill>
          <a:blip r:embed="rId4" cstate="print"/>
          <a:stretch>
            <a:fillRect/>
          </a:stretch>
        </p:blipFill>
        <p:spPr bwMode="gray">
          <a:xfrm>
            <a:off x="4286568" y="5697956"/>
            <a:ext cx="538191" cy="428400"/>
          </a:xfrm>
          <a:prstGeom prst="rect">
            <a:avLst/>
          </a:prstGeom>
        </p:spPr>
      </p:pic>
      <p:pic>
        <p:nvPicPr>
          <p:cNvPr id="56" name="图片 55" descr="PC.png"/>
          <p:cNvPicPr>
            <a:picLocks noChangeAspect="1"/>
          </p:cNvPicPr>
          <p:nvPr/>
        </p:nvPicPr>
        <p:blipFill>
          <a:blip r:embed="rId5" cstate="print"/>
          <a:stretch>
            <a:fillRect/>
          </a:stretch>
        </p:blipFill>
        <p:spPr bwMode="gray">
          <a:xfrm>
            <a:off x="3411859" y="5705156"/>
            <a:ext cx="539063" cy="414000"/>
          </a:xfrm>
          <a:prstGeom prst="rect">
            <a:avLst/>
          </a:prstGeom>
        </p:spPr>
      </p:pic>
      <p:pic>
        <p:nvPicPr>
          <p:cNvPr id="57" name="图片 56" descr="汇聚交换机.png"/>
          <p:cNvPicPr>
            <a:picLocks noChangeAspect="1"/>
          </p:cNvPicPr>
          <p:nvPr/>
        </p:nvPicPr>
        <p:blipFill>
          <a:blip r:embed="rId6" cstate="print"/>
          <a:stretch>
            <a:fillRect/>
          </a:stretch>
        </p:blipFill>
        <p:spPr bwMode="gray">
          <a:xfrm>
            <a:off x="2624649" y="3786426"/>
            <a:ext cx="540000" cy="441818"/>
          </a:xfrm>
          <a:prstGeom prst="rect">
            <a:avLst/>
          </a:prstGeom>
        </p:spPr>
      </p:pic>
      <p:pic>
        <p:nvPicPr>
          <p:cNvPr id="58" name="图片 57" descr="核心交换机.png"/>
          <p:cNvPicPr>
            <a:picLocks noChangeAspect="1"/>
          </p:cNvPicPr>
          <p:nvPr/>
        </p:nvPicPr>
        <p:blipFill>
          <a:blip r:embed="rId7" cstate="print"/>
          <a:stretch>
            <a:fillRect/>
          </a:stretch>
        </p:blipFill>
        <p:spPr bwMode="gray">
          <a:xfrm>
            <a:off x="2624649" y="2561858"/>
            <a:ext cx="540000" cy="441818"/>
          </a:xfrm>
          <a:prstGeom prst="rect">
            <a:avLst/>
          </a:prstGeom>
        </p:spPr>
      </p:pic>
      <p:cxnSp>
        <p:nvCxnSpPr>
          <p:cNvPr id="59" name="直接连接符 58"/>
          <p:cNvCxnSpPr>
            <a:stCxn id="51" idx="2"/>
            <a:endCxn id="53" idx="0"/>
          </p:cNvCxnSpPr>
          <p:nvPr/>
        </p:nvCxnSpPr>
        <p:spPr bwMode="gray">
          <a:xfrm flipH="1">
            <a:off x="1233200" y="5312885"/>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2" idx="0"/>
            <a:endCxn id="51" idx="2"/>
          </p:cNvCxnSpPr>
          <p:nvPr/>
        </p:nvCxnSpPr>
        <p:spPr bwMode="gray">
          <a:xfrm flipH="1" flipV="1">
            <a:off x="1670553" y="5312885"/>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6" idx="0"/>
            <a:endCxn id="54" idx="2"/>
          </p:cNvCxnSpPr>
          <p:nvPr/>
        </p:nvCxnSpPr>
        <p:spPr bwMode="gray">
          <a:xfrm flipV="1">
            <a:off x="3681391" y="5312885"/>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5" idx="0"/>
            <a:endCxn id="54" idx="2"/>
          </p:cNvCxnSpPr>
          <p:nvPr/>
        </p:nvCxnSpPr>
        <p:spPr bwMode="gray">
          <a:xfrm flipH="1" flipV="1">
            <a:off x="4118744" y="5312885"/>
            <a:ext cx="436920"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1" idx="0"/>
            <a:endCxn id="57" idx="2"/>
          </p:cNvCxnSpPr>
          <p:nvPr/>
        </p:nvCxnSpPr>
        <p:spPr bwMode="gray">
          <a:xfrm flipV="1">
            <a:off x="1670553" y="4228244"/>
            <a:ext cx="1224096" cy="6428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4" idx="0"/>
            <a:endCxn id="57" idx="2"/>
          </p:cNvCxnSpPr>
          <p:nvPr/>
        </p:nvCxnSpPr>
        <p:spPr bwMode="gray">
          <a:xfrm flipH="1" flipV="1">
            <a:off x="2894649" y="4228244"/>
            <a:ext cx="1224095" cy="6428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7" idx="0"/>
            <a:endCxn id="58" idx="2"/>
          </p:cNvCxnSpPr>
          <p:nvPr/>
        </p:nvCxnSpPr>
        <p:spPr bwMode="gray">
          <a:xfrm flipV="1">
            <a:off x="2894649" y="3003676"/>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6" name="图片 65"/>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5096752" y="2830559"/>
            <a:ext cx="540000" cy="442800"/>
          </a:xfrm>
          <a:prstGeom prst="rect">
            <a:avLst/>
          </a:prstGeom>
        </p:spPr>
      </p:pic>
      <p:cxnSp>
        <p:nvCxnSpPr>
          <p:cNvPr id="67" name="直接连接符 66"/>
          <p:cNvCxnSpPr/>
          <p:nvPr/>
        </p:nvCxnSpPr>
        <p:spPr bwMode="gray">
          <a:xfrm flipV="1">
            <a:off x="4270896" y="2047214"/>
            <a:ext cx="825857" cy="5026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endCxn id="66" idx="1"/>
          </p:cNvCxnSpPr>
          <p:nvPr/>
        </p:nvCxnSpPr>
        <p:spPr bwMode="gray">
          <a:xfrm>
            <a:off x="4244833" y="2770741"/>
            <a:ext cx="851919" cy="2812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bwMode="gray">
          <a:xfrm>
            <a:off x="1889504" y="417391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70" name="文本框 69"/>
          <p:cNvSpPr txBox="1"/>
          <p:nvPr/>
        </p:nvSpPr>
        <p:spPr bwMode="gray">
          <a:xfrm>
            <a:off x="3138991" y="4173913"/>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71" name="文本框 70"/>
          <p:cNvSpPr txBox="1"/>
          <p:nvPr/>
        </p:nvSpPr>
        <p:spPr bwMode="gray">
          <a:xfrm>
            <a:off x="2894649" y="3478649"/>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72" name="Freeform 159"/>
          <p:cNvSpPr>
            <a:spLocks noChangeAspect="1"/>
          </p:cNvSpPr>
          <p:nvPr/>
        </p:nvSpPr>
        <p:spPr bwMode="gray">
          <a:xfrm flipH="1">
            <a:off x="2304727" y="1571849"/>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园区出口</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59"/>
          <p:cNvSpPr>
            <a:spLocks noChangeAspect="1"/>
          </p:cNvSpPr>
          <p:nvPr/>
        </p:nvSpPr>
        <p:spPr bwMode="gray">
          <a:xfrm flipH="1">
            <a:off x="3689666" y="2323523"/>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3886516" y="2553169"/>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75" name="文本框 74"/>
          <p:cNvSpPr txBox="1"/>
          <p:nvPr/>
        </p:nvSpPr>
        <p:spPr bwMode="gray">
          <a:xfrm>
            <a:off x="2106187" y="2628878"/>
            <a:ext cx="575799" cy="307777"/>
          </a:xfrm>
          <a:prstGeom prst="rect">
            <a:avLst/>
          </a:prstGeom>
          <a:noFill/>
        </p:spPr>
        <p:txBody>
          <a:bodyPr wrap="none" rtlCol="0">
            <a:spAutoFit/>
          </a:bodyPr>
          <a:lstStyle/>
          <a:p>
            <a:r>
              <a:rPr lang="en-US" altLang="zh-CN" sz="1400" b="1" dirty="0"/>
              <a:t>SW1</a:t>
            </a:r>
            <a:endParaRPr lang="zh-CN" altLang="en-US" sz="1400" b="1" dirty="0"/>
          </a:p>
        </p:txBody>
      </p:sp>
      <p:sp>
        <p:nvSpPr>
          <p:cNvPr id="76" name="文本框 75"/>
          <p:cNvSpPr txBox="1"/>
          <p:nvPr/>
        </p:nvSpPr>
        <p:spPr bwMode="gray">
          <a:xfrm>
            <a:off x="3138991" y="3883551"/>
            <a:ext cx="575799" cy="307777"/>
          </a:xfrm>
          <a:prstGeom prst="rect">
            <a:avLst/>
          </a:prstGeom>
          <a:noFill/>
        </p:spPr>
        <p:txBody>
          <a:bodyPr wrap="none" rtlCol="0">
            <a:spAutoFit/>
          </a:bodyPr>
          <a:lstStyle/>
          <a:p>
            <a:r>
              <a:rPr lang="en-US" altLang="zh-CN" sz="1400" b="1" dirty="0"/>
              <a:t>SW2</a:t>
            </a:r>
            <a:endParaRPr lang="zh-CN" altLang="en-US" sz="1400" b="1" dirty="0"/>
          </a:p>
        </p:txBody>
      </p:sp>
      <p:sp>
        <p:nvSpPr>
          <p:cNvPr id="77" name="文本框 76"/>
          <p:cNvSpPr txBox="1"/>
          <p:nvPr/>
        </p:nvSpPr>
        <p:spPr bwMode="gray">
          <a:xfrm>
            <a:off x="1878761" y="4979389"/>
            <a:ext cx="575799" cy="307777"/>
          </a:xfrm>
          <a:prstGeom prst="rect">
            <a:avLst/>
          </a:prstGeom>
          <a:noFill/>
        </p:spPr>
        <p:txBody>
          <a:bodyPr wrap="none" rtlCol="0">
            <a:spAutoFit/>
          </a:bodyPr>
          <a:lstStyle/>
          <a:p>
            <a:r>
              <a:rPr lang="en-US" altLang="zh-CN" sz="1400" b="1" dirty="0"/>
              <a:t>SW3</a:t>
            </a:r>
            <a:endParaRPr lang="zh-CN" altLang="en-US" sz="1400" b="1" dirty="0"/>
          </a:p>
        </p:txBody>
      </p:sp>
      <p:sp>
        <p:nvSpPr>
          <p:cNvPr id="78" name="文本框 77"/>
          <p:cNvSpPr txBox="1"/>
          <p:nvPr/>
        </p:nvSpPr>
        <p:spPr bwMode="gray">
          <a:xfrm>
            <a:off x="4355869" y="4979389"/>
            <a:ext cx="575799" cy="307777"/>
          </a:xfrm>
          <a:prstGeom prst="rect">
            <a:avLst/>
          </a:prstGeom>
          <a:noFill/>
        </p:spPr>
        <p:txBody>
          <a:bodyPr wrap="none" rtlCol="0">
            <a:spAutoFit/>
          </a:bodyPr>
          <a:lstStyle/>
          <a:p>
            <a:r>
              <a:rPr lang="en-US" altLang="zh-CN" sz="1400" b="1" dirty="0"/>
              <a:t>SW4</a:t>
            </a:r>
            <a:endParaRPr lang="zh-CN" altLang="en-US" sz="1400" b="1" dirty="0"/>
          </a:p>
        </p:txBody>
      </p:sp>
      <p:sp>
        <p:nvSpPr>
          <p:cNvPr id="79" name="文本框 78"/>
          <p:cNvSpPr txBox="1"/>
          <p:nvPr/>
        </p:nvSpPr>
        <p:spPr bwMode="gray">
          <a:xfrm>
            <a:off x="4555664" y="1311893"/>
            <a:ext cx="1521570" cy="523220"/>
          </a:xfrm>
          <a:prstGeom prst="rect">
            <a:avLst/>
          </a:prstGeom>
          <a:noFill/>
        </p:spPr>
        <p:txBody>
          <a:bodyPr wrap="none" rtlCol="0">
            <a:spAutoFit/>
          </a:bodyPr>
          <a:lstStyle/>
          <a:p>
            <a:pPr algn="ctr"/>
            <a:r>
              <a:rPr lang="zh-CN" altLang="en-US" sz="1400" dirty="0"/>
              <a:t>认证服务器</a:t>
            </a:r>
            <a:endParaRPr lang="en-US" altLang="zh-CN" sz="1400" dirty="0"/>
          </a:p>
          <a:p>
            <a:pPr algn="ctr"/>
            <a:r>
              <a:rPr lang="en-US" altLang="zh-CN" sz="1400" dirty="0"/>
              <a:t>192.168.100.100</a:t>
            </a:r>
            <a:endParaRPr lang="zh-CN" altLang="en-US" sz="1400" dirty="0"/>
          </a:p>
        </p:txBody>
      </p:sp>
      <p:sp>
        <p:nvSpPr>
          <p:cNvPr id="80" name="文本框 79"/>
          <p:cNvSpPr txBox="1"/>
          <p:nvPr/>
        </p:nvSpPr>
        <p:spPr bwMode="gray">
          <a:xfrm>
            <a:off x="4555664" y="3273359"/>
            <a:ext cx="1620957" cy="523220"/>
          </a:xfrm>
          <a:prstGeom prst="rect">
            <a:avLst/>
          </a:prstGeom>
          <a:noFill/>
        </p:spPr>
        <p:txBody>
          <a:bodyPr wrap="none" rtlCol="0">
            <a:spAutoFit/>
          </a:bodyPr>
          <a:lstStyle/>
          <a:p>
            <a:r>
              <a:rPr lang="zh-CN" altLang="en-US" sz="1400" dirty="0"/>
              <a:t>公司内部服务器群</a:t>
            </a:r>
            <a:endParaRPr lang="en-US" altLang="zh-CN" sz="1400" dirty="0"/>
          </a:p>
          <a:p>
            <a:r>
              <a:rPr lang="en-US" altLang="zh-CN" sz="1400" dirty="0"/>
              <a:t>192.168.101.0/24</a:t>
            </a:r>
            <a:endParaRPr lang="zh-CN" altLang="en-US" sz="1400" dirty="0"/>
          </a:p>
        </p:txBody>
      </p:sp>
      <p:sp>
        <p:nvSpPr>
          <p:cNvPr id="81" name="文本框 80"/>
          <p:cNvSpPr txBox="1"/>
          <p:nvPr/>
        </p:nvSpPr>
        <p:spPr bwMode="gray">
          <a:xfrm>
            <a:off x="1001300" y="454504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82" name="文本框 81"/>
          <p:cNvSpPr txBox="1"/>
          <p:nvPr/>
        </p:nvSpPr>
        <p:spPr bwMode="gray">
          <a:xfrm>
            <a:off x="754618" y="5229110"/>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83" name="文本框 82"/>
          <p:cNvSpPr txBox="1"/>
          <p:nvPr/>
        </p:nvSpPr>
        <p:spPr bwMode="gray">
          <a:xfrm>
            <a:off x="1758533" y="5231566"/>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84" name="文本框 83"/>
          <p:cNvSpPr txBox="1"/>
          <p:nvPr/>
        </p:nvSpPr>
        <p:spPr bwMode="gray">
          <a:xfrm>
            <a:off x="3194899" y="5229255"/>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85" name="文本框 84"/>
          <p:cNvSpPr txBox="1"/>
          <p:nvPr/>
        </p:nvSpPr>
        <p:spPr bwMode="gray">
          <a:xfrm>
            <a:off x="4198814" y="5231711"/>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86" name="文本框 85"/>
          <p:cNvSpPr txBox="1"/>
          <p:nvPr/>
        </p:nvSpPr>
        <p:spPr bwMode="gray">
          <a:xfrm>
            <a:off x="3988358" y="4586166"/>
            <a:ext cx="851515" cy="307777"/>
          </a:xfrm>
          <a:prstGeom prst="rect">
            <a:avLst/>
          </a:prstGeom>
          <a:noFill/>
        </p:spPr>
        <p:txBody>
          <a:bodyPr wrap="none" rtlCol="0">
            <a:spAutoFit/>
          </a:bodyPr>
          <a:lstStyle/>
          <a:p>
            <a:r>
              <a:rPr lang="en-US" altLang="zh-CN" sz="1400" dirty="0"/>
              <a:t>GE0/0/1</a:t>
            </a:r>
            <a:endParaRPr lang="zh-CN" altLang="en-US" sz="1400" dirty="0"/>
          </a:p>
        </p:txBody>
      </p:sp>
      <p:pic>
        <p:nvPicPr>
          <p:cNvPr id="87" name="图片 86" descr="交换机.png"/>
          <p:cNvPicPr>
            <a:picLocks noChangeAspect="1"/>
          </p:cNvPicPr>
          <p:nvPr/>
        </p:nvPicPr>
        <p:blipFill>
          <a:blip r:embed="rId9" cstate="print"/>
          <a:stretch>
            <a:fillRect/>
          </a:stretch>
        </p:blipFill>
        <p:spPr bwMode="gray">
          <a:xfrm>
            <a:off x="5050329" y="1817857"/>
            <a:ext cx="539999" cy="441817"/>
          </a:xfrm>
          <a:prstGeom prst="rect">
            <a:avLst/>
          </a:prstGeom>
        </p:spPr>
      </p:pic>
    </p:spTree>
    <p:extLst>
      <p:ext uri="{BB962C8B-B14F-4D97-AF65-F5344CB8AC3E}">
        <p14:creationId xmlns:p14="http://schemas.microsoft.com/office/powerpoint/2010/main" val="13065627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t>配置案例 </a:t>
            </a:r>
            <a:r>
              <a:rPr lang="en-US" altLang="zh-CN"/>
              <a:t>- </a:t>
            </a:r>
            <a:r>
              <a:rPr lang="zh-CN" altLang="en-US"/>
              <a:t>操作步骤 </a:t>
            </a:r>
            <a:r>
              <a:rPr lang="en-US" altLang="zh-CN"/>
              <a:t>(3)</a:t>
            </a:r>
            <a:endParaRPr lang="zh-CN" altLang="en-US" dirty="0"/>
          </a:p>
        </p:txBody>
      </p:sp>
      <p:sp>
        <p:nvSpPr>
          <p:cNvPr id="4" name="Rectangle 3"/>
          <p:cNvSpPr/>
          <p:nvPr/>
        </p:nvSpPr>
        <p:spPr bwMode="gray">
          <a:xfrm>
            <a:off x="6116157" y="3100214"/>
            <a:ext cx="5520217" cy="646331"/>
          </a:xfrm>
          <a:prstGeom prst="rect">
            <a:avLst/>
          </a:prstGeom>
          <a:solidFill>
            <a:schemeClr val="bg1">
              <a:lumMod val="85000"/>
            </a:schemeClr>
          </a:solidFill>
          <a:ln>
            <a:noFill/>
          </a:ln>
        </p:spPr>
        <p:txBody>
          <a:bodyPr wrap="square">
            <a:spAutoFit/>
          </a:bodyPr>
          <a:lstStyle/>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 mac-access-profile name m1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[SW2-mac-access-profile-m1] mac-authen username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macaddress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[SW2-mac-access-profile-m1] quit</a:t>
            </a:r>
          </a:p>
        </p:txBody>
      </p:sp>
      <p:sp>
        <p:nvSpPr>
          <p:cNvPr id="5" name="文本框 4"/>
          <p:cNvSpPr txBox="1"/>
          <p:nvPr/>
        </p:nvSpPr>
        <p:spPr bwMode="gray">
          <a:xfrm>
            <a:off x="6127560" y="1339206"/>
            <a:ext cx="466515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5"/>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接入模板：</a:t>
            </a:r>
          </a:p>
        </p:txBody>
      </p:sp>
      <p:sp>
        <p:nvSpPr>
          <p:cNvPr id="6" name="文本框 5"/>
          <p:cNvSpPr txBox="1"/>
          <p:nvPr/>
        </p:nvSpPr>
        <p:spPr bwMode="gray">
          <a:xfrm>
            <a:off x="6127560" y="2703778"/>
            <a:ext cx="466515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6"/>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接入模板：</a:t>
            </a:r>
          </a:p>
        </p:txBody>
      </p:sp>
      <p:sp>
        <p:nvSpPr>
          <p:cNvPr id="47" name="Rectangle 3"/>
          <p:cNvSpPr/>
          <p:nvPr/>
        </p:nvSpPr>
        <p:spPr bwMode="gray">
          <a:xfrm>
            <a:off x="6127560" y="1730712"/>
            <a:ext cx="5520217" cy="646331"/>
          </a:xfrm>
          <a:prstGeom prst="rect">
            <a:avLst/>
          </a:prstGeom>
          <a:solidFill>
            <a:schemeClr val="bg1">
              <a:lumMod val="85000"/>
            </a:schemeClr>
          </a:solidFill>
          <a:ln>
            <a:noFill/>
          </a:ln>
        </p:spPr>
        <p:txBody>
          <a:bodyPr wrap="square">
            <a:spAutoFit/>
          </a:bodyPr>
          <a:lstStyle/>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 dot1x-access-profile name d1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[SW2-dot1x-access-profile-d1] dot1x authentication-method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eap</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SW2-dot1x-access-profile-d1] quit</a:t>
            </a:r>
          </a:p>
        </p:txBody>
      </p:sp>
      <p:sp>
        <p:nvSpPr>
          <p:cNvPr id="49" name="Rectangle 3"/>
          <p:cNvSpPr/>
          <p:nvPr/>
        </p:nvSpPr>
        <p:spPr bwMode="gray">
          <a:xfrm>
            <a:off x="6116157" y="4510080"/>
            <a:ext cx="5520217" cy="1015663"/>
          </a:xfrm>
          <a:prstGeom prst="rect">
            <a:avLst/>
          </a:prstGeom>
          <a:solidFill>
            <a:schemeClr val="bg1">
              <a:lumMod val="85000"/>
            </a:schemeClr>
          </a:solidFill>
          <a:ln>
            <a:noFill/>
          </a:ln>
        </p:spPr>
        <p:txBody>
          <a:bodyPr wrap="square">
            <a:spAutoFit/>
          </a:bodyPr>
          <a:lstStyle/>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 authentication-profile name p1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[SW2-authen-profile-p1] mac-access-profile m1    </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[SW2-authen-profile-p1] dot1x-access-profile d1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[SW2-authen-profile-p1] access-domain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nac</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force</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[SW2-authen-profile-p1] quit</a:t>
            </a:r>
          </a:p>
        </p:txBody>
      </p:sp>
      <p:sp>
        <p:nvSpPr>
          <p:cNvPr id="50" name="文本框 49"/>
          <p:cNvSpPr txBox="1"/>
          <p:nvPr/>
        </p:nvSpPr>
        <p:spPr bwMode="gray">
          <a:xfrm>
            <a:off x="6127560" y="4124832"/>
            <a:ext cx="4665150"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7"/>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配置认证模板：</a:t>
            </a:r>
          </a:p>
        </p:txBody>
      </p:sp>
      <p:cxnSp>
        <p:nvCxnSpPr>
          <p:cNvPr id="51" name="直接连接符 50"/>
          <p:cNvCxnSpPr/>
          <p:nvPr/>
        </p:nvCxnSpPr>
        <p:spPr bwMode="gray">
          <a:xfrm flipH="1">
            <a:off x="2895119" y="2782767"/>
            <a:ext cx="13914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60" idx="0"/>
          </p:cNvCxnSpPr>
          <p:nvPr/>
        </p:nvCxnSpPr>
        <p:spPr bwMode="gray">
          <a:xfrm flipV="1">
            <a:off x="2894649" y="1826305"/>
            <a:ext cx="470" cy="7355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图片 52" descr="接入交换机.png"/>
          <p:cNvPicPr>
            <a:picLocks noChangeAspect="1"/>
          </p:cNvPicPr>
          <p:nvPr/>
        </p:nvPicPr>
        <p:blipFill>
          <a:blip r:embed="rId3" cstate="print"/>
          <a:stretch>
            <a:fillRect/>
          </a:stretch>
        </p:blipFill>
        <p:spPr bwMode="gray">
          <a:xfrm>
            <a:off x="1400553" y="4871067"/>
            <a:ext cx="540000" cy="441818"/>
          </a:xfrm>
          <a:prstGeom prst="rect">
            <a:avLst/>
          </a:prstGeom>
        </p:spPr>
      </p:pic>
      <p:pic>
        <p:nvPicPr>
          <p:cNvPr id="54" name="图片 53" descr="打印机.png"/>
          <p:cNvPicPr>
            <a:picLocks noChangeAspect="1"/>
          </p:cNvPicPr>
          <p:nvPr/>
        </p:nvPicPr>
        <p:blipFill>
          <a:blip r:embed="rId4" cstate="print"/>
          <a:stretch>
            <a:fillRect/>
          </a:stretch>
        </p:blipFill>
        <p:spPr bwMode="gray">
          <a:xfrm>
            <a:off x="1838375" y="5697956"/>
            <a:ext cx="538191" cy="428400"/>
          </a:xfrm>
          <a:prstGeom prst="rect">
            <a:avLst/>
          </a:prstGeom>
        </p:spPr>
      </p:pic>
      <p:pic>
        <p:nvPicPr>
          <p:cNvPr id="55" name="图片 54" descr="PC.png"/>
          <p:cNvPicPr>
            <a:picLocks noChangeAspect="1"/>
          </p:cNvPicPr>
          <p:nvPr/>
        </p:nvPicPr>
        <p:blipFill>
          <a:blip r:embed="rId5" cstate="print"/>
          <a:stretch>
            <a:fillRect/>
          </a:stretch>
        </p:blipFill>
        <p:spPr bwMode="gray">
          <a:xfrm>
            <a:off x="963668" y="5705156"/>
            <a:ext cx="539063" cy="414000"/>
          </a:xfrm>
          <a:prstGeom prst="rect">
            <a:avLst/>
          </a:prstGeom>
        </p:spPr>
      </p:pic>
      <p:pic>
        <p:nvPicPr>
          <p:cNvPr id="56" name="图片 55" descr="接入交换机.png"/>
          <p:cNvPicPr>
            <a:picLocks noChangeAspect="1"/>
          </p:cNvPicPr>
          <p:nvPr/>
        </p:nvPicPr>
        <p:blipFill>
          <a:blip r:embed="rId3" cstate="print"/>
          <a:stretch>
            <a:fillRect/>
          </a:stretch>
        </p:blipFill>
        <p:spPr bwMode="gray">
          <a:xfrm>
            <a:off x="3848744" y="4871067"/>
            <a:ext cx="540000" cy="441818"/>
          </a:xfrm>
          <a:prstGeom prst="rect">
            <a:avLst/>
          </a:prstGeom>
        </p:spPr>
      </p:pic>
      <p:pic>
        <p:nvPicPr>
          <p:cNvPr id="57" name="图片 56" descr="打印机.png"/>
          <p:cNvPicPr>
            <a:picLocks noChangeAspect="1"/>
          </p:cNvPicPr>
          <p:nvPr/>
        </p:nvPicPr>
        <p:blipFill>
          <a:blip r:embed="rId4" cstate="print"/>
          <a:stretch>
            <a:fillRect/>
          </a:stretch>
        </p:blipFill>
        <p:spPr bwMode="gray">
          <a:xfrm>
            <a:off x="4286568" y="5697956"/>
            <a:ext cx="538191" cy="428400"/>
          </a:xfrm>
          <a:prstGeom prst="rect">
            <a:avLst/>
          </a:prstGeom>
        </p:spPr>
      </p:pic>
      <p:pic>
        <p:nvPicPr>
          <p:cNvPr id="58" name="图片 57" descr="PC.png"/>
          <p:cNvPicPr>
            <a:picLocks noChangeAspect="1"/>
          </p:cNvPicPr>
          <p:nvPr/>
        </p:nvPicPr>
        <p:blipFill>
          <a:blip r:embed="rId5" cstate="print"/>
          <a:stretch>
            <a:fillRect/>
          </a:stretch>
        </p:blipFill>
        <p:spPr bwMode="gray">
          <a:xfrm>
            <a:off x="3411859" y="5705156"/>
            <a:ext cx="539063" cy="414000"/>
          </a:xfrm>
          <a:prstGeom prst="rect">
            <a:avLst/>
          </a:prstGeom>
        </p:spPr>
      </p:pic>
      <p:pic>
        <p:nvPicPr>
          <p:cNvPr id="59" name="图片 58" descr="汇聚交换机.png"/>
          <p:cNvPicPr>
            <a:picLocks noChangeAspect="1"/>
          </p:cNvPicPr>
          <p:nvPr/>
        </p:nvPicPr>
        <p:blipFill>
          <a:blip r:embed="rId6" cstate="print"/>
          <a:stretch>
            <a:fillRect/>
          </a:stretch>
        </p:blipFill>
        <p:spPr bwMode="gray">
          <a:xfrm>
            <a:off x="2624649" y="3786426"/>
            <a:ext cx="540000" cy="441818"/>
          </a:xfrm>
          <a:prstGeom prst="rect">
            <a:avLst/>
          </a:prstGeom>
        </p:spPr>
      </p:pic>
      <p:pic>
        <p:nvPicPr>
          <p:cNvPr id="60" name="图片 59" descr="核心交换机.png"/>
          <p:cNvPicPr>
            <a:picLocks noChangeAspect="1"/>
          </p:cNvPicPr>
          <p:nvPr/>
        </p:nvPicPr>
        <p:blipFill>
          <a:blip r:embed="rId7" cstate="print"/>
          <a:stretch>
            <a:fillRect/>
          </a:stretch>
        </p:blipFill>
        <p:spPr bwMode="gray">
          <a:xfrm>
            <a:off x="2624649" y="2561858"/>
            <a:ext cx="540000" cy="441818"/>
          </a:xfrm>
          <a:prstGeom prst="rect">
            <a:avLst/>
          </a:prstGeom>
        </p:spPr>
      </p:pic>
      <p:cxnSp>
        <p:nvCxnSpPr>
          <p:cNvPr id="61" name="直接连接符 60"/>
          <p:cNvCxnSpPr>
            <a:stCxn id="53" idx="2"/>
            <a:endCxn id="55" idx="0"/>
          </p:cNvCxnSpPr>
          <p:nvPr/>
        </p:nvCxnSpPr>
        <p:spPr bwMode="gray">
          <a:xfrm flipH="1">
            <a:off x="1233200" y="5312885"/>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4" idx="0"/>
            <a:endCxn id="53" idx="2"/>
          </p:cNvCxnSpPr>
          <p:nvPr/>
        </p:nvCxnSpPr>
        <p:spPr bwMode="gray">
          <a:xfrm flipH="1" flipV="1">
            <a:off x="1670553" y="5312885"/>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8" idx="0"/>
            <a:endCxn id="56" idx="2"/>
          </p:cNvCxnSpPr>
          <p:nvPr/>
        </p:nvCxnSpPr>
        <p:spPr bwMode="gray">
          <a:xfrm flipV="1">
            <a:off x="3681391" y="5312885"/>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7" idx="0"/>
            <a:endCxn id="56" idx="2"/>
          </p:cNvCxnSpPr>
          <p:nvPr/>
        </p:nvCxnSpPr>
        <p:spPr bwMode="gray">
          <a:xfrm flipH="1" flipV="1">
            <a:off x="4118744" y="5312885"/>
            <a:ext cx="436920"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3" idx="0"/>
            <a:endCxn id="59" idx="2"/>
          </p:cNvCxnSpPr>
          <p:nvPr/>
        </p:nvCxnSpPr>
        <p:spPr bwMode="gray">
          <a:xfrm flipV="1">
            <a:off x="1670553" y="4228244"/>
            <a:ext cx="1224096" cy="6428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56" idx="0"/>
            <a:endCxn id="59" idx="2"/>
          </p:cNvCxnSpPr>
          <p:nvPr/>
        </p:nvCxnSpPr>
        <p:spPr bwMode="gray">
          <a:xfrm flipH="1" flipV="1">
            <a:off x="2894649" y="4228244"/>
            <a:ext cx="1224095" cy="6428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9" idx="0"/>
            <a:endCxn id="60" idx="2"/>
          </p:cNvCxnSpPr>
          <p:nvPr/>
        </p:nvCxnSpPr>
        <p:spPr bwMode="gray">
          <a:xfrm flipV="1">
            <a:off x="2894649" y="3003676"/>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图片 67"/>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5096752" y="2830559"/>
            <a:ext cx="540000" cy="442800"/>
          </a:xfrm>
          <a:prstGeom prst="rect">
            <a:avLst/>
          </a:prstGeom>
        </p:spPr>
      </p:pic>
      <p:cxnSp>
        <p:nvCxnSpPr>
          <p:cNvPr id="69" name="直接连接符 68"/>
          <p:cNvCxnSpPr/>
          <p:nvPr/>
        </p:nvCxnSpPr>
        <p:spPr bwMode="gray">
          <a:xfrm flipV="1">
            <a:off x="4270896" y="2047214"/>
            <a:ext cx="825857" cy="5026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endCxn id="68" idx="1"/>
          </p:cNvCxnSpPr>
          <p:nvPr/>
        </p:nvCxnSpPr>
        <p:spPr bwMode="gray">
          <a:xfrm>
            <a:off x="4244833" y="2770741"/>
            <a:ext cx="851919" cy="2812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bwMode="gray">
          <a:xfrm>
            <a:off x="1889504" y="417391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72" name="文本框 71"/>
          <p:cNvSpPr txBox="1"/>
          <p:nvPr/>
        </p:nvSpPr>
        <p:spPr bwMode="gray">
          <a:xfrm>
            <a:off x="3138991" y="4173913"/>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73" name="文本框 72"/>
          <p:cNvSpPr txBox="1"/>
          <p:nvPr/>
        </p:nvSpPr>
        <p:spPr bwMode="gray">
          <a:xfrm>
            <a:off x="2894649" y="3478649"/>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74" name="Freeform 159"/>
          <p:cNvSpPr>
            <a:spLocks noChangeAspect="1"/>
          </p:cNvSpPr>
          <p:nvPr/>
        </p:nvSpPr>
        <p:spPr bwMode="gray">
          <a:xfrm flipH="1">
            <a:off x="2304727" y="1571849"/>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园区出口</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Freeform 159"/>
          <p:cNvSpPr>
            <a:spLocks noChangeAspect="1"/>
          </p:cNvSpPr>
          <p:nvPr/>
        </p:nvSpPr>
        <p:spPr bwMode="gray">
          <a:xfrm flipH="1">
            <a:off x="3689666" y="2323523"/>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文本框 75"/>
          <p:cNvSpPr txBox="1"/>
          <p:nvPr/>
        </p:nvSpPr>
        <p:spPr bwMode="gray">
          <a:xfrm>
            <a:off x="3886516" y="2553169"/>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77" name="文本框 76"/>
          <p:cNvSpPr txBox="1"/>
          <p:nvPr/>
        </p:nvSpPr>
        <p:spPr bwMode="gray">
          <a:xfrm>
            <a:off x="2106187" y="2628878"/>
            <a:ext cx="575799" cy="307777"/>
          </a:xfrm>
          <a:prstGeom prst="rect">
            <a:avLst/>
          </a:prstGeom>
          <a:noFill/>
        </p:spPr>
        <p:txBody>
          <a:bodyPr wrap="none" rtlCol="0">
            <a:spAutoFit/>
          </a:bodyPr>
          <a:lstStyle/>
          <a:p>
            <a:r>
              <a:rPr lang="en-US" altLang="zh-CN" sz="1400" b="1" dirty="0"/>
              <a:t>SW1</a:t>
            </a:r>
            <a:endParaRPr lang="zh-CN" altLang="en-US" sz="1400" b="1" dirty="0"/>
          </a:p>
        </p:txBody>
      </p:sp>
      <p:sp>
        <p:nvSpPr>
          <p:cNvPr id="78" name="文本框 77"/>
          <p:cNvSpPr txBox="1"/>
          <p:nvPr/>
        </p:nvSpPr>
        <p:spPr bwMode="gray">
          <a:xfrm>
            <a:off x="3138991" y="3883551"/>
            <a:ext cx="575799" cy="307777"/>
          </a:xfrm>
          <a:prstGeom prst="rect">
            <a:avLst/>
          </a:prstGeom>
          <a:noFill/>
        </p:spPr>
        <p:txBody>
          <a:bodyPr wrap="none" rtlCol="0">
            <a:spAutoFit/>
          </a:bodyPr>
          <a:lstStyle/>
          <a:p>
            <a:r>
              <a:rPr lang="en-US" altLang="zh-CN" sz="1400" b="1" dirty="0"/>
              <a:t>SW2</a:t>
            </a:r>
            <a:endParaRPr lang="zh-CN" altLang="en-US" sz="1400" b="1" dirty="0"/>
          </a:p>
        </p:txBody>
      </p:sp>
      <p:sp>
        <p:nvSpPr>
          <p:cNvPr id="79" name="文本框 78"/>
          <p:cNvSpPr txBox="1"/>
          <p:nvPr/>
        </p:nvSpPr>
        <p:spPr bwMode="gray">
          <a:xfrm>
            <a:off x="1878761" y="4979389"/>
            <a:ext cx="575799" cy="307777"/>
          </a:xfrm>
          <a:prstGeom prst="rect">
            <a:avLst/>
          </a:prstGeom>
          <a:noFill/>
        </p:spPr>
        <p:txBody>
          <a:bodyPr wrap="none" rtlCol="0">
            <a:spAutoFit/>
          </a:bodyPr>
          <a:lstStyle/>
          <a:p>
            <a:r>
              <a:rPr lang="en-US" altLang="zh-CN" sz="1400" b="1" dirty="0"/>
              <a:t>SW3</a:t>
            </a:r>
            <a:endParaRPr lang="zh-CN" altLang="en-US" sz="1400" b="1" dirty="0"/>
          </a:p>
        </p:txBody>
      </p:sp>
      <p:sp>
        <p:nvSpPr>
          <p:cNvPr id="80" name="文本框 79"/>
          <p:cNvSpPr txBox="1"/>
          <p:nvPr/>
        </p:nvSpPr>
        <p:spPr bwMode="gray">
          <a:xfrm>
            <a:off x="4355869" y="4979389"/>
            <a:ext cx="575799" cy="307777"/>
          </a:xfrm>
          <a:prstGeom prst="rect">
            <a:avLst/>
          </a:prstGeom>
          <a:noFill/>
        </p:spPr>
        <p:txBody>
          <a:bodyPr wrap="none" rtlCol="0">
            <a:spAutoFit/>
          </a:bodyPr>
          <a:lstStyle/>
          <a:p>
            <a:r>
              <a:rPr lang="en-US" altLang="zh-CN" sz="1400" b="1" dirty="0"/>
              <a:t>SW4</a:t>
            </a:r>
            <a:endParaRPr lang="zh-CN" altLang="en-US" sz="1400" b="1" dirty="0"/>
          </a:p>
        </p:txBody>
      </p:sp>
      <p:sp>
        <p:nvSpPr>
          <p:cNvPr id="81" name="文本框 80"/>
          <p:cNvSpPr txBox="1"/>
          <p:nvPr/>
        </p:nvSpPr>
        <p:spPr bwMode="gray">
          <a:xfrm>
            <a:off x="4555664" y="1311893"/>
            <a:ext cx="1521570" cy="523220"/>
          </a:xfrm>
          <a:prstGeom prst="rect">
            <a:avLst/>
          </a:prstGeom>
          <a:noFill/>
        </p:spPr>
        <p:txBody>
          <a:bodyPr wrap="none" rtlCol="0">
            <a:spAutoFit/>
          </a:bodyPr>
          <a:lstStyle/>
          <a:p>
            <a:pPr algn="ctr"/>
            <a:r>
              <a:rPr lang="zh-CN" altLang="en-US" sz="1400" dirty="0"/>
              <a:t>认证服务器</a:t>
            </a:r>
            <a:endParaRPr lang="en-US" altLang="zh-CN" sz="1400" dirty="0"/>
          </a:p>
          <a:p>
            <a:pPr algn="ctr"/>
            <a:r>
              <a:rPr lang="en-US" altLang="zh-CN" sz="1400" dirty="0"/>
              <a:t>192.168.100.100</a:t>
            </a:r>
            <a:endParaRPr lang="zh-CN" altLang="en-US" sz="1400" dirty="0"/>
          </a:p>
        </p:txBody>
      </p:sp>
      <p:sp>
        <p:nvSpPr>
          <p:cNvPr id="82" name="文本框 81"/>
          <p:cNvSpPr txBox="1"/>
          <p:nvPr/>
        </p:nvSpPr>
        <p:spPr bwMode="gray">
          <a:xfrm>
            <a:off x="4555664" y="3273359"/>
            <a:ext cx="1620957" cy="523220"/>
          </a:xfrm>
          <a:prstGeom prst="rect">
            <a:avLst/>
          </a:prstGeom>
          <a:noFill/>
        </p:spPr>
        <p:txBody>
          <a:bodyPr wrap="none" rtlCol="0">
            <a:spAutoFit/>
          </a:bodyPr>
          <a:lstStyle/>
          <a:p>
            <a:r>
              <a:rPr lang="zh-CN" altLang="en-US" sz="1400" dirty="0"/>
              <a:t>公司内部服务器群</a:t>
            </a:r>
            <a:endParaRPr lang="en-US" altLang="zh-CN" sz="1400" dirty="0"/>
          </a:p>
          <a:p>
            <a:r>
              <a:rPr lang="en-US" altLang="zh-CN" sz="1400" dirty="0"/>
              <a:t>192.168.101.0/24</a:t>
            </a:r>
            <a:endParaRPr lang="zh-CN" altLang="en-US" sz="1400" dirty="0"/>
          </a:p>
        </p:txBody>
      </p:sp>
      <p:sp>
        <p:nvSpPr>
          <p:cNvPr id="83" name="文本框 82"/>
          <p:cNvSpPr txBox="1"/>
          <p:nvPr/>
        </p:nvSpPr>
        <p:spPr bwMode="gray">
          <a:xfrm>
            <a:off x="1001300" y="454504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84" name="文本框 83"/>
          <p:cNvSpPr txBox="1"/>
          <p:nvPr/>
        </p:nvSpPr>
        <p:spPr bwMode="gray">
          <a:xfrm>
            <a:off x="754618" y="5229110"/>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85" name="文本框 84"/>
          <p:cNvSpPr txBox="1"/>
          <p:nvPr/>
        </p:nvSpPr>
        <p:spPr bwMode="gray">
          <a:xfrm>
            <a:off x="1758533" y="5231566"/>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86" name="文本框 85"/>
          <p:cNvSpPr txBox="1"/>
          <p:nvPr/>
        </p:nvSpPr>
        <p:spPr bwMode="gray">
          <a:xfrm>
            <a:off x="3194899" y="5229255"/>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87" name="文本框 86"/>
          <p:cNvSpPr txBox="1"/>
          <p:nvPr/>
        </p:nvSpPr>
        <p:spPr bwMode="gray">
          <a:xfrm>
            <a:off x="4198814" y="5231711"/>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88" name="文本框 87"/>
          <p:cNvSpPr txBox="1"/>
          <p:nvPr/>
        </p:nvSpPr>
        <p:spPr bwMode="gray">
          <a:xfrm>
            <a:off x="3988358" y="4586166"/>
            <a:ext cx="851515" cy="307777"/>
          </a:xfrm>
          <a:prstGeom prst="rect">
            <a:avLst/>
          </a:prstGeom>
          <a:noFill/>
        </p:spPr>
        <p:txBody>
          <a:bodyPr wrap="none" rtlCol="0">
            <a:spAutoFit/>
          </a:bodyPr>
          <a:lstStyle/>
          <a:p>
            <a:r>
              <a:rPr lang="en-US" altLang="zh-CN" sz="1400" dirty="0"/>
              <a:t>GE0/0/1</a:t>
            </a:r>
            <a:endParaRPr lang="zh-CN" altLang="en-US" sz="1400" dirty="0"/>
          </a:p>
        </p:txBody>
      </p:sp>
      <p:pic>
        <p:nvPicPr>
          <p:cNvPr id="89" name="图片 88" descr="交换机.png"/>
          <p:cNvPicPr>
            <a:picLocks noChangeAspect="1"/>
          </p:cNvPicPr>
          <p:nvPr/>
        </p:nvPicPr>
        <p:blipFill>
          <a:blip r:embed="rId9" cstate="print"/>
          <a:stretch>
            <a:fillRect/>
          </a:stretch>
        </p:blipFill>
        <p:spPr bwMode="gray">
          <a:xfrm>
            <a:off x="5050329" y="1817857"/>
            <a:ext cx="539999" cy="441817"/>
          </a:xfrm>
          <a:prstGeom prst="rect">
            <a:avLst/>
          </a:prstGeom>
        </p:spPr>
      </p:pic>
    </p:spTree>
    <p:extLst>
      <p:ext uri="{BB962C8B-B14F-4D97-AF65-F5344CB8AC3E}">
        <p14:creationId xmlns:p14="http://schemas.microsoft.com/office/powerpoint/2010/main" val="134985807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t>配置案例 </a:t>
            </a:r>
            <a:r>
              <a:rPr lang="en-US" altLang="zh-CN"/>
              <a:t>- </a:t>
            </a:r>
            <a:r>
              <a:rPr lang="zh-CN" altLang="en-US"/>
              <a:t>操作步骤 </a:t>
            </a:r>
            <a:r>
              <a:rPr lang="en-US" altLang="zh-CN"/>
              <a:t>(4)</a:t>
            </a:r>
            <a:endParaRPr lang="zh-CN" altLang="en-US" dirty="0"/>
          </a:p>
        </p:txBody>
      </p:sp>
      <p:sp>
        <p:nvSpPr>
          <p:cNvPr id="4" name="Rectangle 3"/>
          <p:cNvSpPr/>
          <p:nvPr/>
        </p:nvSpPr>
        <p:spPr bwMode="gray">
          <a:xfrm>
            <a:off x="6101043" y="3606965"/>
            <a:ext cx="5535331" cy="830997"/>
          </a:xfrm>
          <a:prstGeom prst="rect">
            <a:avLst/>
          </a:prstGeom>
          <a:solidFill>
            <a:schemeClr val="bg1">
              <a:lumMod val="85000"/>
            </a:schemeClr>
          </a:solidFill>
          <a:ln>
            <a:noFill/>
          </a:ln>
        </p:spPr>
        <p:txBody>
          <a:bodyPr wrap="square">
            <a:spAutoFit/>
          </a:bodyPr>
          <a:lstStyle/>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 acl 3001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[SW2-acl-adv-3001] rule 1 permit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destination </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192.168.101.0 </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0.0.0.255</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[SW2-acl-adv-3001] rule 2 deny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destination any</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[SW2-acl-adv-3001] quit</a:t>
            </a:r>
          </a:p>
        </p:txBody>
      </p:sp>
      <p:sp>
        <p:nvSpPr>
          <p:cNvPr id="5" name="文本框 4"/>
          <p:cNvSpPr txBox="1"/>
          <p:nvPr/>
        </p:nvSpPr>
        <p:spPr bwMode="gray">
          <a:xfrm>
            <a:off x="6127560" y="1350394"/>
            <a:ext cx="4665150"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8"/>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在接口上使能认证模板：</a:t>
            </a:r>
          </a:p>
        </p:txBody>
      </p:sp>
      <p:sp>
        <p:nvSpPr>
          <p:cNvPr id="6" name="文本框 5"/>
          <p:cNvSpPr txBox="1"/>
          <p:nvPr/>
        </p:nvSpPr>
        <p:spPr bwMode="gray">
          <a:xfrm>
            <a:off x="6112446" y="3210529"/>
            <a:ext cx="466515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9"/>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配置用户认证成功时候下发的授权</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47" name="Rectangle 3"/>
          <p:cNvSpPr/>
          <p:nvPr/>
        </p:nvSpPr>
        <p:spPr bwMode="gray">
          <a:xfrm>
            <a:off x="6118036" y="1730712"/>
            <a:ext cx="5508814" cy="1200329"/>
          </a:xfrm>
          <a:prstGeom prst="rect">
            <a:avLst/>
          </a:prstGeom>
          <a:solidFill>
            <a:schemeClr val="bg1">
              <a:lumMod val="85000"/>
            </a:schemeClr>
          </a:solidFill>
          <a:ln>
            <a:noFill/>
          </a:ln>
        </p:spPr>
        <p:txBody>
          <a:bodyPr wrap="square">
            <a:spAutoFit/>
          </a:bodyPr>
          <a:lstStyle/>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 interface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0/0/1</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[SW2-Gigabitethernet0/0/1] authentication-profile p1    </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[SW2-Gigabitethernet0/0/1] quit</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 interface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0/0/2</a:t>
            </a: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[SW2-Gigabitethernet0/0/2] authentication-profile p1    </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[SW2-Gigabitethernet0/0/2] quit</a:t>
            </a:r>
          </a:p>
        </p:txBody>
      </p:sp>
      <p:sp>
        <p:nvSpPr>
          <p:cNvPr id="51" name="文本框 50"/>
          <p:cNvSpPr txBox="1"/>
          <p:nvPr/>
        </p:nvSpPr>
        <p:spPr bwMode="gray">
          <a:xfrm>
            <a:off x="6112446" y="4709819"/>
            <a:ext cx="5603304"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10"/>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在</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RADIUS</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服务器上创建用户账号并配置相应权限</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。（略）</a:t>
            </a:r>
            <a:endPar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48" name="直接连接符 47"/>
          <p:cNvCxnSpPr/>
          <p:nvPr/>
        </p:nvCxnSpPr>
        <p:spPr bwMode="gray">
          <a:xfrm flipH="1">
            <a:off x="2895119" y="2782767"/>
            <a:ext cx="13914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58" idx="0"/>
          </p:cNvCxnSpPr>
          <p:nvPr/>
        </p:nvCxnSpPr>
        <p:spPr bwMode="gray">
          <a:xfrm flipV="1">
            <a:off x="2894649" y="1826305"/>
            <a:ext cx="470" cy="7355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0" name="图片 49" descr="接入交换机.png"/>
          <p:cNvPicPr>
            <a:picLocks noChangeAspect="1"/>
          </p:cNvPicPr>
          <p:nvPr/>
        </p:nvPicPr>
        <p:blipFill>
          <a:blip r:embed="rId3" cstate="print"/>
          <a:stretch>
            <a:fillRect/>
          </a:stretch>
        </p:blipFill>
        <p:spPr bwMode="gray">
          <a:xfrm>
            <a:off x="1400553" y="4871067"/>
            <a:ext cx="540000" cy="441818"/>
          </a:xfrm>
          <a:prstGeom prst="rect">
            <a:avLst/>
          </a:prstGeom>
        </p:spPr>
      </p:pic>
      <p:pic>
        <p:nvPicPr>
          <p:cNvPr id="52" name="图片 51" descr="打印机.png"/>
          <p:cNvPicPr>
            <a:picLocks noChangeAspect="1"/>
          </p:cNvPicPr>
          <p:nvPr/>
        </p:nvPicPr>
        <p:blipFill>
          <a:blip r:embed="rId4" cstate="print"/>
          <a:stretch>
            <a:fillRect/>
          </a:stretch>
        </p:blipFill>
        <p:spPr bwMode="gray">
          <a:xfrm>
            <a:off x="1838375" y="5697956"/>
            <a:ext cx="538191" cy="428400"/>
          </a:xfrm>
          <a:prstGeom prst="rect">
            <a:avLst/>
          </a:prstGeom>
        </p:spPr>
      </p:pic>
      <p:pic>
        <p:nvPicPr>
          <p:cNvPr id="53" name="图片 52" descr="PC.png"/>
          <p:cNvPicPr>
            <a:picLocks noChangeAspect="1"/>
          </p:cNvPicPr>
          <p:nvPr/>
        </p:nvPicPr>
        <p:blipFill>
          <a:blip r:embed="rId5" cstate="print"/>
          <a:stretch>
            <a:fillRect/>
          </a:stretch>
        </p:blipFill>
        <p:spPr bwMode="gray">
          <a:xfrm>
            <a:off x="963668" y="5705156"/>
            <a:ext cx="539063" cy="414000"/>
          </a:xfrm>
          <a:prstGeom prst="rect">
            <a:avLst/>
          </a:prstGeom>
        </p:spPr>
      </p:pic>
      <p:pic>
        <p:nvPicPr>
          <p:cNvPr id="54" name="图片 53" descr="接入交换机.png"/>
          <p:cNvPicPr>
            <a:picLocks noChangeAspect="1"/>
          </p:cNvPicPr>
          <p:nvPr/>
        </p:nvPicPr>
        <p:blipFill>
          <a:blip r:embed="rId3" cstate="print"/>
          <a:stretch>
            <a:fillRect/>
          </a:stretch>
        </p:blipFill>
        <p:spPr bwMode="gray">
          <a:xfrm>
            <a:off x="3848744" y="4871067"/>
            <a:ext cx="540000" cy="441818"/>
          </a:xfrm>
          <a:prstGeom prst="rect">
            <a:avLst/>
          </a:prstGeom>
        </p:spPr>
      </p:pic>
      <p:pic>
        <p:nvPicPr>
          <p:cNvPr id="55" name="图片 54" descr="打印机.png"/>
          <p:cNvPicPr>
            <a:picLocks noChangeAspect="1"/>
          </p:cNvPicPr>
          <p:nvPr/>
        </p:nvPicPr>
        <p:blipFill>
          <a:blip r:embed="rId4" cstate="print"/>
          <a:stretch>
            <a:fillRect/>
          </a:stretch>
        </p:blipFill>
        <p:spPr bwMode="gray">
          <a:xfrm>
            <a:off x="4286568" y="5697956"/>
            <a:ext cx="538191" cy="428400"/>
          </a:xfrm>
          <a:prstGeom prst="rect">
            <a:avLst/>
          </a:prstGeom>
        </p:spPr>
      </p:pic>
      <p:pic>
        <p:nvPicPr>
          <p:cNvPr id="56" name="图片 55" descr="PC.png"/>
          <p:cNvPicPr>
            <a:picLocks noChangeAspect="1"/>
          </p:cNvPicPr>
          <p:nvPr/>
        </p:nvPicPr>
        <p:blipFill>
          <a:blip r:embed="rId5" cstate="print"/>
          <a:stretch>
            <a:fillRect/>
          </a:stretch>
        </p:blipFill>
        <p:spPr bwMode="gray">
          <a:xfrm>
            <a:off x="3411859" y="5705156"/>
            <a:ext cx="539063" cy="414000"/>
          </a:xfrm>
          <a:prstGeom prst="rect">
            <a:avLst/>
          </a:prstGeom>
        </p:spPr>
      </p:pic>
      <p:pic>
        <p:nvPicPr>
          <p:cNvPr id="57" name="图片 56" descr="汇聚交换机.png"/>
          <p:cNvPicPr>
            <a:picLocks noChangeAspect="1"/>
          </p:cNvPicPr>
          <p:nvPr/>
        </p:nvPicPr>
        <p:blipFill>
          <a:blip r:embed="rId6" cstate="print"/>
          <a:stretch>
            <a:fillRect/>
          </a:stretch>
        </p:blipFill>
        <p:spPr bwMode="gray">
          <a:xfrm>
            <a:off x="2624649" y="3786426"/>
            <a:ext cx="540000" cy="441818"/>
          </a:xfrm>
          <a:prstGeom prst="rect">
            <a:avLst/>
          </a:prstGeom>
        </p:spPr>
      </p:pic>
      <p:pic>
        <p:nvPicPr>
          <p:cNvPr id="58" name="图片 57" descr="核心交换机.png"/>
          <p:cNvPicPr>
            <a:picLocks noChangeAspect="1"/>
          </p:cNvPicPr>
          <p:nvPr/>
        </p:nvPicPr>
        <p:blipFill>
          <a:blip r:embed="rId7" cstate="print"/>
          <a:stretch>
            <a:fillRect/>
          </a:stretch>
        </p:blipFill>
        <p:spPr bwMode="gray">
          <a:xfrm>
            <a:off x="2624649" y="2561858"/>
            <a:ext cx="540000" cy="441818"/>
          </a:xfrm>
          <a:prstGeom prst="rect">
            <a:avLst/>
          </a:prstGeom>
        </p:spPr>
      </p:pic>
      <p:cxnSp>
        <p:nvCxnSpPr>
          <p:cNvPr id="59" name="直接连接符 58"/>
          <p:cNvCxnSpPr>
            <a:stCxn id="50" idx="2"/>
            <a:endCxn id="53" idx="0"/>
          </p:cNvCxnSpPr>
          <p:nvPr/>
        </p:nvCxnSpPr>
        <p:spPr bwMode="gray">
          <a:xfrm flipH="1">
            <a:off x="1233200" y="5312885"/>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2" idx="0"/>
            <a:endCxn id="50" idx="2"/>
          </p:cNvCxnSpPr>
          <p:nvPr/>
        </p:nvCxnSpPr>
        <p:spPr bwMode="gray">
          <a:xfrm flipH="1" flipV="1">
            <a:off x="1670553" y="5312885"/>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6" idx="0"/>
            <a:endCxn id="54" idx="2"/>
          </p:cNvCxnSpPr>
          <p:nvPr/>
        </p:nvCxnSpPr>
        <p:spPr bwMode="gray">
          <a:xfrm flipV="1">
            <a:off x="3681391" y="5312885"/>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5" idx="0"/>
            <a:endCxn id="54" idx="2"/>
          </p:cNvCxnSpPr>
          <p:nvPr/>
        </p:nvCxnSpPr>
        <p:spPr bwMode="gray">
          <a:xfrm flipH="1" flipV="1">
            <a:off x="4118744" y="5312885"/>
            <a:ext cx="436920"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0" idx="0"/>
            <a:endCxn id="57" idx="2"/>
          </p:cNvCxnSpPr>
          <p:nvPr/>
        </p:nvCxnSpPr>
        <p:spPr bwMode="gray">
          <a:xfrm flipV="1">
            <a:off x="1670553" y="4228244"/>
            <a:ext cx="1224096" cy="6428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4" idx="0"/>
            <a:endCxn id="57" idx="2"/>
          </p:cNvCxnSpPr>
          <p:nvPr/>
        </p:nvCxnSpPr>
        <p:spPr bwMode="gray">
          <a:xfrm flipH="1" flipV="1">
            <a:off x="2894649" y="4228244"/>
            <a:ext cx="1224095" cy="6428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7" idx="0"/>
            <a:endCxn id="58" idx="2"/>
          </p:cNvCxnSpPr>
          <p:nvPr/>
        </p:nvCxnSpPr>
        <p:spPr bwMode="gray">
          <a:xfrm flipV="1">
            <a:off x="2894649" y="3003676"/>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6" name="图片 65"/>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5096752" y="2830559"/>
            <a:ext cx="540000" cy="442800"/>
          </a:xfrm>
          <a:prstGeom prst="rect">
            <a:avLst/>
          </a:prstGeom>
        </p:spPr>
      </p:pic>
      <p:cxnSp>
        <p:nvCxnSpPr>
          <p:cNvPr id="67" name="直接连接符 66"/>
          <p:cNvCxnSpPr/>
          <p:nvPr/>
        </p:nvCxnSpPr>
        <p:spPr bwMode="gray">
          <a:xfrm flipV="1">
            <a:off x="4270896" y="2047214"/>
            <a:ext cx="825857" cy="5026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endCxn id="66" idx="1"/>
          </p:cNvCxnSpPr>
          <p:nvPr/>
        </p:nvCxnSpPr>
        <p:spPr bwMode="gray">
          <a:xfrm>
            <a:off x="4244833" y="2770741"/>
            <a:ext cx="851919" cy="2812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bwMode="gray">
          <a:xfrm>
            <a:off x="1889504" y="417391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70" name="文本框 69"/>
          <p:cNvSpPr txBox="1"/>
          <p:nvPr/>
        </p:nvSpPr>
        <p:spPr bwMode="gray">
          <a:xfrm>
            <a:off x="3138991" y="4173913"/>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71" name="文本框 70"/>
          <p:cNvSpPr txBox="1"/>
          <p:nvPr/>
        </p:nvSpPr>
        <p:spPr bwMode="gray">
          <a:xfrm>
            <a:off x="2894649" y="3478649"/>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72" name="Freeform 159"/>
          <p:cNvSpPr>
            <a:spLocks noChangeAspect="1"/>
          </p:cNvSpPr>
          <p:nvPr/>
        </p:nvSpPr>
        <p:spPr bwMode="gray">
          <a:xfrm flipH="1">
            <a:off x="2304727" y="1571849"/>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园区出口</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59"/>
          <p:cNvSpPr>
            <a:spLocks noChangeAspect="1"/>
          </p:cNvSpPr>
          <p:nvPr/>
        </p:nvSpPr>
        <p:spPr bwMode="gray">
          <a:xfrm flipH="1">
            <a:off x="3689666" y="2323523"/>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3886516" y="2553169"/>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75" name="文本框 74"/>
          <p:cNvSpPr txBox="1"/>
          <p:nvPr/>
        </p:nvSpPr>
        <p:spPr bwMode="gray">
          <a:xfrm>
            <a:off x="2106187" y="2628878"/>
            <a:ext cx="575799" cy="307777"/>
          </a:xfrm>
          <a:prstGeom prst="rect">
            <a:avLst/>
          </a:prstGeom>
          <a:noFill/>
        </p:spPr>
        <p:txBody>
          <a:bodyPr wrap="none" rtlCol="0">
            <a:spAutoFit/>
          </a:bodyPr>
          <a:lstStyle/>
          <a:p>
            <a:r>
              <a:rPr lang="en-US" altLang="zh-CN" sz="1400" b="1" dirty="0"/>
              <a:t>SW1</a:t>
            </a:r>
            <a:endParaRPr lang="zh-CN" altLang="en-US" sz="1400" b="1" dirty="0"/>
          </a:p>
        </p:txBody>
      </p:sp>
      <p:sp>
        <p:nvSpPr>
          <p:cNvPr id="76" name="文本框 75"/>
          <p:cNvSpPr txBox="1"/>
          <p:nvPr/>
        </p:nvSpPr>
        <p:spPr bwMode="gray">
          <a:xfrm>
            <a:off x="3138991" y="3883551"/>
            <a:ext cx="575799" cy="307777"/>
          </a:xfrm>
          <a:prstGeom prst="rect">
            <a:avLst/>
          </a:prstGeom>
          <a:noFill/>
        </p:spPr>
        <p:txBody>
          <a:bodyPr wrap="none" rtlCol="0">
            <a:spAutoFit/>
          </a:bodyPr>
          <a:lstStyle/>
          <a:p>
            <a:r>
              <a:rPr lang="en-US" altLang="zh-CN" sz="1400" b="1" dirty="0"/>
              <a:t>SW2</a:t>
            </a:r>
            <a:endParaRPr lang="zh-CN" altLang="en-US" sz="1400" b="1" dirty="0"/>
          </a:p>
        </p:txBody>
      </p:sp>
      <p:sp>
        <p:nvSpPr>
          <p:cNvPr id="77" name="文本框 76"/>
          <p:cNvSpPr txBox="1"/>
          <p:nvPr/>
        </p:nvSpPr>
        <p:spPr bwMode="gray">
          <a:xfrm>
            <a:off x="1878761" y="4979389"/>
            <a:ext cx="575799" cy="307777"/>
          </a:xfrm>
          <a:prstGeom prst="rect">
            <a:avLst/>
          </a:prstGeom>
          <a:noFill/>
        </p:spPr>
        <p:txBody>
          <a:bodyPr wrap="none" rtlCol="0">
            <a:spAutoFit/>
          </a:bodyPr>
          <a:lstStyle/>
          <a:p>
            <a:r>
              <a:rPr lang="en-US" altLang="zh-CN" sz="1400" b="1" dirty="0"/>
              <a:t>SW3</a:t>
            </a:r>
            <a:endParaRPr lang="zh-CN" altLang="en-US" sz="1400" b="1" dirty="0"/>
          </a:p>
        </p:txBody>
      </p:sp>
      <p:sp>
        <p:nvSpPr>
          <p:cNvPr id="78" name="文本框 77"/>
          <p:cNvSpPr txBox="1"/>
          <p:nvPr/>
        </p:nvSpPr>
        <p:spPr bwMode="gray">
          <a:xfrm>
            <a:off x="4355869" y="4979389"/>
            <a:ext cx="575799" cy="307777"/>
          </a:xfrm>
          <a:prstGeom prst="rect">
            <a:avLst/>
          </a:prstGeom>
          <a:noFill/>
        </p:spPr>
        <p:txBody>
          <a:bodyPr wrap="none" rtlCol="0">
            <a:spAutoFit/>
          </a:bodyPr>
          <a:lstStyle/>
          <a:p>
            <a:r>
              <a:rPr lang="en-US" altLang="zh-CN" sz="1400" b="1" dirty="0"/>
              <a:t>SW4</a:t>
            </a:r>
            <a:endParaRPr lang="zh-CN" altLang="en-US" sz="1400" b="1" dirty="0"/>
          </a:p>
        </p:txBody>
      </p:sp>
      <p:sp>
        <p:nvSpPr>
          <p:cNvPr id="79" name="文本框 78"/>
          <p:cNvSpPr txBox="1"/>
          <p:nvPr/>
        </p:nvSpPr>
        <p:spPr bwMode="gray">
          <a:xfrm>
            <a:off x="4555664" y="1311893"/>
            <a:ext cx="1521570" cy="523220"/>
          </a:xfrm>
          <a:prstGeom prst="rect">
            <a:avLst/>
          </a:prstGeom>
          <a:noFill/>
        </p:spPr>
        <p:txBody>
          <a:bodyPr wrap="none" rtlCol="0">
            <a:spAutoFit/>
          </a:bodyPr>
          <a:lstStyle/>
          <a:p>
            <a:pPr algn="ctr"/>
            <a:r>
              <a:rPr lang="zh-CN" altLang="en-US" sz="1400" dirty="0"/>
              <a:t>认证服务器</a:t>
            </a:r>
            <a:endParaRPr lang="en-US" altLang="zh-CN" sz="1400" dirty="0"/>
          </a:p>
          <a:p>
            <a:pPr algn="ctr"/>
            <a:r>
              <a:rPr lang="en-US" altLang="zh-CN" sz="1400" dirty="0"/>
              <a:t>192.168.100.100</a:t>
            </a:r>
            <a:endParaRPr lang="zh-CN" altLang="en-US" sz="1400" dirty="0"/>
          </a:p>
        </p:txBody>
      </p:sp>
      <p:sp>
        <p:nvSpPr>
          <p:cNvPr id="80" name="文本框 79"/>
          <p:cNvSpPr txBox="1"/>
          <p:nvPr/>
        </p:nvSpPr>
        <p:spPr bwMode="gray">
          <a:xfrm>
            <a:off x="4555664" y="3273359"/>
            <a:ext cx="1620957" cy="523220"/>
          </a:xfrm>
          <a:prstGeom prst="rect">
            <a:avLst/>
          </a:prstGeom>
          <a:noFill/>
        </p:spPr>
        <p:txBody>
          <a:bodyPr wrap="none" rtlCol="0">
            <a:spAutoFit/>
          </a:bodyPr>
          <a:lstStyle/>
          <a:p>
            <a:r>
              <a:rPr lang="zh-CN" altLang="en-US" sz="1400" dirty="0"/>
              <a:t>公司内部服务器群</a:t>
            </a:r>
            <a:endParaRPr lang="en-US" altLang="zh-CN" sz="1400" dirty="0"/>
          </a:p>
          <a:p>
            <a:r>
              <a:rPr lang="en-US" altLang="zh-CN" sz="1400" dirty="0"/>
              <a:t>192.168.101.0/24</a:t>
            </a:r>
            <a:endParaRPr lang="zh-CN" altLang="en-US" sz="1400" dirty="0"/>
          </a:p>
        </p:txBody>
      </p:sp>
      <p:sp>
        <p:nvSpPr>
          <p:cNvPr id="81" name="文本框 80"/>
          <p:cNvSpPr txBox="1"/>
          <p:nvPr/>
        </p:nvSpPr>
        <p:spPr bwMode="gray">
          <a:xfrm>
            <a:off x="1001300" y="454504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82" name="文本框 81"/>
          <p:cNvSpPr txBox="1"/>
          <p:nvPr/>
        </p:nvSpPr>
        <p:spPr bwMode="gray">
          <a:xfrm>
            <a:off x="754618" y="5229110"/>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83" name="文本框 82"/>
          <p:cNvSpPr txBox="1"/>
          <p:nvPr/>
        </p:nvSpPr>
        <p:spPr bwMode="gray">
          <a:xfrm>
            <a:off x="1758533" y="5231566"/>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84" name="文本框 83"/>
          <p:cNvSpPr txBox="1"/>
          <p:nvPr/>
        </p:nvSpPr>
        <p:spPr bwMode="gray">
          <a:xfrm>
            <a:off x="3194899" y="5229255"/>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85" name="文本框 84"/>
          <p:cNvSpPr txBox="1"/>
          <p:nvPr/>
        </p:nvSpPr>
        <p:spPr bwMode="gray">
          <a:xfrm>
            <a:off x="4198814" y="5231711"/>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86" name="文本框 85"/>
          <p:cNvSpPr txBox="1"/>
          <p:nvPr/>
        </p:nvSpPr>
        <p:spPr bwMode="gray">
          <a:xfrm>
            <a:off x="3988358" y="4586166"/>
            <a:ext cx="851515" cy="307777"/>
          </a:xfrm>
          <a:prstGeom prst="rect">
            <a:avLst/>
          </a:prstGeom>
          <a:noFill/>
        </p:spPr>
        <p:txBody>
          <a:bodyPr wrap="none" rtlCol="0">
            <a:spAutoFit/>
          </a:bodyPr>
          <a:lstStyle/>
          <a:p>
            <a:r>
              <a:rPr lang="en-US" altLang="zh-CN" sz="1400" dirty="0"/>
              <a:t>GE0/0/1</a:t>
            </a:r>
            <a:endParaRPr lang="zh-CN" altLang="en-US" sz="1400" dirty="0"/>
          </a:p>
        </p:txBody>
      </p:sp>
      <p:pic>
        <p:nvPicPr>
          <p:cNvPr id="87" name="图片 86" descr="交换机.png"/>
          <p:cNvPicPr>
            <a:picLocks noChangeAspect="1"/>
          </p:cNvPicPr>
          <p:nvPr/>
        </p:nvPicPr>
        <p:blipFill>
          <a:blip r:embed="rId9" cstate="print"/>
          <a:stretch>
            <a:fillRect/>
          </a:stretch>
        </p:blipFill>
        <p:spPr bwMode="gray">
          <a:xfrm>
            <a:off x="5050329" y="1817857"/>
            <a:ext cx="539999" cy="441817"/>
          </a:xfrm>
          <a:prstGeom prst="rect">
            <a:avLst/>
          </a:prstGeom>
        </p:spPr>
      </p:pic>
    </p:spTree>
    <p:extLst>
      <p:ext uri="{BB962C8B-B14F-4D97-AF65-F5344CB8AC3E}">
        <p14:creationId xmlns:p14="http://schemas.microsoft.com/office/powerpoint/2010/main" val="82400192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网络准入控制概述</a:t>
            </a:r>
          </a:p>
          <a:p>
            <a:r>
              <a:rPr lang="zh-CN" altLang="en-US" dirty="0">
                <a:solidFill>
                  <a:schemeClr val="bg1">
                    <a:lumMod val="50000"/>
                  </a:schemeClr>
                </a:solidFill>
              </a:rPr>
              <a:t>用户认证技术</a:t>
            </a:r>
            <a:endParaRPr lang="en-US" altLang="zh-CN" dirty="0">
              <a:solidFill>
                <a:schemeClr val="bg1">
                  <a:lumMod val="50000"/>
                </a:schemeClr>
              </a:solidFill>
            </a:endParaRPr>
          </a:p>
          <a:p>
            <a:r>
              <a:rPr lang="zh-CN" altLang="en-US" dirty="0">
                <a:solidFill>
                  <a:schemeClr val="bg1">
                    <a:lumMod val="50000"/>
                  </a:schemeClr>
                </a:solidFill>
              </a:rPr>
              <a:t>用户授权与下线</a:t>
            </a:r>
          </a:p>
          <a:p>
            <a:r>
              <a:rPr lang="en-US" altLang="zh-CN" dirty="0">
                <a:solidFill>
                  <a:schemeClr val="bg1">
                    <a:lumMod val="50000"/>
                  </a:schemeClr>
                </a:solidFill>
              </a:rPr>
              <a:t>NAC</a:t>
            </a:r>
            <a:r>
              <a:rPr lang="zh-CN" altLang="en-US" dirty="0">
                <a:solidFill>
                  <a:schemeClr val="bg1">
                    <a:lumMod val="50000"/>
                  </a:schemeClr>
                </a:solidFill>
              </a:rPr>
              <a:t>配置实现</a:t>
            </a:r>
          </a:p>
          <a:p>
            <a:r>
              <a:rPr lang="zh-CN" altLang="en-US" b="1" dirty="0"/>
              <a:t>策略联动</a:t>
            </a:r>
          </a:p>
        </p:txBody>
      </p:sp>
    </p:spTree>
    <p:extLst>
      <p:ext uri="{BB962C8B-B14F-4D97-AF65-F5344CB8AC3E}">
        <p14:creationId xmlns:p14="http://schemas.microsoft.com/office/powerpoint/2010/main" val="14012668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mtClean="0"/>
              <a:t>技术背景 </a:t>
            </a:r>
            <a:r>
              <a:rPr lang="en-US" altLang="zh-CN" smtClean="0"/>
              <a:t>(1)</a:t>
            </a:r>
            <a:endParaRPr lang="zh-CN" altLang="en-US" dirty="0"/>
          </a:p>
        </p:txBody>
      </p:sp>
      <p:sp>
        <p:nvSpPr>
          <p:cNvPr id="5" name="文本占位符 4"/>
          <p:cNvSpPr>
            <a:spLocks noGrp="1"/>
          </p:cNvSpPr>
          <p:nvPr>
            <p:ph type="body" sz="quarter" idx="10"/>
          </p:nvPr>
        </p:nvSpPr>
        <p:spPr>
          <a:xfrm>
            <a:off x="455613" y="1047751"/>
            <a:ext cx="11256962" cy="1098330"/>
          </a:xfrm>
        </p:spPr>
        <p:txBody>
          <a:bodyPr/>
          <a:lstStyle/>
          <a:p>
            <a:r>
              <a:rPr lang="zh-CN" altLang="en-US" sz="2000" dirty="0" smtClean="0"/>
              <a:t>在网络的接入层部署认证，有利于实现权限的细颗粒度管理和网络的高安全性。但当网络规模不断扩大，一些问题就显现了出来。</a:t>
            </a:r>
            <a:endParaRPr lang="zh-CN" altLang="en-US" sz="2000" dirty="0"/>
          </a:p>
        </p:txBody>
      </p:sp>
      <p:sp>
        <p:nvSpPr>
          <p:cNvPr id="71" name="圆角矩形 75"/>
          <p:cNvSpPr/>
          <p:nvPr/>
        </p:nvSpPr>
        <p:spPr bwMode="gray">
          <a:xfrm>
            <a:off x="6237622" y="2535562"/>
            <a:ext cx="536416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dirty="0">
                <a:solidFill>
                  <a:srgbClr val="30B5C5"/>
                </a:solidFill>
                <a:latin typeface="Huawei Sans" panose="020C0503030203020204" pitchFamily="34" charset="0"/>
                <a:ea typeface="方正兰亭黑简体" panose="02000000000000000000" pitchFamily="2" charset="-122"/>
              </a:rPr>
              <a:t>选择接入层设备作为认证点面临的问题</a:t>
            </a:r>
          </a:p>
        </p:txBody>
      </p:sp>
      <p:sp>
        <p:nvSpPr>
          <p:cNvPr id="72" name="圆角矩形 75"/>
          <p:cNvSpPr/>
          <p:nvPr/>
        </p:nvSpPr>
        <p:spPr bwMode="gray">
          <a:xfrm>
            <a:off x="6237622" y="2939749"/>
            <a:ext cx="5364163" cy="1423188"/>
          </a:xfrm>
          <a:prstGeom prst="roundRect">
            <a:avLst>
              <a:gd name="adj" fmla="val 874"/>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fontAlgn="auto">
              <a:lnSpc>
                <a:spcPts val="2800"/>
              </a:lnSpc>
              <a:spcAft>
                <a:spcPts val="600"/>
              </a:spcAft>
              <a:buFont typeface="Arial" panose="020B0604020202020204" pitchFamily="34" charset="0"/>
              <a:buChar char="•"/>
            </a:pP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接入层设备数量多，配置工作量大，运维难度大。</a:t>
            </a:r>
          </a:p>
          <a:p>
            <a:pPr marL="182563" indent="-182563" fontAlgn="auto">
              <a:lnSpc>
                <a:spcPts val="2800"/>
              </a:lnSpc>
              <a:spcAft>
                <a:spcPts val="600"/>
              </a:spcAft>
              <a:buFont typeface="Arial" panose="020B0604020202020204" pitchFamily="34" charset="0"/>
              <a:buChar char="•"/>
            </a:pP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接入层设备数量多，增加</a:t>
            </a:r>
            <a:r>
              <a:rPr lang="en-US" altLang="zh-CN"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AAA</a:t>
            </a: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服务器的负担。</a:t>
            </a:r>
          </a:p>
          <a:p>
            <a:pPr marL="182563" indent="-182563" fontAlgn="auto">
              <a:lnSpc>
                <a:spcPts val="2800"/>
              </a:lnSpc>
              <a:spcAft>
                <a:spcPts val="600"/>
              </a:spcAft>
              <a:buFont typeface="Arial" panose="020B0604020202020204" pitchFamily="34" charset="0"/>
              <a:buChar char="•"/>
            </a:pP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用户必须在固定位置接入网络。</a:t>
            </a:r>
          </a:p>
        </p:txBody>
      </p:sp>
      <p:grpSp>
        <p:nvGrpSpPr>
          <p:cNvPr id="2" name="组合 1"/>
          <p:cNvGrpSpPr/>
          <p:nvPr/>
        </p:nvGrpSpPr>
        <p:grpSpPr>
          <a:xfrm>
            <a:off x="594164" y="2376638"/>
            <a:ext cx="5352173" cy="3249390"/>
            <a:chOff x="713033" y="2376638"/>
            <a:chExt cx="5352173" cy="3249390"/>
          </a:xfrm>
        </p:grpSpPr>
        <p:sp>
          <p:nvSpPr>
            <p:cNvPr id="177" name="Rounded Rectangle 23"/>
            <p:cNvSpPr/>
            <p:nvPr/>
          </p:nvSpPr>
          <p:spPr bwMode="gray">
            <a:xfrm>
              <a:off x="1107126" y="5030960"/>
              <a:ext cx="4958080" cy="595068"/>
            </a:xfrm>
            <a:prstGeom prst="roundRect">
              <a:avLst>
                <a:gd name="adj" fmla="val 7521"/>
              </a:avLst>
            </a:prstGeom>
            <a:gradFill flip="none" rotWithShape="1">
              <a:gsLst>
                <a:gs pos="100000">
                  <a:schemeClr val="bg1"/>
                </a:gs>
                <a:gs pos="0">
                  <a:srgbClr val="E4F6F8"/>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endParaRPr>
            </a:p>
          </p:txBody>
        </p:sp>
        <p:grpSp>
          <p:nvGrpSpPr>
            <p:cNvPr id="168" name="Group 165"/>
            <p:cNvGrpSpPr/>
            <p:nvPr/>
          </p:nvGrpSpPr>
          <p:grpSpPr bwMode="gray">
            <a:xfrm rot="10800000">
              <a:off x="4634400" y="4287657"/>
              <a:ext cx="537970" cy="932625"/>
              <a:chOff x="-1233037" y="914446"/>
              <a:chExt cx="1573823" cy="778776"/>
            </a:xfrm>
          </p:grpSpPr>
          <p:cxnSp>
            <p:nvCxnSpPr>
              <p:cNvPr id="169"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171" name="Group 165"/>
            <p:cNvGrpSpPr/>
            <p:nvPr/>
          </p:nvGrpSpPr>
          <p:grpSpPr bwMode="gray">
            <a:xfrm rot="10800000">
              <a:off x="4055280" y="4251111"/>
              <a:ext cx="1696210" cy="932625"/>
              <a:chOff x="-1233037" y="914446"/>
              <a:chExt cx="1573823" cy="778776"/>
            </a:xfrm>
          </p:grpSpPr>
          <p:cxnSp>
            <p:nvCxnSpPr>
              <p:cNvPr id="172"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165" name="Group 165"/>
            <p:cNvGrpSpPr/>
            <p:nvPr/>
          </p:nvGrpSpPr>
          <p:grpSpPr bwMode="gray">
            <a:xfrm rot="10800000">
              <a:off x="1950916" y="4287657"/>
              <a:ext cx="537970" cy="932625"/>
              <a:chOff x="-1233037" y="914446"/>
              <a:chExt cx="1573823" cy="778776"/>
            </a:xfrm>
          </p:grpSpPr>
          <p:cxnSp>
            <p:nvCxnSpPr>
              <p:cNvPr id="166"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162" name="Group 165"/>
            <p:cNvGrpSpPr/>
            <p:nvPr/>
          </p:nvGrpSpPr>
          <p:grpSpPr bwMode="gray">
            <a:xfrm rot="10800000">
              <a:off x="1371796" y="4251111"/>
              <a:ext cx="1696210" cy="932625"/>
              <a:chOff x="-1233037" y="914446"/>
              <a:chExt cx="1573823" cy="778776"/>
            </a:xfrm>
          </p:grpSpPr>
          <p:cxnSp>
            <p:nvCxnSpPr>
              <p:cNvPr id="163"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106" name="Group 165"/>
            <p:cNvGrpSpPr/>
            <p:nvPr/>
          </p:nvGrpSpPr>
          <p:grpSpPr bwMode="gray">
            <a:xfrm rot="10800000">
              <a:off x="2211722" y="3075178"/>
              <a:ext cx="2707871" cy="932625"/>
              <a:chOff x="-1233037" y="914446"/>
              <a:chExt cx="1573823" cy="778776"/>
            </a:xfrm>
          </p:grpSpPr>
          <p:cxnSp>
            <p:nvCxnSpPr>
              <p:cNvPr id="107"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pic>
          <p:nvPicPr>
            <p:cNvPr id="109" name="图片 86" descr="核心交换机.png"/>
            <p:cNvPicPr>
              <a:picLocks noChangeAspect="1"/>
            </p:cNvPicPr>
            <p:nvPr/>
          </p:nvPicPr>
          <p:blipFill>
            <a:blip r:embed="rId3"/>
            <a:stretch>
              <a:fillRect/>
            </a:stretch>
          </p:blipFill>
          <p:spPr bwMode="gray">
            <a:xfrm>
              <a:off x="3328117" y="2897553"/>
              <a:ext cx="475079" cy="388703"/>
            </a:xfrm>
            <a:prstGeom prst="rect">
              <a:avLst/>
            </a:prstGeom>
          </p:spPr>
        </p:pic>
        <p:pic>
          <p:nvPicPr>
            <p:cNvPr id="110" name="图片 87" descr="汇聚交换机.png"/>
            <p:cNvPicPr>
              <a:picLocks noChangeAspect="1"/>
            </p:cNvPicPr>
            <p:nvPr/>
          </p:nvPicPr>
          <p:blipFill>
            <a:blip r:embed="rId4"/>
            <a:stretch>
              <a:fillRect/>
            </a:stretch>
          </p:blipFill>
          <p:spPr bwMode="gray">
            <a:xfrm>
              <a:off x="1987075" y="3968214"/>
              <a:ext cx="475079" cy="388703"/>
            </a:xfrm>
            <a:prstGeom prst="rect">
              <a:avLst/>
            </a:prstGeom>
          </p:spPr>
        </p:pic>
        <p:pic>
          <p:nvPicPr>
            <p:cNvPr id="111" name="图片 87" descr="汇聚交换机.png"/>
            <p:cNvPicPr>
              <a:picLocks noChangeAspect="1"/>
            </p:cNvPicPr>
            <p:nvPr/>
          </p:nvPicPr>
          <p:blipFill>
            <a:blip r:embed="rId4"/>
            <a:stretch>
              <a:fillRect/>
            </a:stretch>
          </p:blipFill>
          <p:spPr bwMode="gray">
            <a:xfrm>
              <a:off x="4669160" y="3968214"/>
              <a:ext cx="475079" cy="388703"/>
            </a:xfrm>
            <a:prstGeom prst="rect">
              <a:avLst/>
            </a:prstGeom>
          </p:spPr>
        </p:pic>
        <p:pic>
          <p:nvPicPr>
            <p:cNvPr id="112" name="图片 76" descr="接入交换机.png"/>
            <p:cNvPicPr>
              <a:picLocks noChangeAspect="1"/>
            </p:cNvPicPr>
            <p:nvPr/>
          </p:nvPicPr>
          <p:blipFill>
            <a:blip r:embed="rId5"/>
            <a:stretch>
              <a:fillRect/>
            </a:stretch>
          </p:blipFill>
          <p:spPr bwMode="gray">
            <a:xfrm>
              <a:off x="1220109" y="5151024"/>
              <a:ext cx="431890" cy="353366"/>
            </a:xfrm>
            <a:prstGeom prst="rect">
              <a:avLst/>
            </a:prstGeom>
          </p:spPr>
        </p:pic>
        <p:pic>
          <p:nvPicPr>
            <p:cNvPr id="113" name="图片 76" descr="接入交换机.png"/>
            <p:cNvPicPr>
              <a:picLocks noChangeAspect="1"/>
            </p:cNvPicPr>
            <p:nvPr/>
          </p:nvPicPr>
          <p:blipFill>
            <a:blip r:embed="rId5"/>
            <a:stretch>
              <a:fillRect/>
            </a:stretch>
          </p:blipFill>
          <p:spPr bwMode="gray">
            <a:xfrm>
              <a:off x="1745816" y="5151024"/>
              <a:ext cx="431890" cy="353366"/>
            </a:xfrm>
            <a:prstGeom prst="rect">
              <a:avLst/>
            </a:prstGeom>
          </p:spPr>
        </p:pic>
        <p:pic>
          <p:nvPicPr>
            <p:cNvPr id="114" name="图片 76" descr="接入交换机.png"/>
            <p:cNvPicPr>
              <a:picLocks noChangeAspect="1"/>
            </p:cNvPicPr>
            <p:nvPr/>
          </p:nvPicPr>
          <p:blipFill>
            <a:blip r:embed="rId5"/>
            <a:stretch>
              <a:fillRect/>
            </a:stretch>
          </p:blipFill>
          <p:spPr bwMode="gray">
            <a:xfrm>
              <a:off x="2271523" y="5151024"/>
              <a:ext cx="431890" cy="353366"/>
            </a:xfrm>
            <a:prstGeom prst="rect">
              <a:avLst/>
            </a:prstGeom>
          </p:spPr>
        </p:pic>
        <p:pic>
          <p:nvPicPr>
            <p:cNvPr id="115" name="图片 76" descr="接入交换机.png"/>
            <p:cNvPicPr>
              <a:picLocks noChangeAspect="1"/>
            </p:cNvPicPr>
            <p:nvPr/>
          </p:nvPicPr>
          <p:blipFill>
            <a:blip r:embed="rId5"/>
            <a:stretch>
              <a:fillRect/>
            </a:stretch>
          </p:blipFill>
          <p:spPr bwMode="gray">
            <a:xfrm>
              <a:off x="2797229" y="5151024"/>
              <a:ext cx="431890" cy="353366"/>
            </a:xfrm>
            <a:prstGeom prst="rect">
              <a:avLst/>
            </a:prstGeom>
          </p:spPr>
        </p:pic>
        <p:pic>
          <p:nvPicPr>
            <p:cNvPr id="116" name="图片 76" descr="接入交换机.png"/>
            <p:cNvPicPr>
              <a:picLocks noChangeAspect="1"/>
            </p:cNvPicPr>
            <p:nvPr/>
          </p:nvPicPr>
          <p:blipFill>
            <a:blip r:embed="rId5"/>
            <a:stretch>
              <a:fillRect/>
            </a:stretch>
          </p:blipFill>
          <p:spPr bwMode="gray">
            <a:xfrm>
              <a:off x="3902194" y="5151024"/>
              <a:ext cx="431890" cy="353366"/>
            </a:xfrm>
            <a:prstGeom prst="rect">
              <a:avLst/>
            </a:prstGeom>
          </p:spPr>
        </p:pic>
        <p:pic>
          <p:nvPicPr>
            <p:cNvPr id="117" name="图片 76" descr="接入交换机.png"/>
            <p:cNvPicPr>
              <a:picLocks noChangeAspect="1"/>
            </p:cNvPicPr>
            <p:nvPr/>
          </p:nvPicPr>
          <p:blipFill>
            <a:blip r:embed="rId5"/>
            <a:stretch>
              <a:fillRect/>
            </a:stretch>
          </p:blipFill>
          <p:spPr bwMode="gray">
            <a:xfrm>
              <a:off x="4427901" y="5151024"/>
              <a:ext cx="431890" cy="353366"/>
            </a:xfrm>
            <a:prstGeom prst="rect">
              <a:avLst/>
            </a:prstGeom>
          </p:spPr>
        </p:pic>
        <p:pic>
          <p:nvPicPr>
            <p:cNvPr id="118" name="图片 76" descr="接入交换机.png"/>
            <p:cNvPicPr>
              <a:picLocks noChangeAspect="1"/>
            </p:cNvPicPr>
            <p:nvPr/>
          </p:nvPicPr>
          <p:blipFill>
            <a:blip r:embed="rId5"/>
            <a:stretch>
              <a:fillRect/>
            </a:stretch>
          </p:blipFill>
          <p:spPr bwMode="gray">
            <a:xfrm>
              <a:off x="4953608" y="5151024"/>
              <a:ext cx="431890" cy="353366"/>
            </a:xfrm>
            <a:prstGeom prst="rect">
              <a:avLst/>
            </a:prstGeom>
          </p:spPr>
        </p:pic>
        <p:pic>
          <p:nvPicPr>
            <p:cNvPr id="119" name="图片 76" descr="接入交换机.png"/>
            <p:cNvPicPr>
              <a:picLocks noChangeAspect="1"/>
            </p:cNvPicPr>
            <p:nvPr/>
          </p:nvPicPr>
          <p:blipFill>
            <a:blip r:embed="rId5"/>
            <a:stretch>
              <a:fillRect/>
            </a:stretch>
          </p:blipFill>
          <p:spPr bwMode="gray">
            <a:xfrm>
              <a:off x="5479315" y="5151024"/>
              <a:ext cx="431890" cy="353366"/>
            </a:xfrm>
            <a:prstGeom prst="rect">
              <a:avLst/>
            </a:prstGeom>
          </p:spPr>
        </p:pic>
        <p:grpSp>
          <p:nvGrpSpPr>
            <p:cNvPr id="120" name="Group 3"/>
            <p:cNvGrpSpPr/>
            <p:nvPr/>
          </p:nvGrpSpPr>
          <p:grpSpPr bwMode="gray">
            <a:xfrm>
              <a:off x="3412544" y="5298014"/>
              <a:ext cx="306220" cy="72449"/>
              <a:chOff x="559282" y="6488261"/>
              <a:chExt cx="261965" cy="61979"/>
            </a:xfrm>
            <a:solidFill>
              <a:schemeClr val="bg1">
                <a:lumMod val="50000"/>
              </a:schemeClr>
            </a:solidFill>
          </p:grpSpPr>
          <p:sp>
            <p:nvSpPr>
              <p:cNvPr id="121"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Arial" panose="020B0604020202020204" pitchFamily="34" charset="0"/>
                </a:endParaRPr>
              </a:p>
            </p:txBody>
          </p:sp>
          <p:sp>
            <p:nvSpPr>
              <p:cNvPr id="122"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Arial" panose="020B0604020202020204" pitchFamily="34" charset="0"/>
                </a:endParaRPr>
              </a:p>
            </p:txBody>
          </p:sp>
          <p:sp>
            <p:nvSpPr>
              <p:cNvPr id="123"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Arial" panose="020B0604020202020204" pitchFamily="34" charset="0"/>
                </a:endParaRPr>
              </a:p>
            </p:txBody>
          </p:sp>
        </p:grpSp>
        <p:pic>
          <p:nvPicPr>
            <p:cNvPr id="141" name="图片 14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786649" y="2376638"/>
              <a:ext cx="1574376" cy="290357"/>
            </a:xfrm>
            <a:prstGeom prst="rect">
              <a:avLst/>
            </a:prstGeom>
          </p:spPr>
        </p:pic>
        <p:sp>
          <p:nvSpPr>
            <p:cNvPr id="174" name="圆角矩形 173"/>
            <p:cNvSpPr/>
            <p:nvPr/>
          </p:nvSpPr>
          <p:spPr bwMode="gray">
            <a:xfrm>
              <a:off x="713033" y="3845679"/>
              <a:ext cx="259970" cy="588070"/>
            </a:xfrm>
            <a:prstGeom prst="roundRect">
              <a:avLst>
                <a:gd name="adj" fmla="val 15000"/>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汇聚层</a:t>
              </a:r>
              <a:endPar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圆角矩形 174"/>
            <p:cNvSpPr/>
            <p:nvPr/>
          </p:nvSpPr>
          <p:spPr bwMode="gray">
            <a:xfrm>
              <a:off x="713033" y="4939587"/>
              <a:ext cx="259970" cy="588070"/>
            </a:xfrm>
            <a:prstGeom prst="roundRect">
              <a:avLst>
                <a:gd name="adj" fmla="val 15000"/>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接入层</a:t>
              </a:r>
              <a:endPar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圆角矩形 175"/>
            <p:cNvSpPr/>
            <p:nvPr/>
          </p:nvSpPr>
          <p:spPr bwMode="gray">
            <a:xfrm>
              <a:off x="713033" y="2797869"/>
              <a:ext cx="259970" cy="588070"/>
            </a:xfrm>
            <a:prstGeom prst="roundRect">
              <a:avLst>
                <a:gd name="adj" fmla="val 15000"/>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核心层</a:t>
              </a:r>
            </a:p>
          </p:txBody>
        </p:sp>
      </p:grpSp>
      <p:grpSp>
        <p:nvGrpSpPr>
          <p:cNvPr id="6" name="组合 5"/>
          <p:cNvGrpSpPr/>
          <p:nvPr/>
        </p:nvGrpSpPr>
        <p:grpSpPr bwMode="gray">
          <a:xfrm>
            <a:off x="5058626" y="5720327"/>
            <a:ext cx="850480" cy="324968"/>
            <a:chOff x="4507522" y="5846183"/>
            <a:chExt cx="850480" cy="324968"/>
          </a:xfrm>
        </p:grpSpPr>
        <p:sp>
          <p:nvSpPr>
            <p:cNvPr id="82" name="Rounded Rectangle 23"/>
            <p:cNvSpPr/>
            <p:nvPr/>
          </p:nvSpPr>
          <p:spPr bwMode="gray">
            <a:xfrm>
              <a:off x="4547847" y="5846183"/>
              <a:ext cx="810155" cy="324968"/>
            </a:xfrm>
            <a:prstGeom prst="roundRect">
              <a:avLst>
                <a:gd name="adj" fmla="val 7521"/>
              </a:avLst>
            </a:prstGeom>
            <a:gradFill flip="none" rotWithShape="1">
              <a:gsLst>
                <a:gs pos="100000">
                  <a:schemeClr val="bg1"/>
                </a:gs>
                <a:gs pos="0">
                  <a:srgbClr val="E4F6F8"/>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endParaRPr>
            </a:p>
          </p:txBody>
        </p:sp>
        <p:sp>
          <p:nvSpPr>
            <p:cNvPr id="83" name="矩形 82"/>
            <p:cNvSpPr/>
            <p:nvPr/>
          </p:nvSpPr>
          <p:spPr bwMode="gray">
            <a:xfrm>
              <a:off x="4507522" y="5882811"/>
              <a:ext cx="850480" cy="251711"/>
            </a:xfrm>
            <a:prstGeom prst="rect">
              <a:avLst/>
            </a:prstGeom>
          </p:spPr>
          <p:txBody>
            <a:bodyPr wrap="square">
              <a:noAutofit/>
            </a:bodyPr>
            <a:lstStyle/>
            <a:p>
              <a:pPr algn="ctr" fontAlgn="ctr"/>
              <a:r>
                <a:rPr lang="zh-CN" altLang="en-US" sz="1400" dirty="0">
                  <a:latin typeface="Arial" panose="020B0604020202020204" pitchFamily="34" charset="0"/>
                </a:rPr>
                <a:t>认证点</a:t>
              </a:r>
              <a:endParaRPr lang="en-US" altLang="zh-CN" sz="1400" dirty="0">
                <a:latin typeface="Arial" panose="020B0604020202020204" pitchFamily="34" charset="0"/>
              </a:endParaRPr>
            </a:p>
          </p:txBody>
        </p:sp>
      </p:grpSp>
    </p:spTree>
    <p:extLst>
      <p:ext uri="{BB962C8B-B14F-4D97-AF65-F5344CB8AC3E}">
        <p14:creationId xmlns:p14="http://schemas.microsoft.com/office/powerpoint/2010/main" val="82319739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mtClean="0"/>
              <a:t>技术背景 </a:t>
            </a:r>
            <a:r>
              <a:rPr lang="en-US" altLang="zh-CN" smtClean="0"/>
              <a:t>(2)</a:t>
            </a:r>
            <a:endParaRPr lang="zh-CN" altLang="en-US" dirty="0"/>
          </a:p>
        </p:txBody>
      </p:sp>
      <p:sp>
        <p:nvSpPr>
          <p:cNvPr id="2" name="文本占位符 1"/>
          <p:cNvSpPr>
            <a:spLocks noGrp="1"/>
          </p:cNvSpPr>
          <p:nvPr>
            <p:ph type="body" sz="quarter" idx="10"/>
          </p:nvPr>
        </p:nvSpPr>
        <p:spPr>
          <a:xfrm>
            <a:off x="455613" y="1047751"/>
            <a:ext cx="11256962" cy="1008234"/>
          </a:xfrm>
        </p:spPr>
        <p:txBody>
          <a:bodyPr/>
          <a:lstStyle/>
          <a:p>
            <a:r>
              <a:rPr lang="zh-CN" altLang="en-US" sz="2000" smtClean="0"/>
              <a:t>解决方案之一是将用户的认证点从接入层上移到汇聚层或核心层，如此一来全网的认证信息集中，且认证点数量大大减少，配置及维护工作量降低。</a:t>
            </a:r>
            <a:endParaRPr lang="zh-CN" altLang="en-US" sz="2000" dirty="0"/>
          </a:p>
        </p:txBody>
      </p:sp>
      <p:sp>
        <p:nvSpPr>
          <p:cNvPr id="71" name="圆角矩形 75"/>
          <p:cNvSpPr/>
          <p:nvPr/>
        </p:nvSpPr>
        <p:spPr bwMode="gray">
          <a:xfrm>
            <a:off x="6322183" y="2610373"/>
            <a:ext cx="516103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a:solidFill>
                  <a:srgbClr val="30B5C5"/>
                </a:solidFill>
                <a:latin typeface="Huawei Sans" panose="020C0503030203020204" pitchFamily="34" charset="0"/>
                <a:ea typeface="方正兰亭黑简体" panose="02000000000000000000" pitchFamily="2" charset="-122"/>
              </a:rPr>
              <a:t>将认证点上移面临的问题</a:t>
            </a:r>
            <a:endParaRPr lang="zh-CN" altLang="en-US" dirty="0">
              <a:solidFill>
                <a:srgbClr val="30B5C5"/>
              </a:solidFill>
              <a:latin typeface="Huawei Sans" panose="020C0503030203020204" pitchFamily="34" charset="0"/>
              <a:ea typeface="方正兰亭黑简体" panose="02000000000000000000" pitchFamily="2" charset="-122"/>
            </a:endParaRPr>
          </a:p>
        </p:txBody>
      </p:sp>
      <p:sp>
        <p:nvSpPr>
          <p:cNvPr id="72" name="圆角矩形 75"/>
          <p:cNvSpPr/>
          <p:nvPr/>
        </p:nvSpPr>
        <p:spPr bwMode="gray">
          <a:xfrm>
            <a:off x="6322183" y="3040318"/>
            <a:ext cx="5161033" cy="2524496"/>
          </a:xfrm>
          <a:prstGeom prst="roundRect">
            <a:avLst>
              <a:gd name="adj" fmla="val 874"/>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fontAlgn="auto">
              <a:lnSpc>
                <a:spcPts val="2800"/>
              </a:lnSpc>
              <a:spcAft>
                <a:spcPts val="600"/>
              </a:spcAft>
              <a:buFont typeface="Arial" panose="020B0604020202020204" pitchFamily="34" charset="0"/>
              <a:buChar char="•"/>
            </a:pPr>
            <a:r>
              <a:rPr lang="zh-CN" altLang="en-US"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接入层设备</a:t>
            </a: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需透传</a:t>
            </a:r>
            <a:r>
              <a:rPr lang="en-US" altLang="zh-CN"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BPDU</a:t>
            </a: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报文，否则用户的</a:t>
            </a:r>
            <a:r>
              <a:rPr lang="en-US" altLang="zh-CN"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802.1X</a:t>
            </a: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认证将失败。</a:t>
            </a:r>
          </a:p>
          <a:p>
            <a:pPr marL="182563" indent="-182563" fontAlgn="auto">
              <a:lnSpc>
                <a:spcPts val="2800"/>
              </a:lnSpc>
              <a:spcAft>
                <a:spcPts val="600"/>
              </a:spcAft>
              <a:buFont typeface="Arial" panose="020B0604020202020204" pitchFamily="34" charset="0"/>
              <a:buChar char="•"/>
            </a:pP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用户准入的管控位置太高，同</a:t>
            </a:r>
            <a:r>
              <a:rPr lang="zh-CN" altLang="en-US"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一接入层设备</a:t>
            </a: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上相同</a:t>
            </a:r>
            <a:r>
              <a:rPr lang="en-US" altLang="zh-CN"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VLAN</a:t>
            </a: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用户之间的访问不受控制。</a:t>
            </a:r>
          </a:p>
          <a:p>
            <a:pPr marL="182563" indent="-182563" fontAlgn="auto">
              <a:lnSpc>
                <a:spcPts val="2800"/>
              </a:lnSpc>
              <a:spcAft>
                <a:spcPts val="600"/>
              </a:spcAft>
              <a:buFont typeface="Arial" panose="020B0604020202020204" pitchFamily="34" charset="0"/>
              <a:buChar char="•"/>
            </a:pPr>
            <a:r>
              <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用户接入的具体位置无法感知，不易于故障定位。</a:t>
            </a:r>
          </a:p>
          <a:p>
            <a:pPr marL="182563" indent="-182563" fontAlgn="auto">
              <a:lnSpc>
                <a:spcPts val="2800"/>
              </a:lnSpc>
              <a:spcAft>
                <a:spcPts val="600"/>
              </a:spcAft>
              <a:buFont typeface="Arial" panose="020B0604020202020204" pitchFamily="34" charset="0"/>
              <a:buChar char="•"/>
            </a:pPr>
            <a:r>
              <a:rPr lang="zh-CN" altLang="en-US"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网关设备无法实时感知用户下线。</a:t>
            </a:r>
            <a:endParaRPr lang="zh-CN" altLang="en-US" dirty="0">
              <a:solidFill>
                <a:schemeClr val="tx1"/>
              </a:solidFill>
              <a:latin typeface="Huawei Sans" panose="020C0503030203020204" pitchFamily="34" charset="0"/>
              <a:ea typeface="方正兰亭黑简体" panose="02000000000000000000" pitchFamily="2" charset="-122"/>
              <a:cs typeface="Arial" panose="020B0604020202020204" pitchFamily="34" charset="0"/>
            </a:endParaRPr>
          </a:p>
        </p:txBody>
      </p:sp>
      <p:grpSp>
        <p:nvGrpSpPr>
          <p:cNvPr id="87" name="组合 86"/>
          <p:cNvGrpSpPr/>
          <p:nvPr/>
        </p:nvGrpSpPr>
        <p:grpSpPr>
          <a:xfrm>
            <a:off x="594164" y="2376638"/>
            <a:ext cx="5352173" cy="3151019"/>
            <a:chOff x="713033" y="2376638"/>
            <a:chExt cx="5352173" cy="3151019"/>
          </a:xfrm>
        </p:grpSpPr>
        <p:sp>
          <p:nvSpPr>
            <p:cNvPr id="126" name="Rounded Rectangle 23"/>
            <p:cNvSpPr/>
            <p:nvPr/>
          </p:nvSpPr>
          <p:spPr bwMode="gray">
            <a:xfrm>
              <a:off x="1107126" y="3868004"/>
              <a:ext cx="4958080" cy="595068"/>
            </a:xfrm>
            <a:prstGeom prst="roundRect">
              <a:avLst>
                <a:gd name="adj" fmla="val 7521"/>
              </a:avLst>
            </a:prstGeom>
            <a:gradFill flip="none" rotWithShape="1">
              <a:gsLst>
                <a:gs pos="100000">
                  <a:schemeClr val="bg1"/>
                </a:gs>
                <a:gs pos="0">
                  <a:srgbClr val="E4F6F8"/>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endParaRPr>
            </a:p>
          </p:txBody>
        </p:sp>
        <p:sp>
          <p:nvSpPr>
            <p:cNvPr id="88" name="Rounded Rectangle 23"/>
            <p:cNvSpPr/>
            <p:nvPr/>
          </p:nvSpPr>
          <p:spPr bwMode="gray">
            <a:xfrm>
              <a:off x="1107126" y="2807317"/>
              <a:ext cx="4958080" cy="595068"/>
            </a:xfrm>
            <a:prstGeom prst="roundRect">
              <a:avLst>
                <a:gd name="adj" fmla="val 7521"/>
              </a:avLst>
            </a:prstGeom>
            <a:gradFill flip="none" rotWithShape="1">
              <a:gsLst>
                <a:gs pos="100000">
                  <a:schemeClr val="bg1"/>
                </a:gs>
                <a:gs pos="0">
                  <a:srgbClr val="E4F6F8"/>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endParaRPr>
            </a:p>
          </p:txBody>
        </p:sp>
        <p:grpSp>
          <p:nvGrpSpPr>
            <p:cNvPr id="89" name="Group 165"/>
            <p:cNvGrpSpPr/>
            <p:nvPr/>
          </p:nvGrpSpPr>
          <p:grpSpPr bwMode="gray">
            <a:xfrm rot="10800000">
              <a:off x="4634400" y="4287657"/>
              <a:ext cx="537970" cy="932625"/>
              <a:chOff x="-1233037" y="914446"/>
              <a:chExt cx="1573823" cy="778776"/>
            </a:xfrm>
          </p:grpSpPr>
          <p:cxnSp>
            <p:nvCxnSpPr>
              <p:cNvPr id="121"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90" name="Group 165"/>
            <p:cNvGrpSpPr/>
            <p:nvPr/>
          </p:nvGrpSpPr>
          <p:grpSpPr bwMode="gray">
            <a:xfrm rot="10800000">
              <a:off x="4055280" y="4251111"/>
              <a:ext cx="1696210" cy="932625"/>
              <a:chOff x="-1233037" y="914446"/>
              <a:chExt cx="1573823" cy="778776"/>
            </a:xfrm>
          </p:grpSpPr>
          <p:cxnSp>
            <p:nvCxnSpPr>
              <p:cNvPr id="119"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91" name="Group 165"/>
            <p:cNvGrpSpPr/>
            <p:nvPr/>
          </p:nvGrpSpPr>
          <p:grpSpPr bwMode="gray">
            <a:xfrm rot="10800000">
              <a:off x="1950916" y="4287657"/>
              <a:ext cx="537970" cy="932625"/>
              <a:chOff x="-1233037" y="914446"/>
              <a:chExt cx="1573823" cy="778776"/>
            </a:xfrm>
          </p:grpSpPr>
          <p:cxnSp>
            <p:nvCxnSpPr>
              <p:cNvPr id="117"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92" name="Group 165"/>
            <p:cNvGrpSpPr/>
            <p:nvPr/>
          </p:nvGrpSpPr>
          <p:grpSpPr bwMode="gray">
            <a:xfrm rot="10800000">
              <a:off x="1371796" y="4251111"/>
              <a:ext cx="1696210" cy="932625"/>
              <a:chOff x="-1233037" y="914446"/>
              <a:chExt cx="1573823" cy="778776"/>
            </a:xfrm>
          </p:grpSpPr>
          <p:cxnSp>
            <p:nvCxnSpPr>
              <p:cNvPr id="115"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93" name="Group 165"/>
            <p:cNvGrpSpPr/>
            <p:nvPr/>
          </p:nvGrpSpPr>
          <p:grpSpPr bwMode="gray">
            <a:xfrm rot="10800000">
              <a:off x="2211722" y="3075178"/>
              <a:ext cx="2707871" cy="932625"/>
              <a:chOff x="-1233037" y="914446"/>
              <a:chExt cx="1573823" cy="778776"/>
            </a:xfrm>
          </p:grpSpPr>
          <p:cxnSp>
            <p:nvCxnSpPr>
              <p:cNvPr id="113" name="Straight Connector 166"/>
              <p:cNvCxnSpPr/>
              <p:nvPr/>
            </p:nvCxnSpPr>
            <p:spPr bwMode="gray">
              <a:xfrm flipH="1" flipV="1">
                <a:off x="-1233037" y="914446"/>
                <a:ext cx="786912" cy="7787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67"/>
              <p:cNvCxnSpPr/>
              <p:nvPr/>
            </p:nvCxnSpPr>
            <p:spPr bwMode="gray">
              <a:xfrm flipV="1">
                <a:off x="-446125" y="914446"/>
                <a:ext cx="786911" cy="77877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pic>
          <p:nvPicPr>
            <p:cNvPr id="94" name="图片 86" descr="核心交换机.png"/>
            <p:cNvPicPr>
              <a:picLocks noChangeAspect="1"/>
            </p:cNvPicPr>
            <p:nvPr/>
          </p:nvPicPr>
          <p:blipFill>
            <a:blip r:embed="rId3"/>
            <a:stretch>
              <a:fillRect/>
            </a:stretch>
          </p:blipFill>
          <p:spPr bwMode="gray">
            <a:xfrm>
              <a:off x="3328117" y="2897553"/>
              <a:ext cx="475079" cy="388703"/>
            </a:xfrm>
            <a:prstGeom prst="rect">
              <a:avLst/>
            </a:prstGeom>
          </p:spPr>
        </p:pic>
        <p:pic>
          <p:nvPicPr>
            <p:cNvPr id="95" name="图片 87" descr="汇聚交换机.png"/>
            <p:cNvPicPr>
              <a:picLocks noChangeAspect="1"/>
            </p:cNvPicPr>
            <p:nvPr/>
          </p:nvPicPr>
          <p:blipFill>
            <a:blip r:embed="rId4"/>
            <a:stretch>
              <a:fillRect/>
            </a:stretch>
          </p:blipFill>
          <p:spPr bwMode="gray">
            <a:xfrm>
              <a:off x="1987075" y="3968214"/>
              <a:ext cx="475079" cy="388703"/>
            </a:xfrm>
            <a:prstGeom prst="rect">
              <a:avLst/>
            </a:prstGeom>
          </p:spPr>
        </p:pic>
        <p:pic>
          <p:nvPicPr>
            <p:cNvPr id="96" name="图片 87" descr="汇聚交换机.png"/>
            <p:cNvPicPr>
              <a:picLocks noChangeAspect="1"/>
            </p:cNvPicPr>
            <p:nvPr/>
          </p:nvPicPr>
          <p:blipFill>
            <a:blip r:embed="rId4"/>
            <a:stretch>
              <a:fillRect/>
            </a:stretch>
          </p:blipFill>
          <p:spPr bwMode="gray">
            <a:xfrm>
              <a:off x="4669160" y="3968214"/>
              <a:ext cx="475079" cy="388703"/>
            </a:xfrm>
            <a:prstGeom prst="rect">
              <a:avLst/>
            </a:prstGeom>
          </p:spPr>
        </p:pic>
        <p:pic>
          <p:nvPicPr>
            <p:cNvPr id="97" name="图片 76" descr="接入交换机.png"/>
            <p:cNvPicPr>
              <a:picLocks noChangeAspect="1"/>
            </p:cNvPicPr>
            <p:nvPr/>
          </p:nvPicPr>
          <p:blipFill>
            <a:blip r:embed="rId5"/>
            <a:stretch>
              <a:fillRect/>
            </a:stretch>
          </p:blipFill>
          <p:spPr bwMode="gray">
            <a:xfrm>
              <a:off x="1220109" y="5151024"/>
              <a:ext cx="431890" cy="353366"/>
            </a:xfrm>
            <a:prstGeom prst="rect">
              <a:avLst/>
            </a:prstGeom>
          </p:spPr>
        </p:pic>
        <p:pic>
          <p:nvPicPr>
            <p:cNvPr id="98" name="图片 76" descr="接入交换机.png"/>
            <p:cNvPicPr>
              <a:picLocks noChangeAspect="1"/>
            </p:cNvPicPr>
            <p:nvPr/>
          </p:nvPicPr>
          <p:blipFill>
            <a:blip r:embed="rId5"/>
            <a:stretch>
              <a:fillRect/>
            </a:stretch>
          </p:blipFill>
          <p:spPr bwMode="gray">
            <a:xfrm>
              <a:off x="1745816" y="5151024"/>
              <a:ext cx="431890" cy="353366"/>
            </a:xfrm>
            <a:prstGeom prst="rect">
              <a:avLst/>
            </a:prstGeom>
          </p:spPr>
        </p:pic>
        <p:pic>
          <p:nvPicPr>
            <p:cNvPr id="99" name="图片 76" descr="接入交换机.png"/>
            <p:cNvPicPr>
              <a:picLocks noChangeAspect="1"/>
            </p:cNvPicPr>
            <p:nvPr/>
          </p:nvPicPr>
          <p:blipFill>
            <a:blip r:embed="rId5"/>
            <a:stretch>
              <a:fillRect/>
            </a:stretch>
          </p:blipFill>
          <p:spPr bwMode="gray">
            <a:xfrm>
              <a:off x="2271523" y="5151024"/>
              <a:ext cx="431890" cy="353366"/>
            </a:xfrm>
            <a:prstGeom prst="rect">
              <a:avLst/>
            </a:prstGeom>
          </p:spPr>
        </p:pic>
        <p:pic>
          <p:nvPicPr>
            <p:cNvPr id="100" name="图片 76" descr="接入交换机.png"/>
            <p:cNvPicPr>
              <a:picLocks noChangeAspect="1"/>
            </p:cNvPicPr>
            <p:nvPr/>
          </p:nvPicPr>
          <p:blipFill>
            <a:blip r:embed="rId5"/>
            <a:stretch>
              <a:fillRect/>
            </a:stretch>
          </p:blipFill>
          <p:spPr bwMode="gray">
            <a:xfrm>
              <a:off x="2797229" y="5151024"/>
              <a:ext cx="431890" cy="353366"/>
            </a:xfrm>
            <a:prstGeom prst="rect">
              <a:avLst/>
            </a:prstGeom>
          </p:spPr>
        </p:pic>
        <p:pic>
          <p:nvPicPr>
            <p:cNvPr id="101" name="图片 76" descr="接入交换机.png"/>
            <p:cNvPicPr>
              <a:picLocks noChangeAspect="1"/>
            </p:cNvPicPr>
            <p:nvPr/>
          </p:nvPicPr>
          <p:blipFill>
            <a:blip r:embed="rId5"/>
            <a:stretch>
              <a:fillRect/>
            </a:stretch>
          </p:blipFill>
          <p:spPr bwMode="gray">
            <a:xfrm>
              <a:off x="3902194" y="5151024"/>
              <a:ext cx="431890" cy="353366"/>
            </a:xfrm>
            <a:prstGeom prst="rect">
              <a:avLst/>
            </a:prstGeom>
          </p:spPr>
        </p:pic>
        <p:pic>
          <p:nvPicPr>
            <p:cNvPr id="102" name="图片 76" descr="接入交换机.png"/>
            <p:cNvPicPr>
              <a:picLocks noChangeAspect="1"/>
            </p:cNvPicPr>
            <p:nvPr/>
          </p:nvPicPr>
          <p:blipFill>
            <a:blip r:embed="rId5"/>
            <a:stretch>
              <a:fillRect/>
            </a:stretch>
          </p:blipFill>
          <p:spPr bwMode="gray">
            <a:xfrm>
              <a:off x="4427901" y="5151024"/>
              <a:ext cx="431890" cy="353366"/>
            </a:xfrm>
            <a:prstGeom prst="rect">
              <a:avLst/>
            </a:prstGeom>
          </p:spPr>
        </p:pic>
        <p:pic>
          <p:nvPicPr>
            <p:cNvPr id="103" name="图片 76" descr="接入交换机.png"/>
            <p:cNvPicPr>
              <a:picLocks noChangeAspect="1"/>
            </p:cNvPicPr>
            <p:nvPr/>
          </p:nvPicPr>
          <p:blipFill>
            <a:blip r:embed="rId5"/>
            <a:stretch>
              <a:fillRect/>
            </a:stretch>
          </p:blipFill>
          <p:spPr bwMode="gray">
            <a:xfrm>
              <a:off x="4953608" y="5151024"/>
              <a:ext cx="431890" cy="353366"/>
            </a:xfrm>
            <a:prstGeom prst="rect">
              <a:avLst/>
            </a:prstGeom>
          </p:spPr>
        </p:pic>
        <p:pic>
          <p:nvPicPr>
            <p:cNvPr id="104" name="图片 76" descr="接入交换机.png"/>
            <p:cNvPicPr>
              <a:picLocks noChangeAspect="1"/>
            </p:cNvPicPr>
            <p:nvPr/>
          </p:nvPicPr>
          <p:blipFill>
            <a:blip r:embed="rId5"/>
            <a:stretch>
              <a:fillRect/>
            </a:stretch>
          </p:blipFill>
          <p:spPr bwMode="gray">
            <a:xfrm>
              <a:off x="5479315" y="5151024"/>
              <a:ext cx="431890" cy="353366"/>
            </a:xfrm>
            <a:prstGeom prst="rect">
              <a:avLst/>
            </a:prstGeom>
          </p:spPr>
        </p:pic>
        <p:grpSp>
          <p:nvGrpSpPr>
            <p:cNvPr id="105" name="Group 3"/>
            <p:cNvGrpSpPr/>
            <p:nvPr/>
          </p:nvGrpSpPr>
          <p:grpSpPr bwMode="gray">
            <a:xfrm>
              <a:off x="3412544" y="5298014"/>
              <a:ext cx="306220" cy="72449"/>
              <a:chOff x="559282" y="6488261"/>
              <a:chExt cx="261965" cy="61979"/>
            </a:xfrm>
            <a:solidFill>
              <a:schemeClr val="bg1">
                <a:lumMod val="50000"/>
              </a:schemeClr>
            </a:solidFill>
          </p:grpSpPr>
          <p:sp>
            <p:nvSpPr>
              <p:cNvPr id="110"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Arial" panose="020B0604020202020204" pitchFamily="34" charset="0"/>
                </a:endParaRPr>
              </a:p>
            </p:txBody>
          </p:sp>
          <p:sp>
            <p:nvSpPr>
              <p:cNvPr id="111"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Arial" panose="020B0604020202020204" pitchFamily="34" charset="0"/>
                </a:endParaRPr>
              </a:p>
            </p:txBody>
          </p:sp>
          <p:sp>
            <p:nvSpPr>
              <p:cNvPr id="112"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latin typeface="Arial" panose="020B0604020202020204" pitchFamily="34" charset="0"/>
                </a:endParaRPr>
              </a:p>
            </p:txBody>
          </p:sp>
        </p:grpSp>
        <p:pic>
          <p:nvPicPr>
            <p:cNvPr id="106" name="图片 10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786649" y="2376638"/>
              <a:ext cx="1574376" cy="290357"/>
            </a:xfrm>
            <a:prstGeom prst="rect">
              <a:avLst/>
            </a:prstGeom>
          </p:spPr>
        </p:pic>
        <p:sp>
          <p:nvSpPr>
            <p:cNvPr id="107" name="圆角矩形 106"/>
            <p:cNvSpPr/>
            <p:nvPr/>
          </p:nvSpPr>
          <p:spPr bwMode="gray">
            <a:xfrm>
              <a:off x="713033" y="3845679"/>
              <a:ext cx="259970" cy="588070"/>
            </a:xfrm>
            <a:prstGeom prst="roundRect">
              <a:avLst>
                <a:gd name="adj" fmla="val 15000"/>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汇聚层</a:t>
              </a:r>
              <a:endPar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圆角矩形 107"/>
            <p:cNvSpPr/>
            <p:nvPr/>
          </p:nvSpPr>
          <p:spPr bwMode="gray">
            <a:xfrm>
              <a:off x="713033" y="4939587"/>
              <a:ext cx="259970" cy="588070"/>
            </a:xfrm>
            <a:prstGeom prst="roundRect">
              <a:avLst>
                <a:gd name="adj" fmla="val 15000"/>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接入层</a:t>
              </a:r>
              <a:endPar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圆角矩形 108"/>
            <p:cNvSpPr/>
            <p:nvPr/>
          </p:nvSpPr>
          <p:spPr bwMode="gray">
            <a:xfrm>
              <a:off x="713033" y="2797869"/>
              <a:ext cx="259970" cy="588070"/>
            </a:xfrm>
            <a:prstGeom prst="roundRect">
              <a:avLst>
                <a:gd name="adj" fmla="val 15000"/>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核心层</a:t>
              </a:r>
            </a:p>
          </p:txBody>
        </p:sp>
      </p:grpSp>
      <p:grpSp>
        <p:nvGrpSpPr>
          <p:cNvPr id="123" name="组合 122"/>
          <p:cNvGrpSpPr/>
          <p:nvPr/>
        </p:nvGrpSpPr>
        <p:grpSpPr bwMode="gray">
          <a:xfrm>
            <a:off x="5058626" y="5720327"/>
            <a:ext cx="850480" cy="324968"/>
            <a:chOff x="4507522" y="5846183"/>
            <a:chExt cx="850480" cy="324968"/>
          </a:xfrm>
        </p:grpSpPr>
        <p:sp>
          <p:nvSpPr>
            <p:cNvPr id="124" name="Rounded Rectangle 23"/>
            <p:cNvSpPr/>
            <p:nvPr/>
          </p:nvSpPr>
          <p:spPr bwMode="gray">
            <a:xfrm>
              <a:off x="4547847" y="5846183"/>
              <a:ext cx="810155" cy="324968"/>
            </a:xfrm>
            <a:prstGeom prst="roundRect">
              <a:avLst>
                <a:gd name="adj" fmla="val 7521"/>
              </a:avLst>
            </a:prstGeom>
            <a:gradFill flip="none" rotWithShape="1">
              <a:gsLst>
                <a:gs pos="100000">
                  <a:schemeClr val="bg1"/>
                </a:gs>
                <a:gs pos="0">
                  <a:srgbClr val="E4F6F8"/>
                </a:gs>
              </a:gsLst>
              <a:lin ang="0" scaled="1"/>
              <a:tileRect/>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endParaRPr>
            </a:p>
          </p:txBody>
        </p:sp>
        <p:sp>
          <p:nvSpPr>
            <p:cNvPr id="125" name="矩形 124"/>
            <p:cNvSpPr/>
            <p:nvPr/>
          </p:nvSpPr>
          <p:spPr bwMode="gray">
            <a:xfrm>
              <a:off x="4507522" y="5882811"/>
              <a:ext cx="850480" cy="251711"/>
            </a:xfrm>
            <a:prstGeom prst="rect">
              <a:avLst/>
            </a:prstGeom>
          </p:spPr>
          <p:txBody>
            <a:bodyPr wrap="square">
              <a:noAutofit/>
            </a:bodyPr>
            <a:lstStyle/>
            <a:p>
              <a:pPr algn="ctr" fontAlgn="ctr"/>
              <a:r>
                <a:rPr lang="zh-CN" altLang="en-US" sz="1400" dirty="0">
                  <a:latin typeface="Arial" panose="020B0604020202020204" pitchFamily="34" charset="0"/>
                </a:rPr>
                <a:t>认证点</a:t>
              </a:r>
              <a:endParaRPr lang="en-US" altLang="zh-CN" sz="1400" dirty="0">
                <a:latin typeface="Arial" panose="020B0604020202020204" pitchFamily="34" charset="0"/>
              </a:endParaRPr>
            </a:p>
          </p:txBody>
        </p:sp>
      </p:grpSp>
    </p:spTree>
    <p:extLst>
      <p:ext uri="{BB962C8B-B14F-4D97-AF65-F5344CB8AC3E}">
        <p14:creationId xmlns:p14="http://schemas.microsoft.com/office/powerpoint/2010/main" val="24701445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mtClean="0"/>
              <a:t>策略联动概述</a:t>
            </a:r>
            <a:endParaRPr lang="zh-CN" altLang="en-US" dirty="0"/>
          </a:p>
        </p:txBody>
      </p:sp>
      <p:sp>
        <p:nvSpPr>
          <p:cNvPr id="4" name="文本占位符 3"/>
          <p:cNvSpPr>
            <a:spLocks noGrp="1"/>
          </p:cNvSpPr>
          <p:nvPr>
            <p:ph type="body" sz="quarter" idx="10"/>
          </p:nvPr>
        </p:nvSpPr>
        <p:spPr>
          <a:xfrm>
            <a:off x="455613" y="1047751"/>
            <a:ext cx="11256962" cy="928280"/>
          </a:xfrm>
        </p:spPr>
        <p:txBody>
          <a:bodyPr/>
          <a:lstStyle/>
          <a:p>
            <a:r>
              <a:rPr lang="zh-CN" altLang="en-US" sz="2000" smtClean="0"/>
              <a:t>策略联动是通过在网关设备上统一管理用户的访问策略，并且在网关设备和接入设备执行用户的访问策略，来解决大型园区策略强度与复杂度之间矛盾的一种解决方案。</a:t>
            </a:r>
            <a:endParaRPr lang="zh-CN" altLang="en-US" sz="2000" dirty="0"/>
          </a:p>
        </p:txBody>
      </p:sp>
      <p:sp>
        <p:nvSpPr>
          <p:cNvPr id="50" name="文本框 49"/>
          <p:cNvSpPr txBox="1"/>
          <p:nvPr/>
        </p:nvSpPr>
        <p:spPr bwMode="gray">
          <a:xfrm>
            <a:off x="6241779" y="4397455"/>
            <a:ext cx="5324713" cy="1502976"/>
          </a:xfrm>
          <a:prstGeom prst="rect">
            <a:avLst/>
          </a:prstGeom>
          <a:noFill/>
          <a:ln>
            <a:solidFill>
              <a:schemeClr val="bg1">
                <a:lumMod val="75000"/>
              </a:schemeClr>
            </a:solidFill>
          </a:ln>
        </p:spPr>
        <p:txBody>
          <a:bodyPr wrap="square" rtlCol="0">
            <a:spAutoFit/>
          </a:bodyPr>
          <a:lstStyle/>
          <a:p>
            <a:pPr marL="182563" indent="-182563">
              <a:lnSpc>
                <a:spcPts val="2600"/>
              </a:lnSpc>
              <a:spcAft>
                <a:spcPts val="600"/>
              </a:spcAft>
              <a:buFont typeface="Arial" panose="020B0604020202020204" pitchFamily="34" charset="0"/>
              <a:buChar char="•"/>
            </a:pPr>
            <a:r>
              <a:rPr lang="zh-CN" altLang="en-US" sz="1400" dirty="0" smtClean="0">
                <a:cs typeface="Arial" panose="020B0604020202020204" pitchFamily="34" charset="0"/>
              </a:rPr>
              <a:t>认证控制点与认证执行</a:t>
            </a:r>
            <a:r>
              <a:rPr lang="zh-CN" altLang="en-US" sz="1400" dirty="0">
                <a:cs typeface="Arial" panose="020B0604020202020204" pitchFamily="34" charset="0"/>
              </a:rPr>
              <a:t>点之间建立</a:t>
            </a:r>
            <a:r>
              <a:rPr lang="en-US" altLang="zh-CN" sz="1400" dirty="0">
                <a:cs typeface="Arial" panose="020B0604020202020204" pitchFamily="34" charset="0"/>
              </a:rPr>
              <a:t>CAPWAP</a:t>
            </a:r>
            <a:r>
              <a:rPr lang="zh-CN" altLang="en-US" sz="1400" dirty="0">
                <a:cs typeface="Arial" panose="020B0604020202020204" pitchFamily="34" charset="0"/>
              </a:rPr>
              <a:t>（</a:t>
            </a:r>
            <a:r>
              <a:rPr lang="en-US" altLang="zh-CN" sz="1400" dirty="0">
                <a:cs typeface="Arial" panose="020B0604020202020204" pitchFamily="34" charset="0"/>
              </a:rPr>
              <a:t>Control And Provisioning of Wireless Access Points</a:t>
            </a:r>
            <a:r>
              <a:rPr lang="zh-CN" altLang="en-US" sz="1400" dirty="0">
                <a:cs typeface="Arial" panose="020B0604020202020204" pitchFamily="34" charset="0"/>
              </a:rPr>
              <a:t>）隧道。</a:t>
            </a:r>
            <a:endParaRPr lang="en-US" altLang="zh-CN" sz="1400" dirty="0">
              <a:cs typeface="Arial" panose="020B0604020202020204" pitchFamily="34" charset="0"/>
            </a:endParaRPr>
          </a:p>
          <a:p>
            <a:pPr marL="182563" indent="-182563">
              <a:lnSpc>
                <a:spcPts val="2600"/>
              </a:lnSpc>
              <a:spcAft>
                <a:spcPts val="600"/>
              </a:spcAft>
              <a:buFont typeface="Arial" panose="020B0604020202020204" pitchFamily="34" charset="0"/>
              <a:buChar char="•"/>
            </a:pPr>
            <a:r>
              <a:rPr lang="zh-CN" altLang="en-US" sz="1400" dirty="0">
                <a:cs typeface="Arial" panose="020B0604020202020204" pitchFamily="34" charset="0"/>
              </a:rPr>
              <a:t>通过</a:t>
            </a:r>
            <a:r>
              <a:rPr lang="en-US" altLang="zh-CN" sz="1400" dirty="0">
                <a:cs typeface="Arial" panose="020B0604020202020204" pitchFamily="34" charset="0"/>
              </a:rPr>
              <a:t>CAPWAP</a:t>
            </a:r>
            <a:r>
              <a:rPr lang="zh-CN" altLang="en-US" sz="1400" dirty="0">
                <a:cs typeface="Arial" panose="020B0604020202020204" pitchFamily="34" charset="0"/>
              </a:rPr>
              <a:t>完成</a:t>
            </a:r>
            <a:r>
              <a:rPr lang="zh-CN" altLang="en-US" sz="1400" dirty="0" smtClean="0">
                <a:cs typeface="Arial" panose="020B0604020202020204" pitchFamily="34" charset="0"/>
              </a:rPr>
              <a:t>认证控制设备和认证</a:t>
            </a:r>
            <a:r>
              <a:rPr lang="zh-CN" altLang="en-US" sz="1400" dirty="0">
                <a:cs typeface="Arial" panose="020B0604020202020204" pitchFamily="34" charset="0"/>
              </a:rPr>
              <a:t>执行</a:t>
            </a:r>
            <a:r>
              <a:rPr lang="zh-CN" altLang="en-US" sz="1400" dirty="0" smtClean="0">
                <a:cs typeface="Arial" panose="020B0604020202020204" pitchFamily="34" charset="0"/>
              </a:rPr>
              <a:t>设备之间</a:t>
            </a:r>
            <a:r>
              <a:rPr lang="zh-CN" altLang="en-US" sz="1400" dirty="0">
                <a:cs typeface="Arial" panose="020B0604020202020204" pitchFamily="34" charset="0"/>
              </a:rPr>
              <a:t>的用户关联、消息通信、用户授权策略下发、用户同步等处理。</a:t>
            </a:r>
          </a:p>
        </p:txBody>
      </p:sp>
      <p:sp>
        <p:nvSpPr>
          <p:cNvPr id="110" name="圆角矩形 75"/>
          <p:cNvSpPr/>
          <p:nvPr/>
        </p:nvSpPr>
        <p:spPr bwMode="gray">
          <a:xfrm>
            <a:off x="6248150" y="1988019"/>
            <a:ext cx="531834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rPr>
              <a:t>策略联动</a:t>
            </a:r>
            <a:r>
              <a:rPr lang="zh-CN" altLang="en-US" sz="1600" dirty="0" smtClean="0">
                <a:solidFill>
                  <a:srgbClr val="30B5C5"/>
                </a:solidFill>
              </a:rPr>
              <a:t>方案中的</a:t>
            </a:r>
            <a:r>
              <a:rPr lang="zh-CN" altLang="en-US" sz="1600" dirty="0">
                <a:solidFill>
                  <a:srgbClr val="30B5C5"/>
                </a:solidFill>
              </a:rPr>
              <a:t>角色</a:t>
            </a:r>
          </a:p>
        </p:txBody>
      </p:sp>
      <p:sp>
        <p:nvSpPr>
          <p:cNvPr id="111" name="圆角矩形 75"/>
          <p:cNvSpPr/>
          <p:nvPr/>
        </p:nvSpPr>
        <p:spPr bwMode="gray">
          <a:xfrm>
            <a:off x="6248150" y="2405084"/>
            <a:ext cx="5318343" cy="1896327"/>
          </a:xfrm>
          <a:prstGeom prst="roundRect">
            <a:avLst>
              <a:gd name="adj" fmla="val 874"/>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fontAlgn="auto">
              <a:lnSpc>
                <a:spcPts val="2600"/>
              </a:lnSpc>
              <a:spcAft>
                <a:spcPts val="600"/>
              </a:spcAft>
              <a:buFont typeface="Arial" panose="020B0604020202020204" pitchFamily="34" charset="0"/>
              <a:buChar char="•"/>
            </a:pPr>
            <a:r>
              <a:rPr lang="zh-CN" altLang="en-US" sz="1400" b="1" dirty="0">
                <a:solidFill>
                  <a:schemeClr val="tx1"/>
                </a:solidFill>
                <a:cs typeface="Arial" panose="020B0604020202020204" pitchFamily="34" charset="0"/>
              </a:rPr>
              <a:t>终端：</a:t>
            </a:r>
            <a:r>
              <a:rPr lang="zh-CN" altLang="en-US" sz="1400" dirty="0">
                <a:solidFill>
                  <a:schemeClr val="tx1"/>
                </a:solidFill>
                <a:cs typeface="Arial" panose="020B0604020202020204" pitchFamily="34" charset="0"/>
              </a:rPr>
              <a:t>负责向用户提供人机接口，帮助用户进行认证和资源访问</a:t>
            </a:r>
            <a:r>
              <a:rPr lang="zh-CN" altLang="en-US" sz="1400" dirty="0" smtClean="0">
                <a:solidFill>
                  <a:schemeClr val="tx1"/>
                </a:solidFill>
                <a:cs typeface="Arial" panose="020B0604020202020204" pitchFamily="34" charset="0"/>
              </a:rPr>
              <a:t>。包括</a:t>
            </a:r>
            <a:r>
              <a:rPr lang="en-US" altLang="zh-CN" sz="1400" dirty="0" smtClean="0">
                <a:solidFill>
                  <a:schemeClr val="tx1"/>
                </a:solidFill>
                <a:cs typeface="Arial" panose="020B0604020202020204" pitchFamily="34" charset="0"/>
              </a:rPr>
              <a:t>PC</a:t>
            </a:r>
            <a:r>
              <a:rPr lang="zh-CN" altLang="en-US" sz="1400" dirty="0" smtClean="0">
                <a:solidFill>
                  <a:schemeClr val="tx1"/>
                </a:solidFill>
                <a:cs typeface="Arial" panose="020B0604020202020204" pitchFamily="34" charset="0"/>
              </a:rPr>
              <a:t>、便携机、平板电脑、哑终端等。</a:t>
            </a:r>
            <a:endParaRPr lang="en-US" altLang="zh-CN" sz="1400" dirty="0" smtClean="0">
              <a:solidFill>
                <a:schemeClr val="tx1"/>
              </a:solidFill>
              <a:cs typeface="Arial" panose="020B0604020202020204" pitchFamily="34" charset="0"/>
            </a:endParaRPr>
          </a:p>
          <a:p>
            <a:pPr marL="182563" indent="-182563" fontAlgn="auto">
              <a:lnSpc>
                <a:spcPts val="2600"/>
              </a:lnSpc>
              <a:spcAft>
                <a:spcPts val="600"/>
              </a:spcAft>
              <a:buFont typeface="Arial" panose="020B0604020202020204" pitchFamily="34" charset="0"/>
              <a:buChar char="•"/>
            </a:pPr>
            <a:r>
              <a:rPr lang="zh-CN" altLang="en-US" sz="1400" b="1" dirty="0">
                <a:solidFill>
                  <a:schemeClr val="tx1"/>
                </a:solidFill>
                <a:cs typeface="Arial" panose="020B0604020202020204" pitchFamily="34" charset="0"/>
              </a:rPr>
              <a:t>认证</a:t>
            </a:r>
            <a:r>
              <a:rPr lang="zh-CN" altLang="en-US" sz="1400" b="1" dirty="0" smtClean="0">
                <a:solidFill>
                  <a:schemeClr val="tx1"/>
                </a:solidFill>
                <a:cs typeface="Arial" panose="020B0604020202020204" pitchFamily="34" charset="0"/>
              </a:rPr>
              <a:t>接入设备：</a:t>
            </a:r>
            <a:r>
              <a:rPr lang="zh-CN" altLang="en-US" sz="1400" dirty="0">
                <a:solidFill>
                  <a:schemeClr val="tx1"/>
                </a:solidFill>
                <a:cs typeface="Arial" panose="020B0604020202020204" pitchFamily="34" charset="0"/>
              </a:rPr>
              <a:t>认证</a:t>
            </a:r>
            <a:r>
              <a:rPr lang="zh-CN" altLang="en-US" sz="1400" dirty="0" smtClean="0">
                <a:solidFill>
                  <a:schemeClr val="tx1"/>
                </a:solidFill>
                <a:cs typeface="Arial" panose="020B0604020202020204" pitchFamily="34" charset="0"/>
              </a:rPr>
              <a:t>执行点，负责</a:t>
            </a:r>
            <a:r>
              <a:rPr lang="zh-CN" altLang="en-US" sz="1400" dirty="0">
                <a:solidFill>
                  <a:schemeClr val="tx1"/>
                </a:solidFill>
                <a:cs typeface="Arial" panose="020B0604020202020204" pitchFamily="34" charset="0"/>
              </a:rPr>
              <a:t>执行用户的网络访问策略。</a:t>
            </a:r>
          </a:p>
          <a:p>
            <a:pPr marL="182563" indent="-182563" fontAlgn="auto">
              <a:lnSpc>
                <a:spcPts val="2600"/>
              </a:lnSpc>
              <a:spcAft>
                <a:spcPts val="600"/>
              </a:spcAft>
              <a:buFont typeface="Arial" panose="020B0604020202020204" pitchFamily="34" charset="0"/>
              <a:buChar char="•"/>
            </a:pPr>
            <a:r>
              <a:rPr lang="zh-CN" altLang="en-US" sz="1400" b="1" dirty="0" smtClean="0">
                <a:solidFill>
                  <a:schemeClr val="tx1"/>
                </a:solidFill>
                <a:cs typeface="Arial" panose="020B0604020202020204" pitchFamily="34" charset="0"/>
              </a:rPr>
              <a:t>认证控制设备：</a:t>
            </a:r>
            <a:r>
              <a:rPr lang="zh-CN" altLang="en-US" sz="1400" dirty="0">
                <a:solidFill>
                  <a:schemeClr val="tx1"/>
                </a:solidFill>
                <a:cs typeface="Arial" panose="020B0604020202020204" pitchFamily="34" charset="0"/>
              </a:rPr>
              <a:t>认证</a:t>
            </a:r>
            <a:r>
              <a:rPr lang="zh-CN" altLang="en-US" sz="1400" dirty="0" smtClean="0">
                <a:solidFill>
                  <a:schemeClr val="tx1"/>
                </a:solidFill>
                <a:cs typeface="Arial" panose="020B0604020202020204" pitchFamily="34" charset="0"/>
              </a:rPr>
              <a:t>控制点，负责</a:t>
            </a:r>
            <a:r>
              <a:rPr lang="zh-CN" altLang="en-US" sz="1400" dirty="0">
                <a:solidFill>
                  <a:schemeClr val="tx1"/>
                </a:solidFill>
                <a:cs typeface="Arial" panose="020B0604020202020204" pitchFamily="34" charset="0"/>
              </a:rPr>
              <a:t>对用户进行认证以及控制用户的网络访问策略。</a:t>
            </a:r>
          </a:p>
        </p:txBody>
      </p:sp>
      <p:grpSp>
        <p:nvGrpSpPr>
          <p:cNvPr id="87" name="Group 165"/>
          <p:cNvGrpSpPr/>
          <p:nvPr/>
        </p:nvGrpSpPr>
        <p:grpSpPr bwMode="gray">
          <a:xfrm rot="10800000">
            <a:off x="4733910" y="3664844"/>
            <a:ext cx="537970" cy="932625"/>
            <a:chOff x="-1233037" y="914446"/>
            <a:chExt cx="1573823" cy="778776"/>
          </a:xfrm>
        </p:grpSpPr>
        <p:cxnSp>
          <p:nvCxnSpPr>
            <p:cNvPr id="154" name="Straight Connector 166"/>
            <p:cNvCxnSpPr/>
            <p:nvPr/>
          </p:nvCxnSpPr>
          <p:spPr bwMode="gray">
            <a:xfrm flipH="1" flipV="1">
              <a:off x="-1233037" y="914446"/>
              <a:ext cx="786912" cy="778776"/>
            </a:xfrm>
            <a:prstGeom prst="line">
              <a:avLst/>
            </a:pr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155" name="Straight Connector 167"/>
            <p:cNvCxnSpPr/>
            <p:nvPr/>
          </p:nvCxnSpPr>
          <p:spPr bwMode="gray">
            <a:xfrm flipV="1">
              <a:off x="-446125" y="914446"/>
              <a:ext cx="786911" cy="778776"/>
            </a:xfrm>
            <a:prstGeom prst="line">
              <a:avLst/>
            </a:pr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cxnSp>
      </p:grpSp>
      <p:grpSp>
        <p:nvGrpSpPr>
          <p:cNvPr id="88" name="Group 165"/>
          <p:cNvGrpSpPr/>
          <p:nvPr/>
        </p:nvGrpSpPr>
        <p:grpSpPr bwMode="gray">
          <a:xfrm rot="10800000">
            <a:off x="4154790" y="3628298"/>
            <a:ext cx="1696210" cy="932625"/>
            <a:chOff x="-1233037" y="914446"/>
            <a:chExt cx="1573823" cy="778776"/>
          </a:xfrm>
        </p:grpSpPr>
        <p:cxnSp>
          <p:nvCxnSpPr>
            <p:cNvPr id="152" name="Straight Connector 166"/>
            <p:cNvCxnSpPr/>
            <p:nvPr/>
          </p:nvCxnSpPr>
          <p:spPr bwMode="gray">
            <a:xfrm flipH="1" flipV="1">
              <a:off x="-1233037" y="914446"/>
              <a:ext cx="786912" cy="778776"/>
            </a:xfrm>
            <a:prstGeom prst="line">
              <a:avLst/>
            </a:pr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153" name="Straight Connector 167"/>
            <p:cNvCxnSpPr/>
            <p:nvPr/>
          </p:nvCxnSpPr>
          <p:spPr bwMode="gray">
            <a:xfrm flipV="1">
              <a:off x="-446125" y="914446"/>
              <a:ext cx="786911" cy="778776"/>
            </a:xfrm>
            <a:prstGeom prst="line">
              <a:avLst/>
            </a:pr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cxnSp>
      </p:grpSp>
      <p:cxnSp>
        <p:nvCxnSpPr>
          <p:cNvPr id="150" name="Straight Connector 166"/>
          <p:cNvCxnSpPr/>
          <p:nvPr/>
        </p:nvCxnSpPr>
        <p:spPr bwMode="gray">
          <a:xfrm rot="10800000" flipH="1" flipV="1">
            <a:off x="2319411" y="3664844"/>
            <a:ext cx="268985" cy="932625"/>
          </a:xfrm>
          <a:prstGeom prst="line">
            <a:avLst/>
          </a:pr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151" name="Straight Connector 167"/>
          <p:cNvCxnSpPr/>
          <p:nvPr/>
        </p:nvCxnSpPr>
        <p:spPr bwMode="gray">
          <a:xfrm rot="10800000" flipV="1">
            <a:off x="2050426" y="3664844"/>
            <a:ext cx="268985" cy="932625"/>
          </a:xfrm>
          <a:prstGeom prst="line">
            <a:avLst/>
          </a:pr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148" name="Straight Connector 166"/>
          <p:cNvCxnSpPr/>
          <p:nvPr/>
        </p:nvCxnSpPr>
        <p:spPr bwMode="gray">
          <a:xfrm rot="10800000" flipH="1" flipV="1">
            <a:off x="2319410" y="3628298"/>
            <a:ext cx="848106" cy="932625"/>
          </a:xfrm>
          <a:prstGeom prst="line">
            <a:avLst/>
          </a:pr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149" name="Straight Connector 167"/>
          <p:cNvCxnSpPr/>
          <p:nvPr/>
        </p:nvCxnSpPr>
        <p:spPr bwMode="gray">
          <a:xfrm rot="10800000" flipV="1">
            <a:off x="1471306" y="3628298"/>
            <a:ext cx="848104" cy="932625"/>
          </a:xfrm>
          <a:prstGeom prst="line">
            <a:avLst/>
          </a:pr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146" name="Straight Connector 166"/>
          <p:cNvCxnSpPr/>
          <p:nvPr/>
        </p:nvCxnSpPr>
        <p:spPr bwMode="gray">
          <a:xfrm>
            <a:off x="3637036" y="2779482"/>
            <a:ext cx="1382067" cy="60550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67"/>
          <p:cNvCxnSpPr/>
          <p:nvPr/>
        </p:nvCxnSpPr>
        <p:spPr bwMode="gray">
          <a:xfrm flipH="1">
            <a:off x="2311233" y="2771362"/>
            <a:ext cx="1353930" cy="613628"/>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112" name="图片 86" descr="核心交换机.png"/>
          <p:cNvPicPr>
            <a:picLocks noChangeAspect="1"/>
          </p:cNvPicPr>
          <p:nvPr/>
        </p:nvPicPr>
        <p:blipFill>
          <a:blip r:embed="rId3"/>
          <a:stretch>
            <a:fillRect/>
          </a:stretch>
        </p:blipFill>
        <p:spPr bwMode="gray">
          <a:xfrm>
            <a:off x="3427627" y="2545332"/>
            <a:ext cx="475079" cy="388703"/>
          </a:xfrm>
          <a:prstGeom prst="rect">
            <a:avLst/>
          </a:prstGeom>
        </p:spPr>
      </p:pic>
      <p:pic>
        <p:nvPicPr>
          <p:cNvPr id="113" name="图片 87" descr="汇聚交换机.png"/>
          <p:cNvPicPr>
            <a:picLocks noChangeAspect="1"/>
          </p:cNvPicPr>
          <p:nvPr/>
        </p:nvPicPr>
        <p:blipFill>
          <a:blip r:embed="rId4"/>
          <a:stretch>
            <a:fillRect/>
          </a:stretch>
        </p:blipFill>
        <p:spPr bwMode="gray">
          <a:xfrm>
            <a:off x="2086585" y="3345401"/>
            <a:ext cx="475079" cy="388703"/>
          </a:xfrm>
          <a:prstGeom prst="rect">
            <a:avLst/>
          </a:prstGeom>
        </p:spPr>
      </p:pic>
      <p:pic>
        <p:nvPicPr>
          <p:cNvPr id="114" name="图片 87" descr="汇聚交换机.png"/>
          <p:cNvPicPr>
            <a:picLocks noChangeAspect="1"/>
          </p:cNvPicPr>
          <p:nvPr/>
        </p:nvPicPr>
        <p:blipFill>
          <a:blip r:embed="rId4"/>
          <a:stretch>
            <a:fillRect/>
          </a:stretch>
        </p:blipFill>
        <p:spPr bwMode="gray">
          <a:xfrm>
            <a:off x="4768670" y="3345401"/>
            <a:ext cx="475079" cy="388703"/>
          </a:xfrm>
          <a:prstGeom prst="rect">
            <a:avLst/>
          </a:prstGeom>
        </p:spPr>
      </p:pic>
      <p:pic>
        <p:nvPicPr>
          <p:cNvPr id="115" name="图片 76" descr="接入交换机.png"/>
          <p:cNvPicPr>
            <a:picLocks noChangeAspect="1"/>
          </p:cNvPicPr>
          <p:nvPr/>
        </p:nvPicPr>
        <p:blipFill>
          <a:blip r:embed="rId5"/>
          <a:stretch>
            <a:fillRect/>
          </a:stretch>
        </p:blipFill>
        <p:spPr bwMode="gray">
          <a:xfrm>
            <a:off x="1319619" y="4528211"/>
            <a:ext cx="431890" cy="353366"/>
          </a:xfrm>
          <a:prstGeom prst="rect">
            <a:avLst/>
          </a:prstGeom>
        </p:spPr>
      </p:pic>
      <p:pic>
        <p:nvPicPr>
          <p:cNvPr id="116" name="图片 76" descr="接入交换机.png"/>
          <p:cNvPicPr>
            <a:picLocks noChangeAspect="1"/>
          </p:cNvPicPr>
          <p:nvPr/>
        </p:nvPicPr>
        <p:blipFill>
          <a:blip r:embed="rId5"/>
          <a:stretch>
            <a:fillRect/>
          </a:stretch>
        </p:blipFill>
        <p:spPr bwMode="gray">
          <a:xfrm>
            <a:off x="1842224" y="4528211"/>
            <a:ext cx="431890" cy="353366"/>
          </a:xfrm>
          <a:prstGeom prst="rect">
            <a:avLst/>
          </a:prstGeom>
        </p:spPr>
      </p:pic>
      <p:pic>
        <p:nvPicPr>
          <p:cNvPr id="117" name="图片 76" descr="接入交换机.png"/>
          <p:cNvPicPr>
            <a:picLocks noChangeAspect="1"/>
          </p:cNvPicPr>
          <p:nvPr/>
        </p:nvPicPr>
        <p:blipFill>
          <a:blip r:embed="rId5"/>
          <a:stretch>
            <a:fillRect/>
          </a:stretch>
        </p:blipFill>
        <p:spPr bwMode="gray">
          <a:xfrm>
            <a:off x="2371033" y="4528211"/>
            <a:ext cx="431890" cy="353366"/>
          </a:xfrm>
          <a:prstGeom prst="rect">
            <a:avLst/>
          </a:prstGeom>
        </p:spPr>
      </p:pic>
      <p:pic>
        <p:nvPicPr>
          <p:cNvPr id="118" name="图片 76" descr="接入交换机.png"/>
          <p:cNvPicPr>
            <a:picLocks noChangeAspect="1"/>
          </p:cNvPicPr>
          <p:nvPr/>
        </p:nvPicPr>
        <p:blipFill>
          <a:blip r:embed="rId5"/>
          <a:stretch>
            <a:fillRect/>
          </a:stretch>
        </p:blipFill>
        <p:spPr bwMode="gray">
          <a:xfrm>
            <a:off x="2896739" y="4528211"/>
            <a:ext cx="431890" cy="353366"/>
          </a:xfrm>
          <a:prstGeom prst="rect">
            <a:avLst/>
          </a:prstGeom>
        </p:spPr>
      </p:pic>
      <p:pic>
        <p:nvPicPr>
          <p:cNvPr id="119" name="图片 118" descr="接入交换机.png"/>
          <p:cNvPicPr>
            <a:picLocks noChangeAspect="1"/>
          </p:cNvPicPr>
          <p:nvPr/>
        </p:nvPicPr>
        <p:blipFill>
          <a:blip r:embed="rId5"/>
          <a:stretch>
            <a:fillRect/>
          </a:stretch>
        </p:blipFill>
        <p:spPr bwMode="gray">
          <a:xfrm>
            <a:off x="4001704" y="4528211"/>
            <a:ext cx="431890" cy="353366"/>
          </a:xfrm>
          <a:prstGeom prst="rect">
            <a:avLst/>
          </a:prstGeom>
        </p:spPr>
      </p:pic>
      <p:pic>
        <p:nvPicPr>
          <p:cNvPr id="120" name="图片 76" descr="接入交换机.png"/>
          <p:cNvPicPr>
            <a:picLocks noChangeAspect="1"/>
          </p:cNvPicPr>
          <p:nvPr/>
        </p:nvPicPr>
        <p:blipFill>
          <a:blip r:embed="rId5"/>
          <a:stretch>
            <a:fillRect/>
          </a:stretch>
        </p:blipFill>
        <p:spPr bwMode="gray">
          <a:xfrm>
            <a:off x="4522008" y="4528211"/>
            <a:ext cx="431890" cy="353366"/>
          </a:xfrm>
          <a:prstGeom prst="rect">
            <a:avLst/>
          </a:prstGeom>
        </p:spPr>
      </p:pic>
      <p:pic>
        <p:nvPicPr>
          <p:cNvPr id="121" name="图片 76" descr="接入交换机.png"/>
          <p:cNvPicPr>
            <a:picLocks noChangeAspect="1"/>
          </p:cNvPicPr>
          <p:nvPr/>
        </p:nvPicPr>
        <p:blipFill>
          <a:blip r:embed="rId5"/>
          <a:stretch>
            <a:fillRect/>
          </a:stretch>
        </p:blipFill>
        <p:spPr bwMode="gray">
          <a:xfrm>
            <a:off x="5053118" y="4528211"/>
            <a:ext cx="431890" cy="353366"/>
          </a:xfrm>
          <a:prstGeom prst="rect">
            <a:avLst/>
          </a:prstGeom>
        </p:spPr>
      </p:pic>
      <p:pic>
        <p:nvPicPr>
          <p:cNvPr id="122" name="图片 76" descr="接入交换机.png"/>
          <p:cNvPicPr>
            <a:picLocks noChangeAspect="1"/>
          </p:cNvPicPr>
          <p:nvPr/>
        </p:nvPicPr>
        <p:blipFill>
          <a:blip r:embed="rId5"/>
          <a:stretch>
            <a:fillRect/>
          </a:stretch>
        </p:blipFill>
        <p:spPr bwMode="gray">
          <a:xfrm>
            <a:off x="5578825" y="4528211"/>
            <a:ext cx="431890" cy="353366"/>
          </a:xfrm>
          <a:prstGeom prst="rect">
            <a:avLst/>
          </a:prstGeom>
        </p:spPr>
      </p:pic>
      <p:grpSp>
        <p:nvGrpSpPr>
          <p:cNvPr id="123" name="Group 3"/>
          <p:cNvGrpSpPr/>
          <p:nvPr/>
        </p:nvGrpSpPr>
        <p:grpSpPr bwMode="gray">
          <a:xfrm>
            <a:off x="3512054" y="4675201"/>
            <a:ext cx="306220" cy="72449"/>
            <a:chOff x="559282" y="6488261"/>
            <a:chExt cx="261965" cy="61979"/>
          </a:xfrm>
          <a:solidFill>
            <a:schemeClr val="bg1">
              <a:lumMod val="50000"/>
            </a:schemeClr>
          </a:solidFill>
        </p:grpSpPr>
        <p:sp>
          <p:nvSpPr>
            <p:cNvPr id="143"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44"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45"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grpSp>
      <p:pic>
        <p:nvPicPr>
          <p:cNvPr id="124" name="图片 1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877771" y="2155692"/>
            <a:ext cx="1574376" cy="290357"/>
          </a:xfrm>
          <a:prstGeom prst="rect">
            <a:avLst/>
          </a:prstGeom>
        </p:spPr>
      </p:pic>
      <p:sp>
        <p:nvSpPr>
          <p:cNvPr id="125" name="矩形 124"/>
          <p:cNvSpPr/>
          <p:nvPr/>
        </p:nvSpPr>
        <p:spPr bwMode="gray">
          <a:xfrm>
            <a:off x="2855633" y="3406084"/>
            <a:ext cx="1653623" cy="274594"/>
          </a:xfrm>
          <a:prstGeom prst="rect">
            <a:avLst/>
          </a:prstGeom>
        </p:spPr>
        <p:txBody>
          <a:bodyPr wrap="square">
            <a:noAutofit/>
          </a:bodyPr>
          <a:lstStyle/>
          <a:p>
            <a:pPr algn="ctr" fontAlgn="ctr"/>
            <a:r>
              <a:rPr lang="zh-CN" altLang="en-US" sz="1400" dirty="0">
                <a:solidFill>
                  <a:srgbClr val="C7000B"/>
                </a:solidFill>
              </a:rPr>
              <a:t>认证</a:t>
            </a:r>
            <a:r>
              <a:rPr lang="zh-CN" altLang="en-US" sz="1400" dirty="0" smtClean="0">
                <a:solidFill>
                  <a:srgbClr val="C7000B"/>
                </a:solidFill>
              </a:rPr>
              <a:t>控制点</a:t>
            </a:r>
            <a:endParaRPr lang="en-US" altLang="zh-CN" sz="1400" dirty="0">
              <a:solidFill>
                <a:srgbClr val="C7000B"/>
              </a:solidFill>
            </a:endParaRPr>
          </a:p>
        </p:txBody>
      </p:sp>
      <p:sp>
        <p:nvSpPr>
          <p:cNvPr id="126" name="矩形 125"/>
          <p:cNvSpPr/>
          <p:nvPr/>
        </p:nvSpPr>
        <p:spPr bwMode="gray">
          <a:xfrm>
            <a:off x="3043250" y="4864280"/>
            <a:ext cx="1278389" cy="274594"/>
          </a:xfrm>
          <a:prstGeom prst="rect">
            <a:avLst/>
          </a:prstGeom>
        </p:spPr>
        <p:txBody>
          <a:bodyPr wrap="square">
            <a:noAutofit/>
          </a:bodyPr>
          <a:lstStyle/>
          <a:p>
            <a:pPr algn="ctr" fontAlgn="ctr"/>
            <a:r>
              <a:rPr lang="zh-CN" altLang="en-US" sz="1400" dirty="0">
                <a:solidFill>
                  <a:srgbClr val="30B5C5"/>
                </a:solidFill>
              </a:rPr>
              <a:t>认证</a:t>
            </a:r>
            <a:r>
              <a:rPr lang="zh-CN" altLang="en-US" sz="1400" dirty="0" smtClean="0">
                <a:solidFill>
                  <a:srgbClr val="30B5C5"/>
                </a:solidFill>
              </a:rPr>
              <a:t>执行</a:t>
            </a:r>
            <a:r>
              <a:rPr lang="zh-CN" altLang="en-US" sz="1400" dirty="0">
                <a:solidFill>
                  <a:srgbClr val="30B5C5"/>
                </a:solidFill>
              </a:rPr>
              <a:t>点</a:t>
            </a:r>
          </a:p>
        </p:txBody>
      </p:sp>
      <p:sp>
        <p:nvSpPr>
          <p:cNvPr id="127" name="椭圆 126"/>
          <p:cNvSpPr/>
          <p:nvPr/>
        </p:nvSpPr>
        <p:spPr bwMode="gray">
          <a:xfrm>
            <a:off x="2481954" y="3452257"/>
            <a:ext cx="157768" cy="157768"/>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29" name="椭圆 128"/>
          <p:cNvSpPr/>
          <p:nvPr/>
        </p:nvSpPr>
        <p:spPr bwMode="gray">
          <a:xfrm>
            <a:off x="4727544" y="3452257"/>
            <a:ext cx="157768" cy="157768"/>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37" name="椭圆 136"/>
          <p:cNvSpPr/>
          <p:nvPr/>
        </p:nvSpPr>
        <p:spPr bwMode="gray">
          <a:xfrm>
            <a:off x="980390" y="6018097"/>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000" dirty="0"/>
          </a:p>
        </p:txBody>
      </p:sp>
      <p:sp>
        <p:nvSpPr>
          <p:cNvPr id="138" name="矩形 137"/>
          <p:cNvSpPr/>
          <p:nvPr/>
        </p:nvSpPr>
        <p:spPr bwMode="gray">
          <a:xfrm>
            <a:off x="1039656" y="5950405"/>
            <a:ext cx="981166" cy="251711"/>
          </a:xfrm>
          <a:prstGeom prst="rect">
            <a:avLst/>
          </a:prstGeom>
        </p:spPr>
        <p:txBody>
          <a:bodyPr wrap="square">
            <a:noAutofit/>
          </a:bodyPr>
          <a:lstStyle/>
          <a:p>
            <a:pPr fontAlgn="ctr"/>
            <a:r>
              <a:rPr lang="zh-CN" altLang="en-US" sz="1200" dirty="0"/>
              <a:t>认证</a:t>
            </a:r>
            <a:r>
              <a:rPr lang="zh-CN" altLang="en-US" sz="1200" dirty="0" smtClean="0"/>
              <a:t>控制点</a:t>
            </a:r>
            <a:endParaRPr lang="en-US" altLang="zh-CN" sz="1200" dirty="0"/>
          </a:p>
        </p:txBody>
      </p:sp>
      <p:sp>
        <p:nvSpPr>
          <p:cNvPr id="139" name="椭圆 138"/>
          <p:cNvSpPr/>
          <p:nvPr/>
        </p:nvSpPr>
        <p:spPr bwMode="gray">
          <a:xfrm>
            <a:off x="2619860" y="6018097"/>
            <a:ext cx="118533" cy="118533"/>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000" dirty="0"/>
          </a:p>
        </p:txBody>
      </p:sp>
      <p:sp>
        <p:nvSpPr>
          <p:cNvPr id="140" name="矩形 139"/>
          <p:cNvSpPr/>
          <p:nvPr/>
        </p:nvSpPr>
        <p:spPr bwMode="gray">
          <a:xfrm>
            <a:off x="2679126" y="5950405"/>
            <a:ext cx="981166" cy="251711"/>
          </a:xfrm>
          <a:prstGeom prst="rect">
            <a:avLst/>
          </a:prstGeom>
        </p:spPr>
        <p:txBody>
          <a:bodyPr wrap="square">
            <a:noAutofit/>
          </a:bodyPr>
          <a:lstStyle/>
          <a:p>
            <a:pPr fontAlgn="ctr"/>
            <a:r>
              <a:rPr lang="zh-CN" altLang="en-US" sz="1200" dirty="0"/>
              <a:t>认证</a:t>
            </a:r>
            <a:r>
              <a:rPr lang="zh-CN" altLang="en-US" sz="1200" dirty="0" smtClean="0"/>
              <a:t>执行</a:t>
            </a:r>
            <a:r>
              <a:rPr lang="zh-CN" altLang="en-US" sz="1200" dirty="0"/>
              <a:t>点</a:t>
            </a:r>
            <a:endParaRPr lang="en-US" altLang="zh-CN" sz="1200" dirty="0"/>
          </a:p>
        </p:txBody>
      </p:sp>
      <p:cxnSp>
        <p:nvCxnSpPr>
          <p:cNvPr id="141" name="Straight Connector 166"/>
          <p:cNvCxnSpPr/>
          <p:nvPr/>
        </p:nvCxnSpPr>
        <p:spPr bwMode="gray">
          <a:xfrm>
            <a:off x="4259330" y="6077363"/>
            <a:ext cx="506720" cy="0"/>
          </a:xfrm>
          <a:prstGeom prst="line">
            <a:avLst/>
          </a:pr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cxnSp>
      <p:sp>
        <p:nvSpPr>
          <p:cNvPr id="142" name="矩形 141"/>
          <p:cNvSpPr/>
          <p:nvPr/>
        </p:nvSpPr>
        <p:spPr bwMode="gray">
          <a:xfrm>
            <a:off x="4737920" y="5950405"/>
            <a:ext cx="1186491" cy="251711"/>
          </a:xfrm>
          <a:prstGeom prst="rect">
            <a:avLst/>
          </a:prstGeom>
        </p:spPr>
        <p:txBody>
          <a:bodyPr wrap="square">
            <a:noAutofit/>
          </a:bodyPr>
          <a:lstStyle/>
          <a:p>
            <a:pPr fontAlgn="ctr"/>
            <a:r>
              <a:rPr lang="en-US" altLang="zh-CN" sz="1200" dirty="0"/>
              <a:t>CAPWAP</a:t>
            </a:r>
            <a:r>
              <a:rPr lang="zh-CN" altLang="en-US" sz="1200" dirty="0"/>
              <a:t>隧道</a:t>
            </a:r>
            <a:endParaRPr lang="en-US" altLang="zh-CN" sz="1200" dirty="0"/>
          </a:p>
        </p:txBody>
      </p:sp>
      <p:sp>
        <p:nvSpPr>
          <p:cNvPr id="164" name="Freeform 9"/>
          <p:cNvSpPr>
            <a:spLocks/>
          </p:cNvSpPr>
          <p:nvPr/>
        </p:nvSpPr>
        <p:spPr bwMode="gray">
          <a:xfrm rot="21075658" flipV="1">
            <a:off x="5605673" y="4115208"/>
            <a:ext cx="463808" cy="393890"/>
          </a:xfrm>
          <a:custGeom>
            <a:avLst/>
            <a:gdLst>
              <a:gd name="T0" fmla="*/ 30278 w 32079"/>
              <a:gd name="T1" fmla="*/ 4424 h 15622"/>
              <a:gd name="T2" fmla="*/ 2783 w 32079"/>
              <a:gd name="T3" fmla="*/ 15622 h 15622"/>
              <a:gd name="T4" fmla="*/ 0 w 32079"/>
              <a:gd name="T5" fmla="*/ 15523 h 15622"/>
              <a:gd name="T6" fmla="*/ 26897 w 32079"/>
              <a:gd name="T7" fmla="*/ 2112 h 15622"/>
              <a:gd name="T8" fmla="*/ 25060 w 32079"/>
              <a:gd name="T9" fmla="*/ 856 h 15622"/>
              <a:gd name="T10" fmla="*/ 27928 w 32079"/>
              <a:gd name="T11" fmla="*/ 428 h 15622"/>
              <a:gd name="T12" fmla="*/ 30796 w 32079"/>
              <a:gd name="T13" fmla="*/ 0 h 15622"/>
              <a:gd name="T14" fmla="*/ 31438 w 32079"/>
              <a:gd name="T15" fmla="*/ 2828 h 15622"/>
              <a:gd name="T16" fmla="*/ 32079 w 32079"/>
              <a:gd name="T17" fmla="*/ 5656 h 15622"/>
              <a:gd name="T18" fmla="*/ 30278 w 32079"/>
              <a:gd name="T19" fmla="*/ 4424 h 15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079" h="15622">
                <a:moveTo>
                  <a:pt x="30278" y="4424"/>
                </a:moveTo>
                <a:cubicBezTo>
                  <a:pt x="23182" y="11352"/>
                  <a:pt x="13481" y="15622"/>
                  <a:pt x="2783" y="15622"/>
                </a:cubicBezTo>
                <a:cubicBezTo>
                  <a:pt x="1847" y="15622"/>
                  <a:pt x="920" y="15587"/>
                  <a:pt x="0" y="15523"/>
                </a:cubicBezTo>
                <a:cubicBezTo>
                  <a:pt x="10716" y="14774"/>
                  <a:pt x="20250" y="9734"/>
                  <a:pt x="26897" y="2112"/>
                </a:cubicBezTo>
                <a:lnTo>
                  <a:pt x="25060" y="856"/>
                </a:lnTo>
                <a:lnTo>
                  <a:pt x="27928" y="428"/>
                </a:lnTo>
                <a:lnTo>
                  <a:pt x="30796" y="0"/>
                </a:lnTo>
                <a:lnTo>
                  <a:pt x="31438" y="2828"/>
                </a:lnTo>
                <a:lnTo>
                  <a:pt x="32079" y="5656"/>
                </a:lnTo>
                <a:lnTo>
                  <a:pt x="30278" y="4424"/>
                </a:lnTo>
                <a:close/>
              </a:path>
            </a:pathLst>
          </a:custGeom>
          <a:gradFill flip="none" rotWithShape="1">
            <a:gsLst>
              <a:gs pos="0">
                <a:schemeClr val="bg1"/>
              </a:gs>
              <a:gs pos="50000">
                <a:schemeClr val="bg1">
                  <a:lumMod val="95000"/>
                </a:schemeClr>
              </a:gs>
            </a:gsLst>
            <a:lin ang="0" scaled="1"/>
            <a:tileRect/>
          </a:gradFill>
          <a:ln w="15875">
            <a:gradFill flip="none" rotWithShape="1">
              <a:gsLst>
                <a:gs pos="11000">
                  <a:schemeClr val="bg1"/>
                </a:gs>
                <a:gs pos="67000">
                  <a:schemeClr val="bg1">
                    <a:lumMod val="75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sym typeface="Huawei Sans" panose="020C0503030203020204" pitchFamily="34" charset="0"/>
            </a:endParaRPr>
          </a:p>
        </p:txBody>
      </p:sp>
      <p:pic>
        <p:nvPicPr>
          <p:cNvPr id="55" name="图片 54" descr="PC.png"/>
          <p:cNvPicPr>
            <a:picLocks noChangeAspect="1"/>
          </p:cNvPicPr>
          <p:nvPr/>
        </p:nvPicPr>
        <p:blipFill>
          <a:blip r:embed="rId7" cstate="print"/>
          <a:stretch>
            <a:fillRect/>
          </a:stretch>
        </p:blipFill>
        <p:spPr bwMode="gray">
          <a:xfrm>
            <a:off x="1324627" y="5294501"/>
            <a:ext cx="421875" cy="324000"/>
          </a:xfrm>
          <a:prstGeom prst="rect">
            <a:avLst/>
          </a:prstGeom>
        </p:spPr>
      </p:pic>
      <p:cxnSp>
        <p:nvCxnSpPr>
          <p:cNvPr id="56" name="直接连接符 55"/>
          <p:cNvCxnSpPr>
            <a:stCxn id="115" idx="2"/>
            <a:endCxn id="55" idx="0"/>
          </p:cNvCxnSpPr>
          <p:nvPr/>
        </p:nvCxnSpPr>
        <p:spPr bwMode="gray">
          <a:xfrm>
            <a:off x="1535564" y="4881577"/>
            <a:ext cx="1" cy="4129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8" name="图片 57" descr="PC.png"/>
          <p:cNvPicPr>
            <a:picLocks noChangeAspect="1"/>
          </p:cNvPicPr>
          <p:nvPr/>
        </p:nvPicPr>
        <p:blipFill>
          <a:blip r:embed="rId7" cstate="print"/>
          <a:stretch>
            <a:fillRect/>
          </a:stretch>
        </p:blipFill>
        <p:spPr bwMode="gray">
          <a:xfrm>
            <a:off x="1847232" y="5294501"/>
            <a:ext cx="421875" cy="324000"/>
          </a:xfrm>
          <a:prstGeom prst="rect">
            <a:avLst/>
          </a:prstGeom>
        </p:spPr>
      </p:pic>
      <p:cxnSp>
        <p:nvCxnSpPr>
          <p:cNvPr id="59" name="直接连接符 58"/>
          <p:cNvCxnSpPr>
            <a:stCxn id="116" idx="2"/>
            <a:endCxn id="58" idx="0"/>
          </p:cNvCxnSpPr>
          <p:nvPr/>
        </p:nvCxnSpPr>
        <p:spPr bwMode="gray">
          <a:xfrm>
            <a:off x="2058169" y="4881577"/>
            <a:ext cx="1" cy="4129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 name="Group 3"/>
          <p:cNvGrpSpPr/>
          <p:nvPr/>
        </p:nvGrpSpPr>
        <p:grpSpPr bwMode="gray">
          <a:xfrm>
            <a:off x="3512054" y="5402494"/>
            <a:ext cx="306220" cy="72449"/>
            <a:chOff x="559282" y="6488261"/>
            <a:chExt cx="261965" cy="61979"/>
          </a:xfrm>
          <a:solidFill>
            <a:schemeClr val="bg1">
              <a:lumMod val="50000"/>
            </a:schemeClr>
          </a:solidFill>
        </p:grpSpPr>
        <p:sp>
          <p:nvSpPr>
            <p:cNvPr id="62"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63"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64"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grpSp>
      <p:pic>
        <p:nvPicPr>
          <p:cNvPr id="65" name="图片 64" descr="PC.png"/>
          <p:cNvPicPr>
            <a:picLocks noChangeAspect="1"/>
          </p:cNvPicPr>
          <p:nvPr/>
        </p:nvPicPr>
        <p:blipFill>
          <a:blip r:embed="rId7" cstate="print"/>
          <a:stretch>
            <a:fillRect/>
          </a:stretch>
        </p:blipFill>
        <p:spPr bwMode="gray">
          <a:xfrm>
            <a:off x="4527016" y="5294501"/>
            <a:ext cx="421875" cy="324000"/>
          </a:xfrm>
          <a:prstGeom prst="rect">
            <a:avLst/>
          </a:prstGeom>
        </p:spPr>
      </p:pic>
      <p:cxnSp>
        <p:nvCxnSpPr>
          <p:cNvPr id="66" name="直接连接符 65"/>
          <p:cNvCxnSpPr>
            <a:stCxn id="120" idx="2"/>
            <a:endCxn id="65" idx="0"/>
          </p:cNvCxnSpPr>
          <p:nvPr/>
        </p:nvCxnSpPr>
        <p:spPr bwMode="gray">
          <a:xfrm>
            <a:off x="4737953" y="4881577"/>
            <a:ext cx="1" cy="4129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图片 67" descr="打印机.png"/>
          <p:cNvPicPr>
            <a:picLocks noChangeAspect="1"/>
          </p:cNvPicPr>
          <p:nvPr/>
        </p:nvPicPr>
        <p:blipFill>
          <a:blip r:embed="rId8" cstate="print"/>
          <a:stretch>
            <a:fillRect/>
          </a:stretch>
        </p:blipFill>
        <p:spPr bwMode="gray">
          <a:xfrm>
            <a:off x="5591253" y="5276718"/>
            <a:ext cx="407035" cy="324000"/>
          </a:xfrm>
          <a:prstGeom prst="rect">
            <a:avLst/>
          </a:prstGeom>
        </p:spPr>
      </p:pic>
      <p:cxnSp>
        <p:nvCxnSpPr>
          <p:cNvPr id="69" name="直接连接符 68"/>
          <p:cNvCxnSpPr>
            <a:stCxn id="122" idx="2"/>
            <a:endCxn id="68" idx="0"/>
          </p:cNvCxnSpPr>
          <p:nvPr/>
        </p:nvCxnSpPr>
        <p:spPr bwMode="gray">
          <a:xfrm>
            <a:off x="5794770" y="4881577"/>
            <a:ext cx="1" cy="3951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椭圆 127"/>
          <p:cNvSpPr/>
          <p:nvPr/>
        </p:nvSpPr>
        <p:spPr bwMode="gray">
          <a:xfrm>
            <a:off x="1485749" y="4822310"/>
            <a:ext cx="118533" cy="118533"/>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30" name="椭圆 129"/>
          <p:cNvSpPr/>
          <p:nvPr/>
        </p:nvSpPr>
        <p:spPr bwMode="gray">
          <a:xfrm>
            <a:off x="2011335" y="4822310"/>
            <a:ext cx="118533" cy="118533"/>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31" name="椭圆 130"/>
          <p:cNvSpPr/>
          <p:nvPr/>
        </p:nvSpPr>
        <p:spPr bwMode="gray">
          <a:xfrm>
            <a:off x="2517151" y="4822310"/>
            <a:ext cx="118533" cy="118533"/>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32" name="椭圆 131"/>
          <p:cNvSpPr/>
          <p:nvPr/>
        </p:nvSpPr>
        <p:spPr bwMode="gray">
          <a:xfrm>
            <a:off x="3033406" y="4822310"/>
            <a:ext cx="118533" cy="118533"/>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33" name="椭圆 132"/>
          <p:cNvSpPr/>
          <p:nvPr/>
        </p:nvSpPr>
        <p:spPr bwMode="gray">
          <a:xfrm>
            <a:off x="4154789" y="4822310"/>
            <a:ext cx="118533" cy="118533"/>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34" name="椭圆 133"/>
          <p:cNvSpPr/>
          <p:nvPr/>
        </p:nvSpPr>
        <p:spPr bwMode="gray">
          <a:xfrm>
            <a:off x="4689706" y="4822310"/>
            <a:ext cx="118533" cy="118533"/>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35" name="椭圆 134"/>
          <p:cNvSpPr/>
          <p:nvPr/>
        </p:nvSpPr>
        <p:spPr bwMode="gray">
          <a:xfrm>
            <a:off x="5186191" y="4822310"/>
            <a:ext cx="118533" cy="118533"/>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136" name="椭圆 135"/>
          <p:cNvSpPr/>
          <p:nvPr/>
        </p:nvSpPr>
        <p:spPr bwMode="gray">
          <a:xfrm>
            <a:off x="5739770" y="4822310"/>
            <a:ext cx="118533" cy="118533"/>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p>
        </p:txBody>
      </p:sp>
      <p:sp>
        <p:nvSpPr>
          <p:cNvPr id="74" name="矩形 73"/>
          <p:cNvSpPr/>
          <p:nvPr/>
        </p:nvSpPr>
        <p:spPr bwMode="gray">
          <a:xfrm>
            <a:off x="679740" y="5297729"/>
            <a:ext cx="981166" cy="251711"/>
          </a:xfrm>
          <a:prstGeom prst="rect">
            <a:avLst/>
          </a:prstGeom>
        </p:spPr>
        <p:txBody>
          <a:bodyPr wrap="square">
            <a:noAutofit/>
          </a:bodyPr>
          <a:lstStyle/>
          <a:p>
            <a:pPr fontAlgn="ctr"/>
            <a:r>
              <a:rPr lang="zh-CN" altLang="en-US" sz="1200" b="1" dirty="0" smtClean="0"/>
              <a:t>终端</a:t>
            </a:r>
            <a:endParaRPr lang="en-US" altLang="zh-CN" sz="1200" b="1" dirty="0"/>
          </a:p>
        </p:txBody>
      </p:sp>
      <p:sp>
        <p:nvSpPr>
          <p:cNvPr id="75" name="矩形 74"/>
          <p:cNvSpPr/>
          <p:nvPr/>
        </p:nvSpPr>
        <p:spPr bwMode="gray">
          <a:xfrm>
            <a:off x="677710" y="4126537"/>
            <a:ext cx="1158188" cy="422397"/>
          </a:xfrm>
          <a:prstGeom prst="rect">
            <a:avLst/>
          </a:prstGeom>
        </p:spPr>
        <p:txBody>
          <a:bodyPr wrap="square">
            <a:noAutofit/>
          </a:bodyPr>
          <a:lstStyle/>
          <a:p>
            <a:pPr fontAlgn="ctr"/>
            <a:r>
              <a:rPr lang="zh-CN" altLang="en-US" sz="1200" b="1" dirty="0" smtClean="0"/>
              <a:t>认证</a:t>
            </a:r>
            <a:endParaRPr lang="en-US" altLang="zh-CN" sz="1200" b="1" dirty="0" smtClean="0"/>
          </a:p>
          <a:p>
            <a:pPr fontAlgn="ctr"/>
            <a:r>
              <a:rPr lang="zh-CN" altLang="en-US" sz="1200" b="1" dirty="0" smtClean="0"/>
              <a:t>接入设备</a:t>
            </a:r>
            <a:endParaRPr lang="en-US" altLang="zh-CN" sz="1200" b="1" dirty="0"/>
          </a:p>
        </p:txBody>
      </p:sp>
      <p:sp>
        <p:nvSpPr>
          <p:cNvPr id="76" name="矩形 75"/>
          <p:cNvSpPr/>
          <p:nvPr/>
        </p:nvSpPr>
        <p:spPr bwMode="gray">
          <a:xfrm>
            <a:off x="677710" y="3386937"/>
            <a:ext cx="1114906" cy="407696"/>
          </a:xfrm>
          <a:prstGeom prst="rect">
            <a:avLst/>
          </a:prstGeom>
        </p:spPr>
        <p:txBody>
          <a:bodyPr wrap="square">
            <a:noAutofit/>
          </a:bodyPr>
          <a:lstStyle/>
          <a:p>
            <a:pPr fontAlgn="ctr"/>
            <a:r>
              <a:rPr lang="zh-CN" altLang="en-US" sz="1200" b="1" dirty="0" smtClean="0"/>
              <a:t>认证</a:t>
            </a:r>
            <a:endParaRPr lang="en-US" altLang="zh-CN" sz="1200" b="1" dirty="0" smtClean="0"/>
          </a:p>
          <a:p>
            <a:pPr fontAlgn="ctr"/>
            <a:r>
              <a:rPr lang="zh-CN" altLang="en-US" sz="1200" b="1" dirty="0" smtClean="0"/>
              <a:t>控制设备</a:t>
            </a:r>
            <a:endParaRPr lang="en-US" altLang="zh-CN" sz="1200" b="1" dirty="0"/>
          </a:p>
        </p:txBody>
      </p:sp>
    </p:spTree>
    <p:extLst>
      <p:ext uri="{BB962C8B-B14F-4D97-AF65-F5344CB8AC3E}">
        <p14:creationId xmlns:p14="http://schemas.microsoft.com/office/powerpoint/2010/main" val="1971827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wipe(left)">
                                      <p:cBhvr>
                                        <p:cTn id="7" dur="500"/>
                                        <p:tgtEl>
                                          <p:spTgt spid="16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16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t>策略联动实现机制</a:t>
            </a:r>
            <a:endParaRPr lang="zh-CN" altLang="en-US" dirty="0"/>
          </a:p>
        </p:txBody>
      </p:sp>
      <p:grpSp>
        <p:nvGrpSpPr>
          <p:cNvPr id="2" name="组合 1"/>
          <p:cNvGrpSpPr/>
          <p:nvPr/>
        </p:nvGrpSpPr>
        <p:grpSpPr>
          <a:xfrm>
            <a:off x="505057" y="1019742"/>
            <a:ext cx="5530387" cy="5029390"/>
            <a:chOff x="774652" y="1019742"/>
            <a:chExt cx="5530387" cy="5029390"/>
          </a:xfrm>
        </p:grpSpPr>
        <p:cxnSp>
          <p:nvCxnSpPr>
            <p:cNvPr id="5" name="直接连接符 4"/>
            <p:cNvCxnSpPr/>
            <p:nvPr/>
          </p:nvCxnSpPr>
          <p:spPr bwMode="gray">
            <a:xfrm>
              <a:off x="1111987" y="1715891"/>
              <a:ext cx="468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bwMode="gray">
            <a:xfrm>
              <a:off x="774652" y="1235185"/>
              <a:ext cx="723275" cy="307777"/>
            </a:xfrm>
            <a:prstGeom prst="rect">
              <a:avLst/>
            </a:prstGeom>
            <a:noFill/>
          </p:spPr>
          <p:txBody>
            <a:bodyPr wrap="square" rtlCol="0">
              <a:spAutoFit/>
            </a:bodyPr>
            <a:lstStyle/>
            <a:p>
              <a:pPr algn="ctr"/>
              <a:r>
                <a:rPr lang="zh-CN" altLang="en-US" sz="1400" dirty="0"/>
                <a:t>用户</a:t>
              </a:r>
            </a:p>
          </p:txBody>
        </p:sp>
        <p:cxnSp>
          <p:nvCxnSpPr>
            <p:cNvPr id="16" name="直接连接符 15"/>
            <p:cNvCxnSpPr/>
            <p:nvPr/>
          </p:nvCxnSpPr>
          <p:spPr bwMode="gray">
            <a:xfrm>
              <a:off x="1111987" y="2089448"/>
              <a:ext cx="0" cy="3959684"/>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17" name="直接连接符 16"/>
            <p:cNvCxnSpPr/>
            <p:nvPr/>
          </p:nvCxnSpPr>
          <p:spPr bwMode="gray">
            <a:xfrm>
              <a:off x="3244639" y="2089448"/>
              <a:ext cx="0" cy="3959684"/>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18" name="直接连接符 17"/>
            <p:cNvCxnSpPr/>
            <p:nvPr/>
          </p:nvCxnSpPr>
          <p:spPr bwMode="gray">
            <a:xfrm>
              <a:off x="5648195" y="2089448"/>
              <a:ext cx="0" cy="3959684"/>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0" name="文本框 9"/>
            <p:cNvSpPr txBox="1"/>
            <p:nvPr/>
          </p:nvSpPr>
          <p:spPr bwMode="gray">
            <a:xfrm>
              <a:off x="2557544" y="1019742"/>
              <a:ext cx="1374191" cy="523220"/>
            </a:xfrm>
            <a:prstGeom prst="rect">
              <a:avLst/>
            </a:prstGeom>
            <a:noFill/>
          </p:spPr>
          <p:txBody>
            <a:bodyPr wrap="square" rtlCol="0">
              <a:spAutoFit/>
            </a:bodyPr>
            <a:lstStyle/>
            <a:p>
              <a:pPr algn="ctr"/>
              <a:r>
                <a:rPr lang="zh-CN" altLang="en-US" sz="1400" dirty="0"/>
                <a:t>认证</a:t>
              </a:r>
              <a:r>
                <a:rPr lang="zh-CN" altLang="en-US" sz="1400" dirty="0" smtClean="0"/>
                <a:t>执行点</a:t>
              </a:r>
              <a:endParaRPr lang="en-US" altLang="zh-CN" sz="1400" dirty="0" smtClean="0"/>
            </a:p>
            <a:p>
              <a:pPr algn="ctr"/>
              <a:r>
                <a:rPr lang="zh-CN" altLang="en-US" sz="1400" dirty="0" smtClean="0"/>
                <a:t>（接入设备）</a:t>
              </a:r>
              <a:endParaRPr lang="zh-CN" altLang="en-US" sz="1400" dirty="0"/>
            </a:p>
          </p:txBody>
        </p:sp>
        <p:pic>
          <p:nvPicPr>
            <p:cNvPr id="20" name="图片 19" descr="接入交换机.png"/>
            <p:cNvPicPr>
              <a:picLocks noChangeAspect="1"/>
            </p:cNvPicPr>
            <p:nvPr/>
          </p:nvPicPr>
          <p:blipFill>
            <a:blip r:embed="rId3" cstate="print"/>
            <a:stretch>
              <a:fillRect/>
            </a:stretch>
          </p:blipFill>
          <p:spPr bwMode="gray">
            <a:xfrm>
              <a:off x="2978632" y="1503279"/>
              <a:ext cx="540000" cy="441818"/>
            </a:xfrm>
            <a:prstGeom prst="rect">
              <a:avLst/>
            </a:prstGeom>
          </p:spPr>
        </p:pic>
        <p:sp>
          <p:nvSpPr>
            <p:cNvPr id="13" name="文本框 12"/>
            <p:cNvSpPr txBox="1"/>
            <p:nvPr/>
          </p:nvSpPr>
          <p:spPr bwMode="gray">
            <a:xfrm>
              <a:off x="4991351" y="1019742"/>
              <a:ext cx="1313688" cy="523220"/>
            </a:xfrm>
            <a:prstGeom prst="rect">
              <a:avLst/>
            </a:prstGeom>
            <a:noFill/>
          </p:spPr>
          <p:txBody>
            <a:bodyPr wrap="square" rtlCol="0">
              <a:spAutoFit/>
            </a:bodyPr>
            <a:lstStyle/>
            <a:p>
              <a:pPr algn="ctr"/>
              <a:r>
                <a:rPr lang="zh-CN" altLang="en-US" sz="1400" dirty="0"/>
                <a:t>认证</a:t>
              </a:r>
              <a:r>
                <a:rPr lang="zh-CN" altLang="en-US" sz="1400" dirty="0" smtClean="0"/>
                <a:t>控制点</a:t>
              </a:r>
              <a:endParaRPr lang="en-US" altLang="zh-CN" sz="1400" dirty="0" smtClean="0"/>
            </a:p>
            <a:p>
              <a:pPr algn="ctr"/>
              <a:r>
                <a:rPr lang="zh-CN" altLang="en-US" sz="1400" dirty="0" smtClean="0"/>
                <a:t>（控制设备）</a:t>
              </a:r>
              <a:endParaRPr lang="zh-CN" altLang="en-US" sz="1400" dirty="0"/>
            </a:p>
          </p:txBody>
        </p:sp>
        <p:pic>
          <p:nvPicPr>
            <p:cNvPr id="21" name="图片 20" descr="汇聚交换机.png"/>
            <p:cNvPicPr>
              <a:picLocks noChangeAspect="1"/>
            </p:cNvPicPr>
            <p:nvPr/>
          </p:nvPicPr>
          <p:blipFill>
            <a:blip r:embed="rId4" cstate="print"/>
            <a:stretch>
              <a:fillRect/>
            </a:stretch>
          </p:blipFill>
          <p:spPr bwMode="gray">
            <a:xfrm>
              <a:off x="5380404" y="1523951"/>
              <a:ext cx="540000" cy="441818"/>
            </a:xfrm>
            <a:prstGeom prst="rect">
              <a:avLst/>
            </a:prstGeom>
          </p:spPr>
        </p:pic>
        <p:cxnSp>
          <p:nvCxnSpPr>
            <p:cNvPr id="25" name="直接箭头连接符 24">
              <a:extLst>
                <a:ext uri="{FF2B5EF4-FFF2-40B4-BE49-F238E27FC236}">
                  <a16:creationId xmlns:a16="http://schemas.microsoft.com/office/drawing/2014/main" xmlns="" id="{7D2A6B36-0425-4AF5-8615-B057DC5231D8}"/>
                </a:ext>
              </a:extLst>
            </p:cNvPr>
            <p:cNvCxnSpPr/>
            <p:nvPr/>
          </p:nvCxnSpPr>
          <p:spPr bwMode="gray">
            <a:xfrm>
              <a:off x="1177309" y="2675335"/>
              <a:ext cx="2005468" cy="0"/>
            </a:xfrm>
            <a:prstGeom prst="straightConnector1">
              <a:avLst/>
            </a:prstGeom>
            <a:noFill/>
            <a:ln w="12700" cap="flat" cmpd="sng" algn="ctr">
              <a:solidFill>
                <a:schemeClr val="tx1"/>
              </a:solidFill>
              <a:prstDash val="solid"/>
              <a:round/>
              <a:headEnd type="none" w="med" len="med"/>
              <a:tailEnd type="triangle"/>
            </a:ln>
            <a:effectLst/>
          </p:spPr>
        </p:cxnSp>
        <p:sp>
          <p:nvSpPr>
            <p:cNvPr id="26"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1177310" y="2393203"/>
              <a:ext cx="2005467" cy="282132"/>
            </a:xfrm>
            <a:prstGeom prst="rect">
              <a:avLst/>
            </a:prstGeom>
            <a:noFill/>
            <a:ln w="9525">
              <a:noFill/>
              <a:miter lim="800000"/>
              <a:headEnd/>
              <a:tailEnd/>
            </a:ln>
          </p:spPr>
          <p:txBody>
            <a:bodyPr wrap="square" lIns="48000" tIns="48000" rIns="48000" bIns="48000">
              <a:noAutofit/>
            </a:bodyPr>
            <a:lstStyle/>
            <a:p>
              <a:r>
                <a:rPr lang="en-US" altLang="zh-CN" sz="1200" dirty="0">
                  <a:cs typeface="Arial" charset="0"/>
                </a:rPr>
                <a:t>2.</a:t>
              </a:r>
              <a:r>
                <a:rPr lang="zh-CN" altLang="en-US" sz="1200" dirty="0">
                  <a:cs typeface="Arial" charset="0"/>
                </a:rPr>
                <a:t>用户接入</a:t>
              </a:r>
            </a:p>
          </p:txBody>
        </p:sp>
        <p:pic>
          <p:nvPicPr>
            <p:cNvPr id="28" name="图片 27" descr="PC.png"/>
            <p:cNvPicPr>
              <a:picLocks noChangeAspect="1"/>
            </p:cNvPicPr>
            <p:nvPr/>
          </p:nvPicPr>
          <p:blipFill>
            <a:blip r:embed="rId5" cstate="print"/>
            <a:stretch>
              <a:fillRect/>
            </a:stretch>
          </p:blipFill>
          <p:spPr bwMode="gray">
            <a:xfrm>
              <a:off x="842455" y="1523951"/>
              <a:ext cx="539063" cy="414000"/>
            </a:xfrm>
            <a:prstGeom prst="rect">
              <a:avLst/>
            </a:prstGeom>
          </p:spPr>
        </p:pic>
        <p:cxnSp>
          <p:nvCxnSpPr>
            <p:cNvPr id="31" name="直接箭头连接符 30">
              <a:extLst>
                <a:ext uri="{FF2B5EF4-FFF2-40B4-BE49-F238E27FC236}">
                  <a16:creationId xmlns:a16="http://schemas.microsoft.com/office/drawing/2014/main" xmlns="" id="{7D2A6B36-0425-4AF5-8615-B057DC5231D8}"/>
                </a:ext>
              </a:extLst>
            </p:cNvPr>
            <p:cNvCxnSpPr/>
            <p:nvPr/>
          </p:nvCxnSpPr>
          <p:spPr bwMode="gray">
            <a:xfrm>
              <a:off x="3301553" y="2310216"/>
              <a:ext cx="2346642" cy="0"/>
            </a:xfrm>
            <a:prstGeom prst="straightConnector1">
              <a:avLst/>
            </a:prstGeom>
            <a:noFill/>
            <a:ln w="12700" cap="flat" cmpd="sng" algn="ctr">
              <a:solidFill>
                <a:schemeClr val="tx1"/>
              </a:solidFill>
              <a:prstDash val="solid"/>
              <a:round/>
              <a:headEnd type="triangle" w="med" len="med"/>
              <a:tailEnd type="triangle"/>
            </a:ln>
            <a:effectLst/>
          </p:spPr>
        </p:cxnSp>
        <p:sp>
          <p:nvSpPr>
            <p:cNvPr id="32"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3443684" y="2037315"/>
              <a:ext cx="2005467" cy="282132"/>
            </a:xfrm>
            <a:prstGeom prst="rect">
              <a:avLst/>
            </a:prstGeom>
            <a:noFill/>
            <a:ln w="9525">
              <a:noFill/>
              <a:miter lim="800000"/>
              <a:headEnd/>
              <a:tailEnd/>
            </a:ln>
          </p:spPr>
          <p:txBody>
            <a:bodyPr wrap="square" lIns="48000" tIns="48000" rIns="48000" bIns="48000">
              <a:noAutofit/>
            </a:bodyPr>
            <a:lstStyle/>
            <a:p>
              <a:pPr algn="ctr"/>
              <a:r>
                <a:rPr lang="en-US" altLang="zh-CN" sz="1200">
                  <a:cs typeface="Arial" charset="0"/>
                </a:rPr>
                <a:t>1.</a:t>
              </a:r>
              <a:r>
                <a:rPr lang="zh-CN" altLang="en-US" sz="1200">
                  <a:cs typeface="Arial" charset="0"/>
                </a:rPr>
                <a:t>建立</a:t>
              </a:r>
              <a:r>
                <a:rPr lang="en-US" altLang="zh-CN" sz="1200">
                  <a:cs typeface="Arial" charset="0"/>
                </a:rPr>
                <a:t>CAPWAP</a:t>
              </a:r>
              <a:r>
                <a:rPr lang="zh-CN" altLang="en-US" sz="1200">
                  <a:cs typeface="Arial" charset="0"/>
                </a:rPr>
                <a:t>隧道</a:t>
              </a:r>
              <a:endParaRPr lang="zh-CN" altLang="en-US" sz="1200" dirty="0">
                <a:cs typeface="Arial" charset="0"/>
              </a:endParaRPr>
            </a:p>
          </p:txBody>
        </p:sp>
        <p:cxnSp>
          <p:nvCxnSpPr>
            <p:cNvPr id="33" name="直接箭头连接符 32">
              <a:extLst>
                <a:ext uri="{FF2B5EF4-FFF2-40B4-BE49-F238E27FC236}">
                  <a16:creationId xmlns:a16="http://schemas.microsoft.com/office/drawing/2014/main" xmlns="" id="{7D2A6B36-0425-4AF5-8615-B057DC5231D8}"/>
                </a:ext>
              </a:extLst>
            </p:cNvPr>
            <p:cNvCxnSpPr/>
            <p:nvPr/>
          </p:nvCxnSpPr>
          <p:spPr bwMode="gray">
            <a:xfrm>
              <a:off x="3273096" y="3191280"/>
              <a:ext cx="2346642" cy="0"/>
            </a:xfrm>
            <a:prstGeom prst="straightConnector1">
              <a:avLst/>
            </a:prstGeom>
            <a:noFill/>
            <a:ln w="12700" cap="flat" cmpd="sng" algn="ctr">
              <a:solidFill>
                <a:schemeClr val="tx1"/>
              </a:solidFill>
              <a:prstDash val="solid"/>
              <a:round/>
              <a:headEnd type="none" w="med" len="med"/>
              <a:tailEnd type="triangle"/>
            </a:ln>
            <a:effectLst/>
          </p:spPr>
        </p:cxnSp>
        <p:sp>
          <p:nvSpPr>
            <p:cNvPr id="34"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3273096" y="2909148"/>
              <a:ext cx="2005467" cy="282132"/>
            </a:xfrm>
            <a:prstGeom prst="rect">
              <a:avLst/>
            </a:prstGeom>
            <a:noFill/>
            <a:ln w="9525">
              <a:noFill/>
              <a:miter lim="800000"/>
              <a:headEnd/>
              <a:tailEnd/>
            </a:ln>
          </p:spPr>
          <p:txBody>
            <a:bodyPr wrap="square" lIns="48000" tIns="48000" rIns="48000" bIns="48000">
              <a:noAutofit/>
            </a:bodyPr>
            <a:lstStyle/>
            <a:p>
              <a:r>
                <a:rPr lang="en-US" altLang="zh-CN" sz="1200" dirty="0">
                  <a:cs typeface="Arial" charset="0"/>
                </a:rPr>
                <a:t>3.</a:t>
              </a:r>
              <a:r>
                <a:rPr lang="zh-CN" altLang="en-US" sz="1200" dirty="0">
                  <a:cs typeface="Arial" charset="0"/>
                </a:rPr>
                <a:t>用户</a:t>
              </a:r>
              <a:r>
                <a:rPr lang="zh-CN" altLang="en-US" sz="1200">
                  <a:cs typeface="Arial" charset="0"/>
                </a:rPr>
                <a:t>关联请求</a:t>
              </a:r>
              <a:endParaRPr lang="zh-CN" altLang="en-US" sz="1200" dirty="0">
                <a:cs typeface="Arial" charset="0"/>
              </a:endParaRPr>
            </a:p>
          </p:txBody>
        </p:sp>
        <p:cxnSp>
          <p:nvCxnSpPr>
            <p:cNvPr id="37" name="直接箭头连接符 36">
              <a:extLst>
                <a:ext uri="{FF2B5EF4-FFF2-40B4-BE49-F238E27FC236}">
                  <a16:creationId xmlns:a16="http://schemas.microsoft.com/office/drawing/2014/main" xmlns="" id="{7D2A6B36-0425-4AF5-8615-B057DC5231D8}"/>
                </a:ext>
              </a:extLst>
            </p:cNvPr>
            <p:cNvCxnSpPr/>
            <p:nvPr/>
          </p:nvCxnSpPr>
          <p:spPr bwMode="gray">
            <a:xfrm>
              <a:off x="3301553" y="3707225"/>
              <a:ext cx="2346642" cy="0"/>
            </a:xfrm>
            <a:prstGeom prst="straightConnector1">
              <a:avLst/>
            </a:prstGeom>
            <a:noFill/>
            <a:ln w="12700" cap="flat" cmpd="sng" algn="ctr">
              <a:solidFill>
                <a:schemeClr val="tx1"/>
              </a:solidFill>
              <a:prstDash val="solid"/>
              <a:round/>
              <a:headEnd type="triangle" w="med" len="med"/>
              <a:tailEnd type="none"/>
            </a:ln>
            <a:effectLst/>
          </p:spPr>
        </p:cxnSp>
        <p:sp>
          <p:nvSpPr>
            <p:cNvPr id="38"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3301553" y="3425093"/>
              <a:ext cx="2289729" cy="282132"/>
            </a:xfrm>
            <a:prstGeom prst="rect">
              <a:avLst/>
            </a:prstGeom>
            <a:noFill/>
            <a:ln w="9525">
              <a:noFill/>
              <a:miter lim="800000"/>
              <a:headEnd/>
              <a:tailEnd/>
            </a:ln>
          </p:spPr>
          <p:txBody>
            <a:bodyPr wrap="square" lIns="48000" tIns="48000" rIns="48000" bIns="48000">
              <a:noAutofit/>
            </a:bodyPr>
            <a:lstStyle/>
            <a:p>
              <a:pPr algn="r"/>
              <a:r>
                <a:rPr lang="en-US" altLang="zh-CN" sz="1200" dirty="0">
                  <a:cs typeface="Arial" charset="0"/>
                </a:rPr>
                <a:t>4.</a:t>
              </a:r>
              <a:r>
                <a:rPr lang="zh-CN" altLang="en-US" sz="1200" dirty="0">
                  <a:cs typeface="Arial" charset="0"/>
                </a:rPr>
                <a:t>用户</a:t>
              </a:r>
              <a:r>
                <a:rPr lang="zh-CN" altLang="en-US" sz="1200">
                  <a:cs typeface="Arial" charset="0"/>
                </a:rPr>
                <a:t>关联回应</a:t>
              </a:r>
              <a:endParaRPr lang="zh-CN" altLang="en-US" sz="1200" dirty="0">
                <a:cs typeface="Arial" charset="0"/>
              </a:endParaRPr>
            </a:p>
          </p:txBody>
        </p:sp>
        <p:cxnSp>
          <p:nvCxnSpPr>
            <p:cNvPr id="39" name="直接箭头连接符 38">
              <a:extLst>
                <a:ext uri="{FF2B5EF4-FFF2-40B4-BE49-F238E27FC236}">
                  <a16:creationId xmlns:a16="http://schemas.microsoft.com/office/drawing/2014/main" xmlns="" id="{7D2A6B36-0425-4AF5-8615-B057DC5231D8}"/>
                </a:ext>
              </a:extLst>
            </p:cNvPr>
            <p:cNvCxnSpPr/>
            <p:nvPr/>
          </p:nvCxnSpPr>
          <p:spPr bwMode="gray">
            <a:xfrm>
              <a:off x="1177310" y="4223170"/>
              <a:ext cx="4413972" cy="0"/>
            </a:xfrm>
            <a:prstGeom prst="straightConnector1">
              <a:avLst/>
            </a:prstGeom>
            <a:noFill/>
            <a:ln w="12700" cap="flat" cmpd="sng" algn="ctr">
              <a:solidFill>
                <a:schemeClr val="tx1"/>
              </a:solidFill>
              <a:prstDash val="solid"/>
              <a:round/>
              <a:headEnd type="triangle" w="med" len="med"/>
              <a:tailEnd type="triangle"/>
            </a:ln>
            <a:effectLst/>
          </p:spPr>
        </p:cxnSp>
        <p:sp>
          <p:nvSpPr>
            <p:cNvPr id="40"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2270362" y="3941038"/>
              <a:ext cx="2005467" cy="282132"/>
            </a:xfrm>
            <a:prstGeom prst="rect">
              <a:avLst/>
            </a:prstGeom>
            <a:noFill/>
            <a:ln w="9525">
              <a:noFill/>
              <a:miter lim="800000"/>
              <a:headEnd/>
              <a:tailEnd/>
            </a:ln>
          </p:spPr>
          <p:txBody>
            <a:bodyPr wrap="square" lIns="48000" tIns="48000" rIns="48000" bIns="48000">
              <a:noAutofit/>
            </a:bodyPr>
            <a:lstStyle/>
            <a:p>
              <a:pPr algn="ctr"/>
              <a:r>
                <a:rPr lang="en-US" altLang="zh-CN" sz="1200" dirty="0">
                  <a:cs typeface="Arial" charset="0"/>
                </a:rPr>
                <a:t>5.</a:t>
              </a:r>
              <a:r>
                <a:rPr lang="zh-CN" altLang="en-US" sz="1200" dirty="0">
                  <a:cs typeface="Arial" charset="0"/>
                </a:rPr>
                <a:t>用户认证</a:t>
              </a:r>
            </a:p>
          </p:txBody>
        </p:sp>
        <p:cxnSp>
          <p:nvCxnSpPr>
            <p:cNvPr id="43" name="直接箭头连接符 42">
              <a:extLst>
                <a:ext uri="{FF2B5EF4-FFF2-40B4-BE49-F238E27FC236}">
                  <a16:creationId xmlns:a16="http://schemas.microsoft.com/office/drawing/2014/main" xmlns="" id="{7D2A6B36-0425-4AF5-8615-B057DC5231D8}"/>
                </a:ext>
              </a:extLst>
            </p:cNvPr>
            <p:cNvCxnSpPr/>
            <p:nvPr/>
          </p:nvCxnSpPr>
          <p:spPr bwMode="gray">
            <a:xfrm>
              <a:off x="3273096" y="4739115"/>
              <a:ext cx="2346642" cy="0"/>
            </a:xfrm>
            <a:prstGeom prst="straightConnector1">
              <a:avLst/>
            </a:prstGeom>
            <a:noFill/>
            <a:ln w="12700" cap="flat" cmpd="sng" algn="ctr">
              <a:solidFill>
                <a:schemeClr val="tx1"/>
              </a:solidFill>
              <a:prstDash val="solid"/>
              <a:round/>
              <a:headEnd type="triangle" w="med" len="med"/>
              <a:tailEnd type="none"/>
            </a:ln>
            <a:effectLst/>
          </p:spPr>
        </p:cxnSp>
        <p:sp>
          <p:nvSpPr>
            <p:cNvPr id="44"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4218917" y="4456983"/>
              <a:ext cx="2005467" cy="282132"/>
            </a:xfrm>
            <a:prstGeom prst="rect">
              <a:avLst/>
            </a:prstGeom>
            <a:noFill/>
            <a:ln w="9525">
              <a:noFill/>
              <a:miter lim="800000"/>
              <a:headEnd/>
              <a:tailEnd/>
            </a:ln>
          </p:spPr>
          <p:txBody>
            <a:bodyPr wrap="square" lIns="48000" tIns="48000" rIns="48000" bIns="48000">
              <a:noAutofit/>
            </a:bodyPr>
            <a:lstStyle/>
            <a:p>
              <a:r>
                <a:rPr lang="en-US" altLang="zh-CN" sz="1200" dirty="0">
                  <a:cs typeface="Arial" charset="0"/>
                </a:rPr>
                <a:t>6.</a:t>
              </a:r>
              <a:r>
                <a:rPr lang="zh-CN" altLang="en-US" sz="1200" dirty="0">
                  <a:cs typeface="Arial" charset="0"/>
                </a:rPr>
                <a:t>用户授权请求通知</a:t>
              </a:r>
            </a:p>
          </p:txBody>
        </p:sp>
        <p:cxnSp>
          <p:nvCxnSpPr>
            <p:cNvPr id="45" name="直接箭头连接符 44">
              <a:extLst>
                <a:ext uri="{FF2B5EF4-FFF2-40B4-BE49-F238E27FC236}">
                  <a16:creationId xmlns:a16="http://schemas.microsoft.com/office/drawing/2014/main" xmlns="" id="{7D2A6B36-0425-4AF5-8615-B057DC5231D8}"/>
                </a:ext>
              </a:extLst>
            </p:cNvPr>
            <p:cNvCxnSpPr/>
            <p:nvPr/>
          </p:nvCxnSpPr>
          <p:spPr bwMode="gray">
            <a:xfrm>
              <a:off x="3301553" y="5255060"/>
              <a:ext cx="2346642" cy="0"/>
            </a:xfrm>
            <a:prstGeom prst="straightConnector1">
              <a:avLst/>
            </a:prstGeom>
            <a:noFill/>
            <a:ln w="12700" cap="flat" cmpd="sng" algn="ctr">
              <a:solidFill>
                <a:schemeClr val="tx1"/>
              </a:solidFill>
              <a:prstDash val="solid"/>
              <a:round/>
              <a:headEnd type="none" w="med" len="med"/>
              <a:tailEnd type="triangle"/>
            </a:ln>
            <a:effectLst/>
          </p:spPr>
        </p:cxnSp>
        <p:sp>
          <p:nvSpPr>
            <p:cNvPr id="46"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2373767" y="4972928"/>
              <a:ext cx="2289729" cy="282132"/>
            </a:xfrm>
            <a:prstGeom prst="rect">
              <a:avLst/>
            </a:prstGeom>
            <a:noFill/>
            <a:ln w="9525">
              <a:noFill/>
              <a:miter lim="800000"/>
              <a:headEnd/>
              <a:tailEnd/>
            </a:ln>
          </p:spPr>
          <p:txBody>
            <a:bodyPr wrap="square" lIns="48000" tIns="48000" rIns="48000" bIns="48000">
              <a:noAutofit/>
            </a:bodyPr>
            <a:lstStyle/>
            <a:p>
              <a:pPr algn="r"/>
              <a:r>
                <a:rPr lang="en-US" altLang="zh-CN" sz="1200" dirty="0">
                  <a:cs typeface="Arial" charset="0"/>
                </a:rPr>
                <a:t>7.</a:t>
              </a:r>
              <a:r>
                <a:rPr lang="zh-CN" altLang="en-US" sz="1200" dirty="0">
                  <a:cs typeface="Arial" charset="0"/>
                </a:rPr>
                <a:t>用户授权请求回应</a:t>
              </a:r>
            </a:p>
          </p:txBody>
        </p:sp>
        <p:cxnSp>
          <p:nvCxnSpPr>
            <p:cNvPr id="47" name="直接箭头连接符 46">
              <a:extLst>
                <a:ext uri="{FF2B5EF4-FFF2-40B4-BE49-F238E27FC236}">
                  <a16:creationId xmlns:a16="http://schemas.microsoft.com/office/drawing/2014/main" xmlns="" id="{7D2A6B36-0425-4AF5-8615-B057DC5231D8}"/>
                </a:ext>
              </a:extLst>
            </p:cNvPr>
            <p:cNvCxnSpPr/>
            <p:nvPr/>
          </p:nvCxnSpPr>
          <p:spPr bwMode="gray">
            <a:xfrm>
              <a:off x="1175579" y="5771007"/>
              <a:ext cx="4744825" cy="0"/>
            </a:xfrm>
            <a:prstGeom prst="straightConnector1">
              <a:avLst/>
            </a:prstGeom>
            <a:noFill/>
            <a:ln w="19050" cap="flat" cmpd="sng" algn="ctr">
              <a:solidFill>
                <a:srgbClr val="30B5C5"/>
              </a:solidFill>
              <a:prstDash val="solid"/>
              <a:round/>
              <a:headEnd type="none" w="med" len="med"/>
              <a:tailEnd type="triangle"/>
            </a:ln>
            <a:effectLst/>
          </p:spPr>
        </p:cxnSp>
        <p:sp>
          <p:nvSpPr>
            <p:cNvPr id="48" name="TextBox 70">
              <a:extLst>
                <a:ext uri="{FF2B5EF4-FFF2-40B4-BE49-F238E27FC236}">
                  <a16:creationId xmlns:a16="http://schemas.microsoft.com/office/drawing/2014/main" xmlns="" id="{8FC2629A-B753-4949-AFE0-7A774C3FD9BB}"/>
                </a:ext>
              </a:extLst>
            </p:cNvPr>
            <p:cNvSpPr txBox="1">
              <a:spLocks noChangeArrowheads="1"/>
            </p:cNvSpPr>
            <p:nvPr/>
          </p:nvSpPr>
          <p:spPr bwMode="gray">
            <a:xfrm>
              <a:off x="1175580" y="5488875"/>
              <a:ext cx="2005467" cy="282132"/>
            </a:xfrm>
            <a:prstGeom prst="rect">
              <a:avLst/>
            </a:prstGeom>
            <a:noFill/>
            <a:ln w="9525">
              <a:noFill/>
              <a:miter lim="800000"/>
              <a:headEnd/>
              <a:tailEnd/>
            </a:ln>
          </p:spPr>
          <p:txBody>
            <a:bodyPr wrap="square" lIns="48000" tIns="48000" rIns="48000" bIns="48000">
              <a:noAutofit/>
            </a:bodyPr>
            <a:lstStyle/>
            <a:p>
              <a:r>
                <a:rPr lang="en-US" altLang="zh-CN" sz="1200" dirty="0">
                  <a:cs typeface="Arial" charset="0"/>
                </a:rPr>
                <a:t>8.</a:t>
              </a:r>
              <a:r>
                <a:rPr lang="zh-CN" altLang="en-US" sz="1200" dirty="0">
                  <a:cs typeface="Arial" charset="0"/>
                </a:rPr>
                <a:t>用户开始访问资源</a:t>
              </a:r>
            </a:p>
          </p:txBody>
        </p:sp>
      </p:grpSp>
      <p:sp>
        <p:nvSpPr>
          <p:cNvPr id="42" name="圆角矩形 75"/>
          <p:cNvSpPr/>
          <p:nvPr/>
        </p:nvSpPr>
        <p:spPr bwMode="gray">
          <a:xfrm>
            <a:off x="6220619" y="2063253"/>
            <a:ext cx="5364163"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策略联动典型场景</a:t>
            </a:r>
          </a:p>
        </p:txBody>
      </p:sp>
      <p:sp>
        <p:nvSpPr>
          <p:cNvPr id="58" name="圆角矩形 75"/>
          <p:cNvSpPr/>
          <p:nvPr/>
        </p:nvSpPr>
        <p:spPr bwMode="gray">
          <a:xfrm>
            <a:off x="6220619" y="2488643"/>
            <a:ext cx="5364163" cy="2465576"/>
          </a:xfrm>
          <a:prstGeom prst="roundRect">
            <a:avLst>
              <a:gd name="adj" fmla="val 874"/>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fontAlgn="auto">
              <a:lnSpc>
                <a:spcPts val="2600"/>
              </a:lnSpc>
              <a:spcAft>
                <a:spcPts val="600"/>
              </a:spcAft>
              <a:buFont typeface="Arial" panose="020B0604020202020204" pitchFamily="34" charset="0"/>
              <a:buChar char="•"/>
            </a:pPr>
            <a:r>
              <a:rPr lang="zh-CN" altLang="en-US" sz="1600" b="1"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用户接入</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执行</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点建立用户关联表，用户</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与</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控制点</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之间进行认证交互，认证成功</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之后</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控制点</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下发授权信息</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到</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执行</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点。</a:t>
            </a:r>
          </a:p>
          <a:p>
            <a:pPr marL="182563" indent="-182563" fontAlgn="auto">
              <a:lnSpc>
                <a:spcPts val="2600"/>
              </a:lnSpc>
              <a:spcAft>
                <a:spcPts val="600"/>
              </a:spcAft>
              <a:buFont typeface="Arial" panose="020B0604020202020204" pitchFamily="34" charset="0"/>
              <a:buChar char="•"/>
            </a:pPr>
            <a:r>
              <a:rPr lang="zh-CN" altLang="en-US" sz="1600" b="1"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用户离开</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：用户断开与接入</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设备连接</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执行</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点实时通过</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CAPWAP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隧道</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通知</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认证</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控制点</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，后者清除用户表项。</a:t>
            </a:r>
          </a:p>
          <a:p>
            <a:pPr marL="182563" indent="-182563" fontAlgn="auto">
              <a:lnSpc>
                <a:spcPts val="2600"/>
              </a:lnSpc>
              <a:spcAft>
                <a:spcPts val="600"/>
              </a:spcAft>
              <a:buFont typeface="Arial" panose="020B0604020202020204" pitchFamily="34" charset="0"/>
              <a:buChar char="•"/>
            </a:pPr>
            <a:r>
              <a:rPr lang="zh-CN" altLang="en-US" sz="1600" b="1"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用户移动</a:t>
            </a:r>
            <a:r>
              <a:rPr lang="zh-CN" altLang="en-US" sz="16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rPr>
              <a:t>：用户连接</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rPr>
              <a:t>到新网络后，重新完成认证操作。</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endParaRPr>
          </a:p>
        </p:txBody>
      </p:sp>
    </p:spTree>
    <p:extLst>
      <p:ext uri="{BB962C8B-B14F-4D97-AF65-F5344CB8AC3E}">
        <p14:creationId xmlns:p14="http://schemas.microsoft.com/office/powerpoint/2010/main" val="318183596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文本框 149"/>
          <p:cNvSpPr txBox="1"/>
          <p:nvPr/>
        </p:nvSpPr>
        <p:spPr bwMode="gray">
          <a:xfrm>
            <a:off x="1169467" y="1026146"/>
            <a:ext cx="10177741" cy="2450477"/>
          </a:xfrm>
          <a:prstGeom prst="rect">
            <a:avLst/>
          </a:prstGeom>
          <a:noFill/>
          <a:ln>
            <a:solidFill>
              <a:schemeClr val="bg1">
                <a:lumMod val="75000"/>
              </a:schemeClr>
            </a:solidFill>
          </a:ln>
        </p:spPr>
        <p:txBody>
          <a:bodyPr wrap="square" rtlCol="0">
            <a:noAutofit/>
          </a:bodyPr>
          <a:lstStyle/>
          <a:p>
            <a:pPr>
              <a:lnSpc>
                <a:spcPts val="2600"/>
              </a:lnSpc>
              <a:spcAft>
                <a:spcPts val="600"/>
              </a:spcAft>
            </a:pPr>
            <a:endParaRPr lang="zh-CN" altLang="en-US" sz="1400" dirty="0">
              <a:cs typeface="Arial" panose="020B0604020202020204" pitchFamily="34" charset="0"/>
            </a:endParaRPr>
          </a:p>
        </p:txBody>
      </p:sp>
      <p:sp>
        <p:nvSpPr>
          <p:cNvPr id="151" name="文本框 150"/>
          <p:cNvSpPr txBox="1"/>
          <p:nvPr/>
        </p:nvSpPr>
        <p:spPr bwMode="gray">
          <a:xfrm>
            <a:off x="1169467" y="3713309"/>
            <a:ext cx="10177741" cy="2450477"/>
          </a:xfrm>
          <a:prstGeom prst="rect">
            <a:avLst/>
          </a:prstGeom>
          <a:noFill/>
          <a:ln>
            <a:solidFill>
              <a:schemeClr val="bg1">
                <a:lumMod val="75000"/>
              </a:schemeClr>
            </a:solidFill>
          </a:ln>
        </p:spPr>
        <p:txBody>
          <a:bodyPr wrap="square" rtlCol="0">
            <a:noAutofit/>
          </a:bodyPr>
          <a:lstStyle/>
          <a:p>
            <a:pPr>
              <a:lnSpc>
                <a:spcPts val="2600"/>
              </a:lnSpc>
              <a:spcAft>
                <a:spcPts val="600"/>
              </a:spcAft>
            </a:pPr>
            <a:endParaRPr lang="zh-CN" altLang="en-US" sz="1400" dirty="0">
              <a:cs typeface="Arial" panose="020B0604020202020204" pitchFamily="34" charset="0"/>
            </a:endParaRPr>
          </a:p>
        </p:txBody>
      </p:sp>
      <p:sp>
        <p:nvSpPr>
          <p:cNvPr id="3" name="标题 2"/>
          <p:cNvSpPr>
            <a:spLocks noGrp="1"/>
          </p:cNvSpPr>
          <p:nvPr>
            <p:ph type="title"/>
          </p:nvPr>
        </p:nvSpPr>
        <p:spPr bwMode="gray"/>
        <p:txBody>
          <a:bodyPr>
            <a:normAutofit/>
          </a:bodyPr>
          <a:lstStyle/>
          <a:p>
            <a:r>
              <a:rPr lang="zh-CN" altLang="en-US" dirty="0">
                <a:latin typeface="+mn-lt"/>
                <a:ea typeface="+mn-ea"/>
              </a:rPr>
              <a:t>策略</a:t>
            </a:r>
            <a:r>
              <a:rPr lang="zh-CN" altLang="en-US" dirty="0" smtClean="0">
                <a:latin typeface="+mn-lt"/>
                <a:ea typeface="+mn-ea"/>
              </a:rPr>
              <a:t>联动与普通认证方案对比</a:t>
            </a:r>
            <a:endParaRPr lang="zh-CN" altLang="en-US" dirty="0">
              <a:latin typeface="+mn-lt"/>
              <a:ea typeface="+mn-ea"/>
            </a:endParaRPr>
          </a:p>
        </p:txBody>
      </p:sp>
      <p:pic>
        <p:nvPicPr>
          <p:cNvPr id="86" name="图片 85" descr="PC.png"/>
          <p:cNvPicPr>
            <a:picLocks noChangeAspect="1"/>
          </p:cNvPicPr>
          <p:nvPr/>
        </p:nvPicPr>
        <p:blipFill>
          <a:blip r:embed="rId3" cstate="print"/>
          <a:stretch>
            <a:fillRect/>
          </a:stretch>
        </p:blipFill>
        <p:spPr bwMode="gray">
          <a:xfrm>
            <a:off x="1783789" y="4792705"/>
            <a:ext cx="539063" cy="414000"/>
          </a:xfrm>
          <a:prstGeom prst="rect">
            <a:avLst/>
          </a:prstGeom>
        </p:spPr>
      </p:pic>
      <p:pic>
        <p:nvPicPr>
          <p:cNvPr id="105" name="图片 104" descr="交换机.png"/>
          <p:cNvPicPr>
            <a:picLocks noChangeAspect="1"/>
          </p:cNvPicPr>
          <p:nvPr/>
        </p:nvPicPr>
        <p:blipFill>
          <a:blip r:embed="rId4" cstate="print"/>
          <a:stretch>
            <a:fillRect/>
          </a:stretch>
        </p:blipFill>
        <p:spPr bwMode="gray">
          <a:xfrm>
            <a:off x="9870538" y="4764888"/>
            <a:ext cx="539999" cy="441817"/>
          </a:xfrm>
          <a:prstGeom prst="rect">
            <a:avLst/>
          </a:prstGeom>
        </p:spPr>
      </p:pic>
      <p:sp>
        <p:nvSpPr>
          <p:cNvPr id="2" name="矩形 1"/>
          <p:cNvSpPr/>
          <p:nvPr/>
        </p:nvSpPr>
        <p:spPr bwMode="gray">
          <a:xfrm>
            <a:off x="5272734" y="1689439"/>
            <a:ext cx="1715679" cy="1008667"/>
          </a:xfrm>
          <a:prstGeom prst="rect">
            <a:avLst/>
          </a:prstGeom>
          <a:solidFill>
            <a:srgbClr val="F5FCFD"/>
          </a:solidFill>
          <a:ln w="12700" cap="flat" cmpd="sng" algn="ctr">
            <a:solidFill>
              <a:srgbClr val="BEE9EE"/>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endParaRPr lang="zh-CN" altLang="en-US" sz="1600" kern="0">
              <a:solidFill>
                <a:srgbClr val="30B5C5"/>
              </a:solidFill>
              <a:latin typeface="Huawei Sans" panose="020C0503030203020204" pitchFamily="34" charset="0"/>
              <a:ea typeface="方正兰亭黑简体" panose="02000000000000000000" pitchFamily="2" charset="-122"/>
            </a:endParaRPr>
          </a:p>
        </p:txBody>
      </p:sp>
      <p:sp>
        <p:nvSpPr>
          <p:cNvPr id="106" name="矩形 105"/>
          <p:cNvSpPr/>
          <p:nvPr/>
        </p:nvSpPr>
        <p:spPr bwMode="gray">
          <a:xfrm>
            <a:off x="5139165" y="1948264"/>
            <a:ext cx="267138" cy="491020"/>
          </a:xfrm>
          <a:prstGeom prst="rect">
            <a:avLst/>
          </a:prstGeom>
          <a:pattFill prst="dkUpDiag">
            <a:fgClr>
              <a:srgbClr val="BEE9EE"/>
            </a:fgClr>
            <a:bgClr>
              <a:schemeClr val="bg1"/>
            </a:bgClr>
          </a:patt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lumMod val="50000"/>
                  </a:schemeClr>
                </a:solidFill>
              </a:rPr>
              <a:t>接口</a:t>
            </a:r>
          </a:p>
        </p:txBody>
      </p:sp>
      <p:sp>
        <p:nvSpPr>
          <p:cNvPr id="107" name="矩形 106"/>
          <p:cNvSpPr/>
          <p:nvPr/>
        </p:nvSpPr>
        <p:spPr bwMode="blackGray">
          <a:xfrm>
            <a:off x="5860575" y="1948265"/>
            <a:ext cx="914399" cy="498482"/>
          </a:xfrm>
          <a:prstGeom prst="rect">
            <a:avLst/>
          </a:prstGeom>
          <a:pattFill prst="divot">
            <a:fgClr>
              <a:srgbClr val="BEE9EE"/>
            </a:fgClr>
            <a:bgClr>
              <a:schemeClr val="bg1"/>
            </a:bgClr>
          </a:patt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rgbClr val="30B5C5"/>
                </a:solidFill>
              </a:rPr>
              <a:t>准入认证模块</a:t>
            </a:r>
            <a:endParaRPr lang="zh-CN" altLang="en-US" sz="1400" b="1" dirty="0">
              <a:solidFill>
                <a:srgbClr val="30B5C5"/>
              </a:solidFill>
            </a:endParaRPr>
          </a:p>
        </p:txBody>
      </p:sp>
      <p:sp>
        <p:nvSpPr>
          <p:cNvPr id="108" name="矩形 107"/>
          <p:cNvSpPr/>
          <p:nvPr/>
        </p:nvSpPr>
        <p:spPr bwMode="gray">
          <a:xfrm>
            <a:off x="3831824" y="4492646"/>
            <a:ext cx="1715679" cy="1008667"/>
          </a:xfrm>
          <a:prstGeom prst="rect">
            <a:avLst/>
          </a:prstGeom>
          <a:solidFill>
            <a:srgbClr val="F5FCFD"/>
          </a:solidFill>
          <a:ln w="12700" cap="flat" cmpd="sng" algn="ctr">
            <a:solidFill>
              <a:srgbClr val="BEE9EE"/>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endParaRPr lang="zh-CN" altLang="en-US" sz="1600" kern="0">
              <a:solidFill>
                <a:srgbClr val="30B5C5"/>
              </a:solidFill>
              <a:latin typeface="Huawei Sans" panose="020C0503030203020204" pitchFamily="34" charset="0"/>
              <a:ea typeface="方正兰亭黑简体" panose="02000000000000000000" pitchFamily="2" charset="-122"/>
            </a:endParaRPr>
          </a:p>
        </p:txBody>
      </p:sp>
      <p:sp>
        <p:nvSpPr>
          <p:cNvPr id="109" name="矩形 108"/>
          <p:cNvSpPr/>
          <p:nvPr/>
        </p:nvSpPr>
        <p:spPr bwMode="gray">
          <a:xfrm>
            <a:off x="3698255" y="4751471"/>
            <a:ext cx="267138" cy="491020"/>
          </a:xfrm>
          <a:prstGeom prst="rect">
            <a:avLst/>
          </a:prstGeom>
          <a:pattFill prst="dkUpDiag">
            <a:fgClr>
              <a:srgbClr val="BEE9EE"/>
            </a:fgClr>
            <a:bgClr>
              <a:schemeClr val="bg1"/>
            </a:bgClr>
          </a:patt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lumMod val="50000"/>
                  </a:schemeClr>
                </a:solidFill>
              </a:rPr>
              <a:t>接口</a:t>
            </a:r>
          </a:p>
        </p:txBody>
      </p:sp>
      <p:sp>
        <p:nvSpPr>
          <p:cNvPr id="113" name="矩形 112"/>
          <p:cNvSpPr/>
          <p:nvPr/>
        </p:nvSpPr>
        <p:spPr bwMode="gray">
          <a:xfrm>
            <a:off x="6762192" y="4492646"/>
            <a:ext cx="1715679" cy="1008667"/>
          </a:xfrm>
          <a:prstGeom prst="rect">
            <a:avLst/>
          </a:prstGeom>
          <a:solidFill>
            <a:srgbClr val="F5FCFD"/>
          </a:solidFill>
          <a:ln w="12700" cap="flat" cmpd="sng" algn="ctr">
            <a:solidFill>
              <a:srgbClr val="BEE9EE"/>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endParaRPr lang="zh-CN" altLang="en-US" sz="1600" kern="0">
              <a:solidFill>
                <a:srgbClr val="30B5C5"/>
              </a:solidFill>
              <a:latin typeface="Huawei Sans" panose="020C0503030203020204" pitchFamily="34" charset="0"/>
              <a:ea typeface="方正兰亭黑简体" panose="02000000000000000000" pitchFamily="2" charset="-122"/>
            </a:endParaRPr>
          </a:p>
        </p:txBody>
      </p:sp>
      <p:sp>
        <p:nvSpPr>
          <p:cNvPr id="114" name="矩形 113"/>
          <p:cNvSpPr/>
          <p:nvPr/>
        </p:nvSpPr>
        <p:spPr bwMode="gray">
          <a:xfrm>
            <a:off x="6628623" y="4751471"/>
            <a:ext cx="267138" cy="49102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lumMod val="50000"/>
                  </a:schemeClr>
                </a:solidFill>
              </a:rPr>
              <a:t>接口</a:t>
            </a:r>
          </a:p>
        </p:txBody>
      </p:sp>
      <p:sp>
        <p:nvSpPr>
          <p:cNvPr id="4" name="任意多边形 3"/>
          <p:cNvSpPr/>
          <p:nvPr/>
        </p:nvSpPr>
        <p:spPr bwMode="gray">
          <a:xfrm>
            <a:off x="3959424" y="4551021"/>
            <a:ext cx="2667786" cy="386588"/>
          </a:xfrm>
          <a:custGeom>
            <a:avLst/>
            <a:gdLst>
              <a:gd name="connsiteX0" fmla="*/ 0 w 2667786"/>
              <a:gd name="connsiteY0" fmla="*/ 358308 h 386588"/>
              <a:gd name="connsiteX1" fmla="*/ 1216058 w 2667786"/>
              <a:gd name="connsiteY1" fmla="*/ 89 h 386588"/>
              <a:gd name="connsiteX2" fmla="*/ 2667786 w 2667786"/>
              <a:gd name="connsiteY2" fmla="*/ 386588 h 386588"/>
            </a:gdLst>
            <a:ahLst/>
            <a:cxnLst>
              <a:cxn ang="0">
                <a:pos x="connsiteX0" y="connsiteY0"/>
              </a:cxn>
              <a:cxn ang="0">
                <a:pos x="connsiteX1" y="connsiteY1"/>
              </a:cxn>
              <a:cxn ang="0">
                <a:pos x="connsiteX2" y="connsiteY2"/>
              </a:cxn>
            </a:cxnLst>
            <a:rect l="l" t="t" r="r" b="b"/>
            <a:pathLst>
              <a:path w="2667786" h="386588">
                <a:moveTo>
                  <a:pt x="0" y="358308"/>
                </a:moveTo>
                <a:cubicBezTo>
                  <a:pt x="385713" y="176842"/>
                  <a:pt x="771427" y="-4624"/>
                  <a:pt x="1216058" y="89"/>
                </a:cubicBezTo>
                <a:cubicBezTo>
                  <a:pt x="1660689" y="4802"/>
                  <a:pt x="2164237" y="195695"/>
                  <a:pt x="2667786" y="386588"/>
                </a:cubicBezTo>
              </a:path>
            </a:pathLst>
          </a:cu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 name="文本框 116"/>
          <p:cNvSpPr txBox="1"/>
          <p:nvPr/>
        </p:nvSpPr>
        <p:spPr bwMode="gray">
          <a:xfrm>
            <a:off x="4002567" y="5525062"/>
            <a:ext cx="1374191" cy="276999"/>
          </a:xfrm>
          <a:prstGeom prst="rect">
            <a:avLst/>
          </a:prstGeom>
          <a:noFill/>
        </p:spPr>
        <p:txBody>
          <a:bodyPr wrap="square" rtlCol="0">
            <a:spAutoFit/>
          </a:bodyPr>
          <a:lstStyle/>
          <a:p>
            <a:pPr algn="ctr"/>
            <a:r>
              <a:rPr lang="zh-CN" altLang="en-US" sz="1200" b="1" dirty="0"/>
              <a:t>认证</a:t>
            </a:r>
            <a:r>
              <a:rPr lang="zh-CN" altLang="en-US" sz="1200" b="1" dirty="0" smtClean="0"/>
              <a:t>执行点</a:t>
            </a:r>
            <a:endParaRPr lang="zh-CN" altLang="en-US" sz="1200" b="1" dirty="0"/>
          </a:p>
        </p:txBody>
      </p:sp>
      <p:sp>
        <p:nvSpPr>
          <p:cNvPr id="118" name="文本框 117"/>
          <p:cNvSpPr txBox="1"/>
          <p:nvPr/>
        </p:nvSpPr>
        <p:spPr bwMode="gray">
          <a:xfrm>
            <a:off x="6928400" y="5525062"/>
            <a:ext cx="1374191" cy="276999"/>
          </a:xfrm>
          <a:prstGeom prst="rect">
            <a:avLst/>
          </a:prstGeom>
          <a:noFill/>
        </p:spPr>
        <p:txBody>
          <a:bodyPr wrap="square" rtlCol="0">
            <a:spAutoFit/>
          </a:bodyPr>
          <a:lstStyle/>
          <a:p>
            <a:pPr algn="ctr"/>
            <a:r>
              <a:rPr lang="zh-CN" altLang="en-US" sz="1200" b="1" dirty="0" smtClean="0"/>
              <a:t>认证</a:t>
            </a:r>
            <a:r>
              <a:rPr lang="zh-CN" altLang="en-US" sz="1200" b="1" dirty="0"/>
              <a:t>控制</a:t>
            </a:r>
            <a:r>
              <a:rPr lang="zh-CN" altLang="en-US" sz="1200" b="1" dirty="0" smtClean="0"/>
              <a:t>点</a:t>
            </a:r>
            <a:endParaRPr lang="zh-CN" altLang="en-US" sz="1200" b="1" dirty="0"/>
          </a:p>
        </p:txBody>
      </p:sp>
      <p:sp>
        <p:nvSpPr>
          <p:cNvPr id="119" name="文本框 118"/>
          <p:cNvSpPr txBox="1"/>
          <p:nvPr/>
        </p:nvSpPr>
        <p:spPr bwMode="gray">
          <a:xfrm>
            <a:off x="1795572" y="5242491"/>
            <a:ext cx="513293" cy="276999"/>
          </a:xfrm>
          <a:prstGeom prst="rect">
            <a:avLst/>
          </a:prstGeom>
          <a:noFill/>
        </p:spPr>
        <p:txBody>
          <a:bodyPr wrap="square" rtlCol="0">
            <a:spAutoFit/>
          </a:bodyPr>
          <a:lstStyle/>
          <a:p>
            <a:pPr algn="ctr"/>
            <a:r>
              <a:rPr lang="zh-CN" altLang="en-US" sz="1200" dirty="0" smtClean="0"/>
              <a:t>用户</a:t>
            </a:r>
            <a:endParaRPr lang="zh-CN" altLang="en-US" sz="1200" dirty="0"/>
          </a:p>
        </p:txBody>
      </p:sp>
      <p:sp>
        <p:nvSpPr>
          <p:cNvPr id="120" name="文本框 119"/>
          <p:cNvSpPr txBox="1"/>
          <p:nvPr/>
        </p:nvSpPr>
        <p:spPr bwMode="gray">
          <a:xfrm>
            <a:off x="9638365" y="5242491"/>
            <a:ext cx="1004346" cy="276999"/>
          </a:xfrm>
          <a:prstGeom prst="rect">
            <a:avLst/>
          </a:prstGeom>
          <a:noFill/>
        </p:spPr>
        <p:txBody>
          <a:bodyPr wrap="square" rtlCol="0">
            <a:spAutoFit/>
          </a:bodyPr>
          <a:lstStyle/>
          <a:p>
            <a:pPr algn="ctr"/>
            <a:r>
              <a:rPr lang="zh-CN" altLang="en-US" sz="1200" dirty="0" smtClean="0"/>
              <a:t>认证服务器</a:t>
            </a:r>
            <a:endParaRPr lang="zh-CN" altLang="en-US" sz="1200" dirty="0"/>
          </a:p>
        </p:txBody>
      </p:sp>
      <p:pic>
        <p:nvPicPr>
          <p:cNvPr id="121" name="图片 120" descr="PC.png"/>
          <p:cNvPicPr>
            <a:picLocks noChangeAspect="1"/>
          </p:cNvPicPr>
          <p:nvPr/>
        </p:nvPicPr>
        <p:blipFill>
          <a:blip r:embed="rId3" cstate="print"/>
          <a:stretch>
            <a:fillRect/>
          </a:stretch>
        </p:blipFill>
        <p:spPr bwMode="gray">
          <a:xfrm>
            <a:off x="1783789" y="1914412"/>
            <a:ext cx="539063" cy="414000"/>
          </a:xfrm>
          <a:prstGeom prst="rect">
            <a:avLst/>
          </a:prstGeom>
        </p:spPr>
      </p:pic>
      <p:sp>
        <p:nvSpPr>
          <p:cNvPr id="122" name="文本框 121"/>
          <p:cNvSpPr txBox="1"/>
          <p:nvPr/>
        </p:nvSpPr>
        <p:spPr bwMode="gray">
          <a:xfrm>
            <a:off x="1795572" y="2378107"/>
            <a:ext cx="513293" cy="276999"/>
          </a:xfrm>
          <a:prstGeom prst="rect">
            <a:avLst/>
          </a:prstGeom>
          <a:noFill/>
        </p:spPr>
        <p:txBody>
          <a:bodyPr wrap="square" rtlCol="0">
            <a:spAutoFit/>
          </a:bodyPr>
          <a:lstStyle/>
          <a:p>
            <a:pPr algn="ctr"/>
            <a:r>
              <a:rPr lang="zh-CN" altLang="en-US" sz="1200" dirty="0" smtClean="0"/>
              <a:t>用户</a:t>
            </a:r>
            <a:endParaRPr lang="zh-CN" altLang="en-US" sz="1200" dirty="0"/>
          </a:p>
        </p:txBody>
      </p:sp>
      <p:pic>
        <p:nvPicPr>
          <p:cNvPr id="123" name="图片 122" descr="交换机.png"/>
          <p:cNvPicPr>
            <a:picLocks noChangeAspect="1"/>
          </p:cNvPicPr>
          <p:nvPr/>
        </p:nvPicPr>
        <p:blipFill>
          <a:blip r:embed="rId4" cstate="print"/>
          <a:stretch>
            <a:fillRect/>
          </a:stretch>
        </p:blipFill>
        <p:spPr bwMode="gray">
          <a:xfrm>
            <a:off x="9870538" y="1900504"/>
            <a:ext cx="539999" cy="441817"/>
          </a:xfrm>
          <a:prstGeom prst="rect">
            <a:avLst/>
          </a:prstGeom>
        </p:spPr>
      </p:pic>
      <p:sp>
        <p:nvSpPr>
          <p:cNvPr id="124" name="文本框 123"/>
          <p:cNvSpPr txBox="1"/>
          <p:nvPr/>
        </p:nvSpPr>
        <p:spPr bwMode="gray">
          <a:xfrm>
            <a:off x="9638365" y="2378107"/>
            <a:ext cx="1004346" cy="276999"/>
          </a:xfrm>
          <a:prstGeom prst="rect">
            <a:avLst/>
          </a:prstGeom>
          <a:noFill/>
        </p:spPr>
        <p:txBody>
          <a:bodyPr wrap="square" rtlCol="0">
            <a:spAutoFit/>
          </a:bodyPr>
          <a:lstStyle/>
          <a:p>
            <a:pPr algn="ctr"/>
            <a:r>
              <a:rPr lang="zh-CN" altLang="en-US" sz="1200" dirty="0" smtClean="0"/>
              <a:t>认证服务器</a:t>
            </a:r>
            <a:endParaRPr lang="zh-CN" altLang="en-US" sz="1200" dirty="0"/>
          </a:p>
        </p:txBody>
      </p:sp>
      <p:sp>
        <p:nvSpPr>
          <p:cNvPr id="125" name="文本框 124"/>
          <p:cNvSpPr txBox="1"/>
          <p:nvPr/>
        </p:nvSpPr>
        <p:spPr bwMode="gray">
          <a:xfrm>
            <a:off x="5443477" y="2698106"/>
            <a:ext cx="1374191" cy="276999"/>
          </a:xfrm>
          <a:prstGeom prst="rect">
            <a:avLst/>
          </a:prstGeom>
          <a:noFill/>
        </p:spPr>
        <p:txBody>
          <a:bodyPr wrap="square" rtlCol="0">
            <a:spAutoFit/>
          </a:bodyPr>
          <a:lstStyle/>
          <a:p>
            <a:pPr algn="ctr"/>
            <a:r>
              <a:rPr lang="zh-CN" altLang="en-US" sz="1200" b="1" dirty="0" smtClean="0"/>
              <a:t>认证点</a:t>
            </a:r>
            <a:endParaRPr lang="zh-CN" altLang="en-US" sz="1200" b="1" dirty="0"/>
          </a:p>
        </p:txBody>
      </p:sp>
      <p:cxnSp>
        <p:nvCxnSpPr>
          <p:cNvPr id="8" name="直接箭头连接符 7"/>
          <p:cNvCxnSpPr/>
          <p:nvPr/>
        </p:nvCxnSpPr>
        <p:spPr bwMode="gray">
          <a:xfrm>
            <a:off x="2439745" y="2197612"/>
            <a:ext cx="2669425" cy="0"/>
          </a:xfrm>
          <a:prstGeom prst="straightConnector1">
            <a:avLst/>
          </a:prstGeom>
          <a:ln w="190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文本框 125"/>
          <p:cNvSpPr txBox="1"/>
          <p:nvPr/>
        </p:nvSpPr>
        <p:spPr bwMode="gray">
          <a:xfrm>
            <a:off x="3109826" y="2239607"/>
            <a:ext cx="1159783" cy="276999"/>
          </a:xfrm>
          <a:prstGeom prst="rect">
            <a:avLst/>
          </a:prstGeom>
          <a:noFill/>
        </p:spPr>
        <p:txBody>
          <a:bodyPr wrap="square" rtlCol="0">
            <a:spAutoFit/>
          </a:bodyPr>
          <a:lstStyle/>
          <a:p>
            <a:pPr algn="ctr"/>
            <a:r>
              <a:rPr lang="zh-CN" altLang="en-US" sz="1200" dirty="0" smtClean="0">
                <a:solidFill>
                  <a:schemeClr val="bg1">
                    <a:lumMod val="50000"/>
                  </a:schemeClr>
                </a:solidFill>
              </a:rPr>
              <a:t>用户身份凭证</a:t>
            </a:r>
            <a:endParaRPr lang="zh-CN" altLang="en-US" sz="1200" dirty="0">
              <a:solidFill>
                <a:schemeClr val="bg1">
                  <a:lumMod val="50000"/>
                </a:schemeClr>
              </a:solidFill>
            </a:endParaRPr>
          </a:p>
        </p:txBody>
      </p:sp>
      <p:cxnSp>
        <p:nvCxnSpPr>
          <p:cNvPr id="14" name="曲线连接符 13"/>
          <p:cNvCxnSpPr>
            <a:stCxn id="106" idx="0"/>
            <a:endCxn id="107" idx="0"/>
          </p:cNvCxnSpPr>
          <p:nvPr/>
        </p:nvCxnSpPr>
        <p:spPr bwMode="gray">
          <a:xfrm rot="16200000" flipH="1">
            <a:off x="5795253" y="1425744"/>
            <a:ext cx="1" cy="1045041"/>
          </a:xfrm>
          <a:prstGeom prst="curvedConnector3">
            <a:avLst>
              <a:gd name="adj1" fmla="val -2286000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p:nvPr/>
        </p:nvCxnSpPr>
        <p:spPr bwMode="gray">
          <a:xfrm flipV="1">
            <a:off x="6822599" y="2191854"/>
            <a:ext cx="2960921" cy="0"/>
          </a:xfrm>
          <a:prstGeom prst="straightConnector1">
            <a:avLst/>
          </a:prstGeom>
          <a:ln w="190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曲线连接符 127"/>
          <p:cNvCxnSpPr>
            <a:stCxn id="114" idx="0"/>
          </p:cNvCxnSpPr>
          <p:nvPr/>
        </p:nvCxnSpPr>
        <p:spPr bwMode="gray">
          <a:xfrm rot="16200000" flipH="1">
            <a:off x="7251615" y="4262048"/>
            <a:ext cx="66194" cy="1045041"/>
          </a:xfrm>
          <a:prstGeom prst="curvedConnector3">
            <a:avLst>
              <a:gd name="adj1" fmla="val -345349"/>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接箭头连接符 128"/>
          <p:cNvCxnSpPr/>
          <p:nvPr/>
        </p:nvCxnSpPr>
        <p:spPr bwMode="gray">
          <a:xfrm>
            <a:off x="2471399" y="4996981"/>
            <a:ext cx="1103031" cy="0"/>
          </a:xfrm>
          <a:prstGeom prst="straightConnector1">
            <a:avLst/>
          </a:prstGeom>
          <a:ln w="190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接箭头连接符 130"/>
          <p:cNvCxnSpPr/>
          <p:nvPr/>
        </p:nvCxnSpPr>
        <p:spPr bwMode="gray">
          <a:xfrm>
            <a:off x="8302591" y="4996981"/>
            <a:ext cx="1433304" cy="0"/>
          </a:xfrm>
          <a:prstGeom prst="straightConnector1">
            <a:avLst/>
          </a:prstGeom>
          <a:ln w="190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Connector 166"/>
          <p:cNvCxnSpPr/>
          <p:nvPr/>
        </p:nvCxnSpPr>
        <p:spPr bwMode="gray">
          <a:xfrm>
            <a:off x="9682127" y="6034832"/>
            <a:ext cx="506720" cy="0"/>
          </a:xfrm>
          <a:prstGeom prst="line">
            <a:avLst/>
          </a:prstGeom>
          <a:ln w="82550" cap="rnd" cmpd="tri">
            <a:solidFill>
              <a:srgbClr val="D33941">
                <a:alpha val="87000"/>
              </a:srgbClr>
            </a:solidFill>
            <a:prstDash val="solid"/>
            <a:round/>
          </a:ln>
        </p:spPr>
        <p:style>
          <a:lnRef idx="1">
            <a:schemeClr val="accent1"/>
          </a:lnRef>
          <a:fillRef idx="0">
            <a:schemeClr val="accent1"/>
          </a:fillRef>
          <a:effectRef idx="0">
            <a:schemeClr val="accent1"/>
          </a:effectRef>
          <a:fontRef idx="minor">
            <a:schemeClr val="tx1"/>
          </a:fontRef>
        </p:style>
      </p:cxnSp>
      <p:sp>
        <p:nvSpPr>
          <p:cNvPr id="133" name="矩形 132"/>
          <p:cNvSpPr/>
          <p:nvPr/>
        </p:nvSpPr>
        <p:spPr bwMode="gray">
          <a:xfrm>
            <a:off x="10160717" y="5907874"/>
            <a:ext cx="1186491" cy="251711"/>
          </a:xfrm>
          <a:prstGeom prst="rect">
            <a:avLst/>
          </a:prstGeom>
        </p:spPr>
        <p:txBody>
          <a:bodyPr wrap="square">
            <a:noAutofit/>
          </a:bodyPr>
          <a:lstStyle/>
          <a:p>
            <a:pPr fontAlgn="ctr"/>
            <a:r>
              <a:rPr lang="en-US" altLang="zh-CN" sz="1200" dirty="0"/>
              <a:t>CAPWAP</a:t>
            </a:r>
            <a:r>
              <a:rPr lang="zh-CN" altLang="en-US" sz="1200" dirty="0"/>
              <a:t>隧道</a:t>
            </a:r>
            <a:endParaRPr lang="en-US" altLang="zh-CN" sz="1200" dirty="0"/>
          </a:p>
        </p:txBody>
      </p:sp>
      <p:sp>
        <p:nvSpPr>
          <p:cNvPr id="134" name="文本框 133"/>
          <p:cNvSpPr txBox="1"/>
          <p:nvPr/>
        </p:nvSpPr>
        <p:spPr bwMode="gray">
          <a:xfrm>
            <a:off x="2458990" y="5039322"/>
            <a:ext cx="1159783" cy="276999"/>
          </a:xfrm>
          <a:prstGeom prst="rect">
            <a:avLst/>
          </a:prstGeom>
          <a:noFill/>
        </p:spPr>
        <p:txBody>
          <a:bodyPr wrap="square" rtlCol="0">
            <a:spAutoFit/>
          </a:bodyPr>
          <a:lstStyle/>
          <a:p>
            <a:pPr algn="ctr"/>
            <a:r>
              <a:rPr lang="zh-CN" altLang="en-US" sz="1200" dirty="0" smtClean="0">
                <a:solidFill>
                  <a:schemeClr val="bg1">
                    <a:lumMod val="50000"/>
                  </a:schemeClr>
                </a:solidFill>
              </a:rPr>
              <a:t>用户身份凭证</a:t>
            </a:r>
            <a:endParaRPr lang="zh-CN" altLang="en-US" sz="1200" dirty="0">
              <a:solidFill>
                <a:schemeClr val="bg1">
                  <a:lumMod val="50000"/>
                </a:schemeClr>
              </a:solidFill>
            </a:endParaRPr>
          </a:p>
        </p:txBody>
      </p:sp>
      <p:sp>
        <p:nvSpPr>
          <p:cNvPr id="136" name="Oval 4"/>
          <p:cNvSpPr>
            <a:spLocks noChangeAspect="1"/>
          </p:cNvSpPr>
          <p:nvPr/>
        </p:nvSpPr>
        <p:spPr bwMode="ltGray">
          <a:xfrm>
            <a:off x="2426477" y="5104296"/>
            <a:ext cx="144000" cy="144000"/>
          </a:xfrm>
          <a:prstGeom prst="ellipse">
            <a:avLst/>
          </a:prstGeom>
          <a:solidFill>
            <a:schemeClr val="bg1">
              <a:lumMod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Oval 4"/>
          <p:cNvSpPr>
            <a:spLocks noChangeAspect="1"/>
          </p:cNvSpPr>
          <p:nvPr/>
        </p:nvSpPr>
        <p:spPr bwMode="ltGray">
          <a:xfrm>
            <a:off x="3053086" y="2302747"/>
            <a:ext cx="144000" cy="144000"/>
          </a:xfrm>
          <a:prstGeom prst="ellipse">
            <a:avLst/>
          </a:prstGeom>
          <a:solidFill>
            <a:schemeClr val="bg1">
              <a:lumMod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Oval 4"/>
          <p:cNvSpPr>
            <a:spLocks noChangeAspect="1"/>
          </p:cNvSpPr>
          <p:nvPr/>
        </p:nvSpPr>
        <p:spPr bwMode="invGray">
          <a:xfrm>
            <a:off x="5651254" y="1462672"/>
            <a:ext cx="144000" cy="144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Oval 4"/>
          <p:cNvSpPr>
            <a:spLocks noChangeAspect="1"/>
          </p:cNvSpPr>
          <p:nvPr/>
        </p:nvSpPr>
        <p:spPr bwMode="ltGray">
          <a:xfrm>
            <a:off x="7370685" y="2302747"/>
            <a:ext cx="144000" cy="144000"/>
          </a:xfrm>
          <a:prstGeom prst="ellipse">
            <a:avLst/>
          </a:prstGeom>
          <a:solidFill>
            <a:schemeClr val="bg1">
              <a:lumMod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Oval 4"/>
          <p:cNvSpPr>
            <a:spLocks noChangeAspect="1"/>
          </p:cNvSpPr>
          <p:nvPr/>
        </p:nvSpPr>
        <p:spPr bwMode="invGray">
          <a:xfrm>
            <a:off x="4776487" y="4246139"/>
            <a:ext cx="144000" cy="144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Oval 4"/>
          <p:cNvSpPr>
            <a:spLocks noChangeAspect="1"/>
          </p:cNvSpPr>
          <p:nvPr/>
        </p:nvSpPr>
        <p:spPr bwMode="invGray">
          <a:xfrm>
            <a:off x="7077223" y="4246139"/>
            <a:ext cx="144000" cy="144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文本框 141"/>
          <p:cNvSpPr txBox="1"/>
          <p:nvPr/>
        </p:nvSpPr>
        <p:spPr bwMode="gray">
          <a:xfrm>
            <a:off x="8543432" y="5039322"/>
            <a:ext cx="1271981" cy="461665"/>
          </a:xfrm>
          <a:prstGeom prst="rect">
            <a:avLst/>
          </a:prstGeom>
          <a:noFill/>
        </p:spPr>
        <p:txBody>
          <a:bodyPr wrap="square" rtlCol="0">
            <a:spAutoFit/>
          </a:bodyPr>
          <a:lstStyle/>
          <a:p>
            <a:pPr algn="ctr"/>
            <a:r>
              <a:rPr lang="zh-CN" altLang="en-US" sz="1200" dirty="0">
                <a:solidFill>
                  <a:schemeClr val="bg1">
                    <a:lumMod val="50000"/>
                  </a:schemeClr>
                </a:solidFill>
              </a:rPr>
              <a:t>送往认证服务器</a:t>
            </a:r>
            <a:endParaRPr lang="en-US" altLang="zh-CN" sz="1200" dirty="0">
              <a:solidFill>
                <a:schemeClr val="bg1">
                  <a:lumMod val="50000"/>
                </a:schemeClr>
              </a:solidFill>
            </a:endParaRPr>
          </a:p>
          <a:p>
            <a:pPr algn="ctr"/>
            <a:r>
              <a:rPr lang="zh-CN" altLang="en-US" sz="1200" dirty="0">
                <a:solidFill>
                  <a:schemeClr val="bg1">
                    <a:lumMod val="50000"/>
                  </a:schemeClr>
                </a:solidFill>
              </a:rPr>
              <a:t>进行认证</a:t>
            </a:r>
          </a:p>
        </p:txBody>
      </p:sp>
      <p:sp>
        <p:nvSpPr>
          <p:cNvPr id="143" name="Oval 4"/>
          <p:cNvSpPr>
            <a:spLocks noChangeAspect="1"/>
          </p:cNvSpPr>
          <p:nvPr/>
        </p:nvSpPr>
        <p:spPr bwMode="ltGray">
          <a:xfrm>
            <a:off x="8482344" y="5104296"/>
            <a:ext cx="144000" cy="144000"/>
          </a:xfrm>
          <a:prstGeom prst="ellipse">
            <a:avLst/>
          </a:prstGeom>
          <a:solidFill>
            <a:schemeClr val="bg1">
              <a:lumMod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文本框 143"/>
          <p:cNvSpPr txBox="1"/>
          <p:nvPr/>
        </p:nvSpPr>
        <p:spPr bwMode="gray">
          <a:xfrm>
            <a:off x="4906473" y="4048379"/>
            <a:ext cx="1411301" cy="461665"/>
          </a:xfrm>
          <a:prstGeom prst="rect">
            <a:avLst/>
          </a:prstGeom>
          <a:noFill/>
        </p:spPr>
        <p:txBody>
          <a:bodyPr wrap="square" rtlCol="0">
            <a:spAutoFit/>
          </a:bodyPr>
          <a:lstStyle/>
          <a:p>
            <a:pPr algn="ctr"/>
            <a:r>
              <a:rPr lang="zh-CN" altLang="en-US" sz="1200" dirty="0" smtClean="0"/>
              <a:t>通过</a:t>
            </a:r>
            <a:r>
              <a:rPr lang="en-US" altLang="zh-CN" sz="1200" dirty="0" smtClean="0"/>
              <a:t>CAPWAP</a:t>
            </a:r>
            <a:r>
              <a:rPr lang="zh-CN" altLang="en-US" sz="1200" dirty="0" smtClean="0"/>
              <a:t>隧道传递身份凭证</a:t>
            </a:r>
            <a:endParaRPr lang="zh-CN" altLang="en-US" sz="1200" dirty="0"/>
          </a:p>
        </p:txBody>
      </p:sp>
      <p:sp>
        <p:nvSpPr>
          <p:cNvPr id="145" name="文本框 144"/>
          <p:cNvSpPr txBox="1"/>
          <p:nvPr/>
        </p:nvSpPr>
        <p:spPr bwMode="gray">
          <a:xfrm>
            <a:off x="5701179" y="1275224"/>
            <a:ext cx="1323346" cy="461665"/>
          </a:xfrm>
          <a:prstGeom prst="rect">
            <a:avLst/>
          </a:prstGeom>
          <a:noFill/>
        </p:spPr>
        <p:txBody>
          <a:bodyPr wrap="square" rtlCol="0">
            <a:spAutoFit/>
          </a:bodyPr>
          <a:lstStyle/>
          <a:p>
            <a:pPr algn="ctr"/>
            <a:r>
              <a:rPr lang="zh-CN" altLang="en-US" sz="1200" dirty="0" smtClean="0"/>
              <a:t>将身份凭证传递到认证模块</a:t>
            </a:r>
            <a:endParaRPr lang="zh-CN" altLang="en-US" sz="1200" dirty="0"/>
          </a:p>
        </p:txBody>
      </p:sp>
      <p:sp>
        <p:nvSpPr>
          <p:cNvPr id="146" name="文本框 145"/>
          <p:cNvSpPr txBox="1"/>
          <p:nvPr/>
        </p:nvSpPr>
        <p:spPr bwMode="gray">
          <a:xfrm>
            <a:off x="7149223" y="4048379"/>
            <a:ext cx="1323346" cy="461665"/>
          </a:xfrm>
          <a:prstGeom prst="rect">
            <a:avLst/>
          </a:prstGeom>
          <a:noFill/>
        </p:spPr>
        <p:txBody>
          <a:bodyPr wrap="square" rtlCol="0">
            <a:spAutoFit/>
          </a:bodyPr>
          <a:lstStyle/>
          <a:p>
            <a:pPr algn="ctr"/>
            <a:r>
              <a:rPr lang="zh-CN" altLang="en-US" sz="1200" dirty="0" smtClean="0"/>
              <a:t>将身份凭证传递到认证模块</a:t>
            </a:r>
            <a:endParaRPr lang="zh-CN" altLang="en-US" sz="1200" dirty="0"/>
          </a:p>
        </p:txBody>
      </p:sp>
      <p:sp>
        <p:nvSpPr>
          <p:cNvPr id="147" name="文本框 146"/>
          <p:cNvSpPr txBox="1"/>
          <p:nvPr/>
        </p:nvSpPr>
        <p:spPr bwMode="gray">
          <a:xfrm>
            <a:off x="7520813" y="2239607"/>
            <a:ext cx="1377841" cy="461665"/>
          </a:xfrm>
          <a:prstGeom prst="rect">
            <a:avLst/>
          </a:prstGeom>
          <a:noFill/>
        </p:spPr>
        <p:txBody>
          <a:bodyPr wrap="square" rtlCol="0">
            <a:spAutoFit/>
          </a:bodyPr>
          <a:lstStyle/>
          <a:p>
            <a:pPr algn="ctr"/>
            <a:r>
              <a:rPr lang="zh-CN" altLang="en-US" sz="1200" dirty="0" smtClean="0">
                <a:solidFill>
                  <a:schemeClr val="bg1">
                    <a:lumMod val="50000"/>
                  </a:schemeClr>
                </a:solidFill>
              </a:rPr>
              <a:t>送往认证服务器</a:t>
            </a:r>
            <a:endParaRPr lang="en-US" altLang="zh-CN" sz="1200" dirty="0" smtClean="0">
              <a:solidFill>
                <a:schemeClr val="bg1">
                  <a:lumMod val="50000"/>
                </a:schemeClr>
              </a:solidFill>
            </a:endParaRPr>
          </a:p>
          <a:p>
            <a:pPr algn="ctr"/>
            <a:r>
              <a:rPr lang="zh-CN" altLang="en-US" sz="1200" dirty="0" smtClean="0">
                <a:solidFill>
                  <a:schemeClr val="bg1">
                    <a:lumMod val="50000"/>
                  </a:schemeClr>
                </a:solidFill>
              </a:rPr>
              <a:t>进行认证</a:t>
            </a:r>
            <a:endParaRPr lang="zh-CN" altLang="en-US" sz="1200" dirty="0">
              <a:solidFill>
                <a:schemeClr val="bg1">
                  <a:lumMod val="50000"/>
                </a:schemeClr>
              </a:solidFill>
            </a:endParaRPr>
          </a:p>
        </p:txBody>
      </p:sp>
      <p:sp>
        <p:nvSpPr>
          <p:cNvPr id="148" name="圆角矩形 75"/>
          <p:cNvSpPr/>
          <p:nvPr/>
        </p:nvSpPr>
        <p:spPr bwMode="gray">
          <a:xfrm>
            <a:off x="762995" y="1020211"/>
            <a:ext cx="350156" cy="2456413"/>
          </a:xfrm>
          <a:prstGeom prst="roundRect">
            <a:avLst>
              <a:gd name="adj" fmla="val 10604"/>
            </a:avLst>
          </a:prstGeom>
          <a:gradFill>
            <a:gsLst>
              <a:gs pos="0">
                <a:schemeClr val="bg1"/>
              </a:gs>
              <a:gs pos="100000">
                <a:schemeClr val="bg1">
                  <a:lumMod val="85000"/>
                </a:schemeClr>
              </a:gs>
            </a:gsLst>
            <a:lin ang="5400000" scaled="1"/>
          </a:gra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dirty="0" smtClean="0">
                <a:solidFill>
                  <a:schemeClr val="bg1">
                    <a:lumMod val="65000"/>
                  </a:schemeClr>
                </a:solidFill>
                <a:latin typeface="Huawei Sans" panose="020C0503030203020204" pitchFamily="34" charset="0"/>
                <a:ea typeface="方正兰亭黑简体" panose="02000000000000000000" pitchFamily="2" charset="-122"/>
              </a:rPr>
              <a:t>普通认证方案</a:t>
            </a:r>
            <a:endParaRPr lang="zh-CN" altLang="en-US" dirty="0">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49" name="圆角矩形 75"/>
          <p:cNvSpPr/>
          <p:nvPr/>
        </p:nvSpPr>
        <p:spPr bwMode="gray">
          <a:xfrm>
            <a:off x="762995" y="3707373"/>
            <a:ext cx="350156" cy="2456413"/>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dirty="0" smtClean="0">
                <a:solidFill>
                  <a:srgbClr val="30B5C5"/>
                </a:solidFill>
                <a:latin typeface="Huawei Sans" panose="020C0503030203020204" pitchFamily="34" charset="0"/>
                <a:ea typeface="方正兰亭黑简体" panose="02000000000000000000" pitchFamily="2" charset="-122"/>
              </a:rPr>
              <a:t>策略联动方案</a:t>
            </a:r>
            <a:endParaRPr lang="zh-CN" altLang="en-US" dirty="0">
              <a:solidFill>
                <a:srgbClr val="30B5C5"/>
              </a:solidFill>
              <a:latin typeface="Huawei Sans" panose="020C0503030203020204" pitchFamily="34" charset="0"/>
              <a:ea typeface="方正兰亭黑简体" panose="02000000000000000000" pitchFamily="2" charset="-122"/>
            </a:endParaRPr>
          </a:p>
        </p:txBody>
      </p:sp>
      <p:sp>
        <p:nvSpPr>
          <p:cNvPr id="155" name="矩形 154"/>
          <p:cNvSpPr/>
          <p:nvPr/>
        </p:nvSpPr>
        <p:spPr bwMode="blackGray">
          <a:xfrm>
            <a:off x="7344402" y="4751471"/>
            <a:ext cx="914399" cy="466060"/>
          </a:xfrm>
          <a:prstGeom prst="rect">
            <a:avLst/>
          </a:prstGeom>
          <a:pattFill prst="divot">
            <a:fgClr>
              <a:srgbClr val="BEE9EE"/>
            </a:fgClr>
            <a:bgClr>
              <a:schemeClr val="bg1"/>
            </a:bgClr>
          </a:patt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rgbClr val="30B5C5"/>
                </a:solidFill>
              </a:rPr>
              <a:t>准入认证模块</a:t>
            </a:r>
            <a:endParaRPr lang="zh-CN" altLang="en-US" sz="1400" b="1" dirty="0">
              <a:solidFill>
                <a:srgbClr val="30B5C5"/>
              </a:solidFill>
            </a:endParaRPr>
          </a:p>
        </p:txBody>
      </p:sp>
      <p:sp>
        <p:nvSpPr>
          <p:cNvPr id="159" name="矩形 158"/>
          <p:cNvSpPr/>
          <p:nvPr/>
        </p:nvSpPr>
        <p:spPr bwMode="gray">
          <a:xfrm>
            <a:off x="9802989" y="3178566"/>
            <a:ext cx="370181" cy="165682"/>
          </a:xfrm>
          <a:prstGeom prst="rect">
            <a:avLst/>
          </a:prstGeom>
          <a:pattFill prst="dkUpDiag">
            <a:fgClr>
              <a:srgbClr val="BEE9EE"/>
            </a:fgClr>
            <a:bgClr>
              <a:schemeClr val="bg1"/>
            </a:bgClr>
          </a:patt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bg1">
                  <a:lumMod val="50000"/>
                </a:schemeClr>
              </a:solidFill>
            </a:endParaRPr>
          </a:p>
        </p:txBody>
      </p:sp>
      <p:sp>
        <p:nvSpPr>
          <p:cNvPr id="160" name="文本框 159"/>
          <p:cNvSpPr txBox="1"/>
          <p:nvPr/>
        </p:nvSpPr>
        <p:spPr bwMode="gray">
          <a:xfrm>
            <a:off x="10160717" y="3128435"/>
            <a:ext cx="1137697" cy="276999"/>
          </a:xfrm>
          <a:prstGeom prst="rect">
            <a:avLst/>
          </a:prstGeom>
          <a:noFill/>
        </p:spPr>
        <p:txBody>
          <a:bodyPr wrap="square" rtlCol="0">
            <a:spAutoFit/>
          </a:bodyPr>
          <a:lstStyle/>
          <a:p>
            <a:r>
              <a:rPr lang="zh-CN" altLang="en-US" sz="1200" dirty="0" smtClean="0"/>
              <a:t>策略执行接口</a:t>
            </a:r>
            <a:endParaRPr lang="zh-CN" altLang="en-US" sz="1200" dirty="0"/>
          </a:p>
        </p:txBody>
      </p:sp>
      <p:sp>
        <p:nvSpPr>
          <p:cNvPr id="161" name="矩形 160"/>
          <p:cNvSpPr/>
          <p:nvPr/>
        </p:nvSpPr>
        <p:spPr bwMode="gray">
          <a:xfrm>
            <a:off x="9802989" y="5721394"/>
            <a:ext cx="370181" cy="165682"/>
          </a:xfrm>
          <a:prstGeom prst="rect">
            <a:avLst/>
          </a:prstGeom>
          <a:pattFill prst="dkUpDiag">
            <a:fgClr>
              <a:srgbClr val="BEE9EE"/>
            </a:fgClr>
            <a:bgClr>
              <a:schemeClr val="bg1"/>
            </a:bgClr>
          </a:patt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bg1">
                  <a:lumMod val="50000"/>
                </a:schemeClr>
              </a:solidFill>
            </a:endParaRPr>
          </a:p>
        </p:txBody>
      </p:sp>
      <p:sp>
        <p:nvSpPr>
          <p:cNvPr id="162" name="文本框 161"/>
          <p:cNvSpPr txBox="1"/>
          <p:nvPr/>
        </p:nvSpPr>
        <p:spPr bwMode="gray">
          <a:xfrm>
            <a:off x="10160717" y="5671263"/>
            <a:ext cx="1137697" cy="276999"/>
          </a:xfrm>
          <a:prstGeom prst="rect">
            <a:avLst/>
          </a:prstGeom>
          <a:noFill/>
        </p:spPr>
        <p:txBody>
          <a:bodyPr wrap="square" rtlCol="0">
            <a:spAutoFit/>
          </a:bodyPr>
          <a:lstStyle/>
          <a:p>
            <a:r>
              <a:rPr lang="zh-CN" altLang="en-US" sz="1200" dirty="0" smtClean="0"/>
              <a:t>策略执行接口</a:t>
            </a:r>
            <a:endParaRPr lang="zh-CN" altLang="en-US" sz="1200" dirty="0"/>
          </a:p>
        </p:txBody>
      </p:sp>
    </p:spTree>
    <p:extLst>
      <p:ext uri="{BB962C8B-B14F-4D97-AF65-F5344CB8AC3E}">
        <p14:creationId xmlns:p14="http://schemas.microsoft.com/office/powerpoint/2010/main" val="12748040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策略联动配置思路</a:t>
            </a:r>
            <a:endParaRPr lang="zh-CN" altLang="en-US" dirty="0"/>
          </a:p>
        </p:txBody>
      </p:sp>
      <p:sp>
        <p:nvSpPr>
          <p:cNvPr id="6" name="文本占位符 5"/>
          <p:cNvSpPr>
            <a:spLocks noGrp="1"/>
          </p:cNvSpPr>
          <p:nvPr>
            <p:ph type="body" sz="quarter" idx="10"/>
          </p:nvPr>
        </p:nvSpPr>
        <p:spPr>
          <a:xfrm>
            <a:off x="455613" y="1047751"/>
            <a:ext cx="5640387" cy="989670"/>
          </a:xfrm>
        </p:spPr>
        <p:txBody>
          <a:bodyPr/>
          <a:lstStyle/>
          <a:p>
            <a:r>
              <a:rPr lang="zh-CN" altLang="en-US" sz="2000" dirty="0" smtClean="0"/>
              <a:t>策略联动是一种对用户网络访问进行控制的解决方案。因此，需要首先完成以下配置任务：</a:t>
            </a:r>
            <a:endParaRPr lang="en-US" altLang="zh-CN" sz="2000" dirty="0" smtClean="0"/>
          </a:p>
          <a:p>
            <a:endParaRPr lang="zh-CN" altLang="en-US" sz="2000" dirty="0"/>
          </a:p>
        </p:txBody>
      </p:sp>
      <p:grpSp>
        <p:nvGrpSpPr>
          <p:cNvPr id="12" name="组合 11"/>
          <p:cNvGrpSpPr/>
          <p:nvPr/>
        </p:nvGrpSpPr>
        <p:grpSpPr>
          <a:xfrm>
            <a:off x="1614041" y="2338123"/>
            <a:ext cx="3313595" cy="896424"/>
            <a:chOff x="768403" y="2473436"/>
            <a:chExt cx="3313595" cy="896424"/>
          </a:xfrm>
        </p:grpSpPr>
        <p:sp>
          <p:nvSpPr>
            <p:cNvPr id="30" name="圆角矩形 29"/>
            <p:cNvSpPr/>
            <p:nvPr/>
          </p:nvSpPr>
          <p:spPr bwMode="gray">
            <a:xfrm>
              <a:off x="768403" y="2473436"/>
              <a:ext cx="3313595" cy="896424"/>
            </a:xfrm>
            <a:prstGeom prst="roundRect">
              <a:avLst>
                <a:gd name="adj" fmla="val 11173"/>
              </a:avLst>
            </a:prstGeom>
            <a:solidFill>
              <a:schemeClr val="bg1">
                <a:lumMod val="95000"/>
              </a:schemeClr>
            </a:solidFill>
            <a:ln w="12700" cap="flat" cmpd="sng" algn="ctr">
              <a:solidFill>
                <a:schemeClr val="bg1">
                  <a:lumMod val="75000"/>
                </a:schemeClr>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配置用户的接入认证方式</a:t>
              </a:r>
            </a:p>
          </p:txBody>
        </p:sp>
        <p:sp>
          <p:nvSpPr>
            <p:cNvPr id="9" name="圆角矩形 8"/>
            <p:cNvSpPr>
              <a:spLocks/>
            </p:cNvSpPr>
            <p:nvPr/>
          </p:nvSpPr>
          <p:spPr bwMode="gray">
            <a:xfrm>
              <a:off x="1236723" y="2882740"/>
              <a:ext cx="2344620" cy="362706"/>
            </a:xfrm>
            <a:prstGeom prst="round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kern="0" dirty="0">
                  <a:solidFill>
                    <a:srgbClr val="1D1D1A"/>
                  </a:solidFill>
                  <a:latin typeface="Huawei Sans" panose="020C0503030203020204" pitchFamily="34" charset="0"/>
                  <a:ea typeface="方正兰亭黑简体" panose="02000000000000000000" pitchFamily="2" charset="-122"/>
                </a:rPr>
                <a:t>802.1X</a:t>
              </a:r>
              <a:r>
                <a:rPr lang="zh-CN" altLang="en-US" sz="1400" kern="0" dirty="0">
                  <a:solidFill>
                    <a:srgbClr val="1D1D1A"/>
                  </a:solidFill>
                  <a:latin typeface="Huawei Sans" panose="020C0503030203020204" pitchFamily="34" charset="0"/>
                  <a:ea typeface="方正兰亭黑简体" panose="02000000000000000000" pitchFamily="2" charset="-122"/>
                </a:rPr>
                <a:t>、</a:t>
              </a:r>
              <a:r>
                <a:rPr lang="en-US" altLang="zh-CN" sz="1400" kern="0" dirty="0">
                  <a:solidFill>
                    <a:srgbClr val="1D1D1A"/>
                  </a:solidFill>
                  <a:latin typeface="Huawei Sans" panose="020C0503030203020204" pitchFamily="34" charset="0"/>
                  <a:ea typeface="方正兰亭黑简体" panose="02000000000000000000" pitchFamily="2" charset="-122"/>
                </a:rPr>
                <a:t>MAC</a:t>
              </a:r>
              <a:r>
                <a:rPr lang="zh-CN" altLang="en-US" sz="1400" kern="0" dirty="0">
                  <a:solidFill>
                    <a:srgbClr val="1D1D1A"/>
                  </a:solidFill>
                  <a:latin typeface="Huawei Sans" panose="020C0503030203020204" pitchFamily="34" charset="0"/>
                  <a:ea typeface="方正兰亭黑简体" panose="02000000000000000000" pitchFamily="2" charset="-122"/>
                </a:rPr>
                <a:t>或</a:t>
              </a:r>
              <a:r>
                <a:rPr lang="en-US" altLang="zh-CN" sz="1400" kern="0" dirty="0">
                  <a:solidFill>
                    <a:srgbClr val="1D1D1A"/>
                  </a:solidFill>
                  <a:latin typeface="Huawei Sans" panose="020C0503030203020204" pitchFamily="34" charset="0"/>
                  <a:ea typeface="方正兰亭黑简体" panose="02000000000000000000" pitchFamily="2" charset="-122"/>
                </a:rPr>
                <a:t>Portal</a:t>
              </a:r>
            </a:p>
          </p:txBody>
        </p:sp>
        <p:sp>
          <p:nvSpPr>
            <p:cNvPr id="34" name="Oval 4"/>
            <p:cNvSpPr>
              <a:spLocks noChangeAspect="1"/>
            </p:cNvSpPr>
            <p:nvPr/>
          </p:nvSpPr>
          <p:spPr bwMode="gray">
            <a:xfrm>
              <a:off x="896735" y="2508645"/>
              <a:ext cx="252000" cy="252000"/>
            </a:xfrm>
            <a:prstGeom prst="ellipse">
              <a:avLst/>
            </a:prstGeom>
            <a:solidFill>
              <a:schemeClr val="bg1">
                <a:lumMod val="65000"/>
              </a:schemeClr>
            </a:solidFill>
            <a:ln w="1270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a:ea typeface="方正兰亭黑简体"/>
                  <a:cs typeface="+mn-cs"/>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a:ea typeface="方正兰亭黑简体"/>
                <a:cs typeface="+mn-cs"/>
                <a:sym typeface="Huawei Sans" panose="020C0503030203020204" pitchFamily="34" charset="0"/>
              </a:endParaRPr>
            </a:p>
          </p:txBody>
        </p:sp>
      </p:grpSp>
      <p:grpSp>
        <p:nvGrpSpPr>
          <p:cNvPr id="11" name="组合 10"/>
          <p:cNvGrpSpPr/>
          <p:nvPr/>
        </p:nvGrpSpPr>
        <p:grpSpPr>
          <a:xfrm>
            <a:off x="1597873" y="3592407"/>
            <a:ext cx="3313595" cy="1783248"/>
            <a:chOff x="768403" y="4355892"/>
            <a:chExt cx="3313595" cy="1783248"/>
          </a:xfrm>
        </p:grpSpPr>
        <p:sp>
          <p:nvSpPr>
            <p:cNvPr id="26" name="圆角矩形 25"/>
            <p:cNvSpPr/>
            <p:nvPr/>
          </p:nvSpPr>
          <p:spPr bwMode="gray">
            <a:xfrm>
              <a:off x="768403" y="4355892"/>
              <a:ext cx="3313595" cy="1783248"/>
            </a:xfrm>
            <a:prstGeom prst="roundRect">
              <a:avLst>
                <a:gd name="adj" fmla="val 8112"/>
              </a:avLst>
            </a:prstGeom>
            <a:solidFill>
              <a:schemeClr val="bg1">
                <a:lumMod val="95000"/>
              </a:schemeClr>
            </a:solidFill>
            <a:ln w="12700" cap="flat" cmpd="sng" algn="ctr">
              <a:solidFill>
                <a:schemeClr val="bg1">
                  <a:lumMod val="75000"/>
                </a:schemeClr>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配置用户认证、授权、计费</a:t>
              </a:r>
            </a:p>
          </p:txBody>
        </p:sp>
        <p:sp>
          <p:nvSpPr>
            <p:cNvPr id="27" name="圆角矩形 26"/>
            <p:cNvSpPr>
              <a:spLocks/>
            </p:cNvSpPr>
            <p:nvPr/>
          </p:nvSpPr>
          <p:spPr bwMode="gray">
            <a:xfrm>
              <a:off x="1236723" y="4807309"/>
              <a:ext cx="2344619" cy="362706"/>
            </a:xfrm>
            <a:prstGeom prst="round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rPr>
                <a:t>认证方式</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28" name="圆角矩形 27"/>
            <p:cNvSpPr>
              <a:spLocks/>
            </p:cNvSpPr>
            <p:nvPr/>
          </p:nvSpPr>
          <p:spPr bwMode="gray">
            <a:xfrm>
              <a:off x="1236723" y="5322415"/>
              <a:ext cx="2344619" cy="362706"/>
            </a:xfrm>
            <a:prstGeom prst="roundRect">
              <a:avLst/>
            </a:prstGeom>
            <a:solidFill>
              <a:schemeClr val="bg1"/>
            </a:solidFill>
            <a:ln w="12700" cap="flat" cmpd="sng" algn="ctr">
              <a:solidFill>
                <a:schemeClr val="bg1">
                  <a:lumMod val="8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rPr>
                <a:t>用户授权</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29" name="文本框 28"/>
            <p:cNvSpPr txBox="1"/>
            <p:nvPr/>
          </p:nvSpPr>
          <p:spPr bwMode="gray">
            <a:xfrm>
              <a:off x="2229758" y="5615920"/>
              <a:ext cx="433132" cy="523220"/>
            </a:xfrm>
            <a:prstGeom prst="rect">
              <a:avLst/>
            </a:prstGeom>
            <a:noFill/>
          </p:spPr>
          <p:txBody>
            <a:bodyPr wrap="none" rtlCol="0">
              <a:spAutoFit/>
            </a:bodyPr>
            <a:lstStyle/>
            <a:p>
              <a:r>
                <a:rPr lang="en-US" altLang="zh-CN" sz="2800" dirty="0">
                  <a:latin typeface="Huawei Sans" panose="020C0503030203020204" pitchFamily="34" charset="0"/>
                  <a:ea typeface="方正兰亭黑简体" panose="02000000000000000000" pitchFamily="2" charset="-122"/>
                </a:rPr>
                <a:t>…</a:t>
              </a:r>
              <a:endParaRPr lang="zh-CN" altLang="en-US" sz="2800" dirty="0">
                <a:latin typeface="Huawei Sans" panose="020C0503030203020204" pitchFamily="34" charset="0"/>
                <a:ea typeface="方正兰亭黑简体" panose="02000000000000000000" pitchFamily="2" charset="-122"/>
              </a:endParaRPr>
            </a:p>
          </p:txBody>
        </p:sp>
        <p:sp>
          <p:nvSpPr>
            <p:cNvPr id="35" name="Oval 4"/>
            <p:cNvSpPr>
              <a:spLocks noChangeAspect="1"/>
            </p:cNvSpPr>
            <p:nvPr/>
          </p:nvSpPr>
          <p:spPr bwMode="gray">
            <a:xfrm>
              <a:off x="896735" y="4409084"/>
              <a:ext cx="252000" cy="252000"/>
            </a:xfrm>
            <a:prstGeom prst="ellipse">
              <a:avLst/>
            </a:prstGeom>
            <a:solidFill>
              <a:schemeClr val="bg1">
                <a:lumMod val="65000"/>
              </a:schemeClr>
            </a:solidFill>
            <a:ln w="1270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a:ea typeface="方正兰亭黑简体"/>
                  <a:cs typeface="+mn-cs"/>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a:ea typeface="方正兰亭黑简体"/>
                <a:cs typeface="+mn-cs"/>
                <a:sym typeface="Huawei Sans" panose="020C0503030203020204" pitchFamily="34" charset="0"/>
              </a:endParaRPr>
            </a:p>
          </p:txBody>
        </p:sp>
      </p:grpSp>
      <p:grpSp>
        <p:nvGrpSpPr>
          <p:cNvPr id="7" name="组合 6"/>
          <p:cNvGrpSpPr/>
          <p:nvPr/>
        </p:nvGrpSpPr>
        <p:grpSpPr>
          <a:xfrm>
            <a:off x="7089035" y="2037420"/>
            <a:ext cx="3313595" cy="1377653"/>
            <a:chOff x="4550318" y="1144207"/>
            <a:chExt cx="3313595" cy="1377653"/>
          </a:xfrm>
        </p:grpSpPr>
        <p:sp>
          <p:nvSpPr>
            <p:cNvPr id="47" name="圆角矩形 46"/>
            <p:cNvSpPr/>
            <p:nvPr/>
          </p:nvSpPr>
          <p:spPr bwMode="gray">
            <a:xfrm>
              <a:off x="4550318" y="1144207"/>
              <a:ext cx="3313595" cy="1377653"/>
            </a:xfrm>
            <a:prstGeom prst="roundRect">
              <a:avLst>
                <a:gd name="adj" fmla="val 11173"/>
              </a:avLst>
            </a:prstGeom>
            <a:solidFill>
              <a:srgbClr val="F5FCFD"/>
            </a:solidFill>
            <a:ln w="12700" cap="flat" cmpd="sng" algn="ctr">
              <a:solidFill>
                <a:srgbClr val="BEE9EE"/>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zh-CN" altLang="en-US" sz="1600"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配置接入设备</a:t>
              </a:r>
              <a:endPar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圆角矩形 47"/>
            <p:cNvSpPr>
              <a:spLocks/>
            </p:cNvSpPr>
            <p:nvPr/>
          </p:nvSpPr>
          <p:spPr bwMode="gray">
            <a:xfrm>
              <a:off x="5018638" y="1595624"/>
              <a:ext cx="234461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smtClean="0">
                  <a:solidFill>
                    <a:srgbClr val="1D1D1A"/>
                  </a:solidFill>
                  <a:latin typeface="Huawei Sans" panose="020C0503030203020204" pitchFamily="34" charset="0"/>
                  <a:ea typeface="方正兰亭黑简体" panose="02000000000000000000" pitchFamily="2" charset="-122"/>
                </a:rPr>
                <a:t>建立</a:t>
              </a:r>
              <a:r>
                <a:rPr lang="en-US" altLang="zh-CN" sz="1400" kern="0" dirty="0" smtClean="0">
                  <a:solidFill>
                    <a:srgbClr val="1D1D1A"/>
                  </a:solidFill>
                  <a:latin typeface="Huawei Sans" panose="020C0503030203020204" pitchFamily="34" charset="0"/>
                  <a:ea typeface="方正兰亭黑简体" panose="02000000000000000000" pitchFamily="2" charset="-122"/>
                </a:rPr>
                <a:t>CAPWAP</a:t>
              </a:r>
              <a:r>
                <a:rPr lang="zh-CN" altLang="en-US" sz="1400" kern="0" dirty="0" smtClean="0">
                  <a:solidFill>
                    <a:srgbClr val="1D1D1A"/>
                  </a:solidFill>
                  <a:latin typeface="Huawei Sans" panose="020C0503030203020204" pitchFamily="34" charset="0"/>
                  <a:ea typeface="方正兰亭黑简体" panose="02000000000000000000" pitchFamily="2" charset="-122"/>
                </a:rPr>
                <a:t>隧道</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49" name="圆角矩形 48"/>
            <p:cNvSpPr>
              <a:spLocks/>
            </p:cNvSpPr>
            <p:nvPr/>
          </p:nvSpPr>
          <p:spPr bwMode="gray">
            <a:xfrm>
              <a:off x="5018638" y="2042490"/>
              <a:ext cx="234461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smtClean="0">
                  <a:solidFill>
                    <a:srgbClr val="1D1D1A"/>
                  </a:solidFill>
                  <a:latin typeface="Huawei Sans" panose="020C0503030203020204" pitchFamily="34" charset="0"/>
                  <a:ea typeface="方正兰亭黑简体" panose="02000000000000000000" pitchFamily="2" charset="-122"/>
                </a:rPr>
                <a:t>配置接口作为接入点</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grpSp>
      <p:grpSp>
        <p:nvGrpSpPr>
          <p:cNvPr id="10" name="组合 9"/>
          <p:cNvGrpSpPr/>
          <p:nvPr/>
        </p:nvGrpSpPr>
        <p:grpSpPr>
          <a:xfrm>
            <a:off x="7105204" y="3592407"/>
            <a:ext cx="3313595" cy="2536775"/>
            <a:chOff x="8124635" y="1144207"/>
            <a:chExt cx="3313595" cy="2536775"/>
          </a:xfrm>
        </p:grpSpPr>
        <p:sp>
          <p:nvSpPr>
            <p:cNvPr id="53" name="圆角矩形 52"/>
            <p:cNvSpPr/>
            <p:nvPr/>
          </p:nvSpPr>
          <p:spPr bwMode="gray">
            <a:xfrm>
              <a:off x="8124635" y="1144207"/>
              <a:ext cx="3313595" cy="2536775"/>
            </a:xfrm>
            <a:prstGeom prst="roundRect">
              <a:avLst>
                <a:gd name="adj" fmla="val 5301"/>
              </a:avLst>
            </a:prstGeom>
            <a:solidFill>
              <a:srgbClr val="F5FCFD"/>
            </a:solidFill>
            <a:ln w="12700" cap="flat" cmpd="sng" algn="ctr">
              <a:solidFill>
                <a:srgbClr val="BEE9EE"/>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zh-CN" altLang="en-US" sz="1600"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控制</a:t>
              </a:r>
              <a:r>
                <a:rPr lang="zh-CN" altLang="en-US" sz="1600"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设备</a:t>
              </a:r>
              <a:endPar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圆角矩形 53"/>
            <p:cNvSpPr>
              <a:spLocks/>
            </p:cNvSpPr>
            <p:nvPr/>
          </p:nvSpPr>
          <p:spPr bwMode="gray">
            <a:xfrm>
              <a:off x="8592955" y="1595625"/>
              <a:ext cx="234461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smtClean="0">
                  <a:solidFill>
                    <a:srgbClr val="1D1D1A"/>
                  </a:solidFill>
                  <a:latin typeface="Huawei Sans" panose="020C0503030203020204" pitchFamily="34" charset="0"/>
                  <a:ea typeface="方正兰亭黑简体" panose="02000000000000000000" pitchFamily="2" charset="-122"/>
                </a:rPr>
                <a:t>建立</a:t>
              </a:r>
              <a:r>
                <a:rPr lang="en-US" altLang="zh-CN" sz="1400" kern="0" dirty="0" smtClean="0">
                  <a:solidFill>
                    <a:srgbClr val="1D1D1A"/>
                  </a:solidFill>
                  <a:latin typeface="Huawei Sans" panose="020C0503030203020204" pitchFamily="34" charset="0"/>
                  <a:ea typeface="方正兰亭黑简体" panose="02000000000000000000" pitchFamily="2" charset="-122"/>
                </a:rPr>
                <a:t>CAPWAP</a:t>
              </a:r>
              <a:r>
                <a:rPr lang="zh-CN" altLang="en-US" sz="1400" kern="0" dirty="0" smtClean="0">
                  <a:solidFill>
                    <a:srgbClr val="1D1D1A"/>
                  </a:solidFill>
                  <a:latin typeface="Huawei Sans" panose="020C0503030203020204" pitchFamily="34" charset="0"/>
                  <a:ea typeface="方正兰亭黑简体" panose="02000000000000000000" pitchFamily="2" charset="-122"/>
                </a:rPr>
                <a:t>隧道</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55" name="圆角矩形 54"/>
            <p:cNvSpPr>
              <a:spLocks/>
            </p:cNvSpPr>
            <p:nvPr/>
          </p:nvSpPr>
          <p:spPr bwMode="gray">
            <a:xfrm>
              <a:off x="8592955" y="2110731"/>
              <a:ext cx="234461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smtClean="0">
                  <a:solidFill>
                    <a:srgbClr val="1D1D1A"/>
                  </a:solidFill>
                  <a:latin typeface="Huawei Sans" panose="020C0503030203020204" pitchFamily="34" charset="0"/>
                  <a:ea typeface="方正兰亭黑简体" panose="02000000000000000000" pitchFamily="2" charset="-122"/>
                </a:rPr>
                <a:t>配置接口作为控制点</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72" name="圆角矩形 71"/>
            <p:cNvSpPr>
              <a:spLocks/>
            </p:cNvSpPr>
            <p:nvPr/>
          </p:nvSpPr>
          <p:spPr bwMode="gray">
            <a:xfrm>
              <a:off x="8592955" y="2625837"/>
              <a:ext cx="234461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smtClean="0">
                  <a:solidFill>
                    <a:srgbClr val="1D1D1A"/>
                  </a:solidFill>
                  <a:latin typeface="Huawei Sans" panose="020C0503030203020204" pitchFamily="34" charset="0"/>
                  <a:ea typeface="方正兰亭黑简体" panose="02000000000000000000" pitchFamily="2" charset="-122"/>
                </a:rPr>
                <a:t>配置接入设备接入认证</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sp>
          <p:nvSpPr>
            <p:cNvPr id="73" name="圆角矩形 72"/>
            <p:cNvSpPr>
              <a:spLocks/>
            </p:cNvSpPr>
            <p:nvPr/>
          </p:nvSpPr>
          <p:spPr bwMode="gray">
            <a:xfrm>
              <a:off x="8592955" y="3140943"/>
              <a:ext cx="2344619" cy="362706"/>
            </a:xfrm>
            <a:prstGeom prst="roundRect">
              <a:avLst/>
            </a:prstGeom>
            <a:solidFill>
              <a:schemeClr val="bg1"/>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smtClean="0">
                  <a:solidFill>
                    <a:srgbClr val="1D1D1A"/>
                  </a:solidFill>
                  <a:latin typeface="Huawei Sans" panose="020C0503030203020204" pitchFamily="34" charset="0"/>
                  <a:ea typeface="方正兰亭黑简体" panose="02000000000000000000" pitchFamily="2" charset="-122"/>
                </a:rPr>
                <a:t>配置用户授权信息</a:t>
              </a:r>
              <a:endParaRPr lang="en-US" altLang="zh-CN" sz="1400" kern="0" dirty="0">
                <a:solidFill>
                  <a:srgbClr val="1D1D1A"/>
                </a:solidFill>
                <a:latin typeface="Huawei Sans" panose="020C0503030203020204" pitchFamily="34" charset="0"/>
                <a:ea typeface="方正兰亭黑简体" panose="02000000000000000000" pitchFamily="2" charset="-122"/>
              </a:endParaRPr>
            </a:p>
          </p:txBody>
        </p:sp>
      </p:grpSp>
      <p:sp>
        <p:nvSpPr>
          <p:cNvPr id="33" name="文本占位符 5"/>
          <p:cNvSpPr txBox="1">
            <a:spLocks/>
          </p:cNvSpPr>
          <p:nvPr/>
        </p:nvSpPr>
        <p:spPr bwMode="auto">
          <a:xfrm>
            <a:off x="6096000" y="1047750"/>
            <a:ext cx="5616575" cy="94324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2000" dirty="0"/>
              <a:t>策略联动功能需要在接入设备和控制设备上同时配置，配置无先后顺序</a:t>
            </a:r>
            <a:r>
              <a:rPr lang="zh-CN" altLang="en-US" sz="2000" dirty="0" smtClean="0"/>
              <a:t>。</a:t>
            </a:r>
          </a:p>
        </p:txBody>
      </p:sp>
    </p:spTree>
    <p:extLst>
      <p:ext uri="{BB962C8B-B14F-4D97-AF65-F5344CB8AC3E}">
        <p14:creationId xmlns:p14="http://schemas.microsoft.com/office/powerpoint/2010/main" val="177773061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策略联动配置 </a:t>
            </a:r>
            <a:r>
              <a:rPr lang="en-US" altLang="zh-CN" dirty="0"/>
              <a:t>-</a:t>
            </a:r>
            <a:r>
              <a:rPr lang="en-US" altLang="zh-CN" dirty="0" smtClean="0"/>
              <a:t> </a:t>
            </a:r>
            <a:r>
              <a:rPr lang="zh-CN" altLang="en-US" dirty="0" smtClean="0"/>
              <a:t>配置接入设备</a:t>
            </a:r>
            <a:endParaRPr lang="zh-CN" altLang="en-US" dirty="0"/>
          </a:p>
        </p:txBody>
      </p:sp>
      <p:sp>
        <p:nvSpPr>
          <p:cNvPr id="4" name="矩形 3">
            <a:extLst>
              <a:ext uri="{FF2B5EF4-FFF2-40B4-BE49-F238E27FC236}">
                <a16:creationId xmlns:a16="http://schemas.microsoft.com/office/drawing/2014/main" xmlns="" id="{4155CF1B-D6D5-4CBC-A7C4-3539BA1D8C49}"/>
              </a:ext>
            </a:extLst>
          </p:cNvPr>
          <p:cNvSpPr/>
          <p:nvPr/>
        </p:nvSpPr>
        <p:spPr>
          <a:xfrm>
            <a:off x="900000" y="1572609"/>
            <a:ext cx="10812574"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as access interface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vlanif</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p>
        </p:txBody>
      </p:sp>
      <p:sp>
        <p:nvSpPr>
          <p:cNvPr id="5" name="矩形 4">
            <a:extLst>
              <a:ext uri="{FF2B5EF4-FFF2-40B4-BE49-F238E27FC236}">
                <a16:creationId xmlns:a16="http://schemas.microsoft.com/office/drawing/2014/main" xmlns="" id="{44C4E0BA-5C90-4FB6-BCA6-99B663B19FA8}"/>
              </a:ext>
            </a:extLst>
          </p:cNvPr>
          <p:cNvSpPr/>
          <p:nvPr/>
        </p:nvSpPr>
        <p:spPr>
          <a:xfrm>
            <a:off x="455614" y="1140462"/>
            <a:ext cx="11004550" cy="338554"/>
          </a:xfrm>
          <a:prstGeom prst="rect">
            <a:avLst/>
          </a:prstGeom>
        </p:spPr>
        <p:txBody>
          <a:bodyPr wrap="square">
            <a:spAutoFit/>
          </a:bodyPr>
          <a:lstStyle/>
          <a:p>
            <a:pPr marL="342900" indent="-342900" fontAlgn="auto">
              <a:buFont typeface="+mj-lt"/>
              <a:buAutoNum type="arabicPeriod"/>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建立</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CAPWAP</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隧道。</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a:extLst>
              <a:ext uri="{FF2B5EF4-FFF2-40B4-BE49-F238E27FC236}">
                <a16:creationId xmlns:a16="http://schemas.microsoft.com/office/drawing/2014/main" xmlns="" id="{2683E34D-F948-4861-A2DA-5897E9554D17}"/>
              </a:ext>
            </a:extLst>
          </p:cNvPr>
          <p:cNvSpPr/>
          <p:nvPr/>
        </p:nvSpPr>
        <p:spPr>
          <a:xfrm>
            <a:off x="900000" y="1925254"/>
            <a:ext cx="10832293"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在接入设备上指定建立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CAPWAP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隧道的源接口。</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a:extLst>
              <a:ext uri="{FF2B5EF4-FFF2-40B4-BE49-F238E27FC236}">
                <a16:creationId xmlns:a16="http://schemas.microsoft.com/office/drawing/2014/main" xmlns="" id="{4155CF1B-D6D5-4CBC-A7C4-3539BA1D8C49}"/>
              </a:ext>
            </a:extLst>
          </p:cNvPr>
          <p:cNvSpPr/>
          <p:nvPr/>
        </p:nvSpPr>
        <p:spPr>
          <a:xfrm>
            <a:off x="900000" y="3795555"/>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authentication access-point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open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a:extLst>
              <a:ext uri="{FF2B5EF4-FFF2-40B4-BE49-F238E27FC236}">
                <a16:creationId xmlns:a16="http://schemas.microsoft.com/office/drawing/2014/main" xmlns="" id="{44C4E0BA-5C90-4FB6-BCA6-99B663B19FA8}"/>
              </a:ext>
            </a:extLst>
          </p:cNvPr>
          <p:cNvSpPr/>
          <p:nvPr/>
        </p:nvSpPr>
        <p:spPr>
          <a:xfrm>
            <a:off x="455613" y="3363408"/>
            <a:ext cx="11004551" cy="338554"/>
          </a:xfrm>
          <a:prstGeom prst="rect">
            <a:avLst/>
          </a:prstGeom>
        </p:spPr>
        <p:txBody>
          <a:bodyPr wrap="square">
            <a:spAutoFit/>
          </a:bodyPr>
          <a:lstStyle/>
          <a:p>
            <a:pPr marL="342900" indent="-342900" fontAlgn="auto">
              <a:buFont typeface="+mj-lt"/>
              <a:buAutoNum type="arabicPeriod" startAt="2"/>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配置接口作为接入点（认证执行点）。</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a:extLst>
              <a:ext uri="{FF2B5EF4-FFF2-40B4-BE49-F238E27FC236}">
                <a16:creationId xmlns:a16="http://schemas.microsoft.com/office/drawing/2014/main" xmlns="" id="{2683E34D-F948-4861-A2DA-5897E9554D17}"/>
              </a:ext>
            </a:extLst>
          </p:cNvPr>
          <p:cNvSpPr/>
          <p:nvPr/>
        </p:nvSpPr>
        <p:spPr>
          <a:xfrm>
            <a:off x="900000" y="4135862"/>
            <a:ext cx="10812575"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在接入设备的接口下使能远程接入控制功能</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6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open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：关闭接入点的权限控制功能</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a:extLst>
              <a:ext uri="{FF2B5EF4-FFF2-40B4-BE49-F238E27FC236}">
                <a16:creationId xmlns:a16="http://schemas.microsoft.com/office/drawing/2014/main" xmlns="" id="{4155CF1B-D6D5-4CBC-A7C4-3539BA1D8C49}"/>
              </a:ext>
            </a:extLst>
          </p:cNvPr>
          <p:cNvSpPr/>
          <p:nvPr/>
        </p:nvSpPr>
        <p:spPr>
          <a:xfrm>
            <a:off x="900000" y="2432701"/>
            <a:ext cx="10812574"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as access controller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-address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-address</a:t>
            </a:r>
          </a:p>
        </p:txBody>
      </p:sp>
      <p:sp>
        <p:nvSpPr>
          <p:cNvPr id="12" name="矩形 11">
            <a:extLst>
              <a:ext uri="{FF2B5EF4-FFF2-40B4-BE49-F238E27FC236}">
                <a16:creationId xmlns:a16="http://schemas.microsoft.com/office/drawing/2014/main" xmlns="" id="{2683E34D-F948-4861-A2DA-5897E9554D17}"/>
              </a:ext>
            </a:extLst>
          </p:cNvPr>
          <p:cNvSpPr/>
          <p:nvPr/>
        </p:nvSpPr>
        <p:spPr>
          <a:xfrm>
            <a:off x="900000" y="2785346"/>
            <a:ext cx="10832293"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在接入设备上指定控制设备的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20710124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策略联动配置 </a:t>
            </a:r>
            <a:r>
              <a:rPr lang="en-US" altLang="zh-CN" dirty="0"/>
              <a:t>-</a:t>
            </a:r>
            <a:r>
              <a:rPr lang="en-US" altLang="zh-CN" dirty="0" smtClean="0"/>
              <a:t> </a:t>
            </a:r>
            <a:r>
              <a:rPr lang="zh-CN" altLang="en-US" dirty="0" smtClean="0"/>
              <a:t>配置控制设备 </a:t>
            </a:r>
            <a:r>
              <a:rPr lang="en-US" altLang="zh-CN" dirty="0" smtClean="0"/>
              <a:t>(1)</a:t>
            </a:r>
            <a:endParaRPr lang="zh-CN" altLang="en-US" dirty="0"/>
          </a:p>
        </p:txBody>
      </p:sp>
      <p:sp>
        <p:nvSpPr>
          <p:cNvPr id="4" name="矩形 3">
            <a:extLst>
              <a:ext uri="{FF2B5EF4-FFF2-40B4-BE49-F238E27FC236}">
                <a16:creationId xmlns:a16="http://schemas.microsoft.com/office/drawing/2014/main" xmlns="" id="{4155CF1B-D6D5-4CBC-A7C4-3539BA1D8C49}"/>
              </a:ext>
            </a:extLst>
          </p:cNvPr>
          <p:cNvSpPr/>
          <p:nvPr/>
        </p:nvSpPr>
        <p:spPr>
          <a:xfrm>
            <a:off x="900000" y="1572609"/>
            <a:ext cx="10812574"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capwap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source interface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loopback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loopback-number</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vlanif</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a:extLst>
              <a:ext uri="{FF2B5EF4-FFF2-40B4-BE49-F238E27FC236}">
                <a16:creationId xmlns:a16="http://schemas.microsoft.com/office/drawing/2014/main" xmlns="" id="{44C4E0BA-5C90-4FB6-BCA6-99B663B19FA8}"/>
              </a:ext>
            </a:extLst>
          </p:cNvPr>
          <p:cNvSpPr/>
          <p:nvPr/>
        </p:nvSpPr>
        <p:spPr>
          <a:xfrm>
            <a:off x="442914" y="1140462"/>
            <a:ext cx="11017250" cy="338554"/>
          </a:xfrm>
          <a:prstGeom prst="rect">
            <a:avLst/>
          </a:prstGeom>
        </p:spPr>
        <p:txBody>
          <a:bodyPr wrap="square">
            <a:spAutoFit/>
          </a:bodyPr>
          <a:lstStyle/>
          <a:p>
            <a:pPr marL="342900" indent="-342900" fontAlgn="auto">
              <a:buFont typeface="+mj-lt"/>
              <a:buAutoNum type="arabicPeriod"/>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建立</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CAPWAP</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隧道。</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a:extLst>
              <a:ext uri="{FF2B5EF4-FFF2-40B4-BE49-F238E27FC236}">
                <a16:creationId xmlns:a16="http://schemas.microsoft.com/office/drawing/2014/main" xmlns="" id="{2683E34D-F948-4861-A2DA-5897E9554D17}"/>
              </a:ext>
            </a:extLst>
          </p:cNvPr>
          <p:cNvSpPr/>
          <p:nvPr/>
        </p:nvSpPr>
        <p:spPr>
          <a:xfrm>
            <a:off x="900000" y="1925254"/>
            <a:ext cx="10832293" cy="400110"/>
          </a:xfrm>
          <a:prstGeom prst="rect">
            <a:avLst/>
          </a:prstGeom>
        </p:spPr>
        <p:txBody>
          <a:bodyPr wrap="square">
            <a:spAutoFit/>
          </a:bodyPr>
          <a:lstStyle/>
          <a:p>
            <a:pPr fontAlgn="auto">
              <a:lnSpc>
                <a:spcPts val="2400"/>
              </a:lnSpc>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在控制设备</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上指定建立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CAPWAP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隧道的源</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接口。</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a:extLst>
              <a:ext uri="{FF2B5EF4-FFF2-40B4-BE49-F238E27FC236}">
                <a16:creationId xmlns:a16="http://schemas.microsoft.com/office/drawing/2014/main" xmlns="" id="{4155CF1B-D6D5-4CBC-A7C4-3539BA1D8C49}"/>
              </a:ext>
            </a:extLst>
          </p:cNvPr>
          <p:cNvSpPr/>
          <p:nvPr/>
        </p:nvSpPr>
        <p:spPr>
          <a:xfrm>
            <a:off x="900000" y="2906912"/>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authentication control-</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poin</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open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a:extLst>
              <a:ext uri="{FF2B5EF4-FFF2-40B4-BE49-F238E27FC236}">
                <a16:creationId xmlns:a16="http://schemas.microsoft.com/office/drawing/2014/main" xmlns="" id="{44C4E0BA-5C90-4FB6-BCA6-99B663B19FA8}"/>
              </a:ext>
            </a:extLst>
          </p:cNvPr>
          <p:cNvSpPr/>
          <p:nvPr/>
        </p:nvSpPr>
        <p:spPr>
          <a:xfrm>
            <a:off x="442913" y="2474765"/>
            <a:ext cx="11017251" cy="338554"/>
          </a:xfrm>
          <a:prstGeom prst="rect">
            <a:avLst/>
          </a:prstGeom>
        </p:spPr>
        <p:txBody>
          <a:bodyPr wrap="square">
            <a:spAutoFit/>
          </a:bodyPr>
          <a:lstStyle/>
          <a:p>
            <a:pPr marL="342900" indent="-342900" fontAlgn="auto">
              <a:buFont typeface="+mj-lt"/>
              <a:buAutoNum type="arabicPeriod" startAt="2"/>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配置接口作为控制点（认证控制点）。</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a:extLst>
              <a:ext uri="{FF2B5EF4-FFF2-40B4-BE49-F238E27FC236}">
                <a16:creationId xmlns:a16="http://schemas.microsoft.com/office/drawing/2014/main" xmlns="" id="{2683E34D-F948-4861-A2DA-5897E9554D17}"/>
              </a:ext>
            </a:extLst>
          </p:cNvPr>
          <p:cNvSpPr/>
          <p:nvPr/>
        </p:nvSpPr>
        <p:spPr>
          <a:xfrm>
            <a:off x="900000" y="3247219"/>
            <a:ext cx="10812575" cy="707886"/>
          </a:xfrm>
          <a:prstGeom prst="rect">
            <a:avLst/>
          </a:prstGeom>
        </p:spPr>
        <p:txBody>
          <a:bodyPr wrap="square">
            <a:spAutoFit/>
          </a:bodyPr>
          <a:lstStyle/>
          <a:p>
            <a:pPr fontAlgn="auto">
              <a:lnSpc>
                <a:spcPts val="2400"/>
              </a:lnSpc>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控制</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设备</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的接口下配置接口作为控制点</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6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open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：打开控制点的转发功能。</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xmlns="" id="{44C4E0BA-5C90-4FB6-BCA6-99B663B19FA8}"/>
              </a:ext>
            </a:extLst>
          </p:cNvPr>
          <p:cNvSpPr/>
          <p:nvPr/>
        </p:nvSpPr>
        <p:spPr>
          <a:xfrm>
            <a:off x="442913" y="4118159"/>
            <a:ext cx="11017251" cy="338554"/>
          </a:xfrm>
          <a:prstGeom prst="rect">
            <a:avLst/>
          </a:prstGeom>
        </p:spPr>
        <p:txBody>
          <a:bodyPr wrap="square">
            <a:spAutoFit/>
          </a:bodyPr>
          <a:lstStyle/>
          <a:p>
            <a:pPr marL="342900" indent="-342900" fontAlgn="auto">
              <a:buFont typeface="+mj-lt"/>
              <a:buAutoNum type="arabicPeriod" startAt="3"/>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配置接入设备接入认证。</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a:extLst>
              <a:ext uri="{FF2B5EF4-FFF2-40B4-BE49-F238E27FC236}">
                <a16:creationId xmlns:a16="http://schemas.microsoft.com/office/drawing/2014/main" xmlns="" id="{4155CF1B-D6D5-4CBC-A7C4-3539BA1D8C49}"/>
              </a:ext>
            </a:extLst>
          </p:cNvPr>
          <p:cNvSpPr/>
          <p:nvPr/>
        </p:nvSpPr>
        <p:spPr>
          <a:xfrm>
            <a:off x="900000" y="4550306"/>
            <a:ext cx="10812574"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as-</a:t>
            </a:r>
            <a:r>
              <a:rPr lang="en-US" altLang="zh-CN" sz="1600" b="1" dirty="0" err="1"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a:t>
            </a:r>
            <a:endPar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a:extLst>
              <a:ext uri="{FF2B5EF4-FFF2-40B4-BE49-F238E27FC236}">
                <a16:creationId xmlns:a16="http://schemas.microsoft.com/office/drawing/2014/main" xmlns="" id="{2683E34D-F948-4861-A2DA-5897E9554D17}"/>
              </a:ext>
            </a:extLst>
          </p:cNvPr>
          <p:cNvSpPr/>
          <p:nvPr/>
        </p:nvSpPr>
        <p:spPr>
          <a:xfrm>
            <a:off x="900000" y="4888860"/>
            <a:ext cx="10812575" cy="400110"/>
          </a:xfrm>
          <a:prstGeom prst="rect">
            <a:avLst/>
          </a:prstGeom>
        </p:spPr>
        <p:txBody>
          <a:bodyPr wrap="square">
            <a:spAutoFit/>
          </a:bodyPr>
          <a:lstStyle/>
          <a:p>
            <a:pPr fontAlgn="auto">
              <a:lnSpc>
                <a:spcPts val="2400"/>
              </a:lnSpc>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进入接入设备认证视图。</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a:extLst>
              <a:ext uri="{FF2B5EF4-FFF2-40B4-BE49-F238E27FC236}">
                <a16:creationId xmlns:a16="http://schemas.microsoft.com/office/drawing/2014/main" xmlns="" id="{4155CF1B-D6D5-4CBC-A7C4-3539BA1D8C49}"/>
              </a:ext>
            </a:extLst>
          </p:cNvPr>
          <p:cNvSpPr/>
          <p:nvPr/>
        </p:nvSpPr>
        <p:spPr>
          <a:xfrm>
            <a:off x="900000" y="5373558"/>
            <a:ext cx="10812574"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Huawei-as-</a:t>
            </a:r>
            <a:r>
              <a:rPr lang="en-US" altLang="zh-CN" sz="1600" dirty="0" err="1"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auth</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-mode none</a:t>
            </a:r>
            <a:endParaRPr lang="en-US" altLang="zh-CN" sz="1600" b="1"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a:extLst>
              <a:ext uri="{FF2B5EF4-FFF2-40B4-BE49-F238E27FC236}">
                <a16:creationId xmlns:a16="http://schemas.microsoft.com/office/drawing/2014/main" xmlns="" id="{2683E34D-F948-4861-A2DA-5897E9554D17}"/>
              </a:ext>
            </a:extLst>
          </p:cNvPr>
          <p:cNvSpPr/>
          <p:nvPr/>
        </p:nvSpPr>
        <p:spPr>
          <a:xfrm>
            <a:off x="900000" y="5704643"/>
            <a:ext cx="10812575" cy="400110"/>
          </a:xfrm>
          <a:prstGeom prst="rect">
            <a:avLst/>
          </a:prstGeom>
        </p:spPr>
        <p:txBody>
          <a:bodyPr wrap="square">
            <a:spAutoFit/>
          </a:bodyPr>
          <a:lstStyle/>
          <a:p>
            <a:pPr fontAlgn="auto">
              <a:lnSpc>
                <a:spcPts val="2400"/>
              </a:lnSpc>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配置接入设备接入不认证。</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162133544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策略联动配置 </a:t>
            </a:r>
            <a:r>
              <a:rPr lang="en-US" altLang="zh-CN" dirty="0"/>
              <a:t>-</a:t>
            </a:r>
            <a:r>
              <a:rPr lang="en-US" altLang="zh-CN" dirty="0" smtClean="0"/>
              <a:t> </a:t>
            </a:r>
            <a:r>
              <a:rPr lang="zh-CN" altLang="en-US" dirty="0" smtClean="0"/>
              <a:t>配置控制设备 </a:t>
            </a:r>
            <a:r>
              <a:rPr lang="en-US" altLang="zh-CN" dirty="0" smtClean="0"/>
              <a:t>(2)</a:t>
            </a:r>
            <a:endParaRPr lang="zh-CN" altLang="en-US" dirty="0"/>
          </a:p>
        </p:txBody>
      </p:sp>
      <p:sp>
        <p:nvSpPr>
          <p:cNvPr id="4" name="矩形 3">
            <a:extLst>
              <a:ext uri="{FF2B5EF4-FFF2-40B4-BE49-F238E27FC236}">
                <a16:creationId xmlns:a16="http://schemas.microsoft.com/office/drawing/2014/main" xmlns="" id="{4155CF1B-D6D5-4CBC-A7C4-3539BA1D8C49}"/>
              </a:ext>
            </a:extLst>
          </p:cNvPr>
          <p:cNvSpPr/>
          <p:nvPr/>
        </p:nvSpPr>
        <p:spPr>
          <a:xfrm>
            <a:off x="899999" y="1572609"/>
            <a:ext cx="10812573"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[Huawei-aaa] </a:t>
            </a:r>
            <a:r>
              <a:rPr lang="en-US" altLang="zh-CN" sz="1600" b="1" dirty="0"/>
              <a:t>service-scheme</a:t>
            </a:r>
            <a:r>
              <a:rPr lang="en-US" altLang="zh-CN" sz="1600" dirty="0"/>
              <a:t> </a:t>
            </a:r>
            <a:r>
              <a:rPr lang="en-US" altLang="zh-CN" sz="1600" i="1" dirty="0"/>
              <a:t>service-scheme-name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a:extLst>
              <a:ext uri="{FF2B5EF4-FFF2-40B4-BE49-F238E27FC236}">
                <a16:creationId xmlns:a16="http://schemas.microsoft.com/office/drawing/2014/main" xmlns="" id="{44C4E0BA-5C90-4FB6-BCA6-99B663B19FA8}"/>
              </a:ext>
            </a:extLst>
          </p:cNvPr>
          <p:cNvSpPr/>
          <p:nvPr/>
        </p:nvSpPr>
        <p:spPr>
          <a:xfrm>
            <a:off x="442913" y="1140462"/>
            <a:ext cx="11269661"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配置下发到控制设备和接入设备的用户授权</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信息。</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a:extLst>
              <a:ext uri="{FF2B5EF4-FFF2-40B4-BE49-F238E27FC236}">
                <a16:creationId xmlns:a16="http://schemas.microsoft.com/office/drawing/2014/main" xmlns="" id="{2683E34D-F948-4861-A2DA-5897E9554D17}"/>
              </a:ext>
            </a:extLst>
          </p:cNvPr>
          <p:cNvSpPr/>
          <p:nvPr/>
        </p:nvSpPr>
        <p:spPr>
          <a:xfrm>
            <a:off x="900000" y="1925254"/>
            <a:ext cx="10832292"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创建一个业务方案，并进入业务方案视图。</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a:extLst>
              <a:ext uri="{FF2B5EF4-FFF2-40B4-BE49-F238E27FC236}">
                <a16:creationId xmlns:a16="http://schemas.microsoft.com/office/drawing/2014/main" xmlns="" id="{4155CF1B-D6D5-4CBC-A7C4-3539BA1D8C49}"/>
              </a:ext>
            </a:extLst>
          </p:cNvPr>
          <p:cNvSpPr/>
          <p:nvPr/>
        </p:nvSpPr>
        <p:spPr>
          <a:xfrm>
            <a:off x="900000" y="2410670"/>
            <a:ext cx="10812574"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Huawei-aaa-service-</a:t>
            </a:r>
            <a:r>
              <a:rPr lang="en-US" altLang="zh-CN" sz="1600" dirty="0" err="1"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t>remote-authorize</a:t>
            </a:r>
            <a:r>
              <a:rPr lang="en-US" altLang="zh-CN" sz="1600" dirty="0"/>
              <a:t> { </a:t>
            </a:r>
            <a:r>
              <a:rPr lang="en-US" altLang="zh-CN" sz="1600" b="1" dirty="0"/>
              <a:t>acl</a:t>
            </a:r>
            <a:r>
              <a:rPr lang="en-US" altLang="zh-CN" sz="1600" dirty="0"/>
              <a:t> | </a:t>
            </a:r>
            <a:r>
              <a:rPr lang="en-US" altLang="zh-CN" sz="1600" b="1" dirty="0"/>
              <a:t>car</a:t>
            </a:r>
            <a:r>
              <a:rPr lang="en-US" altLang="zh-CN" sz="1600" dirty="0"/>
              <a:t> | </a:t>
            </a:r>
            <a:r>
              <a:rPr lang="en-US" altLang="zh-CN" sz="1600" b="1" dirty="0" err="1"/>
              <a:t>ucl</a:t>
            </a:r>
            <a:r>
              <a:rPr lang="en-US" altLang="zh-CN" sz="1600" b="1" dirty="0"/>
              <a:t>-group</a:t>
            </a:r>
            <a:r>
              <a:rPr lang="en-US" altLang="zh-CN" sz="1600" dirty="0"/>
              <a:t> }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矩形 18">
            <a:extLst>
              <a:ext uri="{FF2B5EF4-FFF2-40B4-BE49-F238E27FC236}">
                <a16:creationId xmlns:a16="http://schemas.microsoft.com/office/drawing/2014/main" xmlns="" id="{2683E34D-F948-4861-A2DA-5897E9554D17}"/>
              </a:ext>
            </a:extLst>
          </p:cNvPr>
          <p:cNvSpPr/>
          <p:nvPr/>
        </p:nvSpPr>
        <p:spPr>
          <a:xfrm>
            <a:off x="900000" y="2750977"/>
            <a:ext cx="10812574"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指定下发到接入设备的用户授权信息。</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a:extLst>
              <a:ext uri="{FF2B5EF4-FFF2-40B4-BE49-F238E27FC236}">
                <a16:creationId xmlns:a16="http://schemas.microsoft.com/office/drawing/2014/main" xmlns="" id="{4155CF1B-D6D5-4CBC-A7C4-3539BA1D8C49}"/>
              </a:ext>
            </a:extLst>
          </p:cNvPr>
          <p:cNvSpPr/>
          <p:nvPr/>
        </p:nvSpPr>
        <p:spPr>
          <a:xfrm>
            <a:off x="900000" y="3234918"/>
            <a:ext cx="10812574"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Huawei-aaa-service-</a:t>
            </a:r>
            <a:r>
              <a:rPr lang="en-US" altLang="zh-CN" sz="1600" dirty="0" err="1"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t>local-authorize</a:t>
            </a:r>
            <a:r>
              <a:rPr lang="en-US" altLang="zh-CN" sz="1600" dirty="0"/>
              <a:t> { </a:t>
            </a:r>
            <a:r>
              <a:rPr lang="en-US" altLang="zh-CN" sz="1600" b="1" dirty="0"/>
              <a:t>none</a:t>
            </a:r>
            <a:r>
              <a:rPr lang="en-US" altLang="zh-CN" sz="1600" dirty="0"/>
              <a:t> | { </a:t>
            </a:r>
            <a:r>
              <a:rPr lang="en-US" altLang="zh-CN" sz="1600" b="1" dirty="0"/>
              <a:t>acl</a:t>
            </a:r>
            <a:r>
              <a:rPr lang="en-US" altLang="zh-CN" sz="1600" dirty="0"/>
              <a:t> | </a:t>
            </a:r>
            <a:r>
              <a:rPr lang="en-US" altLang="zh-CN" sz="1600" b="1" dirty="0"/>
              <a:t>car</a:t>
            </a:r>
            <a:r>
              <a:rPr lang="en-US" altLang="zh-CN" sz="1600" dirty="0"/>
              <a:t> | </a:t>
            </a:r>
            <a:r>
              <a:rPr lang="en-US" altLang="zh-CN" sz="1600" b="1" dirty="0"/>
              <a:t>priority</a:t>
            </a:r>
            <a:r>
              <a:rPr lang="en-US" altLang="zh-CN" sz="1600" dirty="0"/>
              <a:t> | </a:t>
            </a:r>
            <a:r>
              <a:rPr lang="en-US" altLang="zh-CN" sz="1600" b="1" dirty="0" err="1"/>
              <a:t>ucl</a:t>
            </a:r>
            <a:r>
              <a:rPr lang="en-US" altLang="zh-CN" sz="1600" b="1" dirty="0"/>
              <a:t>-group</a:t>
            </a:r>
            <a:r>
              <a:rPr lang="en-US" altLang="zh-CN" sz="1600" dirty="0"/>
              <a:t> | </a:t>
            </a:r>
            <a:r>
              <a:rPr lang="en-US" altLang="zh-CN" sz="1600" b="1" dirty="0" err="1"/>
              <a:t>vlan</a:t>
            </a:r>
            <a:r>
              <a:rPr lang="en-US" altLang="zh-CN" sz="1600" dirty="0"/>
              <a:t> </a:t>
            </a:r>
            <a:r>
              <a:rPr lang="en-US" altLang="zh-CN" sz="1600" dirty="0" smtClean="0"/>
              <a:t>}</a:t>
            </a:r>
            <a:r>
              <a:rPr lang="en-US" altLang="zh-CN" sz="1600" dirty="0"/>
              <a:t>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a:extLst>
              <a:ext uri="{FF2B5EF4-FFF2-40B4-BE49-F238E27FC236}">
                <a16:creationId xmlns:a16="http://schemas.microsoft.com/office/drawing/2014/main" xmlns="" id="{2683E34D-F948-4861-A2DA-5897E9554D17}"/>
              </a:ext>
            </a:extLst>
          </p:cNvPr>
          <p:cNvSpPr/>
          <p:nvPr/>
        </p:nvSpPr>
        <p:spPr>
          <a:xfrm>
            <a:off x="900000" y="3575225"/>
            <a:ext cx="10812574" cy="400110"/>
          </a:xfrm>
          <a:prstGeom prst="rect">
            <a:avLst/>
          </a:prstGeom>
        </p:spPr>
        <p:txBody>
          <a:bodyPr wrap="square">
            <a:spAutoFit/>
          </a:bodyPr>
          <a:lstStyle/>
          <a:p>
            <a:pPr fontAlgn="auto">
              <a:lnSpc>
                <a:spcPts val="2400"/>
              </a:lnSpc>
            </a:pPr>
            <a:r>
              <a:rPr lang="zh-CN" altLang="en-US" sz="1600" dirty="0"/>
              <a:t>指定下发到控制设备的用户授权信息</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32852943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t>配置案例 </a:t>
            </a:r>
            <a:r>
              <a:rPr lang="en-US" altLang="zh-CN"/>
              <a:t>- </a:t>
            </a:r>
            <a:r>
              <a:rPr lang="zh-CN" altLang="en-US"/>
              <a:t>组网需求与认证规划</a:t>
            </a:r>
            <a:endParaRPr lang="zh-CN" altLang="en-US" dirty="0"/>
          </a:p>
        </p:txBody>
      </p:sp>
      <p:grpSp>
        <p:nvGrpSpPr>
          <p:cNvPr id="4" name="组合 3"/>
          <p:cNvGrpSpPr/>
          <p:nvPr/>
        </p:nvGrpSpPr>
        <p:grpSpPr>
          <a:xfrm>
            <a:off x="6220619" y="1410182"/>
            <a:ext cx="5364163" cy="4112505"/>
            <a:chOff x="6096000" y="1410182"/>
            <a:chExt cx="5364163" cy="4112505"/>
          </a:xfrm>
        </p:grpSpPr>
        <p:sp>
          <p:nvSpPr>
            <p:cNvPr id="74" name="圆角矩形 75"/>
            <p:cNvSpPr/>
            <p:nvPr/>
          </p:nvSpPr>
          <p:spPr bwMode="gray">
            <a:xfrm>
              <a:off x="6096000" y="1410182"/>
              <a:ext cx="5364163"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组网</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a:extLst>
                <a:ext uri="{FF2B5EF4-FFF2-40B4-BE49-F238E27FC236}">
                  <a16:creationId xmlns:a16="http://schemas.microsoft.com/office/drawing/2014/main" xmlns="" id="{8DAF5267-0E7A-4282-B5E3-24A52A24C6AE}"/>
                </a:ext>
              </a:extLst>
            </p:cNvPr>
            <p:cNvSpPr/>
            <p:nvPr/>
          </p:nvSpPr>
          <p:spPr bwMode="gray">
            <a:xfrm>
              <a:off x="6096000" y="1816802"/>
              <a:ext cx="5364163" cy="1497321"/>
            </a:xfrm>
            <a:prstGeom prst="rect">
              <a:avLst/>
            </a:prstGeom>
          </p:spPr>
          <p:txBody>
            <a:bodyPr wrap="square" lIns="48000" tIns="48000" rIns="48000" bIns="48000">
              <a:spAutoFit/>
            </a:bodyPr>
            <a:lstStyle/>
            <a:p>
              <a:pPr>
                <a:lnSpc>
                  <a:spcPct val="130000"/>
                </a:lnSpc>
              </a:pPr>
              <a:r>
                <a:rPr lang="zh-CN" altLang="en-US" sz="1400" dirty="0"/>
                <a:t>在大型园区网中，接入层设备众多导致部署用户访问控制策略时工作量巨大且策略调整不灵活</a:t>
              </a:r>
              <a:r>
                <a:rPr lang="zh-CN" altLang="en-US" sz="1400" dirty="0" smtClean="0"/>
                <a:t>。</a:t>
              </a:r>
              <a:endParaRPr lang="en-US" altLang="zh-CN" sz="1400" dirty="0" smtClean="0"/>
            </a:p>
            <a:p>
              <a:pPr>
                <a:lnSpc>
                  <a:spcPct val="130000"/>
                </a:lnSpc>
              </a:pPr>
              <a:r>
                <a:rPr lang="zh-CN" altLang="en-US" sz="1400" dirty="0" smtClean="0"/>
                <a:t>因此</a:t>
              </a:r>
              <a:r>
                <a:rPr lang="zh-CN" altLang="en-US" sz="1400" dirty="0"/>
                <a:t>，客户希望可以</a:t>
              </a:r>
              <a:r>
                <a:rPr lang="zh-CN" altLang="en-US" sz="1400" dirty="0" smtClean="0"/>
                <a:t>在网关</a:t>
              </a:r>
              <a:r>
                <a:rPr lang="zh-CN" altLang="en-US" sz="1400" dirty="0"/>
                <a:t>上集中部署</a:t>
              </a:r>
              <a:r>
                <a:rPr lang="en-US" altLang="zh-CN" sz="1400" dirty="0"/>
                <a:t>NAC</a:t>
              </a:r>
              <a:r>
                <a:rPr lang="zh-CN" altLang="en-US" sz="1400" dirty="0"/>
                <a:t>认证和配置用户的访问策略，而在接入设备上执行用户的访问策略，以简化接入层设备部署</a:t>
              </a:r>
              <a:r>
                <a:rPr lang="zh-CN" altLang="en-US" sz="1400" dirty="0" smtClean="0"/>
                <a:t>。</a:t>
              </a:r>
              <a:endParaRPr lang="en-US" altLang="zh-CN" sz="1400" dirty="0" smtClean="0"/>
            </a:p>
          </p:txBody>
        </p:sp>
        <p:sp>
          <p:nvSpPr>
            <p:cNvPr id="76" name="圆角矩形 75"/>
            <p:cNvSpPr/>
            <p:nvPr/>
          </p:nvSpPr>
          <p:spPr bwMode="gray">
            <a:xfrm>
              <a:off x="6149950" y="3393439"/>
              <a:ext cx="5310213"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认证</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a:extLst>
                <a:ext uri="{FF2B5EF4-FFF2-40B4-BE49-F238E27FC236}">
                  <a16:creationId xmlns:a16="http://schemas.microsoft.com/office/drawing/2014/main" xmlns="" id="{8DAF5267-0E7A-4282-B5E3-24A52A24C6AE}"/>
                </a:ext>
              </a:extLst>
            </p:cNvPr>
            <p:cNvSpPr/>
            <p:nvPr/>
          </p:nvSpPr>
          <p:spPr bwMode="gray">
            <a:xfrm>
              <a:off x="6096000" y="3811974"/>
              <a:ext cx="5364163" cy="1710713"/>
            </a:xfrm>
            <a:prstGeom prst="rect">
              <a:avLst/>
            </a:prstGeom>
          </p:spPr>
          <p:txBody>
            <a:bodyPr wrap="square" lIns="48000" tIns="48000" rIns="48000" bIns="48000">
              <a:spAutoFit/>
            </a:bodyPr>
            <a:lstStyle/>
            <a:p>
              <a:pPr>
                <a:lnSpc>
                  <a:spcPct val="130000"/>
                </a:lnSpc>
              </a:pPr>
              <a:r>
                <a:rPr lang="zh-CN" altLang="en-US" sz="1400" dirty="0"/>
                <a:t>综合考虑网络情况与需求，认证规划如下：</a:t>
              </a:r>
              <a:endParaRPr lang="en-US" altLang="zh-CN" sz="1400" dirty="0"/>
            </a:p>
            <a:p>
              <a:pPr marL="285750" indent="-285750">
                <a:lnSpc>
                  <a:spcPts val="2600"/>
                </a:lnSpc>
                <a:buFont typeface="Arial" panose="020B0604020202020204" pitchFamily="34" charset="0"/>
                <a:buChar char="•"/>
              </a:pPr>
              <a:r>
                <a:rPr lang="zh-CN" altLang="en-US" sz="1400" dirty="0"/>
                <a:t>网关设备</a:t>
              </a:r>
              <a:r>
                <a:rPr lang="en-US" altLang="zh-CN" sz="1400" dirty="0"/>
                <a:t>SW1</a:t>
              </a:r>
              <a:r>
                <a:rPr lang="zh-CN" altLang="en-US" sz="1400" dirty="0"/>
                <a:t>作为控制设备，</a:t>
              </a:r>
              <a:r>
                <a:rPr lang="en-US" altLang="zh-CN" sz="1400" dirty="0" smtClean="0"/>
                <a:t>SW2</a:t>
              </a:r>
              <a:r>
                <a:rPr lang="zh-CN" altLang="en-US" sz="1400" dirty="0" smtClean="0"/>
                <a:t>作为</a:t>
              </a:r>
              <a:r>
                <a:rPr lang="zh-CN" altLang="en-US" sz="1400" dirty="0"/>
                <a:t>接入设备。</a:t>
              </a:r>
              <a:endParaRPr lang="en-US" altLang="zh-CN" sz="1400" dirty="0"/>
            </a:p>
            <a:p>
              <a:pPr marL="285750" indent="-285750">
                <a:lnSpc>
                  <a:spcPts val="2600"/>
                </a:lnSpc>
                <a:buFont typeface="Arial" panose="020B0604020202020204" pitchFamily="34" charset="0"/>
                <a:buChar char="•"/>
              </a:pPr>
              <a:r>
                <a:rPr lang="zh-CN" altLang="en-US" sz="1400" dirty="0"/>
                <a:t>在控制设备上对用户进行认证并在接入设备中执行用户访问策略。</a:t>
              </a:r>
              <a:endParaRPr lang="en-US" altLang="zh-CN" sz="1400" dirty="0"/>
            </a:p>
            <a:p>
              <a:pPr marL="285750" indent="-285750">
                <a:lnSpc>
                  <a:spcPts val="2600"/>
                </a:lnSpc>
                <a:buFont typeface="Arial" panose="020B0604020202020204" pitchFamily="34" charset="0"/>
                <a:buChar char="•"/>
              </a:pPr>
              <a:r>
                <a:rPr lang="en-US" altLang="zh-CN" sz="1400" dirty="0" smtClean="0"/>
                <a:t>VLAN 10</a:t>
              </a:r>
              <a:r>
                <a:rPr lang="zh-CN" altLang="en-US" sz="1400" dirty="0"/>
                <a:t>为用户</a:t>
              </a:r>
              <a:r>
                <a:rPr lang="en-US" altLang="zh-CN" sz="1400" dirty="0"/>
                <a:t>VLAN</a:t>
              </a:r>
              <a:r>
                <a:rPr lang="zh-CN" altLang="en-US" sz="1400" dirty="0"/>
                <a:t>，</a:t>
              </a:r>
              <a:r>
                <a:rPr lang="en-US" altLang="zh-CN" sz="1400" dirty="0" smtClean="0"/>
                <a:t>VLAN 20</a:t>
              </a:r>
              <a:r>
                <a:rPr lang="zh-CN" altLang="en-US" sz="1400" dirty="0"/>
                <a:t>为</a:t>
              </a:r>
              <a:r>
                <a:rPr lang="en-US" altLang="zh-CN" sz="1400" dirty="0"/>
                <a:t>CAPWAP</a:t>
              </a:r>
              <a:r>
                <a:rPr lang="zh-CN" altLang="en-US" sz="1400" dirty="0"/>
                <a:t>隧道的管理</a:t>
              </a:r>
              <a:r>
                <a:rPr lang="en-US" altLang="zh-CN" sz="1400" dirty="0"/>
                <a:t>VLAN</a:t>
              </a:r>
              <a:r>
                <a:rPr lang="zh-CN" altLang="en-US" sz="1400" dirty="0"/>
                <a:t>；用户的接入认证方式以</a:t>
              </a:r>
              <a:r>
                <a:rPr lang="en-US" altLang="zh-CN" sz="1400" dirty="0"/>
                <a:t>802.1X</a:t>
              </a:r>
              <a:r>
                <a:rPr lang="zh-CN" altLang="en-US" sz="1400" dirty="0"/>
                <a:t>认证为例。</a:t>
              </a:r>
              <a:endParaRPr lang="en-US" altLang="zh-CN" sz="1400" dirty="0"/>
            </a:p>
          </p:txBody>
        </p:sp>
      </p:grpSp>
      <p:pic>
        <p:nvPicPr>
          <p:cNvPr id="46" name="图片 45" descr="接入交换机.png"/>
          <p:cNvPicPr>
            <a:picLocks noChangeAspect="1"/>
          </p:cNvPicPr>
          <p:nvPr/>
        </p:nvPicPr>
        <p:blipFill>
          <a:blip r:embed="rId3" cstate="print"/>
          <a:stretch>
            <a:fillRect/>
          </a:stretch>
        </p:blipFill>
        <p:spPr bwMode="gray">
          <a:xfrm>
            <a:off x="2336306" y="4942101"/>
            <a:ext cx="540000" cy="441818"/>
          </a:xfrm>
          <a:prstGeom prst="rect">
            <a:avLst/>
          </a:prstGeom>
        </p:spPr>
      </p:pic>
      <p:pic>
        <p:nvPicPr>
          <p:cNvPr id="47" name="图片 46" descr="PC.png"/>
          <p:cNvPicPr>
            <a:picLocks noChangeAspect="1"/>
          </p:cNvPicPr>
          <p:nvPr/>
        </p:nvPicPr>
        <p:blipFill>
          <a:blip r:embed="rId4" cstate="print"/>
          <a:stretch>
            <a:fillRect/>
          </a:stretch>
        </p:blipFill>
        <p:spPr bwMode="gray">
          <a:xfrm>
            <a:off x="1899421" y="5776190"/>
            <a:ext cx="539063" cy="414000"/>
          </a:xfrm>
          <a:prstGeom prst="rect">
            <a:avLst/>
          </a:prstGeom>
        </p:spPr>
      </p:pic>
      <p:pic>
        <p:nvPicPr>
          <p:cNvPr id="49" name="图片 48" descr="汇聚交换机.png"/>
          <p:cNvPicPr>
            <a:picLocks noChangeAspect="1"/>
          </p:cNvPicPr>
          <p:nvPr/>
        </p:nvPicPr>
        <p:blipFill>
          <a:blip r:embed="rId5" cstate="print"/>
          <a:stretch>
            <a:fillRect/>
          </a:stretch>
        </p:blipFill>
        <p:spPr bwMode="gray">
          <a:xfrm>
            <a:off x="2336306" y="3505767"/>
            <a:ext cx="540000" cy="441818"/>
          </a:xfrm>
          <a:prstGeom prst="rect">
            <a:avLst/>
          </a:prstGeom>
        </p:spPr>
      </p:pic>
      <p:cxnSp>
        <p:nvCxnSpPr>
          <p:cNvPr id="51" name="直接连接符 50"/>
          <p:cNvCxnSpPr>
            <a:stCxn id="46" idx="2"/>
            <a:endCxn id="47" idx="0"/>
          </p:cNvCxnSpPr>
          <p:nvPr/>
        </p:nvCxnSpPr>
        <p:spPr bwMode="gray">
          <a:xfrm flipH="1">
            <a:off x="2168953" y="5383919"/>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endCxn id="46" idx="2"/>
          </p:cNvCxnSpPr>
          <p:nvPr/>
        </p:nvCxnSpPr>
        <p:spPr bwMode="gray">
          <a:xfrm flipH="1" flipV="1">
            <a:off x="2606306" y="5383919"/>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46" idx="0"/>
            <a:endCxn id="49" idx="2"/>
          </p:cNvCxnSpPr>
          <p:nvPr/>
        </p:nvCxnSpPr>
        <p:spPr bwMode="gray">
          <a:xfrm flipV="1">
            <a:off x="2606306" y="3947585"/>
            <a:ext cx="0" cy="9945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49" idx="0"/>
          </p:cNvCxnSpPr>
          <p:nvPr/>
        </p:nvCxnSpPr>
        <p:spPr bwMode="gray">
          <a:xfrm flipV="1">
            <a:off x="2606306" y="2723017"/>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bwMode="gray">
          <a:xfrm>
            <a:off x="2601190" y="3921606"/>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65" name="文本框 64"/>
          <p:cNvSpPr txBox="1"/>
          <p:nvPr/>
        </p:nvSpPr>
        <p:spPr bwMode="gray">
          <a:xfrm>
            <a:off x="2606306" y="3197990"/>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72" name="Freeform 159"/>
          <p:cNvSpPr>
            <a:spLocks noChangeAspect="1"/>
          </p:cNvSpPr>
          <p:nvPr/>
        </p:nvSpPr>
        <p:spPr bwMode="gray">
          <a:xfrm flipH="1">
            <a:off x="2018154" y="2042864"/>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bwMode="gray">
          <a:xfrm>
            <a:off x="2215004" y="2272510"/>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79" name="文本框 78"/>
          <p:cNvSpPr txBox="1"/>
          <p:nvPr/>
        </p:nvSpPr>
        <p:spPr bwMode="gray">
          <a:xfrm>
            <a:off x="2850648" y="3602892"/>
            <a:ext cx="1293944" cy="307777"/>
          </a:xfrm>
          <a:prstGeom prst="rect">
            <a:avLst/>
          </a:prstGeom>
          <a:noFill/>
        </p:spPr>
        <p:txBody>
          <a:bodyPr wrap="none" rtlCol="0">
            <a:spAutoFit/>
          </a:bodyPr>
          <a:lstStyle/>
          <a:p>
            <a:r>
              <a:rPr lang="en-US" altLang="zh-CN" sz="1400" b="1" dirty="0" smtClean="0"/>
              <a:t>SW1</a:t>
            </a:r>
            <a:r>
              <a:rPr lang="zh-CN" altLang="en-US" sz="1400" b="1" dirty="0" smtClean="0"/>
              <a:t>（网关）</a:t>
            </a:r>
            <a:endParaRPr lang="zh-CN" altLang="en-US" sz="1400" b="1" dirty="0"/>
          </a:p>
        </p:txBody>
      </p:sp>
      <p:sp>
        <p:nvSpPr>
          <p:cNvPr id="80" name="文本框 79"/>
          <p:cNvSpPr txBox="1"/>
          <p:nvPr/>
        </p:nvSpPr>
        <p:spPr bwMode="gray">
          <a:xfrm>
            <a:off x="2814514" y="5050423"/>
            <a:ext cx="1293944" cy="307777"/>
          </a:xfrm>
          <a:prstGeom prst="rect">
            <a:avLst/>
          </a:prstGeom>
          <a:noFill/>
        </p:spPr>
        <p:txBody>
          <a:bodyPr wrap="none" rtlCol="0">
            <a:spAutoFit/>
          </a:bodyPr>
          <a:lstStyle/>
          <a:p>
            <a:r>
              <a:rPr lang="en-US" altLang="zh-CN" sz="1400" b="1" dirty="0" smtClean="0"/>
              <a:t>SW2</a:t>
            </a:r>
            <a:r>
              <a:rPr lang="zh-CN" altLang="en-US" sz="1400" b="1" dirty="0" smtClean="0"/>
              <a:t>（接入）</a:t>
            </a:r>
            <a:endParaRPr lang="zh-CN" altLang="en-US" sz="1400" b="1" dirty="0"/>
          </a:p>
        </p:txBody>
      </p:sp>
      <p:sp>
        <p:nvSpPr>
          <p:cNvPr id="81" name="文本框 80"/>
          <p:cNvSpPr txBox="1"/>
          <p:nvPr/>
        </p:nvSpPr>
        <p:spPr bwMode="gray">
          <a:xfrm>
            <a:off x="1785913" y="1230248"/>
            <a:ext cx="1383712" cy="523220"/>
          </a:xfrm>
          <a:prstGeom prst="rect">
            <a:avLst/>
          </a:prstGeom>
          <a:noFill/>
        </p:spPr>
        <p:txBody>
          <a:bodyPr wrap="none" rtlCol="0">
            <a:spAutoFit/>
          </a:bodyPr>
          <a:lstStyle/>
          <a:p>
            <a:pPr algn="ctr"/>
            <a:r>
              <a:rPr lang="en-US" altLang="zh-CN" sz="1400" dirty="0" smtClean="0"/>
              <a:t>RADIUS Server</a:t>
            </a:r>
          </a:p>
          <a:p>
            <a:pPr algn="ctr"/>
            <a:r>
              <a:rPr lang="en-US" altLang="zh-CN" sz="1400" dirty="0" smtClean="0"/>
              <a:t>192.168.4.30</a:t>
            </a:r>
            <a:endParaRPr lang="zh-CN" altLang="en-US" sz="1400" dirty="0"/>
          </a:p>
        </p:txBody>
      </p:sp>
      <p:sp>
        <p:nvSpPr>
          <p:cNvPr id="82" name="文本框 81"/>
          <p:cNvSpPr txBox="1"/>
          <p:nvPr/>
        </p:nvSpPr>
        <p:spPr bwMode="gray">
          <a:xfrm>
            <a:off x="2601189" y="465894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83" name="文本框 82"/>
          <p:cNvSpPr txBox="1"/>
          <p:nvPr/>
        </p:nvSpPr>
        <p:spPr bwMode="gray">
          <a:xfrm>
            <a:off x="1690371" y="5313792"/>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84" name="文本框 83"/>
          <p:cNvSpPr txBox="1"/>
          <p:nvPr/>
        </p:nvSpPr>
        <p:spPr bwMode="gray">
          <a:xfrm>
            <a:off x="2694286" y="5316248"/>
            <a:ext cx="851515" cy="307777"/>
          </a:xfrm>
          <a:prstGeom prst="rect">
            <a:avLst/>
          </a:prstGeom>
          <a:noFill/>
        </p:spPr>
        <p:txBody>
          <a:bodyPr wrap="none" rtlCol="0">
            <a:spAutoFit/>
          </a:bodyPr>
          <a:lstStyle/>
          <a:p>
            <a:r>
              <a:rPr lang="en-US" altLang="zh-CN" sz="1400" dirty="0"/>
              <a:t>GE0/0/3</a:t>
            </a:r>
            <a:endParaRPr lang="zh-CN" altLang="en-US" sz="1400" dirty="0"/>
          </a:p>
        </p:txBody>
      </p:sp>
      <p:pic>
        <p:nvPicPr>
          <p:cNvPr id="85" name="图片 84" descr="PC.png"/>
          <p:cNvPicPr>
            <a:picLocks noChangeAspect="1"/>
          </p:cNvPicPr>
          <p:nvPr/>
        </p:nvPicPr>
        <p:blipFill>
          <a:blip r:embed="rId4" cstate="print"/>
          <a:stretch>
            <a:fillRect/>
          </a:stretch>
        </p:blipFill>
        <p:spPr bwMode="gray">
          <a:xfrm>
            <a:off x="2788568" y="5776190"/>
            <a:ext cx="539063" cy="414000"/>
          </a:xfrm>
          <a:prstGeom prst="rect">
            <a:avLst/>
          </a:prstGeom>
        </p:spPr>
      </p:pic>
      <p:sp>
        <p:nvSpPr>
          <p:cNvPr id="86" name="文本框 85"/>
          <p:cNvSpPr txBox="1"/>
          <p:nvPr/>
        </p:nvSpPr>
        <p:spPr bwMode="gray">
          <a:xfrm>
            <a:off x="1829647" y="5531435"/>
            <a:ext cx="800219" cy="276999"/>
          </a:xfrm>
          <a:prstGeom prst="rect">
            <a:avLst/>
          </a:prstGeom>
          <a:solidFill>
            <a:schemeClr val="bg1"/>
          </a:solidFill>
        </p:spPr>
        <p:txBody>
          <a:bodyPr wrap="none" rtlCol="0">
            <a:spAutoFit/>
          </a:bodyPr>
          <a:lstStyle/>
          <a:p>
            <a:r>
              <a:rPr lang="en-US" altLang="zh-CN" sz="1200" dirty="0" smtClean="0"/>
              <a:t>VLAN 10</a:t>
            </a:r>
            <a:endParaRPr lang="zh-CN" altLang="en-US" sz="1200" dirty="0"/>
          </a:p>
        </p:txBody>
      </p:sp>
      <p:sp>
        <p:nvSpPr>
          <p:cNvPr id="87" name="文本框 86"/>
          <p:cNvSpPr txBox="1"/>
          <p:nvPr/>
        </p:nvSpPr>
        <p:spPr bwMode="gray">
          <a:xfrm>
            <a:off x="1816359" y="4313086"/>
            <a:ext cx="1569660" cy="276999"/>
          </a:xfrm>
          <a:prstGeom prst="rect">
            <a:avLst/>
          </a:prstGeom>
          <a:solidFill>
            <a:schemeClr val="bg1"/>
          </a:solidFill>
        </p:spPr>
        <p:txBody>
          <a:bodyPr wrap="none" rtlCol="0">
            <a:spAutoFit/>
          </a:bodyPr>
          <a:lstStyle/>
          <a:p>
            <a:r>
              <a:rPr lang="en-US" altLang="zh-CN" sz="1200" dirty="0" smtClean="0"/>
              <a:t>VLAN 10</a:t>
            </a:r>
            <a:r>
              <a:rPr lang="zh-CN" altLang="en-US" sz="1200" dirty="0" smtClean="0"/>
              <a:t>，</a:t>
            </a:r>
            <a:r>
              <a:rPr lang="en-US" altLang="zh-CN" sz="1200" dirty="0" smtClean="0"/>
              <a:t>VLAN 20</a:t>
            </a:r>
            <a:endParaRPr lang="zh-CN" altLang="en-US" sz="1200" dirty="0"/>
          </a:p>
        </p:txBody>
      </p:sp>
      <p:pic>
        <p:nvPicPr>
          <p:cNvPr id="88" name="图片 8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190786" y="1699898"/>
            <a:ext cx="540000" cy="442800"/>
          </a:xfrm>
          <a:prstGeom prst="rect">
            <a:avLst/>
          </a:prstGeom>
        </p:spPr>
      </p:pic>
      <p:sp>
        <p:nvSpPr>
          <p:cNvPr id="89" name="文本框 88"/>
          <p:cNvSpPr txBox="1"/>
          <p:nvPr/>
        </p:nvSpPr>
        <p:spPr bwMode="gray">
          <a:xfrm>
            <a:off x="2204854" y="2897497"/>
            <a:ext cx="800219" cy="276999"/>
          </a:xfrm>
          <a:prstGeom prst="rect">
            <a:avLst/>
          </a:prstGeom>
          <a:solidFill>
            <a:schemeClr val="bg1"/>
          </a:solidFill>
        </p:spPr>
        <p:txBody>
          <a:bodyPr wrap="none" rtlCol="0">
            <a:spAutoFit/>
          </a:bodyPr>
          <a:lstStyle/>
          <a:p>
            <a:r>
              <a:rPr lang="en-US" altLang="zh-CN" sz="1200" dirty="0" smtClean="0"/>
              <a:t>VLAN 30</a:t>
            </a:r>
            <a:endParaRPr lang="zh-CN" altLang="en-US" sz="1200" dirty="0"/>
          </a:p>
        </p:txBody>
      </p:sp>
      <p:sp>
        <p:nvSpPr>
          <p:cNvPr id="90" name="文本框 89"/>
          <p:cNvSpPr txBox="1"/>
          <p:nvPr/>
        </p:nvSpPr>
        <p:spPr bwMode="gray">
          <a:xfrm>
            <a:off x="3421963" y="1345582"/>
            <a:ext cx="1909839" cy="523220"/>
          </a:xfrm>
          <a:prstGeom prst="rect">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txBody>
          <a:bodyPr wrap="square" rtlCol="0">
            <a:spAutoFit/>
          </a:bodyPr>
          <a:lstStyle/>
          <a:p>
            <a:r>
              <a:rPr lang="zh-CN" altLang="en-US" sz="1400" dirty="0" smtClean="0"/>
              <a:t>用户</a:t>
            </a:r>
            <a:r>
              <a:rPr lang="en-US" altLang="zh-CN" sz="1400" dirty="0" smtClean="0"/>
              <a:t>VLAN</a:t>
            </a:r>
            <a:r>
              <a:rPr lang="zh-CN" altLang="en-US" sz="1400" dirty="0" smtClean="0"/>
              <a:t>：</a:t>
            </a:r>
            <a:r>
              <a:rPr lang="en-US" altLang="zh-CN" sz="1400" dirty="0" smtClean="0"/>
              <a:t>VLAN 10</a:t>
            </a:r>
          </a:p>
          <a:p>
            <a:r>
              <a:rPr lang="zh-CN" altLang="en-US" sz="1400" dirty="0" smtClean="0"/>
              <a:t>管理</a:t>
            </a:r>
            <a:r>
              <a:rPr lang="en-US" altLang="zh-CN" sz="1400" dirty="0" smtClean="0"/>
              <a:t>VLAN</a:t>
            </a:r>
            <a:r>
              <a:rPr lang="zh-CN" altLang="en-US" sz="1400" dirty="0" smtClean="0"/>
              <a:t>：</a:t>
            </a:r>
            <a:r>
              <a:rPr lang="en-US" altLang="zh-CN" sz="1400" dirty="0" smtClean="0"/>
              <a:t>VLAN 20</a:t>
            </a:r>
            <a:endParaRPr lang="zh-CN" altLang="en-US" sz="1400" dirty="0"/>
          </a:p>
        </p:txBody>
      </p:sp>
    </p:spTree>
    <p:extLst>
      <p:ext uri="{BB962C8B-B14F-4D97-AF65-F5344CB8AC3E}">
        <p14:creationId xmlns:p14="http://schemas.microsoft.com/office/powerpoint/2010/main" val="261772818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配置案例 </a:t>
            </a:r>
            <a:r>
              <a:rPr lang="en-US" altLang="zh-CN"/>
              <a:t>- </a:t>
            </a:r>
            <a:r>
              <a:rPr lang="zh-CN" altLang="en-US"/>
              <a:t>数据规划</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885033257"/>
              </p:ext>
            </p:extLst>
          </p:nvPr>
        </p:nvGraphicFramePr>
        <p:xfrm>
          <a:off x="2042434" y="1749424"/>
          <a:ext cx="8107132" cy="3438995"/>
        </p:xfrm>
        <a:graphic>
          <a:graphicData uri="http://schemas.openxmlformats.org/drawingml/2006/table">
            <a:tbl>
              <a:tblPr/>
              <a:tblGrid>
                <a:gridCol w="2635583">
                  <a:extLst>
                    <a:ext uri="{9D8B030D-6E8A-4147-A177-3AD203B41FA5}">
                      <a16:colId xmlns:a16="http://schemas.microsoft.com/office/drawing/2014/main" xmlns="" val="20000"/>
                    </a:ext>
                  </a:extLst>
                </a:gridCol>
                <a:gridCol w="5471549">
                  <a:extLst>
                    <a:ext uri="{9D8B030D-6E8A-4147-A177-3AD203B41FA5}">
                      <a16:colId xmlns:a16="http://schemas.microsoft.com/office/drawing/2014/main" xmlns="" val="20001"/>
                    </a:ext>
                  </a:extLst>
                </a:gridCol>
              </a:tblGrid>
              <a:tr h="382011">
                <a:tc>
                  <a:txBody>
                    <a:bodyPr/>
                    <a:lstStyle/>
                    <a:p>
                      <a:pPr algn="ctr">
                        <a:lnSpc>
                          <a:spcPct val="100000"/>
                        </a:lnSpc>
                      </a:pPr>
                      <a:r>
                        <a:rPr lang="zh-CN" altLang="en-US" sz="1600" b="1" dirty="0">
                          <a:effectLst/>
                          <a:sym typeface="Huawei Sans" panose="020C0503030203020204" pitchFamily="34" charset="0"/>
                        </a:rPr>
                        <a:t>项目</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a:effectLst/>
                          <a:sym typeface="Huawei Sans" panose="020C0503030203020204" pitchFamily="34" charset="0"/>
                        </a:rPr>
                        <a:t>数据</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0"/>
                  </a:ext>
                </a:extLst>
              </a:tr>
              <a:tr h="345146">
                <a:tc>
                  <a:txBody>
                    <a:bodyPr/>
                    <a:lstStyle/>
                    <a:p>
                      <a:pPr algn="l">
                        <a:lnSpc>
                          <a:spcPct val="100000"/>
                        </a:lnSpc>
                      </a:pPr>
                      <a:r>
                        <a:rPr lang="en-US" sz="1400" dirty="0">
                          <a:effectLst/>
                          <a:sym typeface="Huawei Sans" panose="020C0503030203020204" pitchFamily="34" charset="0"/>
                        </a:rPr>
                        <a:t>RADIUS</a:t>
                      </a:r>
                      <a:r>
                        <a:rPr lang="zh-CN" altLang="en-US" sz="1400" dirty="0">
                          <a:effectLst/>
                          <a:sym typeface="Huawei Sans" panose="020C0503030203020204" pitchFamily="34" charset="0"/>
                        </a:rPr>
                        <a:t>服务器</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en-US" sz="1400" dirty="0">
                          <a:effectLst/>
                          <a:sym typeface="Huawei Sans" panose="020C0503030203020204" pitchFamily="34" charset="0"/>
                        </a:rPr>
                        <a:t>IP</a:t>
                      </a:r>
                      <a:r>
                        <a:rPr lang="zh-CN" altLang="en-US" sz="1400" dirty="0">
                          <a:effectLst/>
                          <a:sym typeface="Huawei Sans" panose="020C0503030203020204" pitchFamily="34" charset="0"/>
                        </a:rPr>
                        <a:t>地址：</a:t>
                      </a:r>
                      <a:r>
                        <a:rPr lang="en-US" altLang="zh-CN" sz="1400" dirty="0" smtClean="0">
                          <a:effectLst/>
                          <a:sym typeface="Huawei Sans" panose="020C0503030203020204" pitchFamily="34" charset="0"/>
                        </a:rPr>
                        <a:t>192.168.4.30</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345146">
                <a:tc>
                  <a:txBody>
                    <a:bodyPr/>
                    <a:lstStyle/>
                    <a:p>
                      <a:pPr algn="l">
                        <a:lnSpc>
                          <a:spcPct val="100000"/>
                        </a:lnSpc>
                      </a:pPr>
                      <a:r>
                        <a:rPr lang="zh-CN" altLang="en-US" sz="1400" dirty="0" smtClean="0">
                          <a:effectLst/>
                          <a:sym typeface="Huawei Sans" panose="020C0503030203020204" pitchFamily="34" charset="0"/>
                        </a:rPr>
                        <a:t>网关交换机（控制设备，</a:t>
                      </a:r>
                      <a:r>
                        <a:rPr lang="en-US" altLang="zh-CN" sz="1400" dirty="0" smtClean="0">
                          <a:effectLst/>
                          <a:sym typeface="Huawei Sans" panose="020C0503030203020204" pitchFamily="34" charset="0"/>
                        </a:rPr>
                        <a:t>SW1</a:t>
                      </a:r>
                      <a:r>
                        <a:rPr lang="zh-CN" altLang="en-US" sz="1400" dirty="0" smtClean="0">
                          <a:effectLst/>
                          <a:sym typeface="Huawei Sans" panose="020C0503030203020204" pitchFamily="34" charset="0"/>
                        </a:rPr>
                        <a:t>）</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zh-CN" altLang="en-US" sz="1400" kern="1200" dirty="0">
                          <a:solidFill>
                            <a:schemeClr val="tx1"/>
                          </a:solidFill>
                          <a:effectLst/>
                          <a:latin typeface="+mn-lt"/>
                          <a:ea typeface="+mn-ea"/>
                          <a:cs typeface="+mn-cs"/>
                          <a:sym typeface="Huawei Sans" panose="020C0503030203020204" pitchFamily="34" charset="0"/>
                        </a:rPr>
                        <a:t>上联接口所属的</a:t>
                      </a:r>
                      <a:r>
                        <a:rPr lang="en-US" altLang="zh-CN" sz="1400" kern="1200" dirty="0">
                          <a:solidFill>
                            <a:schemeClr val="tx1"/>
                          </a:solidFill>
                          <a:effectLst/>
                          <a:latin typeface="+mn-lt"/>
                          <a:ea typeface="+mn-ea"/>
                          <a:cs typeface="+mn-cs"/>
                          <a:sym typeface="Huawei Sans" panose="020C0503030203020204" pitchFamily="34" charset="0"/>
                        </a:rPr>
                        <a:t>VLAN</a:t>
                      </a:r>
                      <a:r>
                        <a:rPr lang="zh-CN" altLang="en-US" sz="1400" kern="1200" dirty="0">
                          <a:solidFill>
                            <a:schemeClr val="tx1"/>
                          </a:solidFill>
                          <a:effectLst/>
                          <a:latin typeface="+mn-lt"/>
                          <a:ea typeface="+mn-ea"/>
                          <a:cs typeface="+mn-cs"/>
                          <a:sym typeface="Huawei Sans" panose="020C0503030203020204" pitchFamily="34" charset="0"/>
                        </a:rPr>
                        <a:t>：</a:t>
                      </a:r>
                      <a:r>
                        <a:rPr lang="en-US" altLang="zh-CN" sz="1400" kern="1200" dirty="0" smtClean="0">
                          <a:solidFill>
                            <a:schemeClr val="tx1"/>
                          </a:solidFill>
                          <a:effectLst/>
                          <a:latin typeface="+mn-lt"/>
                          <a:ea typeface="+mn-ea"/>
                          <a:cs typeface="+mn-cs"/>
                          <a:sym typeface="Huawei Sans" panose="020C0503030203020204" pitchFamily="34" charset="0"/>
                        </a:rPr>
                        <a:t>VLAN 30</a:t>
                      </a:r>
                      <a:endParaRPr lang="en-US" altLang="zh-CN" sz="1400" kern="1200" dirty="0">
                        <a:solidFill>
                          <a:schemeClr val="tx1"/>
                        </a:solidFill>
                        <a:effectLst/>
                        <a:latin typeface="+mn-lt"/>
                        <a:ea typeface="+mn-ea"/>
                        <a:cs typeface="+mn-cs"/>
                        <a:sym typeface="Huawei Sans" panose="020C0503030203020204" pitchFamily="34" charset="0"/>
                      </a:endParaRPr>
                    </a:p>
                    <a:p>
                      <a:pPr marL="0" algn="l" defTabSz="914034" rtl="0" eaLnBrk="1" latinLnBrk="0" hangingPunct="1">
                        <a:lnSpc>
                          <a:spcPct val="100000"/>
                        </a:lnSpc>
                      </a:pPr>
                      <a:r>
                        <a:rPr lang="zh-CN" altLang="en-US" sz="1400" kern="1200" dirty="0">
                          <a:solidFill>
                            <a:schemeClr val="tx1"/>
                          </a:solidFill>
                          <a:effectLst/>
                          <a:latin typeface="+mn-lt"/>
                          <a:ea typeface="+mn-ea"/>
                          <a:cs typeface="+mn-cs"/>
                          <a:sym typeface="Huawei Sans" panose="020C0503030203020204" pitchFamily="34" charset="0"/>
                        </a:rPr>
                        <a:t>下行接口</a:t>
                      </a:r>
                      <a:r>
                        <a:rPr lang="en-US" altLang="zh-CN" sz="1400" kern="1200" dirty="0" smtClean="0">
                          <a:solidFill>
                            <a:schemeClr val="tx1"/>
                          </a:solidFill>
                          <a:effectLst/>
                          <a:latin typeface="+mn-lt"/>
                          <a:ea typeface="+mn-ea"/>
                          <a:cs typeface="+mn-cs"/>
                          <a:sym typeface="Huawei Sans" panose="020C0503030203020204" pitchFamily="34" charset="0"/>
                        </a:rPr>
                        <a:t>GE0/0/1</a:t>
                      </a:r>
                      <a:r>
                        <a:rPr lang="zh-CN" altLang="en-US" sz="1400" kern="1200" dirty="0" smtClean="0">
                          <a:solidFill>
                            <a:schemeClr val="tx1"/>
                          </a:solidFill>
                          <a:effectLst/>
                          <a:latin typeface="+mn-lt"/>
                          <a:ea typeface="+mn-ea"/>
                          <a:cs typeface="+mn-cs"/>
                          <a:sym typeface="Huawei Sans" panose="020C0503030203020204" pitchFamily="34" charset="0"/>
                        </a:rPr>
                        <a:t>所属</a:t>
                      </a:r>
                      <a:r>
                        <a:rPr lang="en-US" altLang="zh-CN" sz="1400" kern="1200" dirty="0">
                          <a:solidFill>
                            <a:schemeClr val="tx1"/>
                          </a:solidFill>
                          <a:effectLst/>
                          <a:latin typeface="+mn-lt"/>
                          <a:ea typeface="+mn-ea"/>
                          <a:cs typeface="+mn-cs"/>
                          <a:sym typeface="Huawei Sans" panose="020C0503030203020204" pitchFamily="34" charset="0"/>
                        </a:rPr>
                        <a:t>VLAN</a:t>
                      </a:r>
                      <a:r>
                        <a:rPr lang="zh-CN" altLang="en-US" sz="1400" kern="1200" dirty="0">
                          <a:solidFill>
                            <a:schemeClr val="tx1"/>
                          </a:solidFill>
                          <a:effectLst/>
                          <a:latin typeface="+mn-lt"/>
                          <a:ea typeface="+mn-ea"/>
                          <a:cs typeface="+mn-cs"/>
                          <a:sym typeface="Huawei Sans" panose="020C0503030203020204" pitchFamily="34" charset="0"/>
                        </a:rPr>
                        <a:t>：</a:t>
                      </a:r>
                      <a:r>
                        <a:rPr lang="en-US" altLang="zh-CN" sz="1400" kern="1200" dirty="0">
                          <a:solidFill>
                            <a:schemeClr val="tx1"/>
                          </a:solidFill>
                          <a:effectLst/>
                          <a:latin typeface="+mn-lt"/>
                          <a:ea typeface="+mn-ea"/>
                          <a:cs typeface="+mn-cs"/>
                          <a:sym typeface="Huawei Sans" panose="020C0503030203020204" pitchFamily="34" charset="0"/>
                        </a:rPr>
                        <a:t>VLAN </a:t>
                      </a:r>
                      <a:r>
                        <a:rPr lang="en-US" altLang="zh-CN" sz="1400" kern="1200" dirty="0" smtClean="0">
                          <a:solidFill>
                            <a:schemeClr val="tx1"/>
                          </a:solidFill>
                          <a:effectLst/>
                          <a:latin typeface="+mn-lt"/>
                          <a:ea typeface="+mn-ea"/>
                          <a:cs typeface="+mn-cs"/>
                          <a:sym typeface="Huawei Sans" panose="020C0503030203020204" pitchFamily="34" charset="0"/>
                        </a:rPr>
                        <a:t>10</a:t>
                      </a:r>
                      <a:r>
                        <a:rPr lang="zh-CN" altLang="en-US" sz="1400" kern="1200" dirty="0" smtClean="0">
                          <a:solidFill>
                            <a:schemeClr val="tx1"/>
                          </a:solidFill>
                          <a:effectLst/>
                          <a:latin typeface="+mn-lt"/>
                          <a:ea typeface="+mn-ea"/>
                          <a:cs typeface="+mn-cs"/>
                          <a:sym typeface="Huawei Sans" panose="020C0503030203020204" pitchFamily="34" charset="0"/>
                        </a:rPr>
                        <a:t>（用户</a:t>
                      </a:r>
                      <a:r>
                        <a:rPr lang="en-US" altLang="zh-CN" sz="1400" kern="1200" dirty="0" smtClean="0">
                          <a:solidFill>
                            <a:schemeClr val="tx1"/>
                          </a:solidFill>
                          <a:effectLst/>
                          <a:latin typeface="+mn-lt"/>
                          <a:ea typeface="+mn-ea"/>
                          <a:cs typeface="+mn-cs"/>
                          <a:sym typeface="Huawei Sans" panose="020C0503030203020204" pitchFamily="34" charset="0"/>
                        </a:rPr>
                        <a:t>VLAN</a:t>
                      </a:r>
                      <a:r>
                        <a:rPr lang="zh-CN" altLang="en-US" sz="1400" kern="1200" dirty="0" smtClean="0">
                          <a:solidFill>
                            <a:schemeClr val="tx1"/>
                          </a:solidFill>
                          <a:effectLst/>
                          <a:latin typeface="+mn-lt"/>
                          <a:ea typeface="+mn-ea"/>
                          <a:cs typeface="+mn-cs"/>
                          <a:sym typeface="Huawei Sans" panose="020C0503030203020204" pitchFamily="34" charset="0"/>
                        </a:rPr>
                        <a:t>），</a:t>
                      </a:r>
                      <a:r>
                        <a:rPr lang="en-US" altLang="zh-CN" sz="1400" kern="1200" dirty="0" smtClean="0">
                          <a:solidFill>
                            <a:schemeClr val="tx1"/>
                          </a:solidFill>
                          <a:effectLst/>
                          <a:latin typeface="+mn-lt"/>
                          <a:ea typeface="+mn-ea"/>
                          <a:cs typeface="+mn-cs"/>
                          <a:sym typeface="Huawei Sans" panose="020C0503030203020204" pitchFamily="34" charset="0"/>
                        </a:rPr>
                        <a:t>VLAN 20</a:t>
                      </a:r>
                      <a:r>
                        <a:rPr lang="zh-CN" altLang="en-US" sz="1400" kern="1200" dirty="0" smtClean="0">
                          <a:solidFill>
                            <a:schemeClr val="tx1"/>
                          </a:solidFill>
                          <a:effectLst/>
                          <a:latin typeface="+mn-lt"/>
                          <a:ea typeface="+mn-ea"/>
                          <a:cs typeface="+mn-cs"/>
                          <a:sym typeface="Huawei Sans" panose="020C0503030203020204" pitchFamily="34" charset="0"/>
                        </a:rPr>
                        <a:t>（管理</a:t>
                      </a:r>
                      <a:r>
                        <a:rPr lang="en-US" altLang="zh-CN" sz="1400" kern="1200" dirty="0" smtClean="0">
                          <a:solidFill>
                            <a:schemeClr val="tx1"/>
                          </a:solidFill>
                          <a:effectLst/>
                          <a:latin typeface="+mn-lt"/>
                          <a:ea typeface="+mn-ea"/>
                          <a:cs typeface="+mn-cs"/>
                          <a:sym typeface="Huawei Sans" panose="020C0503030203020204" pitchFamily="34" charset="0"/>
                        </a:rPr>
                        <a:t>VLAN</a:t>
                      </a:r>
                      <a:r>
                        <a:rPr lang="zh-CN" altLang="en-US" sz="1400" kern="1200" dirty="0" smtClean="0">
                          <a:solidFill>
                            <a:schemeClr val="tx1"/>
                          </a:solidFill>
                          <a:effectLst/>
                          <a:latin typeface="+mn-lt"/>
                          <a:ea typeface="+mn-ea"/>
                          <a:cs typeface="+mn-cs"/>
                          <a:sym typeface="Huawei Sans" panose="020C0503030203020204" pitchFamily="34" charset="0"/>
                        </a:rPr>
                        <a:t>）</a:t>
                      </a:r>
                      <a:endParaRPr lang="en-US" sz="1400" kern="1200" dirty="0">
                        <a:solidFill>
                          <a:schemeClr val="tx1"/>
                        </a:solidFill>
                        <a:effectLst/>
                        <a:latin typeface="+mn-lt"/>
                        <a:ea typeface="+mn-ea"/>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345146">
                <a:tc>
                  <a:txBody>
                    <a:bodyPr/>
                    <a:lstStyle/>
                    <a:p>
                      <a:pPr algn="l">
                        <a:lnSpc>
                          <a:spcPct val="100000"/>
                        </a:lnSpc>
                      </a:pPr>
                      <a:r>
                        <a:rPr lang="zh-CN" altLang="en-US" sz="1400" dirty="0">
                          <a:effectLst/>
                          <a:sym typeface="Huawei Sans" panose="020C0503030203020204" pitchFamily="34" charset="0"/>
                        </a:rPr>
                        <a:t>接入交换机（</a:t>
                      </a:r>
                      <a:r>
                        <a:rPr lang="en-US" altLang="zh-CN" sz="1400" dirty="0" smtClean="0">
                          <a:effectLst/>
                          <a:sym typeface="Huawei Sans" panose="020C0503030203020204" pitchFamily="34" charset="0"/>
                        </a:rPr>
                        <a:t>SW2</a:t>
                      </a:r>
                      <a:r>
                        <a:rPr lang="zh-CN" altLang="en-US" sz="1400" dirty="0" smtClean="0">
                          <a:effectLst/>
                          <a:sym typeface="Huawei Sans" panose="020C0503030203020204" pitchFamily="34" charset="0"/>
                        </a:rPr>
                        <a:t>）</a:t>
                      </a:r>
                      <a:endPar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zh-CN" altLang="en-US" sz="1400" dirty="0">
                          <a:effectLst/>
                          <a:sym typeface="Huawei Sans" panose="020C0503030203020204" pitchFamily="34" charset="0"/>
                        </a:rPr>
                        <a:t>用户所属的</a:t>
                      </a:r>
                      <a:r>
                        <a:rPr lang="en-US" sz="1400" dirty="0">
                          <a:effectLst/>
                          <a:sym typeface="Huawei Sans" panose="020C0503030203020204" pitchFamily="34" charset="0"/>
                        </a:rPr>
                        <a:t>VLAN </a:t>
                      </a:r>
                      <a:r>
                        <a:rPr lang="en-US" sz="1400" dirty="0" smtClean="0">
                          <a:effectLst/>
                          <a:sym typeface="Huawei Sans" panose="020C0503030203020204" pitchFamily="34" charset="0"/>
                        </a:rPr>
                        <a:t>ID：10</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345146">
                <a:tc>
                  <a:txBody>
                    <a:bodyPr/>
                    <a:lstStyle/>
                    <a:p>
                      <a:pPr algn="l">
                        <a:lnSpc>
                          <a:spcPct val="100000"/>
                        </a:lnSpc>
                      </a:pPr>
                      <a:r>
                        <a:rPr lang="en-US" sz="1400" dirty="0">
                          <a:effectLst/>
                          <a:sym typeface="Huawei Sans" panose="020C0503030203020204" pitchFamily="34" charset="0"/>
                        </a:rPr>
                        <a:t>RADIUS</a:t>
                      </a:r>
                      <a:r>
                        <a:rPr lang="zh-CN" altLang="en-US" sz="1400" dirty="0">
                          <a:effectLst/>
                          <a:sym typeface="Huawei Sans" panose="020C0503030203020204" pitchFamily="34" charset="0"/>
                        </a:rPr>
                        <a:t>方案</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zh-CN" altLang="en-US" sz="1400" dirty="0">
                          <a:effectLst/>
                          <a:sym typeface="Huawei Sans" panose="020C0503030203020204" pitchFamily="34" charset="0"/>
                        </a:rPr>
                        <a:t>认证服务器</a:t>
                      </a:r>
                      <a:r>
                        <a:rPr lang="en-US" sz="1400" dirty="0">
                          <a:effectLst/>
                          <a:sym typeface="Huawei Sans" panose="020C0503030203020204" pitchFamily="34" charset="0"/>
                        </a:rPr>
                        <a:t>IP</a:t>
                      </a:r>
                      <a:r>
                        <a:rPr lang="zh-CN" altLang="en-US" sz="1400" dirty="0">
                          <a:effectLst/>
                          <a:sym typeface="Huawei Sans" panose="020C0503030203020204" pitchFamily="34" charset="0"/>
                        </a:rPr>
                        <a:t>地址：</a:t>
                      </a:r>
                      <a:r>
                        <a:rPr lang="en-US" altLang="zh-CN" sz="1400" dirty="0" smtClean="0">
                          <a:effectLst/>
                          <a:sym typeface="Huawei Sans" panose="020C0503030203020204" pitchFamily="34" charset="0"/>
                        </a:rPr>
                        <a:t>192.168.4.30</a:t>
                      </a:r>
                      <a:endParaRPr lang="en-US" altLang="zh-CN" sz="1400" dirty="0">
                        <a:effectLst/>
                        <a:sym typeface="Huawei Sans" panose="020C0503030203020204" pitchFamily="34" charset="0"/>
                      </a:endParaRPr>
                    </a:p>
                    <a:p>
                      <a:pPr algn="l">
                        <a:lnSpc>
                          <a:spcPct val="100000"/>
                        </a:lnSpc>
                      </a:pPr>
                      <a:r>
                        <a:rPr lang="zh-CN" altLang="en-US" sz="1400" dirty="0">
                          <a:effectLst/>
                          <a:sym typeface="Huawei Sans" panose="020C0503030203020204" pitchFamily="34" charset="0"/>
                        </a:rPr>
                        <a:t>认证服务器端口号：</a:t>
                      </a:r>
                      <a:r>
                        <a:rPr lang="en-US" altLang="zh-CN" sz="1400" dirty="0">
                          <a:effectLst/>
                          <a:sym typeface="Huawei Sans" panose="020C0503030203020204" pitchFamily="34" charset="0"/>
                        </a:rPr>
                        <a:t>1812</a:t>
                      </a:r>
                    </a:p>
                    <a:p>
                      <a:pPr algn="l">
                        <a:lnSpc>
                          <a:spcPct val="100000"/>
                        </a:lnSpc>
                      </a:pPr>
                      <a:r>
                        <a:rPr lang="en-US" sz="1400" dirty="0" smtClean="0">
                          <a:effectLst/>
                          <a:sym typeface="Huawei Sans" panose="020C0503030203020204" pitchFamily="34" charset="0"/>
                        </a:rPr>
                        <a:t>RADIUS</a:t>
                      </a:r>
                      <a:r>
                        <a:rPr lang="zh-CN" altLang="en-US" sz="1400" dirty="0">
                          <a:effectLst/>
                          <a:sym typeface="Huawei Sans" panose="020C0503030203020204" pitchFamily="34" charset="0"/>
                        </a:rPr>
                        <a:t>服务器共享密钥</a:t>
                      </a:r>
                      <a:r>
                        <a:rPr lang="zh-CN" altLang="en-US" sz="1400" dirty="0" smtClean="0">
                          <a:effectLst/>
                          <a:sym typeface="Huawei Sans" panose="020C0503030203020204" pitchFamily="34" charset="0"/>
                        </a:rPr>
                        <a:t>：</a:t>
                      </a:r>
                      <a:r>
                        <a:rPr lang="en-US" sz="1400" dirty="0" smtClean="0">
                          <a:effectLst/>
                          <a:sym typeface="Huawei Sans" panose="020C0503030203020204" pitchFamily="34" charset="0"/>
                        </a:rPr>
                        <a:t>Huawei@123</a:t>
                      </a:r>
                      <a:endParaRPr lang="en-US" sz="1400" dirty="0">
                        <a:effectLst/>
                        <a:sym typeface="Huawei Sans" panose="020C0503030203020204" pitchFamily="34" charset="0"/>
                      </a:endParaRPr>
                    </a:p>
                    <a:p>
                      <a:pPr algn="l">
                        <a:lnSpc>
                          <a:spcPct val="100000"/>
                        </a:lnSpc>
                      </a:pPr>
                      <a:r>
                        <a:rPr lang="zh-CN" altLang="en-US" sz="1400" dirty="0">
                          <a:effectLst/>
                          <a:sym typeface="Huawei Sans" panose="020C0503030203020204" pitchFamily="34" charset="0"/>
                        </a:rPr>
                        <a:t>认证域：</a:t>
                      </a:r>
                      <a:r>
                        <a:rPr lang="en-US" altLang="zh-CN" sz="1400" dirty="0" err="1">
                          <a:effectLst/>
                          <a:sym typeface="Huawei Sans" panose="020C0503030203020204" pitchFamily="34" charset="0"/>
                        </a:rPr>
                        <a:t>nac</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r h="345146">
                <a:tc>
                  <a:txBody>
                    <a:bodyPr/>
                    <a:lstStyle/>
                    <a:p>
                      <a:pPr algn="l">
                        <a:lnSpc>
                          <a:spcPct val="100000"/>
                        </a:lnSpc>
                      </a:pPr>
                      <a:r>
                        <a:rPr lang="zh-CN" altLang="en-US" sz="1400" dirty="0">
                          <a:effectLst/>
                          <a:sym typeface="Huawei Sans" panose="020C0503030203020204" pitchFamily="34" charset="0"/>
                        </a:rPr>
                        <a:t>认证后域</a:t>
                      </a:r>
                      <a:r>
                        <a:rPr lang="en-US" altLang="zh-CN" sz="1400" dirty="0">
                          <a:effectLst/>
                          <a:sym typeface="Huawei Sans" panose="020C0503030203020204" pitchFamily="34" charset="0"/>
                        </a:rPr>
                        <a:t>ACL</a:t>
                      </a:r>
                      <a:r>
                        <a:rPr lang="zh-CN" altLang="en-US" sz="1400" dirty="0">
                          <a:effectLst/>
                          <a:sym typeface="Huawei Sans" panose="020C0503030203020204" pitchFamily="34" charset="0"/>
                        </a:rPr>
                        <a:t>编号</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en-US" sz="1400" dirty="0">
                          <a:effectLst/>
                          <a:sym typeface="Huawei Sans" panose="020C0503030203020204" pitchFamily="34" charset="0"/>
                        </a:rPr>
                        <a:t>3001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5146">
                <a:tc>
                  <a:txBody>
                    <a:bodyPr/>
                    <a:lstStyle/>
                    <a:p>
                      <a:pPr algn="l">
                        <a:lnSpc>
                          <a:spcPct val="100000"/>
                        </a:lnSpc>
                      </a:pPr>
                      <a:r>
                        <a:rPr lang="zh-CN" alt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访问权限</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lnSpc>
                          <a:spcPct val="100000"/>
                        </a:lnSpc>
                      </a:pPr>
                      <a:r>
                        <a:rPr lang="zh-CN" alt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禁止访问</a:t>
                      </a: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192.168.5.0/24</a:t>
                      </a:r>
                      <a:r>
                        <a:rPr lang="zh-CN" alt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网段资源</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5920811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配置案例 </a:t>
            </a:r>
            <a:r>
              <a:rPr lang="en-US" altLang="zh-CN"/>
              <a:t>- </a:t>
            </a:r>
            <a:r>
              <a:rPr lang="zh-CN" altLang="en-US"/>
              <a:t>操作步骤 </a:t>
            </a:r>
            <a:r>
              <a:rPr lang="en-US" altLang="zh-CN"/>
              <a:t>(1)</a:t>
            </a:r>
            <a:endParaRPr lang="zh-CN" altLang="en-US" dirty="0"/>
          </a:p>
        </p:txBody>
      </p:sp>
      <p:sp>
        <p:nvSpPr>
          <p:cNvPr id="5" name="文本框 4"/>
          <p:cNvSpPr txBox="1"/>
          <p:nvPr/>
        </p:nvSpPr>
        <p:spPr bwMode="auto">
          <a:xfrm>
            <a:off x="6203759" y="1339206"/>
            <a:ext cx="5508816"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创建</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并配置接口允许通过的</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。（略）</a:t>
            </a:r>
          </a:p>
        </p:txBody>
      </p:sp>
      <p:sp>
        <p:nvSpPr>
          <p:cNvPr id="82" name="文本框 81"/>
          <p:cNvSpPr txBox="1"/>
          <p:nvPr/>
        </p:nvSpPr>
        <p:spPr bwMode="auto">
          <a:xfrm>
            <a:off x="6203759" y="2089680"/>
            <a:ext cx="5508816" cy="7042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2"/>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在控制设备上配置接口地址池</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VLANIF10</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为用户分配</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地址。</a:t>
            </a:r>
          </a:p>
        </p:txBody>
      </p:sp>
      <p:sp>
        <p:nvSpPr>
          <p:cNvPr id="84" name="Rectangle 3"/>
          <p:cNvSpPr/>
          <p:nvPr/>
        </p:nvSpPr>
        <p:spPr>
          <a:xfrm>
            <a:off x="6361043" y="2840390"/>
            <a:ext cx="5351532" cy="1169551"/>
          </a:xfrm>
          <a:prstGeom prst="rect">
            <a:avLst/>
          </a:prstGeom>
          <a:solidFill>
            <a:schemeClr val="bg1">
              <a:lumMod val="85000"/>
            </a:schemeClr>
          </a:solidFill>
          <a:ln>
            <a:noFill/>
          </a:ln>
        </p:spPr>
        <p:txBody>
          <a:bodyPr wrap="square">
            <a:spAutoFit/>
          </a:bodyPr>
          <a:lstStyle/>
          <a:p>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dhcp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enable</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vlanif</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10</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SW1-Vlanif10</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ip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address </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192.168.1.1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255.255.255.0</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SW1-Vlanif10</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dhcp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select interface</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SW1-Vlanif10</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quit</a:t>
            </a:r>
          </a:p>
        </p:txBody>
      </p:sp>
      <p:grpSp>
        <p:nvGrpSpPr>
          <p:cNvPr id="86" name="组合 85"/>
          <p:cNvGrpSpPr/>
          <p:nvPr/>
        </p:nvGrpSpPr>
        <p:grpSpPr>
          <a:xfrm>
            <a:off x="1690371" y="1230248"/>
            <a:ext cx="3641431" cy="4959942"/>
            <a:chOff x="2323418" y="1230248"/>
            <a:chExt cx="3641431" cy="4959942"/>
          </a:xfrm>
        </p:grpSpPr>
        <p:pic>
          <p:nvPicPr>
            <p:cNvPr id="46" name="图片 45" descr="接入交换机.png"/>
            <p:cNvPicPr>
              <a:picLocks noChangeAspect="1"/>
            </p:cNvPicPr>
            <p:nvPr/>
          </p:nvPicPr>
          <p:blipFill>
            <a:blip r:embed="rId3" cstate="print"/>
            <a:stretch>
              <a:fillRect/>
            </a:stretch>
          </p:blipFill>
          <p:spPr bwMode="gray">
            <a:xfrm>
              <a:off x="2969353" y="4942101"/>
              <a:ext cx="540000" cy="441818"/>
            </a:xfrm>
            <a:prstGeom prst="rect">
              <a:avLst/>
            </a:prstGeom>
          </p:spPr>
        </p:pic>
        <p:pic>
          <p:nvPicPr>
            <p:cNvPr id="47" name="图片 46" descr="PC.png"/>
            <p:cNvPicPr>
              <a:picLocks noChangeAspect="1"/>
            </p:cNvPicPr>
            <p:nvPr/>
          </p:nvPicPr>
          <p:blipFill>
            <a:blip r:embed="rId4" cstate="print"/>
            <a:stretch>
              <a:fillRect/>
            </a:stretch>
          </p:blipFill>
          <p:spPr bwMode="gray">
            <a:xfrm>
              <a:off x="2532468" y="5776190"/>
              <a:ext cx="539063" cy="414000"/>
            </a:xfrm>
            <a:prstGeom prst="rect">
              <a:avLst/>
            </a:prstGeom>
          </p:spPr>
        </p:pic>
        <p:pic>
          <p:nvPicPr>
            <p:cNvPr id="50" name="图片 49" descr="汇聚交换机.png"/>
            <p:cNvPicPr>
              <a:picLocks noChangeAspect="1"/>
            </p:cNvPicPr>
            <p:nvPr/>
          </p:nvPicPr>
          <p:blipFill>
            <a:blip r:embed="rId5" cstate="print"/>
            <a:stretch>
              <a:fillRect/>
            </a:stretch>
          </p:blipFill>
          <p:spPr bwMode="gray">
            <a:xfrm>
              <a:off x="2969353" y="3505767"/>
              <a:ext cx="540000" cy="441818"/>
            </a:xfrm>
            <a:prstGeom prst="rect">
              <a:avLst/>
            </a:prstGeom>
          </p:spPr>
        </p:pic>
        <p:cxnSp>
          <p:nvCxnSpPr>
            <p:cNvPr id="51" name="直接连接符 50"/>
            <p:cNvCxnSpPr>
              <a:stCxn id="46" idx="2"/>
              <a:endCxn id="47" idx="0"/>
            </p:cNvCxnSpPr>
            <p:nvPr/>
          </p:nvCxnSpPr>
          <p:spPr bwMode="gray">
            <a:xfrm flipH="1">
              <a:off x="2802000" y="5383919"/>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endCxn id="46" idx="2"/>
            </p:cNvCxnSpPr>
            <p:nvPr/>
          </p:nvCxnSpPr>
          <p:spPr bwMode="gray">
            <a:xfrm flipH="1" flipV="1">
              <a:off x="3239353" y="5383919"/>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46" idx="0"/>
              <a:endCxn id="50" idx="2"/>
            </p:cNvCxnSpPr>
            <p:nvPr/>
          </p:nvCxnSpPr>
          <p:spPr bwMode="gray">
            <a:xfrm flipV="1">
              <a:off x="3239353" y="3947585"/>
              <a:ext cx="0" cy="9945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50" idx="0"/>
            </p:cNvCxnSpPr>
            <p:nvPr/>
          </p:nvCxnSpPr>
          <p:spPr bwMode="gray">
            <a:xfrm flipV="1">
              <a:off x="3239353" y="2723017"/>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bwMode="gray">
            <a:xfrm>
              <a:off x="3234237" y="3921606"/>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60" name="文本框 59"/>
            <p:cNvSpPr txBox="1"/>
            <p:nvPr/>
          </p:nvSpPr>
          <p:spPr bwMode="gray">
            <a:xfrm>
              <a:off x="3239353" y="3197990"/>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61" name="Freeform 159"/>
            <p:cNvSpPr>
              <a:spLocks noChangeAspect="1"/>
            </p:cNvSpPr>
            <p:nvPr/>
          </p:nvSpPr>
          <p:spPr bwMode="gray">
            <a:xfrm flipH="1">
              <a:off x="2651201" y="2042864"/>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2848051" y="2272510"/>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63" name="文本框 62"/>
            <p:cNvSpPr txBox="1"/>
            <p:nvPr/>
          </p:nvSpPr>
          <p:spPr bwMode="gray">
            <a:xfrm>
              <a:off x="3483695" y="3602892"/>
              <a:ext cx="1293944" cy="307777"/>
            </a:xfrm>
            <a:prstGeom prst="rect">
              <a:avLst/>
            </a:prstGeom>
            <a:noFill/>
          </p:spPr>
          <p:txBody>
            <a:bodyPr wrap="none" rtlCol="0">
              <a:spAutoFit/>
            </a:bodyPr>
            <a:lstStyle/>
            <a:p>
              <a:r>
                <a:rPr lang="en-US" altLang="zh-CN" sz="1400" b="1" dirty="0" smtClean="0"/>
                <a:t>SW1</a:t>
              </a:r>
              <a:r>
                <a:rPr lang="zh-CN" altLang="en-US" sz="1400" b="1" dirty="0" smtClean="0"/>
                <a:t>（网关）</a:t>
              </a:r>
              <a:endParaRPr lang="zh-CN" altLang="en-US" sz="1400" b="1" dirty="0"/>
            </a:p>
          </p:txBody>
        </p:sp>
        <p:sp>
          <p:nvSpPr>
            <p:cNvPr id="64" name="文本框 63"/>
            <p:cNvSpPr txBox="1"/>
            <p:nvPr/>
          </p:nvSpPr>
          <p:spPr bwMode="gray">
            <a:xfrm>
              <a:off x="3447561" y="5050423"/>
              <a:ext cx="1293944" cy="307777"/>
            </a:xfrm>
            <a:prstGeom prst="rect">
              <a:avLst/>
            </a:prstGeom>
            <a:noFill/>
          </p:spPr>
          <p:txBody>
            <a:bodyPr wrap="none" rtlCol="0">
              <a:spAutoFit/>
            </a:bodyPr>
            <a:lstStyle/>
            <a:p>
              <a:r>
                <a:rPr lang="en-US" altLang="zh-CN" sz="1400" b="1" dirty="0" smtClean="0"/>
                <a:t>SW2</a:t>
              </a:r>
              <a:r>
                <a:rPr lang="zh-CN" altLang="en-US" sz="1400" b="1" dirty="0" smtClean="0"/>
                <a:t>（接入）</a:t>
              </a:r>
              <a:endParaRPr lang="zh-CN" altLang="en-US" sz="1400" b="1" dirty="0"/>
            </a:p>
          </p:txBody>
        </p:sp>
        <p:sp>
          <p:nvSpPr>
            <p:cNvPr id="66" name="文本框 65"/>
            <p:cNvSpPr txBox="1"/>
            <p:nvPr/>
          </p:nvSpPr>
          <p:spPr bwMode="gray">
            <a:xfrm>
              <a:off x="2418960" y="1230248"/>
              <a:ext cx="1383712" cy="523220"/>
            </a:xfrm>
            <a:prstGeom prst="rect">
              <a:avLst/>
            </a:prstGeom>
            <a:noFill/>
          </p:spPr>
          <p:txBody>
            <a:bodyPr wrap="none" rtlCol="0">
              <a:spAutoFit/>
            </a:bodyPr>
            <a:lstStyle/>
            <a:p>
              <a:pPr algn="ctr"/>
              <a:r>
                <a:rPr lang="en-US" altLang="zh-CN" sz="1400" dirty="0" smtClean="0"/>
                <a:t>RADIUS Server</a:t>
              </a:r>
            </a:p>
            <a:p>
              <a:pPr algn="ctr"/>
              <a:r>
                <a:rPr lang="en-US" altLang="zh-CN" sz="1400" dirty="0" smtClean="0"/>
                <a:t>192.168.4.30</a:t>
              </a:r>
              <a:endParaRPr lang="zh-CN" altLang="en-US" sz="1400" dirty="0"/>
            </a:p>
          </p:txBody>
        </p:sp>
        <p:sp>
          <p:nvSpPr>
            <p:cNvPr id="67" name="文本框 66"/>
            <p:cNvSpPr txBox="1"/>
            <p:nvPr/>
          </p:nvSpPr>
          <p:spPr bwMode="gray">
            <a:xfrm>
              <a:off x="3234236" y="465894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68" name="文本框 67"/>
            <p:cNvSpPr txBox="1"/>
            <p:nvPr/>
          </p:nvSpPr>
          <p:spPr bwMode="gray">
            <a:xfrm>
              <a:off x="2323418" y="5313792"/>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69" name="文本框 68"/>
            <p:cNvSpPr txBox="1"/>
            <p:nvPr/>
          </p:nvSpPr>
          <p:spPr bwMode="gray">
            <a:xfrm>
              <a:off x="3327333" y="5316248"/>
              <a:ext cx="851515" cy="307777"/>
            </a:xfrm>
            <a:prstGeom prst="rect">
              <a:avLst/>
            </a:prstGeom>
            <a:noFill/>
          </p:spPr>
          <p:txBody>
            <a:bodyPr wrap="none" rtlCol="0">
              <a:spAutoFit/>
            </a:bodyPr>
            <a:lstStyle/>
            <a:p>
              <a:r>
                <a:rPr lang="en-US" altLang="zh-CN" sz="1400" dirty="0"/>
                <a:t>GE0/0/3</a:t>
              </a:r>
              <a:endParaRPr lang="zh-CN" altLang="en-US" sz="1400" dirty="0"/>
            </a:p>
          </p:txBody>
        </p:sp>
        <p:pic>
          <p:nvPicPr>
            <p:cNvPr id="73" name="图片 72" descr="PC.png"/>
            <p:cNvPicPr>
              <a:picLocks noChangeAspect="1"/>
            </p:cNvPicPr>
            <p:nvPr/>
          </p:nvPicPr>
          <p:blipFill>
            <a:blip r:embed="rId4" cstate="print"/>
            <a:stretch>
              <a:fillRect/>
            </a:stretch>
          </p:blipFill>
          <p:spPr bwMode="gray">
            <a:xfrm>
              <a:off x="3421615" y="5776190"/>
              <a:ext cx="539063" cy="414000"/>
            </a:xfrm>
            <a:prstGeom prst="rect">
              <a:avLst/>
            </a:prstGeom>
          </p:spPr>
        </p:pic>
        <p:sp>
          <p:nvSpPr>
            <p:cNvPr id="75" name="文本框 74"/>
            <p:cNvSpPr txBox="1"/>
            <p:nvPr/>
          </p:nvSpPr>
          <p:spPr bwMode="gray">
            <a:xfrm>
              <a:off x="2462694" y="5531435"/>
              <a:ext cx="800219" cy="276999"/>
            </a:xfrm>
            <a:prstGeom prst="rect">
              <a:avLst/>
            </a:prstGeom>
            <a:solidFill>
              <a:schemeClr val="bg1"/>
            </a:solidFill>
          </p:spPr>
          <p:txBody>
            <a:bodyPr wrap="none" rtlCol="0">
              <a:spAutoFit/>
            </a:bodyPr>
            <a:lstStyle/>
            <a:p>
              <a:r>
                <a:rPr lang="en-US" altLang="zh-CN" sz="1200" dirty="0" smtClean="0"/>
                <a:t>VLAN 10</a:t>
              </a:r>
              <a:endParaRPr lang="zh-CN" altLang="en-US" sz="1200" dirty="0"/>
            </a:p>
          </p:txBody>
        </p:sp>
        <p:sp>
          <p:nvSpPr>
            <p:cNvPr id="76" name="文本框 75"/>
            <p:cNvSpPr txBox="1"/>
            <p:nvPr/>
          </p:nvSpPr>
          <p:spPr bwMode="gray">
            <a:xfrm>
              <a:off x="2710201" y="4313086"/>
              <a:ext cx="1058303" cy="276999"/>
            </a:xfrm>
            <a:prstGeom prst="rect">
              <a:avLst/>
            </a:prstGeom>
            <a:solidFill>
              <a:schemeClr val="bg1"/>
            </a:solidFill>
          </p:spPr>
          <p:txBody>
            <a:bodyPr wrap="none" rtlCol="0">
              <a:spAutoFit/>
            </a:bodyPr>
            <a:lstStyle/>
            <a:p>
              <a:r>
                <a:rPr lang="en-US" altLang="zh-CN" sz="1200" dirty="0" smtClean="0"/>
                <a:t>VLAN 10, 20</a:t>
              </a:r>
              <a:endParaRPr lang="zh-CN" altLang="en-US" sz="1200" dirty="0"/>
            </a:p>
          </p:txBody>
        </p:sp>
        <p:pic>
          <p:nvPicPr>
            <p:cNvPr id="77" name="图片 76"/>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823833" y="1699898"/>
              <a:ext cx="540000" cy="442800"/>
            </a:xfrm>
            <a:prstGeom prst="rect">
              <a:avLst/>
            </a:prstGeom>
          </p:spPr>
        </p:pic>
        <p:sp>
          <p:nvSpPr>
            <p:cNvPr id="78" name="文本框 77"/>
            <p:cNvSpPr txBox="1"/>
            <p:nvPr/>
          </p:nvSpPr>
          <p:spPr bwMode="gray">
            <a:xfrm>
              <a:off x="2837901" y="2897497"/>
              <a:ext cx="800219" cy="276999"/>
            </a:xfrm>
            <a:prstGeom prst="rect">
              <a:avLst/>
            </a:prstGeom>
            <a:solidFill>
              <a:schemeClr val="bg1"/>
            </a:solidFill>
          </p:spPr>
          <p:txBody>
            <a:bodyPr wrap="none" rtlCol="0">
              <a:spAutoFit/>
            </a:bodyPr>
            <a:lstStyle/>
            <a:p>
              <a:r>
                <a:rPr lang="en-US" altLang="zh-CN" sz="1200" dirty="0" smtClean="0"/>
                <a:t>VLAN 30</a:t>
              </a:r>
              <a:endParaRPr lang="zh-CN" altLang="en-US" sz="1200" dirty="0"/>
            </a:p>
          </p:txBody>
        </p:sp>
        <p:sp>
          <p:nvSpPr>
            <p:cNvPr id="85" name="文本框 84"/>
            <p:cNvSpPr txBox="1"/>
            <p:nvPr/>
          </p:nvSpPr>
          <p:spPr bwMode="gray">
            <a:xfrm>
              <a:off x="4055010" y="1345582"/>
              <a:ext cx="1909839" cy="523220"/>
            </a:xfrm>
            <a:prstGeom prst="rect">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txBody>
            <a:bodyPr wrap="square" rtlCol="0">
              <a:spAutoFit/>
            </a:bodyPr>
            <a:lstStyle/>
            <a:p>
              <a:r>
                <a:rPr lang="zh-CN" altLang="en-US" sz="1400" dirty="0" smtClean="0"/>
                <a:t>用户</a:t>
              </a:r>
              <a:r>
                <a:rPr lang="en-US" altLang="zh-CN" sz="1400" dirty="0" smtClean="0"/>
                <a:t>VLAN</a:t>
              </a:r>
              <a:r>
                <a:rPr lang="zh-CN" altLang="en-US" sz="1400" dirty="0" smtClean="0"/>
                <a:t>：</a:t>
              </a:r>
              <a:r>
                <a:rPr lang="en-US" altLang="zh-CN" sz="1400" dirty="0" smtClean="0"/>
                <a:t>VLAN 10</a:t>
              </a:r>
            </a:p>
            <a:p>
              <a:r>
                <a:rPr lang="zh-CN" altLang="en-US" sz="1400" dirty="0" smtClean="0"/>
                <a:t>管理</a:t>
              </a:r>
              <a:r>
                <a:rPr lang="en-US" altLang="zh-CN" sz="1400" dirty="0" smtClean="0"/>
                <a:t>VLAN</a:t>
              </a:r>
              <a:r>
                <a:rPr lang="zh-CN" altLang="en-US" sz="1400" dirty="0" smtClean="0"/>
                <a:t>：</a:t>
              </a:r>
              <a:r>
                <a:rPr lang="en-US" altLang="zh-CN" sz="1400" dirty="0" smtClean="0"/>
                <a:t>VLAN 20</a:t>
              </a:r>
              <a:endParaRPr lang="zh-CN" altLang="en-US" sz="1400" dirty="0"/>
            </a:p>
          </p:txBody>
        </p:sp>
      </p:grpSp>
    </p:spTree>
    <p:extLst>
      <p:ext uri="{BB962C8B-B14F-4D97-AF65-F5344CB8AC3E}">
        <p14:creationId xmlns:p14="http://schemas.microsoft.com/office/powerpoint/2010/main" val="208875625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配置案例 </a:t>
            </a:r>
            <a:r>
              <a:rPr lang="en-US" altLang="zh-CN" dirty="0"/>
              <a:t>- </a:t>
            </a:r>
            <a:r>
              <a:rPr lang="zh-CN" altLang="en-US" dirty="0"/>
              <a:t>操作步骤 </a:t>
            </a:r>
            <a:r>
              <a:rPr lang="en-US" altLang="zh-CN" dirty="0" smtClean="0"/>
              <a:t>(2)</a:t>
            </a:r>
            <a:endParaRPr lang="zh-CN" altLang="en-US" dirty="0"/>
          </a:p>
        </p:txBody>
      </p:sp>
      <p:sp>
        <p:nvSpPr>
          <p:cNvPr id="4" name="Rectangle 3"/>
          <p:cNvSpPr/>
          <p:nvPr/>
        </p:nvSpPr>
        <p:spPr>
          <a:xfrm>
            <a:off x="6278286" y="1726964"/>
            <a:ext cx="5434289" cy="2031325"/>
          </a:xfrm>
          <a:prstGeom prst="rect">
            <a:avLst/>
          </a:prstGeom>
          <a:solidFill>
            <a:schemeClr val="bg1">
              <a:lumMod val="85000"/>
            </a:schemeClr>
          </a:solidFill>
          <a:ln>
            <a:noFill/>
          </a:ln>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vlanif</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20</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W1</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-Vlanif20</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ip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address </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192.168.2.1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255.255.255.0</a:t>
            </a:r>
          </a:p>
          <a:p>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[SW1-Vlanif20] </a:t>
            </a:r>
            <a:r>
              <a:rPr lang="en-US" altLang="zh-CN" sz="1400" dirty="0" err="1" smtClean="0">
                <a:latin typeface="Huawei Sans" panose="020C0503030203020204" pitchFamily="34" charset="0"/>
                <a:ea typeface="方正兰亭黑简体" panose="02000000000000000000" pitchFamily="2" charset="-122"/>
                <a:cs typeface="Huawei Sans" panose="020C0503030203020204" pitchFamily="34" charset="0"/>
              </a:rPr>
              <a:t>dhcp</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 select interface</a:t>
            </a:r>
          </a:p>
          <a:p>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[SW1-Vlanif20] </a:t>
            </a:r>
            <a:r>
              <a:rPr lang="en-US" altLang="zh-CN" sz="1400" dirty="0" err="1" smtClean="0">
                <a:latin typeface="Huawei Sans" panose="020C0503030203020204" pitchFamily="34" charset="0"/>
                <a:ea typeface="方正兰亭黑简体" panose="02000000000000000000" pitchFamily="2" charset="-122"/>
                <a:cs typeface="Huawei Sans" panose="020C0503030203020204" pitchFamily="34" charset="0"/>
              </a:rPr>
              <a:t>dhcp</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 server option 43 </a:t>
            </a:r>
            <a:r>
              <a:rPr lang="en-US" altLang="zh-CN" sz="1400" dirty="0" err="1" smtClean="0">
                <a:latin typeface="Huawei Sans" panose="020C0503030203020204" pitchFamily="34" charset="0"/>
                <a:ea typeface="方正兰亭黑简体" panose="02000000000000000000" pitchFamily="2" charset="-122"/>
                <a:cs typeface="Huawei Sans" panose="020C0503030203020204" pitchFamily="34" charset="0"/>
              </a:rPr>
              <a:t>ip</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-address 192.168.2.1</a:t>
            </a:r>
          </a:p>
          <a:p>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W1</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-Vlanif20</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quit</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W1</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capwap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source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vlanif</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20</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W1</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as-</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auth</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W1</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-as-auth</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auth</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-mode none</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W1</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-as-auth</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quit</a:t>
            </a:r>
          </a:p>
        </p:txBody>
      </p:sp>
      <p:sp>
        <p:nvSpPr>
          <p:cNvPr id="5" name="文本框 4"/>
          <p:cNvSpPr txBox="1"/>
          <p:nvPr/>
        </p:nvSpPr>
        <p:spPr bwMode="auto">
          <a:xfrm>
            <a:off x="6203759" y="1350394"/>
            <a:ext cx="5256403"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3"/>
            </a:pP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在</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控制</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设备和</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接入</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设备</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上建立</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CAPWAP</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隧道。</a:t>
            </a:r>
            <a:endPar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Rectangle 3"/>
          <p:cNvSpPr/>
          <p:nvPr/>
        </p:nvSpPr>
        <p:spPr>
          <a:xfrm>
            <a:off x="6278286" y="3993105"/>
            <a:ext cx="5434289" cy="954107"/>
          </a:xfrm>
          <a:prstGeom prst="rect">
            <a:avLst/>
          </a:prstGeom>
          <a:solidFill>
            <a:schemeClr val="bg1">
              <a:lumMod val="85000"/>
            </a:schemeClr>
          </a:solidFill>
          <a:ln>
            <a:noFill/>
          </a:ln>
        </p:spPr>
        <p:txBody>
          <a:bodyPr wrap="square">
            <a:spAutoFit/>
          </a:bodyPr>
          <a:lstStyle/>
          <a:p>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vlanif</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20</a:t>
            </a:r>
          </a:p>
          <a:p>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[SW2-Vlanif20</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err="1" smtClean="0">
                <a:latin typeface="Huawei Sans" panose="020C0503030203020204" pitchFamily="34" charset="0"/>
                <a:ea typeface="方正兰亭黑简体" panose="02000000000000000000" pitchFamily="2" charset="-122"/>
                <a:cs typeface="Huawei Sans" panose="020C0503030203020204" pitchFamily="34" charset="0"/>
              </a:rPr>
              <a:t>ip</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 address </a:t>
            </a:r>
            <a:r>
              <a:rPr lang="en-US" altLang="zh-CN" sz="1400" dirty="0" err="1" smtClean="0">
                <a:latin typeface="Huawei Sans" panose="020C0503030203020204" pitchFamily="34" charset="0"/>
                <a:ea typeface="方正兰亭黑简体" panose="02000000000000000000" pitchFamily="2" charset="-122"/>
                <a:cs typeface="Huawei Sans" panose="020C0503030203020204" pitchFamily="34" charset="0"/>
              </a:rPr>
              <a:t>dhcp-alloc</a:t>
            </a:r>
            <a:endPar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[SW2-Vlanif20</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quit</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as access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vlanif</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20</a:t>
            </a:r>
          </a:p>
        </p:txBody>
      </p:sp>
      <p:grpSp>
        <p:nvGrpSpPr>
          <p:cNvPr id="113" name="组合 112"/>
          <p:cNvGrpSpPr/>
          <p:nvPr/>
        </p:nvGrpSpPr>
        <p:grpSpPr>
          <a:xfrm>
            <a:off x="1690371" y="1230248"/>
            <a:ext cx="3641431" cy="4959942"/>
            <a:chOff x="2323418" y="1230248"/>
            <a:chExt cx="3641431" cy="4959942"/>
          </a:xfrm>
        </p:grpSpPr>
        <p:pic>
          <p:nvPicPr>
            <p:cNvPr id="114" name="图片 113" descr="接入交换机.png"/>
            <p:cNvPicPr>
              <a:picLocks noChangeAspect="1"/>
            </p:cNvPicPr>
            <p:nvPr/>
          </p:nvPicPr>
          <p:blipFill>
            <a:blip r:embed="rId3" cstate="print"/>
            <a:stretch>
              <a:fillRect/>
            </a:stretch>
          </p:blipFill>
          <p:spPr bwMode="gray">
            <a:xfrm>
              <a:off x="2969353" y="4942101"/>
              <a:ext cx="540000" cy="441818"/>
            </a:xfrm>
            <a:prstGeom prst="rect">
              <a:avLst/>
            </a:prstGeom>
          </p:spPr>
        </p:pic>
        <p:pic>
          <p:nvPicPr>
            <p:cNvPr id="115" name="图片 114" descr="PC.png"/>
            <p:cNvPicPr>
              <a:picLocks noChangeAspect="1"/>
            </p:cNvPicPr>
            <p:nvPr/>
          </p:nvPicPr>
          <p:blipFill>
            <a:blip r:embed="rId4" cstate="print"/>
            <a:stretch>
              <a:fillRect/>
            </a:stretch>
          </p:blipFill>
          <p:spPr bwMode="gray">
            <a:xfrm>
              <a:off x="2532468" y="5776190"/>
              <a:ext cx="539063" cy="414000"/>
            </a:xfrm>
            <a:prstGeom prst="rect">
              <a:avLst/>
            </a:prstGeom>
          </p:spPr>
        </p:pic>
        <p:pic>
          <p:nvPicPr>
            <p:cNvPr id="116" name="图片 115" descr="汇聚交换机.png"/>
            <p:cNvPicPr>
              <a:picLocks noChangeAspect="1"/>
            </p:cNvPicPr>
            <p:nvPr/>
          </p:nvPicPr>
          <p:blipFill>
            <a:blip r:embed="rId5" cstate="print"/>
            <a:stretch>
              <a:fillRect/>
            </a:stretch>
          </p:blipFill>
          <p:spPr bwMode="gray">
            <a:xfrm>
              <a:off x="2969353" y="3505767"/>
              <a:ext cx="540000" cy="441818"/>
            </a:xfrm>
            <a:prstGeom prst="rect">
              <a:avLst/>
            </a:prstGeom>
          </p:spPr>
        </p:pic>
        <p:cxnSp>
          <p:nvCxnSpPr>
            <p:cNvPr id="117" name="直接连接符 116"/>
            <p:cNvCxnSpPr>
              <a:stCxn id="114" idx="2"/>
              <a:endCxn id="115" idx="0"/>
            </p:cNvCxnSpPr>
            <p:nvPr/>
          </p:nvCxnSpPr>
          <p:spPr bwMode="gray">
            <a:xfrm flipH="1">
              <a:off x="2802000" y="5383919"/>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endCxn id="114" idx="2"/>
            </p:cNvCxnSpPr>
            <p:nvPr/>
          </p:nvCxnSpPr>
          <p:spPr bwMode="gray">
            <a:xfrm flipH="1" flipV="1">
              <a:off x="3239353" y="5383919"/>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a:stCxn id="114" idx="0"/>
              <a:endCxn id="116" idx="2"/>
            </p:cNvCxnSpPr>
            <p:nvPr/>
          </p:nvCxnSpPr>
          <p:spPr bwMode="gray">
            <a:xfrm flipV="1">
              <a:off x="3239353" y="3947585"/>
              <a:ext cx="0" cy="9945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16" idx="0"/>
            </p:cNvCxnSpPr>
            <p:nvPr/>
          </p:nvCxnSpPr>
          <p:spPr bwMode="gray">
            <a:xfrm flipV="1">
              <a:off x="3239353" y="2723017"/>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bwMode="gray">
            <a:xfrm>
              <a:off x="3234237" y="3921606"/>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122" name="文本框 121"/>
            <p:cNvSpPr txBox="1"/>
            <p:nvPr/>
          </p:nvSpPr>
          <p:spPr bwMode="gray">
            <a:xfrm>
              <a:off x="3239353" y="3197990"/>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123" name="Freeform 159"/>
            <p:cNvSpPr>
              <a:spLocks noChangeAspect="1"/>
            </p:cNvSpPr>
            <p:nvPr/>
          </p:nvSpPr>
          <p:spPr bwMode="gray">
            <a:xfrm flipH="1">
              <a:off x="2651201" y="2042864"/>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文本框 123"/>
            <p:cNvSpPr txBox="1"/>
            <p:nvPr/>
          </p:nvSpPr>
          <p:spPr bwMode="gray">
            <a:xfrm>
              <a:off x="2848051" y="2272510"/>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125" name="文本框 124"/>
            <p:cNvSpPr txBox="1"/>
            <p:nvPr/>
          </p:nvSpPr>
          <p:spPr bwMode="gray">
            <a:xfrm>
              <a:off x="3483695" y="3602892"/>
              <a:ext cx="1293944" cy="307777"/>
            </a:xfrm>
            <a:prstGeom prst="rect">
              <a:avLst/>
            </a:prstGeom>
            <a:noFill/>
          </p:spPr>
          <p:txBody>
            <a:bodyPr wrap="none" rtlCol="0">
              <a:spAutoFit/>
            </a:bodyPr>
            <a:lstStyle/>
            <a:p>
              <a:r>
                <a:rPr lang="en-US" altLang="zh-CN" sz="1400" b="1" dirty="0" smtClean="0"/>
                <a:t>SW1</a:t>
              </a:r>
              <a:r>
                <a:rPr lang="zh-CN" altLang="en-US" sz="1400" b="1" dirty="0" smtClean="0"/>
                <a:t>（网关）</a:t>
              </a:r>
              <a:endParaRPr lang="zh-CN" altLang="en-US" sz="1400" b="1" dirty="0"/>
            </a:p>
          </p:txBody>
        </p:sp>
        <p:sp>
          <p:nvSpPr>
            <p:cNvPr id="126" name="文本框 125"/>
            <p:cNvSpPr txBox="1"/>
            <p:nvPr/>
          </p:nvSpPr>
          <p:spPr bwMode="gray">
            <a:xfrm>
              <a:off x="3447561" y="5050423"/>
              <a:ext cx="1293944" cy="307777"/>
            </a:xfrm>
            <a:prstGeom prst="rect">
              <a:avLst/>
            </a:prstGeom>
            <a:noFill/>
          </p:spPr>
          <p:txBody>
            <a:bodyPr wrap="none" rtlCol="0">
              <a:spAutoFit/>
            </a:bodyPr>
            <a:lstStyle/>
            <a:p>
              <a:r>
                <a:rPr lang="en-US" altLang="zh-CN" sz="1400" b="1" dirty="0" smtClean="0"/>
                <a:t>SW2</a:t>
              </a:r>
              <a:r>
                <a:rPr lang="zh-CN" altLang="en-US" sz="1400" b="1" dirty="0" smtClean="0"/>
                <a:t>（接入）</a:t>
              </a:r>
              <a:endParaRPr lang="zh-CN" altLang="en-US" sz="1400" b="1" dirty="0"/>
            </a:p>
          </p:txBody>
        </p:sp>
        <p:sp>
          <p:nvSpPr>
            <p:cNvPr id="127" name="文本框 126"/>
            <p:cNvSpPr txBox="1"/>
            <p:nvPr/>
          </p:nvSpPr>
          <p:spPr bwMode="gray">
            <a:xfrm>
              <a:off x="2418960" y="1230248"/>
              <a:ext cx="1383712" cy="523220"/>
            </a:xfrm>
            <a:prstGeom prst="rect">
              <a:avLst/>
            </a:prstGeom>
            <a:noFill/>
          </p:spPr>
          <p:txBody>
            <a:bodyPr wrap="none" rtlCol="0">
              <a:spAutoFit/>
            </a:bodyPr>
            <a:lstStyle/>
            <a:p>
              <a:pPr algn="ctr"/>
              <a:r>
                <a:rPr lang="en-US" altLang="zh-CN" sz="1400" dirty="0" smtClean="0"/>
                <a:t>RADIUS Server</a:t>
              </a:r>
            </a:p>
            <a:p>
              <a:pPr algn="ctr"/>
              <a:r>
                <a:rPr lang="en-US" altLang="zh-CN" sz="1400" dirty="0" smtClean="0"/>
                <a:t>192.168.4.30</a:t>
              </a:r>
              <a:endParaRPr lang="zh-CN" altLang="en-US" sz="1400" dirty="0"/>
            </a:p>
          </p:txBody>
        </p:sp>
        <p:sp>
          <p:nvSpPr>
            <p:cNvPr id="128" name="文本框 127"/>
            <p:cNvSpPr txBox="1"/>
            <p:nvPr/>
          </p:nvSpPr>
          <p:spPr bwMode="gray">
            <a:xfrm>
              <a:off x="3234236" y="465894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129" name="文本框 128"/>
            <p:cNvSpPr txBox="1"/>
            <p:nvPr/>
          </p:nvSpPr>
          <p:spPr bwMode="gray">
            <a:xfrm>
              <a:off x="2323418" y="5313792"/>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130" name="文本框 129"/>
            <p:cNvSpPr txBox="1"/>
            <p:nvPr/>
          </p:nvSpPr>
          <p:spPr bwMode="gray">
            <a:xfrm>
              <a:off x="3327333" y="5316248"/>
              <a:ext cx="851515" cy="307777"/>
            </a:xfrm>
            <a:prstGeom prst="rect">
              <a:avLst/>
            </a:prstGeom>
            <a:noFill/>
          </p:spPr>
          <p:txBody>
            <a:bodyPr wrap="none" rtlCol="0">
              <a:spAutoFit/>
            </a:bodyPr>
            <a:lstStyle/>
            <a:p>
              <a:r>
                <a:rPr lang="en-US" altLang="zh-CN" sz="1400" dirty="0"/>
                <a:t>GE0/0/3</a:t>
              </a:r>
              <a:endParaRPr lang="zh-CN" altLang="en-US" sz="1400" dirty="0"/>
            </a:p>
          </p:txBody>
        </p:sp>
        <p:pic>
          <p:nvPicPr>
            <p:cNvPr id="131" name="图片 130" descr="PC.png"/>
            <p:cNvPicPr>
              <a:picLocks noChangeAspect="1"/>
            </p:cNvPicPr>
            <p:nvPr/>
          </p:nvPicPr>
          <p:blipFill>
            <a:blip r:embed="rId4" cstate="print"/>
            <a:stretch>
              <a:fillRect/>
            </a:stretch>
          </p:blipFill>
          <p:spPr bwMode="gray">
            <a:xfrm>
              <a:off x="3421615" y="5776190"/>
              <a:ext cx="539063" cy="414000"/>
            </a:xfrm>
            <a:prstGeom prst="rect">
              <a:avLst/>
            </a:prstGeom>
          </p:spPr>
        </p:pic>
        <p:sp>
          <p:nvSpPr>
            <p:cNvPr id="132" name="文本框 131"/>
            <p:cNvSpPr txBox="1"/>
            <p:nvPr/>
          </p:nvSpPr>
          <p:spPr bwMode="gray">
            <a:xfrm>
              <a:off x="2462694" y="5531435"/>
              <a:ext cx="800219" cy="276999"/>
            </a:xfrm>
            <a:prstGeom prst="rect">
              <a:avLst/>
            </a:prstGeom>
            <a:solidFill>
              <a:schemeClr val="bg1"/>
            </a:solidFill>
          </p:spPr>
          <p:txBody>
            <a:bodyPr wrap="none" rtlCol="0">
              <a:spAutoFit/>
            </a:bodyPr>
            <a:lstStyle/>
            <a:p>
              <a:r>
                <a:rPr lang="en-US" altLang="zh-CN" sz="1200" dirty="0" smtClean="0"/>
                <a:t>VLAN 10</a:t>
              </a:r>
              <a:endParaRPr lang="zh-CN" altLang="en-US" sz="1200" dirty="0"/>
            </a:p>
          </p:txBody>
        </p:sp>
        <p:sp>
          <p:nvSpPr>
            <p:cNvPr id="133" name="文本框 132"/>
            <p:cNvSpPr txBox="1"/>
            <p:nvPr/>
          </p:nvSpPr>
          <p:spPr bwMode="gray">
            <a:xfrm>
              <a:off x="2710201" y="4313086"/>
              <a:ext cx="1058303" cy="276999"/>
            </a:xfrm>
            <a:prstGeom prst="rect">
              <a:avLst/>
            </a:prstGeom>
            <a:solidFill>
              <a:schemeClr val="bg1"/>
            </a:solidFill>
          </p:spPr>
          <p:txBody>
            <a:bodyPr wrap="none" rtlCol="0">
              <a:spAutoFit/>
            </a:bodyPr>
            <a:lstStyle/>
            <a:p>
              <a:r>
                <a:rPr lang="en-US" altLang="zh-CN" sz="1200" dirty="0" smtClean="0"/>
                <a:t>VLAN 10, 20</a:t>
              </a:r>
              <a:endParaRPr lang="zh-CN" altLang="en-US" sz="1200" dirty="0"/>
            </a:p>
          </p:txBody>
        </p:sp>
        <p:pic>
          <p:nvPicPr>
            <p:cNvPr id="134" name="图片 133"/>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823833" y="1699898"/>
              <a:ext cx="540000" cy="442800"/>
            </a:xfrm>
            <a:prstGeom prst="rect">
              <a:avLst/>
            </a:prstGeom>
          </p:spPr>
        </p:pic>
        <p:sp>
          <p:nvSpPr>
            <p:cNvPr id="135" name="文本框 134"/>
            <p:cNvSpPr txBox="1"/>
            <p:nvPr/>
          </p:nvSpPr>
          <p:spPr bwMode="gray">
            <a:xfrm>
              <a:off x="2837901" y="2897497"/>
              <a:ext cx="800219" cy="276999"/>
            </a:xfrm>
            <a:prstGeom prst="rect">
              <a:avLst/>
            </a:prstGeom>
            <a:solidFill>
              <a:schemeClr val="bg1"/>
            </a:solidFill>
          </p:spPr>
          <p:txBody>
            <a:bodyPr wrap="none" rtlCol="0">
              <a:spAutoFit/>
            </a:bodyPr>
            <a:lstStyle/>
            <a:p>
              <a:r>
                <a:rPr lang="en-US" altLang="zh-CN" sz="1200" dirty="0" smtClean="0"/>
                <a:t>VLAN 30</a:t>
              </a:r>
              <a:endParaRPr lang="zh-CN" altLang="en-US" sz="1200" dirty="0"/>
            </a:p>
          </p:txBody>
        </p:sp>
        <p:sp>
          <p:nvSpPr>
            <p:cNvPr id="136" name="文本框 135"/>
            <p:cNvSpPr txBox="1"/>
            <p:nvPr/>
          </p:nvSpPr>
          <p:spPr bwMode="gray">
            <a:xfrm>
              <a:off x="4055010" y="1345582"/>
              <a:ext cx="1909839" cy="523220"/>
            </a:xfrm>
            <a:prstGeom prst="rect">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txBody>
            <a:bodyPr wrap="square" rtlCol="0">
              <a:spAutoFit/>
            </a:bodyPr>
            <a:lstStyle/>
            <a:p>
              <a:r>
                <a:rPr lang="zh-CN" altLang="en-US" sz="1400" dirty="0" smtClean="0"/>
                <a:t>用户</a:t>
              </a:r>
              <a:r>
                <a:rPr lang="en-US" altLang="zh-CN" sz="1400" dirty="0" smtClean="0"/>
                <a:t>VLAN</a:t>
              </a:r>
              <a:r>
                <a:rPr lang="zh-CN" altLang="en-US" sz="1400" dirty="0" smtClean="0"/>
                <a:t>：</a:t>
              </a:r>
              <a:r>
                <a:rPr lang="en-US" altLang="zh-CN" sz="1400" dirty="0" smtClean="0"/>
                <a:t>VLAN 10</a:t>
              </a:r>
            </a:p>
            <a:p>
              <a:r>
                <a:rPr lang="zh-CN" altLang="en-US" sz="1400" dirty="0" smtClean="0"/>
                <a:t>管理</a:t>
              </a:r>
              <a:r>
                <a:rPr lang="en-US" altLang="zh-CN" sz="1400" dirty="0" smtClean="0"/>
                <a:t>VLAN</a:t>
              </a:r>
              <a:r>
                <a:rPr lang="zh-CN" altLang="en-US" sz="1400" dirty="0" smtClean="0"/>
                <a:t>：</a:t>
              </a:r>
              <a:r>
                <a:rPr lang="en-US" altLang="zh-CN" sz="1400" dirty="0" smtClean="0"/>
                <a:t>VLAN 20</a:t>
              </a:r>
              <a:endParaRPr lang="zh-CN" altLang="en-US" sz="1400" dirty="0"/>
            </a:p>
          </p:txBody>
        </p:sp>
      </p:grpSp>
    </p:spTree>
    <p:extLst>
      <p:ext uri="{BB962C8B-B14F-4D97-AF65-F5344CB8AC3E}">
        <p14:creationId xmlns:p14="http://schemas.microsoft.com/office/powerpoint/2010/main" val="400789427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配置案例 </a:t>
            </a:r>
            <a:r>
              <a:rPr lang="en-US" altLang="zh-CN" dirty="0"/>
              <a:t>- </a:t>
            </a:r>
            <a:r>
              <a:rPr lang="zh-CN" altLang="en-US" dirty="0"/>
              <a:t>操作步骤 </a:t>
            </a:r>
            <a:r>
              <a:rPr lang="en-US" altLang="zh-CN" dirty="0" smtClean="0"/>
              <a:t>(4)</a:t>
            </a:r>
            <a:endParaRPr lang="zh-CN" altLang="en-US" dirty="0"/>
          </a:p>
        </p:txBody>
      </p:sp>
      <p:sp>
        <p:nvSpPr>
          <p:cNvPr id="4" name="Rectangle 3"/>
          <p:cNvSpPr/>
          <p:nvPr/>
        </p:nvSpPr>
        <p:spPr>
          <a:xfrm>
            <a:off x="6278286" y="1737521"/>
            <a:ext cx="5434289" cy="738664"/>
          </a:xfrm>
          <a:prstGeom prst="rect">
            <a:avLst/>
          </a:prstGeom>
          <a:solidFill>
            <a:schemeClr val="bg1">
              <a:lumMod val="85000"/>
            </a:schemeClr>
          </a:solidFill>
          <a:ln>
            <a:noFill/>
          </a:ln>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0/0/1</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SW1-GigabitEthernet0/0/1</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authentication control-point</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SW1-GigabitEthernet0/0/1</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quit</a:t>
            </a:r>
          </a:p>
        </p:txBody>
      </p:sp>
      <p:sp>
        <p:nvSpPr>
          <p:cNvPr id="42" name="Rectangle 3"/>
          <p:cNvSpPr/>
          <p:nvPr/>
        </p:nvSpPr>
        <p:spPr>
          <a:xfrm>
            <a:off x="6278286" y="2659380"/>
            <a:ext cx="5434289" cy="1384995"/>
          </a:xfrm>
          <a:prstGeom prst="rect">
            <a:avLst/>
          </a:prstGeom>
          <a:solidFill>
            <a:schemeClr val="bg1">
              <a:lumMod val="85000"/>
            </a:schemeClr>
          </a:solidFill>
          <a:ln>
            <a:noFill/>
          </a:ln>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0/0/2</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SW2-GigabitEthernet0/0/2</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authentication access-point</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SW2-GigabitEthernet0/0/2</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quit</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[SW2]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0/0/3</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SW2-GigabitEthernet0/0/3]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authentication access-point</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SW2-GigabitEthernet0/0/3] quit</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9" name="文本框 78"/>
          <p:cNvSpPr txBox="1"/>
          <p:nvPr/>
        </p:nvSpPr>
        <p:spPr bwMode="auto">
          <a:xfrm>
            <a:off x="6203759" y="1350395"/>
            <a:ext cx="5256403"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4"/>
            </a:pP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在</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控制</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设备和</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接入</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设备</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上</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配置控制点和接入点。</a:t>
            </a:r>
            <a:endPar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82" name="组合 81"/>
          <p:cNvGrpSpPr/>
          <p:nvPr/>
        </p:nvGrpSpPr>
        <p:grpSpPr>
          <a:xfrm>
            <a:off x="1690371" y="1230248"/>
            <a:ext cx="3641431" cy="4959942"/>
            <a:chOff x="2323418" y="1230248"/>
            <a:chExt cx="3641431" cy="4959942"/>
          </a:xfrm>
        </p:grpSpPr>
        <p:pic>
          <p:nvPicPr>
            <p:cNvPr id="83" name="图片 82" descr="接入交换机.png"/>
            <p:cNvPicPr>
              <a:picLocks noChangeAspect="1"/>
            </p:cNvPicPr>
            <p:nvPr/>
          </p:nvPicPr>
          <p:blipFill>
            <a:blip r:embed="rId3" cstate="print"/>
            <a:stretch>
              <a:fillRect/>
            </a:stretch>
          </p:blipFill>
          <p:spPr bwMode="gray">
            <a:xfrm>
              <a:off x="2969353" y="4942101"/>
              <a:ext cx="540000" cy="441818"/>
            </a:xfrm>
            <a:prstGeom prst="rect">
              <a:avLst/>
            </a:prstGeom>
          </p:spPr>
        </p:pic>
        <p:pic>
          <p:nvPicPr>
            <p:cNvPr id="84" name="图片 83" descr="PC.png"/>
            <p:cNvPicPr>
              <a:picLocks noChangeAspect="1"/>
            </p:cNvPicPr>
            <p:nvPr/>
          </p:nvPicPr>
          <p:blipFill>
            <a:blip r:embed="rId4" cstate="print"/>
            <a:stretch>
              <a:fillRect/>
            </a:stretch>
          </p:blipFill>
          <p:spPr bwMode="gray">
            <a:xfrm>
              <a:off x="2532468" y="5776190"/>
              <a:ext cx="539063" cy="414000"/>
            </a:xfrm>
            <a:prstGeom prst="rect">
              <a:avLst/>
            </a:prstGeom>
          </p:spPr>
        </p:pic>
        <p:pic>
          <p:nvPicPr>
            <p:cNvPr id="85" name="图片 84" descr="汇聚交换机.png"/>
            <p:cNvPicPr>
              <a:picLocks noChangeAspect="1"/>
            </p:cNvPicPr>
            <p:nvPr/>
          </p:nvPicPr>
          <p:blipFill>
            <a:blip r:embed="rId5" cstate="print"/>
            <a:stretch>
              <a:fillRect/>
            </a:stretch>
          </p:blipFill>
          <p:spPr bwMode="gray">
            <a:xfrm>
              <a:off x="2969353" y="3505767"/>
              <a:ext cx="540000" cy="441818"/>
            </a:xfrm>
            <a:prstGeom prst="rect">
              <a:avLst/>
            </a:prstGeom>
          </p:spPr>
        </p:pic>
        <p:cxnSp>
          <p:nvCxnSpPr>
            <p:cNvPr id="86" name="直接连接符 85"/>
            <p:cNvCxnSpPr>
              <a:stCxn id="83" idx="2"/>
              <a:endCxn id="84" idx="0"/>
            </p:cNvCxnSpPr>
            <p:nvPr/>
          </p:nvCxnSpPr>
          <p:spPr bwMode="gray">
            <a:xfrm flipH="1">
              <a:off x="2802000" y="5383919"/>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endCxn id="83" idx="2"/>
            </p:cNvCxnSpPr>
            <p:nvPr/>
          </p:nvCxnSpPr>
          <p:spPr bwMode="gray">
            <a:xfrm flipH="1" flipV="1">
              <a:off x="3239353" y="5383919"/>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a:stCxn id="83" idx="0"/>
              <a:endCxn id="85" idx="2"/>
            </p:cNvCxnSpPr>
            <p:nvPr/>
          </p:nvCxnSpPr>
          <p:spPr bwMode="gray">
            <a:xfrm flipV="1">
              <a:off x="3239353" y="3947585"/>
              <a:ext cx="0" cy="9945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stCxn id="85" idx="0"/>
            </p:cNvCxnSpPr>
            <p:nvPr/>
          </p:nvCxnSpPr>
          <p:spPr bwMode="gray">
            <a:xfrm flipV="1">
              <a:off x="3239353" y="2723017"/>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bwMode="gray">
            <a:xfrm>
              <a:off x="3234237" y="3921606"/>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91" name="文本框 90"/>
            <p:cNvSpPr txBox="1"/>
            <p:nvPr/>
          </p:nvSpPr>
          <p:spPr bwMode="gray">
            <a:xfrm>
              <a:off x="3239353" y="3197990"/>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92" name="Freeform 159"/>
            <p:cNvSpPr>
              <a:spLocks noChangeAspect="1"/>
            </p:cNvSpPr>
            <p:nvPr/>
          </p:nvSpPr>
          <p:spPr bwMode="gray">
            <a:xfrm flipH="1">
              <a:off x="2651201" y="2042864"/>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p:cNvSpPr txBox="1"/>
            <p:nvPr/>
          </p:nvSpPr>
          <p:spPr bwMode="gray">
            <a:xfrm>
              <a:off x="2848051" y="2272510"/>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94" name="文本框 93"/>
            <p:cNvSpPr txBox="1"/>
            <p:nvPr/>
          </p:nvSpPr>
          <p:spPr bwMode="gray">
            <a:xfrm>
              <a:off x="3483695" y="3602892"/>
              <a:ext cx="1293944" cy="307777"/>
            </a:xfrm>
            <a:prstGeom prst="rect">
              <a:avLst/>
            </a:prstGeom>
            <a:noFill/>
          </p:spPr>
          <p:txBody>
            <a:bodyPr wrap="none" rtlCol="0">
              <a:spAutoFit/>
            </a:bodyPr>
            <a:lstStyle/>
            <a:p>
              <a:r>
                <a:rPr lang="en-US" altLang="zh-CN" sz="1400" b="1" dirty="0" smtClean="0"/>
                <a:t>SW1</a:t>
              </a:r>
              <a:r>
                <a:rPr lang="zh-CN" altLang="en-US" sz="1400" b="1" dirty="0" smtClean="0"/>
                <a:t>（网关）</a:t>
              </a:r>
              <a:endParaRPr lang="zh-CN" altLang="en-US" sz="1400" b="1" dirty="0"/>
            </a:p>
          </p:txBody>
        </p:sp>
        <p:sp>
          <p:nvSpPr>
            <p:cNvPr id="95" name="文本框 94"/>
            <p:cNvSpPr txBox="1"/>
            <p:nvPr/>
          </p:nvSpPr>
          <p:spPr bwMode="gray">
            <a:xfrm>
              <a:off x="3447561" y="5050423"/>
              <a:ext cx="1293944" cy="307777"/>
            </a:xfrm>
            <a:prstGeom prst="rect">
              <a:avLst/>
            </a:prstGeom>
            <a:noFill/>
          </p:spPr>
          <p:txBody>
            <a:bodyPr wrap="none" rtlCol="0">
              <a:spAutoFit/>
            </a:bodyPr>
            <a:lstStyle/>
            <a:p>
              <a:r>
                <a:rPr lang="en-US" altLang="zh-CN" sz="1400" b="1" dirty="0" smtClean="0"/>
                <a:t>SW2</a:t>
              </a:r>
              <a:r>
                <a:rPr lang="zh-CN" altLang="en-US" sz="1400" b="1" dirty="0" smtClean="0"/>
                <a:t>（接入）</a:t>
              </a:r>
              <a:endParaRPr lang="zh-CN" altLang="en-US" sz="1400" b="1" dirty="0"/>
            </a:p>
          </p:txBody>
        </p:sp>
        <p:sp>
          <p:nvSpPr>
            <p:cNvPr id="96" name="文本框 95"/>
            <p:cNvSpPr txBox="1"/>
            <p:nvPr/>
          </p:nvSpPr>
          <p:spPr bwMode="gray">
            <a:xfrm>
              <a:off x="2418960" y="1230248"/>
              <a:ext cx="1383712" cy="523220"/>
            </a:xfrm>
            <a:prstGeom prst="rect">
              <a:avLst/>
            </a:prstGeom>
            <a:noFill/>
          </p:spPr>
          <p:txBody>
            <a:bodyPr wrap="none" rtlCol="0">
              <a:spAutoFit/>
            </a:bodyPr>
            <a:lstStyle/>
            <a:p>
              <a:pPr algn="ctr"/>
              <a:r>
                <a:rPr lang="en-US" altLang="zh-CN" sz="1400" dirty="0" smtClean="0"/>
                <a:t>RADIUS Server</a:t>
              </a:r>
            </a:p>
            <a:p>
              <a:pPr algn="ctr"/>
              <a:r>
                <a:rPr lang="en-US" altLang="zh-CN" sz="1400" dirty="0" smtClean="0"/>
                <a:t>192.168.4.30</a:t>
              </a:r>
              <a:endParaRPr lang="zh-CN" altLang="en-US" sz="1400" dirty="0"/>
            </a:p>
          </p:txBody>
        </p:sp>
        <p:sp>
          <p:nvSpPr>
            <p:cNvPr id="97" name="文本框 96"/>
            <p:cNvSpPr txBox="1"/>
            <p:nvPr/>
          </p:nvSpPr>
          <p:spPr bwMode="gray">
            <a:xfrm>
              <a:off x="3234236" y="465894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98" name="文本框 97"/>
            <p:cNvSpPr txBox="1"/>
            <p:nvPr/>
          </p:nvSpPr>
          <p:spPr bwMode="gray">
            <a:xfrm>
              <a:off x="2323418" y="5313792"/>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99" name="文本框 98"/>
            <p:cNvSpPr txBox="1"/>
            <p:nvPr/>
          </p:nvSpPr>
          <p:spPr bwMode="gray">
            <a:xfrm>
              <a:off x="3327333" y="5316248"/>
              <a:ext cx="851515" cy="307777"/>
            </a:xfrm>
            <a:prstGeom prst="rect">
              <a:avLst/>
            </a:prstGeom>
            <a:noFill/>
          </p:spPr>
          <p:txBody>
            <a:bodyPr wrap="none" rtlCol="0">
              <a:spAutoFit/>
            </a:bodyPr>
            <a:lstStyle/>
            <a:p>
              <a:r>
                <a:rPr lang="en-US" altLang="zh-CN" sz="1400" dirty="0"/>
                <a:t>GE0/0/3</a:t>
              </a:r>
              <a:endParaRPr lang="zh-CN" altLang="en-US" sz="1400" dirty="0"/>
            </a:p>
          </p:txBody>
        </p:sp>
        <p:pic>
          <p:nvPicPr>
            <p:cNvPr id="100" name="图片 99" descr="PC.png"/>
            <p:cNvPicPr>
              <a:picLocks noChangeAspect="1"/>
            </p:cNvPicPr>
            <p:nvPr/>
          </p:nvPicPr>
          <p:blipFill>
            <a:blip r:embed="rId4" cstate="print"/>
            <a:stretch>
              <a:fillRect/>
            </a:stretch>
          </p:blipFill>
          <p:spPr bwMode="gray">
            <a:xfrm>
              <a:off x="3421615" y="5776190"/>
              <a:ext cx="539063" cy="414000"/>
            </a:xfrm>
            <a:prstGeom prst="rect">
              <a:avLst/>
            </a:prstGeom>
          </p:spPr>
        </p:pic>
        <p:sp>
          <p:nvSpPr>
            <p:cNvPr id="101" name="文本框 100"/>
            <p:cNvSpPr txBox="1"/>
            <p:nvPr/>
          </p:nvSpPr>
          <p:spPr bwMode="gray">
            <a:xfrm>
              <a:off x="2462694" y="5531435"/>
              <a:ext cx="800219" cy="276999"/>
            </a:xfrm>
            <a:prstGeom prst="rect">
              <a:avLst/>
            </a:prstGeom>
            <a:solidFill>
              <a:schemeClr val="bg1"/>
            </a:solidFill>
          </p:spPr>
          <p:txBody>
            <a:bodyPr wrap="none" rtlCol="0">
              <a:spAutoFit/>
            </a:bodyPr>
            <a:lstStyle/>
            <a:p>
              <a:r>
                <a:rPr lang="en-US" altLang="zh-CN" sz="1200" dirty="0" smtClean="0"/>
                <a:t>VLAN 10</a:t>
              </a:r>
              <a:endParaRPr lang="zh-CN" altLang="en-US" sz="1200" dirty="0"/>
            </a:p>
          </p:txBody>
        </p:sp>
        <p:sp>
          <p:nvSpPr>
            <p:cNvPr id="102" name="文本框 101"/>
            <p:cNvSpPr txBox="1"/>
            <p:nvPr/>
          </p:nvSpPr>
          <p:spPr bwMode="gray">
            <a:xfrm>
              <a:off x="2710201" y="4313086"/>
              <a:ext cx="1058303" cy="276999"/>
            </a:xfrm>
            <a:prstGeom prst="rect">
              <a:avLst/>
            </a:prstGeom>
            <a:solidFill>
              <a:schemeClr val="bg1"/>
            </a:solidFill>
          </p:spPr>
          <p:txBody>
            <a:bodyPr wrap="none" rtlCol="0">
              <a:spAutoFit/>
            </a:bodyPr>
            <a:lstStyle/>
            <a:p>
              <a:r>
                <a:rPr lang="en-US" altLang="zh-CN" sz="1200" dirty="0" smtClean="0"/>
                <a:t>VLAN 10, 20</a:t>
              </a:r>
              <a:endParaRPr lang="zh-CN" altLang="en-US" sz="1200" dirty="0"/>
            </a:p>
          </p:txBody>
        </p:sp>
        <p:pic>
          <p:nvPicPr>
            <p:cNvPr id="103" name="图片 102"/>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823833" y="1699898"/>
              <a:ext cx="540000" cy="442800"/>
            </a:xfrm>
            <a:prstGeom prst="rect">
              <a:avLst/>
            </a:prstGeom>
          </p:spPr>
        </p:pic>
        <p:sp>
          <p:nvSpPr>
            <p:cNvPr id="104" name="文本框 103"/>
            <p:cNvSpPr txBox="1"/>
            <p:nvPr/>
          </p:nvSpPr>
          <p:spPr bwMode="gray">
            <a:xfrm>
              <a:off x="2837901" y="2897497"/>
              <a:ext cx="800219" cy="276999"/>
            </a:xfrm>
            <a:prstGeom prst="rect">
              <a:avLst/>
            </a:prstGeom>
            <a:solidFill>
              <a:schemeClr val="bg1"/>
            </a:solidFill>
          </p:spPr>
          <p:txBody>
            <a:bodyPr wrap="none" rtlCol="0">
              <a:spAutoFit/>
            </a:bodyPr>
            <a:lstStyle/>
            <a:p>
              <a:r>
                <a:rPr lang="en-US" altLang="zh-CN" sz="1200" dirty="0" smtClean="0"/>
                <a:t>VLAN 30</a:t>
              </a:r>
              <a:endParaRPr lang="zh-CN" altLang="en-US" sz="1200" dirty="0"/>
            </a:p>
          </p:txBody>
        </p:sp>
        <p:sp>
          <p:nvSpPr>
            <p:cNvPr id="105" name="文本框 104"/>
            <p:cNvSpPr txBox="1"/>
            <p:nvPr/>
          </p:nvSpPr>
          <p:spPr bwMode="gray">
            <a:xfrm>
              <a:off x="4055010" y="1345582"/>
              <a:ext cx="1909839" cy="523220"/>
            </a:xfrm>
            <a:prstGeom prst="rect">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txBody>
            <a:bodyPr wrap="square" rtlCol="0">
              <a:spAutoFit/>
            </a:bodyPr>
            <a:lstStyle/>
            <a:p>
              <a:r>
                <a:rPr lang="zh-CN" altLang="en-US" sz="1400" dirty="0" smtClean="0"/>
                <a:t>用户</a:t>
              </a:r>
              <a:r>
                <a:rPr lang="en-US" altLang="zh-CN" sz="1400" dirty="0" smtClean="0"/>
                <a:t>VLAN</a:t>
              </a:r>
              <a:r>
                <a:rPr lang="zh-CN" altLang="en-US" sz="1400" dirty="0" smtClean="0"/>
                <a:t>：</a:t>
              </a:r>
              <a:r>
                <a:rPr lang="en-US" altLang="zh-CN" sz="1400" dirty="0" smtClean="0"/>
                <a:t>VLAN 10</a:t>
              </a:r>
            </a:p>
            <a:p>
              <a:r>
                <a:rPr lang="zh-CN" altLang="en-US" sz="1400" dirty="0" smtClean="0"/>
                <a:t>管理</a:t>
              </a:r>
              <a:r>
                <a:rPr lang="en-US" altLang="zh-CN" sz="1400" dirty="0" smtClean="0"/>
                <a:t>VLAN</a:t>
              </a:r>
              <a:r>
                <a:rPr lang="zh-CN" altLang="en-US" sz="1400" dirty="0" smtClean="0"/>
                <a:t>：</a:t>
              </a:r>
              <a:r>
                <a:rPr lang="en-US" altLang="zh-CN" sz="1400" dirty="0" smtClean="0"/>
                <a:t>VLAN 20</a:t>
              </a:r>
              <a:endParaRPr lang="zh-CN" altLang="en-US" sz="1400" dirty="0"/>
            </a:p>
          </p:txBody>
        </p:sp>
      </p:grpSp>
    </p:spTree>
    <p:extLst>
      <p:ext uri="{BB962C8B-B14F-4D97-AF65-F5344CB8AC3E}">
        <p14:creationId xmlns:p14="http://schemas.microsoft.com/office/powerpoint/2010/main" val="230952370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配置案例 </a:t>
            </a:r>
            <a:r>
              <a:rPr lang="en-US" altLang="zh-CN" dirty="0"/>
              <a:t>- </a:t>
            </a:r>
            <a:r>
              <a:rPr lang="zh-CN" altLang="en-US" dirty="0"/>
              <a:t>操作步骤 </a:t>
            </a:r>
            <a:r>
              <a:rPr lang="en-US" altLang="zh-CN" dirty="0" smtClean="0"/>
              <a:t>(5)</a:t>
            </a:r>
            <a:endParaRPr lang="zh-CN" altLang="en-US" dirty="0"/>
          </a:p>
        </p:txBody>
      </p:sp>
      <p:sp>
        <p:nvSpPr>
          <p:cNvPr id="4" name="Rectangle 3"/>
          <p:cNvSpPr/>
          <p:nvPr/>
        </p:nvSpPr>
        <p:spPr>
          <a:xfrm>
            <a:off x="6278286" y="2063395"/>
            <a:ext cx="5434289" cy="1815882"/>
          </a:xfrm>
          <a:prstGeom prst="rect">
            <a:avLst/>
          </a:prstGeom>
          <a:solidFill>
            <a:schemeClr val="bg1">
              <a:lumMod val="85000"/>
            </a:schemeClr>
          </a:solidFill>
          <a:ln>
            <a:noFill/>
          </a:ln>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aaa</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SW1-aaa</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service-scheme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asd</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SW1-aaa-service-asd</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remote-authorize acl</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SW1-aaa-service-asd</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quit</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SW1-aaa</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domain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nac</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SW1-aaa-domain-nac]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service-scheme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asd</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SW1-aaa-domain-nac]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quit</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SW1-aaa</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quit</a:t>
            </a:r>
          </a:p>
        </p:txBody>
      </p:sp>
      <p:sp>
        <p:nvSpPr>
          <p:cNvPr id="43" name="文本框 42"/>
          <p:cNvSpPr txBox="1"/>
          <p:nvPr/>
        </p:nvSpPr>
        <p:spPr bwMode="auto">
          <a:xfrm>
            <a:off x="6203759" y="1344468"/>
            <a:ext cx="5256403" cy="7042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5"/>
            </a:pP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在控制设备上</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配置下发授权信息</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到接入设备，</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并在认证域</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b="1" dirty="0" err="1"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nac</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”上</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绑定</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AAA</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业务方案“</a:t>
            </a:r>
            <a:r>
              <a:rPr lang="en-US" altLang="zh-CN" sz="1600" b="1" dirty="0" err="1"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asd</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44" name="组合 43"/>
          <p:cNvGrpSpPr/>
          <p:nvPr/>
        </p:nvGrpSpPr>
        <p:grpSpPr>
          <a:xfrm>
            <a:off x="1690371" y="1230248"/>
            <a:ext cx="3641431" cy="4959942"/>
            <a:chOff x="2323418" y="1230248"/>
            <a:chExt cx="3641431" cy="4959942"/>
          </a:xfrm>
        </p:grpSpPr>
        <p:pic>
          <p:nvPicPr>
            <p:cNvPr id="45" name="图片 44" descr="接入交换机.png"/>
            <p:cNvPicPr>
              <a:picLocks noChangeAspect="1"/>
            </p:cNvPicPr>
            <p:nvPr/>
          </p:nvPicPr>
          <p:blipFill>
            <a:blip r:embed="rId3" cstate="print"/>
            <a:stretch>
              <a:fillRect/>
            </a:stretch>
          </p:blipFill>
          <p:spPr bwMode="gray">
            <a:xfrm>
              <a:off x="2969353" y="4942101"/>
              <a:ext cx="540000" cy="441818"/>
            </a:xfrm>
            <a:prstGeom prst="rect">
              <a:avLst/>
            </a:prstGeom>
          </p:spPr>
        </p:pic>
        <p:pic>
          <p:nvPicPr>
            <p:cNvPr id="81" name="图片 80" descr="PC.png"/>
            <p:cNvPicPr>
              <a:picLocks noChangeAspect="1"/>
            </p:cNvPicPr>
            <p:nvPr/>
          </p:nvPicPr>
          <p:blipFill>
            <a:blip r:embed="rId4" cstate="print"/>
            <a:stretch>
              <a:fillRect/>
            </a:stretch>
          </p:blipFill>
          <p:spPr bwMode="gray">
            <a:xfrm>
              <a:off x="2532468" y="5776190"/>
              <a:ext cx="539063" cy="414000"/>
            </a:xfrm>
            <a:prstGeom prst="rect">
              <a:avLst/>
            </a:prstGeom>
          </p:spPr>
        </p:pic>
        <p:pic>
          <p:nvPicPr>
            <p:cNvPr id="82" name="图片 81" descr="汇聚交换机.png"/>
            <p:cNvPicPr>
              <a:picLocks noChangeAspect="1"/>
            </p:cNvPicPr>
            <p:nvPr/>
          </p:nvPicPr>
          <p:blipFill>
            <a:blip r:embed="rId5" cstate="print"/>
            <a:stretch>
              <a:fillRect/>
            </a:stretch>
          </p:blipFill>
          <p:spPr bwMode="gray">
            <a:xfrm>
              <a:off x="2969353" y="3505767"/>
              <a:ext cx="540000" cy="441818"/>
            </a:xfrm>
            <a:prstGeom prst="rect">
              <a:avLst/>
            </a:prstGeom>
          </p:spPr>
        </p:pic>
        <p:cxnSp>
          <p:nvCxnSpPr>
            <p:cNvPr id="83" name="直接连接符 82"/>
            <p:cNvCxnSpPr>
              <a:stCxn id="45" idx="2"/>
              <a:endCxn id="81" idx="0"/>
            </p:cNvCxnSpPr>
            <p:nvPr/>
          </p:nvCxnSpPr>
          <p:spPr bwMode="gray">
            <a:xfrm flipH="1">
              <a:off x="2802000" y="5383919"/>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endCxn id="45" idx="2"/>
            </p:cNvCxnSpPr>
            <p:nvPr/>
          </p:nvCxnSpPr>
          <p:spPr bwMode="gray">
            <a:xfrm flipH="1" flipV="1">
              <a:off x="3239353" y="5383919"/>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45" idx="0"/>
              <a:endCxn id="82" idx="2"/>
            </p:cNvCxnSpPr>
            <p:nvPr/>
          </p:nvCxnSpPr>
          <p:spPr bwMode="gray">
            <a:xfrm flipV="1">
              <a:off x="3239353" y="3947585"/>
              <a:ext cx="0" cy="9945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2" idx="0"/>
            </p:cNvCxnSpPr>
            <p:nvPr/>
          </p:nvCxnSpPr>
          <p:spPr bwMode="gray">
            <a:xfrm flipV="1">
              <a:off x="3239353" y="2723017"/>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文本框 86"/>
            <p:cNvSpPr txBox="1"/>
            <p:nvPr/>
          </p:nvSpPr>
          <p:spPr bwMode="gray">
            <a:xfrm>
              <a:off x="3234237" y="3921606"/>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88" name="文本框 87"/>
            <p:cNvSpPr txBox="1"/>
            <p:nvPr/>
          </p:nvSpPr>
          <p:spPr bwMode="gray">
            <a:xfrm>
              <a:off x="3239353" y="3197990"/>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89" name="Freeform 159"/>
            <p:cNvSpPr>
              <a:spLocks noChangeAspect="1"/>
            </p:cNvSpPr>
            <p:nvPr/>
          </p:nvSpPr>
          <p:spPr bwMode="gray">
            <a:xfrm flipH="1">
              <a:off x="2651201" y="2042864"/>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p:cNvSpPr txBox="1"/>
            <p:nvPr/>
          </p:nvSpPr>
          <p:spPr bwMode="gray">
            <a:xfrm>
              <a:off x="2848051" y="2272510"/>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91" name="文本框 90"/>
            <p:cNvSpPr txBox="1"/>
            <p:nvPr/>
          </p:nvSpPr>
          <p:spPr bwMode="gray">
            <a:xfrm>
              <a:off x="3483695" y="3602892"/>
              <a:ext cx="1293944" cy="307777"/>
            </a:xfrm>
            <a:prstGeom prst="rect">
              <a:avLst/>
            </a:prstGeom>
            <a:noFill/>
          </p:spPr>
          <p:txBody>
            <a:bodyPr wrap="none" rtlCol="0">
              <a:spAutoFit/>
            </a:bodyPr>
            <a:lstStyle/>
            <a:p>
              <a:r>
                <a:rPr lang="en-US" altLang="zh-CN" sz="1400" b="1" dirty="0" smtClean="0"/>
                <a:t>SW1</a:t>
              </a:r>
              <a:r>
                <a:rPr lang="zh-CN" altLang="en-US" sz="1400" b="1" dirty="0" smtClean="0"/>
                <a:t>（网关）</a:t>
              </a:r>
              <a:endParaRPr lang="zh-CN" altLang="en-US" sz="1400" b="1" dirty="0"/>
            </a:p>
          </p:txBody>
        </p:sp>
        <p:sp>
          <p:nvSpPr>
            <p:cNvPr id="92" name="文本框 91"/>
            <p:cNvSpPr txBox="1"/>
            <p:nvPr/>
          </p:nvSpPr>
          <p:spPr bwMode="gray">
            <a:xfrm>
              <a:off x="3447561" y="5050423"/>
              <a:ext cx="1293944" cy="307777"/>
            </a:xfrm>
            <a:prstGeom prst="rect">
              <a:avLst/>
            </a:prstGeom>
            <a:noFill/>
          </p:spPr>
          <p:txBody>
            <a:bodyPr wrap="none" rtlCol="0">
              <a:spAutoFit/>
            </a:bodyPr>
            <a:lstStyle/>
            <a:p>
              <a:r>
                <a:rPr lang="en-US" altLang="zh-CN" sz="1400" b="1" dirty="0" smtClean="0"/>
                <a:t>SW2</a:t>
              </a:r>
              <a:r>
                <a:rPr lang="zh-CN" altLang="en-US" sz="1400" b="1" dirty="0" smtClean="0"/>
                <a:t>（接入）</a:t>
              </a:r>
              <a:endParaRPr lang="zh-CN" altLang="en-US" sz="1400" b="1" dirty="0"/>
            </a:p>
          </p:txBody>
        </p:sp>
        <p:sp>
          <p:nvSpPr>
            <p:cNvPr id="93" name="文本框 92"/>
            <p:cNvSpPr txBox="1"/>
            <p:nvPr/>
          </p:nvSpPr>
          <p:spPr bwMode="gray">
            <a:xfrm>
              <a:off x="2418960" y="1230248"/>
              <a:ext cx="1383712" cy="523220"/>
            </a:xfrm>
            <a:prstGeom prst="rect">
              <a:avLst/>
            </a:prstGeom>
            <a:noFill/>
          </p:spPr>
          <p:txBody>
            <a:bodyPr wrap="none" rtlCol="0">
              <a:spAutoFit/>
            </a:bodyPr>
            <a:lstStyle/>
            <a:p>
              <a:pPr algn="ctr"/>
              <a:r>
                <a:rPr lang="en-US" altLang="zh-CN" sz="1400" dirty="0" smtClean="0"/>
                <a:t>RADIUS Server</a:t>
              </a:r>
            </a:p>
            <a:p>
              <a:pPr algn="ctr"/>
              <a:r>
                <a:rPr lang="en-US" altLang="zh-CN" sz="1400" dirty="0" smtClean="0"/>
                <a:t>192.168.4.30</a:t>
              </a:r>
              <a:endParaRPr lang="zh-CN" altLang="en-US" sz="1400" dirty="0"/>
            </a:p>
          </p:txBody>
        </p:sp>
        <p:sp>
          <p:nvSpPr>
            <p:cNvPr id="94" name="文本框 93"/>
            <p:cNvSpPr txBox="1"/>
            <p:nvPr/>
          </p:nvSpPr>
          <p:spPr bwMode="gray">
            <a:xfrm>
              <a:off x="3234236" y="465894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95" name="文本框 94"/>
            <p:cNvSpPr txBox="1"/>
            <p:nvPr/>
          </p:nvSpPr>
          <p:spPr bwMode="gray">
            <a:xfrm>
              <a:off x="2323418" y="5313792"/>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96" name="文本框 95"/>
            <p:cNvSpPr txBox="1"/>
            <p:nvPr/>
          </p:nvSpPr>
          <p:spPr bwMode="gray">
            <a:xfrm>
              <a:off x="3327333" y="5316248"/>
              <a:ext cx="851515" cy="307777"/>
            </a:xfrm>
            <a:prstGeom prst="rect">
              <a:avLst/>
            </a:prstGeom>
            <a:noFill/>
          </p:spPr>
          <p:txBody>
            <a:bodyPr wrap="none" rtlCol="0">
              <a:spAutoFit/>
            </a:bodyPr>
            <a:lstStyle/>
            <a:p>
              <a:r>
                <a:rPr lang="en-US" altLang="zh-CN" sz="1400" dirty="0"/>
                <a:t>GE0/0/3</a:t>
              </a:r>
              <a:endParaRPr lang="zh-CN" altLang="en-US" sz="1400" dirty="0"/>
            </a:p>
          </p:txBody>
        </p:sp>
        <p:pic>
          <p:nvPicPr>
            <p:cNvPr id="97" name="图片 96" descr="PC.png"/>
            <p:cNvPicPr>
              <a:picLocks noChangeAspect="1"/>
            </p:cNvPicPr>
            <p:nvPr/>
          </p:nvPicPr>
          <p:blipFill>
            <a:blip r:embed="rId4" cstate="print"/>
            <a:stretch>
              <a:fillRect/>
            </a:stretch>
          </p:blipFill>
          <p:spPr bwMode="gray">
            <a:xfrm>
              <a:off x="3421615" y="5776190"/>
              <a:ext cx="539063" cy="414000"/>
            </a:xfrm>
            <a:prstGeom prst="rect">
              <a:avLst/>
            </a:prstGeom>
          </p:spPr>
        </p:pic>
        <p:sp>
          <p:nvSpPr>
            <p:cNvPr id="98" name="文本框 97"/>
            <p:cNvSpPr txBox="1"/>
            <p:nvPr/>
          </p:nvSpPr>
          <p:spPr bwMode="gray">
            <a:xfrm>
              <a:off x="2462694" y="5531435"/>
              <a:ext cx="800219" cy="276999"/>
            </a:xfrm>
            <a:prstGeom prst="rect">
              <a:avLst/>
            </a:prstGeom>
            <a:solidFill>
              <a:schemeClr val="bg1"/>
            </a:solidFill>
          </p:spPr>
          <p:txBody>
            <a:bodyPr wrap="none" rtlCol="0">
              <a:spAutoFit/>
            </a:bodyPr>
            <a:lstStyle/>
            <a:p>
              <a:r>
                <a:rPr lang="en-US" altLang="zh-CN" sz="1200" dirty="0" smtClean="0"/>
                <a:t>VLAN 10</a:t>
              </a:r>
              <a:endParaRPr lang="zh-CN" altLang="en-US" sz="1200" dirty="0"/>
            </a:p>
          </p:txBody>
        </p:sp>
        <p:sp>
          <p:nvSpPr>
            <p:cNvPr id="99" name="文本框 98"/>
            <p:cNvSpPr txBox="1"/>
            <p:nvPr/>
          </p:nvSpPr>
          <p:spPr bwMode="gray">
            <a:xfrm>
              <a:off x="2710201" y="4313086"/>
              <a:ext cx="1058303" cy="276999"/>
            </a:xfrm>
            <a:prstGeom prst="rect">
              <a:avLst/>
            </a:prstGeom>
            <a:solidFill>
              <a:schemeClr val="bg1"/>
            </a:solidFill>
          </p:spPr>
          <p:txBody>
            <a:bodyPr wrap="none" rtlCol="0">
              <a:spAutoFit/>
            </a:bodyPr>
            <a:lstStyle/>
            <a:p>
              <a:r>
                <a:rPr lang="en-US" altLang="zh-CN" sz="1200" dirty="0" smtClean="0"/>
                <a:t>VLAN 10, 20</a:t>
              </a:r>
              <a:endParaRPr lang="zh-CN" altLang="en-US" sz="1200" dirty="0"/>
            </a:p>
          </p:txBody>
        </p:sp>
        <p:pic>
          <p:nvPicPr>
            <p:cNvPr id="100" name="图片 99"/>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823833" y="1699898"/>
              <a:ext cx="540000" cy="442800"/>
            </a:xfrm>
            <a:prstGeom prst="rect">
              <a:avLst/>
            </a:prstGeom>
          </p:spPr>
        </p:pic>
        <p:sp>
          <p:nvSpPr>
            <p:cNvPr id="101" name="文本框 100"/>
            <p:cNvSpPr txBox="1"/>
            <p:nvPr/>
          </p:nvSpPr>
          <p:spPr bwMode="gray">
            <a:xfrm>
              <a:off x="2837901" y="2897497"/>
              <a:ext cx="800219" cy="276999"/>
            </a:xfrm>
            <a:prstGeom prst="rect">
              <a:avLst/>
            </a:prstGeom>
            <a:solidFill>
              <a:schemeClr val="bg1"/>
            </a:solidFill>
          </p:spPr>
          <p:txBody>
            <a:bodyPr wrap="none" rtlCol="0">
              <a:spAutoFit/>
            </a:bodyPr>
            <a:lstStyle/>
            <a:p>
              <a:r>
                <a:rPr lang="en-US" altLang="zh-CN" sz="1200" dirty="0" smtClean="0"/>
                <a:t>VLAN 30</a:t>
              </a:r>
              <a:endParaRPr lang="zh-CN" altLang="en-US" sz="1200" dirty="0"/>
            </a:p>
          </p:txBody>
        </p:sp>
        <p:sp>
          <p:nvSpPr>
            <p:cNvPr id="102" name="文本框 101"/>
            <p:cNvSpPr txBox="1"/>
            <p:nvPr/>
          </p:nvSpPr>
          <p:spPr bwMode="gray">
            <a:xfrm>
              <a:off x="4055010" y="1345582"/>
              <a:ext cx="1909839" cy="523220"/>
            </a:xfrm>
            <a:prstGeom prst="rect">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txBody>
            <a:bodyPr wrap="square" rtlCol="0">
              <a:spAutoFit/>
            </a:bodyPr>
            <a:lstStyle/>
            <a:p>
              <a:r>
                <a:rPr lang="zh-CN" altLang="en-US" sz="1400" dirty="0" smtClean="0"/>
                <a:t>用户</a:t>
              </a:r>
              <a:r>
                <a:rPr lang="en-US" altLang="zh-CN" sz="1400" dirty="0" smtClean="0"/>
                <a:t>VLAN</a:t>
              </a:r>
              <a:r>
                <a:rPr lang="zh-CN" altLang="en-US" sz="1400" dirty="0" smtClean="0"/>
                <a:t>：</a:t>
              </a:r>
              <a:r>
                <a:rPr lang="en-US" altLang="zh-CN" sz="1400" dirty="0" smtClean="0"/>
                <a:t>VLAN 10</a:t>
              </a:r>
            </a:p>
            <a:p>
              <a:r>
                <a:rPr lang="zh-CN" altLang="en-US" sz="1400" dirty="0" smtClean="0"/>
                <a:t>管理</a:t>
              </a:r>
              <a:r>
                <a:rPr lang="en-US" altLang="zh-CN" sz="1400" dirty="0" smtClean="0"/>
                <a:t>VLAN</a:t>
              </a:r>
              <a:r>
                <a:rPr lang="zh-CN" altLang="en-US" sz="1400" dirty="0" smtClean="0"/>
                <a:t>：</a:t>
              </a:r>
              <a:r>
                <a:rPr lang="en-US" altLang="zh-CN" sz="1400" dirty="0" smtClean="0"/>
                <a:t>VLAN 20</a:t>
              </a:r>
              <a:endParaRPr lang="zh-CN" altLang="en-US" sz="1400" dirty="0"/>
            </a:p>
          </p:txBody>
        </p:sp>
      </p:grpSp>
    </p:spTree>
    <p:extLst>
      <p:ext uri="{BB962C8B-B14F-4D97-AF65-F5344CB8AC3E}">
        <p14:creationId xmlns:p14="http://schemas.microsoft.com/office/powerpoint/2010/main" val="126557530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配置案例 </a:t>
            </a:r>
            <a:r>
              <a:rPr lang="en-US" altLang="zh-CN" dirty="0"/>
              <a:t>- </a:t>
            </a:r>
            <a:r>
              <a:rPr lang="zh-CN" altLang="en-US" dirty="0"/>
              <a:t>操作步骤 </a:t>
            </a:r>
            <a:r>
              <a:rPr lang="en-US" altLang="zh-CN" dirty="0" smtClean="0"/>
              <a:t>(6)</a:t>
            </a:r>
            <a:endParaRPr lang="zh-CN" altLang="en-US" dirty="0"/>
          </a:p>
        </p:txBody>
      </p:sp>
      <p:sp>
        <p:nvSpPr>
          <p:cNvPr id="39" name="Rectangle 3"/>
          <p:cNvSpPr/>
          <p:nvPr/>
        </p:nvSpPr>
        <p:spPr>
          <a:xfrm>
            <a:off x="6278286" y="1737521"/>
            <a:ext cx="5434289" cy="954107"/>
          </a:xfrm>
          <a:prstGeom prst="rect">
            <a:avLst/>
          </a:prstGeom>
          <a:solidFill>
            <a:schemeClr val="bg1">
              <a:lumMod val="85000"/>
            </a:schemeClr>
          </a:solidFill>
          <a:ln>
            <a:noFill/>
          </a:ln>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acl 3001</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SW1-acl-adv-3001</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rule deny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ip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destination </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192.168.5.0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0.0.0.255</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SW1-acl-adv-3001</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quit</a:t>
            </a:r>
          </a:p>
        </p:txBody>
      </p:sp>
      <p:sp>
        <p:nvSpPr>
          <p:cNvPr id="40" name="文本框 39"/>
          <p:cNvSpPr txBox="1"/>
          <p:nvPr/>
        </p:nvSpPr>
        <p:spPr bwMode="auto">
          <a:xfrm>
            <a:off x="6203759" y="1350521"/>
            <a:ext cx="5256403"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6"/>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在</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控制设备和接入设备上配置</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授权使用的</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及规则。</a:t>
            </a:r>
          </a:p>
        </p:txBody>
      </p:sp>
      <p:sp>
        <p:nvSpPr>
          <p:cNvPr id="42" name="Rectangle 3"/>
          <p:cNvSpPr/>
          <p:nvPr/>
        </p:nvSpPr>
        <p:spPr>
          <a:xfrm>
            <a:off x="6278286" y="2874824"/>
            <a:ext cx="5434289" cy="954107"/>
          </a:xfrm>
          <a:prstGeom prst="rect">
            <a:avLst/>
          </a:prstGeom>
          <a:solidFill>
            <a:schemeClr val="bg1">
              <a:lumMod val="85000"/>
            </a:schemeClr>
          </a:solidFill>
          <a:ln>
            <a:noFill/>
          </a:ln>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acl 3001</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SW2-acl-adv-3001</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rule deny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ip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destination 192.168.5.0 0.0.0.255</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SW2-acl-adv-3001</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quit</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4" name="文本框 43"/>
          <p:cNvSpPr txBox="1"/>
          <p:nvPr/>
        </p:nvSpPr>
        <p:spPr bwMode="auto">
          <a:xfrm>
            <a:off x="6203759" y="4049185"/>
            <a:ext cx="5256403" cy="101198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buFont typeface="+mj-lt"/>
              <a:buAutoNum type="arabicPeriod" startAt="7"/>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在</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控制设备和接入设备上配置</a:t>
            </a:r>
            <a:r>
              <a:rPr lang="en-US" altLang="zh-CN"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认证，并</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在控制设备</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配置免认证规则放行</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CAPWAP</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隧道管理</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的报文。</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（其中</a:t>
            </a:r>
            <a:r>
              <a:rPr lang="en-US" altLang="zh-CN"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600" b="1"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认证配置略）</a:t>
            </a:r>
            <a:endPar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5" name="Rectangle 3"/>
          <p:cNvSpPr/>
          <p:nvPr/>
        </p:nvSpPr>
        <p:spPr>
          <a:xfrm>
            <a:off x="6278286" y="5069770"/>
            <a:ext cx="5434289" cy="738664"/>
          </a:xfrm>
          <a:prstGeom prst="rect">
            <a:avLst/>
          </a:prstGeom>
          <a:solidFill>
            <a:schemeClr val="bg1">
              <a:lumMod val="85000"/>
            </a:schemeClr>
          </a:solidFill>
          <a:ln>
            <a:noFill/>
          </a:ln>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free-rule-template name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default_free_rule</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SW1-free-rule-default_free_rule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free-rule 1 source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vlan</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20</a:t>
            </a:r>
          </a:p>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SW1-free-rule-default_free_rule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quit</a:t>
            </a:r>
          </a:p>
        </p:txBody>
      </p:sp>
      <p:grpSp>
        <p:nvGrpSpPr>
          <p:cNvPr id="79" name="组合 78"/>
          <p:cNvGrpSpPr/>
          <p:nvPr/>
        </p:nvGrpSpPr>
        <p:grpSpPr>
          <a:xfrm>
            <a:off x="1690371" y="1230248"/>
            <a:ext cx="3641431" cy="4959942"/>
            <a:chOff x="2323418" y="1230248"/>
            <a:chExt cx="3641431" cy="4959942"/>
          </a:xfrm>
        </p:grpSpPr>
        <p:pic>
          <p:nvPicPr>
            <p:cNvPr id="80" name="图片 79" descr="接入交换机.png"/>
            <p:cNvPicPr>
              <a:picLocks noChangeAspect="1"/>
            </p:cNvPicPr>
            <p:nvPr/>
          </p:nvPicPr>
          <p:blipFill>
            <a:blip r:embed="rId3" cstate="print"/>
            <a:stretch>
              <a:fillRect/>
            </a:stretch>
          </p:blipFill>
          <p:spPr bwMode="gray">
            <a:xfrm>
              <a:off x="2969353" y="4942101"/>
              <a:ext cx="540000" cy="441818"/>
            </a:xfrm>
            <a:prstGeom prst="rect">
              <a:avLst/>
            </a:prstGeom>
          </p:spPr>
        </p:pic>
        <p:pic>
          <p:nvPicPr>
            <p:cNvPr id="81" name="图片 80" descr="PC.png"/>
            <p:cNvPicPr>
              <a:picLocks noChangeAspect="1"/>
            </p:cNvPicPr>
            <p:nvPr/>
          </p:nvPicPr>
          <p:blipFill>
            <a:blip r:embed="rId4" cstate="print"/>
            <a:stretch>
              <a:fillRect/>
            </a:stretch>
          </p:blipFill>
          <p:spPr bwMode="gray">
            <a:xfrm>
              <a:off x="2532468" y="5776190"/>
              <a:ext cx="539063" cy="414000"/>
            </a:xfrm>
            <a:prstGeom prst="rect">
              <a:avLst/>
            </a:prstGeom>
          </p:spPr>
        </p:pic>
        <p:pic>
          <p:nvPicPr>
            <p:cNvPr id="82" name="图片 81" descr="汇聚交换机.png"/>
            <p:cNvPicPr>
              <a:picLocks noChangeAspect="1"/>
            </p:cNvPicPr>
            <p:nvPr/>
          </p:nvPicPr>
          <p:blipFill>
            <a:blip r:embed="rId5" cstate="print"/>
            <a:stretch>
              <a:fillRect/>
            </a:stretch>
          </p:blipFill>
          <p:spPr bwMode="gray">
            <a:xfrm>
              <a:off x="2969353" y="3505767"/>
              <a:ext cx="540000" cy="441818"/>
            </a:xfrm>
            <a:prstGeom prst="rect">
              <a:avLst/>
            </a:prstGeom>
          </p:spPr>
        </p:pic>
        <p:cxnSp>
          <p:nvCxnSpPr>
            <p:cNvPr id="83" name="直接连接符 82"/>
            <p:cNvCxnSpPr>
              <a:stCxn id="80" idx="2"/>
              <a:endCxn id="81" idx="0"/>
            </p:cNvCxnSpPr>
            <p:nvPr/>
          </p:nvCxnSpPr>
          <p:spPr bwMode="gray">
            <a:xfrm flipH="1">
              <a:off x="2802000" y="5383919"/>
              <a:ext cx="437353" cy="392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endCxn id="80" idx="2"/>
            </p:cNvCxnSpPr>
            <p:nvPr/>
          </p:nvCxnSpPr>
          <p:spPr bwMode="gray">
            <a:xfrm flipH="1" flipV="1">
              <a:off x="3239353" y="5383919"/>
              <a:ext cx="436918" cy="3850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80" idx="0"/>
              <a:endCxn id="82" idx="2"/>
            </p:cNvCxnSpPr>
            <p:nvPr/>
          </p:nvCxnSpPr>
          <p:spPr bwMode="gray">
            <a:xfrm flipV="1">
              <a:off x="3239353" y="3947585"/>
              <a:ext cx="0" cy="9945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2" idx="0"/>
            </p:cNvCxnSpPr>
            <p:nvPr/>
          </p:nvCxnSpPr>
          <p:spPr bwMode="gray">
            <a:xfrm flipV="1">
              <a:off x="3239353" y="2723017"/>
              <a:ext cx="0" cy="7827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文本框 86"/>
            <p:cNvSpPr txBox="1"/>
            <p:nvPr/>
          </p:nvSpPr>
          <p:spPr bwMode="gray">
            <a:xfrm>
              <a:off x="3234237" y="3921606"/>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88" name="文本框 87"/>
            <p:cNvSpPr txBox="1"/>
            <p:nvPr/>
          </p:nvSpPr>
          <p:spPr bwMode="gray">
            <a:xfrm>
              <a:off x="3239353" y="3197990"/>
              <a:ext cx="851515" cy="307777"/>
            </a:xfrm>
            <a:prstGeom prst="rect">
              <a:avLst/>
            </a:prstGeom>
            <a:noFill/>
          </p:spPr>
          <p:txBody>
            <a:bodyPr wrap="none" rtlCol="0">
              <a:spAutoFit/>
            </a:bodyPr>
            <a:lstStyle/>
            <a:p>
              <a:r>
                <a:rPr lang="en-US" altLang="zh-CN" sz="1400" dirty="0"/>
                <a:t>GE0/0/3</a:t>
              </a:r>
              <a:endParaRPr lang="zh-CN" altLang="en-US" sz="1400" dirty="0"/>
            </a:p>
          </p:txBody>
        </p:sp>
        <p:sp>
          <p:nvSpPr>
            <p:cNvPr id="89" name="Freeform 159"/>
            <p:cNvSpPr>
              <a:spLocks noChangeAspect="1"/>
            </p:cNvSpPr>
            <p:nvPr/>
          </p:nvSpPr>
          <p:spPr bwMode="gray">
            <a:xfrm flipH="1">
              <a:off x="2651201" y="2042864"/>
              <a:ext cx="1308517" cy="684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p:cNvSpPr txBox="1"/>
            <p:nvPr/>
          </p:nvSpPr>
          <p:spPr bwMode="gray">
            <a:xfrm>
              <a:off x="2848051" y="2272510"/>
              <a:ext cx="933269"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Intranet</a:t>
              </a:r>
            </a:p>
          </p:txBody>
        </p:sp>
        <p:sp>
          <p:nvSpPr>
            <p:cNvPr id="91" name="文本框 90"/>
            <p:cNvSpPr txBox="1"/>
            <p:nvPr/>
          </p:nvSpPr>
          <p:spPr bwMode="gray">
            <a:xfrm>
              <a:off x="3483695" y="3602892"/>
              <a:ext cx="1293944" cy="307777"/>
            </a:xfrm>
            <a:prstGeom prst="rect">
              <a:avLst/>
            </a:prstGeom>
            <a:noFill/>
          </p:spPr>
          <p:txBody>
            <a:bodyPr wrap="none" rtlCol="0">
              <a:spAutoFit/>
            </a:bodyPr>
            <a:lstStyle/>
            <a:p>
              <a:r>
                <a:rPr lang="en-US" altLang="zh-CN" sz="1400" b="1" dirty="0" smtClean="0"/>
                <a:t>SW1</a:t>
              </a:r>
              <a:r>
                <a:rPr lang="zh-CN" altLang="en-US" sz="1400" b="1" dirty="0" smtClean="0"/>
                <a:t>（网关）</a:t>
              </a:r>
              <a:endParaRPr lang="zh-CN" altLang="en-US" sz="1400" b="1" dirty="0"/>
            </a:p>
          </p:txBody>
        </p:sp>
        <p:sp>
          <p:nvSpPr>
            <p:cNvPr id="92" name="文本框 91"/>
            <p:cNvSpPr txBox="1"/>
            <p:nvPr/>
          </p:nvSpPr>
          <p:spPr bwMode="gray">
            <a:xfrm>
              <a:off x="3447561" y="5050423"/>
              <a:ext cx="1293944" cy="307777"/>
            </a:xfrm>
            <a:prstGeom prst="rect">
              <a:avLst/>
            </a:prstGeom>
            <a:noFill/>
          </p:spPr>
          <p:txBody>
            <a:bodyPr wrap="none" rtlCol="0">
              <a:spAutoFit/>
            </a:bodyPr>
            <a:lstStyle/>
            <a:p>
              <a:r>
                <a:rPr lang="en-US" altLang="zh-CN" sz="1400" b="1" dirty="0" smtClean="0"/>
                <a:t>SW2</a:t>
              </a:r>
              <a:r>
                <a:rPr lang="zh-CN" altLang="en-US" sz="1400" b="1" dirty="0" smtClean="0"/>
                <a:t>（接入）</a:t>
              </a:r>
              <a:endParaRPr lang="zh-CN" altLang="en-US" sz="1400" b="1" dirty="0"/>
            </a:p>
          </p:txBody>
        </p:sp>
        <p:sp>
          <p:nvSpPr>
            <p:cNvPr id="93" name="文本框 92"/>
            <p:cNvSpPr txBox="1"/>
            <p:nvPr/>
          </p:nvSpPr>
          <p:spPr bwMode="gray">
            <a:xfrm>
              <a:off x="2418960" y="1230248"/>
              <a:ext cx="1383712" cy="523220"/>
            </a:xfrm>
            <a:prstGeom prst="rect">
              <a:avLst/>
            </a:prstGeom>
            <a:noFill/>
          </p:spPr>
          <p:txBody>
            <a:bodyPr wrap="none" rtlCol="0">
              <a:spAutoFit/>
            </a:bodyPr>
            <a:lstStyle/>
            <a:p>
              <a:pPr algn="ctr"/>
              <a:r>
                <a:rPr lang="en-US" altLang="zh-CN" sz="1400" dirty="0" smtClean="0"/>
                <a:t>RADIUS Server</a:t>
              </a:r>
            </a:p>
            <a:p>
              <a:pPr algn="ctr"/>
              <a:r>
                <a:rPr lang="en-US" altLang="zh-CN" sz="1400" dirty="0" smtClean="0"/>
                <a:t>192.168.4.30</a:t>
              </a:r>
              <a:endParaRPr lang="zh-CN" altLang="en-US" sz="1400" dirty="0"/>
            </a:p>
          </p:txBody>
        </p:sp>
        <p:sp>
          <p:nvSpPr>
            <p:cNvPr id="94" name="文本框 93"/>
            <p:cNvSpPr txBox="1"/>
            <p:nvPr/>
          </p:nvSpPr>
          <p:spPr bwMode="gray">
            <a:xfrm>
              <a:off x="3234236" y="4658943"/>
              <a:ext cx="851515" cy="307777"/>
            </a:xfrm>
            <a:prstGeom prst="rect">
              <a:avLst/>
            </a:prstGeom>
            <a:noFill/>
          </p:spPr>
          <p:txBody>
            <a:bodyPr wrap="none" rtlCol="0">
              <a:spAutoFit/>
            </a:bodyPr>
            <a:lstStyle/>
            <a:p>
              <a:r>
                <a:rPr lang="en-US" altLang="zh-CN" sz="1400" dirty="0"/>
                <a:t>GE0/0/1</a:t>
              </a:r>
              <a:endParaRPr lang="zh-CN" altLang="en-US" sz="1400" dirty="0"/>
            </a:p>
          </p:txBody>
        </p:sp>
        <p:sp>
          <p:nvSpPr>
            <p:cNvPr id="95" name="文本框 94"/>
            <p:cNvSpPr txBox="1"/>
            <p:nvPr/>
          </p:nvSpPr>
          <p:spPr bwMode="gray">
            <a:xfrm>
              <a:off x="2323418" y="5313792"/>
              <a:ext cx="851515" cy="307777"/>
            </a:xfrm>
            <a:prstGeom prst="rect">
              <a:avLst/>
            </a:prstGeom>
            <a:noFill/>
          </p:spPr>
          <p:txBody>
            <a:bodyPr wrap="none" rtlCol="0">
              <a:spAutoFit/>
            </a:bodyPr>
            <a:lstStyle/>
            <a:p>
              <a:r>
                <a:rPr lang="en-US" altLang="zh-CN" sz="1400" dirty="0"/>
                <a:t>GE0/0/2</a:t>
              </a:r>
              <a:endParaRPr lang="zh-CN" altLang="en-US" sz="1400" dirty="0"/>
            </a:p>
          </p:txBody>
        </p:sp>
        <p:sp>
          <p:nvSpPr>
            <p:cNvPr id="96" name="文本框 95"/>
            <p:cNvSpPr txBox="1"/>
            <p:nvPr/>
          </p:nvSpPr>
          <p:spPr bwMode="gray">
            <a:xfrm>
              <a:off x="3327333" y="5316248"/>
              <a:ext cx="851515" cy="307777"/>
            </a:xfrm>
            <a:prstGeom prst="rect">
              <a:avLst/>
            </a:prstGeom>
            <a:noFill/>
          </p:spPr>
          <p:txBody>
            <a:bodyPr wrap="none" rtlCol="0">
              <a:spAutoFit/>
            </a:bodyPr>
            <a:lstStyle/>
            <a:p>
              <a:r>
                <a:rPr lang="en-US" altLang="zh-CN" sz="1400" dirty="0"/>
                <a:t>GE0/0/3</a:t>
              </a:r>
              <a:endParaRPr lang="zh-CN" altLang="en-US" sz="1400" dirty="0"/>
            </a:p>
          </p:txBody>
        </p:sp>
        <p:pic>
          <p:nvPicPr>
            <p:cNvPr id="97" name="图片 96" descr="PC.png"/>
            <p:cNvPicPr>
              <a:picLocks noChangeAspect="1"/>
            </p:cNvPicPr>
            <p:nvPr/>
          </p:nvPicPr>
          <p:blipFill>
            <a:blip r:embed="rId4" cstate="print"/>
            <a:stretch>
              <a:fillRect/>
            </a:stretch>
          </p:blipFill>
          <p:spPr bwMode="gray">
            <a:xfrm>
              <a:off x="3421615" y="5776190"/>
              <a:ext cx="539063" cy="414000"/>
            </a:xfrm>
            <a:prstGeom prst="rect">
              <a:avLst/>
            </a:prstGeom>
          </p:spPr>
        </p:pic>
        <p:sp>
          <p:nvSpPr>
            <p:cNvPr id="98" name="文本框 97"/>
            <p:cNvSpPr txBox="1"/>
            <p:nvPr/>
          </p:nvSpPr>
          <p:spPr bwMode="gray">
            <a:xfrm>
              <a:off x="2462694" y="5531435"/>
              <a:ext cx="800219" cy="276999"/>
            </a:xfrm>
            <a:prstGeom prst="rect">
              <a:avLst/>
            </a:prstGeom>
            <a:solidFill>
              <a:schemeClr val="bg1"/>
            </a:solidFill>
          </p:spPr>
          <p:txBody>
            <a:bodyPr wrap="none" rtlCol="0">
              <a:spAutoFit/>
            </a:bodyPr>
            <a:lstStyle/>
            <a:p>
              <a:r>
                <a:rPr lang="en-US" altLang="zh-CN" sz="1200" dirty="0" smtClean="0"/>
                <a:t>VLAN 10</a:t>
              </a:r>
              <a:endParaRPr lang="zh-CN" altLang="en-US" sz="1200" dirty="0"/>
            </a:p>
          </p:txBody>
        </p:sp>
        <p:sp>
          <p:nvSpPr>
            <p:cNvPr id="99" name="文本框 98"/>
            <p:cNvSpPr txBox="1"/>
            <p:nvPr/>
          </p:nvSpPr>
          <p:spPr bwMode="gray">
            <a:xfrm>
              <a:off x="2710201" y="4313086"/>
              <a:ext cx="1058303" cy="276999"/>
            </a:xfrm>
            <a:prstGeom prst="rect">
              <a:avLst/>
            </a:prstGeom>
            <a:solidFill>
              <a:schemeClr val="bg1"/>
            </a:solidFill>
          </p:spPr>
          <p:txBody>
            <a:bodyPr wrap="none" rtlCol="0">
              <a:spAutoFit/>
            </a:bodyPr>
            <a:lstStyle/>
            <a:p>
              <a:r>
                <a:rPr lang="en-US" altLang="zh-CN" sz="1200" dirty="0" smtClean="0"/>
                <a:t>VLAN 10, 20</a:t>
              </a:r>
              <a:endParaRPr lang="zh-CN" altLang="en-US" sz="1200" dirty="0"/>
            </a:p>
          </p:txBody>
        </p:sp>
        <p:pic>
          <p:nvPicPr>
            <p:cNvPr id="100" name="图片 99"/>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823833" y="1699898"/>
              <a:ext cx="540000" cy="442800"/>
            </a:xfrm>
            <a:prstGeom prst="rect">
              <a:avLst/>
            </a:prstGeom>
          </p:spPr>
        </p:pic>
        <p:sp>
          <p:nvSpPr>
            <p:cNvPr id="101" name="文本框 100"/>
            <p:cNvSpPr txBox="1"/>
            <p:nvPr/>
          </p:nvSpPr>
          <p:spPr bwMode="gray">
            <a:xfrm>
              <a:off x="2837901" y="2897497"/>
              <a:ext cx="800219" cy="276999"/>
            </a:xfrm>
            <a:prstGeom prst="rect">
              <a:avLst/>
            </a:prstGeom>
            <a:solidFill>
              <a:schemeClr val="bg1"/>
            </a:solidFill>
          </p:spPr>
          <p:txBody>
            <a:bodyPr wrap="none" rtlCol="0">
              <a:spAutoFit/>
            </a:bodyPr>
            <a:lstStyle/>
            <a:p>
              <a:r>
                <a:rPr lang="en-US" altLang="zh-CN" sz="1200" dirty="0" smtClean="0"/>
                <a:t>VLAN 30</a:t>
              </a:r>
              <a:endParaRPr lang="zh-CN" altLang="en-US" sz="1200" dirty="0"/>
            </a:p>
          </p:txBody>
        </p:sp>
        <p:sp>
          <p:nvSpPr>
            <p:cNvPr id="102" name="文本框 101"/>
            <p:cNvSpPr txBox="1"/>
            <p:nvPr/>
          </p:nvSpPr>
          <p:spPr bwMode="gray">
            <a:xfrm>
              <a:off x="4055010" y="1345582"/>
              <a:ext cx="1909839" cy="523220"/>
            </a:xfrm>
            <a:prstGeom prst="rect">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txBody>
            <a:bodyPr wrap="square" rtlCol="0">
              <a:spAutoFit/>
            </a:bodyPr>
            <a:lstStyle/>
            <a:p>
              <a:r>
                <a:rPr lang="zh-CN" altLang="en-US" sz="1400" dirty="0" smtClean="0"/>
                <a:t>用户</a:t>
              </a:r>
              <a:r>
                <a:rPr lang="en-US" altLang="zh-CN" sz="1400" dirty="0" smtClean="0"/>
                <a:t>VLAN</a:t>
              </a:r>
              <a:r>
                <a:rPr lang="zh-CN" altLang="en-US" sz="1400" dirty="0" smtClean="0"/>
                <a:t>：</a:t>
              </a:r>
              <a:r>
                <a:rPr lang="en-US" altLang="zh-CN" sz="1400" dirty="0" smtClean="0"/>
                <a:t>VLAN 10</a:t>
              </a:r>
            </a:p>
            <a:p>
              <a:r>
                <a:rPr lang="zh-CN" altLang="en-US" sz="1400" dirty="0" smtClean="0"/>
                <a:t>管理</a:t>
              </a:r>
              <a:r>
                <a:rPr lang="en-US" altLang="zh-CN" sz="1400" dirty="0" smtClean="0"/>
                <a:t>VLAN</a:t>
              </a:r>
              <a:r>
                <a:rPr lang="zh-CN" altLang="en-US" sz="1400" dirty="0" smtClean="0"/>
                <a:t>：</a:t>
              </a:r>
              <a:r>
                <a:rPr lang="en-US" altLang="zh-CN" sz="1400" dirty="0" smtClean="0"/>
                <a:t>VLAN 20</a:t>
              </a:r>
              <a:endParaRPr lang="zh-CN" altLang="en-US" sz="1400" dirty="0"/>
            </a:p>
          </p:txBody>
        </p:sp>
      </p:grpSp>
    </p:spTree>
    <p:extLst>
      <p:ext uri="{BB962C8B-B14F-4D97-AF65-F5344CB8AC3E}">
        <p14:creationId xmlns:p14="http://schemas.microsoft.com/office/powerpoint/2010/main" val="92990949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smtClean="0"/>
              <a:t>(</a:t>
            </a:r>
            <a:r>
              <a:rPr lang="zh-CN" altLang="en-US" smtClean="0"/>
              <a:t>单选题</a:t>
            </a:r>
            <a:r>
              <a:rPr lang="en-US" altLang="zh-CN" smtClean="0"/>
              <a:t>)</a:t>
            </a:r>
            <a:r>
              <a:rPr lang="zh-CN" altLang="en-US" smtClean="0"/>
              <a:t>当接入设备接口下同时存在</a:t>
            </a:r>
            <a:r>
              <a:rPr lang="en-US" altLang="zh-CN" smtClean="0"/>
              <a:t>PC</a:t>
            </a:r>
            <a:r>
              <a:rPr lang="zh-CN" altLang="en-US" smtClean="0"/>
              <a:t>和打印机时，为了保证网络的安全性以及打印机能够正常接入网络，可以采用以下哪一选项的认证方式？</a:t>
            </a:r>
            <a:r>
              <a:rPr lang="en-US" altLang="zh-CN" smtClean="0"/>
              <a:t>(     )</a:t>
            </a:r>
            <a:endParaRPr lang="zh-CN" altLang="en-US" smtClean="0"/>
          </a:p>
          <a:p>
            <a:pPr lvl="1"/>
            <a:r>
              <a:rPr lang="en-US" altLang="zh-CN" smtClean="0"/>
              <a:t>MAC</a:t>
            </a:r>
            <a:r>
              <a:rPr lang="zh-CN" altLang="en-US" smtClean="0"/>
              <a:t>认证</a:t>
            </a:r>
          </a:p>
          <a:p>
            <a:pPr lvl="1"/>
            <a:r>
              <a:rPr lang="en-US" altLang="zh-CN" smtClean="0"/>
              <a:t>802.1X</a:t>
            </a:r>
            <a:r>
              <a:rPr lang="zh-CN" altLang="en-US" smtClean="0"/>
              <a:t>认证</a:t>
            </a:r>
          </a:p>
          <a:p>
            <a:pPr lvl="1"/>
            <a:r>
              <a:rPr lang="en-US" altLang="zh-CN" smtClean="0"/>
              <a:t>Portal</a:t>
            </a:r>
            <a:r>
              <a:rPr lang="zh-CN" altLang="en-US" smtClean="0"/>
              <a:t>认证</a:t>
            </a:r>
          </a:p>
          <a:p>
            <a:pPr lvl="1"/>
            <a:r>
              <a:rPr lang="en-US" altLang="zh-CN" smtClean="0"/>
              <a:t>MAC</a:t>
            </a:r>
            <a:r>
              <a:rPr lang="zh-CN" altLang="en-US" smtClean="0"/>
              <a:t>旁路认证</a:t>
            </a:r>
            <a:endParaRPr lang="en-US" altLang="zh-CN" dirty="0"/>
          </a:p>
        </p:txBody>
      </p:sp>
    </p:spTree>
    <p:extLst>
      <p:ext uri="{BB962C8B-B14F-4D97-AF65-F5344CB8AC3E}">
        <p14:creationId xmlns:p14="http://schemas.microsoft.com/office/powerpoint/2010/main" val="101381696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buFont typeface="+mj-lt"/>
              <a:buAutoNum type="arabicPeriod" startAt="2"/>
            </a:pPr>
            <a:r>
              <a:rPr lang="en-US" altLang="zh-CN" smtClean="0"/>
              <a:t>(</a:t>
            </a:r>
            <a:r>
              <a:rPr lang="zh-CN" altLang="en-US" smtClean="0"/>
              <a:t>多选题</a:t>
            </a:r>
            <a:r>
              <a:rPr lang="en-US" altLang="zh-CN" smtClean="0"/>
              <a:t>)</a:t>
            </a:r>
            <a:r>
              <a:rPr lang="zh-CN" altLang="en-US" smtClean="0"/>
              <a:t>用户通过认证后，华为设备支持下发以下哪些选项的权限？</a:t>
            </a:r>
            <a:r>
              <a:rPr lang="en-US" altLang="zh-CN" smtClean="0"/>
              <a:t>(     )</a:t>
            </a:r>
          </a:p>
          <a:p>
            <a:pPr lvl="1"/>
            <a:r>
              <a:rPr lang="en-US" altLang="zh-CN" smtClean="0"/>
              <a:t>VLAN</a:t>
            </a:r>
          </a:p>
          <a:p>
            <a:pPr lvl="1"/>
            <a:r>
              <a:rPr lang="en-US" altLang="zh-CN" smtClean="0"/>
              <a:t>IP</a:t>
            </a:r>
            <a:r>
              <a:rPr lang="zh-CN" altLang="en-US" smtClean="0"/>
              <a:t>地址</a:t>
            </a:r>
          </a:p>
          <a:p>
            <a:pPr lvl="1"/>
            <a:r>
              <a:rPr lang="en-US" altLang="zh-CN" smtClean="0"/>
              <a:t>ACL</a:t>
            </a:r>
          </a:p>
          <a:p>
            <a:pPr lvl="1"/>
            <a:r>
              <a:rPr lang="en-US" altLang="zh-CN" smtClean="0"/>
              <a:t>UCL</a:t>
            </a:r>
            <a:r>
              <a:rPr lang="zh-CN" altLang="en-US" smtClean="0"/>
              <a:t>组</a:t>
            </a:r>
            <a:endParaRPr lang="en-US" altLang="zh-CN" smtClean="0"/>
          </a:p>
          <a:p>
            <a:pPr>
              <a:buAutoNum type="arabicPeriod" startAt="2"/>
            </a:pPr>
            <a:endParaRPr lang="zh-CN" altLang="en-US" dirty="0"/>
          </a:p>
        </p:txBody>
      </p:sp>
    </p:spTree>
    <p:extLst>
      <p:ext uri="{BB962C8B-B14F-4D97-AF65-F5344CB8AC3E}">
        <p14:creationId xmlns:p14="http://schemas.microsoft.com/office/powerpoint/2010/main" val="145966335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用户的准入控制是网络的第一道“大门”。为了把守好这扇大门，可以在网络中</a:t>
            </a:r>
            <a:r>
              <a:rPr lang="zh-CN" altLang="en-US" dirty="0" smtClean="0"/>
              <a:t>部署</a:t>
            </a:r>
            <a:r>
              <a:rPr lang="en-US" altLang="zh-CN" dirty="0"/>
              <a:t>802.1X</a:t>
            </a:r>
            <a:r>
              <a:rPr lang="zh-CN" altLang="en-US" dirty="0" smtClean="0"/>
              <a:t>认证、</a:t>
            </a:r>
            <a:r>
              <a:rPr lang="en-US" altLang="zh-CN" dirty="0" smtClean="0"/>
              <a:t>MAC</a:t>
            </a:r>
            <a:r>
              <a:rPr lang="zh-CN" altLang="en-US" dirty="0" smtClean="0"/>
              <a:t>认证</a:t>
            </a:r>
            <a:r>
              <a:rPr lang="zh-CN" altLang="en-US" dirty="0"/>
              <a:t>与</a:t>
            </a:r>
            <a:r>
              <a:rPr lang="en-US" altLang="zh-CN" dirty="0"/>
              <a:t>Portal</a:t>
            </a:r>
            <a:r>
              <a:rPr lang="zh-CN" altLang="en-US" dirty="0"/>
              <a:t>认证等用户认证协议。</a:t>
            </a:r>
          </a:p>
          <a:p>
            <a:r>
              <a:rPr lang="zh-CN" altLang="en-US" dirty="0"/>
              <a:t>这些技术的实现方式与应用场景不尽相同，需要根据网络的特点及需求进行选择与部署。</a:t>
            </a:r>
          </a:p>
          <a:p>
            <a:r>
              <a:rPr lang="zh-CN" altLang="en-US" dirty="0" smtClean="0"/>
              <a:t>通过</a:t>
            </a:r>
            <a:r>
              <a:rPr lang="en-US" altLang="zh-CN" dirty="0" smtClean="0"/>
              <a:t>iMaster NCE-Campus</a:t>
            </a:r>
            <a:r>
              <a:rPr lang="zh-CN" altLang="en-US" dirty="0" smtClean="0"/>
              <a:t>及</a:t>
            </a:r>
            <a:r>
              <a:rPr lang="zh-CN" altLang="en-US" dirty="0"/>
              <a:t>网络产品可以实现先进的</a:t>
            </a:r>
            <a:r>
              <a:rPr lang="en-US" altLang="zh-CN" dirty="0"/>
              <a:t>NAC</a:t>
            </a:r>
            <a:r>
              <a:rPr lang="zh-CN" altLang="en-US" dirty="0"/>
              <a:t>解决方案，实现诸如终端类型识别以及策略自动化等一系列强大的功能。</a:t>
            </a:r>
          </a:p>
        </p:txBody>
      </p:sp>
    </p:spTree>
    <p:extLst>
      <p:ext uri="{BB962C8B-B14F-4D97-AF65-F5344CB8AC3E}">
        <p14:creationId xmlns:p14="http://schemas.microsoft.com/office/powerpoint/2010/main" val="170275212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24015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文档" ma:contentTypeID="0x01010002C5B4B712841F4C8A7AAEE2CD191271" ma:contentTypeVersion="1" ma:contentTypeDescription="新建文档。" ma:contentTypeScope="" ma:versionID="e3584c25149db5ebf399a1149e351fb6">
  <xsd:schema xmlns:xsd="http://www.w3.org/2001/XMLSchema" xmlns:xs="http://www.w3.org/2001/XMLSchema" xmlns:p="http://schemas.microsoft.com/office/2006/metadata/properties" xmlns:ns2="475f1e55-3009-46d8-9566-5d569a2b3a98" targetNamespace="http://schemas.microsoft.com/office/2006/metadata/properties" ma:root="true" ma:fieldsID="e872da27d3e632afd91cf7694db677c0"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共享对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2.xml><?xml version="1.0" encoding="utf-8"?>
<ds:datastoreItem xmlns:ds="http://schemas.openxmlformats.org/officeDocument/2006/customXml" ds:itemID="{E41913EB-EDEE-48EA-8635-D4D9C88614B9}"/>
</file>

<file path=customXml/itemProps3.xml><?xml version="1.0" encoding="utf-8"?>
<ds:datastoreItem xmlns:ds="http://schemas.openxmlformats.org/officeDocument/2006/customXml" ds:itemID="{DA5960F2-6186-408B-A0DC-5CA5E58B604F}">
  <ds:schemaRefs>
    <ds:schemaRef ds:uri="http://schemas.microsoft.com/office/2006/metadata/properties"/>
    <ds:schemaRef ds:uri="http://schemas.microsoft.com/office/2006/documentManagement/types"/>
    <ds:schemaRef ds:uri="http://www.w3.org/XML/1998/namespace"/>
    <ds:schemaRef ds:uri="http://purl.org/dc/terms/"/>
    <ds:schemaRef ds:uri="475f1e55-3009-46d8-9566-5d569a2b3a98"/>
    <ds:schemaRef ds:uri="http://schemas.microsoft.com/office/infopath/2007/PartnerControls"/>
    <ds:schemaRef ds:uri="http://schemas.openxmlformats.org/package/2006/metadata/core-propertie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1434</TotalTime>
  <Words>12340</Words>
  <Application>Microsoft Office PowerPoint</Application>
  <PresentationFormat>宽屏</PresentationFormat>
  <Paragraphs>1276</Paragraphs>
  <Slides>69</Slides>
  <Notes>69</Notes>
  <HiddenSlides>3</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69</vt:i4>
      </vt:variant>
    </vt:vector>
  </HeadingPairs>
  <TitlesOfParts>
    <vt:vector size="81" baseType="lpstr">
      <vt:lpstr>ＭＳ Ｐゴシック</vt:lpstr>
      <vt:lpstr>方正兰亭黑简体</vt:lpstr>
      <vt:lpstr>Microsoft YaHei</vt:lpstr>
      <vt:lpstr>Microsoft YaHei</vt:lpstr>
      <vt:lpstr>Arial</vt:lpstr>
      <vt:lpstr>Courier New</vt:lpstr>
      <vt:lpstr>Huawei Sans</vt:lpstr>
      <vt:lpstr>Wingdings</vt:lpstr>
      <vt:lpstr>1_标题页模板</vt:lpstr>
      <vt:lpstr>2_功能页模板</vt:lpstr>
      <vt:lpstr>3_内容页模板</vt:lpstr>
      <vt:lpstr>4_感谢页模板</vt:lpstr>
      <vt:lpstr>PowerPoint 演示文稿</vt:lpstr>
      <vt:lpstr>网络准入控制</vt:lpstr>
      <vt:lpstr>PowerPoint 演示文稿</vt:lpstr>
      <vt:lpstr>PowerPoint 演示文稿</vt:lpstr>
      <vt:lpstr>PowerPoint 演示文稿</vt:lpstr>
      <vt:lpstr>网络准入控制的技术背景</vt:lpstr>
      <vt:lpstr>网络准入控制概述</vt:lpstr>
      <vt:lpstr>网络准入控制基本原理</vt:lpstr>
      <vt:lpstr>网络准入控制的策略管控</vt:lpstr>
      <vt:lpstr>网络准入控制的策略授权</vt:lpstr>
      <vt:lpstr>PowerPoint 演示文稿</vt:lpstr>
      <vt:lpstr>802.1X认证概述</vt:lpstr>
      <vt:lpstr>802.1X认证方式</vt:lpstr>
      <vt:lpstr>802.1X用户认证流程</vt:lpstr>
      <vt:lpstr>PowerPoint 演示文稿</vt:lpstr>
      <vt:lpstr>802.1X认证基本配置命令 (1)</vt:lpstr>
      <vt:lpstr>802.1X认证基本配置命令 (2)</vt:lpstr>
      <vt:lpstr>802.1X概念小结</vt:lpstr>
      <vt:lpstr>MAC地址认证概述</vt:lpstr>
      <vt:lpstr>MAC认证配置命令 (1)</vt:lpstr>
      <vt:lpstr>MAC认证配置命令 (2)</vt:lpstr>
      <vt:lpstr>Portal认证概述</vt:lpstr>
      <vt:lpstr>Portal认证流程</vt:lpstr>
      <vt:lpstr>Portal认证流程：认证协议为Portal协议</vt:lpstr>
      <vt:lpstr>PowerPoint 演示文稿</vt:lpstr>
      <vt:lpstr>Portal认证流程：认证协议为HTTP/HTTPS协议</vt:lpstr>
      <vt:lpstr>Portal认证配置命令 - 配置外置Portal服务器 (1)</vt:lpstr>
      <vt:lpstr>Portal认证配置命令 - 配置外置Portal服务器 (2)</vt:lpstr>
      <vt:lpstr>Portal认证配置命令 - 配置Portal接入模板</vt:lpstr>
      <vt:lpstr>用户认证技术对比</vt:lpstr>
      <vt:lpstr>MAC旁路认证</vt:lpstr>
      <vt:lpstr>MAC优先的Portal认证</vt:lpstr>
      <vt:lpstr>PowerPoint 演示文稿</vt:lpstr>
      <vt:lpstr>认证成功授权</vt:lpstr>
      <vt:lpstr>免认证与认证事件授权</vt:lpstr>
      <vt:lpstr>用户下线</vt:lpstr>
      <vt:lpstr>PowerPoint 演示文稿</vt:lpstr>
      <vt:lpstr>用户接入认证配置思路</vt:lpstr>
      <vt:lpstr>认证模板配置 (1)</vt:lpstr>
      <vt:lpstr>认证模板配置 (2)</vt:lpstr>
      <vt:lpstr>拓展功能 - 配置静态用户</vt:lpstr>
      <vt:lpstr>应用NAC配置命令</vt:lpstr>
      <vt:lpstr>配置案例 - 组网需求与认证规划</vt:lpstr>
      <vt:lpstr>配置案例 - 数据规划</vt:lpstr>
      <vt:lpstr>配置案例 - 操作步骤 (1)</vt:lpstr>
      <vt:lpstr>配置案例 - 操作步骤 (2)</vt:lpstr>
      <vt:lpstr>配置案例 - 操作步骤 (3)</vt:lpstr>
      <vt:lpstr>配置案例 - 操作步骤 (4)</vt:lpstr>
      <vt:lpstr>PowerPoint 演示文稿</vt:lpstr>
      <vt:lpstr>技术背景 (1)</vt:lpstr>
      <vt:lpstr>技术背景 (2)</vt:lpstr>
      <vt:lpstr>策略联动概述</vt:lpstr>
      <vt:lpstr>策略联动实现机制</vt:lpstr>
      <vt:lpstr>策略联动与普通认证方案对比</vt:lpstr>
      <vt:lpstr>策略联动配置思路</vt:lpstr>
      <vt:lpstr>策略联动配置 - 配置接入设备</vt:lpstr>
      <vt:lpstr>策略联动配置 - 配置控制设备 (1)</vt:lpstr>
      <vt:lpstr>策略联动配置 - 配置控制设备 (2)</vt:lpstr>
      <vt:lpstr>配置案例 - 组网需求与认证规划</vt:lpstr>
      <vt:lpstr>配置案例 - 数据规划</vt:lpstr>
      <vt:lpstr>配置案例 - 操作步骤 (1)</vt:lpstr>
      <vt:lpstr>配置案例 - 操作步骤 (2)</vt:lpstr>
      <vt:lpstr>配置案例 - 操作步骤 (4)</vt:lpstr>
      <vt:lpstr>配置案例 - 操作步骤 (5)</vt:lpstr>
      <vt:lpstr>配置案例 - 操作步骤 (6)</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luyueyuezjhw</cp:lastModifiedBy>
  <cp:revision>261</cp:revision>
  <cp:lastPrinted>2020-07-31T09:33:18Z</cp:lastPrinted>
  <dcterms:created xsi:type="dcterms:W3CDTF">2018-11-29T10:16:29Z</dcterms:created>
  <dcterms:modified xsi:type="dcterms:W3CDTF">2021-10-13T07:46:38Z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(3)dmsFul0hltlkHA0HMQ++YgiNR+fkfcH5iEHomUceddBNVkAdOTavTmSSkl2fV2ooboJBZ/hM
gbKm858Lnu7T4KvFmb7FXZXnJ9jXLixd0Plbi7P6ZHrpTx3+TcybDS+JODoOLdXcdDlBvn+f
9thjrwViGSnkRVKeU0Xy6Vce7Pvb7JIPJI53g+ti5zJtbLJKS5LMJK8RDPcqumgbBD2gFhKs
tySQCn7PaGN5DotHq/</vt:lpwstr>
  </property>
  <property fmtid="{D5CDD505-2E9C-101B-9397-08002B2CF9AE}" pid="3" name="_2015_ms_pID_7253431">
    <vt:lpwstr>pEXN5r5Yg7n6MaToJ4GD/2S7YaHB/LwcYwzgEpoykcKsAtUBGY8s24
B8TOUNyGQwmsUJUqpzOk8yd4/IQ9yEGtgcpkxPhnruW15YFy3H98LYHoQ4WXeLBtjSofKBSa
2zEIKwupZBiuDhjCJ+lphvNtRGtW5Nimr1VFaAbpBlPWSp6s6MdhgK8WQ1Ml7NsuRCuSja1e
b39Q/pzMSY8bTXYwK+ExG00hWRaHfeKi7P9y</vt:lpwstr>
  </property>
  <property fmtid="{D5CDD505-2E9C-101B-9397-08002B2CF9AE}" pid="4" name="_2015_ms_pID_7253432">
    <vt:lpwstr>hxknR/9Lm0nanHqJAArvi+8=</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1634024950</vt:lpwstr>
  </property>
</Properties>
</file>