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3"/>
    <p:sldMasterId id="2147483661" r:id="rId4"/>
    <p:sldMasterId id="2147483667" r:id="rId5"/>
  </p:sldMasterIdLst>
  <p:notesMasterIdLst>
    <p:notesMasterId r:id="rId7"/>
  </p:notesMasterIdLst>
  <p:handoutMasterIdLst>
    <p:handoutMasterId r:id="rId119"/>
  </p:handoutMasterIdLst>
  <p:sldIdLst>
    <p:sldId id="257" r:id="rId6"/>
    <p:sldId id="258" r:id="rId8"/>
    <p:sldId id="259" r:id="rId9"/>
    <p:sldId id="260" r:id="rId10"/>
    <p:sldId id="261" r:id="rId11"/>
    <p:sldId id="263" r:id="rId12"/>
    <p:sldId id="264" r:id="rId13"/>
    <p:sldId id="372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375" r:id="rId22"/>
    <p:sldId id="274" r:id="rId23"/>
    <p:sldId id="275" r:id="rId24"/>
    <p:sldId id="276" r:id="rId25"/>
    <p:sldId id="277" r:id="rId26"/>
    <p:sldId id="278" r:id="rId27"/>
    <p:sldId id="373" r:id="rId28"/>
    <p:sldId id="280" r:id="rId29"/>
    <p:sldId id="281" r:id="rId30"/>
    <p:sldId id="282" r:id="rId31"/>
    <p:sldId id="283" r:id="rId32"/>
    <p:sldId id="37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48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1" r:id="rId105"/>
    <p:sldId id="362" r:id="rId106"/>
    <p:sldId id="360" r:id="rId107"/>
    <p:sldId id="363" r:id="rId108"/>
    <p:sldId id="364" r:id="rId109"/>
    <p:sldId id="366" r:id="rId110"/>
    <p:sldId id="367" r:id="rId111"/>
    <p:sldId id="368" r:id="rId112"/>
    <p:sldId id="369" r:id="rId113"/>
    <p:sldId id="370" r:id="rId114"/>
    <p:sldId id="371" r:id="rId115"/>
    <p:sldId id="344" r:id="rId116"/>
    <p:sldId id="345" r:id="rId117"/>
    <p:sldId id="347" r:id="rId118"/>
  </p:sldIdLst>
  <p:sldSz cx="12192000" cy="6858000"/>
  <p:notesSz cx="7010400" cy="9296400"/>
  <p:custDataLst>
    <p:tags r:id="rId1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3906" userDrawn="1">
          <p15:clr>
            <a:srgbClr val="A4A3A4"/>
          </p15:clr>
        </p15:guide>
        <p15:guide id="5" orient="horz" pos="0" userDrawn="1">
          <p15:clr>
            <a:srgbClr val="A4A3A4"/>
          </p15:clr>
        </p15:guide>
        <p15:guide id="6" orient="horz" pos="73" userDrawn="1">
          <p15:clr>
            <a:srgbClr val="A4A3A4"/>
          </p15:clr>
        </p15:guide>
        <p15:guide id="7" orient="horz" pos="2364" userDrawn="1">
          <p15:clr>
            <a:srgbClr val="C35EA4"/>
          </p15:clr>
        </p15:guide>
        <p15:guide id="8" orient="horz" pos="10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junjianzjhw" initials="h" lastIdx="33" clrIdx="0"/>
  <p:cmAuthor id="2" name="luyueyuezjhw" initials="l" lastIdx="8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  <a:srgbClr val="56C4D2"/>
    <a:srgbClr val="30B5C5"/>
    <a:srgbClr val="94DAE2"/>
    <a:srgbClr val="BEE9EE"/>
    <a:srgbClr val="62B230"/>
    <a:srgbClr val="F28944"/>
    <a:srgbClr val="EBB3CC"/>
    <a:srgbClr val="DD80AA"/>
    <a:srgbClr val="F6B7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4" autoAdjust="0"/>
    <p:restoredTop sz="84465" autoAdjust="0"/>
  </p:normalViewPr>
  <p:slideViewPr>
    <p:cSldViewPr snapToGrid="0" snapToObjects="1" showGuides="1">
      <p:cViewPr varScale="1">
        <p:scale>
          <a:sx n="72" d="100"/>
          <a:sy n="72" d="100"/>
        </p:scale>
        <p:origin x="36" y="44"/>
      </p:cViewPr>
      <p:guideLst>
        <p:guide pos="3840"/>
        <p:guide orient="horz" pos="3906"/>
        <p:guide orient="horz"/>
        <p:guide orient="horz" pos="73"/>
        <p:guide orient="horz" pos="2364"/>
        <p:guide orient="horz" pos="10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660" y="426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" Type="http://schemas.openxmlformats.org/officeDocument/2006/relationships/slide" Target="slides/slide3.xml"/><Relationship Id="rId89" Type="http://schemas.openxmlformats.org/officeDocument/2006/relationships/slide" Target="slides/slide83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80" Type="http://schemas.openxmlformats.org/officeDocument/2006/relationships/slide" Target="slides/slide74.xml"/><Relationship Id="rId8" Type="http://schemas.openxmlformats.org/officeDocument/2006/relationships/slide" Target="slides/slide2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7" Type="http://schemas.openxmlformats.org/officeDocument/2006/relationships/tags" Target="tags/tag4.xml"/><Relationship Id="rId126" Type="http://schemas.openxmlformats.org/officeDocument/2006/relationships/customXml" Target="../customXml/item3.xml"/><Relationship Id="rId125" Type="http://schemas.openxmlformats.org/officeDocument/2006/relationships/customXml" Target="../customXml/item2.xml"/><Relationship Id="rId124" Type="http://schemas.openxmlformats.org/officeDocument/2006/relationships/customXml" Target="../customXml/item1.xml"/><Relationship Id="rId123" Type="http://schemas.openxmlformats.org/officeDocument/2006/relationships/commentAuthors" Target="commentAuthors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2" Type="http://schemas.openxmlformats.org/officeDocument/2006/relationships/slide" Target="slides/slide6.xml"/><Relationship Id="rId119" Type="http://schemas.openxmlformats.org/officeDocument/2006/relationships/handoutMaster" Target="handoutMasters/handoutMaster1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4" Type="http://schemas.openxmlformats.org/officeDocument/2006/relationships/slide" Target="slides/slide108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110" Type="http://schemas.openxmlformats.org/officeDocument/2006/relationships/slide" Target="slides/slide104.xml"/><Relationship Id="rId11" Type="http://schemas.openxmlformats.org/officeDocument/2006/relationships/slide" Target="slides/slide5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</a:fld>
            <a:endParaRPr lang="en-US" dirty="0">
              <a:latin typeface="Huawei Sans" panose="020C0503030203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39750" indent="-179705" algn="l" defTabSz="1219200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899795" indent="-179705" algn="l" defTabSz="1219200" rtl="0" eaLnBrk="1" fontAlgn="ctr" latinLnBrk="0" hangingPunct="1">
      <a:lnSpc>
        <a:spcPct val="125000"/>
      </a:lnSpc>
      <a:spcAft>
        <a:spcPts val="600"/>
      </a:spcAft>
      <a:buFont typeface="微软雅黑" panose="020B050302020402020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59840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19885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VPLS</a:t>
            </a:r>
            <a:r>
              <a:rPr lang="zh-CN" altLang="en-US" dirty="0"/>
              <a:t>三种常见的创建</a:t>
            </a:r>
            <a:r>
              <a:rPr lang="en-US" altLang="zh-CN" dirty="0"/>
              <a:t>PW</a:t>
            </a:r>
            <a:r>
              <a:rPr lang="zh-CN" altLang="en-US" dirty="0"/>
              <a:t>的方式：</a:t>
            </a:r>
            <a:endParaRPr lang="en-US" altLang="zh-CN" dirty="0"/>
          </a:p>
          <a:p>
            <a:pPr lvl="1"/>
            <a:r>
              <a:rPr lang="zh-CN" altLang="en-US" dirty="0"/>
              <a:t>静态手工配置，配置量大。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LDP</a:t>
            </a:r>
            <a:r>
              <a:rPr lang="zh-CN" altLang="en-US" dirty="0"/>
              <a:t>信令创建（</a:t>
            </a:r>
            <a:r>
              <a:rPr lang="en-US" altLang="zh-CN" dirty="0"/>
              <a:t>Martini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BGP</a:t>
            </a:r>
            <a:r>
              <a:rPr lang="zh-CN" altLang="en-US" dirty="0"/>
              <a:t>信令创建（</a:t>
            </a:r>
            <a:r>
              <a:rPr lang="en-US" altLang="zh-CN" dirty="0" err="1"/>
              <a:t>Kompella</a:t>
            </a:r>
            <a:r>
              <a:rPr lang="zh-CN" altLang="en-US" dirty="0"/>
              <a:t>）。</a:t>
            </a:r>
            <a:endParaRPr lang="zh-CN" altLang="en-US" dirty="0"/>
          </a:p>
        </p:txBody>
      </p:sp>
      <p:sp>
        <p:nvSpPr>
          <p:cNvPr id="7" name="幻灯片图像占位符 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本页术语参考</a:t>
            </a:r>
            <a:r>
              <a:rPr lang="en-US" altLang="zh-CN" dirty="0"/>
              <a:t>RFC7432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在华为设备上暂未使用</a:t>
            </a:r>
            <a:r>
              <a:rPr lang="en-US" altLang="zh-CN"/>
              <a:t>Type 2</a:t>
            </a:r>
            <a:r>
              <a:rPr lang="zh-CN" altLang="en-US"/>
              <a:t>、</a:t>
            </a:r>
            <a:r>
              <a:rPr lang="en-US" altLang="zh-CN"/>
              <a:t>Type 3</a:t>
            </a:r>
            <a:r>
              <a:rPr lang="zh-CN" altLang="en-US"/>
              <a:t>、</a:t>
            </a:r>
            <a:r>
              <a:rPr lang="en-US" altLang="zh-CN"/>
              <a:t>Type 4</a:t>
            </a:r>
            <a:r>
              <a:rPr lang="zh-CN" altLang="en-US"/>
              <a:t>、</a:t>
            </a:r>
            <a:r>
              <a:rPr lang="en-US" altLang="zh-CN"/>
              <a:t>Type 5</a:t>
            </a:r>
            <a:r>
              <a:rPr lang="zh-CN" altLang="en-US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到目前为止，</a:t>
            </a:r>
            <a:r>
              <a:rPr lang="en-US" altLang="zh-CN" dirty="0"/>
              <a:t>RFC</a:t>
            </a:r>
            <a:r>
              <a:rPr lang="zh-CN" altLang="en-US" dirty="0"/>
              <a:t>和草案中已经定义了</a:t>
            </a:r>
            <a:r>
              <a:rPr lang="en-US" altLang="zh-CN" dirty="0"/>
              <a:t>11</a:t>
            </a:r>
            <a:r>
              <a:rPr lang="zh-CN" altLang="en-US" dirty="0"/>
              <a:t>种路由类型。</a:t>
            </a:r>
            <a:r>
              <a:rPr lang="en-US" altLang="zh-CN" dirty="0"/>
              <a:t>Type 1 - Type 5</a:t>
            </a:r>
            <a:r>
              <a:rPr lang="zh-CN" altLang="en-US" dirty="0"/>
              <a:t>较为成熟，其中</a:t>
            </a:r>
            <a:r>
              <a:rPr lang="en-US" altLang="zh-CN" dirty="0"/>
              <a:t>Type 5 </a:t>
            </a:r>
            <a:r>
              <a:rPr lang="zh-CN" altLang="en-US"/>
              <a:t>处于起草案</a:t>
            </a:r>
            <a:r>
              <a:rPr lang="zh-CN" altLang="en-US" dirty="0"/>
              <a:t>阶段；</a:t>
            </a:r>
            <a:r>
              <a:rPr lang="en-US" altLang="zh-CN" dirty="0"/>
              <a:t>Type 6 -</a:t>
            </a:r>
            <a:r>
              <a:rPr lang="en-US" altLang="zh-CN" baseline="0" dirty="0"/>
              <a:t> </a:t>
            </a:r>
            <a:r>
              <a:rPr lang="en-US" altLang="zh-CN" dirty="0"/>
              <a:t>Type 11</a:t>
            </a:r>
            <a:r>
              <a:rPr lang="zh-CN" altLang="en-US" dirty="0"/>
              <a:t>用于组播流量优化，标准不够成熟。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dirty="0"/>
              <a:t>CE</a:t>
            </a:r>
            <a:r>
              <a:rPr lang="zh-CN" altLang="en-US" dirty="0"/>
              <a:t>多活接入场景配置以华为</a:t>
            </a:r>
            <a:r>
              <a:rPr lang="en-US" altLang="zh-CN" dirty="0"/>
              <a:t>NE</a:t>
            </a:r>
            <a:r>
              <a:rPr lang="zh-CN" altLang="en-US" dirty="0"/>
              <a:t>系列路由器为例，</a:t>
            </a:r>
            <a:r>
              <a:rPr lang="en-US" altLang="zh-CN" dirty="0"/>
              <a:t>CE1</a:t>
            </a:r>
            <a:r>
              <a:rPr lang="zh-CN" altLang="en-US" dirty="0"/>
              <a:t>侧配置</a:t>
            </a:r>
            <a:r>
              <a:rPr lang="en-US" altLang="zh-CN" dirty="0"/>
              <a:t>Eth-Trunk</a:t>
            </a:r>
            <a:r>
              <a:rPr lang="zh-CN" altLang="en-US" dirty="0"/>
              <a:t>接入</a:t>
            </a:r>
            <a:r>
              <a:rPr lang="en-US" altLang="zh-CN" dirty="0"/>
              <a:t>PE1</a:t>
            </a:r>
            <a:r>
              <a:rPr lang="zh-CN" altLang="en-US" dirty="0"/>
              <a:t>和</a:t>
            </a:r>
            <a:r>
              <a:rPr lang="en-US" altLang="zh-CN" dirty="0"/>
              <a:t>PE2</a:t>
            </a:r>
            <a:r>
              <a:rPr lang="zh-CN" altLang="en-US" dirty="0"/>
              <a:t>，</a:t>
            </a:r>
            <a:r>
              <a:rPr lang="en-US" altLang="zh-CN" dirty="0"/>
              <a:t>PE1</a:t>
            </a:r>
            <a:r>
              <a:rPr lang="zh-CN" altLang="en-US" dirty="0"/>
              <a:t>和</a:t>
            </a:r>
            <a:r>
              <a:rPr lang="en-US" altLang="zh-CN" dirty="0"/>
              <a:t>PE2</a:t>
            </a:r>
            <a:r>
              <a:rPr lang="zh-CN" altLang="en-US" dirty="0"/>
              <a:t>需配置跨设备链路聚合</a:t>
            </a:r>
            <a:r>
              <a:rPr lang="en-US" altLang="zh-CN" dirty="0"/>
              <a:t>E-Trunk</a:t>
            </a:r>
            <a:r>
              <a:rPr lang="zh-CN" altLang="en-US" dirty="0"/>
              <a:t>（</a:t>
            </a:r>
            <a:r>
              <a:rPr lang="en-US" altLang="zh-CN" dirty="0"/>
              <a:t>Enhanced Trunk</a:t>
            </a:r>
            <a:r>
              <a:rPr lang="zh-CN" altLang="en-US" dirty="0"/>
              <a:t>）。后续将不在图中标识。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US" altLang="zh-CN" dirty="0"/>
              <a:t>P</a:t>
            </a:r>
            <a:r>
              <a:rPr lang="zh-CN" altLang="en-US" dirty="0"/>
              <a:t>设备构成的骨干网仅涉及外层隧道的转发，后续讲解省略该部分。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华为设备上可配置</a:t>
            </a:r>
            <a:r>
              <a:rPr lang="en-US" altLang="zh-CN" dirty="0"/>
              <a:t>DF</a:t>
            </a:r>
            <a:r>
              <a:rPr lang="zh-CN" altLang="en-US" dirty="0"/>
              <a:t>选举方式，基于设备接口选举或者基于</a:t>
            </a:r>
            <a:r>
              <a:rPr lang="en-US" altLang="zh-CN" dirty="0"/>
              <a:t>VLAN</a:t>
            </a:r>
            <a:r>
              <a:rPr lang="zh-CN" altLang="en-US" dirty="0"/>
              <a:t>选举。缺省情况下设备基于接口来进行</a:t>
            </a:r>
            <a:r>
              <a:rPr lang="en-US" altLang="zh-CN" dirty="0"/>
              <a:t>DF</a:t>
            </a:r>
            <a:r>
              <a:rPr lang="zh-CN" altLang="en-US" dirty="0"/>
              <a:t>选举，可能会导致多归链路上流量不均衡。可配置基于</a:t>
            </a:r>
            <a:r>
              <a:rPr lang="en-US" altLang="zh-CN" dirty="0"/>
              <a:t>VLAN</a:t>
            </a:r>
            <a:r>
              <a:rPr lang="zh-CN" altLang="en-US" dirty="0"/>
              <a:t>来进行</a:t>
            </a:r>
            <a:r>
              <a:rPr lang="en-US" altLang="zh-CN" dirty="0"/>
              <a:t>DF</a:t>
            </a:r>
            <a:r>
              <a:rPr lang="zh-CN" altLang="en-US" dirty="0"/>
              <a:t>选举，让</a:t>
            </a:r>
            <a:r>
              <a:rPr lang="en-US" altLang="zh-CN" dirty="0"/>
              <a:t>PE</a:t>
            </a:r>
            <a:r>
              <a:rPr lang="zh-CN" altLang="en-US" dirty="0"/>
              <a:t>到</a:t>
            </a:r>
            <a:r>
              <a:rPr lang="en-US" altLang="zh-CN" dirty="0"/>
              <a:t>CE</a:t>
            </a:r>
            <a:r>
              <a:rPr lang="zh-CN" altLang="en-US" dirty="0"/>
              <a:t>的</a:t>
            </a:r>
            <a:r>
              <a:rPr lang="en-US" altLang="zh-CN" dirty="0"/>
              <a:t>BUM</a:t>
            </a:r>
            <a:r>
              <a:rPr lang="zh-CN" altLang="en-US" dirty="0"/>
              <a:t>流量基于</a:t>
            </a:r>
            <a:r>
              <a:rPr lang="en-US" altLang="zh-CN" dirty="0"/>
              <a:t>VLAN</a:t>
            </a:r>
            <a:r>
              <a:rPr lang="zh-CN" altLang="en-US" dirty="0"/>
              <a:t>均衡地分担到多归链路上。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CE</a:t>
            </a:r>
            <a:r>
              <a:rPr lang="zh-CN" altLang="en-US" dirty="0"/>
              <a:t>发出的数据包不带任何标签，所以</a:t>
            </a:r>
            <a:r>
              <a:rPr lang="en-US" altLang="zh-CN" dirty="0"/>
              <a:t>PE</a:t>
            </a:r>
            <a:r>
              <a:rPr lang="zh-CN" altLang="en-US" dirty="0"/>
              <a:t>设备上</a:t>
            </a:r>
            <a:r>
              <a:rPr lang="en-US" altLang="zh-CN" dirty="0"/>
              <a:t>MAC-VRF</a:t>
            </a:r>
            <a:r>
              <a:rPr lang="zh-CN" altLang="en-US" dirty="0"/>
              <a:t>表中的入标签为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PE1</a:t>
            </a:r>
            <a:r>
              <a:rPr lang="zh-CN" altLang="en-US" dirty="0"/>
              <a:t>会将</a:t>
            </a:r>
            <a:r>
              <a:rPr lang="en-US" altLang="zh-CN" dirty="0"/>
              <a:t>ARP</a:t>
            </a:r>
            <a:r>
              <a:rPr lang="zh-CN" altLang="en-US" dirty="0"/>
              <a:t>报文基于</a:t>
            </a:r>
            <a:r>
              <a:rPr lang="en-US" altLang="zh-CN" dirty="0"/>
              <a:t>BUM</a:t>
            </a:r>
            <a:r>
              <a:rPr lang="zh-CN" altLang="en-US" dirty="0"/>
              <a:t>流量转发表转发给所有成员。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DF</a:t>
            </a:r>
            <a:r>
              <a:rPr lang="zh-CN" altLang="en-US" dirty="0"/>
              <a:t>路由器作用在此呈现，只有被选举为</a:t>
            </a:r>
            <a:r>
              <a:rPr lang="en-US" altLang="zh-CN" dirty="0"/>
              <a:t>DF</a:t>
            </a:r>
            <a:r>
              <a:rPr lang="zh-CN" altLang="en-US" dirty="0"/>
              <a:t>的路由器，才会将</a:t>
            </a:r>
            <a:r>
              <a:rPr lang="en-US" altLang="zh-CN" dirty="0"/>
              <a:t>BUM</a:t>
            </a:r>
            <a:r>
              <a:rPr lang="zh-CN" altLang="en-US" dirty="0"/>
              <a:t>流量转发给</a:t>
            </a:r>
            <a:r>
              <a:rPr lang="en-US" altLang="zh-CN" dirty="0"/>
              <a:t>CE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ESI</a:t>
            </a:r>
            <a:r>
              <a:rPr lang="zh-CN" altLang="en-US" dirty="0"/>
              <a:t> </a:t>
            </a:r>
            <a:r>
              <a:rPr lang="en-US" altLang="zh-CN" dirty="0"/>
              <a:t>Label</a:t>
            </a:r>
            <a:r>
              <a:rPr lang="zh-CN" altLang="en-US" dirty="0"/>
              <a:t>作用在此处呈现，防止</a:t>
            </a:r>
            <a:r>
              <a:rPr lang="en-US" altLang="zh-CN" dirty="0"/>
              <a:t>CE</a:t>
            </a:r>
            <a:r>
              <a:rPr lang="zh-CN" altLang="en-US" dirty="0"/>
              <a:t>流量环回。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PE3</a:t>
            </a:r>
            <a:r>
              <a:rPr lang="zh-CN" altLang="en-US" dirty="0"/>
              <a:t>根据报文目的</a:t>
            </a:r>
            <a:r>
              <a:rPr lang="en-US" altLang="zh-CN" dirty="0"/>
              <a:t>MAC</a:t>
            </a:r>
            <a:r>
              <a:rPr lang="zh-CN" altLang="en-US" dirty="0"/>
              <a:t>为</a:t>
            </a:r>
            <a:r>
              <a:rPr lang="en-US" altLang="zh-CN" dirty="0"/>
              <a:t>1-1-1</a:t>
            </a:r>
            <a:r>
              <a:rPr lang="zh-CN" altLang="en-US" dirty="0"/>
              <a:t>查</a:t>
            </a:r>
            <a:r>
              <a:rPr lang="en-US" altLang="zh-CN" dirty="0"/>
              <a:t>MAC-VRF</a:t>
            </a:r>
            <a:r>
              <a:rPr lang="zh-CN" altLang="en-US" dirty="0"/>
              <a:t>表，发现下一跳有两个选择：</a:t>
            </a:r>
            <a:r>
              <a:rPr lang="en-US" altLang="zh-CN" dirty="0"/>
              <a:t>PE1</a:t>
            </a:r>
            <a:r>
              <a:rPr lang="zh-CN" altLang="en-US" dirty="0"/>
              <a:t>和</a:t>
            </a:r>
            <a:r>
              <a:rPr lang="en-US" altLang="zh-CN" dirty="0"/>
              <a:t>PE2</a:t>
            </a:r>
            <a:r>
              <a:rPr lang="zh-CN" altLang="en-US" dirty="0"/>
              <a:t>。</a:t>
            </a:r>
            <a:r>
              <a:rPr lang="en-US" altLang="zh-CN" dirty="0"/>
              <a:t>PE3</a:t>
            </a:r>
            <a:r>
              <a:rPr lang="zh-CN" altLang="en-US" dirty="0"/>
              <a:t>通过负责分担算法找出一条路径（例如</a:t>
            </a:r>
            <a:r>
              <a:rPr lang="en-US" altLang="zh-CN" dirty="0"/>
              <a:t>PE1</a:t>
            </a:r>
            <a:r>
              <a:rPr lang="zh-CN" altLang="en-US" dirty="0"/>
              <a:t>）发送。</a:t>
            </a:r>
            <a:endParaRPr lang="en-US" altLang="zh-CN" dirty="0"/>
          </a:p>
          <a:p>
            <a:r>
              <a:rPr lang="en-US" altLang="zh-CN" dirty="0"/>
              <a:t>PE1</a:t>
            </a:r>
            <a:r>
              <a:rPr lang="zh-CN" altLang="en-US" dirty="0"/>
              <a:t>接收</a:t>
            </a:r>
            <a:r>
              <a:rPr lang="en-US" altLang="zh-CN" dirty="0"/>
              <a:t>ARP</a:t>
            </a:r>
            <a:r>
              <a:rPr lang="zh-CN" altLang="en-US" dirty="0"/>
              <a:t>应答后查询</a:t>
            </a:r>
            <a:r>
              <a:rPr lang="en-US" altLang="zh-CN" dirty="0"/>
              <a:t>MAC-VRF</a:t>
            </a:r>
            <a:r>
              <a:rPr lang="zh-CN" altLang="en-US" dirty="0"/>
              <a:t>，将报文从</a:t>
            </a:r>
            <a:r>
              <a:rPr lang="en-US" altLang="zh-CN" dirty="0"/>
              <a:t>Port1</a:t>
            </a:r>
            <a:r>
              <a:rPr lang="zh-CN" altLang="en-US" dirty="0"/>
              <a:t>发出。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Calibri" panose="020F0502020204030204" pitchFamily="34" charset="0"/>
              </a:rPr>
              <a:t>CE1</a:t>
            </a:r>
            <a:r>
              <a:rPr lang="zh-CN" altLang="en-US" dirty="0">
                <a:sym typeface="Calibri" panose="020F0502020204030204" pitchFamily="34" charset="0"/>
              </a:rPr>
              <a:t>通过两条</a:t>
            </a:r>
            <a:r>
              <a:rPr lang="en-US" altLang="zh-CN" dirty="0">
                <a:sym typeface="Calibri" panose="020F0502020204030204" pitchFamily="34" charset="0"/>
              </a:rPr>
              <a:t>Active</a:t>
            </a:r>
            <a:r>
              <a:rPr lang="zh-CN" altLang="en-US" dirty="0">
                <a:sym typeface="Calibri" panose="020F0502020204030204" pitchFamily="34" charset="0"/>
              </a:rPr>
              <a:t>的路径进行负载分担，分别发给</a:t>
            </a:r>
            <a:r>
              <a:rPr lang="en-US" altLang="zh-CN" dirty="0">
                <a:sym typeface="Calibri" panose="020F0502020204030204" pitchFamily="34" charset="0"/>
              </a:rPr>
              <a:t>PE1</a:t>
            </a:r>
            <a:r>
              <a:rPr lang="zh-CN" altLang="en-US" dirty="0">
                <a:sym typeface="Calibri" panose="020F0502020204030204" pitchFamily="34" charset="0"/>
              </a:rPr>
              <a:t>和</a:t>
            </a:r>
            <a:r>
              <a:rPr lang="en-US" altLang="zh-CN" dirty="0">
                <a:sym typeface="Calibri" panose="020F0502020204030204" pitchFamily="34" charset="0"/>
              </a:rPr>
              <a:t>PE2</a:t>
            </a:r>
            <a:r>
              <a:rPr lang="zh-CN" altLang="en-US" dirty="0">
                <a:sym typeface="Calibri" panose="020F0502020204030204" pitchFamily="34" charset="0"/>
              </a:rPr>
              <a:t>；由于</a:t>
            </a:r>
            <a:r>
              <a:rPr lang="en-US" altLang="zh-CN" dirty="0">
                <a:sym typeface="Calibri" panose="020F0502020204030204" pitchFamily="34" charset="0"/>
              </a:rPr>
              <a:t>PE1</a:t>
            </a:r>
            <a:r>
              <a:rPr lang="zh-CN" altLang="en-US" dirty="0">
                <a:sym typeface="Calibri" panose="020F0502020204030204" pitchFamily="34" charset="0"/>
              </a:rPr>
              <a:t>和</a:t>
            </a:r>
            <a:r>
              <a:rPr lang="en-US" altLang="zh-CN" dirty="0">
                <a:sym typeface="Calibri" panose="020F0502020204030204" pitchFamily="34" charset="0"/>
              </a:rPr>
              <a:t>PE2</a:t>
            </a:r>
            <a:r>
              <a:rPr lang="zh-CN" altLang="en-US" dirty="0">
                <a:sym typeface="Calibri" panose="020F0502020204030204" pitchFamily="34" charset="0"/>
              </a:rPr>
              <a:t>上事先已经形成了两条到达</a:t>
            </a:r>
            <a:r>
              <a:rPr lang="en-US" altLang="zh-CN" dirty="0">
                <a:sym typeface="Calibri" panose="020F0502020204030204" pitchFamily="34" charset="0"/>
              </a:rPr>
              <a:t>CE2</a:t>
            </a:r>
            <a:r>
              <a:rPr lang="zh-CN" altLang="en-US" dirty="0">
                <a:sym typeface="Calibri" panose="020F0502020204030204" pitchFamily="34" charset="0"/>
              </a:rPr>
              <a:t>的路径，所以可以分担到不同的路径；最终</a:t>
            </a:r>
            <a:r>
              <a:rPr lang="en-US" altLang="zh-CN" dirty="0">
                <a:sym typeface="Calibri" panose="020F0502020204030204" pitchFamily="34" charset="0"/>
              </a:rPr>
              <a:t>4</a:t>
            </a:r>
            <a:r>
              <a:rPr lang="zh-CN" altLang="en-US" dirty="0">
                <a:sym typeface="Calibri" panose="020F0502020204030204" pitchFamily="34" charset="0"/>
              </a:rPr>
              <a:t>个业务数据按照不同的路径到达</a:t>
            </a:r>
            <a:r>
              <a:rPr lang="en-US" altLang="zh-CN" dirty="0">
                <a:sym typeface="Calibri" panose="020F0502020204030204" pitchFamily="34" charset="0"/>
              </a:rPr>
              <a:t>CE2</a:t>
            </a:r>
            <a:r>
              <a:rPr lang="zh-CN" altLang="en-US" dirty="0">
                <a:sym typeface="Calibri" panose="020F0502020204030204" pitchFamily="34" charset="0"/>
              </a:rPr>
              <a:t>。</a:t>
            </a:r>
            <a:endParaRPr lang="zh-CN" altLang="en-US" dirty="0"/>
          </a:p>
        </p:txBody>
      </p:sp>
      <p:sp>
        <p:nvSpPr>
          <p:cNvPr id="7" name="幻灯片图像占位符 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PE4</a:t>
            </a:r>
            <a:r>
              <a:rPr lang="zh-CN" altLang="en-US" dirty="0"/>
              <a:t>感知</a:t>
            </a:r>
            <a:r>
              <a:rPr lang="en-US" altLang="zh-CN" dirty="0"/>
              <a:t>Type 1</a:t>
            </a:r>
            <a:r>
              <a:rPr lang="zh-CN" altLang="en-US" dirty="0"/>
              <a:t>路由后升级为</a:t>
            </a:r>
            <a:r>
              <a:rPr lang="en-US" altLang="zh-CN" dirty="0"/>
              <a:t>DF</a:t>
            </a:r>
            <a:r>
              <a:rPr lang="zh-CN" altLang="en-US" dirty="0"/>
              <a:t>路由器。</a:t>
            </a:r>
            <a:endParaRPr lang="en-US" altLang="zh-CN" dirty="0"/>
          </a:p>
          <a:p>
            <a:r>
              <a:rPr lang="en-US" altLang="zh-CN" dirty="0"/>
              <a:t>PE1</a:t>
            </a:r>
            <a:r>
              <a:rPr lang="zh-CN" altLang="en-US" dirty="0"/>
              <a:t>和</a:t>
            </a:r>
            <a:r>
              <a:rPr lang="en-US" altLang="zh-CN" dirty="0"/>
              <a:t>PE2</a:t>
            </a:r>
            <a:r>
              <a:rPr lang="zh-CN" altLang="en-US" dirty="0"/>
              <a:t>收到路由后刷新</a:t>
            </a:r>
            <a:r>
              <a:rPr lang="en-US" altLang="zh-CN" dirty="0"/>
              <a:t>MAC</a:t>
            </a:r>
            <a:r>
              <a:rPr lang="zh-CN" altLang="en-US" dirty="0"/>
              <a:t>标签，撤销到达</a:t>
            </a:r>
            <a:r>
              <a:rPr lang="en-US" altLang="zh-CN" dirty="0"/>
              <a:t>ES2</a:t>
            </a:r>
            <a:r>
              <a:rPr lang="zh-CN" altLang="en-US" dirty="0"/>
              <a:t>的的</a:t>
            </a:r>
            <a:r>
              <a:rPr lang="en-US" altLang="zh-CN" dirty="0"/>
              <a:t>MAC</a:t>
            </a:r>
            <a:r>
              <a:rPr lang="zh-CN" altLang="en-US" dirty="0"/>
              <a:t>路由。流量将自动切换到</a:t>
            </a:r>
            <a:r>
              <a:rPr lang="en-US" altLang="zh-CN" dirty="0"/>
              <a:t>PE4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多宿主情况下，如果某台</a:t>
            </a:r>
            <a:r>
              <a:rPr lang="en-US" altLang="zh-CN" dirty="0"/>
              <a:t>PE</a:t>
            </a:r>
            <a:r>
              <a:rPr lang="zh-CN" altLang="en-US" dirty="0"/>
              <a:t>与</a:t>
            </a:r>
            <a:r>
              <a:rPr lang="en-US" altLang="zh-CN" dirty="0"/>
              <a:t>CE</a:t>
            </a:r>
            <a:r>
              <a:rPr lang="zh-CN" altLang="en-US" dirty="0"/>
              <a:t>的连通性故障，</a:t>
            </a:r>
            <a:r>
              <a:rPr lang="en-US" altLang="zh-CN" dirty="0"/>
              <a:t>PE</a:t>
            </a:r>
            <a:r>
              <a:rPr lang="zh-CN" altLang="en-US" dirty="0"/>
              <a:t>必须发送</a:t>
            </a:r>
            <a:r>
              <a:rPr lang="en-US" altLang="zh-CN" sz="110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Ethernet A-D per ES</a:t>
            </a:r>
            <a:r>
              <a:rPr lang="zh-CN" altLang="en-US" sz="110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路由撤销之前通告的所有</a:t>
            </a:r>
            <a:r>
              <a:rPr lang="en-US" altLang="zh-CN" sz="110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MAC</a:t>
            </a:r>
            <a:r>
              <a:rPr lang="zh-CN" altLang="en-US" sz="110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地址。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当一个远端</a:t>
            </a:r>
            <a:r>
              <a:rPr lang="en-US" altLang="zh-CN" dirty="0"/>
              <a:t>PE</a:t>
            </a:r>
            <a:r>
              <a:rPr lang="zh-CN" altLang="en-US" dirty="0"/>
              <a:t>接收到</a:t>
            </a:r>
            <a:r>
              <a:rPr lang="en-US" altLang="zh-CN" dirty="0"/>
              <a:t>MAC/IP</a:t>
            </a:r>
            <a:r>
              <a:rPr lang="zh-CN" altLang="en-US" dirty="0"/>
              <a:t>路由时需要考虑被通告的</a:t>
            </a:r>
            <a:r>
              <a:rPr lang="en-US" altLang="zh-CN" dirty="0"/>
              <a:t>MAC</a:t>
            </a:r>
            <a:r>
              <a:rPr lang="zh-CN" altLang="en-US" dirty="0"/>
              <a:t>地址是否可以通过其他</a:t>
            </a:r>
            <a:r>
              <a:rPr lang="en-US" altLang="zh-CN" dirty="0"/>
              <a:t>PE</a:t>
            </a:r>
            <a:r>
              <a:rPr lang="zh-CN" altLang="en-US" dirty="0"/>
              <a:t>设备可达，所以</a:t>
            </a:r>
            <a:r>
              <a:rPr lang="en-US" altLang="zh-CN" dirty="0"/>
              <a:t>PE</a:t>
            </a:r>
            <a:r>
              <a:rPr lang="zh-CN" altLang="en-US" dirty="0"/>
              <a:t>会结合</a:t>
            </a:r>
            <a:r>
              <a:rPr lang="en-US" altLang="zh-CN" dirty="0"/>
              <a:t>Ethernet A-D per EVI</a:t>
            </a:r>
            <a:r>
              <a:rPr lang="zh-CN" altLang="en-US" dirty="0"/>
              <a:t>路由来确认这信息。</a:t>
            </a:r>
            <a:endParaRPr lang="en-US" altLang="zh-CN" dirty="0"/>
          </a:p>
          <a:p>
            <a:r>
              <a:rPr lang="zh-CN" altLang="en-US" dirty="0"/>
              <a:t>注意：远端</a:t>
            </a:r>
            <a:r>
              <a:rPr lang="en-US" altLang="zh-CN" dirty="0"/>
              <a:t>PE</a:t>
            </a:r>
            <a:r>
              <a:rPr lang="zh-CN" altLang="en-US" dirty="0"/>
              <a:t>可能会首先接收到</a:t>
            </a:r>
            <a:r>
              <a:rPr lang="en-US" altLang="zh-CN" dirty="0"/>
              <a:t>Ethernet A-D per EVI</a:t>
            </a:r>
            <a:r>
              <a:rPr lang="zh-CN" altLang="en-US" dirty="0"/>
              <a:t>，然后再接收到</a:t>
            </a:r>
            <a:r>
              <a:rPr lang="en-US" altLang="zh-CN" dirty="0"/>
              <a:t>Ethernet A-D per ES route</a:t>
            </a:r>
            <a:r>
              <a:rPr lang="zh-CN" altLang="en-US" dirty="0"/>
              <a:t>。为了避免这种情况出现，只有远端</a:t>
            </a:r>
            <a:r>
              <a:rPr lang="en-US" altLang="zh-CN" dirty="0"/>
              <a:t>PE</a:t>
            </a:r>
            <a:r>
              <a:rPr lang="zh-CN" altLang="en-US" dirty="0"/>
              <a:t>设备同时收到</a:t>
            </a:r>
            <a:r>
              <a:rPr lang="en-US" altLang="zh-CN" dirty="0"/>
              <a:t>Ethernet A-D per EVI</a:t>
            </a:r>
            <a:r>
              <a:rPr lang="zh-CN" altLang="en-US" dirty="0"/>
              <a:t>和</a:t>
            </a:r>
            <a:r>
              <a:rPr lang="en-US" altLang="zh-CN" dirty="0"/>
              <a:t>Ethernet A-D per ES route</a:t>
            </a:r>
            <a:r>
              <a:rPr lang="zh-CN" altLang="en-US" dirty="0"/>
              <a:t>时才会转发流量。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CE</a:t>
            </a:r>
            <a:r>
              <a:rPr lang="zh-CN" altLang="en-US" dirty="0"/>
              <a:t>多归单活场景下，远端</a:t>
            </a:r>
            <a:r>
              <a:rPr lang="en-US" altLang="zh-CN" dirty="0"/>
              <a:t>PE</a:t>
            </a:r>
            <a:r>
              <a:rPr lang="zh-CN" altLang="en-US" dirty="0"/>
              <a:t>设备通过</a:t>
            </a:r>
            <a:r>
              <a:rPr lang="en-US" altLang="zh-CN" dirty="0"/>
              <a:t>Ethernet A-D per EVI</a:t>
            </a:r>
            <a:r>
              <a:rPr lang="zh-CN" altLang="en-US" dirty="0"/>
              <a:t>和</a:t>
            </a:r>
            <a:r>
              <a:rPr lang="en-US" altLang="zh-CN" dirty="0"/>
              <a:t>Ethernet A-D per ES route</a:t>
            </a:r>
            <a:r>
              <a:rPr lang="zh-CN" altLang="en-US" dirty="0"/>
              <a:t>建立备份路径。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MAC</a:t>
            </a:r>
            <a:r>
              <a:rPr lang="zh-CN" altLang="en-US" dirty="0"/>
              <a:t>迁移特性将在后续章节中结合</a:t>
            </a:r>
            <a:r>
              <a:rPr lang="en-US" altLang="zh-CN" dirty="0"/>
              <a:t>VXLAN</a:t>
            </a:r>
            <a:r>
              <a:rPr lang="zh-CN" altLang="en-US" dirty="0"/>
              <a:t>详细介绍。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选举规则：</a:t>
            </a:r>
            <a:endParaRPr lang="en-US" altLang="zh-CN" dirty="0"/>
          </a:p>
          <a:p>
            <a:pPr lvl="1"/>
            <a:r>
              <a:rPr lang="en-US" altLang="zh-CN" dirty="0"/>
              <a:t>PE</a:t>
            </a:r>
            <a:r>
              <a:rPr lang="zh-CN" altLang="en-US" dirty="0"/>
              <a:t>发现本地连接的</a:t>
            </a:r>
            <a:r>
              <a:rPr lang="en-US" altLang="zh-CN" dirty="0"/>
              <a:t>ES</a:t>
            </a:r>
            <a:r>
              <a:rPr lang="zh-CN" altLang="en-US" dirty="0"/>
              <a:t>和</a:t>
            </a:r>
            <a:r>
              <a:rPr lang="en-US" altLang="zh-CN" dirty="0"/>
              <a:t>ESI</a:t>
            </a:r>
            <a:r>
              <a:rPr lang="zh-CN" altLang="en-US" dirty="0"/>
              <a:t>，通告携带</a:t>
            </a:r>
            <a:r>
              <a:rPr lang="en-US" altLang="zh-CN" dirty="0"/>
              <a:t>ES-Import</a:t>
            </a:r>
            <a:r>
              <a:rPr lang="zh-CN" altLang="en-US" dirty="0"/>
              <a:t>的</a:t>
            </a:r>
            <a:r>
              <a:rPr lang="en-US" altLang="zh-CN" dirty="0"/>
              <a:t>Type 4</a:t>
            </a:r>
            <a:r>
              <a:rPr lang="zh-CN" altLang="en-US" dirty="0"/>
              <a:t>路由。</a:t>
            </a:r>
            <a:endParaRPr lang="en-US" altLang="zh-CN" dirty="0"/>
          </a:p>
          <a:p>
            <a:pPr lvl="1"/>
            <a:r>
              <a:rPr lang="en-US" altLang="zh-CN" dirty="0"/>
              <a:t>PE</a:t>
            </a:r>
            <a:r>
              <a:rPr lang="zh-CN" altLang="en-US" dirty="0"/>
              <a:t>启动定时器，默认时间为</a:t>
            </a:r>
            <a:r>
              <a:rPr lang="en-US" altLang="zh-CN" dirty="0"/>
              <a:t>3</a:t>
            </a:r>
            <a:r>
              <a:rPr lang="zh-CN" altLang="en-US" dirty="0"/>
              <a:t>秒，该时间内允许</a:t>
            </a:r>
            <a:r>
              <a:rPr lang="en-US" altLang="zh-CN" dirty="0"/>
              <a:t>ES route</a:t>
            </a:r>
            <a:r>
              <a:rPr lang="zh-CN" altLang="en-US" dirty="0"/>
              <a:t>的接收。</a:t>
            </a:r>
            <a:endParaRPr lang="en-US" altLang="zh-CN" dirty="0"/>
          </a:p>
          <a:p>
            <a:pPr lvl="1"/>
            <a:r>
              <a:rPr lang="zh-CN" altLang="en-US" dirty="0"/>
              <a:t>超时后，</a:t>
            </a:r>
            <a:r>
              <a:rPr lang="en-US" altLang="zh-CN" dirty="0"/>
              <a:t>PE</a:t>
            </a:r>
            <a:r>
              <a:rPr lang="zh-CN" altLang="en-US" dirty="0"/>
              <a:t>生成一个有序的列表。列表包含所有</a:t>
            </a:r>
            <a:r>
              <a:rPr lang="en-US" altLang="zh-CN" dirty="0"/>
              <a:t>PE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地址和它们连接到</a:t>
            </a:r>
            <a:r>
              <a:rPr lang="en-US" altLang="zh-CN" dirty="0"/>
              <a:t>ES</a:t>
            </a:r>
            <a:r>
              <a:rPr lang="zh-CN" altLang="en-US" dirty="0"/>
              <a:t>的信息。列表的序列号从</a:t>
            </a:r>
            <a:r>
              <a:rPr lang="en-US" altLang="zh-CN" dirty="0"/>
              <a:t>0</a:t>
            </a:r>
            <a:r>
              <a:rPr lang="zh-CN" altLang="en-US" dirty="0"/>
              <a:t>开始递增。序号被用于决定谁是</a:t>
            </a:r>
            <a:r>
              <a:rPr lang="en-US" altLang="zh-CN" dirty="0"/>
              <a:t>DF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被选举为</a:t>
            </a:r>
            <a:r>
              <a:rPr lang="en-US" altLang="zh-CN" dirty="0"/>
              <a:t>DF</a:t>
            </a:r>
            <a:r>
              <a:rPr lang="zh-CN" altLang="en-US" dirty="0"/>
              <a:t>的</a:t>
            </a:r>
            <a:r>
              <a:rPr lang="en-US" altLang="zh-CN" dirty="0"/>
              <a:t>PE</a:t>
            </a:r>
            <a:r>
              <a:rPr lang="zh-CN" altLang="en-US" dirty="0"/>
              <a:t>将会转发</a:t>
            </a:r>
            <a:r>
              <a:rPr lang="en-US" altLang="zh-CN" dirty="0"/>
              <a:t>BUM</a:t>
            </a:r>
            <a:r>
              <a:rPr lang="zh-CN" altLang="en-US" dirty="0"/>
              <a:t>流量给</a:t>
            </a:r>
            <a:r>
              <a:rPr lang="en-US" altLang="zh-CN" dirty="0"/>
              <a:t>CE</a:t>
            </a:r>
            <a:r>
              <a:rPr lang="zh-CN" altLang="en-US" dirty="0"/>
              <a:t>。当出现链路故障时，</a:t>
            </a:r>
            <a:r>
              <a:rPr lang="en-US" altLang="zh-CN" dirty="0"/>
              <a:t>PE</a:t>
            </a:r>
            <a:r>
              <a:rPr lang="zh-CN" altLang="en-US" dirty="0"/>
              <a:t>会撤销它的</a:t>
            </a:r>
            <a:r>
              <a:rPr lang="en-US" altLang="zh-CN" dirty="0"/>
              <a:t>ES route</a:t>
            </a:r>
            <a:r>
              <a:rPr lang="zh-CN" altLang="en-US" dirty="0"/>
              <a:t>，这会触发重新选举流程。</a:t>
            </a:r>
            <a:endParaRPr lang="zh-CN" altLang="en-US" dirty="0"/>
          </a:p>
        </p:txBody>
      </p:sp>
      <p:sp>
        <p:nvSpPr>
          <p:cNvPr id="7" name="幻灯片图像占位符 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更多详细</a:t>
            </a:r>
            <a:r>
              <a:rPr lang="en-US" altLang="zh-CN" dirty="0"/>
              <a:t>Type 5</a:t>
            </a:r>
            <a:r>
              <a:rPr lang="zh-CN" altLang="en-US" dirty="0"/>
              <a:t>路由内容请参考</a:t>
            </a:r>
            <a:r>
              <a:rPr lang="en-US" altLang="zh-CN" dirty="0"/>
              <a:t>RFC</a:t>
            </a:r>
            <a:r>
              <a:rPr lang="zh-CN" altLang="en-US" dirty="0"/>
              <a:t>草案。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此类型服务模式中，一个用户接入网络所使用的子接口、</a:t>
            </a:r>
            <a:r>
              <a:rPr lang="en-US" altLang="zh-CN" dirty="0"/>
              <a:t>VLAN</a:t>
            </a:r>
            <a:r>
              <a:rPr lang="zh-CN" altLang="en-US" dirty="0"/>
              <a:t>、广播域</a:t>
            </a:r>
            <a:r>
              <a:rPr lang="en-US" altLang="zh-CN" dirty="0"/>
              <a:t>BD</a:t>
            </a:r>
            <a:r>
              <a:rPr lang="zh-CN" altLang="en-US" dirty="0"/>
              <a:t>和</a:t>
            </a:r>
            <a:r>
              <a:rPr lang="en-US" altLang="zh-CN" dirty="0"/>
              <a:t>EVPN</a:t>
            </a:r>
            <a:r>
              <a:rPr lang="zh-CN" altLang="en-US" dirty="0"/>
              <a:t>实例都是独占的，且转发层面上每个用户使用独立的</a:t>
            </a:r>
            <a:r>
              <a:rPr lang="en-US" altLang="zh-CN" dirty="0"/>
              <a:t>MAC</a:t>
            </a:r>
            <a:r>
              <a:rPr lang="zh-CN" altLang="en-US" dirty="0"/>
              <a:t>转发表，因此该模式有很好的业务隔离能力，但是由于每个用户都要单独使用一个</a:t>
            </a:r>
            <a:r>
              <a:rPr lang="en-US" altLang="zh-CN" dirty="0"/>
              <a:t>EVPN</a:t>
            </a:r>
            <a:r>
              <a:rPr lang="zh-CN" altLang="en-US" dirty="0"/>
              <a:t>实例，所以比较消耗</a:t>
            </a:r>
            <a:r>
              <a:rPr lang="en-US" altLang="zh-CN" dirty="0"/>
              <a:t>EVPN</a:t>
            </a:r>
            <a:r>
              <a:rPr lang="zh-CN" altLang="en-US" dirty="0"/>
              <a:t>实例的资源。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当</a:t>
            </a:r>
            <a:r>
              <a:rPr lang="en-US" altLang="zh-CN"/>
              <a:t>EVPN</a:t>
            </a:r>
            <a:r>
              <a:rPr lang="zh-CN" altLang="en-US"/>
              <a:t>对等体间相互发送路由时，</a:t>
            </a:r>
            <a:r>
              <a:rPr lang="en-US" altLang="zh-CN"/>
              <a:t>BD-Tag</a:t>
            </a:r>
            <a:r>
              <a:rPr lang="zh-CN" altLang="en-US"/>
              <a:t>会被封装在以太自动发现路由（</a:t>
            </a:r>
            <a:r>
              <a:rPr lang="en-US" altLang="zh-CN"/>
              <a:t>Ethernet Auto-Discovery route</a:t>
            </a:r>
            <a:r>
              <a:rPr lang="zh-CN" altLang="en-US"/>
              <a:t>）、</a:t>
            </a:r>
            <a:r>
              <a:rPr lang="en-US" altLang="zh-CN"/>
              <a:t>MAC/IP</a:t>
            </a:r>
            <a:r>
              <a:rPr lang="zh-CN" altLang="en-US"/>
              <a:t>地址通告路由（</a:t>
            </a:r>
            <a:r>
              <a:rPr lang="en-US" altLang="zh-CN"/>
              <a:t>MAC/IP advertisement route</a:t>
            </a:r>
            <a:r>
              <a:rPr lang="zh-CN" altLang="en-US"/>
              <a:t>）和集成多播路由（</a:t>
            </a:r>
            <a:r>
              <a:rPr lang="en-US" altLang="zh-CN"/>
              <a:t>Inclusive Multicast Route</a:t>
            </a:r>
            <a:r>
              <a:rPr lang="zh-CN" altLang="en-US"/>
              <a:t>）的</a:t>
            </a:r>
            <a:r>
              <a:rPr lang="en-US" altLang="zh-CN"/>
              <a:t>Ethernet Tag ID</a:t>
            </a:r>
            <a:r>
              <a:rPr lang="zh-CN" altLang="en-US"/>
              <a:t>字段中。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本课程介绍</a:t>
            </a:r>
            <a:r>
              <a:rPr lang="en-US" altLang="zh-CN" dirty="0"/>
              <a:t>EVPN L3VPN</a:t>
            </a:r>
            <a:r>
              <a:rPr lang="zh-CN" altLang="en-US" dirty="0"/>
              <a:t>跨域。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E-LINE</a:t>
            </a:r>
            <a:r>
              <a:rPr lang="zh-CN" altLang="en-US" dirty="0"/>
              <a:t>、</a:t>
            </a:r>
            <a:r>
              <a:rPr lang="en-US" altLang="zh-CN" dirty="0"/>
              <a:t>E-TREE</a:t>
            </a:r>
            <a:r>
              <a:rPr lang="zh-CN" altLang="en-US" dirty="0"/>
              <a:t>、</a:t>
            </a:r>
            <a:r>
              <a:rPr lang="en-US" altLang="zh-CN" dirty="0"/>
              <a:t>E-LAN</a:t>
            </a:r>
            <a:r>
              <a:rPr lang="zh-CN" altLang="en-US" dirty="0"/>
              <a:t>是</a:t>
            </a:r>
            <a:r>
              <a:rPr lang="en-US" altLang="zh-CN" dirty="0"/>
              <a:t>EVC</a:t>
            </a:r>
            <a:r>
              <a:rPr lang="zh-CN" altLang="en-US" dirty="0"/>
              <a:t>（</a:t>
            </a:r>
            <a:r>
              <a:rPr lang="en-US" altLang="zh-CN" dirty="0"/>
              <a:t> Ethernet virtual connection</a:t>
            </a:r>
            <a:r>
              <a:rPr lang="zh-CN" altLang="en-US" dirty="0"/>
              <a:t>，以太网虚拟连接）的三种类型，点到点</a:t>
            </a:r>
            <a:r>
              <a:rPr lang="en-US" altLang="zh-CN" dirty="0"/>
              <a:t>EVC</a:t>
            </a:r>
            <a:r>
              <a:rPr lang="zh-CN" altLang="en-US" dirty="0"/>
              <a:t>（</a:t>
            </a:r>
            <a:r>
              <a:rPr lang="en-US" altLang="zh-CN" dirty="0"/>
              <a:t>Point-to-Point EVC</a:t>
            </a:r>
            <a:r>
              <a:rPr lang="zh-CN" altLang="en-US" dirty="0"/>
              <a:t>）、多点到多点</a:t>
            </a:r>
            <a:r>
              <a:rPr lang="en-US" altLang="zh-CN" dirty="0"/>
              <a:t>EVC</a:t>
            </a:r>
            <a:r>
              <a:rPr lang="zh-CN" altLang="en-US" dirty="0"/>
              <a:t>（</a:t>
            </a:r>
            <a:r>
              <a:rPr lang="en-US" altLang="zh-CN" dirty="0"/>
              <a:t>Multipoint-to-Multipoint EVC</a:t>
            </a:r>
            <a:r>
              <a:rPr lang="zh-CN" altLang="en-US" dirty="0"/>
              <a:t>）和根到多点</a:t>
            </a:r>
            <a:r>
              <a:rPr lang="en-US" altLang="zh-CN" dirty="0"/>
              <a:t>EVC</a:t>
            </a:r>
            <a:r>
              <a:rPr lang="zh-CN" altLang="en-US" dirty="0"/>
              <a:t>（</a:t>
            </a:r>
            <a:r>
              <a:rPr lang="en-US" altLang="zh-CN" dirty="0"/>
              <a:t>Rooted-Multipoint EVC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en-US" altLang="zh-CN" dirty="0"/>
              <a:t>E-LINE</a:t>
            </a:r>
            <a:r>
              <a:rPr lang="zh-CN" altLang="en-US" dirty="0"/>
              <a:t>：一条点到点的</a:t>
            </a:r>
            <a:r>
              <a:rPr lang="en-US" altLang="zh-CN" dirty="0"/>
              <a:t>EVC</a:t>
            </a:r>
            <a:r>
              <a:rPr lang="zh-CN" altLang="en-US" dirty="0"/>
              <a:t>将两个</a:t>
            </a:r>
            <a:r>
              <a:rPr lang="en-US" altLang="zh-CN" dirty="0"/>
              <a:t>UNI</a:t>
            </a:r>
            <a:r>
              <a:rPr lang="zh-CN" altLang="en-US" dirty="0"/>
              <a:t>（</a:t>
            </a:r>
            <a:r>
              <a:rPr lang="en-US" altLang="zh-CN" dirty="0"/>
              <a:t>user-network interface</a:t>
            </a:r>
            <a:r>
              <a:rPr lang="zh-CN" altLang="en-US" dirty="0"/>
              <a:t>，用户网络接口）严格地关联。</a:t>
            </a:r>
            <a:endParaRPr lang="zh-CN" altLang="en-US" dirty="0"/>
          </a:p>
          <a:p>
            <a:pPr lvl="1"/>
            <a:r>
              <a:rPr lang="en-US" altLang="zh-CN" dirty="0"/>
              <a:t>E-LAN</a:t>
            </a:r>
            <a:r>
              <a:rPr lang="zh-CN" altLang="en-US" dirty="0"/>
              <a:t>：一个多点到多点</a:t>
            </a:r>
            <a:r>
              <a:rPr lang="en-US" altLang="zh-CN" dirty="0"/>
              <a:t>EVC</a:t>
            </a:r>
            <a:r>
              <a:rPr lang="zh-CN" altLang="en-US" dirty="0"/>
              <a:t>可以将两个或者两个以上的</a:t>
            </a:r>
            <a:r>
              <a:rPr lang="en-US" altLang="zh-CN" dirty="0"/>
              <a:t>UNI</a:t>
            </a:r>
            <a:r>
              <a:rPr lang="zh-CN" altLang="en-US" dirty="0"/>
              <a:t>关联起来，而且用户</a:t>
            </a:r>
            <a:r>
              <a:rPr lang="en-US" altLang="zh-CN" dirty="0"/>
              <a:t>/</a:t>
            </a:r>
            <a:r>
              <a:rPr lang="zh-CN" altLang="en-US" dirty="0"/>
              <a:t>运营商可以在不影响其他</a:t>
            </a:r>
            <a:r>
              <a:rPr lang="en-US" altLang="zh-CN" dirty="0"/>
              <a:t>UNI</a:t>
            </a:r>
            <a:r>
              <a:rPr lang="zh-CN" altLang="en-US" dirty="0"/>
              <a:t>的前提下根据需要向这个</a:t>
            </a:r>
            <a:r>
              <a:rPr lang="en-US" altLang="zh-CN" dirty="0"/>
              <a:t>EVC</a:t>
            </a:r>
            <a:r>
              <a:rPr lang="zh-CN" altLang="en-US" dirty="0"/>
              <a:t>中添加任意个</a:t>
            </a:r>
            <a:r>
              <a:rPr lang="en-US" altLang="zh-CN" dirty="0"/>
              <a:t>UNI</a:t>
            </a:r>
            <a:r>
              <a:rPr lang="zh-CN" altLang="en-US" dirty="0"/>
              <a:t>，或者将这个</a:t>
            </a:r>
            <a:r>
              <a:rPr lang="en-US" altLang="zh-CN" dirty="0"/>
              <a:t>EVC</a:t>
            </a:r>
            <a:r>
              <a:rPr lang="zh-CN" altLang="en-US" dirty="0"/>
              <a:t>中的某些</a:t>
            </a:r>
            <a:r>
              <a:rPr lang="en-US" altLang="zh-CN" dirty="0"/>
              <a:t>UNI</a:t>
            </a:r>
            <a:r>
              <a:rPr lang="zh-CN" altLang="en-US" dirty="0"/>
              <a:t>剔除。</a:t>
            </a:r>
            <a:endParaRPr lang="zh-CN" altLang="en-US" dirty="0"/>
          </a:p>
          <a:p>
            <a:pPr lvl="1"/>
            <a:r>
              <a:rPr lang="en-US" altLang="zh-CN" dirty="0"/>
              <a:t>E-TREE</a:t>
            </a:r>
            <a:r>
              <a:rPr lang="zh-CN" altLang="en-US" dirty="0"/>
              <a:t>：这种</a:t>
            </a:r>
            <a:r>
              <a:rPr lang="en-US" altLang="zh-CN" dirty="0"/>
              <a:t>EVC</a:t>
            </a:r>
            <a:r>
              <a:rPr lang="zh-CN" altLang="en-US" dirty="0"/>
              <a:t>类似于三层</a:t>
            </a:r>
            <a:r>
              <a:rPr lang="en-US" altLang="zh-CN" dirty="0"/>
              <a:t>VPN</a:t>
            </a:r>
            <a:r>
              <a:rPr lang="zh-CN" altLang="en-US" dirty="0"/>
              <a:t>中的</a:t>
            </a:r>
            <a:r>
              <a:rPr lang="en-US" altLang="zh-CN" dirty="0"/>
              <a:t>Hub-Spoke</a:t>
            </a:r>
            <a:r>
              <a:rPr lang="zh-CN" altLang="en-US" dirty="0"/>
              <a:t>模式，它包含一个或多个根</a:t>
            </a:r>
            <a:r>
              <a:rPr lang="en-US" altLang="zh-CN" dirty="0"/>
              <a:t>UNI</a:t>
            </a:r>
            <a:r>
              <a:rPr lang="zh-CN" altLang="en-US" dirty="0"/>
              <a:t>（</a:t>
            </a:r>
            <a:r>
              <a:rPr lang="en-US" altLang="zh-CN" dirty="0"/>
              <a:t>Root</a:t>
            </a:r>
            <a:r>
              <a:rPr lang="zh-CN" altLang="en-US" dirty="0"/>
              <a:t>）和若干叶子</a:t>
            </a:r>
            <a:r>
              <a:rPr lang="en-US" altLang="zh-CN" dirty="0"/>
              <a:t>UNI</a:t>
            </a:r>
            <a:r>
              <a:rPr lang="zh-CN" altLang="en-US" dirty="0"/>
              <a:t>（</a:t>
            </a:r>
            <a:r>
              <a:rPr lang="en-US" altLang="zh-CN" dirty="0"/>
              <a:t>Leaf</a:t>
            </a:r>
            <a:r>
              <a:rPr lang="zh-CN" altLang="en-US" dirty="0"/>
              <a:t>），其中根</a:t>
            </a:r>
            <a:r>
              <a:rPr lang="en-US" altLang="zh-CN" dirty="0"/>
              <a:t>UNI</a:t>
            </a:r>
            <a:r>
              <a:rPr lang="zh-CN" altLang="en-US" dirty="0"/>
              <a:t>可以和</a:t>
            </a:r>
            <a:r>
              <a:rPr lang="en-US" altLang="zh-CN" dirty="0"/>
              <a:t>EVC</a:t>
            </a:r>
            <a:r>
              <a:rPr lang="zh-CN" altLang="en-US" dirty="0"/>
              <a:t>中的所有</a:t>
            </a:r>
            <a:r>
              <a:rPr lang="en-US" altLang="zh-CN" dirty="0"/>
              <a:t>UNI</a:t>
            </a:r>
            <a:r>
              <a:rPr lang="zh-CN" altLang="en-US" dirty="0"/>
              <a:t>直接通信，而叶子</a:t>
            </a:r>
            <a:r>
              <a:rPr lang="en-US" altLang="zh-CN" dirty="0"/>
              <a:t>UNI</a:t>
            </a:r>
            <a:r>
              <a:rPr lang="zh-CN" altLang="en-US" dirty="0"/>
              <a:t>只能和</a:t>
            </a:r>
            <a:r>
              <a:rPr lang="en-US" altLang="zh-CN" dirty="0"/>
              <a:t>EVC</a:t>
            </a:r>
            <a:r>
              <a:rPr lang="zh-CN" altLang="en-US" dirty="0"/>
              <a:t>中的根</a:t>
            </a:r>
            <a:r>
              <a:rPr lang="en-US" altLang="zh-CN" dirty="0"/>
              <a:t>UNI</a:t>
            </a:r>
            <a:r>
              <a:rPr lang="zh-CN" altLang="en-US" dirty="0"/>
              <a:t>直接通信，两个叶子</a:t>
            </a:r>
            <a:r>
              <a:rPr lang="en-US" altLang="zh-CN" dirty="0"/>
              <a:t>UNI</a:t>
            </a:r>
            <a:r>
              <a:rPr lang="zh-CN" altLang="en-US" dirty="0"/>
              <a:t>之间不能直接通信。 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配置命令基于华为</a:t>
            </a:r>
            <a:r>
              <a:rPr lang="en-US" altLang="zh-CN" dirty="0"/>
              <a:t>NE20E-S2</a:t>
            </a:r>
            <a:r>
              <a:rPr lang="zh-CN" altLang="en-US" dirty="0"/>
              <a:t>（版本为：</a:t>
            </a:r>
            <a:r>
              <a:rPr lang="en-US" altLang="zh-CN" dirty="0"/>
              <a:t>V800R012C10</a:t>
            </a:r>
            <a:r>
              <a:rPr lang="zh-CN" altLang="en-US" dirty="0"/>
              <a:t>）系列路由器，其它型号的设备请参考对应的产品手册。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单归场景下，</a:t>
            </a:r>
            <a:r>
              <a:rPr lang="en-US" altLang="zh-CN" dirty="0"/>
              <a:t>EVPN</a:t>
            </a:r>
            <a:r>
              <a:rPr lang="zh-CN" altLang="en-US" dirty="0"/>
              <a:t>双归场景所需要的快速收敛、水平分割、</a:t>
            </a:r>
            <a:r>
              <a:rPr lang="en-US" altLang="zh-CN" dirty="0"/>
              <a:t>DF</a:t>
            </a:r>
            <a:r>
              <a:rPr lang="zh-CN" altLang="en-US" dirty="0"/>
              <a:t>选举等特性均已无效。所以单归</a:t>
            </a:r>
            <a:r>
              <a:rPr lang="en-US" altLang="zh-CN" dirty="0"/>
              <a:t>PE</a:t>
            </a:r>
            <a:r>
              <a:rPr lang="zh-CN" altLang="en-US" dirty="0"/>
              <a:t>上配置</a:t>
            </a:r>
            <a:r>
              <a:rPr lang="en-US" altLang="zh-CN" dirty="0"/>
              <a:t>ESI</a:t>
            </a:r>
            <a:r>
              <a:rPr lang="zh-CN" altLang="en-US" dirty="0"/>
              <a:t>为可选操作。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E-Trunk</a:t>
            </a:r>
            <a:r>
              <a:rPr lang="zh-CN" altLang="en-US" dirty="0"/>
              <a:t>的相关配置请参考对应的产品文档。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A</a:t>
            </a:r>
            <a:endParaRPr lang="en-US" altLang="zh-CN" dirty="0"/>
          </a:p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3765">
              <a:lnSpc>
                <a:spcPts val="3440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/>
                <a:gridCol w="1967450"/>
                <a:gridCol w="3023155"/>
                <a:gridCol w="2084624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/>
                <a:gridCol w="1967450"/>
                <a:gridCol w="3023155"/>
                <a:gridCol w="2067692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  <a:endParaRPr lang="zh-CN" altLang="en-US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8227" tIns="39112" rIns="78227" bIns="39112" anchor="ctr"/>
          <a:lstStyle/>
          <a:p>
            <a:pPr algn="l" defTabSz="1001395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5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  <a:endParaRPr lang="zh-CN" altLang="en-US" sz="3500" b="0" kern="120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4000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  <a:endParaRPr lang="zh-CN" altLang="en-US" sz="4000" i="0" baseline="0" dirty="0">
              <a:solidFill>
                <a:schemeClr val="bg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前言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200" marR="0" indent="-457200" algn="just" defTabSz="801370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4050" lvl="1" indent="-457200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395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220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/>
          <p:cNvCxnSpPr/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/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思考题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11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本节小结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本章总结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  <a:endParaRPr lang="zh-CN" altLang="en-US" dirty="0"/>
          </a:p>
        </p:txBody>
      </p:sp>
      <p:cxnSp>
        <p:nvCxnSpPr>
          <p:cNvPr id="12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更多信息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学习推荐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2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9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6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7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8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9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0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1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3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4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5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6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7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8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9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1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2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3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4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9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29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0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1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xStyles>
    <p:titleStyle>
      <a:lvl1pPr algn="l" defTabSz="913765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ctr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ctr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defTabSz="913765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base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base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base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base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0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1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5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6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0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通用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V1.0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万倡利</a:t>
            </a:r>
            <a:r>
              <a:rPr lang="en-US" altLang="zh-CN" dirty="0">
                <a:sym typeface="Huawei Sans" panose="020C0503030203020204" pitchFamily="34" charset="0"/>
              </a:rPr>
              <a:t>/00605832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5" name="文本占位符 7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2021.08.02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卢玥玥</a:t>
            </a:r>
            <a:r>
              <a:rPr lang="en-US" altLang="zh-CN" dirty="0">
                <a:sym typeface="Huawei Sans" panose="020C0503030203020204" pitchFamily="34" charset="0"/>
              </a:rPr>
              <a:t>/WX445705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新开发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7" name="文本占位符 3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原理与配置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2000" dirty="0">
                <a:sym typeface="Huawei Sans" panose="020C0503030203020204" pitchFamily="34" charset="0"/>
              </a:rPr>
              <a:t>VPLS</a:t>
            </a:r>
            <a:r>
              <a:rPr lang="zh-CN" altLang="en-US" sz="2000" dirty="0">
                <a:sym typeface="Huawei Sans" panose="020C0503030203020204" pitchFamily="34" charset="0"/>
              </a:rPr>
              <a:t>称为虚拟专用局域网业务（</a:t>
            </a:r>
            <a:r>
              <a:rPr lang="en-US" altLang="zh-CN" sz="2000" dirty="0">
                <a:sym typeface="Huawei Sans" panose="020C0503030203020204" pitchFamily="34" charset="0"/>
              </a:rPr>
              <a:t>Virtual Private LAN Service</a:t>
            </a:r>
            <a:r>
              <a:rPr lang="zh-CN" altLang="en-US" sz="2000" dirty="0">
                <a:sym typeface="Huawei Sans" panose="020C0503030203020204" pitchFamily="34" charset="0"/>
              </a:rPr>
              <a:t>），是公用网络中提供的一种点到多点的</a:t>
            </a:r>
            <a:r>
              <a:rPr lang="en-US" altLang="zh-CN" sz="2000" dirty="0">
                <a:sym typeface="Huawei Sans" panose="020C0503030203020204" pitchFamily="34" charset="0"/>
              </a:rPr>
              <a:t>L2VPN</a:t>
            </a:r>
            <a:r>
              <a:rPr lang="zh-CN" altLang="en-US" sz="2000" dirty="0">
                <a:sym typeface="Huawei Sans" panose="020C0503030203020204" pitchFamily="34" charset="0"/>
              </a:rPr>
              <a:t>业务。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en-US" altLang="zh-CN" sz="2000" dirty="0">
                <a:sym typeface="Huawei Sans" panose="020C0503030203020204" pitchFamily="34" charset="0"/>
              </a:rPr>
              <a:t>VPLS</a:t>
            </a:r>
            <a:r>
              <a:rPr lang="zh-CN" altLang="en-US" sz="2000" dirty="0">
                <a:sym typeface="Huawei Sans" panose="020C0503030203020204" pitchFamily="34" charset="0"/>
              </a:rPr>
              <a:t>存在无法实现负载分担、网络部署困难等缺点，无法满足</a:t>
            </a:r>
            <a:r>
              <a:rPr lang="en-US" altLang="zh-CN" sz="2000" dirty="0">
                <a:sym typeface="Huawei Sans" panose="020C0503030203020204" pitchFamily="34" charset="0"/>
              </a:rPr>
              <a:t>L2VPN</a:t>
            </a:r>
            <a:r>
              <a:rPr lang="zh-CN" altLang="en-US" sz="2000" dirty="0">
                <a:sym typeface="Huawei Sans" panose="020C0503030203020204" pitchFamily="34" charset="0"/>
              </a:rPr>
              <a:t>灵活部署和</a:t>
            </a:r>
            <a:r>
              <a:rPr lang="en-US" altLang="zh-CN" sz="2000" dirty="0">
                <a:sym typeface="Huawei Sans" panose="020C0503030203020204" pitchFamily="34" charset="0"/>
              </a:rPr>
              <a:t>CE</a:t>
            </a:r>
            <a:r>
              <a:rPr lang="zh-CN" altLang="en-US" sz="2000" dirty="0">
                <a:sym typeface="Huawei Sans" panose="020C0503030203020204" pitchFamily="34" charset="0"/>
              </a:rPr>
              <a:t>多归属场景下提升链路利用率等需求，</a:t>
            </a:r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（</a:t>
            </a:r>
            <a:r>
              <a:rPr lang="en-US" altLang="zh-CN" sz="2000" dirty="0">
                <a:sym typeface="Huawei Sans" panose="020C0503030203020204" pitchFamily="34" charset="0"/>
              </a:rPr>
              <a:t>Ethernet Virtual Private Network</a:t>
            </a:r>
            <a:r>
              <a:rPr lang="zh-CN" altLang="en-US" sz="2000" dirty="0">
                <a:sym typeface="Huawei Sans" panose="020C0503030203020204" pitchFamily="34" charset="0"/>
              </a:rPr>
              <a:t>，以太网虚拟私有网络）解决了以上问题。</a:t>
            </a:r>
            <a:endParaRPr lang="zh-CN" altLang="en-US" sz="2000" dirty="0">
              <a:sym typeface="Huawei Sans" panose="020C0503030203020204" pitchFamily="34" charset="0"/>
            </a:endParaRPr>
          </a:p>
          <a:p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在</a:t>
            </a:r>
            <a:r>
              <a:rPr lang="en-US" altLang="zh-CN" sz="2000" dirty="0">
                <a:sym typeface="Huawei Sans" panose="020C0503030203020204" pitchFamily="34" charset="0"/>
              </a:rPr>
              <a:t>RFC7432</a:t>
            </a:r>
            <a:r>
              <a:rPr lang="zh-CN" altLang="en-US" sz="2000" dirty="0">
                <a:sym typeface="Huawei Sans" panose="020C0503030203020204" pitchFamily="34" charset="0"/>
              </a:rPr>
              <a:t>中被定义，它引入控制平面用于控制</a:t>
            </a:r>
            <a:r>
              <a:rPr lang="en-US" altLang="zh-CN" sz="2000" dirty="0">
                <a:sym typeface="Huawei Sans" panose="020C0503030203020204" pitchFamily="34" charset="0"/>
              </a:rPr>
              <a:t>MAC</a:t>
            </a:r>
            <a:r>
              <a:rPr lang="zh-CN" altLang="en-US" sz="2000" dirty="0">
                <a:sym typeface="Huawei Sans" panose="020C0503030203020204" pitchFamily="34" charset="0"/>
              </a:rPr>
              <a:t>地址的学习。随着</a:t>
            </a:r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的不断扩展，</a:t>
            </a:r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不仅支持</a:t>
            </a:r>
            <a:r>
              <a:rPr lang="en-US" altLang="zh-CN" sz="2000" dirty="0">
                <a:sym typeface="Huawei Sans" panose="020C0503030203020204" pitchFamily="34" charset="0"/>
              </a:rPr>
              <a:t>L2VPN</a:t>
            </a:r>
            <a:r>
              <a:rPr lang="zh-CN" altLang="en-US" sz="2000" dirty="0">
                <a:sym typeface="Huawei Sans" panose="020C0503030203020204" pitchFamily="34" charset="0"/>
              </a:rPr>
              <a:t>，同时支持</a:t>
            </a:r>
            <a:r>
              <a:rPr lang="en-US" altLang="zh-CN" sz="2000" dirty="0">
                <a:sym typeface="Huawei Sans" panose="020C0503030203020204" pitchFamily="34" charset="0"/>
              </a:rPr>
              <a:t>L3VPN</a:t>
            </a:r>
            <a:r>
              <a:rPr lang="zh-CN" altLang="en-US" sz="2000" dirty="0">
                <a:sym typeface="Huawei Sans" panose="020C0503030203020204" pitchFamily="34" charset="0"/>
              </a:rPr>
              <a:t>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被广泛用于不同的场景，如广域网、数据中心和园区网。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本章节将详细介绍</a:t>
            </a:r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的发展历史、工作原理、常见的路由类型和应用场景。</a:t>
            </a:r>
            <a:endParaRPr lang="zh-CN" altLang="en-US" sz="2000" dirty="0">
              <a:sym typeface="Huawei Sans" panose="020C0503030203020204" pitchFamily="34" charset="0"/>
            </a:endParaRP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学完本课程后，您将能够：</a:t>
            </a:r>
            <a:endParaRPr lang="en-US" altLang="zh-CN">
              <a:sym typeface="Huawei Sans" panose="020C0503030203020204" pitchFamily="34" charset="0"/>
            </a:endParaRPr>
          </a:p>
          <a:p>
            <a:pPr lvl="1"/>
            <a:r>
              <a:rPr lang="zh-CN" altLang="en-US">
                <a:sym typeface="Huawei Sans" panose="020C0503030203020204" pitchFamily="34" charset="0"/>
              </a:rPr>
              <a:t>描述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的发展历史</a:t>
            </a:r>
            <a:endParaRPr lang="en-US" altLang="zh-CN">
              <a:sym typeface="Huawei Sans" panose="020C0503030203020204" pitchFamily="34" charset="0"/>
            </a:endParaRPr>
          </a:p>
          <a:p>
            <a:pPr lvl="1"/>
            <a:r>
              <a:rPr lang="zh-CN" altLang="en-US">
                <a:sym typeface="Huawei Sans" panose="020C0503030203020204" pitchFamily="34" charset="0"/>
              </a:rPr>
              <a:t>描述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如何解决</a:t>
            </a:r>
            <a:r>
              <a:rPr lang="en-US" altLang="zh-CN">
                <a:sym typeface="Huawei Sans" panose="020C0503030203020204" pitchFamily="34" charset="0"/>
              </a:rPr>
              <a:t>VPLS</a:t>
            </a:r>
            <a:r>
              <a:rPr lang="zh-CN" altLang="en-US">
                <a:sym typeface="Huawei Sans" panose="020C0503030203020204" pitchFamily="34" charset="0"/>
              </a:rPr>
              <a:t>的问题</a:t>
            </a:r>
            <a:endParaRPr lang="en-US" altLang="zh-CN">
              <a:sym typeface="Huawei Sans" panose="020C0503030203020204" pitchFamily="34" charset="0"/>
            </a:endParaRPr>
          </a:p>
          <a:p>
            <a:pPr lvl="1"/>
            <a:r>
              <a:rPr lang="zh-CN" altLang="en-US">
                <a:sym typeface="Huawei Sans" panose="020C0503030203020204" pitchFamily="34" charset="0"/>
              </a:rPr>
              <a:t>描述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的常见路由类型和工作原理</a:t>
            </a:r>
            <a:endParaRPr lang="en-US" altLang="zh-CN">
              <a:sym typeface="Huawei Sans" panose="020C0503030203020204" pitchFamily="34" charset="0"/>
            </a:endParaRPr>
          </a:p>
          <a:p>
            <a:pPr lvl="1"/>
            <a:r>
              <a:rPr lang="zh-CN" altLang="en-US">
                <a:sym typeface="Huawei Sans" panose="020C0503030203020204" pitchFamily="34" charset="0"/>
              </a:rPr>
              <a:t>描述跨域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的原理</a:t>
            </a:r>
            <a:endParaRPr lang="en-US" altLang="zh-CN">
              <a:sym typeface="Huawei Sans" panose="020C0503030203020204" pitchFamily="34" charset="0"/>
            </a:endParaRPr>
          </a:p>
          <a:p>
            <a:pPr lvl="1"/>
            <a:r>
              <a:rPr lang="zh-CN" altLang="en-US">
                <a:sym typeface="Huawei Sans" panose="020C0503030203020204" pitchFamily="34" charset="0"/>
              </a:rPr>
              <a:t>描述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的典型应用场景</a:t>
            </a:r>
            <a:endParaRPr lang="zh-CN" altLang="en-US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>
                <a:sym typeface="Huawei Sans" panose="020C0503030203020204" pitchFamily="34" charset="0"/>
              </a:rPr>
              <a:t>EVPN</a:t>
            </a:r>
            <a:r>
              <a:rPr lang="zh-CN" altLang="en-US" b="1">
                <a:sym typeface="Huawei Sans" panose="020C0503030203020204" pitchFamily="34" charset="0"/>
              </a:rPr>
              <a:t>背景与基本术语</a:t>
            </a:r>
            <a:endParaRPr lang="en-US" altLang="zh-CN" b="1">
              <a:sym typeface="Huawei Sans" panose="020C0503030203020204" pitchFamily="34" charset="0"/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的基本配置</a:t>
            </a:r>
            <a:endParaRPr lang="en-US" altLang="zh-CN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gray">
          <a:xfrm>
            <a:off x="1860250" y="2515971"/>
            <a:ext cx="8414049" cy="1775653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VPLS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892514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是一种基于以太网的二层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技术，它在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网络上提供了类似</a:t>
            </a:r>
            <a:r>
              <a:rPr lang="en-US" altLang="zh-CN" sz="1800" dirty="0">
                <a:sym typeface="Huawei Sans" panose="020C0503030203020204" pitchFamily="34" charset="0"/>
              </a:rPr>
              <a:t>LAN</a:t>
            </a:r>
            <a:r>
              <a:rPr lang="zh-CN" altLang="en-US" sz="1800" dirty="0">
                <a:sym typeface="Huawei Sans" panose="020C0503030203020204" pitchFamily="34" charset="0"/>
              </a:rPr>
              <a:t>的业务，允许用户可以从多个地理位置接入网络、相互访问。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实现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，需要以下三个步骤：创建隧道和</a:t>
            </a:r>
            <a:r>
              <a:rPr lang="en-US" altLang="zh-CN" sz="1800" dirty="0">
                <a:sym typeface="Huawei Sans" panose="020C0503030203020204" pitchFamily="34" charset="0"/>
              </a:rPr>
              <a:t>PW</a:t>
            </a:r>
            <a:r>
              <a:rPr lang="zh-CN" altLang="en-US" sz="1800" dirty="0">
                <a:sym typeface="Huawei Sans" panose="020C0503030203020204" pitchFamily="34" charset="0"/>
              </a:rPr>
              <a:t>、创建</a:t>
            </a:r>
            <a:r>
              <a:rPr lang="en-US" altLang="zh-CN" sz="1800" dirty="0">
                <a:sym typeface="Huawei Sans" panose="020C0503030203020204" pitchFamily="34" charset="0"/>
              </a:rPr>
              <a:t>VSI</a:t>
            </a:r>
            <a:r>
              <a:rPr lang="zh-CN" altLang="en-US" sz="1800" dirty="0">
                <a:sym typeface="Huawei Sans" panose="020C0503030203020204" pitchFamily="34" charset="0"/>
              </a:rPr>
              <a:t>、绑定</a:t>
            </a:r>
            <a:r>
              <a:rPr lang="en-US" altLang="zh-CN" sz="1800" dirty="0">
                <a:sym typeface="Huawei Sans" panose="020C0503030203020204" pitchFamily="34" charset="0"/>
              </a:rPr>
              <a:t>PW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AC</a:t>
            </a:r>
            <a:r>
              <a:rPr lang="zh-CN" altLang="en-US" sz="1800" dirty="0">
                <a:sym typeface="Huawei Sans" panose="020C0503030203020204" pitchFamily="34" charset="0"/>
              </a:rPr>
              <a:t>到</a:t>
            </a:r>
            <a:r>
              <a:rPr lang="en-US" altLang="zh-CN" sz="1800" dirty="0">
                <a:sym typeface="Huawei Sans" panose="020C0503030203020204" pitchFamily="34" charset="0"/>
              </a:rPr>
              <a:t>VSI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2966481"/>
            <a:ext cx="540000" cy="442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gray">
          <a:xfrm>
            <a:off x="1860250" y="4293191"/>
            <a:ext cx="8414049" cy="177565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38"/>
          <p:cNvSpPr txBox="1">
            <a:spLocks noChangeArrowheads="1"/>
          </p:cNvSpPr>
          <p:nvPr/>
        </p:nvSpPr>
        <p:spPr bwMode="gray">
          <a:xfrm>
            <a:off x="3885347" y="454129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9" name="直接连接符 8"/>
          <p:cNvCxnSpPr>
            <a:stCxn id="59" idx="1"/>
            <a:endCxn id="4" idx="3"/>
          </p:cNvCxnSpPr>
          <p:nvPr/>
        </p:nvCxnSpPr>
        <p:spPr bwMode="gray">
          <a:xfrm flipH="1" flipV="1">
            <a:off x="2932065" y="3187881"/>
            <a:ext cx="1240746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>
            <a:stCxn id="57" idx="1"/>
            <a:endCxn id="66" idx="3"/>
          </p:cNvCxnSpPr>
          <p:nvPr/>
        </p:nvCxnSpPr>
        <p:spPr bwMode="gray">
          <a:xfrm flipH="1">
            <a:off x="7801839" y="3187881"/>
            <a:ext cx="1505532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138"/>
          <p:cNvSpPr txBox="1">
            <a:spLocks noChangeArrowheads="1"/>
          </p:cNvSpPr>
          <p:nvPr/>
        </p:nvSpPr>
        <p:spPr bwMode="gray">
          <a:xfrm>
            <a:off x="2050770" y="2600347"/>
            <a:ext cx="1197189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" name="Text Box 138"/>
          <p:cNvSpPr txBox="1">
            <a:spLocks noChangeArrowheads="1"/>
          </p:cNvSpPr>
          <p:nvPr/>
        </p:nvSpPr>
        <p:spPr bwMode="gray">
          <a:xfrm>
            <a:off x="8943524" y="2600347"/>
            <a:ext cx="1226125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CE2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18" name="直接连接符 17"/>
          <p:cNvCxnSpPr>
            <a:stCxn id="59" idx="1"/>
            <a:endCxn id="56" idx="3"/>
          </p:cNvCxnSpPr>
          <p:nvPr/>
        </p:nvCxnSpPr>
        <p:spPr bwMode="gray">
          <a:xfrm flipH="1">
            <a:off x="2932065" y="4263226"/>
            <a:ext cx="1240746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>
            <a:stCxn id="58" idx="1"/>
            <a:endCxn id="66" idx="3"/>
          </p:cNvCxnSpPr>
          <p:nvPr/>
        </p:nvCxnSpPr>
        <p:spPr bwMode="gray">
          <a:xfrm flipH="1" flipV="1">
            <a:off x="7801839" y="4263226"/>
            <a:ext cx="1505532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 Box 138"/>
          <p:cNvSpPr txBox="1">
            <a:spLocks noChangeArrowheads="1"/>
          </p:cNvSpPr>
          <p:nvPr/>
        </p:nvSpPr>
        <p:spPr bwMode="gray">
          <a:xfrm>
            <a:off x="1998465" y="4798002"/>
            <a:ext cx="1304494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CE3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3" name="Text Box 138"/>
          <p:cNvSpPr txBox="1">
            <a:spLocks noChangeArrowheads="1"/>
          </p:cNvSpPr>
          <p:nvPr/>
        </p:nvSpPr>
        <p:spPr bwMode="gray">
          <a:xfrm>
            <a:off x="8937224" y="4756295"/>
            <a:ext cx="1241541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CE4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 bwMode="gray">
          <a:xfrm>
            <a:off x="2107008" y="338035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6" name="图片 5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5174814"/>
            <a:ext cx="540000" cy="442800"/>
          </a:xfrm>
          <a:prstGeom prst="rect">
            <a:avLst/>
          </a:prstGeom>
        </p:spPr>
      </p:pic>
      <p:pic>
        <p:nvPicPr>
          <p:cNvPr id="57" name="图片 5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2966481"/>
            <a:ext cx="540000" cy="442800"/>
          </a:xfrm>
          <a:prstGeom prst="rect">
            <a:avLst/>
          </a:prstGeom>
        </p:spPr>
      </p:pic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5174814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2811" y="4041826"/>
            <a:ext cx="540000" cy="442800"/>
          </a:xfrm>
          <a:prstGeom prst="rect">
            <a:avLst/>
          </a:prstGeom>
        </p:spPr>
      </p:pic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61839" y="4041826"/>
            <a:ext cx="540000" cy="442800"/>
          </a:xfrm>
          <a:prstGeom prst="rect">
            <a:avLst/>
          </a:prstGeom>
        </p:spPr>
      </p:pic>
      <p:cxnSp>
        <p:nvCxnSpPr>
          <p:cNvPr id="67" name="直接连接符 66"/>
          <p:cNvCxnSpPr>
            <a:stCxn id="66" idx="1"/>
            <a:endCxn id="59" idx="3"/>
          </p:cNvCxnSpPr>
          <p:nvPr/>
        </p:nvCxnSpPr>
        <p:spPr bwMode="gray">
          <a:xfrm flipH="1">
            <a:off x="4712811" y="4263226"/>
            <a:ext cx="2549028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Text Box 138"/>
          <p:cNvSpPr txBox="1">
            <a:spLocks noChangeArrowheads="1"/>
          </p:cNvSpPr>
          <p:nvPr/>
        </p:nvSpPr>
        <p:spPr bwMode="gray">
          <a:xfrm>
            <a:off x="6980341" y="454129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8950934" y="3380354"/>
            <a:ext cx="118412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矩形 76"/>
          <p:cNvSpPr/>
          <p:nvPr/>
        </p:nvSpPr>
        <p:spPr bwMode="gray">
          <a:xfrm>
            <a:off x="2107008" y="556724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77"/>
          <p:cNvSpPr/>
          <p:nvPr/>
        </p:nvSpPr>
        <p:spPr bwMode="gray">
          <a:xfrm>
            <a:off x="8937224" y="5567244"/>
            <a:ext cx="119783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232867" y="3109150"/>
            <a:ext cx="4178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属于同一个二层网络。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4232867" y="5063188"/>
            <a:ext cx="4178067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CE3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CE4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属于同一个二层网络。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931390"/>
          </a:xfrm>
        </p:spPr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完整的实现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，首先在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之间建立一个承载隧道，然后创建</a:t>
            </a:r>
            <a:r>
              <a:rPr lang="en-US" altLang="zh-CN" sz="1800" dirty="0">
                <a:sym typeface="Huawei Sans" panose="020C0503030203020204" pitchFamily="34" charset="0"/>
              </a:rPr>
              <a:t>PW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Pseudo-Wire</a:t>
            </a:r>
            <a:r>
              <a:rPr lang="zh-CN" altLang="en-US" sz="1800" dirty="0">
                <a:sym typeface="Huawei Sans" panose="020C0503030203020204" pitchFamily="34" charset="0"/>
              </a:rPr>
              <a:t>，伪线），用于承载不同企业客户的业务。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860250" y="2188061"/>
            <a:ext cx="8414049" cy="1775653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5" name="图片 4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2638571"/>
            <a:ext cx="540000" cy="4428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 bwMode="gray">
          <a:xfrm>
            <a:off x="1860250" y="3965281"/>
            <a:ext cx="8414049" cy="177565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Text Box 138"/>
          <p:cNvSpPr txBox="1">
            <a:spLocks noChangeArrowheads="1"/>
          </p:cNvSpPr>
          <p:nvPr/>
        </p:nvSpPr>
        <p:spPr bwMode="gray">
          <a:xfrm>
            <a:off x="3885347" y="4193985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52" name="直接连接符 51"/>
          <p:cNvCxnSpPr>
            <a:stCxn id="70" idx="1"/>
            <a:endCxn id="45" idx="3"/>
          </p:cNvCxnSpPr>
          <p:nvPr/>
        </p:nvCxnSpPr>
        <p:spPr bwMode="gray">
          <a:xfrm flipH="1" flipV="1">
            <a:off x="2932065" y="2859971"/>
            <a:ext cx="1240746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/>
          <p:cNvCxnSpPr>
            <a:stCxn id="68" idx="1"/>
            <a:endCxn id="71" idx="3"/>
          </p:cNvCxnSpPr>
          <p:nvPr/>
        </p:nvCxnSpPr>
        <p:spPr bwMode="gray">
          <a:xfrm flipH="1">
            <a:off x="7801839" y="2859971"/>
            <a:ext cx="1505532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 Box 138"/>
          <p:cNvSpPr txBox="1">
            <a:spLocks noChangeArrowheads="1"/>
          </p:cNvSpPr>
          <p:nvPr/>
        </p:nvSpPr>
        <p:spPr bwMode="gray">
          <a:xfrm>
            <a:off x="2050770" y="2272437"/>
            <a:ext cx="1197189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5" name="Text Box 138"/>
          <p:cNvSpPr txBox="1">
            <a:spLocks noChangeArrowheads="1"/>
          </p:cNvSpPr>
          <p:nvPr/>
        </p:nvSpPr>
        <p:spPr bwMode="gray">
          <a:xfrm>
            <a:off x="8943524" y="2272437"/>
            <a:ext cx="1226125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CE2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60" name="直接连接符 59"/>
          <p:cNvCxnSpPr>
            <a:stCxn id="70" idx="1"/>
            <a:endCxn id="65" idx="3"/>
          </p:cNvCxnSpPr>
          <p:nvPr/>
        </p:nvCxnSpPr>
        <p:spPr bwMode="gray">
          <a:xfrm flipH="1">
            <a:off x="2932065" y="3935316"/>
            <a:ext cx="1240746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/>
          <p:cNvCxnSpPr>
            <a:stCxn id="69" idx="1"/>
            <a:endCxn id="71" idx="3"/>
          </p:cNvCxnSpPr>
          <p:nvPr/>
        </p:nvCxnSpPr>
        <p:spPr bwMode="gray">
          <a:xfrm flipH="1" flipV="1">
            <a:off x="7801839" y="3935316"/>
            <a:ext cx="1505532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 Box 138"/>
          <p:cNvSpPr txBox="1">
            <a:spLocks noChangeArrowheads="1"/>
          </p:cNvSpPr>
          <p:nvPr/>
        </p:nvSpPr>
        <p:spPr bwMode="gray">
          <a:xfrm>
            <a:off x="1998465" y="4470092"/>
            <a:ext cx="1304494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CE3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3" name="Text Box 138"/>
          <p:cNvSpPr txBox="1">
            <a:spLocks noChangeArrowheads="1"/>
          </p:cNvSpPr>
          <p:nvPr/>
        </p:nvSpPr>
        <p:spPr bwMode="gray">
          <a:xfrm>
            <a:off x="8937224" y="4428385"/>
            <a:ext cx="1241541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CE4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2107008" y="305244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5" name="图片 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4846904"/>
            <a:ext cx="540000" cy="44280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2638571"/>
            <a:ext cx="540000" cy="442800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4846904"/>
            <a:ext cx="540000" cy="442800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2811" y="3713916"/>
            <a:ext cx="540000" cy="442800"/>
          </a:xfrm>
          <a:prstGeom prst="rect">
            <a:avLst/>
          </a:prstGeom>
        </p:spPr>
      </p:pic>
      <p:pic>
        <p:nvPicPr>
          <p:cNvPr id="71" name="图片 7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61839" y="3713916"/>
            <a:ext cx="540000" cy="442800"/>
          </a:xfrm>
          <a:prstGeom prst="rect">
            <a:avLst/>
          </a:prstGeom>
        </p:spPr>
      </p:pic>
      <p:cxnSp>
        <p:nvCxnSpPr>
          <p:cNvPr id="72" name="直接连接符 71"/>
          <p:cNvCxnSpPr>
            <a:stCxn id="71" idx="1"/>
            <a:endCxn id="70" idx="3"/>
          </p:cNvCxnSpPr>
          <p:nvPr/>
        </p:nvCxnSpPr>
        <p:spPr bwMode="gray">
          <a:xfrm flipH="1">
            <a:off x="4712811" y="3935316"/>
            <a:ext cx="2549028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Text Box 138"/>
          <p:cNvSpPr txBox="1">
            <a:spLocks noChangeArrowheads="1"/>
          </p:cNvSpPr>
          <p:nvPr/>
        </p:nvSpPr>
        <p:spPr bwMode="gray">
          <a:xfrm>
            <a:off x="6980341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8950934" y="3052444"/>
            <a:ext cx="118412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gray">
          <a:xfrm>
            <a:off x="2107008" y="523933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矩形 81"/>
          <p:cNvSpPr/>
          <p:nvPr/>
        </p:nvSpPr>
        <p:spPr bwMode="gray">
          <a:xfrm>
            <a:off x="8937224" y="5239334"/>
            <a:ext cx="119783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VPLS</a:t>
            </a:r>
            <a:r>
              <a:rPr lang="zh-CN" altLang="en-US" dirty="0">
                <a:sym typeface="Huawei Sans" panose="020C0503030203020204" pitchFamily="34" charset="0"/>
              </a:rPr>
              <a:t>基本工作原理：创建隧道和</a:t>
            </a:r>
            <a:r>
              <a:rPr lang="en-US" altLang="zh-CN" dirty="0">
                <a:sym typeface="Huawei Sans" panose="020C0503030203020204" pitchFamily="34" charset="0"/>
              </a:rPr>
              <a:t>PW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9" name="矩形 78"/>
          <p:cNvSpPr/>
          <p:nvPr/>
        </p:nvSpPr>
        <p:spPr bwMode="gray">
          <a:xfrm>
            <a:off x="4878141" y="2669814"/>
            <a:ext cx="2328226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PW A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承载企业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 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矩形 79"/>
          <p:cNvSpPr/>
          <p:nvPr/>
        </p:nvSpPr>
        <p:spPr bwMode="gray">
          <a:xfrm>
            <a:off x="4909813" y="4460634"/>
            <a:ext cx="2393190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PW B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承载企业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 bwMode="gray">
          <a:xfrm>
            <a:off x="4688075" y="3584467"/>
            <a:ext cx="649451" cy="276999"/>
            <a:chOff x="4688075" y="3846294"/>
            <a:chExt cx="649451" cy="276999"/>
          </a:xfrm>
          <a:solidFill>
            <a:srgbClr val="FAD3BB"/>
          </a:solidFill>
        </p:grpSpPr>
        <p:sp>
          <p:nvSpPr>
            <p:cNvPr id="36" name="Can 9"/>
            <p:cNvSpPr/>
            <p:nvPr/>
          </p:nvSpPr>
          <p:spPr bwMode="gray">
            <a:xfrm rot="5400000">
              <a:off x="4886731" y="3665858"/>
              <a:ext cx="253196" cy="648394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 bwMode="gray">
            <a:xfrm>
              <a:off x="4688075" y="3846294"/>
              <a:ext cx="58136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A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 bwMode="gray">
          <a:xfrm>
            <a:off x="4688074" y="3965564"/>
            <a:ext cx="649451" cy="276999"/>
            <a:chOff x="4688074" y="4227391"/>
            <a:chExt cx="649451" cy="276999"/>
          </a:xfrm>
          <a:solidFill>
            <a:srgbClr val="FEEEC1"/>
          </a:solidFill>
        </p:grpSpPr>
        <p:sp>
          <p:nvSpPr>
            <p:cNvPr id="37" name="Can 9"/>
            <p:cNvSpPr/>
            <p:nvPr/>
          </p:nvSpPr>
          <p:spPr bwMode="gray">
            <a:xfrm rot="5400000">
              <a:off x="4886201" y="4049403"/>
              <a:ext cx="253198" cy="649451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 bwMode="gray">
            <a:xfrm>
              <a:off x="4688075" y="4227391"/>
              <a:ext cx="58136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B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 bwMode="gray">
          <a:xfrm>
            <a:off x="5156462" y="3537934"/>
            <a:ext cx="1683422" cy="761101"/>
            <a:chOff x="5156462" y="3799761"/>
            <a:chExt cx="1683422" cy="761101"/>
          </a:xfrm>
          <a:solidFill>
            <a:srgbClr val="30B5C5"/>
          </a:solidFill>
        </p:grpSpPr>
        <p:sp>
          <p:nvSpPr>
            <p:cNvPr id="35" name="Can 225"/>
            <p:cNvSpPr/>
            <p:nvPr/>
          </p:nvSpPr>
          <p:spPr bwMode="gray">
            <a:xfrm rot="5400000">
              <a:off x="5617622" y="3338601"/>
              <a:ext cx="761101" cy="1683422"/>
            </a:xfrm>
            <a:prstGeom prst="can">
              <a:avLst>
                <a:gd name="adj" fmla="val 40000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" name="矩形 50"/>
            <p:cNvSpPr/>
            <p:nvPr/>
          </p:nvSpPr>
          <p:spPr bwMode="gray">
            <a:xfrm>
              <a:off x="5485703" y="3917403"/>
              <a:ext cx="923036" cy="41992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defTabSz="1078230"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 bwMode="gray">
          <a:xfrm>
            <a:off x="6625001" y="3584467"/>
            <a:ext cx="649450" cy="276999"/>
            <a:chOff x="6625001" y="3846294"/>
            <a:chExt cx="649450" cy="276999"/>
          </a:xfrm>
          <a:solidFill>
            <a:srgbClr val="FAD3BB"/>
          </a:solidFill>
        </p:grpSpPr>
        <p:sp>
          <p:nvSpPr>
            <p:cNvPr id="42" name="Can 9"/>
            <p:cNvSpPr/>
            <p:nvPr/>
          </p:nvSpPr>
          <p:spPr bwMode="gray">
            <a:xfrm rot="5400000">
              <a:off x="6823656" y="3665858"/>
              <a:ext cx="253196" cy="648394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 bwMode="gray">
            <a:xfrm>
              <a:off x="6625001" y="3846294"/>
              <a:ext cx="581366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A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gray">
          <a:xfrm>
            <a:off x="6625000" y="3965564"/>
            <a:ext cx="650507" cy="276999"/>
            <a:chOff x="6625000" y="4227391"/>
            <a:chExt cx="650507" cy="276999"/>
          </a:xfrm>
          <a:solidFill>
            <a:srgbClr val="FEEEC1"/>
          </a:solidFill>
        </p:grpSpPr>
        <p:sp>
          <p:nvSpPr>
            <p:cNvPr id="48" name="Can 9"/>
            <p:cNvSpPr/>
            <p:nvPr/>
          </p:nvSpPr>
          <p:spPr bwMode="gray">
            <a:xfrm rot="5400000">
              <a:off x="6824183" y="4049404"/>
              <a:ext cx="253198" cy="649451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 bwMode="gray">
            <a:xfrm>
              <a:off x="6625000" y="4227391"/>
              <a:ext cx="58136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B</a:t>
              </a:r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VPLS</a:t>
            </a:r>
            <a:r>
              <a:rPr lang="zh-CN" altLang="en-US" dirty="0">
                <a:sym typeface="Huawei Sans" panose="020C0503030203020204" pitchFamily="34" charset="0"/>
              </a:rPr>
              <a:t>基本工作原理：创建</a:t>
            </a:r>
            <a:r>
              <a:rPr lang="en-US" altLang="zh-CN" dirty="0">
                <a:sym typeface="Huawei Sans" panose="020C0503030203020204" pitchFamily="34" charset="0"/>
              </a:rPr>
              <a:t>VSI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864116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VSI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Virtual Switch Instance</a:t>
            </a:r>
            <a:r>
              <a:rPr lang="zh-CN" altLang="en-US" sz="1800" dirty="0">
                <a:sym typeface="Huawei Sans" panose="020C0503030203020204" pitchFamily="34" charset="0"/>
              </a:rPr>
              <a:t>，虚拟机交换实例）是为每一个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单独划分的一个虚拟交换处理单元。</a:t>
            </a:r>
            <a:r>
              <a:rPr lang="en-US" altLang="zh-CN" sz="1800" dirty="0">
                <a:sym typeface="Huawei Sans" panose="020C0503030203020204" pitchFamily="34" charset="0"/>
              </a:rPr>
              <a:t>VSI</a:t>
            </a:r>
            <a:r>
              <a:rPr lang="zh-CN" altLang="en-US" sz="1800" dirty="0">
                <a:sym typeface="Huawei Sans" panose="020C0503030203020204" pitchFamily="34" charset="0"/>
              </a:rPr>
              <a:t>用于存放独立的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地址表和执行转发，并负责终结</a:t>
            </a:r>
            <a:r>
              <a:rPr lang="en-US" altLang="zh-CN" sz="1800" dirty="0">
                <a:sym typeface="Huawei Sans" panose="020C0503030203020204" pitchFamily="34" charset="0"/>
              </a:rPr>
              <a:t>PW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矩形 59"/>
          <p:cNvSpPr/>
          <p:nvPr/>
        </p:nvSpPr>
        <p:spPr bwMode="gray">
          <a:xfrm>
            <a:off x="1860250" y="2188061"/>
            <a:ext cx="8414049" cy="1775653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2638571"/>
            <a:ext cx="540000" cy="442800"/>
          </a:xfrm>
          <a:prstGeom prst="rect">
            <a:avLst/>
          </a:prstGeom>
        </p:spPr>
      </p:pic>
      <p:sp>
        <p:nvSpPr>
          <p:cNvPr id="70" name="矩形 69"/>
          <p:cNvSpPr/>
          <p:nvPr/>
        </p:nvSpPr>
        <p:spPr bwMode="gray">
          <a:xfrm>
            <a:off x="1860250" y="3965281"/>
            <a:ext cx="8414049" cy="177565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Text Box 138"/>
          <p:cNvSpPr txBox="1">
            <a:spLocks noChangeArrowheads="1"/>
          </p:cNvSpPr>
          <p:nvPr/>
        </p:nvSpPr>
        <p:spPr bwMode="gray">
          <a:xfrm>
            <a:off x="3885347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72" name="直接连接符 71"/>
          <p:cNvCxnSpPr>
            <a:stCxn id="90" idx="1"/>
            <a:endCxn id="69" idx="3"/>
          </p:cNvCxnSpPr>
          <p:nvPr/>
        </p:nvCxnSpPr>
        <p:spPr bwMode="gray">
          <a:xfrm flipH="1" flipV="1">
            <a:off x="2932065" y="2859971"/>
            <a:ext cx="1240746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直接连接符 72"/>
          <p:cNvCxnSpPr>
            <a:stCxn id="88" idx="1"/>
            <a:endCxn id="91" idx="3"/>
          </p:cNvCxnSpPr>
          <p:nvPr/>
        </p:nvCxnSpPr>
        <p:spPr bwMode="gray">
          <a:xfrm flipH="1">
            <a:off x="7801839" y="2859971"/>
            <a:ext cx="1505532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Text Box 138"/>
          <p:cNvSpPr txBox="1">
            <a:spLocks noChangeArrowheads="1"/>
          </p:cNvSpPr>
          <p:nvPr/>
        </p:nvSpPr>
        <p:spPr bwMode="gray">
          <a:xfrm>
            <a:off x="2050770" y="2272437"/>
            <a:ext cx="1197189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1" name="Text Box 138"/>
          <p:cNvSpPr txBox="1">
            <a:spLocks noChangeArrowheads="1"/>
          </p:cNvSpPr>
          <p:nvPr/>
        </p:nvSpPr>
        <p:spPr bwMode="gray">
          <a:xfrm>
            <a:off x="8943524" y="2272437"/>
            <a:ext cx="1226125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CE2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82" name="直接连接符 81"/>
          <p:cNvCxnSpPr>
            <a:stCxn id="90" idx="1"/>
            <a:endCxn id="87" idx="3"/>
          </p:cNvCxnSpPr>
          <p:nvPr/>
        </p:nvCxnSpPr>
        <p:spPr bwMode="gray">
          <a:xfrm flipH="1">
            <a:off x="2932065" y="3935316"/>
            <a:ext cx="1240746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连接符 82"/>
          <p:cNvCxnSpPr>
            <a:stCxn id="89" idx="1"/>
            <a:endCxn id="91" idx="3"/>
          </p:cNvCxnSpPr>
          <p:nvPr/>
        </p:nvCxnSpPr>
        <p:spPr bwMode="gray">
          <a:xfrm flipH="1" flipV="1">
            <a:off x="7801839" y="3935316"/>
            <a:ext cx="1505532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" name="Text Box 138"/>
          <p:cNvSpPr txBox="1">
            <a:spLocks noChangeArrowheads="1"/>
          </p:cNvSpPr>
          <p:nvPr/>
        </p:nvSpPr>
        <p:spPr bwMode="gray">
          <a:xfrm>
            <a:off x="1998465" y="4470092"/>
            <a:ext cx="1304494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CE3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5" name="Text Box 138"/>
          <p:cNvSpPr txBox="1">
            <a:spLocks noChangeArrowheads="1"/>
          </p:cNvSpPr>
          <p:nvPr/>
        </p:nvSpPr>
        <p:spPr bwMode="gray">
          <a:xfrm>
            <a:off x="8937224" y="4428385"/>
            <a:ext cx="1241541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CE4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6" name="矩形 85"/>
          <p:cNvSpPr/>
          <p:nvPr/>
        </p:nvSpPr>
        <p:spPr bwMode="gray">
          <a:xfrm>
            <a:off x="2107008" y="305244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7" name="图片 8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4846904"/>
            <a:ext cx="540000" cy="442800"/>
          </a:xfrm>
          <a:prstGeom prst="rect">
            <a:avLst/>
          </a:prstGeom>
        </p:spPr>
      </p:pic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2638571"/>
            <a:ext cx="540000" cy="442800"/>
          </a:xfrm>
          <a:prstGeom prst="rect">
            <a:avLst/>
          </a:prstGeom>
        </p:spPr>
      </p:pic>
      <p:pic>
        <p:nvPicPr>
          <p:cNvPr id="89" name="图片 8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4846904"/>
            <a:ext cx="540000" cy="442800"/>
          </a:xfrm>
          <a:prstGeom prst="rect">
            <a:avLst/>
          </a:prstGeom>
        </p:spPr>
      </p:pic>
      <p:pic>
        <p:nvPicPr>
          <p:cNvPr id="90" name="图片 8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2811" y="3713916"/>
            <a:ext cx="540000" cy="442800"/>
          </a:xfrm>
          <a:prstGeom prst="rect">
            <a:avLst/>
          </a:prstGeom>
        </p:spPr>
      </p:pic>
      <p:pic>
        <p:nvPicPr>
          <p:cNvPr id="91" name="图片 9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61839" y="3713916"/>
            <a:ext cx="540000" cy="442800"/>
          </a:xfrm>
          <a:prstGeom prst="rect">
            <a:avLst/>
          </a:prstGeom>
        </p:spPr>
      </p:pic>
      <p:cxnSp>
        <p:nvCxnSpPr>
          <p:cNvPr id="92" name="直接连接符 91"/>
          <p:cNvCxnSpPr>
            <a:stCxn id="91" idx="1"/>
            <a:endCxn id="90" idx="3"/>
          </p:cNvCxnSpPr>
          <p:nvPr/>
        </p:nvCxnSpPr>
        <p:spPr bwMode="gray">
          <a:xfrm flipH="1">
            <a:off x="4712811" y="3935316"/>
            <a:ext cx="2549028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Text Box 138"/>
          <p:cNvSpPr txBox="1">
            <a:spLocks noChangeArrowheads="1"/>
          </p:cNvSpPr>
          <p:nvPr/>
        </p:nvSpPr>
        <p:spPr bwMode="gray">
          <a:xfrm>
            <a:off x="6980341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8950934" y="3052444"/>
            <a:ext cx="118412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2107008" y="523933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8937224" y="5239334"/>
            <a:ext cx="119783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2" name="组合 111"/>
          <p:cNvGrpSpPr/>
          <p:nvPr/>
        </p:nvGrpSpPr>
        <p:grpSpPr bwMode="gray">
          <a:xfrm>
            <a:off x="4034422" y="4550612"/>
            <a:ext cx="718154" cy="531999"/>
            <a:chOff x="4028299" y="3596545"/>
            <a:chExt cx="718154" cy="531999"/>
          </a:xfrm>
        </p:grpSpPr>
        <p:sp>
          <p:nvSpPr>
            <p:cNvPr id="113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B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14" name="Text Box 138"/>
            <p:cNvSpPr txBox="1">
              <a:spLocks noChangeArrowheads="1"/>
            </p:cNvSpPr>
            <p:nvPr/>
          </p:nvSpPr>
          <p:spPr bwMode="gray">
            <a:xfrm>
              <a:off x="407145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B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 bwMode="gray">
          <a:xfrm>
            <a:off x="7222075" y="4550612"/>
            <a:ext cx="718154" cy="531999"/>
            <a:chOff x="4028299" y="3596545"/>
            <a:chExt cx="718154" cy="531999"/>
          </a:xfrm>
        </p:grpSpPr>
        <p:sp>
          <p:nvSpPr>
            <p:cNvPr id="116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B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17" name="Text Box 138"/>
            <p:cNvSpPr txBox="1">
              <a:spLocks noChangeArrowheads="1"/>
            </p:cNvSpPr>
            <p:nvPr/>
          </p:nvSpPr>
          <p:spPr bwMode="gray">
            <a:xfrm>
              <a:off x="407145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B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 bwMode="gray">
          <a:xfrm>
            <a:off x="7222075" y="3078855"/>
            <a:ext cx="718154" cy="531999"/>
            <a:chOff x="4028299" y="3596545"/>
            <a:chExt cx="718154" cy="531999"/>
          </a:xfrm>
          <a:solidFill>
            <a:srgbClr val="DD80AA"/>
          </a:solidFill>
        </p:grpSpPr>
        <p:sp>
          <p:nvSpPr>
            <p:cNvPr id="40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rgbClr val="EBB3CC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A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41" name="Text Box 138"/>
            <p:cNvSpPr txBox="1">
              <a:spLocks noChangeArrowheads="1"/>
            </p:cNvSpPr>
            <p:nvPr/>
          </p:nvSpPr>
          <p:spPr bwMode="gray">
            <a:xfrm>
              <a:off x="406383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A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 bwMode="gray">
          <a:xfrm>
            <a:off x="3938768" y="3078855"/>
            <a:ext cx="718154" cy="531999"/>
            <a:chOff x="4028299" y="3596545"/>
            <a:chExt cx="718154" cy="531999"/>
          </a:xfrm>
          <a:solidFill>
            <a:srgbClr val="DD80AA"/>
          </a:solidFill>
        </p:grpSpPr>
        <p:sp>
          <p:nvSpPr>
            <p:cNvPr id="43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rgbClr val="EBB3CC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A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44" name="Text Box 138"/>
            <p:cNvSpPr txBox="1">
              <a:spLocks noChangeArrowheads="1"/>
            </p:cNvSpPr>
            <p:nvPr/>
          </p:nvSpPr>
          <p:spPr bwMode="gray">
            <a:xfrm>
              <a:off x="406383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A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VPLS</a:t>
            </a:r>
            <a:r>
              <a:rPr lang="zh-CN" altLang="en-US" dirty="0">
                <a:sym typeface="Huawei Sans" panose="020C0503030203020204" pitchFamily="34" charset="0"/>
              </a:rPr>
              <a:t>基本工作原理：绑定</a:t>
            </a:r>
            <a:r>
              <a:rPr lang="en-US" altLang="zh-CN" dirty="0">
                <a:sym typeface="Huawei Sans" panose="020C0503030203020204" pitchFamily="34" charset="0"/>
              </a:rPr>
              <a:t>PW</a:t>
            </a:r>
            <a:r>
              <a:rPr lang="zh-CN" altLang="en-US" dirty="0">
                <a:sym typeface="Huawei Sans" panose="020C0503030203020204" pitchFamily="34" charset="0"/>
              </a:rPr>
              <a:t>和</a:t>
            </a:r>
            <a:r>
              <a:rPr lang="en-US" altLang="zh-CN" dirty="0">
                <a:sym typeface="Huawei Sans" panose="020C0503030203020204" pitchFamily="34" charset="0"/>
              </a:rPr>
              <a:t>AC</a:t>
            </a:r>
            <a:r>
              <a:rPr lang="zh-CN" altLang="en-US" dirty="0">
                <a:sym typeface="Huawei Sans" panose="020C0503030203020204" pitchFamily="34" charset="0"/>
              </a:rPr>
              <a:t>到</a:t>
            </a:r>
            <a:r>
              <a:rPr lang="en-US" altLang="zh-CN" dirty="0">
                <a:sym typeface="Huawei Sans" panose="020C0503030203020204" pitchFamily="34" charset="0"/>
              </a:rPr>
              <a:t>VSI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AC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Attachment Circuit</a:t>
            </a:r>
            <a:r>
              <a:rPr lang="zh-CN" altLang="en-US" sz="1800" dirty="0">
                <a:sym typeface="Huawei Sans" panose="020C0503030203020204" pitchFamily="34" charset="0"/>
              </a:rPr>
              <a:t>，接入电路）指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之间的链路。绑定</a:t>
            </a:r>
            <a:r>
              <a:rPr lang="en-US" altLang="zh-CN" sz="1800" dirty="0">
                <a:sym typeface="Huawei Sans" panose="020C0503030203020204" pitchFamily="34" charset="0"/>
              </a:rPr>
              <a:t>PW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AC</a:t>
            </a:r>
            <a:r>
              <a:rPr lang="zh-CN" altLang="en-US" sz="1800" dirty="0">
                <a:sym typeface="Huawei Sans" panose="020C0503030203020204" pitchFamily="34" charset="0"/>
              </a:rPr>
              <a:t>到</a:t>
            </a:r>
            <a:r>
              <a:rPr lang="en-US" altLang="zh-CN" sz="1800" dirty="0">
                <a:sym typeface="Huawei Sans" panose="020C0503030203020204" pitchFamily="34" charset="0"/>
              </a:rPr>
              <a:t>VSI</a:t>
            </a:r>
            <a:r>
              <a:rPr lang="zh-CN" altLang="en-US" sz="1800" dirty="0">
                <a:sym typeface="Huawei Sans" panose="020C0503030203020204" pitchFamily="34" charset="0"/>
              </a:rPr>
              <a:t>后，</a:t>
            </a:r>
            <a:r>
              <a:rPr lang="en-US" altLang="zh-CN" sz="1800" dirty="0">
                <a:sym typeface="Huawei Sans" panose="020C0503030203020204" pitchFamily="34" charset="0"/>
              </a:rPr>
              <a:t>VSI</a:t>
            </a:r>
            <a:r>
              <a:rPr lang="zh-CN" altLang="en-US" sz="1800" dirty="0">
                <a:sym typeface="Huawei Sans" panose="020C0503030203020204" pitchFamily="34" charset="0"/>
              </a:rPr>
              <a:t>就像一个交换机一样工作，记录不同接口学习的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地址，并生成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地址表项。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860250" y="2188061"/>
            <a:ext cx="8414049" cy="1775653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6" name="图片 7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2638571"/>
            <a:ext cx="540000" cy="442800"/>
          </a:xfrm>
          <a:prstGeom prst="rect">
            <a:avLst/>
          </a:prstGeom>
        </p:spPr>
      </p:pic>
      <p:sp>
        <p:nvSpPr>
          <p:cNvPr id="80" name="矩形 79"/>
          <p:cNvSpPr/>
          <p:nvPr/>
        </p:nvSpPr>
        <p:spPr bwMode="gray">
          <a:xfrm>
            <a:off x="1860250" y="3965281"/>
            <a:ext cx="8414049" cy="177565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Text Box 138"/>
          <p:cNvSpPr txBox="1">
            <a:spLocks noChangeArrowheads="1"/>
          </p:cNvSpPr>
          <p:nvPr/>
        </p:nvSpPr>
        <p:spPr bwMode="gray">
          <a:xfrm>
            <a:off x="3885347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82" name="直接连接符 81"/>
          <p:cNvCxnSpPr>
            <a:stCxn id="94" idx="1"/>
            <a:endCxn id="76" idx="3"/>
          </p:cNvCxnSpPr>
          <p:nvPr/>
        </p:nvCxnSpPr>
        <p:spPr bwMode="gray">
          <a:xfrm flipH="1" flipV="1">
            <a:off x="2932065" y="2859971"/>
            <a:ext cx="1240746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连接符 82"/>
          <p:cNvCxnSpPr>
            <a:stCxn id="92" idx="1"/>
            <a:endCxn id="95" idx="3"/>
          </p:cNvCxnSpPr>
          <p:nvPr/>
        </p:nvCxnSpPr>
        <p:spPr bwMode="gray">
          <a:xfrm flipH="1">
            <a:off x="7801839" y="2859971"/>
            <a:ext cx="1505532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4" name="Text Box 138"/>
          <p:cNvSpPr txBox="1">
            <a:spLocks noChangeArrowheads="1"/>
          </p:cNvSpPr>
          <p:nvPr/>
        </p:nvSpPr>
        <p:spPr bwMode="gray">
          <a:xfrm>
            <a:off x="2050770" y="2272437"/>
            <a:ext cx="1197189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5" name="Text Box 138"/>
          <p:cNvSpPr txBox="1">
            <a:spLocks noChangeArrowheads="1"/>
          </p:cNvSpPr>
          <p:nvPr/>
        </p:nvSpPr>
        <p:spPr bwMode="gray">
          <a:xfrm>
            <a:off x="8943524" y="2272437"/>
            <a:ext cx="1226125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CE2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86" name="直接连接符 85"/>
          <p:cNvCxnSpPr>
            <a:stCxn id="94" idx="1"/>
            <a:endCxn id="91" idx="3"/>
          </p:cNvCxnSpPr>
          <p:nvPr/>
        </p:nvCxnSpPr>
        <p:spPr bwMode="gray">
          <a:xfrm flipH="1">
            <a:off x="2932065" y="3935316"/>
            <a:ext cx="1240746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连接符 86"/>
          <p:cNvCxnSpPr>
            <a:stCxn id="93" idx="1"/>
            <a:endCxn id="95" idx="3"/>
          </p:cNvCxnSpPr>
          <p:nvPr/>
        </p:nvCxnSpPr>
        <p:spPr bwMode="gray">
          <a:xfrm flipH="1" flipV="1">
            <a:off x="7801839" y="3935316"/>
            <a:ext cx="1505532" cy="113298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Text Box 138"/>
          <p:cNvSpPr txBox="1">
            <a:spLocks noChangeArrowheads="1"/>
          </p:cNvSpPr>
          <p:nvPr/>
        </p:nvSpPr>
        <p:spPr bwMode="gray">
          <a:xfrm>
            <a:off x="1998465" y="4470092"/>
            <a:ext cx="1304494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CE3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9" name="Text Box 138"/>
          <p:cNvSpPr txBox="1">
            <a:spLocks noChangeArrowheads="1"/>
          </p:cNvSpPr>
          <p:nvPr/>
        </p:nvSpPr>
        <p:spPr bwMode="gray">
          <a:xfrm>
            <a:off x="8937224" y="4428385"/>
            <a:ext cx="1241541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 CE4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2107008" y="305244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1" name="图片 9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4846904"/>
            <a:ext cx="540000" cy="442800"/>
          </a:xfrm>
          <a:prstGeom prst="rect">
            <a:avLst/>
          </a:prstGeom>
        </p:spPr>
      </p:pic>
      <p:pic>
        <p:nvPicPr>
          <p:cNvPr id="92" name="图片 9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2638571"/>
            <a:ext cx="540000" cy="442800"/>
          </a:xfrm>
          <a:prstGeom prst="rect">
            <a:avLst/>
          </a:prstGeom>
        </p:spPr>
      </p:pic>
      <p:pic>
        <p:nvPicPr>
          <p:cNvPr id="93" name="图片 9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4846904"/>
            <a:ext cx="540000" cy="442800"/>
          </a:xfrm>
          <a:prstGeom prst="rect">
            <a:avLst/>
          </a:prstGeom>
        </p:spPr>
      </p:pic>
      <p:pic>
        <p:nvPicPr>
          <p:cNvPr id="94" name="图片 9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2811" y="3713916"/>
            <a:ext cx="540000" cy="442800"/>
          </a:xfrm>
          <a:prstGeom prst="rect">
            <a:avLst/>
          </a:prstGeom>
        </p:spPr>
      </p:pic>
      <p:pic>
        <p:nvPicPr>
          <p:cNvPr id="95" name="图片 9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61839" y="3713916"/>
            <a:ext cx="540000" cy="442800"/>
          </a:xfrm>
          <a:prstGeom prst="rect">
            <a:avLst/>
          </a:prstGeom>
        </p:spPr>
      </p:pic>
      <p:cxnSp>
        <p:nvCxnSpPr>
          <p:cNvPr id="96" name="直接连接符 95"/>
          <p:cNvCxnSpPr>
            <a:stCxn id="95" idx="1"/>
            <a:endCxn id="94" idx="3"/>
          </p:cNvCxnSpPr>
          <p:nvPr/>
        </p:nvCxnSpPr>
        <p:spPr bwMode="gray">
          <a:xfrm flipH="1">
            <a:off x="4712811" y="3935316"/>
            <a:ext cx="2549028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7" name="Text Box 138"/>
          <p:cNvSpPr txBox="1">
            <a:spLocks noChangeArrowheads="1"/>
          </p:cNvSpPr>
          <p:nvPr/>
        </p:nvSpPr>
        <p:spPr bwMode="gray">
          <a:xfrm>
            <a:off x="6980341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8950934" y="3052444"/>
            <a:ext cx="118412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/>
          <p:cNvSpPr/>
          <p:nvPr/>
        </p:nvSpPr>
        <p:spPr bwMode="gray">
          <a:xfrm>
            <a:off x="2107008" y="523933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矩形 99"/>
          <p:cNvSpPr/>
          <p:nvPr/>
        </p:nvSpPr>
        <p:spPr bwMode="gray">
          <a:xfrm>
            <a:off x="8937224" y="5239334"/>
            <a:ext cx="119783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192.168.2.2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4" name="组合 103"/>
          <p:cNvGrpSpPr/>
          <p:nvPr/>
        </p:nvGrpSpPr>
        <p:grpSpPr bwMode="gray">
          <a:xfrm>
            <a:off x="4034422" y="4550612"/>
            <a:ext cx="718154" cy="531999"/>
            <a:chOff x="4028299" y="3596545"/>
            <a:chExt cx="718154" cy="531999"/>
          </a:xfrm>
        </p:grpSpPr>
        <p:sp>
          <p:nvSpPr>
            <p:cNvPr id="105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B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06" name="Text Box 138"/>
            <p:cNvSpPr txBox="1">
              <a:spLocks noChangeArrowheads="1"/>
            </p:cNvSpPr>
            <p:nvPr/>
          </p:nvSpPr>
          <p:spPr bwMode="gray">
            <a:xfrm>
              <a:off x="407145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B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 bwMode="gray">
          <a:xfrm>
            <a:off x="7222075" y="4550612"/>
            <a:ext cx="718154" cy="531999"/>
            <a:chOff x="4028299" y="3596545"/>
            <a:chExt cx="718154" cy="531999"/>
          </a:xfrm>
        </p:grpSpPr>
        <p:sp>
          <p:nvSpPr>
            <p:cNvPr id="108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B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09" name="Text Box 138"/>
            <p:cNvSpPr txBox="1">
              <a:spLocks noChangeArrowheads="1"/>
            </p:cNvSpPr>
            <p:nvPr/>
          </p:nvSpPr>
          <p:spPr bwMode="gray">
            <a:xfrm>
              <a:off x="407145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B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 bwMode="gray">
          <a:xfrm>
            <a:off x="4645773" y="3592962"/>
            <a:ext cx="649451" cy="276999"/>
            <a:chOff x="4688075" y="3846294"/>
            <a:chExt cx="649451" cy="276999"/>
          </a:xfrm>
          <a:solidFill>
            <a:srgbClr val="FAD3BB"/>
          </a:solidFill>
        </p:grpSpPr>
        <p:sp>
          <p:nvSpPr>
            <p:cNvPr id="117" name="Can 9"/>
            <p:cNvSpPr/>
            <p:nvPr/>
          </p:nvSpPr>
          <p:spPr bwMode="gray">
            <a:xfrm rot="5400000">
              <a:off x="4886731" y="3665858"/>
              <a:ext cx="253196" cy="648394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8" name="文本框 117"/>
            <p:cNvSpPr txBox="1"/>
            <p:nvPr/>
          </p:nvSpPr>
          <p:spPr bwMode="gray">
            <a:xfrm>
              <a:off x="4688075" y="3846294"/>
              <a:ext cx="58136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A</a:t>
              </a:r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 bwMode="gray">
          <a:xfrm>
            <a:off x="4645772" y="3974059"/>
            <a:ext cx="649451" cy="276999"/>
            <a:chOff x="4688074" y="4227391"/>
            <a:chExt cx="649451" cy="276999"/>
          </a:xfrm>
        </p:grpSpPr>
        <p:sp>
          <p:nvSpPr>
            <p:cNvPr id="123" name="Can 9"/>
            <p:cNvSpPr/>
            <p:nvPr/>
          </p:nvSpPr>
          <p:spPr bwMode="gray">
            <a:xfrm rot="5400000">
              <a:off x="4886201" y="4049403"/>
              <a:ext cx="253198" cy="649451"/>
            </a:xfrm>
            <a:prstGeom prst="can">
              <a:avLst>
                <a:gd name="adj" fmla="val 40000"/>
              </a:avLst>
            </a:prstGeom>
            <a:solidFill>
              <a:srgbClr val="FFF2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文本框 123"/>
            <p:cNvSpPr txBox="1"/>
            <p:nvPr/>
          </p:nvSpPr>
          <p:spPr bwMode="gray">
            <a:xfrm>
              <a:off x="4688075" y="4227391"/>
              <a:ext cx="581367" cy="276999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B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28" name="矩形 127"/>
          <p:cNvSpPr/>
          <p:nvPr/>
        </p:nvSpPr>
        <p:spPr bwMode="gray">
          <a:xfrm>
            <a:off x="4181295" y="2613015"/>
            <a:ext cx="2062487" cy="4238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1078230">
              <a:lnSpc>
                <a:spcPct val="150000"/>
              </a:lnSpc>
            </a:pP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绑定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PW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VSI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矩形 128"/>
          <p:cNvSpPr/>
          <p:nvPr/>
        </p:nvSpPr>
        <p:spPr bwMode="gray">
          <a:xfrm>
            <a:off x="3018972" y="2806859"/>
            <a:ext cx="109623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endParaRPr lang="en-US" altLang="zh-CN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0" name="直接箭头连接符 129"/>
          <p:cNvCxnSpPr/>
          <p:nvPr/>
        </p:nvCxnSpPr>
        <p:spPr bwMode="gray">
          <a:xfrm flipH="1">
            <a:off x="3766729" y="2919579"/>
            <a:ext cx="369661" cy="1325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 bwMode="gray">
          <a:xfrm flipH="1">
            <a:off x="4962022" y="3057772"/>
            <a:ext cx="1" cy="4359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组合 112"/>
          <p:cNvGrpSpPr/>
          <p:nvPr/>
        </p:nvGrpSpPr>
        <p:grpSpPr bwMode="gray">
          <a:xfrm>
            <a:off x="5137608" y="3546428"/>
            <a:ext cx="1659974" cy="761101"/>
            <a:chOff x="5179910" y="3799760"/>
            <a:chExt cx="1659974" cy="761101"/>
          </a:xfrm>
          <a:solidFill>
            <a:srgbClr val="30B5C5"/>
          </a:solidFill>
        </p:grpSpPr>
        <p:sp>
          <p:nvSpPr>
            <p:cNvPr id="114" name="Can 225"/>
            <p:cNvSpPr/>
            <p:nvPr/>
          </p:nvSpPr>
          <p:spPr bwMode="gray">
            <a:xfrm rot="5400000">
              <a:off x="5629346" y="3350324"/>
              <a:ext cx="761101" cy="1659974"/>
            </a:xfrm>
            <a:prstGeom prst="can">
              <a:avLst>
                <a:gd name="adj" fmla="val 40000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5" name="矩形 114"/>
            <p:cNvSpPr/>
            <p:nvPr/>
          </p:nvSpPr>
          <p:spPr bwMode="gray">
            <a:xfrm>
              <a:off x="5485703" y="3917403"/>
              <a:ext cx="923036" cy="41992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defTabSz="1078230"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 bwMode="gray">
          <a:xfrm>
            <a:off x="6582699" y="3592962"/>
            <a:ext cx="649450" cy="276999"/>
            <a:chOff x="6625001" y="3846294"/>
            <a:chExt cx="649450" cy="276999"/>
          </a:xfrm>
          <a:solidFill>
            <a:srgbClr val="FAD3BB"/>
          </a:solidFill>
        </p:grpSpPr>
        <p:sp>
          <p:nvSpPr>
            <p:cNvPr id="120" name="Can 9"/>
            <p:cNvSpPr/>
            <p:nvPr/>
          </p:nvSpPr>
          <p:spPr bwMode="gray">
            <a:xfrm rot="5400000">
              <a:off x="6823656" y="3665858"/>
              <a:ext cx="253196" cy="648394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1" name="文本框 120"/>
            <p:cNvSpPr txBox="1"/>
            <p:nvPr/>
          </p:nvSpPr>
          <p:spPr bwMode="gray">
            <a:xfrm>
              <a:off x="6625001" y="3846294"/>
              <a:ext cx="581366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A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 bwMode="gray">
          <a:xfrm>
            <a:off x="6582698" y="3974059"/>
            <a:ext cx="650507" cy="276999"/>
            <a:chOff x="6625000" y="4227391"/>
            <a:chExt cx="650507" cy="276999"/>
          </a:xfrm>
        </p:grpSpPr>
        <p:sp>
          <p:nvSpPr>
            <p:cNvPr id="126" name="Can 9"/>
            <p:cNvSpPr/>
            <p:nvPr/>
          </p:nvSpPr>
          <p:spPr bwMode="gray">
            <a:xfrm rot="5400000">
              <a:off x="6824183" y="4049404"/>
              <a:ext cx="253198" cy="649451"/>
            </a:xfrm>
            <a:prstGeom prst="can">
              <a:avLst>
                <a:gd name="adj" fmla="val 40000"/>
              </a:avLst>
            </a:prstGeom>
            <a:solidFill>
              <a:srgbClr val="FFF2C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7" name="文本框 126"/>
            <p:cNvSpPr txBox="1"/>
            <p:nvPr/>
          </p:nvSpPr>
          <p:spPr bwMode="gray">
            <a:xfrm>
              <a:off x="6625000" y="4227391"/>
              <a:ext cx="581367" cy="276999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B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 bwMode="gray">
          <a:xfrm>
            <a:off x="7222075" y="3078855"/>
            <a:ext cx="718154" cy="531999"/>
            <a:chOff x="4028299" y="3596545"/>
            <a:chExt cx="718154" cy="531999"/>
          </a:xfrm>
          <a:solidFill>
            <a:srgbClr val="DD80AA"/>
          </a:solidFill>
        </p:grpSpPr>
        <p:sp>
          <p:nvSpPr>
            <p:cNvPr id="59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rgbClr val="EBB3CC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A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0" name="Text Box 138"/>
            <p:cNvSpPr txBox="1">
              <a:spLocks noChangeArrowheads="1"/>
            </p:cNvSpPr>
            <p:nvPr/>
          </p:nvSpPr>
          <p:spPr bwMode="gray">
            <a:xfrm>
              <a:off x="406383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A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61" name="组合 60"/>
          <p:cNvGrpSpPr/>
          <p:nvPr/>
        </p:nvGrpSpPr>
        <p:grpSpPr bwMode="gray">
          <a:xfrm>
            <a:off x="3938768" y="3078855"/>
            <a:ext cx="718154" cy="531999"/>
            <a:chOff x="4028299" y="3596545"/>
            <a:chExt cx="718154" cy="531999"/>
          </a:xfrm>
          <a:solidFill>
            <a:srgbClr val="DD80AA"/>
          </a:solidFill>
        </p:grpSpPr>
        <p:sp>
          <p:nvSpPr>
            <p:cNvPr id="62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rgbClr val="EBB3CC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A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3" name="Text Box 138"/>
            <p:cNvSpPr txBox="1">
              <a:spLocks noChangeArrowheads="1"/>
            </p:cNvSpPr>
            <p:nvPr/>
          </p:nvSpPr>
          <p:spPr bwMode="gray">
            <a:xfrm>
              <a:off x="406383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A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VPLS</a:t>
            </a:r>
            <a:r>
              <a:rPr lang="zh-CN" altLang="en-US">
                <a:sym typeface="Huawei Sans" panose="020C0503030203020204" pitchFamily="34" charset="0"/>
              </a:rPr>
              <a:t>的报文转发过程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983323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模拟交换机，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地址学习依靠数据平面泛洪，没有控制平面参与。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转发行为由查询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地址表决定，如果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地址表有记录则查表转发，没有记录则泛洪转发。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 bwMode="gray">
          <a:xfrm>
            <a:off x="1863231" y="4783997"/>
            <a:ext cx="1517950" cy="1241700"/>
            <a:chOff x="2509096" y="1452234"/>
            <a:chExt cx="633789" cy="603567"/>
          </a:xfrm>
          <a:solidFill>
            <a:schemeClr val="accent5"/>
          </a:solidFill>
        </p:grpSpPr>
        <p:sp>
          <p:nvSpPr>
            <p:cNvPr id="73" name="矩形 72"/>
            <p:cNvSpPr/>
            <p:nvPr/>
          </p:nvSpPr>
          <p:spPr bwMode="gray">
            <a:xfrm>
              <a:off x="2509096" y="1888867"/>
              <a:ext cx="633789" cy="166934"/>
            </a:xfrm>
            <a:prstGeom prst="rect">
              <a:avLst/>
            </a:prstGeom>
            <a:noFill/>
            <a:ln w="635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ARP</a:t>
              </a:r>
              <a:r>
                <a: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请求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6" name="矩形 75"/>
            <p:cNvSpPr/>
            <p:nvPr/>
          </p:nvSpPr>
          <p:spPr bwMode="gray">
            <a:xfrm>
              <a:off x="2509096" y="1669633"/>
              <a:ext cx="633789" cy="218591"/>
            </a:xfrm>
            <a:prstGeom prst="rect">
              <a:avLst/>
            </a:prstGeom>
            <a:noFill/>
            <a:ln w="635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DIP 192.168.1.2</a:t>
              </a:r>
              <a:endPara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SIP</a:t>
              </a:r>
              <a:r>
                <a: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1" name="矩形 80"/>
            <p:cNvSpPr/>
            <p:nvPr/>
          </p:nvSpPr>
          <p:spPr bwMode="gray">
            <a:xfrm>
              <a:off x="2509096" y="1452234"/>
              <a:ext cx="633789" cy="218591"/>
            </a:xfrm>
            <a:prstGeom prst="rect">
              <a:avLst/>
            </a:prstGeom>
            <a:noFill/>
            <a:ln w="635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078230"/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DMAC ALL</a:t>
              </a:r>
              <a:endPara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defTabSz="1078230"/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SMAC</a:t>
              </a:r>
              <a:r>
                <a:rPr lang="zh-CN" altLang="en-US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1-1-1</a:t>
              </a:r>
              <a:endPara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 bwMode="gray">
          <a:xfrm>
            <a:off x="1860250" y="4659747"/>
            <a:ext cx="1520931" cy="0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4"/>
          <p:cNvSpPr>
            <a:spLocks noChangeAspect="1"/>
          </p:cNvSpPr>
          <p:nvPr/>
        </p:nvSpPr>
        <p:spPr bwMode="gray">
          <a:xfrm>
            <a:off x="1797377" y="4330926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矩形 112"/>
          <p:cNvSpPr/>
          <p:nvPr/>
        </p:nvSpPr>
        <p:spPr bwMode="gray">
          <a:xfrm>
            <a:off x="2049377" y="4225170"/>
            <a:ext cx="1344773" cy="403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发送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2" name="组合 81"/>
          <p:cNvGrpSpPr/>
          <p:nvPr/>
        </p:nvGrpSpPr>
        <p:grpSpPr bwMode="gray">
          <a:xfrm>
            <a:off x="3644526" y="4508364"/>
            <a:ext cx="1978269" cy="512669"/>
            <a:chOff x="3353023" y="1997902"/>
            <a:chExt cx="790220" cy="222151"/>
          </a:xfrm>
          <a:solidFill>
            <a:schemeClr val="accent5"/>
          </a:solidFill>
        </p:grpSpPr>
        <p:sp>
          <p:nvSpPr>
            <p:cNvPr id="83" name="矩形 82"/>
            <p:cNvSpPr/>
            <p:nvPr/>
          </p:nvSpPr>
          <p:spPr bwMode="gray">
            <a:xfrm>
              <a:off x="3353023" y="1997902"/>
              <a:ext cx="408932" cy="113721"/>
            </a:xfrm>
            <a:prstGeom prst="rect">
              <a:avLst/>
            </a:prstGeom>
            <a:noFill/>
            <a:ln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3762674" y="1997902"/>
              <a:ext cx="380569" cy="113721"/>
            </a:xfrm>
            <a:prstGeom prst="rect">
              <a:avLst/>
            </a:prstGeom>
            <a:noFill/>
            <a:ln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出口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3353023" y="2111623"/>
              <a:ext cx="408932" cy="108430"/>
            </a:xfrm>
            <a:prstGeom prst="rect">
              <a:avLst/>
            </a:prstGeom>
            <a:noFill/>
            <a:ln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1-1-1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6" name="矩形 85"/>
            <p:cNvSpPr/>
            <p:nvPr/>
          </p:nvSpPr>
          <p:spPr bwMode="gray">
            <a:xfrm>
              <a:off x="3762674" y="2111623"/>
              <a:ext cx="380569" cy="108429"/>
            </a:xfrm>
            <a:prstGeom prst="rect">
              <a:avLst/>
            </a:prstGeom>
            <a:noFill/>
            <a:ln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Port1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4" name="Oval 4"/>
          <p:cNvSpPr>
            <a:spLocks noChangeAspect="1"/>
          </p:cNvSpPr>
          <p:nvPr/>
        </p:nvSpPr>
        <p:spPr bwMode="gray">
          <a:xfrm>
            <a:off x="3571422" y="5195596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矩形 116"/>
          <p:cNvSpPr/>
          <p:nvPr/>
        </p:nvSpPr>
        <p:spPr bwMode="gray">
          <a:xfrm>
            <a:off x="3784969" y="5102213"/>
            <a:ext cx="1968131" cy="749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生成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地址表，并向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VSI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所有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PW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泛洪。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 bwMode="gray">
          <a:xfrm>
            <a:off x="6195192" y="4500705"/>
            <a:ext cx="2059376" cy="934191"/>
            <a:chOff x="6195192" y="4678505"/>
            <a:chExt cx="2059376" cy="934191"/>
          </a:xfrm>
        </p:grpSpPr>
        <p:grpSp>
          <p:nvGrpSpPr>
            <p:cNvPr id="93" name="组合 92"/>
            <p:cNvGrpSpPr/>
            <p:nvPr/>
          </p:nvGrpSpPr>
          <p:grpSpPr bwMode="gray">
            <a:xfrm>
              <a:off x="6294334" y="4678505"/>
              <a:ext cx="1960234" cy="452748"/>
              <a:chOff x="5867354" y="2012993"/>
              <a:chExt cx="790220" cy="222152"/>
            </a:xfrm>
            <a:solidFill>
              <a:schemeClr val="accent5"/>
            </a:solidFill>
          </p:grpSpPr>
          <p:sp>
            <p:nvSpPr>
              <p:cNvPr id="94" name="矩形 93"/>
              <p:cNvSpPr/>
              <p:nvPr/>
            </p:nvSpPr>
            <p:spPr bwMode="gray">
              <a:xfrm>
                <a:off x="5867354" y="2012993"/>
                <a:ext cx="408932" cy="113721"/>
              </a:xfrm>
              <a:prstGeom prst="rect">
                <a:avLst/>
              </a:prstGeom>
              <a:noFill/>
              <a:ln>
                <a:solidFill>
                  <a:srgbClr val="30B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MAC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 bwMode="gray">
              <a:xfrm>
                <a:off x="6277005" y="2012993"/>
                <a:ext cx="380569" cy="113721"/>
              </a:xfrm>
              <a:prstGeom prst="rect">
                <a:avLst/>
              </a:prstGeom>
              <a:noFill/>
              <a:ln>
                <a:solidFill>
                  <a:srgbClr val="30B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zh-CN" altLang="en-US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出口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6" name="矩形 95"/>
              <p:cNvSpPr/>
              <p:nvPr/>
            </p:nvSpPr>
            <p:spPr bwMode="gray">
              <a:xfrm>
                <a:off x="5867354" y="2126714"/>
                <a:ext cx="408932" cy="108431"/>
              </a:xfrm>
              <a:prstGeom prst="rect">
                <a:avLst/>
              </a:prstGeom>
              <a:noFill/>
              <a:ln>
                <a:solidFill>
                  <a:srgbClr val="30B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矩形 96"/>
              <p:cNvSpPr/>
              <p:nvPr/>
            </p:nvSpPr>
            <p:spPr bwMode="gray">
              <a:xfrm>
                <a:off x="6277005" y="2126714"/>
                <a:ext cx="380569" cy="108430"/>
              </a:xfrm>
              <a:prstGeom prst="rect">
                <a:avLst/>
              </a:prstGeom>
              <a:noFill/>
              <a:ln>
                <a:solidFill>
                  <a:srgbClr val="30B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4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PWA</a:t>
                </a:r>
                <a:endPara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18" name="Oval 4"/>
            <p:cNvSpPr>
              <a:spLocks noChangeAspect="1"/>
            </p:cNvSpPr>
            <p:nvPr/>
          </p:nvSpPr>
          <p:spPr bwMode="gray">
            <a:xfrm>
              <a:off x="6195192" y="5360696"/>
              <a:ext cx="252000" cy="252000"/>
            </a:xfrm>
            <a:prstGeom prst="ellipse">
              <a:avLst/>
            </a:prstGeom>
            <a:solidFill>
              <a:srgbClr val="30B5C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9" name="矩形 118"/>
          <p:cNvSpPr/>
          <p:nvPr/>
        </p:nvSpPr>
        <p:spPr bwMode="gray">
          <a:xfrm>
            <a:off x="6408739" y="5089513"/>
            <a:ext cx="2070387" cy="749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接收报文，并在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VSI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中生成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地址表。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2" name="组合 101"/>
          <p:cNvGrpSpPr/>
          <p:nvPr/>
        </p:nvGrpSpPr>
        <p:grpSpPr bwMode="gray">
          <a:xfrm>
            <a:off x="8548396" y="4783997"/>
            <a:ext cx="1517950" cy="1241700"/>
            <a:chOff x="2509096" y="1452234"/>
            <a:chExt cx="633789" cy="603567"/>
          </a:xfrm>
          <a:noFill/>
        </p:grpSpPr>
        <p:sp>
          <p:nvSpPr>
            <p:cNvPr id="103" name="矩形 102"/>
            <p:cNvSpPr/>
            <p:nvPr/>
          </p:nvSpPr>
          <p:spPr bwMode="gray">
            <a:xfrm>
              <a:off x="2509096" y="1888867"/>
              <a:ext cx="633789" cy="166934"/>
            </a:xfrm>
            <a:prstGeom prst="rect">
              <a:avLst/>
            </a:prstGeom>
            <a:grpFill/>
            <a:ln w="635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ARP</a:t>
              </a:r>
              <a:r>
                <a: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请求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" name="矩形 103"/>
            <p:cNvSpPr/>
            <p:nvPr/>
          </p:nvSpPr>
          <p:spPr bwMode="gray">
            <a:xfrm>
              <a:off x="2509096" y="1669633"/>
              <a:ext cx="633789" cy="218591"/>
            </a:xfrm>
            <a:prstGeom prst="rect">
              <a:avLst/>
            </a:prstGeom>
            <a:grpFill/>
            <a:ln w="635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DIP 192.168.1.2</a:t>
              </a:r>
              <a:endPara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1078230"/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SIP</a:t>
              </a:r>
              <a:r>
                <a: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5" name="矩形 104"/>
            <p:cNvSpPr/>
            <p:nvPr/>
          </p:nvSpPr>
          <p:spPr bwMode="gray">
            <a:xfrm>
              <a:off x="2509096" y="1452234"/>
              <a:ext cx="633789" cy="218591"/>
            </a:xfrm>
            <a:prstGeom prst="rect">
              <a:avLst/>
            </a:prstGeom>
            <a:grpFill/>
            <a:ln w="6350">
              <a:solidFill>
                <a:srgbClr val="30B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078230"/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DMAC ALL</a:t>
              </a:r>
              <a:endPara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defTabSz="1078230"/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SMAC</a:t>
              </a:r>
              <a:r>
                <a:rPr lang="zh-CN" altLang="en-US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1-1-1</a:t>
              </a:r>
              <a:endPara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111" name="直接箭头连接符 110"/>
          <p:cNvCxnSpPr/>
          <p:nvPr/>
        </p:nvCxnSpPr>
        <p:spPr bwMode="gray">
          <a:xfrm>
            <a:off x="8545415" y="4659747"/>
            <a:ext cx="1520931" cy="0"/>
          </a:xfrm>
          <a:prstGeom prst="straightConnector1">
            <a:avLst/>
          </a:prstGeom>
          <a:solidFill>
            <a:srgbClr val="BEE9EE"/>
          </a:solidFill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4"/>
          <p:cNvSpPr>
            <a:spLocks noChangeAspect="1"/>
          </p:cNvSpPr>
          <p:nvPr/>
        </p:nvSpPr>
        <p:spPr bwMode="gray">
          <a:xfrm>
            <a:off x="8479126" y="4318226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矩形 120"/>
          <p:cNvSpPr/>
          <p:nvPr/>
        </p:nvSpPr>
        <p:spPr bwMode="gray">
          <a:xfrm>
            <a:off x="8731126" y="4212470"/>
            <a:ext cx="1344773" cy="40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860250" y="2188061"/>
            <a:ext cx="8414049" cy="1775653"/>
          </a:xfrm>
          <a:prstGeom prst="rect">
            <a:avLst/>
          </a:prstGeom>
          <a:solidFill>
            <a:srgbClr val="AFD8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1" name="图片 7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92065" y="2638571"/>
            <a:ext cx="540000" cy="442800"/>
          </a:xfrm>
          <a:prstGeom prst="rect">
            <a:avLst/>
          </a:prstGeom>
        </p:spPr>
      </p:pic>
      <p:sp>
        <p:nvSpPr>
          <p:cNvPr id="74" name="Text Box 138"/>
          <p:cNvSpPr txBox="1">
            <a:spLocks noChangeArrowheads="1"/>
          </p:cNvSpPr>
          <p:nvPr/>
        </p:nvSpPr>
        <p:spPr bwMode="gray">
          <a:xfrm>
            <a:off x="3885347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75" name="直接连接符 74"/>
          <p:cNvCxnSpPr>
            <a:stCxn id="89" idx="1"/>
            <a:endCxn id="71" idx="3"/>
          </p:cNvCxnSpPr>
          <p:nvPr/>
        </p:nvCxnSpPr>
        <p:spPr bwMode="gray">
          <a:xfrm flipH="1" flipV="1">
            <a:off x="2932065" y="2859971"/>
            <a:ext cx="1240746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直接连接符 76"/>
          <p:cNvCxnSpPr>
            <a:stCxn id="88" idx="1"/>
            <a:endCxn id="90" idx="3"/>
          </p:cNvCxnSpPr>
          <p:nvPr/>
        </p:nvCxnSpPr>
        <p:spPr bwMode="gray">
          <a:xfrm flipH="1">
            <a:off x="7801839" y="2859971"/>
            <a:ext cx="1505532" cy="1075345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ext Box 138"/>
          <p:cNvSpPr txBox="1">
            <a:spLocks noChangeArrowheads="1"/>
          </p:cNvSpPr>
          <p:nvPr/>
        </p:nvSpPr>
        <p:spPr bwMode="gray">
          <a:xfrm>
            <a:off x="2050770" y="2272437"/>
            <a:ext cx="1197189" cy="39001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CE1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0" name="Text Box 138"/>
          <p:cNvSpPr txBox="1">
            <a:spLocks noChangeArrowheads="1"/>
          </p:cNvSpPr>
          <p:nvPr/>
        </p:nvSpPr>
        <p:spPr bwMode="gray">
          <a:xfrm>
            <a:off x="8943524" y="2272437"/>
            <a:ext cx="1226125" cy="3821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lvl="0" algn="ctr" defTabSz="7810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企业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 CE2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2107008" y="3052444"/>
            <a:ext cx="1229422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8" name="图片 8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307371" y="2638571"/>
            <a:ext cx="540000" cy="442800"/>
          </a:xfrm>
          <a:prstGeom prst="rect">
            <a:avLst/>
          </a:prstGeom>
        </p:spPr>
      </p:pic>
      <p:pic>
        <p:nvPicPr>
          <p:cNvPr id="89" name="图片 8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2811" y="3713916"/>
            <a:ext cx="540000" cy="442800"/>
          </a:xfrm>
          <a:prstGeom prst="rect">
            <a:avLst/>
          </a:prstGeom>
        </p:spPr>
      </p:pic>
      <p:pic>
        <p:nvPicPr>
          <p:cNvPr id="90" name="图片 8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61839" y="3713916"/>
            <a:ext cx="540000" cy="442800"/>
          </a:xfrm>
          <a:prstGeom prst="rect">
            <a:avLst/>
          </a:prstGeom>
        </p:spPr>
      </p:pic>
      <p:cxnSp>
        <p:nvCxnSpPr>
          <p:cNvPr id="91" name="直接连接符 90"/>
          <p:cNvCxnSpPr>
            <a:stCxn id="90" idx="1"/>
            <a:endCxn id="89" idx="3"/>
          </p:cNvCxnSpPr>
          <p:nvPr/>
        </p:nvCxnSpPr>
        <p:spPr bwMode="gray">
          <a:xfrm flipH="1">
            <a:off x="4712811" y="3935316"/>
            <a:ext cx="2549028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Text Box 138"/>
          <p:cNvSpPr txBox="1">
            <a:spLocks noChangeArrowheads="1"/>
          </p:cNvSpPr>
          <p:nvPr/>
        </p:nvSpPr>
        <p:spPr bwMode="gray">
          <a:xfrm>
            <a:off x="6980341" y="4213384"/>
            <a:ext cx="1114928" cy="3652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7159" tIns="38579" rIns="77159" bIns="38579">
            <a:noAutofit/>
          </a:bodyPr>
          <a:lstStyle/>
          <a:p>
            <a:pPr marL="0" marR="0" lvl="0" indent="0" algn="ctr" defTabSz="78105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8950934" y="3052444"/>
            <a:ext cx="1184124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9" name="组合 98"/>
          <p:cNvGrpSpPr/>
          <p:nvPr/>
        </p:nvGrpSpPr>
        <p:grpSpPr bwMode="gray">
          <a:xfrm>
            <a:off x="7222075" y="3078855"/>
            <a:ext cx="718154" cy="531999"/>
            <a:chOff x="4028299" y="3596545"/>
            <a:chExt cx="718154" cy="531999"/>
          </a:xfrm>
          <a:solidFill>
            <a:srgbClr val="DD80AA"/>
          </a:solidFill>
        </p:grpSpPr>
        <p:sp>
          <p:nvSpPr>
            <p:cNvPr id="100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rgbClr val="EBB3CC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A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01" name="Text Box 138"/>
            <p:cNvSpPr txBox="1">
              <a:spLocks noChangeArrowheads="1"/>
            </p:cNvSpPr>
            <p:nvPr/>
          </p:nvSpPr>
          <p:spPr bwMode="gray">
            <a:xfrm>
              <a:off x="406383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A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 bwMode="gray">
          <a:xfrm>
            <a:off x="4645773" y="3592962"/>
            <a:ext cx="649451" cy="276999"/>
            <a:chOff x="4688075" y="3846294"/>
            <a:chExt cx="649451" cy="276999"/>
          </a:xfrm>
          <a:solidFill>
            <a:srgbClr val="FAD3BB"/>
          </a:solidFill>
        </p:grpSpPr>
        <p:sp>
          <p:nvSpPr>
            <p:cNvPr id="125" name="Can 9"/>
            <p:cNvSpPr/>
            <p:nvPr/>
          </p:nvSpPr>
          <p:spPr bwMode="gray">
            <a:xfrm rot="5400000">
              <a:off x="4886731" y="3665858"/>
              <a:ext cx="253196" cy="648394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文本框 125"/>
            <p:cNvSpPr txBox="1"/>
            <p:nvPr/>
          </p:nvSpPr>
          <p:spPr bwMode="gray">
            <a:xfrm>
              <a:off x="4688075" y="3846294"/>
              <a:ext cx="58136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A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40" name="矩形 139"/>
          <p:cNvSpPr/>
          <p:nvPr/>
        </p:nvSpPr>
        <p:spPr bwMode="gray">
          <a:xfrm>
            <a:off x="4646830" y="2657545"/>
            <a:ext cx="356819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192.168.1.1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访问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9" name="组合 108"/>
          <p:cNvGrpSpPr/>
          <p:nvPr/>
        </p:nvGrpSpPr>
        <p:grpSpPr bwMode="gray">
          <a:xfrm>
            <a:off x="5118754" y="3546428"/>
            <a:ext cx="1678827" cy="761101"/>
            <a:chOff x="5161056" y="3799760"/>
            <a:chExt cx="1678827" cy="761101"/>
          </a:xfrm>
          <a:solidFill>
            <a:srgbClr val="30B5C5"/>
          </a:solidFill>
        </p:grpSpPr>
        <p:sp>
          <p:nvSpPr>
            <p:cNvPr id="110" name="Can 225"/>
            <p:cNvSpPr/>
            <p:nvPr/>
          </p:nvSpPr>
          <p:spPr bwMode="gray">
            <a:xfrm rot="5400000">
              <a:off x="5619919" y="3340897"/>
              <a:ext cx="761101" cy="1678827"/>
            </a:xfrm>
            <a:prstGeom prst="can">
              <a:avLst>
                <a:gd name="adj" fmla="val 40000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3" name="矩形 122"/>
            <p:cNvSpPr/>
            <p:nvPr/>
          </p:nvSpPr>
          <p:spPr bwMode="gray">
            <a:xfrm>
              <a:off x="5485703" y="3917403"/>
              <a:ext cx="923036" cy="41992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defTabSz="1078230"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 bwMode="gray">
          <a:xfrm>
            <a:off x="6582699" y="3592962"/>
            <a:ext cx="649450" cy="276999"/>
            <a:chOff x="6625001" y="3846294"/>
            <a:chExt cx="649450" cy="276999"/>
          </a:xfrm>
          <a:solidFill>
            <a:srgbClr val="FAD3BB"/>
          </a:solidFill>
        </p:grpSpPr>
        <p:sp>
          <p:nvSpPr>
            <p:cNvPr id="128" name="Can 9"/>
            <p:cNvSpPr/>
            <p:nvPr/>
          </p:nvSpPr>
          <p:spPr bwMode="gray">
            <a:xfrm rot="5400000">
              <a:off x="6823656" y="3665858"/>
              <a:ext cx="253196" cy="648394"/>
            </a:xfrm>
            <a:prstGeom prst="can">
              <a:avLst>
                <a:gd name="adj" fmla="val 40000"/>
              </a:avLst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9" name="文本框 128"/>
            <p:cNvSpPr txBox="1"/>
            <p:nvPr/>
          </p:nvSpPr>
          <p:spPr bwMode="gray">
            <a:xfrm>
              <a:off x="6625001" y="3846294"/>
              <a:ext cx="581366" cy="2769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PW A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7" name="组合 66"/>
          <p:cNvGrpSpPr/>
          <p:nvPr/>
        </p:nvGrpSpPr>
        <p:grpSpPr bwMode="gray">
          <a:xfrm>
            <a:off x="3938768" y="3078855"/>
            <a:ext cx="718154" cy="531999"/>
            <a:chOff x="4028299" y="3596545"/>
            <a:chExt cx="718154" cy="531999"/>
          </a:xfrm>
          <a:solidFill>
            <a:srgbClr val="DD80AA"/>
          </a:solidFill>
        </p:grpSpPr>
        <p:sp>
          <p:nvSpPr>
            <p:cNvPr id="68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solidFill>
              <a:srgbClr val="EBB3CC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VSI A</a:t>
              </a:r>
              <a:endPara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70" name="Text Box 138"/>
            <p:cNvSpPr txBox="1">
              <a:spLocks noChangeArrowheads="1"/>
            </p:cNvSpPr>
            <p:nvPr/>
          </p:nvSpPr>
          <p:spPr bwMode="gray">
            <a:xfrm>
              <a:off x="4063832" y="3867646"/>
              <a:ext cx="648393" cy="247206"/>
            </a:xfrm>
            <a:prstGeom prst="rect">
              <a:avLst/>
            </a:prstGeom>
            <a:solidFill>
              <a:srgbClr val="62B230"/>
            </a:solidFill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 A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VPLS</a:t>
            </a:r>
            <a:r>
              <a:rPr lang="zh-CN" altLang="en-US">
                <a:sym typeface="Huawei Sans" panose="020C0503030203020204" pitchFamily="34" charset="0"/>
              </a:rPr>
              <a:t>的挑战</a:t>
            </a:r>
            <a:r>
              <a:rPr lang="en-US" altLang="zh-CN">
                <a:sym typeface="Huawei Sans" panose="020C0503030203020204" pitchFamily="34" charset="0"/>
              </a:rPr>
              <a:t>1</a:t>
            </a:r>
            <a:r>
              <a:rPr lang="zh-CN" altLang="en-US">
                <a:sym typeface="Huawei Sans" panose="020C0503030203020204" pitchFamily="34" charset="0"/>
              </a:rPr>
              <a:t>：单活接入导致流量分担不均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双归接入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存在环形拓扑的时候，同交换机的破环技术（</a:t>
            </a:r>
            <a:r>
              <a:rPr lang="en-US" altLang="zh-CN" sz="1800" dirty="0">
                <a:sym typeface="Huawei Sans" panose="020C0503030203020204" pitchFamily="34" charset="0"/>
              </a:rPr>
              <a:t>STP</a:t>
            </a:r>
            <a:r>
              <a:rPr lang="zh-CN" altLang="en-US" sz="1800" dirty="0">
                <a:sym typeface="Huawei Sans" panose="020C0503030203020204" pitchFamily="34" charset="0"/>
              </a:rPr>
              <a:t>）思路一样，采用阻塞一个端口方式形成无环的转发路径。因此</a:t>
            </a:r>
            <a:r>
              <a:rPr lang="en-US" altLang="zh-CN" sz="1800" dirty="0">
                <a:sym typeface="Huawei Sans" panose="020C0503030203020204" pitchFamily="34" charset="0"/>
              </a:rPr>
              <a:t>VPLS</a:t>
            </a:r>
            <a:r>
              <a:rPr lang="zh-CN" altLang="en-US" sz="1800" dirty="0">
                <a:sym typeface="Huawei Sans" panose="020C0503030203020204" pitchFamily="34" charset="0"/>
              </a:rPr>
              <a:t>接入形成了一种主备的模式。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由于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之间只有一条链路转发数据，且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之间的链路无法形成多路径，可能造成部分链路拥塞。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pic>
        <p:nvPicPr>
          <p:cNvPr id="107" name="图片 10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08288" y="3257936"/>
            <a:ext cx="540000" cy="442800"/>
          </a:xfrm>
          <a:prstGeom prst="rect">
            <a:avLst/>
          </a:prstGeom>
        </p:spPr>
      </p:pic>
      <p:cxnSp>
        <p:nvCxnSpPr>
          <p:cNvPr id="108" name="直接连接符 107"/>
          <p:cNvCxnSpPr>
            <a:stCxn id="109" idx="0"/>
            <a:endCxn id="107" idx="2"/>
          </p:cNvCxnSpPr>
          <p:nvPr/>
        </p:nvCxnSpPr>
        <p:spPr bwMode="gray">
          <a:xfrm flipV="1">
            <a:off x="4078288" y="3700736"/>
            <a:ext cx="0" cy="1087276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9" name="图片 10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08288" y="4788012"/>
            <a:ext cx="540000" cy="442800"/>
          </a:xfrm>
          <a:prstGeom prst="rect">
            <a:avLst/>
          </a:prstGeom>
        </p:spPr>
      </p:pic>
      <p:pic>
        <p:nvPicPr>
          <p:cNvPr id="113" name="图片 1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89488" y="3257936"/>
            <a:ext cx="540000" cy="442800"/>
          </a:xfrm>
          <a:prstGeom prst="rect">
            <a:avLst/>
          </a:prstGeom>
        </p:spPr>
      </p:pic>
      <p:cxnSp>
        <p:nvCxnSpPr>
          <p:cNvPr id="114" name="直接连接符 113"/>
          <p:cNvCxnSpPr>
            <a:stCxn id="115" idx="0"/>
            <a:endCxn id="113" idx="2"/>
          </p:cNvCxnSpPr>
          <p:nvPr/>
        </p:nvCxnSpPr>
        <p:spPr bwMode="gray">
          <a:xfrm flipV="1">
            <a:off x="6059488" y="3700736"/>
            <a:ext cx="0" cy="1087276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5" name="图片 11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89488" y="4788012"/>
            <a:ext cx="540000" cy="442800"/>
          </a:xfrm>
          <a:prstGeom prst="rect">
            <a:avLst/>
          </a:prstGeom>
        </p:spPr>
      </p:pic>
      <p:pic>
        <p:nvPicPr>
          <p:cNvPr id="116" name="图片 1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48587" y="3257936"/>
            <a:ext cx="540000" cy="442800"/>
          </a:xfrm>
          <a:prstGeom prst="rect">
            <a:avLst/>
          </a:prstGeom>
        </p:spPr>
      </p:pic>
      <p:cxnSp>
        <p:nvCxnSpPr>
          <p:cNvPr id="117" name="直接连接符 116"/>
          <p:cNvCxnSpPr>
            <a:stCxn id="118" idx="0"/>
            <a:endCxn id="116" idx="2"/>
          </p:cNvCxnSpPr>
          <p:nvPr/>
        </p:nvCxnSpPr>
        <p:spPr bwMode="gray">
          <a:xfrm flipV="1">
            <a:off x="8018587" y="3700736"/>
            <a:ext cx="0" cy="1087276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18" name="图片 11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48587" y="4788012"/>
            <a:ext cx="540000" cy="442800"/>
          </a:xfrm>
          <a:prstGeom prst="rect">
            <a:avLst/>
          </a:prstGeom>
        </p:spPr>
      </p:pic>
      <p:pic>
        <p:nvPicPr>
          <p:cNvPr id="120" name="图片 1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039453" y="4010274"/>
            <a:ext cx="540000" cy="442800"/>
          </a:xfrm>
          <a:prstGeom prst="rect">
            <a:avLst/>
          </a:prstGeom>
        </p:spPr>
      </p:pic>
      <p:cxnSp>
        <p:nvCxnSpPr>
          <p:cNvPr id="121" name="直接连接符 120"/>
          <p:cNvCxnSpPr>
            <a:stCxn id="107" idx="1"/>
            <a:endCxn id="120" idx="3"/>
          </p:cNvCxnSpPr>
          <p:nvPr/>
        </p:nvCxnSpPr>
        <p:spPr bwMode="gray">
          <a:xfrm flipH="1">
            <a:off x="2579453" y="3479336"/>
            <a:ext cx="1228835" cy="7523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直接连接符 124"/>
          <p:cNvCxnSpPr>
            <a:stCxn id="109" idx="1"/>
            <a:endCxn id="120" idx="3"/>
          </p:cNvCxnSpPr>
          <p:nvPr/>
        </p:nvCxnSpPr>
        <p:spPr bwMode="gray">
          <a:xfrm flipH="1" flipV="1">
            <a:off x="2579453" y="4231674"/>
            <a:ext cx="1228835" cy="777738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8" name="图片 12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00680" y="4010274"/>
            <a:ext cx="540000" cy="442800"/>
          </a:xfrm>
          <a:prstGeom prst="rect">
            <a:avLst/>
          </a:prstGeom>
        </p:spPr>
      </p:pic>
      <p:cxnSp>
        <p:nvCxnSpPr>
          <p:cNvPr id="129" name="直接连接符 128"/>
          <p:cNvCxnSpPr>
            <a:stCxn id="116" idx="3"/>
            <a:endCxn id="128" idx="1"/>
          </p:cNvCxnSpPr>
          <p:nvPr/>
        </p:nvCxnSpPr>
        <p:spPr bwMode="gray">
          <a:xfrm>
            <a:off x="8288587" y="3479336"/>
            <a:ext cx="1312093" cy="7523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/>
          <p:cNvCxnSpPr>
            <a:stCxn id="128" idx="1"/>
            <a:endCxn id="118" idx="3"/>
          </p:cNvCxnSpPr>
          <p:nvPr/>
        </p:nvCxnSpPr>
        <p:spPr bwMode="gray">
          <a:xfrm flipH="1">
            <a:off x="8288587" y="4231674"/>
            <a:ext cx="1312093" cy="777738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>
            <a:stCxn id="107" idx="3"/>
            <a:endCxn id="113" idx="1"/>
          </p:cNvCxnSpPr>
          <p:nvPr/>
        </p:nvCxnSpPr>
        <p:spPr bwMode="gray">
          <a:xfrm>
            <a:off x="4348288" y="3479336"/>
            <a:ext cx="1441200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>
            <a:stCxn id="113" idx="3"/>
            <a:endCxn id="116" idx="1"/>
          </p:cNvCxnSpPr>
          <p:nvPr/>
        </p:nvCxnSpPr>
        <p:spPr bwMode="gray">
          <a:xfrm>
            <a:off x="6329488" y="3479336"/>
            <a:ext cx="141909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gray">
          <a:xfrm>
            <a:off x="4348288" y="5009412"/>
            <a:ext cx="1441200" cy="0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gray">
          <a:xfrm>
            <a:off x="6329488" y="5009412"/>
            <a:ext cx="1419099" cy="0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9" name="文本框 168"/>
          <p:cNvSpPr txBox="1"/>
          <p:nvPr/>
        </p:nvSpPr>
        <p:spPr bwMode="gray">
          <a:xfrm>
            <a:off x="2029010" y="4536952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文本框 169"/>
          <p:cNvSpPr txBox="1"/>
          <p:nvPr/>
        </p:nvSpPr>
        <p:spPr bwMode="gray">
          <a:xfrm>
            <a:off x="9625663" y="4536952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文本框 170"/>
          <p:cNvSpPr txBox="1"/>
          <p:nvPr/>
        </p:nvSpPr>
        <p:spPr bwMode="gray">
          <a:xfrm>
            <a:off x="3797041" y="2886638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文本框 171"/>
          <p:cNvSpPr txBox="1"/>
          <p:nvPr/>
        </p:nvSpPr>
        <p:spPr bwMode="gray">
          <a:xfrm>
            <a:off x="3797041" y="5291337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文本框 172"/>
          <p:cNvSpPr txBox="1"/>
          <p:nvPr/>
        </p:nvSpPr>
        <p:spPr bwMode="gray">
          <a:xfrm>
            <a:off x="7759275" y="2886638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文本框 173"/>
          <p:cNvSpPr txBox="1"/>
          <p:nvPr/>
        </p:nvSpPr>
        <p:spPr bwMode="gray">
          <a:xfrm>
            <a:off x="7759275" y="5291337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文本框 174"/>
          <p:cNvSpPr txBox="1"/>
          <p:nvPr/>
        </p:nvSpPr>
        <p:spPr bwMode="gray">
          <a:xfrm>
            <a:off x="5928007" y="2886638"/>
            <a:ext cx="52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6" name="文本框 175"/>
          <p:cNvSpPr txBox="1"/>
          <p:nvPr/>
        </p:nvSpPr>
        <p:spPr bwMode="gray">
          <a:xfrm>
            <a:off x="5928007" y="5291337"/>
            <a:ext cx="52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文本框 176"/>
          <p:cNvSpPr txBox="1"/>
          <p:nvPr/>
        </p:nvSpPr>
        <p:spPr bwMode="gray">
          <a:xfrm>
            <a:off x="2371910" y="5655973"/>
            <a:ext cx="3459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间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Standby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链路不转发数据。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8" name="文本框 177"/>
          <p:cNvSpPr txBox="1"/>
          <p:nvPr/>
        </p:nvSpPr>
        <p:spPr bwMode="gray">
          <a:xfrm rot="19661010">
            <a:off x="2900688" y="3870011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Active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9" name="文本框 178"/>
          <p:cNvSpPr txBox="1"/>
          <p:nvPr/>
        </p:nvSpPr>
        <p:spPr bwMode="gray">
          <a:xfrm rot="1923204">
            <a:off x="2675815" y="4715143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Standby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2" name="Oval 4"/>
          <p:cNvSpPr>
            <a:spLocks noChangeAspect="1"/>
          </p:cNvSpPr>
          <p:nvPr/>
        </p:nvSpPr>
        <p:spPr bwMode="gray">
          <a:xfrm>
            <a:off x="2130353" y="5679259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83" name="组合 28"/>
          <p:cNvGrpSpPr>
            <a:grpSpLocks noChangeAspect="1"/>
          </p:cNvGrpSpPr>
          <p:nvPr/>
        </p:nvGrpSpPr>
        <p:grpSpPr bwMode="gray">
          <a:xfrm>
            <a:off x="3080870" y="4474004"/>
            <a:ext cx="288969" cy="288969"/>
            <a:chOff x="5076056" y="3356992"/>
            <a:chExt cx="436268" cy="436268"/>
          </a:xfrm>
        </p:grpSpPr>
        <p:sp>
          <p:nvSpPr>
            <p:cNvPr id="184" name="椭圆 27"/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5" name="禁止符 23"/>
            <p:cNvSpPr/>
            <p:nvPr/>
          </p:nvSpPr>
          <p:spPr bwMode="gray">
            <a:xfrm>
              <a:off x="5076056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86" name="文本框 185"/>
          <p:cNvSpPr txBox="1"/>
          <p:nvPr/>
        </p:nvSpPr>
        <p:spPr bwMode="gray">
          <a:xfrm>
            <a:off x="6520639" y="5655973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之间无法形成多路径。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7" name="Oval 4"/>
          <p:cNvSpPr>
            <a:spLocks noChangeAspect="1"/>
          </p:cNvSpPr>
          <p:nvPr/>
        </p:nvSpPr>
        <p:spPr bwMode="gray">
          <a:xfrm>
            <a:off x="6279082" y="5679259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任意多边形 5"/>
          <p:cNvSpPr/>
          <p:nvPr/>
        </p:nvSpPr>
        <p:spPr bwMode="gray">
          <a:xfrm>
            <a:off x="2667000" y="3187700"/>
            <a:ext cx="6870700" cy="762000"/>
          </a:xfrm>
          <a:custGeom>
            <a:avLst/>
            <a:gdLst>
              <a:gd name="connsiteX0" fmla="*/ 0 w 6870700"/>
              <a:gd name="connsiteY0" fmla="*/ 762000 h 762000"/>
              <a:gd name="connsiteX1" fmla="*/ 1130300 w 6870700"/>
              <a:gd name="connsiteY1" fmla="*/ 0 h 762000"/>
              <a:gd name="connsiteX2" fmla="*/ 5664200 w 6870700"/>
              <a:gd name="connsiteY2" fmla="*/ 0 h 762000"/>
              <a:gd name="connsiteX3" fmla="*/ 6870700 w 6870700"/>
              <a:gd name="connsiteY3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0700" h="762000">
                <a:moveTo>
                  <a:pt x="0" y="762000"/>
                </a:moveTo>
                <a:lnTo>
                  <a:pt x="1130300" y="0"/>
                </a:lnTo>
                <a:lnTo>
                  <a:pt x="5664200" y="0"/>
                </a:lnTo>
                <a:lnTo>
                  <a:pt x="6870700" y="762000"/>
                </a:lnTo>
              </a:path>
            </a:pathLst>
          </a:custGeom>
          <a:noFill/>
          <a:ln w="38100">
            <a:solidFill>
              <a:srgbClr val="62B23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VPLS</a:t>
            </a:r>
            <a:r>
              <a:rPr lang="zh-CN" altLang="en-US">
                <a:sym typeface="Huawei Sans" panose="020C0503030203020204" pitchFamily="34" charset="0"/>
              </a:rPr>
              <a:t>的挑战</a:t>
            </a:r>
            <a:r>
              <a:rPr lang="en-US" altLang="zh-CN">
                <a:sym typeface="Huawei Sans" panose="020C0503030203020204" pitchFamily="34" charset="0"/>
              </a:rPr>
              <a:t>2</a:t>
            </a:r>
            <a:r>
              <a:rPr lang="zh-CN" altLang="en-US">
                <a:sym typeface="Huawei Sans" panose="020C0503030203020204" pitchFamily="34" charset="0"/>
              </a:rPr>
              <a:t>：故障收敛速度慢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274962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在感知到链路故障后会向对端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发送</a:t>
            </a:r>
            <a:r>
              <a:rPr lang="en-US" altLang="zh-CN" sz="1800" dirty="0">
                <a:sym typeface="Huawei Sans" panose="020C0503030203020204" pitchFamily="34" charset="0"/>
              </a:rPr>
              <a:t>MAC-Withdraw</a:t>
            </a:r>
            <a:r>
              <a:rPr lang="zh-CN" altLang="en-US" sz="1800" dirty="0">
                <a:sym typeface="Huawei Sans" panose="020C0503030203020204" pitchFamily="34" charset="0"/>
              </a:rPr>
              <a:t>报文，通知删除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相关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地址。同时</a:t>
            </a:r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将备份链路升级为</a:t>
            </a:r>
            <a:r>
              <a:rPr lang="en-US" altLang="zh-CN" sz="1800" dirty="0">
                <a:sym typeface="Huawei Sans" panose="020C0503030203020204" pitchFamily="34" charset="0"/>
              </a:rPr>
              <a:t>Active</a:t>
            </a:r>
            <a:r>
              <a:rPr lang="zh-CN" altLang="en-US" sz="1800" dirty="0">
                <a:sym typeface="Huawei Sans" panose="020C0503030203020204" pitchFamily="34" charset="0"/>
              </a:rPr>
              <a:t>。对端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接收到撤销报文后将清除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地址，重新学习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地址。故障收敛时间与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地址数量强相关。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0" name="Oval 4"/>
          <p:cNvSpPr>
            <a:spLocks noChangeAspect="1"/>
          </p:cNvSpPr>
          <p:nvPr/>
        </p:nvSpPr>
        <p:spPr bwMode="gray">
          <a:xfrm>
            <a:off x="7810055" y="2676029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8103673" y="2406590"/>
            <a:ext cx="34025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检测到故障，发送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MAC-Withdraw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报文通知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清除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（亚秒级）。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Oval 4"/>
          <p:cNvSpPr>
            <a:spLocks noChangeAspect="1"/>
          </p:cNvSpPr>
          <p:nvPr/>
        </p:nvSpPr>
        <p:spPr bwMode="gray">
          <a:xfrm>
            <a:off x="8088789" y="5549493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8352193" y="5443737"/>
            <a:ext cx="2310612" cy="382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链路变为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Active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Oval 4"/>
          <p:cNvSpPr>
            <a:spLocks noChangeAspect="1"/>
          </p:cNvSpPr>
          <p:nvPr/>
        </p:nvSpPr>
        <p:spPr bwMode="gray">
          <a:xfrm>
            <a:off x="1983608" y="2676029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2297524" y="2406590"/>
            <a:ext cx="406699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8230"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MAC-Withdraw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报文清除对应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地址，重新学习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(10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秒左右）。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占位符 2"/>
          <p:cNvSpPr txBox="1"/>
          <p:nvPr/>
        </p:nvSpPr>
        <p:spPr bwMode="gray">
          <a:xfrm>
            <a:off x="468317" y="1233488"/>
            <a:ext cx="11276183" cy="103094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70961" y="3396894"/>
            <a:ext cx="540000" cy="442800"/>
          </a:xfrm>
          <a:prstGeom prst="rect">
            <a:avLst/>
          </a:prstGeom>
        </p:spPr>
      </p:pic>
      <p:cxnSp>
        <p:nvCxnSpPr>
          <p:cNvPr id="70" name="直接连接符 69"/>
          <p:cNvCxnSpPr>
            <a:stCxn id="71" idx="0"/>
            <a:endCxn id="69" idx="2"/>
          </p:cNvCxnSpPr>
          <p:nvPr/>
        </p:nvCxnSpPr>
        <p:spPr bwMode="gray">
          <a:xfrm flipV="1">
            <a:off x="3540961" y="3839694"/>
            <a:ext cx="0" cy="1087276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1" name="图片 7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70961" y="4926970"/>
            <a:ext cx="540000" cy="442800"/>
          </a:xfrm>
          <a:prstGeom prst="rect">
            <a:avLst/>
          </a:prstGeom>
        </p:spPr>
      </p:pic>
      <p:pic>
        <p:nvPicPr>
          <p:cNvPr id="72" name="图片 7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161" y="3396894"/>
            <a:ext cx="540000" cy="442800"/>
          </a:xfrm>
          <a:prstGeom prst="rect">
            <a:avLst/>
          </a:prstGeom>
        </p:spPr>
      </p:pic>
      <p:cxnSp>
        <p:nvCxnSpPr>
          <p:cNvPr id="73" name="直接连接符 72"/>
          <p:cNvCxnSpPr>
            <a:stCxn id="74" idx="0"/>
            <a:endCxn id="72" idx="2"/>
          </p:cNvCxnSpPr>
          <p:nvPr/>
        </p:nvCxnSpPr>
        <p:spPr bwMode="gray">
          <a:xfrm flipV="1">
            <a:off x="5522161" y="3839694"/>
            <a:ext cx="0" cy="1087276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4" name="图片 7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52161" y="4926970"/>
            <a:ext cx="540000" cy="442800"/>
          </a:xfrm>
          <a:prstGeom prst="rect">
            <a:avLst/>
          </a:prstGeom>
        </p:spPr>
      </p:pic>
      <p:pic>
        <p:nvPicPr>
          <p:cNvPr id="75" name="图片 7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11260" y="3396894"/>
            <a:ext cx="540000" cy="442800"/>
          </a:xfrm>
          <a:prstGeom prst="rect">
            <a:avLst/>
          </a:prstGeom>
        </p:spPr>
      </p:pic>
      <p:cxnSp>
        <p:nvCxnSpPr>
          <p:cNvPr id="76" name="直接连接符 75"/>
          <p:cNvCxnSpPr>
            <a:stCxn id="77" idx="0"/>
            <a:endCxn id="75" idx="2"/>
          </p:cNvCxnSpPr>
          <p:nvPr/>
        </p:nvCxnSpPr>
        <p:spPr bwMode="gray">
          <a:xfrm flipV="1">
            <a:off x="7481260" y="3839694"/>
            <a:ext cx="0" cy="1087276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7" name="图片 7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11260" y="4926970"/>
            <a:ext cx="540000" cy="442800"/>
          </a:xfrm>
          <a:prstGeom prst="rect">
            <a:avLst/>
          </a:prstGeom>
        </p:spPr>
      </p:pic>
      <p:pic>
        <p:nvPicPr>
          <p:cNvPr id="78" name="图片 7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502126" y="4149232"/>
            <a:ext cx="540000" cy="442800"/>
          </a:xfrm>
          <a:prstGeom prst="rect">
            <a:avLst/>
          </a:prstGeom>
        </p:spPr>
      </p:pic>
      <p:cxnSp>
        <p:nvCxnSpPr>
          <p:cNvPr id="79" name="直接连接符 78"/>
          <p:cNvCxnSpPr>
            <a:stCxn id="69" idx="1"/>
            <a:endCxn id="78" idx="3"/>
          </p:cNvCxnSpPr>
          <p:nvPr/>
        </p:nvCxnSpPr>
        <p:spPr bwMode="gray">
          <a:xfrm flipH="1">
            <a:off x="2042126" y="3618294"/>
            <a:ext cx="1228835" cy="752338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直接连接符 79"/>
          <p:cNvCxnSpPr>
            <a:stCxn id="71" idx="1"/>
            <a:endCxn id="78" idx="3"/>
          </p:cNvCxnSpPr>
          <p:nvPr/>
        </p:nvCxnSpPr>
        <p:spPr bwMode="gray">
          <a:xfrm flipH="1" flipV="1">
            <a:off x="2042126" y="4370632"/>
            <a:ext cx="1228835" cy="7777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1" name="图片 8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63353" y="4149232"/>
            <a:ext cx="540000" cy="442800"/>
          </a:xfrm>
          <a:prstGeom prst="rect">
            <a:avLst/>
          </a:prstGeom>
        </p:spPr>
      </p:pic>
      <p:cxnSp>
        <p:nvCxnSpPr>
          <p:cNvPr id="82" name="直接连接符 81"/>
          <p:cNvCxnSpPr>
            <a:stCxn id="75" idx="3"/>
            <a:endCxn id="81" idx="1"/>
          </p:cNvCxnSpPr>
          <p:nvPr/>
        </p:nvCxnSpPr>
        <p:spPr bwMode="gray">
          <a:xfrm>
            <a:off x="7751260" y="3618294"/>
            <a:ext cx="1312093" cy="752338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连接符 82"/>
          <p:cNvCxnSpPr>
            <a:stCxn id="81" idx="1"/>
            <a:endCxn id="77" idx="3"/>
          </p:cNvCxnSpPr>
          <p:nvPr/>
        </p:nvCxnSpPr>
        <p:spPr bwMode="gray">
          <a:xfrm flipH="1">
            <a:off x="7751260" y="4370632"/>
            <a:ext cx="1312093" cy="7777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直接连接符 83"/>
          <p:cNvCxnSpPr>
            <a:stCxn id="69" idx="3"/>
            <a:endCxn id="72" idx="1"/>
          </p:cNvCxnSpPr>
          <p:nvPr/>
        </p:nvCxnSpPr>
        <p:spPr bwMode="gray">
          <a:xfrm>
            <a:off x="3810961" y="3618294"/>
            <a:ext cx="1441200" cy="0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直接连接符 84"/>
          <p:cNvCxnSpPr>
            <a:stCxn id="72" idx="3"/>
            <a:endCxn id="75" idx="1"/>
          </p:cNvCxnSpPr>
          <p:nvPr/>
        </p:nvCxnSpPr>
        <p:spPr bwMode="gray">
          <a:xfrm>
            <a:off x="5792161" y="3618294"/>
            <a:ext cx="1419099" cy="0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/>
          <p:nvPr/>
        </p:nvCxnSpPr>
        <p:spPr bwMode="gray">
          <a:xfrm>
            <a:off x="3810961" y="5148370"/>
            <a:ext cx="1441200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连接符 86"/>
          <p:cNvCxnSpPr/>
          <p:nvPr/>
        </p:nvCxnSpPr>
        <p:spPr bwMode="gray">
          <a:xfrm>
            <a:off x="5792161" y="5148370"/>
            <a:ext cx="141909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文本框 87"/>
          <p:cNvSpPr txBox="1"/>
          <p:nvPr/>
        </p:nvSpPr>
        <p:spPr bwMode="gray">
          <a:xfrm>
            <a:off x="1491683" y="4675910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>
            <a:off x="9088336" y="4675910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3259714" y="3025596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>
            <a:off x="3259714" y="5430295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7221948" y="3025596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 bwMode="gray">
          <a:xfrm>
            <a:off x="7221948" y="5430295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 bwMode="gray">
          <a:xfrm>
            <a:off x="5390680" y="3025596"/>
            <a:ext cx="52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5390680" y="5430295"/>
            <a:ext cx="529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 bwMode="gray">
          <a:xfrm rot="1897837">
            <a:off x="2455348" y="4517688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Active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8" name="组合 28"/>
          <p:cNvGrpSpPr>
            <a:grpSpLocks noChangeAspect="1"/>
          </p:cNvGrpSpPr>
          <p:nvPr/>
        </p:nvGrpSpPr>
        <p:grpSpPr bwMode="gray">
          <a:xfrm>
            <a:off x="8270101" y="3889277"/>
            <a:ext cx="288969" cy="288969"/>
            <a:chOff x="5076056" y="3356992"/>
            <a:chExt cx="436268" cy="436268"/>
          </a:xfrm>
        </p:grpSpPr>
        <p:sp>
          <p:nvSpPr>
            <p:cNvPr id="99" name="椭圆 27"/>
            <p:cNvSpPr/>
            <p:nvPr/>
          </p:nvSpPr>
          <p:spPr bwMode="gray">
            <a:xfrm>
              <a:off x="5076056" y="3356992"/>
              <a:ext cx="432048" cy="43204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7842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0" name="禁止符 23"/>
            <p:cNvSpPr/>
            <p:nvPr/>
          </p:nvSpPr>
          <p:spPr bwMode="gray">
            <a:xfrm>
              <a:off x="5076056" y="3356992"/>
              <a:ext cx="436268" cy="436268"/>
            </a:xfrm>
            <a:prstGeom prst="noSmoking">
              <a:avLst>
                <a:gd name="adj" fmla="val 15475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1" name="任意多边形 100"/>
          <p:cNvSpPr/>
          <p:nvPr/>
        </p:nvSpPr>
        <p:spPr bwMode="gray">
          <a:xfrm flipV="1">
            <a:off x="2069762" y="4633464"/>
            <a:ext cx="6870700" cy="762000"/>
          </a:xfrm>
          <a:custGeom>
            <a:avLst/>
            <a:gdLst>
              <a:gd name="connsiteX0" fmla="*/ 0 w 6870700"/>
              <a:gd name="connsiteY0" fmla="*/ 762000 h 762000"/>
              <a:gd name="connsiteX1" fmla="*/ 1130300 w 6870700"/>
              <a:gd name="connsiteY1" fmla="*/ 0 h 762000"/>
              <a:gd name="connsiteX2" fmla="*/ 5664200 w 6870700"/>
              <a:gd name="connsiteY2" fmla="*/ 0 h 762000"/>
              <a:gd name="connsiteX3" fmla="*/ 6870700 w 6870700"/>
              <a:gd name="connsiteY3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0700" h="762000">
                <a:moveTo>
                  <a:pt x="0" y="762000"/>
                </a:moveTo>
                <a:lnTo>
                  <a:pt x="1130300" y="0"/>
                </a:lnTo>
                <a:lnTo>
                  <a:pt x="5664200" y="0"/>
                </a:lnTo>
                <a:lnTo>
                  <a:pt x="6870700" y="762000"/>
                </a:lnTo>
              </a:path>
            </a:pathLst>
          </a:custGeom>
          <a:noFill/>
          <a:ln w="38100">
            <a:solidFill>
              <a:srgbClr val="62B23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896696"/>
          </a:xfrm>
        </p:spPr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sym typeface="Huawei Sans" panose="020C0503030203020204" pitchFamily="34" charset="0"/>
              </a:rPr>
              <a:t>颠覆了传统</a:t>
            </a:r>
            <a:r>
              <a:rPr lang="en-US" altLang="zh-CN" sz="1600" dirty="0">
                <a:sym typeface="Huawei Sans" panose="020C0503030203020204" pitchFamily="34" charset="0"/>
              </a:rPr>
              <a:t>L2VPN</a:t>
            </a:r>
            <a:r>
              <a:rPr lang="zh-CN" altLang="en-US" sz="1600" dirty="0">
                <a:sym typeface="Huawei Sans" panose="020C0503030203020204" pitchFamily="34" charset="0"/>
              </a:rPr>
              <a:t>数据面学习</a:t>
            </a:r>
            <a:r>
              <a:rPr lang="en-US" altLang="zh-CN" sz="1600" dirty="0"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ym typeface="Huawei Sans" panose="020C0503030203020204" pitchFamily="34" charset="0"/>
              </a:rPr>
              <a:t>地址的方式，引入控制面学习</a:t>
            </a:r>
            <a:r>
              <a:rPr lang="en-US" altLang="zh-CN" sz="1600" dirty="0"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指导数据转发，实现了转控分离。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sym typeface="Huawei Sans" panose="020C0503030203020204" pitchFamily="34" charset="0"/>
              </a:rPr>
              <a:t>解决传统</a:t>
            </a:r>
            <a:r>
              <a:rPr lang="en-US" altLang="zh-CN" sz="1600" dirty="0">
                <a:sym typeface="Huawei Sans" panose="020C0503030203020204" pitchFamily="34" charset="0"/>
              </a:rPr>
              <a:t>L2VPN</a:t>
            </a:r>
            <a:r>
              <a:rPr lang="zh-CN" altLang="en-US" sz="1600" dirty="0">
                <a:sym typeface="Huawei Sans" panose="020C0503030203020204" pitchFamily="34" charset="0"/>
              </a:rPr>
              <a:t>的典型问题，实现双活、快速收敛、简化运维等价值。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sym typeface="Huawei Sans" panose="020C0503030203020204" pitchFamily="34" charset="0"/>
              </a:rPr>
              <a:t>的控制平面采用</a:t>
            </a:r>
            <a:r>
              <a:rPr lang="en-US" altLang="zh-CN" sz="1600" dirty="0">
                <a:sym typeface="Huawei Sans" panose="020C0503030203020204" pitchFamily="34" charset="0"/>
              </a:rPr>
              <a:t>MP-BGP</a:t>
            </a:r>
            <a:r>
              <a:rPr lang="zh-CN" altLang="en-US" sz="1600" dirty="0">
                <a:sym typeface="Huawei Sans" panose="020C0503030203020204" pitchFamily="34" charset="0"/>
              </a:rPr>
              <a:t>，数据平面支持多种类型的隧道，例如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GRE</a:t>
            </a:r>
            <a:r>
              <a:rPr lang="zh-CN" altLang="en-US" sz="1600" dirty="0">
                <a:sym typeface="Huawei Sans" panose="020C0503030203020204" pitchFamily="34" charset="0"/>
              </a:rPr>
              <a:t>隧道、</a:t>
            </a:r>
            <a:r>
              <a:rPr lang="en-US" altLang="zh-CN" sz="1600" dirty="0">
                <a:sym typeface="Huawei Sans" panose="020C0503030203020204" pitchFamily="34" charset="0"/>
              </a:rPr>
              <a:t>SRv6</a:t>
            </a:r>
            <a:r>
              <a:rPr lang="zh-CN" altLang="en-US" sz="1600" dirty="0">
                <a:sym typeface="Huawei Sans" panose="020C0503030203020204" pitchFamily="34" charset="0"/>
              </a:rPr>
              <a:t>。本课程以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作为外层隧道转发技术进行讲解。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39331" y="3253122"/>
            <a:ext cx="540000" cy="442800"/>
          </a:xfrm>
          <a:prstGeom prst="rect">
            <a:avLst/>
          </a:prstGeom>
        </p:spPr>
      </p:pic>
      <p:cxnSp>
        <p:nvCxnSpPr>
          <p:cNvPr id="9" name="直接连接符 8"/>
          <p:cNvCxnSpPr>
            <a:stCxn id="10" idx="0"/>
            <a:endCxn id="8" idx="2"/>
          </p:cNvCxnSpPr>
          <p:nvPr/>
        </p:nvCxnSpPr>
        <p:spPr bwMode="gray">
          <a:xfrm flipV="1">
            <a:off x="3809331" y="3695922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图片 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539331" y="4783198"/>
            <a:ext cx="540000" cy="4428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98430" y="3253122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13" idx="0"/>
            <a:endCxn id="11" idx="2"/>
          </p:cNvCxnSpPr>
          <p:nvPr/>
        </p:nvCxnSpPr>
        <p:spPr bwMode="gray">
          <a:xfrm flipV="1">
            <a:off x="5768430" y="3695922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98430" y="4783198"/>
            <a:ext cx="540000" cy="4428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70496" y="4005460"/>
            <a:ext cx="540000" cy="442800"/>
          </a:xfrm>
          <a:prstGeom prst="rect">
            <a:avLst/>
          </a:prstGeom>
        </p:spPr>
      </p:pic>
      <p:cxnSp>
        <p:nvCxnSpPr>
          <p:cNvPr id="15" name="直接连接符 14"/>
          <p:cNvCxnSpPr>
            <a:stCxn id="8" idx="1"/>
            <a:endCxn id="14" idx="3"/>
          </p:cNvCxnSpPr>
          <p:nvPr/>
        </p:nvCxnSpPr>
        <p:spPr bwMode="gray">
          <a:xfrm flipH="1">
            <a:off x="2310496" y="3474522"/>
            <a:ext cx="1228835" cy="752338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连接符 15"/>
          <p:cNvCxnSpPr>
            <a:stCxn id="10" idx="1"/>
            <a:endCxn id="14" idx="3"/>
          </p:cNvCxnSpPr>
          <p:nvPr/>
        </p:nvCxnSpPr>
        <p:spPr bwMode="gray">
          <a:xfrm flipH="1" flipV="1">
            <a:off x="2310496" y="4226860"/>
            <a:ext cx="1228835" cy="777738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350523" y="4005460"/>
            <a:ext cx="540000" cy="442800"/>
          </a:xfrm>
          <a:prstGeom prst="rect">
            <a:avLst/>
          </a:prstGeom>
        </p:spPr>
      </p:pic>
      <p:cxnSp>
        <p:nvCxnSpPr>
          <p:cNvPr id="18" name="直接连接符 17"/>
          <p:cNvCxnSpPr>
            <a:stCxn id="11" idx="3"/>
            <a:endCxn id="17" idx="1"/>
          </p:cNvCxnSpPr>
          <p:nvPr/>
        </p:nvCxnSpPr>
        <p:spPr bwMode="gray">
          <a:xfrm>
            <a:off x="6038430" y="3474522"/>
            <a:ext cx="1312093" cy="752338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>
            <a:stCxn id="17" idx="1"/>
            <a:endCxn id="13" idx="3"/>
          </p:cNvCxnSpPr>
          <p:nvPr/>
        </p:nvCxnSpPr>
        <p:spPr bwMode="gray">
          <a:xfrm flipH="1">
            <a:off x="6038430" y="4226860"/>
            <a:ext cx="1312093" cy="777738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>
            <a:endCxn id="11" idx="1"/>
          </p:cNvCxnSpPr>
          <p:nvPr/>
        </p:nvCxnSpPr>
        <p:spPr bwMode="gray">
          <a:xfrm>
            <a:off x="4079331" y="3474522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/>
          <p:cNvCxnSpPr/>
          <p:nvPr/>
        </p:nvCxnSpPr>
        <p:spPr bwMode="gray">
          <a:xfrm>
            <a:off x="4079331" y="5004598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/>
          <p:cNvSpPr txBox="1"/>
          <p:nvPr/>
        </p:nvSpPr>
        <p:spPr bwMode="gray">
          <a:xfrm>
            <a:off x="1760053" y="4532138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7375506" y="4532138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3528084" y="293567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5509118" y="293567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3528084" y="5225236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5509118" y="5225236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2029172" y="5578086"/>
            <a:ext cx="5723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数据平面：由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标签转发路径组成数据转发路径。只负责数据转发，无需广播泛洪学习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2427461" y="2716635"/>
            <a:ext cx="5698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控制平面：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之间交互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报文，传递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8662616" y="3236394"/>
            <a:ext cx="3086471" cy="23273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2260" indent="-302260" algn="just" defTabSz="913765" fontAlgn="base">
              <a:lnSpc>
                <a:spcPct val="140000"/>
              </a:lnSpc>
              <a:spcBef>
                <a:spcPts val="790"/>
              </a:spcBef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defTabSz="913765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base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base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base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US" altLang="zh-CN" sz="1600" dirty="0"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sym typeface="Huawei Sans" panose="020C0503030203020204" pitchFamily="34" charset="0"/>
              </a:rPr>
              <a:t>其他优势：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支持</a:t>
            </a:r>
            <a:r>
              <a:rPr lang="en-US" altLang="zh-CN" sz="1400" dirty="0"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ym typeface="Huawei Sans" panose="020C0503030203020204" pitchFamily="34" charset="0"/>
              </a:rPr>
              <a:t>多活接入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支持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成员自动发现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环路避免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广播流量优化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支持</a:t>
            </a:r>
            <a:r>
              <a:rPr lang="en-US" altLang="zh-CN" sz="1400" dirty="0">
                <a:sym typeface="Huawei Sans" panose="020C0503030203020204" pitchFamily="34" charset="0"/>
              </a:rPr>
              <a:t>ECMP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cxnSp>
        <p:nvCxnSpPr>
          <p:cNvPr id="26" name="直接箭头连接符 25"/>
          <p:cNvCxnSpPr/>
          <p:nvPr/>
        </p:nvCxnSpPr>
        <p:spPr bwMode="gray">
          <a:xfrm>
            <a:off x="4079331" y="3274228"/>
            <a:ext cx="1419099" cy="0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 bwMode="gray">
          <a:xfrm>
            <a:off x="3949700" y="3760109"/>
            <a:ext cx="0" cy="933502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 bwMode="gray">
          <a:xfrm>
            <a:off x="5626100" y="3760109"/>
            <a:ext cx="0" cy="933502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 bwMode="gray">
          <a:xfrm>
            <a:off x="4079331" y="4783198"/>
            <a:ext cx="1419099" cy="0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 bwMode="gray">
          <a:xfrm>
            <a:off x="4178300" y="3695922"/>
            <a:ext cx="1320130" cy="997689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 bwMode="gray">
          <a:xfrm flipV="1">
            <a:off x="4090069" y="3695922"/>
            <a:ext cx="1408361" cy="963620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 bwMode="gray">
          <a:xfrm flipV="1">
            <a:off x="6292200" y="5162645"/>
            <a:ext cx="540400" cy="0"/>
          </a:xfrm>
          <a:prstGeom prst="straightConnector1">
            <a:avLst/>
          </a:prstGeom>
          <a:ln w="28575">
            <a:solidFill>
              <a:srgbClr val="81C15F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 bwMode="gray">
          <a:xfrm>
            <a:off x="6881934" y="4997125"/>
            <a:ext cx="1521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基本术语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Ethernet Segment</a:t>
            </a:r>
            <a:r>
              <a:rPr lang="zh-CN" altLang="en-US" sz="1800" dirty="0">
                <a:sym typeface="Huawei Sans" panose="020C0503030203020204" pitchFamily="34" charset="0"/>
              </a:rPr>
              <a:t>）代表用户站点（设备或网络）连接到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的一组以太链路，使用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Ethernet Segment Identifier</a:t>
            </a:r>
            <a:r>
              <a:rPr lang="zh-CN" altLang="en-US" sz="1800" dirty="0">
                <a:sym typeface="Huawei Sans" panose="020C0503030203020204" pitchFamily="34" charset="0"/>
              </a:rPr>
              <a:t>）来表示。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EVPN instance</a:t>
            </a:r>
            <a:r>
              <a:rPr lang="zh-CN" altLang="en-US" sz="1800" dirty="0">
                <a:sym typeface="Huawei Sans" panose="020C0503030203020204" pitchFamily="34" charset="0"/>
              </a:rPr>
              <a:t>）代表一个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实例，用于标识一个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客户。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上属于</a:t>
            </a:r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RD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Route Distinguisher</a:t>
            </a:r>
            <a:r>
              <a:rPr lang="zh-CN" altLang="en-US" sz="1800" dirty="0">
                <a:sym typeface="Huawei Sans" panose="020C0503030203020204" pitchFamily="34" charset="0"/>
              </a:rPr>
              <a:t>）是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的唯一标识，用于区分</a:t>
            </a:r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Route Target</a:t>
            </a:r>
            <a:r>
              <a:rPr lang="zh-CN" altLang="en-US" sz="1800" dirty="0">
                <a:sym typeface="Huawei Sans" panose="020C0503030203020204" pitchFamily="34" charset="0"/>
              </a:rPr>
              <a:t>）用于控制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路由的引入。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/>
              <a:t>Designated Forwarder</a:t>
            </a:r>
            <a:r>
              <a:rPr lang="zh-CN" altLang="en-US" sz="1800" dirty="0">
                <a:sym typeface="Huawei Sans" panose="020C0503030203020204" pitchFamily="34" charset="0"/>
              </a:rPr>
              <a:t>）用于在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多归属场景下只转发一份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流量至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ESI Label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EVPN Type 1</a:t>
            </a:r>
            <a:r>
              <a:rPr lang="zh-CN" altLang="en-US" sz="1800" dirty="0">
                <a:sym typeface="Huawei Sans" panose="020C0503030203020204" pitchFamily="34" charset="0"/>
              </a:rPr>
              <a:t>路由所携带的扩展团体属性。在多归场景下，用于实现快速收敛和水平分割。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Broadcast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Unknown unicast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Multicast</a:t>
            </a:r>
            <a:r>
              <a:rPr lang="zh-CN" altLang="en-US" sz="1800" dirty="0">
                <a:sym typeface="Huawei Sans" panose="020C0503030203020204" pitchFamily="34" charset="0"/>
              </a:rPr>
              <a:t>）</a:t>
            </a:r>
            <a:r>
              <a:rPr lang="en-US" altLang="zh-CN" sz="1800" dirty="0">
                <a:sym typeface="Huawei Sans" panose="020C0503030203020204" pitchFamily="34" charset="0"/>
              </a:rPr>
              <a:t>Label</a:t>
            </a:r>
            <a:r>
              <a:rPr lang="zh-CN" altLang="en-US" sz="1800" dirty="0">
                <a:sym typeface="Huawei Sans" panose="020C0503030203020204" pitchFamily="34" charset="0"/>
              </a:rPr>
              <a:t>是由</a:t>
            </a:r>
            <a:r>
              <a:rPr lang="en-US" altLang="zh-CN" sz="1800" dirty="0">
                <a:sym typeface="Huawei Sans" panose="020C0503030203020204" pitchFamily="34" charset="0"/>
              </a:rPr>
              <a:t>Type 3</a:t>
            </a:r>
            <a:r>
              <a:rPr lang="zh-CN" altLang="en-US" sz="1800" dirty="0">
                <a:sym typeface="Huawei Sans" panose="020C0503030203020204" pitchFamily="34" charset="0"/>
              </a:rPr>
              <a:t>路由携带，用于转发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单播</a:t>
            </a:r>
            <a:r>
              <a:rPr lang="en-US" altLang="zh-CN" sz="1800" dirty="0">
                <a:sym typeface="Huawei Sans" panose="020C0503030203020204" pitchFamily="34" charset="0"/>
              </a:rPr>
              <a:t>Label</a:t>
            </a:r>
            <a:r>
              <a:rPr lang="zh-CN" altLang="en-US" sz="1800" dirty="0">
                <a:sym typeface="Huawei Sans" panose="020C0503030203020204" pitchFamily="34" charset="0"/>
              </a:rPr>
              <a:t>由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路由携带，用于转发单播流量。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 bwMode="gray">
          <a:xfrm>
            <a:off x="8108605" y="3664713"/>
            <a:ext cx="1508895" cy="153007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9119595" y="419458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2231309" y="3664713"/>
            <a:ext cx="1508895" cy="153007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基本术语：</a:t>
            </a:r>
            <a:r>
              <a:rPr lang="en-US" altLang="zh-CN" dirty="0">
                <a:sym typeface="Huawei Sans" panose="020C0503030203020204" pitchFamily="34" charset="0"/>
              </a:rPr>
              <a:t>ES</a:t>
            </a:r>
            <a:r>
              <a:rPr lang="zh-CN" altLang="en-US" dirty="0">
                <a:sym typeface="Huawei Sans" panose="020C0503030203020204" pitchFamily="34" charset="0"/>
              </a:rPr>
              <a:t>和</a:t>
            </a:r>
            <a:r>
              <a:rPr lang="en-US" altLang="zh-CN" dirty="0">
                <a:sym typeface="Huawei Sans" panose="020C0503030203020204" pitchFamily="34" charset="0"/>
              </a:rPr>
              <a:t>ESI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1829391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代表用户站点（设备或网络）连接到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的一组以太链路，使用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来表示。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总长度为</a:t>
            </a:r>
            <a:r>
              <a:rPr lang="en-US" altLang="zh-CN" sz="1800" dirty="0">
                <a:sym typeface="Huawei Sans" panose="020C0503030203020204" pitchFamily="34" charset="0"/>
              </a:rPr>
              <a:t>10</a:t>
            </a:r>
            <a:r>
              <a:rPr lang="zh-CN" altLang="en-US" sz="1800" dirty="0">
                <a:sym typeface="Huawei Sans" panose="020C0503030203020204" pitchFamily="34" charset="0"/>
              </a:rPr>
              <a:t>个字节，且在全网范围内唯一。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同一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双归的两个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配置的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必须相同。例如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上配置相同的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sym typeface="Huawei Sans" panose="020C0503030203020204" pitchFamily="34" charset="0"/>
              </a:rPr>
              <a:t>1</a:t>
            </a:r>
            <a:r>
              <a:rPr lang="zh-CN" altLang="en-US" sz="1800" dirty="0">
                <a:sym typeface="Huawei Sans" panose="020C0503030203020204" pitchFamily="34" charset="0"/>
              </a:rPr>
              <a:t>（此处数值仅为方便理解）。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74855" y="3376101"/>
            <a:ext cx="540000" cy="442800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6" idx="0"/>
            <a:endCxn id="4" idx="2"/>
          </p:cNvCxnSpPr>
          <p:nvPr/>
        </p:nvCxnSpPr>
        <p:spPr bwMode="gray">
          <a:xfrm flipV="1">
            <a:off x="4944855" y="3818901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" name="图片 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74855" y="4906177"/>
            <a:ext cx="540000" cy="4428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33954" y="3376101"/>
            <a:ext cx="540000" cy="442800"/>
          </a:xfrm>
          <a:prstGeom prst="rect">
            <a:avLst/>
          </a:prstGeom>
        </p:spPr>
      </p:pic>
      <p:cxnSp>
        <p:nvCxnSpPr>
          <p:cNvPr id="11" name="直接连接符 10"/>
          <p:cNvCxnSpPr>
            <a:stCxn id="12" idx="0"/>
            <a:endCxn id="10" idx="2"/>
          </p:cNvCxnSpPr>
          <p:nvPr/>
        </p:nvCxnSpPr>
        <p:spPr bwMode="gray">
          <a:xfrm flipV="1">
            <a:off x="6903954" y="3818901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图片 1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33954" y="4906177"/>
            <a:ext cx="540000" cy="44280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06020" y="4128439"/>
            <a:ext cx="540000" cy="442800"/>
          </a:xfrm>
          <a:prstGeom prst="rect">
            <a:avLst/>
          </a:prstGeom>
        </p:spPr>
      </p:pic>
      <p:cxnSp>
        <p:nvCxnSpPr>
          <p:cNvPr id="14" name="直接连接符 13"/>
          <p:cNvCxnSpPr>
            <a:stCxn id="4" idx="1"/>
            <a:endCxn id="13" idx="3"/>
          </p:cNvCxnSpPr>
          <p:nvPr/>
        </p:nvCxnSpPr>
        <p:spPr bwMode="gray">
          <a:xfrm flipH="1">
            <a:off x="3446020" y="3597501"/>
            <a:ext cx="1228835" cy="7523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连接符 14"/>
          <p:cNvCxnSpPr>
            <a:stCxn id="6" idx="1"/>
            <a:endCxn id="13" idx="3"/>
          </p:cNvCxnSpPr>
          <p:nvPr/>
        </p:nvCxnSpPr>
        <p:spPr bwMode="gray">
          <a:xfrm flipH="1" flipV="1">
            <a:off x="3446020" y="4349839"/>
            <a:ext cx="1228835" cy="7777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图片 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86047" y="4128439"/>
            <a:ext cx="540000" cy="442800"/>
          </a:xfrm>
          <a:prstGeom prst="rect">
            <a:avLst/>
          </a:prstGeom>
        </p:spPr>
      </p:pic>
      <p:cxnSp>
        <p:nvCxnSpPr>
          <p:cNvPr id="17" name="直接连接符 16"/>
          <p:cNvCxnSpPr>
            <a:stCxn id="10" idx="3"/>
            <a:endCxn id="16" idx="1"/>
          </p:cNvCxnSpPr>
          <p:nvPr/>
        </p:nvCxnSpPr>
        <p:spPr bwMode="gray">
          <a:xfrm>
            <a:off x="7173954" y="3597501"/>
            <a:ext cx="1312093" cy="7523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/>
          <p:cNvCxnSpPr>
            <a:stCxn id="16" idx="1"/>
            <a:endCxn id="12" idx="3"/>
          </p:cNvCxnSpPr>
          <p:nvPr/>
        </p:nvCxnSpPr>
        <p:spPr bwMode="gray">
          <a:xfrm flipH="1">
            <a:off x="7173954" y="4349839"/>
            <a:ext cx="1312093" cy="7777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>
            <a:endCxn id="10" idx="1"/>
          </p:cNvCxnSpPr>
          <p:nvPr/>
        </p:nvCxnSpPr>
        <p:spPr bwMode="gray">
          <a:xfrm>
            <a:off x="5214855" y="3597501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连接符 21"/>
          <p:cNvCxnSpPr/>
          <p:nvPr/>
        </p:nvCxnSpPr>
        <p:spPr bwMode="gray">
          <a:xfrm>
            <a:off x="5214855" y="5127577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文本框 42"/>
          <p:cNvSpPr txBox="1"/>
          <p:nvPr/>
        </p:nvSpPr>
        <p:spPr bwMode="gray">
          <a:xfrm>
            <a:off x="2895577" y="4655117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8511030" y="4655117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6644642" y="5409502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4663608" y="3058653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6644642" y="3058653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2291391" y="419458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 rot="19611148">
            <a:off x="3756374" y="3556115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 rot="2198056">
            <a:off x="3736336" y="4760923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 rot="1983931">
            <a:off x="7417972" y="359004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 rot="19596990">
            <a:off x="7484394" y="478988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663608" y="5409502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ESI</a:t>
            </a:r>
            <a:r>
              <a:rPr lang="zh-CN" altLang="en-US" dirty="0"/>
              <a:t>的格式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42913" y="1975945"/>
            <a:ext cx="5653087" cy="2879555"/>
          </a:xfrm>
        </p:spPr>
        <p:txBody>
          <a:bodyPr/>
          <a:lstStyle/>
          <a:p>
            <a:r>
              <a:rPr lang="en-US" altLang="zh-CN" sz="1600" dirty="0"/>
              <a:t>Type 0</a:t>
            </a:r>
            <a:r>
              <a:rPr lang="zh-CN" altLang="en-US" sz="1600" dirty="0"/>
              <a:t>：</a:t>
            </a:r>
            <a:r>
              <a:rPr lang="en-US" altLang="zh-CN" sz="1600" dirty="0"/>
              <a:t>ESI</a:t>
            </a:r>
            <a:r>
              <a:rPr lang="zh-CN" altLang="en-US" sz="1600" dirty="0"/>
              <a:t>的值由管理员手工配置</a:t>
            </a:r>
            <a:endParaRPr lang="en-US" altLang="zh-CN" sz="1600" dirty="0"/>
          </a:p>
          <a:p>
            <a:r>
              <a:rPr lang="en-US" altLang="zh-CN" sz="1600" dirty="0"/>
              <a:t>Type 1</a:t>
            </a:r>
            <a:r>
              <a:rPr lang="zh-CN" altLang="en-US" sz="1600" dirty="0"/>
              <a:t>：当</a:t>
            </a:r>
            <a:r>
              <a:rPr lang="en-US" altLang="zh-CN" sz="1600" dirty="0"/>
              <a:t>PE</a:t>
            </a:r>
            <a:r>
              <a:rPr lang="zh-CN" altLang="en-US" sz="1600" dirty="0"/>
              <a:t>和</a:t>
            </a:r>
            <a:r>
              <a:rPr lang="en-US" altLang="zh-CN" sz="1600" dirty="0"/>
              <a:t>CE</a:t>
            </a:r>
            <a:r>
              <a:rPr lang="zh-CN" altLang="en-US" sz="1600" dirty="0"/>
              <a:t>之间使用</a:t>
            </a:r>
            <a:r>
              <a:rPr lang="en-US" altLang="zh-CN" sz="1600" dirty="0"/>
              <a:t>LACP</a:t>
            </a:r>
            <a:r>
              <a:rPr lang="zh-CN" altLang="en-US" sz="1600" dirty="0"/>
              <a:t>时，</a:t>
            </a:r>
            <a:r>
              <a:rPr lang="en-US" altLang="zh-CN" sz="1600" dirty="0"/>
              <a:t>ESI</a:t>
            </a:r>
            <a:r>
              <a:rPr lang="zh-CN" altLang="en-US" sz="1600" dirty="0"/>
              <a:t>的值为：</a:t>
            </a:r>
            <a:r>
              <a:rPr lang="en-US" altLang="zh-CN" sz="1600" dirty="0"/>
              <a:t>CE LACP System MAC address (6 Byte) + </a:t>
            </a:r>
            <a:r>
              <a:rPr lang="fr-FR" altLang="zh-CN" sz="1600" dirty="0"/>
              <a:t>CE LACP Port Key (2 B</a:t>
            </a:r>
            <a:r>
              <a:rPr lang="en-US" altLang="zh-CN" sz="1600" dirty="0" err="1"/>
              <a:t>yte</a:t>
            </a:r>
            <a:r>
              <a:rPr lang="fr-FR" altLang="zh-CN" sz="1600" dirty="0"/>
              <a:t>) + 0x00 (1 B</a:t>
            </a:r>
            <a:r>
              <a:rPr lang="en-US" altLang="zh-CN" sz="1600" dirty="0" err="1"/>
              <a:t>yte</a:t>
            </a:r>
            <a:r>
              <a:rPr lang="fr-FR" altLang="zh-CN" sz="1600" dirty="0"/>
              <a:t>)</a:t>
            </a:r>
            <a:endParaRPr lang="fr-FR" altLang="zh-CN" sz="1600" dirty="0"/>
          </a:p>
          <a:p>
            <a:r>
              <a:rPr lang="en-US" altLang="zh-CN" sz="1600" dirty="0"/>
              <a:t>Type 2</a:t>
            </a:r>
            <a:r>
              <a:rPr lang="zh-CN" altLang="en-US" sz="1600" dirty="0"/>
              <a:t>：</a:t>
            </a:r>
            <a:r>
              <a:rPr lang="en-US" altLang="zh-CN" sz="1600" dirty="0"/>
              <a:t>Auto generated  by MSTP</a:t>
            </a:r>
            <a:endParaRPr lang="en-US" altLang="zh-CN" sz="1600" dirty="0"/>
          </a:p>
          <a:p>
            <a:r>
              <a:rPr lang="en-US" altLang="zh-CN" sz="1600" dirty="0"/>
              <a:t>Type 3:  System MAC  + Local Discriminator</a:t>
            </a:r>
            <a:endParaRPr lang="en-US" altLang="zh-CN" sz="1600" dirty="0"/>
          </a:p>
          <a:p>
            <a:r>
              <a:rPr lang="en-US" altLang="zh-CN" sz="1600" dirty="0"/>
              <a:t>Type 4:  Router ID + Local Discriminator</a:t>
            </a:r>
            <a:endParaRPr lang="en-US" altLang="zh-CN" sz="1600" dirty="0"/>
          </a:p>
          <a:p>
            <a:r>
              <a:rPr lang="en-US" altLang="zh-CN" sz="1600" dirty="0"/>
              <a:t>Type 5:  AS Number + Local Discriminator</a:t>
            </a:r>
            <a:endParaRPr lang="en-US" altLang="zh-CN" sz="16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 bwMode="gray">
          <a:xfrm>
            <a:off x="599090" y="1185698"/>
            <a:ext cx="1166648" cy="537999"/>
          </a:xfrm>
          <a:prstGeom prst="rect">
            <a:avLst/>
          </a:prstGeom>
          <a:solidFill>
            <a:srgbClr val="56C4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Type</a:t>
            </a:r>
            <a:endParaRPr lang="en-US" altLang="zh-CN" dirty="0"/>
          </a:p>
          <a:p>
            <a:pPr algn="ctr"/>
            <a:r>
              <a:rPr lang="en-US" altLang="zh-CN" dirty="0"/>
              <a:t>(1 Byte)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gray">
          <a:xfrm>
            <a:off x="1765738" y="1185698"/>
            <a:ext cx="2301765" cy="537999"/>
          </a:xfrm>
          <a:prstGeom prst="rect">
            <a:avLst/>
          </a:prstGeom>
          <a:solidFill>
            <a:srgbClr val="56C4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ESI Value </a:t>
            </a:r>
            <a:endParaRPr lang="en-US" altLang="zh-CN" dirty="0"/>
          </a:p>
          <a:p>
            <a:pPr algn="ctr"/>
            <a:r>
              <a:rPr lang="en-US" altLang="zh-CN" dirty="0"/>
              <a:t>(9 Byte)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gray">
          <a:xfrm>
            <a:off x="6253655" y="2174476"/>
            <a:ext cx="536027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/>
              <a:t>[*PE1] interface eth-trunk 10</a:t>
            </a:r>
            <a:endParaRPr lang="en-US" altLang="zh-CN" sz="1400" dirty="0"/>
          </a:p>
          <a:p>
            <a:r>
              <a:rPr lang="en-US" altLang="zh-CN" sz="1400" dirty="0"/>
              <a:t>[*PE1-Eth-Trunk10] </a:t>
            </a:r>
            <a:r>
              <a:rPr lang="en-US" altLang="zh-CN" sz="1400" dirty="0" err="1"/>
              <a:t>esi</a:t>
            </a:r>
            <a:r>
              <a:rPr lang="en-US" altLang="zh-CN" sz="1400" dirty="0"/>
              <a:t> 0000.1111.2222.1111.1111</a:t>
            </a:r>
            <a:endParaRPr lang="en-US" altLang="zh-CN" sz="1400" dirty="0"/>
          </a:p>
        </p:txBody>
      </p:sp>
      <p:sp>
        <p:nvSpPr>
          <p:cNvPr id="7" name="矩形 6"/>
          <p:cNvSpPr/>
          <p:nvPr/>
        </p:nvSpPr>
        <p:spPr bwMode="gray">
          <a:xfrm>
            <a:off x="6253655" y="3229922"/>
            <a:ext cx="5360276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/>
              <a:t>&lt;PE1&gt; display </a:t>
            </a:r>
            <a:r>
              <a:rPr lang="en-US" altLang="zh-CN" sz="1400" dirty="0" err="1"/>
              <a:t>bgp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all </a:t>
            </a:r>
            <a:r>
              <a:rPr lang="en-US" altLang="zh-CN" sz="1400" dirty="0" err="1"/>
              <a:t>esi</a:t>
            </a:r>
            <a:endParaRPr lang="en-US" altLang="zh-CN" sz="1400" dirty="0"/>
          </a:p>
          <a:p>
            <a:r>
              <a:rPr lang="en-US" altLang="zh-CN" sz="1400" dirty="0"/>
              <a:t>Number of ESI for EVPN address family: 1</a:t>
            </a:r>
            <a:endParaRPr lang="en-US" altLang="zh-CN" sz="1400" dirty="0"/>
          </a:p>
          <a:p>
            <a:r>
              <a:rPr lang="en-US" altLang="zh-CN" sz="1400" dirty="0"/>
              <a:t>         ESI                                  </a:t>
            </a:r>
            <a:r>
              <a:rPr lang="en-US" altLang="zh-CN" sz="1400" dirty="0" err="1"/>
              <a:t>IFName</a:t>
            </a:r>
            <a:r>
              <a:rPr lang="en-US" altLang="zh-CN" sz="1400" dirty="0"/>
              <a:t>/Bridge-domain     </a:t>
            </a:r>
            <a:endParaRPr lang="en-US" altLang="zh-CN" sz="1400" dirty="0"/>
          </a:p>
          <a:p>
            <a:r>
              <a:rPr lang="en-US" altLang="zh-CN" sz="1400" dirty="0"/>
              <a:t> 0000.1111.2222.1111.1111            Eth-Trunk10</a:t>
            </a:r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6253655" y="1723697"/>
            <a:ext cx="4950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静态配置</a:t>
            </a:r>
            <a:r>
              <a:rPr lang="en-US" altLang="zh-CN" sz="1600" dirty="0"/>
              <a:t>ESI</a:t>
            </a:r>
            <a:r>
              <a:rPr lang="zh-CN" altLang="en-US" sz="1600" dirty="0"/>
              <a:t>举例。</a:t>
            </a:r>
            <a:endParaRPr lang="zh-CN" altLang="en-US" sz="1600" dirty="0"/>
          </a:p>
        </p:txBody>
      </p:sp>
      <p:sp>
        <p:nvSpPr>
          <p:cNvPr id="9" name="文本框 8"/>
          <p:cNvSpPr txBox="1"/>
          <p:nvPr/>
        </p:nvSpPr>
        <p:spPr bwMode="gray">
          <a:xfrm>
            <a:off x="6253655" y="2779143"/>
            <a:ext cx="4950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查看</a:t>
            </a:r>
            <a:r>
              <a:rPr lang="en-US" altLang="zh-CN" sz="1600" dirty="0"/>
              <a:t>ESI</a:t>
            </a:r>
            <a:r>
              <a:rPr lang="zh-CN" altLang="en-US" sz="1600" dirty="0"/>
              <a:t>信息。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 bwMode="gray">
          <a:xfrm>
            <a:off x="3616235" y="4813157"/>
            <a:ext cx="2364114" cy="1134058"/>
          </a:xfrm>
          <a:prstGeom prst="rect">
            <a:avLst/>
          </a:pr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流程图: 手动操作 6"/>
          <p:cNvSpPr/>
          <p:nvPr/>
        </p:nvSpPr>
        <p:spPr bwMode="gray">
          <a:xfrm rot="10800000">
            <a:off x="3610969" y="4268080"/>
            <a:ext cx="2369377" cy="54633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6315 w 10000"/>
              <a:gd name="connsiteY2-6" fmla="*/ 10000 h 10000"/>
              <a:gd name="connsiteX3-7" fmla="*/ 2000 w 10000"/>
              <a:gd name="connsiteY3-8" fmla="*/ 10000 h 10000"/>
              <a:gd name="connsiteX4-9" fmla="*/ 0 w 10000"/>
              <a:gd name="connsiteY4-10" fmla="*/ 0 h 10000"/>
              <a:gd name="connsiteX0-11" fmla="*/ 0 w 10000"/>
              <a:gd name="connsiteY0-12" fmla="*/ 0 h 10183"/>
              <a:gd name="connsiteX1-13" fmla="*/ 10000 w 10000"/>
              <a:gd name="connsiteY1-14" fmla="*/ 0 h 10183"/>
              <a:gd name="connsiteX2-15" fmla="*/ 6315 w 10000"/>
              <a:gd name="connsiteY2-16" fmla="*/ 10000 h 10183"/>
              <a:gd name="connsiteX3-17" fmla="*/ 3739 w 10000"/>
              <a:gd name="connsiteY3-18" fmla="*/ 10183 h 10183"/>
              <a:gd name="connsiteX4-19" fmla="*/ 0 w 10000"/>
              <a:gd name="connsiteY4-20" fmla="*/ 0 h 10183"/>
              <a:gd name="connsiteX0-21" fmla="*/ 0 w 10000"/>
              <a:gd name="connsiteY0-22" fmla="*/ 0 h 10593"/>
              <a:gd name="connsiteX1-23" fmla="*/ 10000 w 10000"/>
              <a:gd name="connsiteY1-24" fmla="*/ 0 h 10593"/>
              <a:gd name="connsiteX2-25" fmla="*/ 6026 w 10000"/>
              <a:gd name="connsiteY2-26" fmla="*/ 10593 h 10593"/>
              <a:gd name="connsiteX3-27" fmla="*/ 3739 w 10000"/>
              <a:gd name="connsiteY3-28" fmla="*/ 10183 h 10593"/>
              <a:gd name="connsiteX4-29" fmla="*/ 0 w 10000"/>
              <a:gd name="connsiteY4-30" fmla="*/ 0 h 10593"/>
              <a:gd name="connsiteX0-31" fmla="*/ 0 w 10000"/>
              <a:gd name="connsiteY0-32" fmla="*/ 0 h 10628"/>
              <a:gd name="connsiteX1-33" fmla="*/ 10000 w 10000"/>
              <a:gd name="connsiteY1-34" fmla="*/ 0 h 10628"/>
              <a:gd name="connsiteX2-35" fmla="*/ 6026 w 10000"/>
              <a:gd name="connsiteY2-36" fmla="*/ 10593 h 10628"/>
              <a:gd name="connsiteX3-37" fmla="*/ 3964 w 10000"/>
              <a:gd name="connsiteY3-38" fmla="*/ 10628 h 10628"/>
              <a:gd name="connsiteX4-39" fmla="*/ 0 w 10000"/>
              <a:gd name="connsiteY4-40" fmla="*/ 0 h 106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628">
                <a:moveTo>
                  <a:pt x="0" y="0"/>
                </a:moveTo>
                <a:lnTo>
                  <a:pt x="10000" y="0"/>
                </a:lnTo>
                <a:lnTo>
                  <a:pt x="6026" y="10593"/>
                </a:lnTo>
                <a:lnTo>
                  <a:pt x="3964" y="10628"/>
                </a:lnTo>
                <a:lnTo>
                  <a:pt x="0" y="0"/>
                </a:lnTo>
                <a:close/>
              </a:path>
            </a:pathLst>
          </a:custGeom>
          <a:solidFill>
            <a:srgbClr val="D0E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基本术语：</a:t>
            </a:r>
            <a:r>
              <a:rPr lang="en-US" altLang="zh-CN" dirty="0">
                <a:sym typeface="Huawei Sans" panose="020C0503030203020204" pitchFamily="34" charset="0"/>
              </a:rPr>
              <a:t>EVI</a:t>
            </a:r>
            <a:r>
              <a:rPr lang="zh-CN" altLang="en-US" dirty="0">
                <a:sym typeface="Huawei Sans" panose="020C0503030203020204" pitchFamily="34" charset="0"/>
              </a:rPr>
              <a:t>和</a:t>
            </a:r>
            <a:r>
              <a:rPr lang="en-US" altLang="zh-CN" dirty="0">
                <a:sym typeface="Huawei Sans" panose="020C0503030203020204" pitchFamily="34" charset="0"/>
              </a:rPr>
              <a:t>MAC-VRF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代表一个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实例，用于标识一个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客户。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上属于</a:t>
            </a:r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 bwMode="gray">
          <a:xfrm>
            <a:off x="3986169" y="4723264"/>
            <a:ext cx="1578536" cy="549857"/>
            <a:chOff x="4028299" y="3596545"/>
            <a:chExt cx="718154" cy="549857"/>
          </a:xfrm>
          <a:solidFill>
            <a:srgbClr val="56C4D2"/>
          </a:solidFill>
        </p:grpSpPr>
        <p:sp>
          <p:nvSpPr>
            <p:cNvPr id="47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grpFill/>
            <a:ln w="9525" algn="ctr">
              <a:solidFill>
                <a:schemeClr val="accent5">
                  <a:lumMod val="75000"/>
                </a:schemeClr>
              </a:solidFill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EVI 1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48" name="Text Box 138"/>
            <p:cNvSpPr txBox="1">
              <a:spLocks noChangeArrowheads="1"/>
            </p:cNvSpPr>
            <p:nvPr/>
          </p:nvSpPr>
          <p:spPr bwMode="gray">
            <a:xfrm>
              <a:off x="4059896" y="3854945"/>
              <a:ext cx="648393" cy="291457"/>
            </a:xfrm>
            <a:prstGeom prst="rect">
              <a:avLst/>
            </a:prstGeom>
            <a:grpFill/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MAC-VRF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 bwMode="gray">
          <a:xfrm>
            <a:off x="3986169" y="5375492"/>
            <a:ext cx="1578536" cy="549857"/>
            <a:chOff x="4028299" y="3596545"/>
            <a:chExt cx="718154" cy="549857"/>
          </a:xfrm>
          <a:solidFill>
            <a:srgbClr val="81C15F"/>
          </a:solidFill>
        </p:grpSpPr>
        <p:sp>
          <p:nvSpPr>
            <p:cNvPr id="50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grpFill/>
            <a:ln w="9525" algn="ctr">
              <a:solidFill>
                <a:schemeClr val="accent6">
                  <a:lumMod val="75000"/>
                </a:schemeClr>
              </a:solidFill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EVI 2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51" name="Text Box 138"/>
            <p:cNvSpPr txBox="1">
              <a:spLocks noChangeArrowheads="1"/>
            </p:cNvSpPr>
            <p:nvPr/>
          </p:nvSpPr>
          <p:spPr bwMode="gray">
            <a:xfrm>
              <a:off x="4059896" y="3854945"/>
              <a:ext cx="648393" cy="291457"/>
            </a:xfrm>
            <a:prstGeom prst="rect">
              <a:avLst/>
            </a:prstGeom>
            <a:grpFill/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MAC-VRF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53" name="Can 225"/>
          <p:cNvSpPr/>
          <p:nvPr/>
        </p:nvSpPr>
        <p:spPr bwMode="gray">
          <a:xfrm rot="5400000">
            <a:off x="3094761" y="5082256"/>
            <a:ext cx="1210545" cy="468573"/>
          </a:xfrm>
          <a:prstGeom prst="can">
            <a:avLst>
              <a:gd name="adj" fmla="val 40000"/>
            </a:avLst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Can 225"/>
          <p:cNvSpPr/>
          <p:nvPr/>
        </p:nvSpPr>
        <p:spPr bwMode="gray">
          <a:xfrm rot="5400000">
            <a:off x="3764820" y="4881325"/>
            <a:ext cx="321662" cy="234541"/>
          </a:xfrm>
          <a:prstGeom prst="can">
            <a:avLst>
              <a:gd name="adj" fmla="val 40000"/>
            </a:avLst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Can 225"/>
          <p:cNvSpPr/>
          <p:nvPr/>
        </p:nvSpPr>
        <p:spPr bwMode="gray">
          <a:xfrm rot="5400000">
            <a:off x="5494151" y="4881326"/>
            <a:ext cx="321662" cy="234541"/>
          </a:xfrm>
          <a:prstGeom prst="can">
            <a:avLst>
              <a:gd name="adj" fmla="val 40000"/>
            </a:avLst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Can 225"/>
          <p:cNvSpPr/>
          <p:nvPr/>
        </p:nvSpPr>
        <p:spPr bwMode="gray">
          <a:xfrm rot="5400000">
            <a:off x="5494151" y="5504015"/>
            <a:ext cx="321662" cy="234541"/>
          </a:xfrm>
          <a:prstGeom prst="can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Can 225"/>
          <p:cNvSpPr/>
          <p:nvPr/>
        </p:nvSpPr>
        <p:spPr bwMode="gray">
          <a:xfrm rot="5400000">
            <a:off x="5288571" y="5082256"/>
            <a:ext cx="1210545" cy="468573"/>
          </a:xfrm>
          <a:prstGeom prst="can">
            <a:avLst>
              <a:gd name="adj" fmla="val 40000"/>
            </a:avLst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Can 225"/>
          <p:cNvSpPr/>
          <p:nvPr/>
        </p:nvSpPr>
        <p:spPr bwMode="gray">
          <a:xfrm rot="5400000">
            <a:off x="3764820" y="5529087"/>
            <a:ext cx="321662" cy="234541"/>
          </a:xfrm>
          <a:prstGeom prst="can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6117784" y="4826618"/>
            <a:ext cx="3538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拥有独立的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地址表，可以用于区分不同的业务或客户。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7959408" y="2594750"/>
            <a:ext cx="1508895" cy="153007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8970398" y="312462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2082112" y="2594750"/>
            <a:ext cx="1508895" cy="153007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25658" y="2306138"/>
            <a:ext cx="540000" cy="442800"/>
          </a:xfrm>
          <a:prstGeom prst="rect">
            <a:avLst/>
          </a:prstGeom>
        </p:spPr>
      </p:pic>
      <p:cxnSp>
        <p:nvCxnSpPr>
          <p:cNvPr id="64" name="直接连接符 63"/>
          <p:cNvCxnSpPr>
            <a:stCxn id="65" idx="0"/>
            <a:endCxn id="63" idx="2"/>
          </p:cNvCxnSpPr>
          <p:nvPr/>
        </p:nvCxnSpPr>
        <p:spPr bwMode="gray">
          <a:xfrm flipV="1">
            <a:off x="4795658" y="2748938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5" name="图片 6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25658" y="3836214"/>
            <a:ext cx="540000" cy="442800"/>
          </a:xfrm>
          <a:prstGeom prst="rect">
            <a:avLst/>
          </a:prstGeom>
        </p:spPr>
      </p:pic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84757" y="2306138"/>
            <a:ext cx="540000" cy="442800"/>
          </a:xfrm>
          <a:prstGeom prst="rect">
            <a:avLst/>
          </a:prstGeom>
        </p:spPr>
      </p:pic>
      <p:cxnSp>
        <p:nvCxnSpPr>
          <p:cNvPr id="67" name="直接连接符 66"/>
          <p:cNvCxnSpPr>
            <a:stCxn id="68" idx="0"/>
            <a:endCxn id="66" idx="2"/>
          </p:cNvCxnSpPr>
          <p:nvPr/>
        </p:nvCxnSpPr>
        <p:spPr bwMode="gray">
          <a:xfrm flipV="1">
            <a:off x="6754757" y="2748938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84757" y="3836214"/>
            <a:ext cx="540000" cy="442800"/>
          </a:xfrm>
          <a:prstGeom prst="rect">
            <a:avLst/>
          </a:prstGeom>
        </p:spPr>
      </p:pic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56823" y="3058476"/>
            <a:ext cx="540000" cy="442800"/>
          </a:xfrm>
          <a:prstGeom prst="rect">
            <a:avLst/>
          </a:prstGeom>
        </p:spPr>
      </p:pic>
      <p:cxnSp>
        <p:nvCxnSpPr>
          <p:cNvPr id="70" name="直接连接符 69"/>
          <p:cNvCxnSpPr>
            <a:stCxn id="63" idx="1"/>
            <a:endCxn id="69" idx="3"/>
          </p:cNvCxnSpPr>
          <p:nvPr/>
        </p:nvCxnSpPr>
        <p:spPr bwMode="gray">
          <a:xfrm flipH="1">
            <a:off x="3296823" y="2527538"/>
            <a:ext cx="1228835" cy="7523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/>
          <p:cNvCxnSpPr>
            <a:stCxn id="65" idx="1"/>
            <a:endCxn id="69" idx="3"/>
          </p:cNvCxnSpPr>
          <p:nvPr/>
        </p:nvCxnSpPr>
        <p:spPr bwMode="gray">
          <a:xfrm flipH="1" flipV="1">
            <a:off x="3296823" y="3279876"/>
            <a:ext cx="1228835" cy="7777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2" name="图片 71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36850" y="3058476"/>
            <a:ext cx="540000" cy="442800"/>
          </a:xfrm>
          <a:prstGeom prst="rect">
            <a:avLst/>
          </a:prstGeom>
        </p:spPr>
      </p:pic>
      <p:cxnSp>
        <p:nvCxnSpPr>
          <p:cNvPr id="73" name="直接连接符 72"/>
          <p:cNvCxnSpPr>
            <a:stCxn id="66" idx="3"/>
            <a:endCxn id="72" idx="1"/>
          </p:cNvCxnSpPr>
          <p:nvPr/>
        </p:nvCxnSpPr>
        <p:spPr bwMode="gray">
          <a:xfrm>
            <a:off x="7024757" y="2527538"/>
            <a:ext cx="1312093" cy="7523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直接连接符 73"/>
          <p:cNvCxnSpPr>
            <a:stCxn id="72" idx="1"/>
            <a:endCxn id="68" idx="3"/>
          </p:cNvCxnSpPr>
          <p:nvPr/>
        </p:nvCxnSpPr>
        <p:spPr bwMode="gray">
          <a:xfrm flipH="1">
            <a:off x="7024757" y="3279876"/>
            <a:ext cx="1312093" cy="7777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直接连接符 74"/>
          <p:cNvCxnSpPr>
            <a:endCxn id="66" idx="1"/>
          </p:cNvCxnSpPr>
          <p:nvPr/>
        </p:nvCxnSpPr>
        <p:spPr bwMode="gray">
          <a:xfrm>
            <a:off x="5065658" y="2527538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直接连接符 75"/>
          <p:cNvCxnSpPr/>
          <p:nvPr/>
        </p:nvCxnSpPr>
        <p:spPr bwMode="gray">
          <a:xfrm>
            <a:off x="5065658" y="4057614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文本框 76"/>
          <p:cNvSpPr txBox="1"/>
          <p:nvPr/>
        </p:nvSpPr>
        <p:spPr bwMode="gray">
          <a:xfrm>
            <a:off x="2746380" y="358515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8361833" y="358515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6495445" y="4339539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4514411" y="1988690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6495445" y="1988690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2142194" y="312462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 rot="19611148">
            <a:off x="3607177" y="248615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 rot="2198056">
            <a:off x="3587139" y="369096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 rot="1983931">
            <a:off x="7268775" y="252008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 rot="19596990">
            <a:off x="7335197" y="371992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4514411" y="4339539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流程图: 手动操作 6"/>
          <p:cNvSpPr/>
          <p:nvPr/>
        </p:nvSpPr>
        <p:spPr bwMode="gray">
          <a:xfrm rot="10800000">
            <a:off x="3610969" y="4257331"/>
            <a:ext cx="2369377" cy="52346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6315 w 10000"/>
              <a:gd name="connsiteY2-6" fmla="*/ 10000 h 10000"/>
              <a:gd name="connsiteX3-7" fmla="*/ 2000 w 10000"/>
              <a:gd name="connsiteY3-8" fmla="*/ 10000 h 10000"/>
              <a:gd name="connsiteX4-9" fmla="*/ 0 w 10000"/>
              <a:gd name="connsiteY4-10" fmla="*/ 0 h 10000"/>
              <a:gd name="connsiteX0-11" fmla="*/ 0 w 10000"/>
              <a:gd name="connsiteY0-12" fmla="*/ 0 h 10183"/>
              <a:gd name="connsiteX1-13" fmla="*/ 10000 w 10000"/>
              <a:gd name="connsiteY1-14" fmla="*/ 0 h 10183"/>
              <a:gd name="connsiteX2-15" fmla="*/ 6315 w 10000"/>
              <a:gd name="connsiteY2-16" fmla="*/ 10000 h 10183"/>
              <a:gd name="connsiteX3-17" fmla="*/ 3739 w 10000"/>
              <a:gd name="connsiteY3-18" fmla="*/ 10183 h 10183"/>
              <a:gd name="connsiteX4-19" fmla="*/ 0 w 10000"/>
              <a:gd name="connsiteY4-20" fmla="*/ 0 h 101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183">
                <a:moveTo>
                  <a:pt x="0" y="0"/>
                </a:moveTo>
                <a:lnTo>
                  <a:pt x="10000" y="0"/>
                </a:lnTo>
                <a:lnTo>
                  <a:pt x="6315" y="10000"/>
                </a:lnTo>
                <a:lnTo>
                  <a:pt x="3739" y="101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基本术语：</a:t>
            </a:r>
            <a:r>
              <a:rPr lang="en-US" altLang="zh-CN" dirty="0">
                <a:sym typeface="Huawei Sans" panose="020C0503030203020204" pitchFamily="34" charset="0"/>
              </a:rPr>
              <a:t>RD</a:t>
            </a:r>
            <a:r>
              <a:rPr lang="zh-CN" altLang="en-US" dirty="0">
                <a:sym typeface="Huawei Sans" panose="020C0503030203020204" pitchFamily="34" charset="0"/>
              </a:rPr>
              <a:t>和</a:t>
            </a:r>
            <a:r>
              <a:rPr lang="en-US" altLang="zh-CN" dirty="0">
                <a:sym typeface="Huawei Sans" panose="020C0503030203020204" pitchFamily="34" charset="0"/>
              </a:rPr>
              <a:t>RT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RD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实例的唯一标识，用于区分</a:t>
            </a:r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作用是给路由打标签，用于控制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路由的引入。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 bwMode="gray">
          <a:xfrm>
            <a:off x="3564078" y="4689639"/>
            <a:ext cx="2639016" cy="549857"/>
            <a:chOff x="4028299" y="3596545"/>
            <a:chExt cx="718154" cy="549857"/>
          </a:xfrm>
          <a:solidFill>
            <a:srgbClr val="56C4D2"/>
          </a:solidFill>
        </p:grpSpPr>
        <p:sp>
          <p:nvSpPr>
            <p:cNvPr id="47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grpFill/>
            <a:ln w="9525" algn="ctr">
              <a:solidFill>
                <a:schemeClr val="accent5">
                  <a:lumMod val="75000"/>
                </a:schemeClr>
              </a:solidFill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EVI</a:t>
              </a: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 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1(RD 1:1, RT 10:10</a:t>
              </a:r>
              <a:r>
                <a:rPr kumimoji="0" lang="en-US" altLang="zh-CN" sz="15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)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48" name="Text Box 138"/>
            <p:cNvSpPr txBox="1">
              <a:spLocks noChangeArrowheads="1"/>
            </p:cNvSpPr>
            <p:nvPr/>
          </p:nvSpPr>
          <p:spPr bwMode="gray">
            <a:xfrm>
              <a:off x="4059896" y="3854945"/>
              <a:ext cx="648393" cy="291457"/>
            </a:xfrm>
            <a:prstGeom prst="rect">
              <a:avLst/>
            </a:prstGeom>
            <a:grpFill/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MAC-VRF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 bwMode="gray">
          <a:xfrm>
            <a:off x="3564078" y="5341867"/>
            <a:ext cx="2639016" cy="549857"/>
            <a:chOff x="4028299" y="3596545"/>
            <a:chExt cx="718154" cy="549857"/>
          </a:xfrm>
          <a:solidFill>
            <a:srgbClr val="81C15F"/>
          </a:solidFill>
        </p:grpSpPr>
        <p:sp>
          <p:nvSpPr>
            <p:cNvPr id="50" name="Text Box 138"/>
            <p:cNvSpPr txBox="1">
              <a:spLocks noChangeArrowheads="1"/>
            </p:cNvSpPr>
            <p:nvPr/>
          </p:nvSpPr>
          <p:spPr bwMode="gray">
            <a:xfrm>
              <a:off x="4028299" y="3596545"/>
              <a:ext cx="718154" cy="531999"/>
            </a:xfrm>
            <a:prstGeom prst="rect">
              <a:avLst/>
            </a:prstGeom>
            <a:grpFill/>
            <a:ln w="9525" algn="ctr">
              <a:solidFill>
                <a:schemeClr val="accent6">
                  <a:lumMod val="75000"/>
                </a:schemeClr>
              </a:solidFill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EVI 2(RD 2:2, RT 20:20)</a:t>
              </a:r>
              <a:endParaRPr kumimoji="0" lang="en-US" altLang="zh-CN" sz="15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51" name="Text Box 138"/>
            <p:cNvSpPr txBox="1">
              <a:spLocks noChangeArrowheads="1"/>
            </p:cNvSpPr>
            <p:nvPr/>
          </p:nvSpPr>
          <p:spPr bwMode="gray">
            <a:xfrm>
              <a:off x="4059896" y="3854945"/>
              <a:ext cx="648393" cy="291457"/>
            </a:xfrm>
            <a:prstGeom prst="rect">
              <a:avLst/>
            </a:prstGeom>
            <a:grpFill/>
            <a:ln w="9525" algn="ctr">
              <a:noFill/>
              <a:miter lim="800000"/>
            </a:ln>
          </p:spPr>
          <p:txBody>
            <a:bodyPr wrap="square" lIns="77159" tIns="38579" rIns="77159" bIns="38579">
              <a:noAutofit/>
            </a:bodyPr>
            <a:lstStyle/>
            <a:p>
              <a:pPr marL="0" marR="0" lvl="0" indent="0" algn="ctr" defTabSz="78105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MAC-VRF</a:t>
              </a:r>
              <a:endParaRPr kumimoji="0" lang="en-US" altLang="zh-CN" sz="15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53" name="Can 225"/>
          <p:cNvSpPr/>
          <p:nvPr/>
        </p:nvSpPr>
        <p:spPr bwMode="gray">
          <a:xfrm rot="5400000">
            <a:off x="2637561" y="5048631"/>
            <a:ext cx="1210545" cy="468573"/>
          </a:xfrm>
          <a:prstGeom prst="can">
            <a:avLst>
              <a:gd name="adj" fmla="val 40000"/>
            </a:avLst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Can 225"/>
          <p:cNvSpPr/>
          <p:nvPr/>
        </p:nvSpPr>
        <p:spPr bwMode="gray">
          <a:xfrm rot="5400000">
            <a:off x="3307620" y="4847700"/>
            <a:ext cx="321662" cy="234541"/>
          </a:xfrm>
          <a:prstGeom prst="can">
            <a:avLst>
              <a:gd name="adj" fmla="val 40000"/>
            </a:avLst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Can 225"/>
          <p:cNvSpPr/>
          <p:nvPr/>
        </p:nvSpPr>
        <p:spPr bwMode="gray">
          <a:xfrm rot="5400000">
            <a:off x="6091051" y="4847701"/>
            <a:ext cx="321662" cy="234541"/>
          </a:xfrm>
          <a:prstGeom prst="can">
            <a:avLst>
              <a:gd name="adj" fmla="val 40000"/>
            </a:avLst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Can 225"/>
          <p:cNvSpPr/>
          <p:nvPr/>
        </p:nvSpPr>
        <p:spPr bwMode="gray">
          <a:xfrm rot="5400000">
            <a:off x="6091051" y="5470390"/>
            <a:ext cx="321662" cy="234541"/>
          </a:xfrm>
          <a:prstGeom prst="can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Can 225"/>
          <p:cNvSpPr/>
          <p:nvPr/>
        </p:nvSpPr>
        <p:spPr bwMode="gray">
          <a:xfrm rot="5400000">
            <a:off x="5885471" y="5048631"/>
            <a:ext cx="1210545" cy="468573"/>
          </a:xfrm>
          <a:prstGeom prst="can">
            <a:avLst>
              <a:gd name="adj" fmla="val 40000"/>
            </a:avLst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Can 225"/>
          <p:cNvSpPr/>
          <p:nvPr/>
        </p:nvSpPr>
        <p:spPr bwMode="gray">
          <a:xfrm rot="5400000">
            <a:off x="3307620" y="5495462"/>
            <a:ext cx="321662" cy="234541"/>
          </a:xfrm>
          <a:prstGeom prst="can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圆角矩形 19"/>
          <p:cNvSpPr/>
          <p:nvPr/>
        </p:nvSpPr>
        <p:spPr bwMode="gray">
          <a:xfrm>
            <a:off x="1136235" y="4651539"/>
            <a:ext cx="1800553" cy="374328"/>
          </a:xfrm>
          <a:prstGeom prst="roundRect">
            <a:avLst>
              <a:gd name="adj" fmla="val 7486"/>
            </a:avLst>
          </a:prstGeom>
          <a:noFill/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5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 1:1 </a:t>
            </a:r>
            <a:r>
              <a:rPr lang="zh-CN" altLang="en-US" sz="15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标识</a:t>
            </a:r>
            <a:r>
              <a:rPr lang="en-US" altLang="zh-CN" sz="15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en-US" altLang="zh-CN" sz="15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圆角矩形 19"/>
          <p:cNvSpPr/>
          <p:nvPr/>
        </p:nvSpPr>
        <p:spPr bwMode="gray">
          <a:xfrm>
            <a:off x="1136235" y="5298917"/>
            <a:ext cx="1800553" cy="374328"/>
          </a:xfrm>
          <a:prstGeom prst="roundRect">
            <a:avLst>
              <a:gd name="adj" fmla="val 7486"/>
            </a:avLst>
          </a:prstGeom>
          <a:noFill/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 2:2 </a:t>
            </a:r>
            <a:r>
              <a:rPr lang="zh-CN" altLang="en-US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标识</a:t>
            </a:r>
            <a:r>
              <a:rPr lang="en-US" altLang="zh-CN" sz="1500" b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2</a:t>
            </a:r>
            <a:endParaRPr lang="en-US" altLang="zh-CN" sz="1500" b="1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Can 225"/>
          <p:cNvSpPr/>
          <p:nvPr/>
        </p:nvSpPr>
        <p:spPr bwMode="gray">
          <a:xfrm rot="5400000">
            <a:off x="6607892" y="4788148"/>
            <a:ext cx="321662" cy="353650"/>
          </a:xfrm>
          <a:prstGeom prst="can">
            <a:avLst>
              <a:gd name="adj" fmla="val 40000"/>
            </a:avLst>
          </a:prstGeom>
          <a:solidFill>
            <a:srgbClr val="00B0F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Can 225"/>
          <p:cNvSpPr/>
          <p:nvPr/>
        </p:nvSpPr>
        <p:spPr bwMode="gray">
          <a:xfrm rot="5400000">
            <a:off x="6607892" y="5410837"/>
            <a:ext cx="321662" cy="353650"/>
          </a:xfrm>
          <a:prstGeom prst="can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60"/>
          <p:cNvSpPr/>
          <p:nvPr/>
        </p:nvSpPr>
        <p:spPr bwMode="gray">
          <a:xfrm>
            <a:off x="7959408" y="2594750"/>
            <a:ext cx="1508895" cy="153007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8970398" y="312462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2082112" y="2594750"/>
            <a:ext cx="1508895" cy="153007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8" name="图片 6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25658" y="2306138"/>
            <a:ext cx="540000" cy="442800"/>
          </a:xfrm>
          <a:prstGeom prst="rect">
            <a:avLst/>
          </a:prstGeom>
        </p:spPr>
      </p:pic>
      <p:cxnSp>
        <p:nvCxnSpPr>
          <p:cNvPr id="69" name="直接连接符 68"/>
          <p:cNvCxnSpPr>
            <a:stCxn id="70" idx="0"/>
            <a:endCxn id="68" idx="2"/>
          </p:cNvCxnSpPr>
          <p:nvPr/>
        </p:nvCxnSpPr>
        <p:spPr bwMode="gray">
          <a:xfrm flipV="1">
            <a:off x="4795658" y="2748938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0" name="图片 6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25658" y="3836214"/>
            <a:ext cx="540000" cy="442800"/>
          </a:xfrm>
          <a:prstGeom prst="rect">
            <a:avLst/>
          </a:prstGeom>
        </p:spPr>
      </p:pic>
      <p:pic>
        <p:nvPicPr>
          <p:cNvPr id="71" name="图片 7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84757" y="2306138"/>
            <a:ext cx="540000" cy="442800"/>
          </a:xfrm>
          <a:prstGeom prst="rect">
            <a:avLst/>
          </a:prstGeom>
        </p:spPr>
      </p:pic>
      <p:cxnSp>
        <p:nvCxnSpPr>
          <p:cNvPr id="72" name="直接连接符 71"/>
          <p:cNvCxnSpPr>
            <a:stCxn id="73" idx="0"/>
            <a:endCxn id="71" idx="2"/>
          </p:cNvCxnSpPr>
          <p:nvPr/>
        </p:nvCxnSpPr>
        <p:spPr bwMode="gray">
          <a:xfrm flipV="1">
            <a:off x="6754757" y="2748938"/>
            <a:ext cx="0" cy="1087276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3" name="图片 7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84757" y="3836214"/>
            <a:ext cx="540000" cy="442800"/>
          </a:xfrm>
          <a:prstGeom prst="rect">
            <a:avLst/>
          </a:prstGeom>
        </p:spPr>
      </p:pic>
      <p:pic>
        <p:nvPicPr>
          <p:cNvPr id="74" name="图片 7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56823" y="3058476"/>
            <a:ext cx="540000" cy="442800"/>
          </a:xfrm>
          <a:prstGeom prst="rect">
            <a:avLst/>
          </a:prstGeom>
        </p:spPr>
      </p:pic>
      <p:cxnSp>
        <p:nvCxnSpPr>
          <p:cNvPr id="75" name="直接连接符 74"/>
          <p:cNvCxnSpPr>
            <a:stCxn id="68" idx="1"/>
            <a:endCxn id="74" idx="3"/>
          </p:cNvCxnSpPr>
          <p:nvPr/>
        </p:nvCxnSpPr>
        <p:spPr bwMode="gray">
          <a:xfrm flipH="1">
            <a:off x="3296823" y="2527538"/>
            <a:ext cx="1228835" cy="7523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直接连接符 75"/>
          <p:cNvCxnSpPr>
            <a:stCxn id="70" idx="1"/>
            <a:endCxn id="74" idx="3"/>
          </p:cNvCxnSpPr>
          <p:nvPr/>
        </p:nvCxnSpPr>
        <p:spPr bwMode="gray">
          <a:xfrm flipH="1" flipV="1">
            <a:off x="3296823" y="3279876"/>
            <a:ext cx="1228835" cy="7777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7" name="图片 7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336850" y="3058476"/>
            <a:ext cx="540000" cy="442800"/>
          </a:xfrm>
          <a:prstGeom prst="rect">
            <a:avLst/>
          </a:prstGeom>
        </p:spPr>
      </p:pic>
      <p:cxnSp>
        <p:nvCxnSpPr>
          <p:cNvPr id="78" name="直接连接符 77"/>
          <p:cNvCxnSpPr>
            <a:stCxn id="71" idx="3"/>
            <a:endCxn id="77" idx="1"/>
          </p:cNvCxnSpPr>
          <p:nvPr/>
        </p:nvCxnSpPr>
        <p:spPr bwMode="gray">
          <a:xfrm>
            <a:off x="7024757" y="2527538"/>
            <a:ext cx="1312093" cy="7523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直接连接符 78"/>
          <p:cNvCxnSpPr>
            <a:stCxn id="77" idx="1"/>
            <a:endCxn id="73" idx="3"/>
          </p:cNvCxnSpPr>
          <p:nvPr/>
        </p:nvCxnSpPr>
        <p:spPr bwMode="gray">
          <a:xfrm flipH="1">
            <a:off x="7024757" y="3279876"/>
            <a:ext cx="1312093" cy="777738"/>
          </a:xfrm>
          <a:prstGeom prst="line">
            <a:avLst/>
          </a:prstGeom>
          <a:noFill/>
          <a:ln w="28575">
            <a:solidFill>
              <a:srgbClr val="56C4D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直接连接符 79"/>
          <p:cNvCxnSpPr>
            <a:endCxn id="71" idx="1"/>
          </p:cNvCxnSpPr>
          <p:nvPr/>
        </p:nvCxnSpPr>
        <p:spPr bwMode="gray">
          <a:xfrm>
            <a:off x="5065658" y="2527538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直接连接符 80"/>
          <p:cNvCxnSpPr/>
          <p:nvPr/>
        </p:nvCxnSpPr>
        <p:spPr bwMode="gray">
          <a:xfrm>
            <a:off x="5065658" y="4057614"/>
            <a:ext cx="1419099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" name="文本框 81"/>
          <p:cNvSpPr txBox="1"/>
          <p:nvPr/>
        </p:nvSpPr>
        <p:spPr bwMode="gray">
          <a:xfrm>
            <a:off x="2746380" y="358515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8361833" y="358515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6495445" y="4339539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4514411" y="1988690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6495445" y="1988690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gray">
          <a:xfrm>
            <a:off x="2142194" y="312462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 rot="19611148">
            <a:off x="3607177" y="248615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 rot="2198056">
            <a:off x="3587139" y="369096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 rot="1983931">
            <a:off x="7268775" y="252008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 bwMode="gray">
          <a:xfrm rot="19596990">
            <a:off x="7335197" y="371992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4514411" y="4339539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1019175" y="1844675"/>
            <a:ext cx="10153650" cy="4356100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r>
              <a:rPr lang="zh-CN" altLang="en-US" b="1" dirty="0">
                <a:sym typeface="Huawei Sans" panose="020C0503030203020204" pitchFamily="34" charset="0"/>
              </a:rPr>
              <a:t>工作原理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路由简介与交互流程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路由类型详解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接入原理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699888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定义了一种新的</a:t>
            </a:r>
            <a:r>
              <a:rPr lang="en-US" altLang="zh-CN" sz="1800" dirty="0">
                <a:sym typeface="Huawei Sans" panose="020C0503030203020204" pitchFamily="34" charset="0"/>
              </a:rPr>
              <a:t>BGP NLRI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Network Layer Reachable Information</a:t>
            </a:r>
            <a:r>
              <a:rPr lang="zh-CN" altLang="en-US" sz="1800" dirty="0">
                <a:sym typeface="Huawei Sans" panose="020C0503030203020204" pitchFamily="34" charset="0"/>
              </a:rPr>
              <a:t>）来承载所有的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路由，被称为</a:t>
            </a:r>
            <a:r>
              <a:rPr lang="en-US" altLang="zh-CN" sz="1800" dirty="0">
                <a:sym typeface="Huawei Sans" panose="020C0503030203020204" pitchFamily="34" charset="0"/>
              </a:rPr>
              <a:t>EVPN NLRI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EVPN NLRI</a:t>
            </a:r>
            <a:r>
              <a:rPr lang="zh-CN" altLang="en-US" sz="1800" dirty="0">
                <a:sym typeface="Huawei Sans" panose="020C0503030203020204" pitchFamily="34" charset="0"/>
              </a:rPr>
              <a:t>被</a:t>
            </a:r>
            <a:r>
              <a:rPr lang="en-US" altLang="zh-CN" sz="1800" dirty="0">
                <a:sym typeface="Huawei Sans" panose="020C0503030203020204" pitchFamily="34" charset="0"/>
              </a:rPr>
              <a:t>MP-BGP</a:t>
            </a:r>
            <a:r>
              <a:rPr lang="zh-CN" altLang="en-US" sz="1800" dirty="0">
                <a:sym typeface="Huawei Sans" panose="020C0503030203020204" pitchFamily="34" charset="0"/>
              </a:rPr>
              <a:t>携带。</a:t>
            </a:r>
            <a:r>
              <a:rPr lang="en-US" altLang="zh-CN" sz="1800" dirty="0">
                <a:sym typeface="Huawei Sans" panose="020C0503030203020204" pitchFamily="34" charset="0"/>
              </a:rPr>
              <a:t>MP-BGP</a:t>
            </a:r>
            <a:r>
              <a:rPr lang="zh-CN" altLang="en-US" sz="1800" dirty="0">
                <a:sym typeface="Huawei Sans" panose="020C0503030203020204" pitchFamily="34" charset="0"/>
              </a:rPr>
              <a:t>支持多协议扩展，定义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AFI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Address Family Identifier</a:t>
            </a:r>
            <a:r>
              <a:rPr lang="zh-CN" altLang="en-US" sz="1800" dirty="0">
                <a:sym typeface="Huawei Sans" panose="020C0503030203020204" pitchFamily="34" charset="0"/>
              </a:rPr>
              <a:t>）是</a:t>
            </a:r>
            <a:r>
              <a:rPr lang="en-US" altLang="zh-CN" sz="1800" dirty="0">
                <a:sym typeface="Huawei Sans" panose="020C0503030203020204" pitchFamily="34" charset="0"/>
              </a:rPr>
              <a:t>25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SAFI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Subsequent Address Family Identifier</a:t>
            </a:r>
            <a:r>
              <a:rPr lang="zh-CN" altLang="en-US" sz="1800" dirty="0">
                <a:sym typeface="Huawei Sans" panose="020C0503030203020204" pitchFamily="34" charset="0"/>
              </a:rPr>
              <a:t>）是</a:t>
            </a:r>
            <a:r>
              <a:rPr lang="en-US" altLang="zh-CN" sz="1800" dirty="0">
                <a:sym typeface="Huawei Sans" panose="020C0503030203020204" pitchFamily="34" charset="0"/>
              </a:rPr>
              <a:t>70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3264968" y="3678287"/>
            <a:ext cx="2380509" cy="381000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Type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3264968" y="4096020"/>
            <a:ext cx="2380509" cy="381000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Length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左大括号 5"/>
          <p:cNvSpPr/>
          <p:nvPr/>
        </p:nvSpPr>
        <p:spPr bwMode="gray">
          <a:xfrm>
            <a:off x="5728768" y="3111124"/>
            <a:ext cx="541238" cy="1568346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2231233" y="3635838"/>
            <a:ext cx="1238577" cy="460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 Byte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2231233" y="4055012"/>
            <a:ext cx="1238577" cy="460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 Byte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2231233" y="4460219"/>
            <a:ext cx="1238577" cy="460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Variable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gray">
          <a:xfrm>
            <a:off x="6484008" y="2998820"/>
            <a:ext cx="38645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Ethernet A-D Route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MAC/IP Advertisement Route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Inclusive Multicast Route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Ethernet Segment Route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3264968" y="4513753"/>
            <a:ext cx="2380509" cy="381000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type Specific</a:t>
            </a:r>
            <a:endParaRPr lang="zh-CN" altLang="en-US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gray">
          <a:xfrm>
            <a:off x="3391968" y="5059358"/>
            <a:ext cx="1929332" cy="465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EVPN NLRI</a:t>
            </a:r>
            <a:r>
              <a:rPr lang="zh-CN" altLang="en-US" b="1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格式</a:t>
            </a:r>
            <a:endParaRPr lang="en-US" altLang="zh-CN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6052309" y="4756100"/>
            <a:ext cx="4410694" cy="423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Route Type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字段定义的四种常见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EVPN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路由。</a:t>
            </a:r>
            <a:endParaRPr lang="en-US" altLang="zh-CN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四种类型路由的作用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RFC7432</a:t>
            </a:r>
            <a:r>
              <a:rPr lang="zh-CN" altLang="en-US" sz="1800" dirty="0">
                <a:sym typeface="Huawei Sans" panose="020C0503030203020204" pitchFamily="34" charset="0"/>
              </a:rPr>
              <a:t>中定义了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Type 1~Type 4</a:t>
            </a:r>
            <a:r>
              <a:rPr lang="zh-CN" altLang="en-US" sz="1800" dirty="0">
                <a:sym typeface="Huawei Sans" panose="020C0503030203020204" pitchFamily="34" charset="0"/>
              </a:rPr>
              <a:t>共</a:t>
            </a:r>
            <a:r>
              <a:rPr lang="en-US" altLang="zh-CN" sz="1800" dirty="0">
                <a:sym typeface="Huawei Sans" panose="020C0503030203020204" pitchFamily="34" charset="0"/>
              </a:rPr>
              <a:t>4</a:t>
            </a:r>
            <a:r>
              <a:rPr lang="zh-CN" altLang="en-US" sz="1800" dirty="0">
                <a:sym typeface="Huawei Sans" panose="020C0503030203020204" pitchFamily="34" charset="0"/>
              </a:rPr>
              <a:t>类路由。随着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协议的发展，越来越多的路由被新定义。这里首先介绍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四种类型的路由。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93909" y="1993072"/>
          <a:ext cx="10804182" cy="3382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8602"/>
                <a:gridCol w="4276578"/>
                <a:gridCol w="2959002"/>
              </a:tblGrid>
              <a:tr h="3937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路由类型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作用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受益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30608">
                <a:tc>
                  <a:txBody>
                    <a:bodyPr/>
                    <a:lstStyle/>
                    <a:p>
                      <a:pPr marL="71755" algn="ctr" fontAlgn="ctr">
                        <a:lnSpc>
                          <a:spcPct val="130000"/>
                        </a:lnSpc>
                      </a:pPr>
                      <a:r>
                        <a:rPr lang="en-US" altLang="zh-CN" sz="1600" b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(Type 1) </a:t>
                      </a:r>
                      <a:r>
                        <a:rPr lang="en-US" sz="1600" b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A-D Route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别名</a:t>
                      </a:r>
                      <a:b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en-US" altLang="zh-CN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地址批量撤销</a:t>
                      </a:r>
                      <a:b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多活指示</a:t>
                      </a:r>
                      <a:b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altLang="zh-CN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ESI</a:t>
                      </a:r>
                      <a:r>
                        <a:rPr lang="zh-CN" alt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环路避免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快速收敛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负载分担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5448">
                <a:tc>
                  <a:txBody>
                    <a:bodyPr/>
                    <a:lstStyle/>
                    <a:p>
                      <a:pPr marL="71755" algn="ctr" fontAlgn="ctr">
                        <a:lnSpc>
                          <a:spcPct val="130000"/>
                        </a:lnSpc>
                      </a:pPr>
                      <a:r>
                        <a:rPr lang="en-US" altLang="zh-CN" sz="1600" b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(Type 2) </a:t>
                      </a:r>
                      <a:r>
                        <a:rPr lang="en-US" sz="1600" b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MAC/IP Advertisement Route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地址学习通告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MAC/IP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绑定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地址移动性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ARP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抑制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主机迁移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288">
                <a:tc>
                  <a:txBody>
                    <a:bodyPr/>
                    <a:lstStyle/>
                    <a:p>
                      <a:pPr marL="71755" algn="ctr" fontAlgn="ctr">
                        <a:lnSpc>
                          <a:spcPct val="130000"/>
                        </a:lnSpc>
                      </a:pPr>
                      <a:r>
                        <a:rPr lang="en-US" altLang="zh-CN" sz="1600" b="0" u="none" strike="noStrike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(Type 3) </a:t>
                      </a:r>
                      <a:r>
                        <a:rPr lang="en-US" sz="1600" b="0" u="none" strike="noStrike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Inclusive Multicast Route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组播隧道端点自动发现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&amp;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组播类型自动发现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支持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620">
                <a:tc>
                  <a:txBody>
                    <a:bodyPr/>
                    <a:lstStyle/>
                    <a:p>
                      <a:pPr marL="71755" algn="ctr" fontAlgn="ctr">
                        <a:lnSpc>
                          <a:spcPct val="130000"/>
                        </a:lnSpc>
                      </a:pPr>
                      <a:r>
                        <a:rPr lang="en-US" altLang="zh-CN" sz="1600" b="0" u="none" strike="noStrike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(Type 4) </a:t>
                      </a:r>
                      <a:r>
                        <a:rPr lang="en-US" sz="1600" b="0" u="none" strike="noStrike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Segment Route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成员自动发现</a:t>
                      </a:r>
                      <a:endParaRPr lang="en-US" altLang="zh-CN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DF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选举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多活，单活支持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占位符 2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的工作流程分为两个阶段：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1600" dirty="0">
                <a:sym typeface="Huawei Sans" panose="020C0503030203020204" pitchFamily="34" charset="0"/>
              </a:rPr>
              <a:t>启动阶段：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1400" dirty="0">
                <a:sym typeface="Huawei Sans" panose="020C0503030203020204" pitchFamily="34" charset="0"/>
              </a:rPr>
              <a:t>EVPN</a:t>
            </a:r>
            <a:r>
              <a:rPr lang="zh-CN" altLang="en-US" sz="1400" dirty="0">
                <a:sym typeface="Huawei Sans" panose="020C0503030203020204" pitchFamily="34" charset="0"/>
              </a:rPr>
              <a:t>对等体交互</a:t>
            </a:r>
            <a:r>
              <a:rPr lang="en-US" altLang="zh-CN" sz="1400" dirty="0">
                <a:sym typeface="Huawei Sans" panose="020C0503030203020204" pitchFamily="34" charset="0"/>
              </a:rPr>
              <a:t>EVPN Type 3</a:t>
            </a:r>
            <a:r>
              <a:rPr lang="zh-CN" altLang="en-US" sz="1400" dirty="0">
                <a:sym typeface="Huawei Sans" panose="020C0503030203020204" pitchFamily="34" charset="0"/>
              </a:rPr>
              <a:t>路由建立</a:t>
            </a:r>
            <a:r>
              <a:rPr lang="en-US" altLang="zh-CN" sz="1400" dirty="0">
                <a:sym typeface="Huawei Sans" panose="020C0503030203020204" pitchFamily="34" charset="0"/>
              </a:rPr>
              <a:t>BUM</a:t>
            </a:r>
            <a:r>
              <a:rPr lang="zh-CN" altLang="en-US" sz="1400" dirty="0">
                <a:sym typeface="Huawei Sans" panose="020C0503030203020204" pitchFamily="34" charset="0"/>
              </a:rPr>
              <a:t>流量转发表。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1400" dirty="0">
                <a:sym typeface="Huawei Sans" panose="020C0503030203020204" pitchFamily="34" charset="0"/>
              </a:rPr>
              <a:t>EVPN</a:t>
            </a:r>
            <a:r>
              <a:rPr lang="zh-CN" altLang="en-US" sz="1400" dirty="0">
                <a:sym typeface="Huawei Sans" panose="020C0503030203020204" pitchFamily="34" charset="0"/>
              </a:rPr>
              <a:t>对等体交互</a:t>
            </a:r>
            <a:r>
              <a:rPr lang="en-US" altLang="zh-CN" sz="1400" dirty="0">
                <a:sym typeface="Huawei Sans" panose="020C0503030203020204" pitchFamily="34" charset="0"/>
              </a:rPr>
              <a:t>Type 4</a:t>
            </a:r>
            <a:r>
              <a:rPr lang="zh-CN" altLang="en-US" sz="1400" dirty="0">
                <a:sym typeface="Huawei Sans" panose="020C0503030203020204" pitchFamily="34" charset="0"/>
              </a:rPr>
              <a:t>路由完成</a:t>
            </a:r>
            <a:r>
              <a:rPr lang="en-US" altLang="zh-CN" sz="1400" dirty="0">
                <a:sym typeface="Huawei Sans" panose="020C0503030203020204" pitchFamily="34" charset="0"/>
              </a:rPr>
              <a:t>ES</a:t>
            </a:r>
            <a:r>
              <a:rPr lang="zh-CN" altLang="en-US" sz="1400" dirty="0">
                <a:sym typeface="Huawei Sans" panose="020C0503030203020204" pitchFamily="34" charset="0"/>
              </a:rPr>
              <a:t>发现和</a:t>
            </a:r>
            <a:r>
              <a:rPr lang="en-US" altLang="zh-CN" sz="1400" dirty="0">
                <a:sym typeface="Huawei Sans" panose="020C0503030203020204" pitchFamily="34" charset="0"/>
              </a:rPr>
              <a:t>DF</a:t>
            </a:r>
            <a:r>
              <a:rPr lang="zh-CN" altLang="en-US" sz="1400" dirty="0">
                <a:sym typeface="Huawei Sans" panose="020C0503030203020204" pitchFamily="34" charset="0"/>
              </a:rPr>
              <a:t>选举（在</a:t>
            </a:r>
            <a:r>
              <a:rPr lang="en-US" altLang="zh-CN" sz="1400" dirty="0">
                <a:sym typeface="Huawei Sans" panose="020C0503030203020204" pitchFamily="34" charset="0"/>
              </a:rPr>
              <a:t>ES</a:t>
            </a:r>
            <a:r>
              <a:rPr lang="zh-CN" altLang="en-US" sz="1400" dirty="0">
                <a:sym typeface="Huawei Sans" panose="020C0503030203020204" pitchFamily="34" charset="0"/>
              </a:rPr>
              <a:t>多归属场景下）。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CN" sz="1400" dirty="0">
                <a:sym typeface="Huawei Sans" panose="020C0503030203020204" pitchFamily="34" charset="0"/>
              </a:rPr>
              <a:t>EVPN</a:t>
            </a:r>
            <a:r>
              <a:rPr lang="zh-CN" altLang="en-US" sz="1400" dirty="0">
                <a:sym typeface="Huawei Sans" panose="020C0503030203020204" pitchFamily="34" charset="0"/>
              </a:rPr>
              <a:t>对等体交互</a:t>
            </a:r>
            <a:r>
              <a:rPr lang="en-US" altLang="zh-CN" sz="1400" dirty="0">
                <a:sym typeface="Huawei Sans" panose="020C0503030203020204" pitchFamily="34" charset="0"/>
              </a:rPr>
              <a:t>Type 1</a:t>
            </a:r>
            <a:r>
              <a:rPr lang="zh-CN" altLang="en-US" sz="1400" dirty="0">
                <a:sym typeface="Huawei Sans" panose="020C0503030203020204" pitchFamily="34" charset="0"/>
              </a:rPr>
              <a:t>路由，交互</a:t>
            </a:r>
            <a:r>
              <a:rPr lang="en-US" altLang="zh-CN" sz="1400" dirty="0">
                <a:sym typeface="Huawei Sans" panose="020C0503030203020204" pitchFamily="34" charset="0"/>
              </a:rPr>
              <a:t>ESI</a:t>
            </a:r>
            <a:r>
              <a:rPr lang="zh-CN" altLang="en-US" sz="1400" dirty="0">
                <a:sym typeface="Huawei Sans" panose="020C0503030203020204" pitchFamily="34" charset="0"/>
              </a:rPr>
              <a:t>标签，进而实现水平分割、别名等功能。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1600" dirty="0">
                <a:sym typeface="Huawei Sans" panose="020C0503030203020204" pitchFamily="34" charset="0"/>
              </a:rPr>
              <a:t>流量转发：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侧流量触发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Type 2</a:t>
            </a:r>
            <a:r>
              <a:rPr lang="zh-CN" altLang="en-US" sz="1600" dirty="0">
                <a:sym typeface="Huawei Sans" panose="020C0503030203020204" pitchFamily="34" charset="0"/>
              </a:rPr>
              <a:t>路由通告</a:t>
            </a:r>
            <a:r>
              <a:rPr lang="en-US" altLang="zh-CN" sz="1600" dirty="0"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ym typeface="Huawei Sans" panose="020C0503030203020204" pitchFamily="34" charset="0"/>
              </a:rPr>
              <a:t>地址，该路由携带分配的标签信息，后续根据该标签执行单播流量转发。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工作流程</a:t>
            </a:r>
            <a:endParaRPr lang="zh-CN" altLang="en-US">
              <a:sym typeface="Huawei Sans" panose="020C0503030203020204" pitchFamily="34" charset="0"/>
            </a:endParaRPr>
          </a:p>
        </p:txBody>
      </p:sp>
      <p:pic>
        <p:nvPicPr>
          <p:cNvPr id="53" name="图片 5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49030" y="3613402"/>
            <a:ext cx="540000" cy="442800"/>
          </a:xfrm>
          <a:prstGeom prst="rect">
            <a:avLst/>
          </a:prstGeom>
        </p:spPr>
      </p:pic>
      <p:cxnSp>
        <p:nvCxnSpPr>
          <p:cNvPr id="54" name="直接连接符 53"/>
          <p:cNvCxnSpPr>
            <a:stCxn id="58" idx="0"/>
            <a:endCxn id="53" idx="2"/>
          </p:cNvCxnSpPr>
          <p:nvPr/>
        </p:nvCxnSpPr>
        <p:spPr bwMode="gray">
          <a:xfrm flipV="1">
            <a:off x="2619030" y="4056202"/>
            <a:ext cx="0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8" name="图片 5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49030" y="5143478"/>
            <a:ext cx="540000" cy="442800"/>
          </a:xfrm>
          <a:prstGeom prst="rect">
            <a:avLst/>
          </a:prstGeom>
        </p:spPr>
      </p:pic>
      <p:pic>
        <p:nvPicPr>
          <p:cNvPr id="59" name="图片 5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0829" y="3613402"/>
            <a:ext cx="540000" cy="442800"/>
          </a:xfrm>
          <a:prstGeom prst="rect">
            <a:avLst/>
          </a:prstGeom>
        </p:spPr>
      </p:pic>
      <p:cxnSp>
        <p:nvCxnSpPr>
          <p:cNvPr id="60" name="直接连接符 59"/>
          <p:cNvCxnSpPr>
            <a:stCxn id="63" idx="0"/>
            <a:endCxn id="59" idx="2"/>
          </p:cNvCxnSpPr>
          <p:nvPr/>
        </p:nvCxnSpPr>
        <p:spPr bwMode="gray">
          <a:xfrm flipV="1">
            <a:off x="5860829" y="4056202"/>
            <a:ext cx="0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3" name="图片 6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0829" y="5143478"/>
            <a:ext cx="540000" cy="442800"/>
          </a:xfrm>
          <a:prstGeom prst="rect">
            <a:avLst/>
          </a:prstGeom>
        </p:spPr>
      </p:pic>
      <p:pic>
        <p:nvPicPr>
          <p:cNvPr id="66" name="图片 6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0195" y="4365740"/>
            <a:ext cx="540000" cy="442800"/>
          </a:xfrm>
          <a:prstGeom prst="rect">
            <a:avLst/>
          </a:prstGeom>
        </p:spPr>
      </p:pic>
      <p:cxnSp>
        <p:nvCxnSpPr>
          <p:cNvPr id="67" name="直接连接符 66"/>
          <p:cNvCxnSpPr>
            <a:stCxn id="53" idx="1"/>
            <a:endCxn id="66" idx="3"/>
          </p:cNvCxnSpPr>
          <p:nvPr/>
        </p:nvCxnSpPr>
        <p:spPr bwMode="gray">
          <a:xfrm flipH="1">
            <a:off x="1120195" y="3834802"/>
            <a:ext cx="1228835" cy="7523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直接连接符 67"/>
          <p:cNvCxnSpPr>
            <a:stCxn id="58" idx="1"/>
            <a:endCxn id="66" idx="3"/>
          </p:cNvCxnSpPr>
          <p:nvPr/>
        </p:nvCxnSpPr>
        <p:spPr bwMode="gray">
          <a:xfrm flipH="1" flipV="1">
            <a:off x="1120195" y="4587140"/>
            <a:ext cx="1228835" cy="7777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9" name="图片 6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42922" y="4365740"/>
            <a:ext cx="540000" cy="442800"/>
          </a:xfrm>
          <a:prstGeom prst="rect">
            <a:avLst/>
          </a:prstGeom>
        </p:spPr>
      </p:pic>
      <p:cxnSp>
        <p:nvCxnSpPr>
          <p:cNvPr id="70" name="直接连接符 69"/>
          <p:cNvCxnSpPr>
            <a:stCxn id="59" idx="3"/>
            <a:endCxn id="69" idx="1"/>
          </p:cNvCxnSpPr>
          <p:nvPr/>
        </p:nvCxnSpPr>
        <p:spPr bwMode="gray">
          <a:xfrm>
            <a:off x="6130829" y="3834802"/>
            <a:ext cx="1312093" cy="7523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/>
          <p:cNvCxnSpPr>
            <a:stCxn id="69" idx="1"/>
            <a:endCxn id="63" idx="3"/>
          </p:cNvCxnSpPr>
          <p:nvPr/>
        </p:nvCxnSpPr>
        <p:spPr bwMode="gray">
          <a:xfrm flipH="1">
            <a:off x="6130829" y="4587140"/>
            <a:ext cx="1312093" cy="777738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直接连接符 71"/>
          <p:cNvCxnSpPr>
            <a:stCxn id="53" idx="3"/>
            <a:endCxn id="59" idx="1"/>
          </p:cNvCxnSpPr>
          <p:nvPr/>
        </p:nvCxnSpPr>
        <p:spPr bwMode="gray">
          <a:xfrm>
            <a:off x="2889030" y="3834802"/>
            <a:ext cx="270179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直接连接符 72"/>
          <p:cNvCxnSpPr>
            <a:stCxn id="58" idx="3"/>
            <a:endCxn id="63" idx="1"/>
          </p:cNvCxnSpPr>
          <p:nvPr/>
        </p:nvCxnSpPr>
        <p:spPr bwMode="gray">
          <a:xfrm>
            <a:off x="2889030" y="5364878"/>
            <a:ext cx="2701799" cy="0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文本框 73"/>
          <p:cNvSpPr txBox="1"/>
          <p:nvPr/>
        </p:nvSpPr>
        <p:spPr bwMode="gray">
          <a:xfrm>
            <a:off x="569752" y="4892418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7467905" y="4892418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2337783" y="329595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5601517" y="329595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2337783" y="5637351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5601517" y="5637351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0" name="图片 7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49465" y="3613402"/>
            <a:ext cx="540000" cy="442800"/>
          </a:xfrm>
          <a:prstGeom prst="rect">
            <a:avLst/>
          </a:prstGeom>
        </p:spPr>
      </p:pic>
      <p:pic>
        <p:nvPicPr>
          <p:cNvPr id="81" name="图片 8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49465" y="5143478"/>
            <a:ext cx="540000" cy="442800"/>
          </a:xfrm>
          <a:prstGeom prst="rect">
            <a:avLst/>
          </a:prstGeom>
        </p:spPr>
      </p:pic>
      <p:cxnSp>
        <p:nvCxnSpPr>
          <p:cNvPr id="82" name="直接连接符 81"/>
          <p:cNvCxnSpPr>
            <a:stCxn id="81" idx="0"/>
            <a:endCxn id="80" idx="2"/>
          </p:cNvCxnSpPr>
          <p:nvPr/>
        </p:nvCxnSpPr>
        <p:spPr bwMode="gray">
          <a:xfrm flipV="1">
            <a:off x="4219465" y="4056202"/>
            <a:ext cx="0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文本框 82"/>
          <p:cNvSpPr txBox="1"/>
          <p:nvPr/>
        </p:nvSpPr>
        <p:spPr bwMode="gray">
          <a:xfrm>
            <a:off x="4075481" y="3295954"/>
            <a:ext cx="301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4088181" y="5637351"/>
            <a:ext cx="301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5" name="直接连接符 84"/>
          <p:cNvCxnSpPr>
            <a:stCxn id="81" idx="0"/>
            <a:endCxn id="53" idx="2"/>
          </p:cNvCxnSpPr>
          <p:nvPr/>
        </p:nvCxnSpPr>
        <p:spPr bwMode="gray">
          <a:xfrm flipH="1" flipV="1">
            <a:off x="2619030" y="4056202"/>
            <a:ext cx="1600435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>
            <a:stCxn id="58" idx="0"/>
            <a:endCxn id="80" idx="2"/>
          </p:cNvCxnSpPr>
          <p:nvPr/>
        </p:nvCxnSpPr>
        <p:spPr bwMode="gray">
          <a:xfrm flipV="1">
            <a:off x="2619030" y="4056202"/>
            <a:ext cx="1600435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连接符 86"/>
          <p:cNvCxnSpPr/>
          <p:nvPr/>
        </p:nvCxnSpPr>
        <p:spPr bwMode="gray">
          <a:xfrm flipH="1" flipV="1">
            <a:off x="4219465" y="4056202"/>
            <a:ext cx="1600435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直接连接符 87"/>
          <p:cNvCxnSpPr/>
          <p:nvPr/>
        </p:nvCxnSpPr>
        <p:spPr bwMode="gray">
          <a:xfrm flipV="1">
            <a:off x="4219465" y="4056202"/>
            <a:ext cx="1600435" cy="1087276"/>
          </a:xfrm>
          <a:prstGeom prst="line">
            <a:avLst/>
          </a:prstGeom>
          <a:noFill/>
          <a:ln w="1905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椭圆 88"/>
          <p:cNvSpPr/>
          <p:nvPr/>
        </p:nvSpPr>
        <p:spPr bwMode="gray">
          <a:xfrm>
            <a:off x="1126123" y="4029996"/>
            <a:ext cx="321218" cy="1139688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椭圆 89"/>
          <p:cNvSpPr/>
          <p:nvPr/>
        </p:nvSpPr>
        <p:spPr bwMode="gray">
          <a:xfrm>
            <a:off x="7003856" y="4029996"/>
            <a:ext cx="321218" cy="1139688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椭圆 90"/>
          <p:cNvSpPr/>
          <p:nvPr/>
        </p:nvSpPr>
        <p:spPr bwMode="gray">
          <a:xfrm>
            <a:off x="7090333" y="5456530"/>
            <a:ext cx="96749" cy="343268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7285162" y="5468981"/>
            <a:ext cx="902811" cy="307777"/>
          </a:xfrm>
          <a:prstGeom prst="rect">
            <a:avLst/>
          </a:prstGeom>
          <a:solidFill>
            <a:srgbClr val="50C987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聚合端口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8520676" y="3295954"/>
            <a:ext cx="2880000" cy="469801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BUM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流量转发表 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8520676" y="4040006"/>
            <a:ext cx="2880000" cy="469801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选举 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4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8520676" y="4784058"/>
            <a:ext cx="2880000" cy="469801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标签通告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Type 1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8520676" y="5528109"/>
            <a:ext cx="2880000" cy="469801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流量转发 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7" name="直接箭头连接符 96"/>
          <p:cNvCxnSpPr>
            <a:stCxn id="93" idx="2"/>
            <a:endCxn id="94" idx="0"/>
          </p:cNvCxnSpPr>
          <p:nvPr/>
        </p:nvCxnSpPr>
        <p:spPr bwMode="gray">
          <a:xfrm>
            <a:off x="9960676" y="3765755"/>
            <a:ext cx="0" cy="274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94" idx="2"/>
            <a:endCxn id="95" idx="0"/>
          </p:cNvCxnSpPr>
          <p:nvPr/>
        </p:nvCxnSpPr>
        <p:spPr bwMode="gray">
          <a:xfrm>
            <a:off x="9960676" y="4509807"/>
            <a:ext cx="0" cy="274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95" idx="2"/>
            <a:endCxn id="96" idx="0"/>
          </p:cNvCxnSpPr>
          <p:nvPr/>
        </p:nvCxnSpPr>
        <p:spPr bwMode="gray">
          <a:xfrm>
            <a:off x="9960676" y="5253859"/>
            <a:ext cx="0" cy="2742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表项简介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维护三张表用于指导流量转发，他们是</a:t>
            </a:r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表、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流量转发表和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成员表。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MAC-VRF</a:t>
            </a:r>
            <a:r>
              <a:rPr lang="zh-CN" altLang="en-US" sz="1600" dirty="0">
                <a:sym typeface="Huawei Sans" panose="020C0503030203020204" pitchFamily="34" charset="0"/>
              </a:rPr>
              <a:t>表用于记录已知单播流量的转发。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BUM</a:t>
            </a:r>
            <a:r>
              <a:rPr lang="zh-CN" altLang="en-US" sz="1600" dirty="0">
                <a:sym typeface="Huawei Sans" panose="020C0503030203020204" pitchFamily="34" charset="0"/>
              </a:rPr>
              <a:t>流量转发表用于指导广播、未知单播和组播流量转发。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ES</a:t>
            </a:r>
            <a:r>
              <a:rPr lang="zh-CN" altLang="en-US" sz="1600" dirty="0">
                <a:sym typeface="Huawei Sans" panose="020C0503030203020204" pitchFamily="34" charset="0"/>
              </a:rPr>
              <a:t>成员表用于记录用户接入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信息。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本章节将介绍这三张表的生成过程和作用。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2115127" y="4030646"/>
            <a:ext cx="7721600" cy="178826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2115127" y="3606111"/>
            <a:ext cx="7721600" cy="338554"/>
          </a:xfrm>
          <a:prstGeom prst="rect">
            <a:avLst/>
          </a:prstGeom>
          <a:solidFill>
            <a:srgbClr val="30B5C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zh-CN" altLang="en-US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</a:t>
            </a:r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8075999" y="412186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441333" y="4118093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273782" y="4121863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gray">
          <a:xfrm>
            <a:off x="5279073" y="2747732"/>
            <a:ext cx="1829573" cy="241620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本地创建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实例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上创建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实例，配置它的</a:t>
            </a:r>
            <a:r>
              <a:rPr lang="en-US" altLang="zh-CN" sz="1800" dirty="0">
                <a:sym typeface="Huawei Sans" panose="020C0503030203020204" pitchFamily="34" charset="0"/>
              </a:rPr>
              <a:t>RD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上本地将激活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，产生</a:t>
            </a:r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，其内容为空。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05336" y="1624920"/>
            <a:ext cx="3473737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40091" y="341213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 bwMode="gray">
          <a:xfrm>
            <a:off x="5279073" y="2747732"/>
            <a:ext cx="638335" cy="1182234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V="1">
            <a:off x="5279072" y="3981368"/>
            <a:ext cx="638336" cy="113116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3" idx="1"/>
            <a:endCxn id="54" idx="3"/>
          </p:cNvCxnSpPr>
          <p:nvPr/>
        </p:nvCxnSpPr>
        <p:spPr bwMode="gray">
          <a:xfrm flipH="1">
            <a:off x="1080361" y="2696330"/>
            <a:ext cx="724975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54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 bwMode="gray">
          <a:xfrm flipV="1">
            <a:off x="6501747" y="2747732"/>
            <a:ext cx="606899" cy="123363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>
            <a:off x="6501747" y="3981368"/>
            <a:ext cx="617095" cy="113116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8" idx="3"/>
            <a:endCxn id="53" idx="1"/>
          </p:cNvCxnSpPr>
          <p:nvPr/>
        </p:nvCxnSpPr>
        <p:spPr bwMode="gray">
          <a:xfrm>
            <a:off x="10427652" y="2696330"/>
            <a:ext cx="677353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20" idx="3"/>
            <a:endCxn id="53" idx="1"/>
          </p:cNvCxnSpPr>
          <p:nvPr/>
        </p:nvCxnSpPr>
        <p:spPr bwMode="gray">
          <a:xfrm flipV="1">
            <a:off x="10427652" y="3899987"/>
            <a:ext cx="677353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17994" y="4129479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1" y="3438911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125125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2148815" y="1779399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2217620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连接符 23"/>
          <p:cNvCxnSpPr/>
          <p:nvPr/>
        </p:nvCxnSpPr>
        <p:spPr bwMode="gray">
          <a:xfrm>
            <a:off x="5279073" y="2747732"/>
            <a:ext cx="1839769" cy="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 bwMode="gray">
          <a:xfrm>
            <a:off x="5279072" y="5163938"/>
            <a:ext cx="1839770" cy="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2217620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281443" y="1788129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35024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661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350248" y="239143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2159330" y="4473925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228135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228135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265066" y="4523727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3338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2497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3338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5917408" y="3749334"/>
            <a:ext cx="584339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11105005" y="3644900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矩形 53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5614870" y="5298239"/>
            <a:ext cx="1101990" cy="276999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MPLS </a:t>
            </a:r>
            <a:r>
              <a:rPr lang="zh-CN" altLang="en-US" sz="1200" dirty="0">
                <a:solidFill>
                  <a:schemeClr val="tx1"/>
                </a:solidFill>
              </a:rPr>
              <a:t>骨干网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BUM</a:t>
            </a:r>
            <a:r>
              <a:rPr lang="zh-CN" altLang="en-US" dirty="0">
                <a:sym typeface="Huawei Sans" panose="020C0503030203020204" pitchFamily="34" charset="0"/>
              </a:rPr>
              <a:t>流量转发表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配置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之间对等体（</a:t>
            </a:r>
            <a:r>
              <a:rPr lang="en-US" altLang="zh-CN" sz="1800" dirty="0">
                <a:sym typeface="Huawei Sans" panose="020C0503030203020204" pitchFamily="34" charset="0"/>
              </a:rPr>
              <a:t>Peer</a:t>
            </a:r>
            <a:r>
              <a:rPr lang="zh-CN" altLang="en-US" sz="1800" dirty="0">
                <a:sym typeface="Huawei Sans" panose="020C0503030203020204" pitchFamily="34" charset="0"/>
              </a:rPr>
              <a:t>）关系。以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为例，它将发送</a:t>
            </a:r>
            <a:r>
              <a:rPr lang="en-US" altLang="zh-CN" sz="1800" dirty="0">
                <a:sym typeface="Huawei Sans" panose="020C0503030203020204" pitchFamily="34" charset="0"/>
              </a:rPr>
              <a:t>Type 3</a:t>
            </a:r>
            <a:r>
              <a:rPr lang="zh-CN" altLang="en-US" sz="1800" dirty="0">
                <a:sym typeface="Huawei Sans" panose="020C0503030203020204" pitchFamily="34" charset="0"/>
              </a:rPr>
              <a:t>路由发现邻居并分配标签。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793553" y="1624920"/>
            <a:ext cx="3473737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28308" y="341213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1850534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06211" y="4129479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07059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68279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07059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75147" y="412512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2137032" y="1779399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2205837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21761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2205837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206160" y="1788129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74965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190889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74965" y="2393517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2147547" y="4473925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216352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32276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216352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202483" y="4523727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71288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87212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71288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任意多边形 1"/>
          <p:cNvSpPr/>
          <p:nvPr/>
        </p:nvSpPr>
        <p:spPr bwMode="gray">
          <a:xfrm>
            <a:off x="5300179" y="2510558"/>
            <a:ext cx="628086" cy="241842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F2894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任意多边形 2"/>
          <p:cNvSpPr/>
          <p:nvPr/>
        </p:nvSpPr>
        <p:spPr bwMode="gray">
          <a:xfrm>
            <a:off x="5334548" y="2343489"/>
            <a:ext cx="1697326" cy="1841563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F2894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任意多边形 3"/>
          <p:cNvSpPr/>
          <p:nvPr/>
        </p:nvSpPr>
        <p:spPr bwMode="gray">
          <a:xfrm rot="21347661">
            <a:off x="5177186" y="2143075"/>
            <a:ext cx="1896781" cy="232503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F2894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3475269" y="2028170"/>
            <a:ext cx="2255016" cy="650058"/>
            <a:chOff x="5256840" y="2129351"/>
            <a:chExt cx="2255016" cy="650058"/>
          </a:xfrm>
        </p:grpSpPr>
        <p:sp>
          <p:nvSpPr>
            <p:cNvPr id="43" name="矩形 42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 Inclusive Multi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矩形 43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6B78C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矩形 44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6B78C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 = 101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55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6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7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8" name="五边形 57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11105005" y="3644900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49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1" name="直接连接符 50"/>
          <p:cNvCxnSpPr>
            <a:stCxn id="3" idx="1"/>
            <a:endCxn id="50" idx="3"/>
          </p:cNvCxnSpPr>
          <p:nvPr/>
        </p:nvCxnSpPr>
        <p:spPr bwMode="gray">
          <a:xfrm flipH="1">
            <a:off x="1080361" y="2696330"/>
            <a:ext cx="713192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16" idx="1"/>
            <a:endCxn id="50" idx="3"/>
          </p:cNvCxnSpPr>
          <p:nvPr/>
        </p:nvCxnSpPr>
        <p:spPr bwMode="gray">
          <a:xfrm flipH="1" flipV="1">
            <a:off x="1080361" y="3899987"/>
            <a:ext cx="770173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18" idx="3"/>
            <a:endCxn id="46" idx="1"/>
          </p:cNvCxnSpPr>
          <p:nvPr/>
        </p:nvCxnSpPr>
        <p:spPr bwMode="gray">
          <a:xfrm>
            <a:off x="10415869" y="2696330"/>
            <a:ext cx="68913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endCxn id="46" idx="1"/>
          </p:cNvCxnSpPr>
          <p:nvPr/>
        </p:nvCxnSpPr>
        <p:spPr bwMode="gray">
          <a:xfrm flipV="1">
            <a:off x="10427652" y="3899987"/>
            <a:ext cx="677353" cy="957463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BUM</a:t>
            </a:r>
            <a:r>
              <a:rPr lang="zh-CN" altLang="en-US" dirty="0">
                <a:sym typeface="Huawei Sans" panose="020C0503030203020204" pitchFamily="34" charset="0"/>
              </a:rPr>
              <a:t>流量转发表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生成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流量转发表。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05336" y="1624920"/>
            <a:ext cx="3473737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40091" y="341213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17994" y="4129479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12512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2148815" y="1779399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2217620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2217620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217943" y="1788129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8674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86748" y="2393517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2159330" y="4473925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228135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228135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214266" y="4523727"/>
            <a:ext cx="2944205" cy="15307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8773247" y="2013141"/>
          <a:ext cx="1309333" cy="631780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24696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47" name="任意多边形 1"/>
          <p:cNvSpPr/>
          <p:nvPr/>
        </p:nvSpPr>
        <p:spPr bwMode="gray">
          <a:xfrm>
            <a:off x="5311962" y="2510558"/>
            <a:ext cx="628086" cy="241842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F2894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任意多边形 2"/>
          <p:cNvSpPr/>
          <p:nvPr/>
        </p:nvSpPr>
        <p:spPr bwMode="gray">
          <a:xfrm>
            <a:off x="5346331" y="2343489"/>
            <a:ext cx="1697326" cy="1841563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F2894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任意多边形 3"/>
          <p:cNvSpPr/>
          <p:nvPr/>
        </p:nvSpPr>
        <p:spPr bwMode="gray">
          <a:xfrm rot="21347661">
            <a:off x="5188969" y="2143075"/>
            <a:ext cx="1896781" cy="232503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F2894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8773247" y="4712302"/>
          <a:ext cx="1309333" cy="631780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24696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/>
        </p:nvGraphicFramePr>
        <p:xfrm>
          <a:off x="3733319" y="4648802"/>
          <a:ext cx="1309333" cy="631780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246966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8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9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0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1" name="五边形 60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4" name="矩形 53"/>
          <p:cNvSpPr/>
          <p:nvPr/>
        </p:nvSpPr>
        <p:spPr bwMode="gray">
          <a:xfrm>
            <a:off x="3475269" y="2028170"/>
            <a:ext cx="2255015" cy="226072"/>
          </a:xfrm>
          <a:prstGeom prst="rect">
            <a:avLst/>
          </a:prstGeom>
          <a:solidFill>
            <a:srgbClr val="F28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 Inclusive Multi Route</a:t>
            </a:r>
            <a:endParaRPr lang="en-US" altLang="zh-CN" sz="13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3475270" y="2255310"/>
            <a:ext cx="2255015" cy="201845"/>
          </a:xfrm>
          <a:prstGeom prst="rect">
            <a:avLst/>
          </a:prstGeom>
          <a:solidFill>
            <a:srgbClr val="F6B78C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 = rd1</a:t>
            </a:r>
            <a:endParaRPr lang="en-US" altLang="zh-CN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3475270" y="2462878"/>
            <a:ext cx="2255015" cy="215350"/>
          </a:xfrm>
          <a:prstGeom prst="rect">
            <a:avLst/>
          </a:prstGeom>
          <a:solidFill>
            <a:srgbClr val="F6B78C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 = 101</a:t>
            </a:r>
            <a:endParaRPr lang="en-US" altLang="zh-CN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11105005" y="3644900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6" name="直接连接符 65"/>
          <p:cNvCxnSpPr>
            <a:endCxn id="65" idx="3"/>
          </p:cNvCxnSpPr>
          <p:nvPr/>
        </p:nvCxnSpPr>
        <p:spPr bwMode="gray">
          <a:xfrm flipH="1">
            <a:off x="1080361" y="2747732"/>
            <a:ext cx="724976" cy="115225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endCxn id="65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endCxn id="62" idx="1"/>
          </p:cNvCxnSpPr>
          <p:nvPr/>
        </p:nvCxnSpPr>
        <p:spPr bwMode="gray">
          <a:xfrm>
            <a:off x="10427652" y="2696330"/>
            <a:ext cx="677353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62" idx="1"/>
          </p:cNvCxnSpPr>
          <p:nvPr/>
        </p:nvCxnSpPr>
        <p:spPr bwMode="gray">
          <a:xfrm flipV="1">
            <a:off x="10427652" y="3899987"/>
            <a:ext cx="677353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BUM</a:t>
            </a:r>
            <a:r>
              <a:rPr lang="zh-CN" altLang="en-US" dirty="0">
                <a:sym typeface="Huawei Sans" panose="020C0503030203020204" pitchFamily="34" charset="0"/>
              </a:rPr>
              <a:t>流量转发表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这个过程中所有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均发送</a:t>
            </a:r>
            <a:r>
              <a:rPr lang="en-US" altLang="zh-CN" sz="1800" dirty="0">
                <a:sym typeface="Huawei Sans" panose="020C0503030203020204" pitchFamily="34" charset="0"/>
              </a:rPr>
              <a:t>Type 3</a:t>
            </a:r>
            <a:r>
              <a:rPr lang="zh-CN" altLang="en-US" sz="1800" dirty="0">
                <a:sym typeface="Huawei Sans" panose="020C0503030203020204" pitchFamily="34" charset="0"/>
              </a:rPr>
              <a:t>类型路由，最终形成稳定的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流量转发表。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81492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87841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1881492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84794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38017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99237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38017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206105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2017720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52719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2017720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99018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75443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21847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75443" y="239468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28235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63234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28235" y="507750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78831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302246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218170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302246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8876242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8876242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52960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56677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3683983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664808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pSp>
        <p:nvGrpSpPr>
          <p:cNvPr id="62" name="组合 61"/>
          <p:cNvGrpSpPr/>
          <p:nvPr/>
        </p:nvGrpSpPr>
        <p:grpSpPr bwMode="gray">
          <a:xfrm>
            <a:off x="6850610" y="2728853"/>
            <a:ext cx="2255016" cy="650058"/>
            <a:chOff x="5256840" y="2129351"/>
            <a:chExt cx="2255016" cy="650058"/>
          </a:xfrm>
        </p:grpSpPr>
        <p:sp>
          <p:nvSpPr>
            <p:cNvPr id="63" name="矩形 62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PE3 Type3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" name="矩形 63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rd3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" name="矩形 64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 = 103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6" name="组合 65"/>
          <p:cNvGrpSpPr/>
          <p:nvPr/>
        </p:nvGrpSpPr>
        <p:grpSpPr bwMode="gray">
          <a:xfrm>
            <a:off x="6850610" y="5433356"/>
            <a:ext cx="2255016" cy="650058"/>
            <a:chOff x="5256840" y="2129351"/>
            <a:chExt cx="2255016" cy="650058"/>
          </a:xfrm>
        </p:grpSpPr>
        <p:sp>
          <p:nvSpPr>
            <p:cNvPr id="67" name="矩形 66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PE4 Inclusive Multi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" name="矩形 67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</a:t>
              </a:r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 rd4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" name="矩形 68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 = 104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 bwMode="gray">
          <a:xfrm>
            <a:off x="3300124" y="5433356"/>
            <a:ext cx="2255016" cy="650058"/>
            <a:chOff x="5256840" y="2129351"/>
            <a:chExt cx="2255016" cy="650058"/>
          </a:xfrm>
        </p:grpSpPr>
        <p:sp>
          <p:nvSpPr>
            <p:cNvPr id="71" name="矩形 70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 Type3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" name="矩形 71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" name="矩形 72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 = 102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 bwMode="gray">
          <a:xfrm>
            <a:off x="3264886" y="2727782"/>
            <a:ext cx="2255016" cy="650058"/>
            <a:chOff x="5256840" y="2129351"/>
            <a:chExt cx="2255016" cy="650058"/>
          </a:xfrm>
        </p:grpSpPr>
        <p:sp>
          <p:nvSpPr>
            <p:cNvPr id="75" name="矩形 74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 Type3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6" name="矩形 75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 = 101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2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3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4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5" name="五边形 84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8" name="直接连接符 77"/>
          <p:cNvCxnSpPr>
            <a:stCxn id="3" idx="1"/>
          </p:cNvCxnSpPr>
          <p:nvPr/>
        </p:nvCxnSpPr>
        <p:spPr bwMode="gray">
          <a:xfrm flipH="1">
            <a:off x="1069596" y="2696330"/>
            <a:ext cx="811896" cy="124472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16" idx="1"/>
          </p:cNvCxnSpPr>
          <p:nvPr/>
        </p:nvCxnSpPr>
        <p:spPr bwMode="gray">
          <a:xfrm flipH="1" flipV="1">
            <a:off x="1069595" y="3941052"/>
            <a:ext cx="811897" cy="1171484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18" idx="3"/>
          </p:cNvCxnSpPr>
          <p:nvPr/>
        </p:nvCxnSpPr>
        <p:spPr bwMode="gray">
          <a:xfrm>
            <a:off x="10446827" y="2696330"/>
            <a:ext cx="669961" cy="125433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20" idx="3"/>
          </p:cNvCxnSpPr>
          <p:nvPr/>
        </p:nvCxnSpPr>
        <p:spPr bwMode="gray">
          <a:xfrm flipV="1">
            <a:off x="10446827" y="3950660"/>
            <a:ext cx="669961" cy="1161876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配置接口绑定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实例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双活接入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。在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上配置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接入接口与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实例绑定。从该接口进入的报文将进入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44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44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8" idx="3"/>
            <a:endCxn id="43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43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885706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885706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36648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36456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43" name="矩形 42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9" name="矩形 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52" name="矩形 5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65" name="矩形 6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7" name="组合 66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68" name="矩形 67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配置</a:t>
            </a:r>
            <a:r>
              <a:rPr lang="en-US" altLang="zh-CN">
                <a:sym typeface="Huawei Sans" panose="020C0503030203020204" pitchFamily="34" charset="0"/>
              </a:rPr>
              <a:t>CE</a:t>
            </a:r>
            <a:r>
              <a:rPr lang="zh-CN" altLang="en-US">
                <a:sym typeface="Huawei Sans" panose="020C0503030203020204" pitchFamily="34" charset="0"/>
              </a:rPr>
              <a:t>接入接口</a:t>
            </a:r>
            <a:r>
              <a:rPr lang="en-US" altLang="zh-CN">
                <a:sym typeface="Huawei Sans" panose="020C0503030203020204" pitchFamily="34" charset="0"/>
              </a:rPr>
              <a:t>ESI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连接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的接口配置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会交互</a:t>
            </a:r>
            <a:r>
              <a:rPr lang="en-US" altLang="zh-CN" sz="1800" dirty="0">
                <a:sym typeface="Huawei Sans" panose="020C0503030203020204" pitchFamily="34" charset="0"/>
              </a:rPr>
              <a:t>Type 4</a:t>
            </a:r>
            <a:r>
              <a:rPr lang="zh-CN" altLang="en-US" sz="1800" dirty="0">
                <a:sym typeface="Huawei Sans" panose="020C0503030203020204" pitchFamily="34" charset="0"/>
              </a:rPr>
              <a:t>路由，传播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并进行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选举。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1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87" idx="3"/>
            <a:endCxn id="71" idx="3"/>
          </p:cNvCxnSpPr>
          <p:nvPr/>
        </p:nvCxnSpPr>
        <p:spPr bwMode="gray">
          <a:xfrm flipH="1" flipV="1">
            <a:off x="1080361" y="3899987"/>
            <a:ext cx="815459" cy="128496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70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0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6" name="组合 65"/>
          <p:cNvGrpSpPr/>
          <p:nvPr/>
        </p:nvGrpSpPr>
        <p:grpSpPr bwMode="gray">
          <a:xfrm>
            <a:off x="3260773" y="5412775"/>
            <a:ext cx="2255016" cy="650058"/>
            <a:chOff x="5256840" y="2129351"/>
            <a:chExt cx="2255016" cy="650058"/>
          </a:xfrm>
        </p:grpSpPr>
        <p:sp>
          <p:nvSpPr>
            <p:cNvPr id="67" name="矩形 66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 Type 4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" name="矩形 67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</a:t>
              </a:r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 rd2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" name="矩形 68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 bwMode="gray">
          <a:xfrm>
            <a:off x="3260773" y="2702320"/>
            <a:ext cx="2255016" cy="650058"/>
            <a:chOff x="5256840" y="2129351"/>
            <a:chExt cx="2255016" cy="650058"/>
          </a:xfrm>
        </p:grpSpPr>
        <p:sp>
          <p:nvSpPr>
            <p:cNvPr id="63" name="矩形 62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 Type 4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" name="矩形 63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" name="矩形 64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32" name="直接箭头连接符 31"/>
          <p:cNvCxnSpPr/>
          <p:nvPr/>
        </p:nvCxnSpPr>
        <p:spPr bwMode="gray">
          <a:xfrm>
            <a:off x="5496247" y="2821235"/>
            <a:ext cx="263203" cy="0"/>
          </a:xfrm>
          <a:prstGeom prst="straightConnector1">
            <a:avLst/>
          </a:prstGeom>
          <a:ln w="28575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 bwMode="gray">
          <a:xfrm>
            <a:off x="5508947" y="5507807"/>
            <a:ext cx="250503" cy="0"/>
          </a:xfrm>
          <a:prstGeom prst="straightConnector1">
            <a:avLst/>
          </a:prstGeom>
          <a:ln w="28575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 bwMode="gray">
          <a:xfrm>
            <a:off x="6997460" y="5412775"/>
            <a:ext cx="2255016" cy="650058"/>
            <a:chOff x="5256840" y="2129351"/>
            <a:chExt cx="2255016" cy="650058"/>
          </a:xfrm>
        </p:grpSpPr>
        <p:sp>
          <p:nvSpPr>
            <p:cNvPr id="76" name="矩形 75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PE4 Type 4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rd4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8" name="矩形 77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 bwMode="gray">
          <a:xfrm>
            <a:off x="6997460" y="2702320"/>
            <a:ext cx="2255016" cy="650058"/>
            <a:chOff x="5256840" y="2129351"/>
            <a:chExt cx="2255016" cy="650058"/>
          </a:xfrm>
        </p:grpSpPr>
        <p:sp>
          <p:nvSpPr>
            <p:cNvPr id="80" name="矩形 79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PE3 Type 4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1" name="矩形 80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</a:t>
              </a:r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 rd3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83" name="直接箭头连接符 82"/>
          <p:cNvCxnSpPr/>
          <p:nvPr/>
        </p:nvCxnSpPr>
        <p:spPr bwMode="gray">
          <a:xfrm flipH="1">
            <a:off x="6762750" y="2896347"/>
            <a:ext cx="234710" cy="0"/>
          </a:xfrm>
          <a:prstGeom prst="straightConnector1">
            <a:avLst/>
          </a:prstGeom>
          <a:ln w="28575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 bwMode="gray">
          <a:xfrm flipH="1">
            <a:off x="6762750" y="5506230"/>
            <a:ext cx="234710" cy="0"/>
          </a:xfrm>
          <a:prstGeom prst="straightConnector1">
            <a:avLst/>
          </a:prstGeom>
          <a:ln w="28575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 bwMode="gray">
          <a:xfrm>
            <a:off x="1054772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1054772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10632040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10632040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6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7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8" name="五边形 97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74" name="矩形 7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87" name="矩形 86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" name="组合 92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94" name="矩形 9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组合 99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101" name="矩形 100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DF</a:t>
            </a:r>
            <a:r>
              <a:rPr lang="zh-CN" altLang="en-US" dirty="0">
                <a:sym typeface="Huawei Sans" panose="020C0503030203020204" pitchFamily="34" charset="0"/>
              </a:rPr>
              <a:t>选举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当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多归到多个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时，只能有</a:t>
            </a:r>
            <a:r>
              <a:rPr lang="en-US" altLang="zh-CN" sz="1800" dirty="0">
                <a:sym typeface="Huawei Sans" panose="020C0503030203020204" pitchFamily="34" charset="0"/>
              </a:rPr>
              <a:t>1</a:t>
            </a:r>
            <a:r>
              <a:rPr lang="zh-CN" altLang="en-US" sz="1800" dirty="0">
                <a:sym typeface="Huawei Sans" panose="020C0503030203020204" pitchFamily="34" charset="0"/>
              </a:rPr>
              <a:t>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向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转发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流量，选出这个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的过程被称为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选举。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58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58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8" idx="3"/>
            <a:endCxn id="54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20" idx="3"/>
            <a:endCxn id="54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6" name="矩形 65"/>
          <p:cNvSpPr/>
          <p:nvPr/>
        </p:nvSpPr>
        <p:spPr bwMode="gray">
          <a:xfrm>
            <a:off x="1054772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1054772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10632040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632040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5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6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7" name="五边形 76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4" name="矩形 53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矩形 57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62" name="矩形 6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65" name="矩形 6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2" name="矩形 7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79" name="矩形 7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DF</a:t>
            </a:r>
            <a:r>
              <a:rPr lang="zh-CN" altLang="en-US" dirty="0">
                <a:sym typeface="Huawei Sans" panose="020C0503030203020204" pitchFamily="34" charset="0"/>
              </a:rPr>
              <a:t>选举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通过特定算法选举出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。本例中假设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被选举为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，则只允许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转发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流量给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59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59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55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55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2331072" y="295690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表格 68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70" name="矩形 69"/>
          <p:cNvSpPr/>
          <p:nvPr/>
        </p:nvSpPr>
        <p:spPr bwMode="gray">
          <a:xfrm>
            <a:off x="1054772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1054772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10632040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0632040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0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1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2" name="五边形 81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4" name="组合 63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65" name="矩形 6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" name="组合 74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6" name="矩形 7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3" name="矩形 8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6" name="矩形 8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分发</a:t>
            </a:r>
            <a:r>
              <a:rPr lang="en-US" altLang="zh-CN" dirty="0">
                <a:sym typeface="Huawei Sans" panose="020C0503030203020204" pitchFamily="34" charset="0"/>
              </a:rPr>
              <a:t>ESI</a:t>
            </a:r>
            <a:r>
              <a:rPr lang="zh-CN" altLang="en-US" dirty="0">
                <a:sym typeface="Huawei Sans" panose="020C0503030203020204" pitchFamily="34" charset="0"/>
              </a:rPr>
              <a:t>标签：水平分割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通过</a:t>
            </a:r>
            <a:r>
              <a:rPr lang="en-US" altLang="zh-CN" sz="1800" dirty="0">
                <a:sym typeface="Huawei Sans" panose="020C0503030203020204" pitchFamily="34" charset="0"/>
              </a:rPr>
              <a:t>Type 1</a:t>
            </a:r>
            <a:r>
              <a:rPr lang="zh-CN" altLang="en-US" sz="1800" dirty="0">
                <a:sym typeface="Huawei Sans" panose="020C0503030203020204" pitchFamily="34" charset="0"/>
              </a:rPr>
              <a:t>类路由分发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标签。</a:t>
            </a:r>
            <a:r>
              <a:rPr lang="en-US" altLang="zh-CN" sz="1800" dirty="0">
                <a:sym typeface="Huawei Sans" panose="020C0503030203020204" pitchFamily="34" charset="0"/>
              </a:rPr>
              <a:t>ESI Label</a:t>
            </a:r>
            <a:r>
              <a:rPr lang="zh-CN" altLang="en-US" sz="1800" dirty="0">
                <a:sym typeface="Huawei Sans" panose="020C0503030203020204" pitchFamily="34" charset="0"/>
              </a:rPr>
              <a:t>用于水平分割防止同一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来的流量又绕回到该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63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63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2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2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endParaRPr lang="en-US" altLang="zh-CN" sz="1200" b="0" i="0" u="none" strike="noStrike" kern="1200" dirty="0">
                        <a:solidFill>
                          <a:srgbClr val="EC706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 bwMode="gray">
          <a:xfrm>
            <a:off x="2331072" y="295690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任意多边形 1"/>
          <p:cNvSpPr/>
          <p:nvPr/>
        </p:nvSpPr>
        <p:spPr bwMode="gray">
          <a:xfrm>
            <a:off x="5286562" y="2510558"/>
            <a:ext cx="628086" cy="241842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任意多边形 2"/>
          <p:cNvSpPr/>
          <p:nvPr/>
        </p:nvSpPr>
        <p:spPr bwMode="gray">
          <a:xfrm>
            <a:off x="5320931" y="2343489"/>
            <a:ext cx="1697326" cy="1841563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任意多边形 3"/>
          <p:cNvSpPr/>
          <p:nvPr/>
        </p:nvSpPr>
        <p:spPr bwMode="gray">
          <a:xfrm rot="21347661">
            <a:off x="5163569" y="2143075"/>
            <a:ext cx="1896781" cy="232503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9" name="组合 68"/>
          <p:cNvGrpSpPr/>
          <p:nvPr/>
        </p:nvGrpSpPr>
        <p:grpSpPr bwMode="gray">
          <a:xfrm>
            <a:off x="3461652" y="2028170"/>
            <a:ext cx="2255016" cy="871663"/>
            <a:chOff x="5256840" y="2129351"/>
            <a:chExt cx="2255016" cy="871663"/>
          </a:xfrm>
        </p:grpSpPr>
        <p:sp>
          <p:nvSpPr>
            <p:cNvPr id="70" name="矩形 69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 Type1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" name="矩形 70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" name="矩形 71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" name="矩形 72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Label = 201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74" name="矩形 73"/>
          <p:cNvSpPr/>
          <p:nvPr/>
        </p:nvSpPr>
        <p:spPr bwMode="gray">
          <a:xfrm>
            <a:off x="1054772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1054772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10632040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矩形 76"/>
          <p:cNvSpPr/>
          <p:nvPr/>
        </p:nvSpPr>
        <p:spPr bwMode="gray">
          <a:xfrm>
            <a:off x="10632040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5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6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7" name="五边形 86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1" name="组合 80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82" name="矩形 8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组合 87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89" name="矩形 8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92" name="矩形 9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组合 93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95" name="矩形 9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分发</a:t>
            </a:r>
            <a:r>
              <a:rPr lang="en-US" altLang="zh-CN" dirty="0">
                <a:sym typeface="Huawei Sans" panose="020C0503030203020204" pitchFamily="34" charset="0"/>
              </a:rPr>
              <a:t>ESI</a:t>
            </a:r>
            <a:r>
              <a:rPr lang="zh-CN" altLang="en-US" dirty="0">
                <a:sym typeface="Huawei Sans" panose="020C0503030203020204" pitchFamily="34" charset="0"/>
              </a:rPr>
              <a:t>标签：水平分割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此过程中所有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均发送</a:t>
            </a:r>
            <a:r>
              <a:rPr lang="en-US" altLang="zh-CN" sz="1800" dirty="0">
                <a:sym typeface="Huawei Sans" panose="020C0503030203020204" pitchFamily="34" charset="0"/>
              </a:rPr>
              <a:t>Type 1</a:t>
            </a:r>
            <a:r>
              <a:rPr lang="zh-CN" altLang="en-US" sz="1800" dirty="0">
                <a:sym typeface="Huawei Sans" panose="020C0503030203020204" pitchFamily="34" charset="0"/>
              </a:rPr>
              <a:t>路由，生成完整的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成员信息表。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63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63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2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2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 bwMode="gray">
          <a:xfrm>
            <a:off x="2331072" y="295690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4772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1054772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10632040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矩形 72"/>
          <p:cNvSpPr/>
          <p:nvPr/>
        </p:nvSpPr>
        <p:spPr bwMode="gray">
          <a:xfrm>
            <a:off x="10632040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7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8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9" name="五边形 78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7" name="组合 66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68" name="矩形 67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5" name="矩形 7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2" name="矩形 8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组合 83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5" name="矩形 8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启动阶段总结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的启动阶段生成</a:t>
            </a:r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流量转发表和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成员信息表。此时</a:t>
            </a:r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表项为空。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endCxn id="71" idx="3"/>
          </p:cNvCxnSpPr>
          <p:nvPr/>
        </p:nvCxnSpPr>
        <p:spPr bwMode="gray">
          <a:xfrm flipH="1">
            <a:off x="1080361" y="2782061"/>
            <a:ext cx="781956" cy="1117926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1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70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0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1998545" y="218294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133544" y="183397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1998545" y="2389143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885706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885706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6648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6456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 bwMode="gray">
          <a:xfrm>
            <a:off x="2331072" y="295690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1054772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1054772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10632040" y="2515998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632040" y="4889151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7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8" name="燕尾形 2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9" name="五边形 78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73" name="矩形 7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" name="组合 74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80" name="矩形 79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81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83" name="矩形 8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6" name="矩形 8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流量转发阶段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流量转发阶段由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侧用户流量发起开始。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用户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不感知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设备的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协议交互。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本例中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访问</a:t>
            </a:r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业务流程如下：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pic>
        <p:nvPicPr>
          <p:cNvPr id="14" name="图片 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72167" y="3580810"/>
            <a:ext cx="540000" cy="44280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86645" y="3596948"/>
            <a:ext cx="540000" cy="4428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 bwMode="gray">
          <a:xfrm>
            <a:off x="2661724" y="4107488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8611628" y="4123626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945667" y="3572927"/>
            <a:ext cx="1691519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 192.168.1.1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MAC: 1-1-1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9148955" y="3535693"/>
            <a:ext cx="1691519" cy="550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 192.168.1.2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1078230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MAC: 2-2-2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Oval 4"/>
          <p:cNvSpPr>
            <a:spLocks noChangeAspect="1"/>
          </p:cNvSpPr>
          <p:nvPr/>
        </p:nvSpPr>
        <p:spPr bwMode="gray">
          <a:xfrm>
            <a:off x="3779955" y="2890246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4127241" y="2827795"/>
            <a:ext cx="4384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发起广播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请求。请求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6" name="直接箭头连接符 45"/>
          <p:cNvCxnSpPr/>
          <p:nvPr/>
        </p:nvCxnSpPr>
        <p:spPr bwMode="gray">
          <a:xfrm>
            <a:off x="4228841" y="3166349"/>
            <a:ext cx="41785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"/>
          <p:cNvSpPr>
            <a:spLocks noChangeAspect="1"/>
          </p:cNvSpPr>
          <p:nvPr/>
        </p:nvSpPr>
        <p:spPr bwMode="gray">
          <a:xfrm>
            <a:off x="3779955" y="3797481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6165345" y="3704514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回复单播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Oval 4"/>
          <p:cNvSpPr>
            <a:spLocks noChangeAspect="1"/>
          </p:cNvSpPr>
          <p:nvPr/>
        </p:nvSpPr>
        <p:spPr bwMode="gray">
          <a:xfrm>
            <a:off x="3779955" y="4739004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4127241" y="4676553"/>
            <a:ext cx="2121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转发流量。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箭头连接符 23"/>
          <p:cNvCxnSpPr/>
          <p:nvPr/>
        </p:nvCxnSpPr>
        <p:spPr bwMode="gray">
          <a:xfrm>
            <a:off x="4228841" y="4049481"/>
            <a:ext cx="417855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gray">
          <a:xfrm>
            <a:off x="4228841" y="5031856"/>
            <a:ext cx="41785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本地</a:t>
            </a:r>
            <a:r>
              <a:rPr lang="en-US" altLang="zh-CN">
                <a:sym typeface="Huawei Sans" panose="020C0503030203020204" pitchFamily="34" charset="0"/>
              </a:rPr>
              <a:t>MAC</a:t>
            </a:r>
            <a:r>
              <a:rPr lang="zh-CN" altLang="en-US">
                <a:sym typeface="Huawei Sans" panose="020C0503030203020204" pitchFamily="34" charset="0"/>
              </a:rPr>
              <a:t>地址学习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访问</a:t>
            </a:r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，首先发送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请求。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接收报文，生成本地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表条目。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59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59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55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55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7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71" name="组合 70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72" name="矩形 7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3" name="矩形 72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27" name="直接箭头连接符 26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矩形 83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矩形 84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矩形 87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58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4" name="组合 63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65" name="矩形 6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" name="组合 74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6" name="矩形 7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79" name="矩形 7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2" name="矩形 8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MAC</a:t>
            </a:r>
            <a:r>
              <a:rPr lang="zh-CN" altLang="en-US">
                <a:sym typeface="Huawei Sans" panose="020C0503030203020204" pitchFamily="34" charset="0"/>
              </a:rPr>
              <a:t>地址通告 </a:t>
            </a:r>
            <a:r>
              <a:rPr lang="en-US" altLang="zh-CN">
                <a:sym typeface="Huawei Sans" panose="020C0503030203020204" pitchFamily="34" charset="0"/>
              </a:rPr>
              <a:t>(1)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PE1 EVPN</a:t>
            </a:r>
            <a:r>
              <a:rPr lang="zh-CN" altLang="en-US" sz="1800" dirty="0">
                <a:sym typeface="Huawei Sans" panose="020C0503030203020204" pitchFamily="34" charset="0"/>
              </a:rPr>
              <a:t>将本地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地址条目生成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路由，携带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设备分配的标签</a:t>
            </a:r>
            <a:r>
              <a:rPr lang="en-US" altLang="zh-CN" sz="1800" dirty="0">
                <a:sym typeface="Huawei Sans" panose="020C0503030203020204" pitchFamily="34" charset="0"/>
              </a:rPr>
              <a:t>301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5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5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74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4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7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7256268" y="2191672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/>
          <p:cNvSpPr/>
          <p:nvPr/>
        </p:nvSpPr>
        <p:spPr bwMode="gray">
          <a:xfrm>
            <a:off x="7202672" y="1842709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gray">
          <a:xfrm>
            <a:off x="7256268" y="2403860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2009060" y="4877468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144059" y="4528505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2009060" y="5083669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矩形 36"/>
          <p:cNvSpPr/>
          <p:nvPr/>
        </p:nvSpPr>
        <p:spPr bwMode="gray">
          <a:xfrm>
            <a:off x="7283071" y="4927270"/>
            <a:ext cx="1419057" cy="201845"/>
          </a:xfrm>
          <a:prstGeom prst="rect">
            <a:avLst/>
          </a:prstGeom>
          <a:solidFill>
            <a:srgbClr val="56C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4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MAC-VRF</a:t>
            </a:r>
            <a:endParaRPr lang="zh-CN" altLang="en-US" sz="14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gray">
          <a:xfrm>
            <a:off x="7198995" y="457830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gray">
          <a:xfrm>
            <a:off x="7283071" y="5133471"/>
            <a:ext cx="1419057" cy="22427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71" name="组合 70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72" name="矩形 7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3" name="矩形 72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27" name="直接箭头连接符 26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任意多边形 1"/>
          <p:cNvSpPr/>
          <p:nvPr/>
        </p:nvSpPr>
        <p:spPr bwMode="gray">
          <a:xfrm>
            <a:off x="5248877" y="2262169"/>
            <a:ext cx="628086" cy="241842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任意多边形 2"/>
          <p:cNvSpPr/>
          <p:nvPr/>
        </p:nvSpPr>
        <p:spPr bwMode="gray">
          <a:xfrm>
            <a:off x="5283246" y="2095100"/>
            <a:ext cx="1767926" cy="2049631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3"/>
          <p:cNvSpPr/>
          <p:nvPr/>
        </p:nvSpPr>
        <p:spPr bwMode="gray">
          <a:xfrm rot="21347661">
            <a:off x="5130375" y="2017037"/>
            <a:ext cx="1949425" cy="108055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0" name="组合 79"/>
          <p:cNvGrpSpPr/>
          <p:nvPr/>
        </p:nvGrpSpPr>
        <p:grpSpPr bwMode="gray">
          <a:xfrm>
            <a:off x="3813887" y="1779781"/>
            <a:ext cx="1865095" cy="1087794"/>
            <a:chOff x="5256840" y="2129351"/>
            <a:chExt cx="2255016" cy="1087794"/>
          </a:xfrm>
        </p:grpSpPr>
        <p:sp>
          <p:nvSpPr>
            <p:cNvPr id="81" name="矩形 80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 Type2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 = 1-1-1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5256841" y="3001795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Label = 301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6" name="矩形 85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1974094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矩形 93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2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3" name="燕尾形 102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4" name="五边形 103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4" name="矩形 73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1" name="组合 90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92" name="矩形 9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99" name="矩形 9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5" name="组合 104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106" name="矩形 10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109" name="矩形 10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MAC</a:t>
            </a:r>
            <a:r>
              <a:rPr lang="zh-CN" altLang="en-US">
                <a:sym typeface="Huawei Sans" panose="020C0503030203020204" pitchFamily="34" charset="0"/>
              </a:rPr>
              <a:t>地址通告 </a:t>
            </a:r>
            <a:r>
              <a:rPr lang="en-US" altLang="zh-CN">
                <a:sym typeface="Huawei Sans" panose="020C0503030203020204" pitchFamily="34" charset="0"/>
              </a:rPr>
              <a:t>(2)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远端的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设备通过</a:t>
            </a:r>
            <a:r>
              <a:rPr lang="en-US" altLang="zh-CN" sz="1800" dirty="0">
                <a:sym typeface="Huawei Sans" panose="020C0503030203020204" pitchFamily="34" charset="0"/>
              </a:rPr>
              <a:t>MP-BGP</a:t>
            </a:r>
            <a:r>
              <a:rPr lang="zh-CN" altLang="en-US" sz="1800" dirty="0">
                <a:sym typeface="Huawei Sans" panose="020C0503030203020204" pitchFamily="34" charset="0"/>
              </a:rPr>
              <a:t>学习到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路由，生成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表条目。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65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65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4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4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6943" y="1681561"/>
            <a:ext cx="3199242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71" name="组合 70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72" name="矩形 7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3" name="矩形 72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27" name="直接箭头连接符 26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任意多边形 1"/>
          <p:cNvSpPr/>
          <p:nvPr/>
        </p:nvSpPr>
        <p:spPr bwMode="gray">
          <a:xfrm>
            <a:off x="5248877" y="2262169"/>
            <a:ext cx="628086" cy="241842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任意多边形 2"/>
          <p:cNvSpPr/>
          <p:nvPr/>
        </p:nvSpPr>
        <p:spPr bwMode="gray">
          <a:xfrm>
            <a:off x="5283246" y="2095100"/>
            <a:ext cx="1767926" cy="2049631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3"/>
          <p:cNvSpPr/>
          <p:nvPr/>
        </p:nvSpPr>
        <p:spPr bwMode="gray">
          <a:xfrm rot="21347661">
            <a:off x="5130375" y="2017037"/>
            <a:ext cx="1949425" cy="108055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0" name="组合 79"/>
          <p:cNvGrpSpPr/>
          <p:nvPr/>
        </p:nvGrpSpPr>
        <p:grpSpPr bwMode="gray">
          <a:xfrm>
            <a:off x="3813887" y="1779781"/>
            <a:ext cx="1865095" cy="1087794"/>
            <a:chOff x="5256840" y="2129351"/>
            <a:chExt cx="2255016" cy="1087794"/>
          </a:xfrm>
        </p:grpSpPr>
        <p:sp>
          <p:nvSpPr>
            <p:cNvPr id="81" name="矩形 80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 Type2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 = 1-1-1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5256841" y="3001795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Label = 301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1974094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86031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矩形 100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6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7" name="燕尾形 106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8" name="五边形 107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3" name="组合 92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94" name="矩形 9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99" name="矩形 9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104" name="矩形 10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09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111" name="矩形 110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MAC</a:t>
            </a:r>
            <a:r>
              <a:rPr lang="zh-CN" altLang="en-US">
                <a:sym typeface="Huawei Sans" panose="020C0503030203020204" pitchFamily="34" charset="0"/>
              </a:rPr>
              <a:t>地址通告 </a:t>
            </a:r>
            <a:r>
              <a:rPr lang="en-US" altLang="zh-CN">
                <a:sym typeface="Huawei Sans" panose="020C0503030203020204" pitchFamily="34" charset="0"/>
              </a:rPr>
              <a:t>(3)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支持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多活接入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感知直连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，刷新最优的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表条目，并生成和通告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gray">
          <a:xfrm flipV="1">
            <a:off x="5279072" y="3966981"/>
            <a:ext cx="638336" cy="114555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3" idx="1"/>
            <a:endCxn id="71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1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>
            <a:off x="10427652" y="2696330"/>
            <a:ext cx="689136" cy="1239943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5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7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任意多边形 1"/>
          <p:cNvSpPr/>
          <p:nvPr/>
        </p:nvSpPr>
        <p:spPr bwMode="gray">
          <a:xfrm rot="10591323" flipH="1">
            <a:off x="5382792" y="2287723"/>
            <a:ext cx="670309" cy="232958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任意多边形 2"/>
          <p:cNvSpPr/>
          <p:nvPr/>
        </p:nvSpPr>
        <p:spPr bwMode="gray">
          <a:xfrm flipV="1">
            <a:off x="5472698" y="4330825"/>
            <a:ext cx="1571847" cy="378449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3"/>
          <p:cNvSpPr/>
          <p:nvPr/>
        </p:nvSpPr>
        <p:spPr bwMode="gray">
          <a:xfrm rot="21347661">
            <a:off x="5473725" y="2458978"/>
            <a:ext cx="1657716" cy="2192462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1974094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86031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0" name="组合 79"/>
          <p:cNvGrpSpPr/>
          <p:nvPr/>
        </p:nvGrpSpPr>
        <p:grpSpPr bwMode="gray">
          <a:xfrm>
            <a:off x="3882352" y="4387374"/>
            <a:ext cx="1865095" cy="1087794"/>
            <a:chOff x="5256840" y="2129351"/>
            <a:chExt cx="2255016" cy="1087794"/>
          </a:xfrm>
        </p:grpSpPr>
        <p:sp>
          <p:nvSpPr>
            <p:cNvPr id="81" name="矩形 80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 Type2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</a:t>
              </a:r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 rd2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 = 1-1-1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5256841" y="3001795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Label = 302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104" name="组合 103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106" name="矩形 105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7" name="矩形 106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05" name="直接箭头连接符 104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矩形 11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矩形 11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矩形 11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矩形 11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8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9" name="燕尾形 98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0" name="五边形 99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5" name="组合 74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6" name="矩形 7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组合 93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95" name="矩形 9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1" name="组合 100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102" name="矩形 10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9" name="组合 108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110" name="矩形 109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远端</a:t>
            </a:r>
            <a:r>
              <a:rPr lang="en-US" altLang="zh-CN">
                <a:sym typeface="Huawei Sans" panose="020C0503030203020204" pitchFamily="34" charset="0"/>
              </a:rPr>
              <a:t>MAC</a:t>
            </a:r>
            <a:r>
              <a:rPr lang="zh-CN" altLang="en-US">
                <a:sym typeface="Huawei Sans" panose="020C0503030203020204" pitchFamily="34" charset="0"/>
              </a:rPr>
              <a:t>地址学习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因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分配不同的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标签，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有两条路径到达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65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65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4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4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0609" y="1681561"/>
            <a:ext cx="320557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6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任意多边形 1"/>
          <p:cNvSpPr/>
          <p:nvPr/>
        </p:nvSpPr>
        <p:spPr bwMode="gray">
          <a:xfrm rot="10591323" flipH="1">
            <a:off x="5382792" y="2287723"/>
            <a:ext cx="670309" cy="232958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任意多边形 2"/>
          <p:cNvSpPr/>
          <p:nvPr/>
        </p:nvSpPr>
        <p:spPr bwMode="gray">
          <a:xfrm flipV="1">
            <a:off x="5472698" y="4330825"/>
            <a:ext cx="1571847" cy="378449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3"/>
          <p:cNvSpPr/>
          <p:nvPr/>
        </p:nvSpPr>
        <p:spPr bwMode="gray">
          <a:xfrm rot="21347661">
            <a:off x="5473725" y="2458978"/>
            <a:ext cx="1657716" cy="2192462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1974094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86031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4" name="组合 93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95" name="组合 94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97" name="矩形 96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8" name="矩形 97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96" name="直接箭头连接符 95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 102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9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0" name="燕尾形 109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1" name="五边形 110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102" name="组合 101"/>
          <p:cNvGrpSpPr/>
          <p:nvPr/>
        </p:nvGrpSpPr>
        <p:grpSpPr bwMode="gray">
          <a:xfrm>
            <a:off x="3882352" y="4387374"/>
            <a:ext cx="1865095" cy="1087794"/>
            <a:chOff x="5256840" y="2129351"/>
            <a:chExt cx="2255016" cy="1087794"/>
          </a:xfrm>
        </p:grpSpPr>
        <p:sp>
          <p:nvSpPr>
            <p:cNvPr id="105" name="矩形 104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 Type2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6" name="矩形 105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</a:t>
              </a:r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 rd2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7" name="矩形 106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7" name="矩形 116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 = 1-1-1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8" name="矩形 117"/>
            <p:cNvSpPr/>
            <p:nvPr/>
          </p:nvSpPr>
          <p:spPr bwMode="gray">
            <a:xfrm>
              <a:off x="5256841" y="3001795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Label = 302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4" name="矩形 63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80" name="矩形 79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81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83" name="矩形 8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93" name="矩形 9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组合 99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101" name="矩形 100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ARP</a:t>
            </a:r>
            <a:r>
              <a:rPr lang="zh-CN" altLang="en-US">
                <a:sym typeface="Huawei Sans" panose="020C0503030203020204" pitchFamily="34" charset="0"/>
              </a:rPr>
              <a:t>广播转发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发送的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请求达到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通过数据面学习到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地址，然后通过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路由发送给所有邻居。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控制平面行为完成后，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将执行数据平面行为，即转发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广播请求。最后因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转发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广播报文到</a:t>
            </a:r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pic>
        <p:nvPicPr>
          <p:cNvPr id="111" name="图片 11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241" y="3735267"/>
            <a:ext cx="540000" cy="442800"/>
          </a:xfrm>
          <a:prstGeom prst="rect">
            <a:avLst/>
          </a:prstGeom>
        </p:spPr>
      </p:pic>
      <p:pic>
        <p:nvPicPr>
          <p:cNvPr id="113" name="图片 11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241" y="5265343"/>
            <a:ext cx="540000" cy="442800"/>
          </a:xfrm>
          <a:prstGeom prst="rect">
            <a:avLst/>
          </a:prstGeom>
        </p:spPr>
      </p:pic>
      <p:pic>
        <p:nvPicPr>
          <p:cNvPr id="114" name="图片 11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76940" y="3735267"/>
            <a:ext cx="540000" cy="442800"/>
          </a:xfrm>
          <a:prstGeom prst="rect">
            <a:avLst/>
          </a:prstGeom>
        </p:spPr>
      </p:pic>
      <p:pic>
        <p:nvPicPr>
          <p:cNvPr id="116" name="图片 11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76940" y="5265343"/>
            <a:ext cx="540000" cy="442800"/>
          </a:xfrm>
          <a:prstGeom prst="rect">
            <a:avLst/>
          </a:prstGeom>
        </p:spPr>
      </p:pic>
      <p:pic>
        <p:nvPicPr>
          <p:cNvPr id="117" name="图片 11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58406" y="4487605"/>
            <a:ext cx="540000" cy="442800"/>
          </a:xfrm>
          <a:prstGeom prst="rect">
            <a:avLst/>
          </a:prstGeom>
        </p:spPr>
      </p:pic>
      <p:cxnSp>
        <p:nvCxnSpPr>
          <p:cNvPr id="118" name="直接连接符 117"/>
          <p:cNvCxnSpPr>
            <a:stCxn id="111" idx="1"/>
            <a:endCxn id="117" idx="3"/>
          </p:cNvCxnSpPr>
          <p:nvPr/>
        </p:nvCxnSpPr>
        <p:spPr bwMode="gray">
          <a:xfrm flipH="1">
            <a:off x="2898406" y="3956667"/>
            <a:ext cx="1228835" cy="7523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" name="直接连接符 118"/>
          <p:cNvCxnSpPr>
            <a:stCxn id="113" idx="1"/>
            <a:endCxn id="117" idx="3"/>
          </p:cNvCxnSpPr>
          <p:nvPr/>
        </p:nvCxnSpPr>
        <p:spPr bwMode="gray">
          <a:xfrm flipH="1" flipV="1">
            <a:off x="2898406" y="4709005"/>
            <a:ext cx="1228835" cy="7777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0" name="图片 119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29033" y="4487605"/>
            <a:ext cx="540000" cy="442800"/>
          </a:xfrm>
          <a:prstGeom prst="rect">
            <a:avLst/>
          </a:prstGeom>
        </p:spPr>
      </p:pic>
      <p:cxnSp>
        <p:nvCxnSpPr>
          <p:cNvPr id="121" name="直接连接符 120"/>
          <p:cNvCxnSpPr>
            <a:stCxn id="114" idx="3"/>
            <a:endCxn id="120" idx="1"/>
          </p:cNvCxnSpPr>
          <p:nvPr/>
        </p:nvCxnSpPr>
        <p:spPr bwMode="gray">
          <a:xfrm>
            <a:off x="7616940" y="3956667"/>
            <a:ext cx="1312093" cy="7523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" name="直接连接符 121"/>
          <p:cNvCxnSpPr>
            <a:stCxn id="120" idx="1"/>
            <a:endCxn id="116" idx="3"/>
          </p:cNvCxnSpPr>
          <p:nvPr/>
        </p:nvCxnSpPr>
        <p:spPr bwMode="gray">
          <a:xfrm flipH="1">
            <a:off x="7616940" y="4709005"/>
            <a:ext cx="1312093" cy="7777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" name="文本框 124"/>
          <p:cNvSpPr txBox="1"/>
          <p:nvPr/>
        </p:nvSpPr>
        <p:spPr bwMode="gray">
          <a:xfrm>
            <a:off x="2347963" y="5014283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 bwMode="gray">
          <a:xfrm>
            <a:off x="8954016" y="5014283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文本框 126"/>
          <p:cNvSpPr txBox="1"/>
          <p:nvPr/>
        </p:nvSpPr>
        <p:spPr bwMode="gray">
          <a:xfrm>
            <a:off x="4115994" y="3417819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/>
          <p:cNvSpPr txBox="1"/>
          <p:nvPr/>
        </p:nvSpPr>
        <p:spPr bwMode="gray">
          <a:xfrm>
            <a:off x="7087628" y="3417819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/>
          <p:cNvSpPr txBox="1"/>
          <p:nvPr/>
        </p:nvSpPr>
        <p:spPr bwMode="gray">
          <a:xfrm>
            <a:off x="4115994" y="5759216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文本框 129"/>
          <p:cNvSpPr txBox="1"/>
          <p:nvPr/>
        </p:nvSpPr>
        <p:spPr bwMode="gray">
          <a:xfrm>
            <a:off x="7087628" y="5759216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任意多边形: 形状 142"/>
          <p:cNvSpPr/>
          <p:nvPr/>
        </p:nvSpPr>
        <p:spPr bwMode="gray">
          <a:xfrm>
            <a:off x="4755007" y="3542005"/>
            <a:ext cx="2187439" cy="261938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6600" h="266700">
                <a:moveTo>
                  <a:pt x="0" y="266700"/>
                </a:moveTo>
                <a:cubicBezTo>
                  <a:pt x="289983" y="133350"/>
                  <a:pt x="579967" y="0"/>
                  <a:pt x="914400" y="0"/>
                </a:cubicBezTo>
                <a:cubicBezTo>
                  <a:pt x="1248833" y="0"/>
                  <a:pt x="1627716" y="133350"/>
                  <a:pt x="2006600" y="26670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任意多边形: 形状 143"/>
          <p:cNvSpPr/>
          <p:nvPr/>
        </p:nvSpPr>
        <p:spPr bwMode="gray">
          <a:xfrm rot="972526">
            <a:off x="4669727" y="4157252"/>
            <a:ext cx="2421354" cy="674616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  <a:gd name="connsiteX0-1" fmla="*/ 0 w 2470857"/>
              <a:gd name="connsiteY0-2" fmla="*/ 281451 h 710703"/>
              <a:gd name="connsiteX1-3" fmla="*/ 914400 w 2470857"/>
              <a:gd name="connsiteY1-4" fmla="*/ 14751 h 710703"/>
              <a:gd name="connsiteX2-5" fmla="*/ 2470857 w 2470857"/>
              <a:gd name="connsiteY2-6" fmla="*/ 710702 h 710703"/>
              <a:gd name="connsiteX0-7" fmla="*/ 0 w 2470857"/>
              <a:gd name="connsiteY0-8" fmla="*/ 281451 h 710702"/>
              <a:gd name="connsiteX1-9" fmla="*/ 914400 w 2470857"/>
              <a:gd name="connsiteY1-10" fmla="*/ 14751 h 710702"/>
              <a:gd name="connsiteX2-11" fmla="*/ 2470857 w 2470857"/>
              <a:gd name="connsiteY2-12" fmla="*/ 710702 h 710702"/>
              <a:gd name="connsiteX0-13" fmla="*/ 0 w 2470857"/>
              <a:gd name="connsiteY0-14" fmla="*/ 281451 h 710702"/>
              <a:gd name="connsiteX1-15" fmla="*/ 914400 w 2470857"/>
              <a:gd name="connsiteY1-16" fmla="*/ 14751 h 710702"/>
              <a:gd name="connsiteX2-17" fmla="*/ 2470857 w 2470857"/>
              <a:gd name="connsiteY2-18" fmla="*/ 710702 h 710702"/>
              <a:gd name="connsiteX0-19" fmla="*/ 0 w 2470857"/>
              <a:gd name="connsiteY0-20" fmla="*/ 339639 h 768890"/>
              <a:gd name="connsiteX1-21" fmla="*/ 1019767 w 2470857"/>
              <a:gd name="connsiteY1-22" fmla="*/ 12011 h 768890"/>
              <a:gd name="connsiteX2-23" fmla="*/ 2470857 w 2470857"/>
              <a:gd name="connsiteY2-24" fmla="*/ 768890 h 768890"/>
              <a:gd name="connsiteX0-25" fmla="*/ 0 w 2470857"/>
              <a:gd name="connsiteY0-26" fmla="*/ 267980 h 697231"/>
              <a:gd name="connsiteX1-27" fmla="*/ 1245717 w 2470857"/>
              <a:gd name="connsiteY1-28" fmla="*/ 15577 h 697231"/>
              <a:gd name="connsiteX2-29" fmla="*/ 2470857 w 2470857"/>
              <a:gd name="connsiteY2-30" fmla="*/ 697231 h 697231"/>
              <a:gd name="connsiteX0-31" fmla="*/ 0 w 2470857"/>
              <a:gd name="connsiteY0-32" fmla="*/ 279634 h 708885"/>
              <a:gd name="connsiteX1-33" fmla="*/ 1245717 w 2470857"/>
              <a:gd name="connsiteY1-34" fmla="*/ 27231 h 708885"/>
              <a:gd name="connsiteX2-35" fmla="*/ 2470857 w 2470857"/>
              <a:gd name="connsiteY2-36" fmla="*/ 708885 h 708885"/>
              <a:gd name="connsiteX0-37" fmla="*/ 0 w 2428028"/>
              <a:gd name="connsiteY0-38" fmla="*/ 270460 h 744670"/>
              <a:gd name="connsiteX1-39" fmla="*/ 1245717 w 2428028"/>
              <a:gd name="connsiteY1-40" fmla="*/ 18057 h 744670"/>
              <a:gd name="connsiteX2-41" fmla="*/ 2428028 w 2428028"/>
              <a:gd name="connsiteY2-42" fmla="*/ 744670 h 744670"/>
              <a:gd name="connsiteX0-43" fmla="*/ 0 w 2428028"/>
              <a:gd name="connsiteY0-44" fmla="*/ 270460 h 744670"/>
              <a:gd name="connsiteX1-45" fmla="*/ 1245717 w 2428028"/>
              <a:gd name="connsiteY1-46" fmla="*/ 18057 h 744670"/>
              <a:gd name="connsiteX2-47" fmla="*/ 2428028 w 2428028"/>
              <a:gd name="connsiteY2-48" fmla="*/ 744670 h 744670"/>
              <a:gd name="connsiteX0-49" fmla="*/ 0 w 2428028"/>
              <a:gd name="connsiteY0-50" fmla="*/ 270460 h 744670"/>
              <a:gd name="connsiteX1-51" fmla="*/ 1245717 w 2428028"/>
              <a:gd name="connsiteY1-52" fmla="*/ 18057 h 744670"/>
              <a:gd name="connsiteX2-53" fmla="*/ 2428028 w 2428028"/>
              <a:gd name="connsiteY2-54" fmla="*/ 744670 h 744670"/>
              <a:gd name="connsiteX0-55" fmla="*/ 0 w 2428028"/>
              <a:gd name="connsiteY0-56" fmla="*/ 202701 h 676911"/>
              <a:gd name="connsiteX1-57" fmla="*/ 1267047 w 2428028"/>
              <a:gd name="connsiteY1-58" fmla="*/ 24799 h 676911"/>
              <a:gd name="connsiteX2-59" fmla="*/ 2428028 w 2428028"/>
              <a:gd name="connsiteY2-60" fmla="*/ 676911 h 676911"/>
              <a:gd name="connsiteX0-61" fmla="*/ 0 w 2428028"/>
              <a:gd name="connsiteY0-62" fmla="*/ 216258 h 690468"/>
              <a:gd name="connsiteX1-63" fmla="*/ 1267047 w 2428028"/>
              <a:gd name="connsiteY1-64" fmla="*/ 38356 h 690468"/>
              <a:gd name="connsiteX2-65" fmla="*/ 2428028 w 2428028"/>
              <a:gd name="connsiteY2-66" fmla="*/ 690468 h 690468"/>
              <a:gd name="connsiteX0-67" fmla="*/ 0 w 2428028"/>
              <a:gd name="connsiteY0-68" fmla="*/ 212670 h 686880"/>
              <a:gd name="connsiteX1-69" fmla="*/ 1267047 w 2428028"/>
              <a:gd name="connsiteY1-70" fmla="*/ 34768 h 686880"/>
              <a:gd name="connsiteX2-71" fmla="*/ 2428028 w 2428028"/>
              <a:gd name="connsiteY2-72" fmla="*/ 686880 h 6868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428028" h="686880">
                <a:moveTo>
                  <a:pt x="0" y="212670"/>
                </a:moveTo>
                <a:cubicBezTo>
                  <a:pt x="289983" y="79320"/>
                  <a:pt x="863316" y="-68782"/>
                  <a:pt x="1267047" y="34768"/>
                </a:cubicBezTo>
                <a:cubicBezTo>
                  <a:pt x="1670778" y="138318"/>
                  <a:pt x="1629707" y="55525"/>
                  <a:pt x="2428028" y="68688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任意多边形: 形状 144"/>
          <p:cNvSpPr/>
          <p:nvPr/>
        </p:nvSpPr>
        <p:spPr bwMode="gray">
          <a:xfrm rot="5400000">
            <a:off x="4299062" y="4696727"/>
            <a:ext cx="1168739" cy="236656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6600" h="266700">
                <a:moveTo>
                  <a:pt x="0" y="266700"/>
                </a:moveTo>
                <a:cubicBezTo>
                  <a:pt x="289983" y="133350"/>
                  <a:pt x="579967" y="0"/>
                  <a:pt x="914400" y="0"/>
                </a:cubicBezTo>
                <a:cubicBezTo>
                  <a:pt x="1248833" y="0"/>
                  <a:pt x="1627716" y="133350"/>
                  <a:pt x="2006600" y="26670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6" name="Oval 4"/>
          <p:cNvSpPr>
            <a:spLocks noChangeAspect="1"/>
          </p:cNvSpPr>
          <p:nvPr/>
        </p:nvSpPr>
        <p:spPr bwMode="gray">
          <a:xfrm>
            <a:off x="4459655" y="2469461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文本框 146"/>
          <p:cNvSpPr txBox="1"/>
          <p:nvPr/>
        </p:nvSpPr>
        <p:spPr bwMode="gray">
          <a:xfrm>
            <a:off x="4806941" y="2407010"/>
            <a:ext cx="2276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控制平面通告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Oval 4"/>
          <p:cNvSpPr>
            <a:spLocks noChangeAspect="1"/>
          </p:cNvSpPr>
          <p:nvPr/>
        </p:nvSpPr>
        <p:spPr bwMode="gray">
          <a:xfrm>
            <a:off x="4459655" y="3092557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文本框 148"/>
          <p:cNvSpPr txBox="1"/>
          <p:nvPr/>
        </p:nvSpPr>
        <p:spPr bwMode="gray">
          <a:xfrm>
            <a:off x="4806941" y="3030106"/>
            <a:ext cx="2547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数据平面转发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5409313" y="4876229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广播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任意多边形: 形状 33"/>
          <p:cNvSpPr/>
          <p:nvPr/>
        </p:nvSpPr>
        <p:spPr bwMode="gray">
          <a:xfrm rot="1472240">
            <a:off x="7764825" y="3952453"/>
            <a:ext cx="1324539" cy="149974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6600" h="266700">
                <a:moveTo>
                  <a:pt x="0" y="266700"/>
                </a:moveTo>
                <a:cubicBezTo>
                  <a:pt x="289983" y="133350"/>
                  <a:pt x="579967" y="0"/>
                  <a:pt x="914400" y="0"/>
                </a:cubicBezTo>
                <a:cubicBezTo>
                  <a:pt x="1248833" y="0"/>
                  <a:pt x="1627716" y="133350"/>
                  <a:pt x="2006600" y="26670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7126420" y="4213874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Oval 4"/>
          <p:cNvSpPr>
            <a:spLocks noChangeAspect="1"/>
          </p:cNvSpPr>
          <p:nvPr/>
        </p:nvSpPr>
        <p:spPr bwMode="gray">
          <a:xfrm>
            <a:off x="8478158" y="3285955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8825444" y="3223504"/>
            <a:ext cx="1726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广播转发：</a:t>
            </a:r>
            <a:r>
              <a:rPr lang="en-US" altLang="zh-CN" dirty="0">
                <a:sym typeface="Huawei Sans" panose="020C0503030203020204" pitchFamily="34" charset="0"/>
              </a:rPr>
              <a:t>PE1 to PE3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到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报文查询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流量转发表转发，携带</a:t>
            </a:r>
            <a:r>
              <a:rPr lang="en-US" altLang="zh-CN" sz="1800" dirty="0">
                <a:sym typeface="Huawei Sans" panose="020C0503030203020204" pitchFamily="34" charset="0"/>
              </a:rPr>
              <a:t>103</a:t>
            </a:r>
            <a:r>
              <a:rPr lang="zh-CN" altLang="en-US" sz="1800" dirty="0">
                <a:sym typeface="Huawei Sans" panose="020C0503030203020204" pitchFamily="34" charset="0"/>
              </a:rPr>
              <a:t>标签。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为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，转发报文到</a:t>
            </a:r>
            <a:r>
              <a:rPr lang="en-US" altLang="zh-CN" sz="1800" dirty="0">
                <a:sym typeface="Huawei Sans" panose="020C0503030203020204" pitchFamily="34" charset="0"/>
              </a:rPr>
              <a:t>Port3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1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1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6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6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7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902851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902851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426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8488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3" name="组合 92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94" name="组合 93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96" name="矩形 95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矩形 96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95" name="直接箭头连接符 94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8" name="组合 107"/>
          <p:cNvGrpSpPr/>
          <p:nvPr/>
        </p:nvGrpSpPr>
        <p:grpSpPr bwMode="gray">
          <a:xfrm>
            <a:off x="5571908" y="1513760"/>
            <a:ext cx="1239421" cy="1074219"/>
            <a:chOff x="8085508" y="1215750"/>
            <a:chExt cx="1037797" cy="1074219"/>
          </a:xfrm>
          <a:solidFill>
            <a:srgbClr val="F28944"/>
          </a:solidFill>
        </p:grpSpPr>
        <p:sp>
          <p:nvSpPr>
            <p:cNvPr id="109" name="矩形 108"/>
            <p:cNvSpPr/>
            <p:nvPr/>
          </p:nvSpPr>
          <p:spPr bwMode="gray">
            <a:xfrm>
              <a:off x="8085510" y="2059042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ARP</a:t>
              </a:r>
              <a:r>
                <a: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请求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gray">
            <a:xfrm>
              <a:off x="8085510" y="1680902"/>
              <a:ext cx="1037795" cy="378140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DMAC All</a:t>
              </a:r>
              <a:endPara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SMAC</a:t>
              </a:r>
              <a:r>
                <a: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1-1-1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1" name="矩形 110"/>
            <p:cNvSpPr/>
            <p:nvPr/>
          </p:nvSpPr>
          <p:spPr bwMode="gray">
            <a:xfrm>
              <a:off x="8085509" y="1446677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103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2" name="矩形 111"/>
            <p:cNvSpPr/>
            <p:nvPr/>
          </p:nvSpPr>
          <p:spPr bwMode="gray">
            <a:xfrm>
              <a:off x="8085508" y="1215750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8" name="任意多边形 2"/>
          <p:cNvSpPr/>
          <p:nvPr/>
        </p:nvSpPr>
        <p:spPr bwMode="gray">
          <a:xfrm>
            <a:off x="5191635" y="2455271"/>
            <a:ext cx="1920998" cy="482731"/>
          </a:xfrm>
          <a:custGeom>
            <a:avLst/>
            <a:gdLst>
              <a:gd name="connsiteX0" fmla="*/ 0 w 2235200"/>
              <a:gd name="connsiteY0" fmla="*/ 38100 h 482731"/>
              <a:gd name="connsiteX1" fmla="*/ 1143000 w 2235200"/>
              <a:gd name="connsiteY1" fmla="*/ 482600 h 482731"/>
              <a:gd name="connsiteX2" fmla="*/ 2235200 w 2235200"/>
              <a:gd name="connsiteY2" fmla="*/ 0 h 48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5200" h="482731">
                <a:moveTo>
                  <a:pt x="0" y="38100"/>
                </a:moveTo>
                <a:cubicBezTo>
                  <a:pt x="385233" y="263525"/>
                  <a:pt x="770467" y="488950"/>
                  <a:pt x="1143000" y="482600"/>
                </a:cubicBezTo>
                <a:cubicBezTo>
                  <a:pt x="1515533" y="476250"/>
                  <a:pt x="1875366" y="238125"/>
                  <a:pt x="2235200" y="0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020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矩形 65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5" name="组合 74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6" name="矩形 7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9" name="矩形 7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2" name="矩形 8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组合 83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5" name="矩形 8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广播转发：</a:t>
            </a:r>
            <a:r>
              <a:rPr lang="en-US" altLang="zh-CN" dirty="0">
                <a:sym typeface="Huawei Sans" panose="020C0503030203020204" pitchFamily="34" charset="0"/>
              </a:rPr>
              <a:t>PE1 to PE4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到</a:t>
            </a:r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的流量携带标签</a:t>
            </a:r>
            <a:r>
              <a:rPr lang="en-US" altLang="zh-CN" sz="1800" dirty="0">
                <a:sym typeface="Huawei Sans" panose="020C0503030203020204" pitchFamily="34" charset="0"/>
              </a:rPr>
              <a:t>104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根据标签确认是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流量，因</a:t>
            </a:r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为非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，丢弃报文。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2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2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71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1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902851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902851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426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8488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3" name="组合 92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94" name="组合 93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96" name="矩形 95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矩形 96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95" name="直接箭头连接符 94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8" name="组合 107"/>
          <p:cNvGrpSpPr/>
          <p:nvPr/>
        </p:nvGrpSpPr>
        <p:grpSpPr bwMode="gray">
          <a:xfrm>
            <a:off x="5581546" y="2409256"/>
            <a:ext cx="1239421" cy="1074219"/>
            <a:chOff x="8085508" y="1215750"/>
            <a:chExt cx="1037797" cy="1074219"/>
          </a:xfrm>
          <a:solidFill>
            <a:srgbClr val="F28944"/>
          </a:solidFill>
        </p:grpSpPr>
        <p:sp>
          <p:nvSpPr>
            <p:cNvPr id="109" name="矩形 108"/>
            <p:cNvSpPr/>
            <p:nvPr/>
          </p:nvSpPr>
          <p:spPr bwMode="gray">
            <a:xfrm>
              <a:off x="8085510" y="2059042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ARP</a:t>
              </a:r>
              <a:r>
                <a: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请求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gray">
            <a:xfrm>
              <a:off x="8085510" y="1680902"/>
              <a:ext cx="1037795" cy="378140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DMAC All</a:t>
              </a:r>
              <a:endPara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SMAC</a:t>
              </a:r>
              <a:r>
                <a: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1-1-1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1" name="矩形 110"/>
            <p:cNvSpPr/>
            <p:nvPr/>
          </p:nvSpPr>
          <p:spPr bwMode="gray">
            <a:xfrm>
              <a:off x="8085509" y="1446677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104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2" name="矩形 111"/>
            <p:cNvSpPr/>
            <p:nvPr/>
          </p:nvSpPr>
          <p:spPr bwMode="gray">
            <a:xfrm>
              <a:off x="8085508" y="1215750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8" name="任意多边形 2"/>
          <p:cNvSpPr/>
          <p:nvPr/>
        </p:nvSpPr>
        <p:spPr bwMode="gray">
          <a:xfrm rot="2837842">
            <a:off x="4416945" y="3544912"/>
            <a:ext cx="3210228" cy="634188"/>
          </a:xfrm>
          <a:custGeom>
            <a:avLst/>
            <a:gdLst>
              <a:gd name="connsiteX0" fmla="*/ 0 w 2235200"/>
              <a:gd name="connsiteY0" fmla="*/ 38100 h 482731"/>
              <a:gd name="connsiteX1" fmla="*/ 1143000 w 2235200"/>
              <a:gd name="connsiteY1" fmla="*/ 482600 h 482731"/>
              <a:gd name="connsiteX2" fmla="*/ 2235200 w 2235200"/>
              <a:gd name="connsiteY2" fmla="*/ 0 h 482731"/>
              <a:gd name="connsiteX0-1" fmla="*/ 0 w 2272179"/>
              <a:gd name="connsiteY0-2" fmla="*/ 0 h 444631"/>
              <a:gd name="connsiteX1-3" fmla="*/ 1143000 w 2272179"/>
              <a:gd name="connsiteY1-4" fmla="*/ 444500 h 444631"/>
              <a:gd name="connsiteX2-5" fmla="*/ 2272179 w 2272179"/>
              <a:gd name="connsiteY2-6" fmla="*/ 189563 h 444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72179" h="444631">
                <a:moveTo>
                  <a:pt x="0" y="0"/>
                </a:moveTo>
                <a:cubicBezTo>
                  <a:pt x="385233" y="225425"/>
                  <a:pt x="770467" y="450850"/>
                  <a:pt x="1143000" y="444500"/>
                </a:cubicBezTo>
                <a:cubicBezTo>
                  <a:pt x="1515533" y="438150"/>
                  <a:pt x="1912345" y="427688"/>
                  <a:pt x="2272179" y="189563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020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十字形 80"/>
          <p:cNvSpPr/>
          <p:nvPr/>
        </p:nvSpPr>
        <p:spPr bwMode="gray">
          <a:xfrm rot="2785165">
            <a:off x="10496014" y="4511426"/>
            <a:ext cx="330424" cy="330424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7" name="矩形 76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80" name="矩形 79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4" name="矩形 8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90" name="矩形 89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广播转发：</a:t>
            </a:r>
            <a:r>
              <a:rPr lang="en-US" altLang="zh-CN" dirty="0">
                <a:sym typeface="Huawei Sans" panose="020C0503030203020204" pitchFamily="34" charset="0"/>
              </a:rPr>
              <a:t>PE1 to PE2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由于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属于相同</a:t>
            </a:r>
            <a:r>
              <a:rPr lang="en-US" altLang="zh-CN" sz="1600" dirty="0">
                <a:sym typeface="Huawei Sans" panose="020C0503030203020204" pitchFamily="34" charset="0"/>
              </a:rPr>
              <a:t>ES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到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的流量同时携带</a:t>
            </a:r>
            <a:r>
              <a:rPr lang="en-US" altLang="zh-CN" sz="1600" dirty="0">
                <a:sym typeface="Huawei Sans" panose="020C0503030203020204" pitchFamily="34" charset="0"/>
              </a:rPr>
              <a:t>ESI</a:t>
            </a:r>
            <a:r>
              <a:rPr lang="zh-CN" altLang="en-US" sz="1600" dirty="0">
                <a:sym typeface="Huawei Sans" panose="020C0503030203020204" pitchFamily="34" charset="0"/>
              </a:rPr>
              <a:t>标签</a:t>
            </a:r>
            <a:r>
              <a:rPr lang="en-US" altLang="zh-CN" sz="1600" dirty="0">
                <a:sym typeface="Huawei Sans" panose="020C0503030203020204" pitchFamily="34" charset="0"/>
              </a:rPr>
              <a:t>202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BUM</a:t>
            </a:r>
            <a:r>
              <a:rPr lang="zh-CN" altLang="en-US" sz="1600" dirty="0">
                <a:sym typeface="Huawei Sans" panose="020C0503030203020204" pitchFamily="34" charset="0"/>
              </a:rPr>
              <a:t>标签</a:t>
            </a:r>
            <a:r>
              <a:rPr lang="en-US" altLang="zh-CN" sz="1600" dirty="0">
                <a:sym typeface="Huawei Sans" panose="020C0503030203020204" pitchFamily="34" charset="0"/>
              </a:rPr>
              <a:t>102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接收到报文发现有标签</a:t>
            </a:r>
            <a:r>
              <a:rPr lang="en-US" altLang="zh-CN" sz="1600" dirty="0">
                <a:sym typeface="Huawei Sans" panose="020C0503030203020204" pitchFamily="34" charset="0"/>
              </a:rPr>
              <a:t>202</a:t>
            </a:r>
            <a:r>
              <a:rPr lang="zh-CN" altLang="en-US" sz="1600" dirty="0">
                <a:sym typeface="Huawei Sans" panose="020C0503030203020204" pitchFamily="34" charset="0"/>
              </a:rPr>
              <a:t>，则丢弃该报文。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2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2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71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1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占位符 2"/>
          <p:cNvSpPr txBox="1"/>
          <p:nvPr/>
        </p:nvSpPr>
        <p:spPr bwMode="gray">
          <a:xfrm>
            <a:off x="468317" y="1233488"/>
            <a:ext cx="11276183" cy="49337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902851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902851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426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8488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3" name="组合 92"/>
          <p:cNvGrpSpPr/>
          <p:nvPr/>
        </p:nvGrpSpPr>
        <p:grpSpPr bwMode="gray">
          <a:xfrm>
            <a:off x="550697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94" name="组合 93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96" name="矩形 95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矩形 96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95" name="直接箭头连接符 94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8" name="组合 107"/>
          <p:cNvGrpSpPr/>
          <p:nvPr/>
        </p:nvGrpSpPr>
        <p:grpSpPr bwMode="gray">
          <a:xfrm>
            <a:off x="5587050" y="2228761"/>
            <a:ext cx="1239421" cy="1280337"/>
            <a:chOff x="8085508" y="1009632"/>
            <a:chExt cx="1037797" cy="1280337"/>
          </a:xfrm>
          <a:solidFill>
            <a:srgbClr val="F28944"/>
          </a:solidFill>
        </p:grpSpPr>
        <p:sp>
          <p:nvSpPr>
            <p:cNvPr id="109" name="矩形 108"/>
            <p:cNvSpPr/>
            <p:nvPr/>
          </p:nvSpPr>
          <p:spPr bwMode="gray">
            <a:xfrm>
              <a:off x="8085510" y="2059042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ARP</a:t>
              </a:r>
              <a:r>
                <a: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请求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gray">
            <a:xfrm>
              <a:off x="8085510" y="1680902"/>
              <a:ext cx="1037795" cy="378140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DMAC All</a:t>
              </a:r>
              <a:endParaRPr lang="en-US" altLang="zh-CN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SMAC</a:t>
              </a:r>
              <a:r>
                <a: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1-1-1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1" name="矩形 110"/>
            <p:cNvSpPr/>
            <p:nvPr/>
          </p:nvSpPr>
          <p:spPr bwMode="gray">
            <a:xfrm>
              <a:off x="8085509" y="1446677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202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2" name="矩形 111"/>
            <p:cNvSpPr/>
            <p:nvPr/>
          </p:nvSpPr>
          <p:spPr bwMode="gray">
            <a:xfrm>
              <a:off x="8085508" y="1215750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102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gray">
            <a:xfrm>
              <a:off x="8085508" y="1009632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8" name="任意多边形 2"/>
          <p:cNvSpPr/>
          <p:nvPr/>
        </p:nvSpPr>
        <p:spPr bwMode="gray">
          <a:xfrm rot="5400000" flipV="1">
            <a:off x="4294746" y="3946158"/>
            <a:ext cx="2384762" cy="380859"/>
          </a:xfrm>
          <a:custGeom>
            <a:avLst/>
            <a:gdLst>
              <a:gd name="connsiteX0" fmla="*/ 0 w 2235200"/>
              <a:gd name="connsiteY0" fmla="*/ 38100 h 482731"/>
              <a:gd name="connsiteX1" fmla="*/ 1143000 w 2235200"/>
              <a:gd name="connsiteY1" fmla="*/ 482600 h 482731"/>
              <a:gd name="connsiteX2" fmla="*/ 2235200 w 2235200"/>
              <a:gd name="connsiteY2" fmla="*/ 0 h 48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5200" h="482731">
                <a:moveTo>
                  <a:pt x="0" y="38100"/>
                </a:moveTo>
                <a:cubicBezTo>
                  <a:pt x="385233" y="263525"/>
                  <a:pt x="770467" y="488950"/>
                  <a:pt x="1143000" y="482600"/>
                </a:cubicBezTo>
                <a:cubicBezTo>
                  <a:pt x="1515533" y="476250"/>
                  <a:pt x="1875366" y="238125"/>
                  <a:pt x="2235200" y="0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020" y="1758381"/>
            <a:ext cx="1201904" cy="701460"/>
            <a:chOff x="550697" y="1918314"/>
            <a:chExt cx="1201904" cy="701460"/>
          </a:xfrm>
          <a:solidFill>
            <a:srgbClr val="ED6D00"/>
          </a:solidFill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918314"/>
              <a:ext cx="1129878" cy="609067"/>
              <a:chOff x="5547047" y="3776235"/>
              <a:chExt cx="1265233" cy="609067"/>
            </a:xfrm>
            <a:grpFill/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请求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776235"/>
                <a:ext cx="1265233" cy="3781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All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1-1-1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十字形 80"/>
          <p:cNvSpPr/>
          <p:nvPr/>
        </p:nvSpPr>
        <p:spPr bwMode="gray">
          <a:xfrm rot="2785165">
            <a:off x="5058544" y="5235061"/>
            <a:ext cx="549297" cy="549297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5649717" y="4489041"/>
            <a:ext cx="1437206" cy="738664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通过</a:t>
            </a:r>
            <a:r>
              <a:rPr lang="en-US" altLang="zh-CN" sz="1400" dirty="0">
                <a:solidFill>
                  <a:schemeClr val="bg1"/>
                </a:solidFill>
              </a:rPr>
              <a:t>Type 1</a:t>
            </a:r>
            <a:r>
              <a:rPr lang="zh-CN" altLang="en-US" sz="1400" dirty="0">
                <a:solidFill>
                  <a:schemeClr val="bg1"/>
                </a:solidFill>
              </a:rPr>
              <a:t>路由分配的</a:t>
            </a:r>
            <a:r>
              <a:rPr lang="en-US" altLang="zh-CN" sz="1400" dirty="0">
                <a:solidFill>
                  <a:schemeClr val="bg1"/>
                </a:solidFill>
              </a:rPr>
              <a:t>ESI</a:t>
            </a:r>
            <a:r>
              <a:rPr lang="zh-CN" altLang="en-US" sz="1400" dirty="0">
                <a:solidFill>
                  <a:schemeClr val="bg1"/>
                </a:solidFill>
              </a:rPr>
              <a:t>标签实现水平分割。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7" name="组合 76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8" name="矩形 77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0" name="组合 79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83" name="矩形 8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" name="组合 84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6" name="矩形 8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98" name="矩形 97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ARP</a:t>
            </a:r>
            <a:r>
              <a:rPr lang="zh-CN" altLang="en-US">
                <a:sym typeface="Huawei Sans" panose="020C0503030203020204" pitchFamily="34" charset="0"/>
              </a:rPr>
              <a:t>单播应答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单播回复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应答。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首先本地学习</a:t>
            </a:r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地址，然后触发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控制面行为，即发送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查询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地址表转发单播报文到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，最后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转发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报文到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46" name="Oval 4"/>
          <p:cNvSpPr>
            <a:spLocks noChangeAspect="1"/>
          </p:cNvSpPr>
          <p:nvPr/>
        </p:nvSpPr>
        <p:spPr bwMode="gray">
          <a:xfrm>
            <a:off x="9207087" y="3803117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文本框 146"/>
          <p:cNvSpPr txBox="1"/>
          <p:nvPr/>
        </p:nvSpPr>
        <p:spPr bwMode="gray">
          <a:xfrm>
            <a:off x="9554373" y="3740666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回复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Oval 4"/>
          <p:cNvSpPr>
            <a:spLocks noChangeAspect="1"/>
          </p:cNvSpPr>
          <p:nvPr/>
        </p:nvSpPr>
        <p:spPr bwMode="gray">
          <a:xfrm>
            <a:off x="6642260" y="2628393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文本框 148"/>
          <p:cNvSpPr txBox="1"/>
          <p:nvPr/>
        </p:nvSpPr>
        <p:spPr bwMode="gray">
          <a:xfrm>
            <a:off x="6989546" y="2565942"/>
            <a:ext cx="4825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学习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 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地址触发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控制面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学习。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4" name="图片 3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241" y="3496113"/>
            <a:ext cx="540000" cy="442800"/>
          </a:xfrm>
          <a:prstGeom prst="rect">
            <a:avLst/>
          </a:prstGeom>
        </p:spPr>
      </p:pic>
      <p:pic>
        <p:nvPicPr>
          <p:cNvPr id="35" name="图片 3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27241" y="5026189"/>
            <a:ext cx="540000" cy="442800"/>
          </a:xfrm>
          <a:prstGeom prst="rect">
            <a:avLst/>
          </a:prstGeom>
        </p:spPr>
      </p:pic>
      <p:pic>
        <p:nvPicPr>
          <p:cNvPr id="36" name="图片 3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76940" y="3496113"/>
            <a:ext cx="540000" cy="442800"/>
          </a:xfrm>
          <a:prstGeom prst="rect">
            <a:avLst/>
          </a:prstGeom>
        </p:spPr>
      </p:pic>
      <p:pic>
        <p:nvPicPr>
          <p:cNvPr id="37" name="图片 3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76940" y="5026189"/>
            <a:ext cx="540000" cy="442800"/>
          </a:xfrm>
          <a:prstGeom prst="rect">
            <a:avLst/>
          </a:prstGeom>
        </p:spPr>
      </p:pic>
      <p:pic>
        <p:nvPicPr>
          <p:cNvPr id="38" name="图片 3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58406" y="4248451"/>
            <a:ext cx="540000" cy="442800"/>
          </a:xfrm>
          <a:prstGeom prst="rect">
            <a:avLst/>
          </a:prstGeom>
        </p:spPr>
      </p:pic>
      <p:cxnSp>
        <p:nvCxnSpPr>
          <p:cNvPr id="39" name="直接连接符 38"/>
          <p:cNvCxnSpPr>
            <a:stCxn id="34" idx="1"/>
            <a:endCxn id="38" idx="3"/>
          </p:cNvCxnSpPr>
          <p:nvPr/>
        </p:nvCxnSpPr>
        <p:spPr bwMode="gray">
          <a:xfrm flipH="1">
            <a:off x="2898406" y="3717513"/>
            <a:ext cx="1228835" cy="7523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>
            <a:stCxn id="35" idx="1"/>
            <a:endCxn id="38" idx="3"/>
          </p:cNvCxnSpPr>
          <p:nvPr/>
        </p:nvCxnSpPr>
        <p:spPr bwMode="gray">
          <a:xfrm flipH="1" flipV="1">
            <a:off x="2898406" y="4469851"/>
            <a:ext cx="1228835" cy="7777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1" name="图片 40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929033" y="4248451"/>
            <a:ext cx="540000" cy="442800"/>
          </a:xfrm>
          <a:prstGeom prst="rect">
            <a:avLst/>
          </a:prstGeom>
        </p:spPr>
      </p:pic>
      <p:cxnSp>
        <p:nvCxnSpPr>
          <p:cNvPr id="42" name="直接连接符 41"/>
          <p:cNvCxnSpPr>
            <a:stCxn id="36" idx="3"/>
            <a:endCxn id="41" idx="1"/>
          </p:cNvCxnSpPr>
          <p:nvPr/>
        </p:nvCxnSpPr>
        <p:spPr bwMode="gray">
          <a:xfrm>
            <a:off x="7616940" y="3717513"/>
            <a:ext cx="1312093" cy="7523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>
            <a:stCxn id="41" idx="1"/>
            <a:endCxn id="37" idx="3"/>
          </p:cNvCxnSpPr>
          <p:nvPr/>
        </p:nvCxnSpPr>
        <p:spPr bwMode="gray">
          <a:xfrm flipH="1">
            <a:off x="7616940" y="4469851"/>
            <a:ext cx="1312093" cy="777738"/>
          </a:xfrm>
          <a:prstGeom prst="line">
            <a:avLst/>
          </a:prstGeom>
          <a:noFill/>
          <a:ln w="19050"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文本框 43"/>
          <p:cNvSpPr txBox="1"/>
          <p:nvPr/>
        </p:nvSpPr>
        <p:spPr bwMode="gray">
          <a:xfrm>
            <a:off x="2347963" y="4775129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8954016" y="4775129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4115994" y="317866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7087628" y="317866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4115994" y="5520062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7087628" y="5520062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任意多边形: 形状 51"/>
          <p:cNvSpPr/>
          <p:nvPr/>
        </p:nvSpPr>
        <p:spPr bwMode="gray">
          <a:xfrm flipH="1">
            <a:off x="4765103" y="3247656"/>
            <a:ext cx="2126230" cy="259462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6600" h="266700">
                <a:moveTo>
                  <a:pt x="0" y="266700"/>
                </a:moveTo>
                <a:cubicBezTo>
                  <a:pt x="289983" y="133350"/>
                  <a:pt x="579967" y="0"/>
                  <a:pt x="914400" y="0"/>
                </a:cubicBezTo>
                <a:cubicBezTo>
                  <a:pt x="1248833" y="0"/>
                  <a:pt x="1627716" y="133350"/>
                  <a:pt x="2006600" y="26670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 bwMode="gray">
          <a:xfrm>
            <a:off x="5142623" y="3956591"/>
            <a:ext cx="1410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单播应答</a:t>
            </a:r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任意多边形: 形状 55"/>
          <p:cNvSpPr/>
          <p:nvPr/>
        </p:nvSpPr>
        <p:spPr bwMode="gray">
          <a:xfrm rot="1775019" flipH="1">
            <a:off x="7787396" y="3727336"/>
            <a:ext cx="1262059" cy="125542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6600" h="266700">
                <a:moveTo>
                  <a:pt x="0" y="266700"/>
                </a:moveTo>
                <a:cubicBezTo>
                  <a:pt x="289983" y="133350"/>
                  <a:pt x="579967" y="0"/>
                  <a:pt x="914400" y="0"/>
                </a:cubicBezTo>
                <a:cubicBezTo>
                  <a:pt x="1248833" y="0"/>
                  <a:pt x="1627716" y="133350"/>
                  <a:pt x="2006600" y="26670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Oval 4"/>
          <p:cNvSpPr>
            <a:spLocks noChangeAspect="1"/>
          </p:cNvSpPr>
          <p:nvPr/>
        </p:nvSpPr>
        <p:spPr bwMode="gray">
          <a:xfrm>
            <a:off x="4302406" y="2010179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4649692" y="1947728"/>
            <a:ext cx="2752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数据平面转发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任意多边形: 形状 60"/>
          <p:cNvSpPr/>
          <p:nvPr/>
        </p:nvSpPr>
        <p:spPr bwMode="gray">
          <a:xfrm rot="19977413" flipH="1">
            <a:off x="2720029" y="3681941"/>
            <a:ext cx="1262059" cy="125542"/>
          </a:xfrm>
          <a:custGeom>
            <a:avLst/>
            <a:gdLst>
              <a:gd name="connsiteX0" fmla="*/ 0 w 2006600"/>
              <a:gd name="connsiteY0" fmla="*/ 266700 h 266700"/>
              <a:gd name="connsiteX1" fmla="*/ 914400 w 2006600"/>
              <a:gd name="connsiteY1" fmla="*/ 0 h 266700"/>
              <a:gd name="connsiteX2" fmla="*/ 2006600 w 20066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6600" h="266700">
                <a:moveTo>
                  <a:pt x="0" y="266700"/>
                </a:moveTo>
                <a:cubicBezTo>
                  <a:pt x="289983" y="133350"/>
                  <a:pt x="579967" y="0"/>
                  <a:pt x="914400" y="0"/>
                </a:cubicBezTo>
                <a:cubicBezTo>
                  <a:pt x="1248833" y="0"/>
                  <a:pt x="1627716" y="133350"/>
                  <a:pt x="2006600" y="266700"/>
                </a:cubicBezTo>
              </a:path>
            </a:pathLst>
          </a:custGeom>
          <a:noFill/>
          <a:ln w="5715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Oval 4"/>
          <p:cNvSpPr>
            <a:spLocks noChangeAspect="1"/>
          </p:cNvSpPr>
          <p:nvPr/>
        </p:nvSpPr>
        <p:spPr bwMode="gray">
          <a:xfrm>
            <a:off x="2161291" y="2885178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2508577" y="2822727"/>
            <a:ext cx="1931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单播应答：本地学习</a:t>
            </a:r>
            <a:r>
              <a:rPr lang="en-US" altLang="zh-CN" dirty="0">
                <a:sym typeface="Huawei Sans" panose="020C0503030203020204" pitchFamily="34" charset="0"/>
              </a:rPr>
              <a:t>MAC</a:t>
            </a:r>
            <a:r>
              <a:rPr lang="zh-CN" altLang="en-US" dirty="0">
                <a:sym typeface="Huawei Sans" panose="020C0503030203020204" pitchFamily="34" charset="0"/>
              </a:rPr>
              <a:t>地址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回复单播</a:t>
            </a:r>
            <a:r>
              <a:rPr lang="en-US" altLang="zh-CN" sz="1800" dirty="0">
                <a:sym typeface="Huawei Sans" panose="020C0503030203020204" pitchFamily="34" charset="0"/>
              </a:rPr>
              <a:t>ARP</a:t>
            </a:r>
            <a:r>
              <a:rPr lang="zh-CN" altLang="en-US" sz="1800" dirty="0">
                <a:sym typeface="Huawei Sans" panose="020C0503030203020204" pitchFamily="34" charset="0"/>
              </a:rPr>
              <a:t>应答。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通过数据面学习到</a:t>
            </a:r>
            <a:r>
              <a:rPr lang="en-US" altLang="zh-CN" sz="1800" dirty="0">
                <a:sym typeface="Huawei Sans" panose="020C0503030203020204" pitchFamily="34" charset="0"/>
              </a:rPr>
              <a:t>CE2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地址，生成本地</a:t>
            </a:r>
            <a:r>
              <a:rPr lang="en-US" altLang="zh-CN" sz="1800" dirty="0">
                <a:sym typeface="Huawei Sans" panose="020C0503030203020204" pitchFamily="34" charset="0"/>
              </a:rPr>
              <a:t>MAC-VRF</a:t>
            </a:r>
            <a:r>
              <a:rPr lang="zh-CN" altLang="en-US" sz="1800" dirty="0">
                <a:sym typeface="Huawei Sans" panose="020C0503030203020204" pitchFamily="34" charset="0"/>
              </a:rPr>
              <a:t>表项。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55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55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8" idx="3"/>
            <a:endCxn id="53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53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7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80713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1974094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93651" y="1880713"/>
          <a:ext cx="1830227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34992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020" y="1600266"/>
            <a:ext cx="1201904" cy="859575"/>
            <a:chOff x="550697" y="1760199"/>
            <a:chExt cx="1201904" cy="859575"/>
          </a:xfrm>
          <a:solidFill>
            <a:srgbClr val="ED6D00"/>
          </a:solidFill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760199"/>
              <a:ext cx="1129878" cy="767182"/>
              <a:chOff x="5547047" y="3618120"/>
              <a:chExt cx="1265233" cy="767182"/>
            </a:xfrm>
            <a:grpFill/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应答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618120"/>
                <a:ext cx="1264994" cy="535940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1-1-1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2-2-2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矩形 52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3" name="组合 62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64" name="矩形 6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2" name="矩形 7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75" name="矩形 7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7" name="组合 76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78" name="矩形 77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单播应答：</a:t>
            </a:r>
            <a:r>
              <a:rPr lang="en-US" altLang="zh-CN" dirty="0">
                <a:sym typeface="Huawei Sans" panose="020C0503030203020204" pitchFamily="34" charset="0"/>
              </a:rPr>
              <a:t>MAC</a:t>
            </a:r>
            <a:r>
              <a:rPr lang="zh-CN" altLang="en-US" dirty="0">
                <a:sym typeface="Huawei Sans" panose="020C0503030203020204" pitchFamily="34" charset="0"/>
              </a:rPr>
              <a:t>地址通告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生成并通告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路由。其他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接收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发出的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路由，刷新本地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表项。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1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1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5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5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7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96148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1974094" y="4572041"/>
          <a:ext cx="1842218" cy="769628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86031" y="1896148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5720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020" y="1503111"/>
            <a:ext cx="1247140" cy="956730"/>
            <a:chOff x="550697" y="1663044"/>
            <a:chExt cx="1247140" cy="956730"/>
          </a:xfrm>
          <a:solidFill>
            <a:srgbClr val="ED6D00"/>
          </a:solidFill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663044"/>
              <a:ext cx="1247140" cy="864337"/>
              <a:chOff x="5547047" y="3520965"/>
              <a:chExt cx="1396543" cy="864337"/>
            </a:xfrm>
            <a:grpFill/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应答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520965"/>
                <a:ext cx="1396543" cy="633095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1-1-1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2-2-2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任意多边形 1"/>
          <p:cNvSpPr/>
          <p:nvPr/>
        </p:nvSpPr>
        <p:spPr bwMode="gray">
          <a:xfrm flipV="1">
            <a:off x="5310222" y="3416132"/>
            <a:ext cx="1479372" cy="45719"/>
          </a:xfrm>
          <a:custGeom>
            <a:avLst/>
            <a:gdLst>
              <a:gd name="connsiteX0" fmla="*/ 1282700 w 1282700"/>
              <a:gd name="connsiteY0" fmla="*/ 0 h 101600"/>
              <a:gd name="connsiteX1" fmla="*/ 0 w 1282700"/>
              <a:gd name="connsiteY1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2700" h="101600">
                <a:moveTo>
                  <a:pt x="1282700" y="0"/>
                </a:moveTo>
                <a:lnTo>
                  <a:pt x="0" y="10160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任意多边形 3"/>
          <p:cNvSpPr/>
          <p:nvPr/>
        </p:nvSpPr>
        <p:spPr bwMode="gray">
          <a:xfrm>
            <a:off x="5321913" y="3623815"/>
            <a:ext cx="1698890" cy="574131"/>
          </a:xfrm>
          <a:custGeom>
            <a:avLst/>
            <a:gdLst>
              <a:gd name="connsiteX0" fmla="*/ 1397000 w 1397000"/>
              <a:gd name="connsiteY0" fmla="*/ 0 h 1549400"/>
              <a:gd name="connsiteX1" fmla="*/ 0 w 1397000"/>
              <a:gd name="connsiteY1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7000" h="1549400">
                <a:moveTo>
                  <a:pt x="1397000" y="0"/>
                </a:moveTo>
                <a:lnTo>
                  <a:pt x="0" y="154940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任意多边形 4"/>
          <p:cNvSpPr/>
          <p:nvPr/>
        </p:nvSpPr>
        <p:spPr bwMode="gray">
          <a:xfrm>
            <a:off x="6715904" y="3579062"/>
            <a:ext cx="396274" cy="1472637"/>
          </a:xfrm>
          <a:custGeom>
            <a:avLst/>
            <a:gdLst>
              <a:gd name="connsiteX0" fmla="*/ 256574 w 396274"/>
              <a:gd name="connsiteY0" fmla="*/ 0 h 2324100"/>
              <a:gd name="connsiteX1" fmla="*/ 2574 w 396274"/>
              <a:gd name="connsiteY1" fmla="*/ 1435100 h 2324100"/>
              <a:gd name="connsiteX2" fmla="*/ 396274 w 396274"/>
              <a:gd name="connsiteY2" fmla="*/ 232410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74" h="2324100">
                <a:moveTo>
                  <a:pt x="256574" y="0"/>
                </a:moveTo>
                <a:cubicBezTo>
                  <a:pt x="117932" y="523875"/>
                  <a:pt x="-20709" y="1047750"/>
                  <a:pt x="2574" y="1435100"/>
                </a:cubicBezTo>
                <a:cubicBezTo>
                  <a:pt x="25857" y="1822450"/>
                  <a:pt x="211065" y="2073275"/>
                  <a:pt x="396274" y="232410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1" name="组合 110"/>
          <p:cNvGrpSpPr/>
          <p:nvPr/>
        </p:nvGrpSpPr>
        <p:grpSpPr bwMode="gray">
          <a:xfrm>
            <a:off x="6662463" y="2871210"/>
            <a:ext cx="1865095" cy="1087794"/>
            <a:chOff x="5256840" y="2129351"/>
            <a:chExt cx="2255016" cy="1087794"/>
          </a:xfrm>
        </p:grpSpPr>
        <p:sp>
          <p:nvSpPr>
            <p:cNvPr id="112" name="矩形 111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rd3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7" name="矩形 116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8" name="矩形 117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 = 2-2-2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矩形 123"/>
            <p:cNvSpPr/>
            <p:nvPr/>
          </p:nvSpPr>
          <p:spPr bwMode="gray">
            <a:xfrm>
              <a:off x="5256841" y="3001795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Label = 303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5" name="矩形 124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PE3 Type2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93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4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5" name="燕尾形 94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6" name="五边形 95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5" name="组合 74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6" name="矩形 7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9" name="矩形 7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2" name="矩形 8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组合 83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5" name="矩形 8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单播应答：</a:t>
            </a:r>
            <a:r>
              <a:rPr lang="en-US" altLang="zh-CN" dirty="0">
                <a:sym typeface="Huawei Sans" panose="020C0503030203020204" pitchFamily="34" charset="0"/>
              </a:rPr>
              <a:t>MAC</a:t>
            </a:r>
            <a:r>
              <a:rPr lang="zh-CN" altLang="en-US" dirty="0">
                <a:sym typeface="Huawei Sans" panose="020C0503030203020204" pitchFamily="34" charset="0"/>
              </a:rPr>
              <a:t>地址通告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PE4</a:t>
            </a:r>
            <a:r>
              <a:rPr lang="zh-CN" altLang="en-US" sz="1800" dirty="0">
                <a:sym typeface="Huawei Sans" panose="020C0503030203020204" pitchFamily="34" charset="0"/>
              </a:rPr>
              <a:t>的接口属于</a:t>
            </a:r>
            <a:r>
              <a:rPr lang="en-US" altLang="zh-CN" sz="1800" dirty="0">
                <a:sym typeface="Huawei Sans" panose="020C0503030203020204" pitchFamily="34" charset="0"/>
              </a:rPr>
              <a:t>ESI 2</a:t>
            </a:r>
            <a:r>
              <a:rPr lang="zh-CN" altLang="en-US" sz="1800" dirty="0">
                <a:sym typeface="Huawei Sans" panose="020C0503030203020204" pitchFamily="34" charset="0"/>
              </a:rPr>
              <a:t>，因此刷新更优的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地址表。同时生成和发布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endCxn id="72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2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71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1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59656" y="1681561"/>
            <a:ext cx="3196528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1974094" y="1895765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1974094" y="4573565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87" name="矩形 86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391473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93651" y="1895765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020" y="1599631"/>
            <a:ext cx="1251585" cy="860210"/>
            <a:chOff x="550697" y="1759564"/>
            <a:chExt cx="1251585" cy="860210"/>
          </a:xfrm>
          <a:solidFill>
            <a:srgbClr val="ED6D00"/>
          </a:solidFill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759564"/>
              <a:ext cx="1251585" cy="767817"/>
              <a:chOff x="5547047" y="3617485"/>
              <a:chExt cx="1401520" cy="767817"/>
            </a:xfrm>
            <a:grpFill/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应答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617485"/>
                <a:ext cx="1401520" cy="536575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1-1-1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2-2-2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grpFill/>
            <a:ln w="1905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任意多边形 5"/>
          <p:cNvSpPr/>
          <p:nvPr/>
        </p:nvSpPr>
        <p:spPr bwMode="gray">
          <a:xfrm>
            <a:off x="5333681" y="4355477"/>
            <a:ext cx="1527607" cy="519581"/>
          </a:xfrm>
          <a:custGeom>
            <a:avLst/>
            <a:gdLst>
              <a:gd name="connsiteX0" fmla="*/ 1270000 w 1270000"/>
              <a:gd name="connsiteY0" fmla="*/ 0 h 901700"/>
              <a:gd name="connsiteX1" fmla="*/ 0 w 1270000"/>
              <a:gd name="connsiteY1" fmla="*/ 901700 h 90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00" h="901700">
                <a:moveTo>
                  <a:pt x="1270000" y="0"/>
                </a:moveTo>
                <a:lnTo>
                  <a:pt x="0" y="90170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任意多边形 6"/>
          <p:cNvSpPr/>
          <p:nvPr/>
        </p:nvSpPr>
        <p:spPr bwMode="gray">
          <a:xfrm>
            <a:off x="5333682" y="3183714"/>
            <a:ext cx="1527606" cy="1050772"/>
          </a:xfrm>
          <a:custGeom>
            <a:avLst/>
            <a:gdLst>
              <a:gd name="connsiteX0" fmla="*/ 1282700 w 1282700"/>
              <a:gd name="connsiteY0" fmla="*/ 1257300 h 1257300"/>
              <a:gd name="connsiteX1" fmla="*/ 0 w 1282700"/>
              <a:gd name="connsiteY1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2700" h="1257300">
                <a:moveTo>
                  <a:pt x="1282700" y="125730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任意多边形 7"/>
          <p:cNvSpPr/>
          <p:nvPr/>
        </p:nvSpPr>
        <p:spPr bwMode="gray">
          <a:xfrm>
            <a:off x="6499786" y="2491659"/>
            <a:ext cx="661570" cy="1676290"/>
          </a:xfrm>
          <a:custGeom>
            <a:avLst/>
            <a:gdLst>
              <a:gd name="connsiteX0" fmla="*/ 180055 w 675355"/>
              <a:gd name="connsiteY0" fmla="*/ 1511300 h 1511300"/>
              <a:gd name="connsiteX1" fmla="*/ 27655 w 675355"/>
              <a:gd name="connsiteY1" fmla="*/ 584200 h 1511300"/>
              <a:gd name="connsiteX2" fmla="*/ 675355 w 675355"/>
              <a:gd name="connsiteY2" fmla="*/ 0 h 1511300"/>
              <a:gd name="connsiteX0-1" fmla="*/ 296088 w 664388"/>
              <a:gd name="connsiteY0-2" fmla="*/ 1599466 h 1599466"/>
              <a:gd name="connsiteX1-3" fmla="*/ 16688 w 664388"/>
              <a:gd name="connsiteY1-4" fmla="*/ 584200 h 1599466"/>
              <a:gd name="connsiteX2-5" fmla="*/ 664388 w 664388"/>
              <a:gd name="connsiteY2-6" fmla="*/ 0 h 1599466"/>
              <a:gd name="connsiteX0-7" fmla="*/ 356770 w 661570"/>
              <a:gd name="connsiteY0-8" fmla="*/ 1662441 h 1662441"/>
              <a:gd name="connsiteX1-9" fmla="*/ 13870 w 661570"/>
              <a:gd name="connsiteY1-10" fmla="*/ 584200 h 1662441"/>
              <a:gd name="connsiteX2-11" fmla="*/ 661570 w 661570"/>
              <a:gd name="connsiteY2-12" fmla="*/ 0 h 16624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61570" h="1662441">
                <a:moveTo>
                  <a:pt x="356770" y="1662441"/>
                </a:moveTo>
                <a:cubicBezTo>
                  <a:pt x="239295" y="1324832"/>
                  <a:pt x="-68680" y="836083"/>
                  <a:pt x="13870" y="584200"/>
                </a:cubicBezTo>
                <a:cubicBezTo>
                  <a:pt x="96420" y="332317"/>
                  <a:pt x="378995" y="166158"/>
                  <a:pt x="661570" y="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3" name="组合 82"/>
          <p:cNvGrpSpPr/>
          <p:nvPr/>
        </p:nvGrpSpPr>
        <p:grpSpPr bwMode="gray">
          <a:xfrm>
            <a:off x="6853209" y="4044144"/>
            <a:ext cx="1865095" cy="1087794"/>
            <a:chOff x="5256840" y="2129351"/>
            <a:chExt cx="2255016" cy="1087794"/>
          </a:xfrm>
        </p:grpSpPr>
        <p:sp>
          <p:nvSpPr>
            <p:cNvPr id="85" name="矩形 84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rd4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0" name="矩形 99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1" name="矩形 100"/>
            <p:cNvSpPr/>
            <p:nvPr/>
          </p:nvSpPr>
          <p:spPr bwMode="gray">
            <a:xfrm>
              <a:off x="5256841" y="2785664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MAC = 2-2-2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3" name="矩形 112"/>
            <p:cNvSpPr/>
            <p:nvPr/>
          </p:nvSpPr>
          <p:spPr bwMode="gray">
            <a:xfrm>
              <a:off x="5256841" y="3001795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 Label = 304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PE4 Type2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4" name="矩形 33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燕尾形 26"/>
          <p:cNvSpPr/>
          <p:nvPr/>
        </p:nvSpPr>
        <p:spPr bwMode="gray">
          <a:xfrm>
            <a:off x="8853718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4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4" name="燕尾形 27"/>
          <p:cNvSpPr/>
          <p:nvPr/>
        </p:nvSpPr>
        <p:spPr bwMode="gray">
          <a:xfrm>
            <a:off x="9790299" y="114300"/>
            <a:ext cx="102062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8" name="燕尾形 107"/>
          <p:cNvSpPr/>
          <p:nvPr/>
        </p:nvSpPr>
        <p:spPr bwMode="gray">
          <a:xfrm>
            <a:off x="10726880" y="114300"/>
            <a:ext cx="102062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9" name="五边形 108"/>
          <p:cNvSpPr/>
          <p:nvPr/>
        </p:nvSpPr>
        <p:spPr bwMode="gray">
          <a:xfrm>
            <a:off x="7785757" y="114300"/>
            <a:ext cx="1152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aphicFrame>
        <p:nvGraphicFramePr>
          <p:cNvPr id="104" name="表格 103"/>
          <p:cNvGraphicFramePr>
            <a:graphicFrameLocks noGrp="1"/>
          </p:cNvGraphicFramePr>
          <p:nvPr/>
        </p:nvGraphicFramePr>
        <p:xfrm>
          <a:off x="8467642" y="5150207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2-2-2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ESI 2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Port 4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NULL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71" name="矩形 70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74" name="矩形 7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75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7" name="矩形 76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80" name="矩形 79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81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91" name="矩形 90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ARP</a:t>
            </a:r>
            <a:r>
              <a:rPr lang="zh-CN" altLang="en-US" dirty="0">
                <a:sym typeface="Huawei Sans" panose="020C0503030203020204" pitchFamily="34" charset="0"/>
              </a:rPr>
              <a:t>单播应答：数据平面转发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通过负载分担算法找出下一跳（如：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）发送报文，携带标签</a:t>
            </a:r>
            <a:r>
              <a:rPr lang="en-US" altLang="zh-CN" sz="1800" dirty="0">
                <a:sym typeface="Huawei Sans" panose="020C0503030203020204" pitchFamily="34" charset="0"/>
              </a:rPr>
              <a:t>301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接收报文后向</a:t>
            </a:r>
            <a:r>
              <a:rPr lang="en-US" altLang="zh-CN" sz="1800" dirty="0">
                <a:sym typeface="Huawei Sans" panose="020C0503030203020204" pitchFamily="34" charset="0"/>
              </a:rPr>
              <a:t>Port1</a:t>
            </a:r>
            <a:r>
              <a:rPr lang="zh-CN" altLang="en-US" sz="1800" dirty="0">
                <a:sym typeface="Huawei Sans" panose="020C0503030203020204" pitchFamily="34" charset="0"/>
              </a:rPr>
              <a:t>转发。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63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63" idx="3"/>
          </p:cNvCxnSpPr>
          <p:nvPr/>
        </p:nvCxnSpPr>
        <p:spPr bwMode="gray">
          <a:xfrm flipH="1" flipV="1">
            <a:off x="1080361" y="3899987"/>
            <a:ext cx="781956" cy="121255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2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2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93651" y="1923197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595917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9" name="组合 118"/>
          <p:cNvGrpSpPr/>
          <p:nvPr/>
        </p:nvGrpSpPr>
        <p:grpSpPr bwMode="gray">
          <a:xfrm>
            <a:off x="10497185" y="1624965"/>
            <a:ext cx="1249680" cy="835025"/>
            <a:chOff x="550697" y="1867392"/>
            <a:chExt cx="1249523" cy="752382"/>
          </a:xfrm>
        </p:grpSpPr>
        <p:grpSp>
          <p:nvGrpSpPr>
            <p:cNvPr id="120" name="组合 119"/>
            <p:cNvGrpSpPr/>
            <p:nvPr/>
          </p:nvGrpSpPr>
          <p:grpSpPr bwMode="gray">
            <a:xfrm>
              <a:off x="550697" y="1867392"/>
              <a:ext cx="1249523" cy="659989"/>
              <a:chOff x="5547047" y="3725313"/>
              <a:chExt cx="1399211" cy="659989"/>
            </a:xfrm>
            <a:solidFill>
              <a:schemeClr val="accent2"/>
            </a:solidFill>
          </p:grpSpPr>
          <p:sp>
            <p:nvSpPr>
              <p:cNvPr id="122" name="矩形 12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solidFill>
                <a:srgbClr val="ED6D00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应答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 bwMode="gray">
              <a:xfrm>
                <a:off x="5547047" y="3725313"/>
                <a:ext cx="1399211" cy="429115"/>
              </a:xfrm>
              <a:prstGeom prst="rect">
                <a:avLst/>
              </a:prstGeom>
              <a:solidFill>
                <a:srgbClr val="ED6D00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1-1-1</a:t>
                </a:r>
                <a:endPara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2-2-2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121" name="直接箭头连接符 12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/>
        </p:nvGrpSpPr>
        <p:grpSpPr bwMode="gray">
          <a:xfrm>
            <a:off x="490372" y="1625031"/>
            <a:ext cx="1262229" cy="834810"/>
            <a:chOff x="490372" y="1784964"/>
            <a:chExt cx="1262229" cy="834810"/>
          </a:xfrm>
        </p:grpSpPr>
        <p:grpSp>
          <p:nvGrpSpPr>
            <p:cNvPr id="80" name="组合 79"/>
            <p:cNvGrpSpPr/>
            <p:nvPr/>
          </p:nvGrpSpPr>
          <p:grpSpPr bwMode="gray">
            <a:xfrm>
              <a:off x="490372" y="1784964"/>
              <a:ext cx="1190203" cy="742417"/>
              <a:chOff x="5479495" y="3642885"/>
              <a:chExt cx="1332785" cy="742417"/>
            </a:xfrm>
            <a:solidFill>
              <a:schemeClr val="accent2"/>
            </a:solidFill>
          </p:grpSpPr>
          <p:sp>
            <p:nvSpPr>
              <p:cNvPr id="82" name="矩形 81"/>
              <p:cNvSpPr/>
              <p:nvPr/>
            </p:nvSpPr>
            <p:spPr bwMode="gray">
              <a:xfrm>
                <a:off x="5547047" y="4154375"/>
                <a:ext cx="1265233" cy="230927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ARP</a:t>
                </a:r>
                <a:r>
                  <a:rPr lang="zh-CN" altLang="en-US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应答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3" name="矩形 92"/>
              <p:cNvSpPr/>
              <p:nvPr/>
            </p:nvSpPr>
            <p:spPr bwMode="gray">
              <a:xfrm>
                <a:off x="5479495" y="3642885"/>
                <a:ext cx="1332546" cy="511175"/>
              </a:xfrm>
              <a:prstGeom prst="rect">
                <a:avLst/>
              </a:prstGeom>
              <a:grp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DMAC 1-1-1</a:t>
                </a:r>
                <a:endPara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algn="ctr" defTabSz="1078230"/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SMAC</a:t>
                </a:r>
                <a:r>
                  <a:rPr lang="zh-CN" altLang="en-US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</a:t>
                </a:r>
                <a:r>
                  <a:rPr lang="en-US" altLang="zh-CN" sz="1200" b="1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2-2-2</a:t>
                </a:r>
                <a:endParaRPr lang="zh-CN" altLang="en-US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81" name="直接箭头连接符 80"/>
            <p:cNvCxnSpPr/>
            <p:nvPr/>
          </p:nvCxnSpPr>
          <p:spPr bwMode="gray">
            <a:xfrm>
              <a:off x="550697" y="2619774"/>
              <a:ext cx="1201904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 bwMode="gray">
          <a:xfrm>
            <a:off x="5571908" y="1513760"/>
            <a:ext cx="1239421" cy="1074219"/>
            <a:chOff x="8085508" y="1215750"/>
            <a:chExt cx="1037797" cy="1074219"/>
          </a:xfrm>
          <a:solidFill>
            <a:srgbClr val="F28944"/>
          </a:solidFill>
        </p:grpSpPr>
        <p:sp>
          <p:nvSpPr>
            <p:cNvPr id="108" name="矩形 107"/>
            <p:cNvSpPr/>
            <p:nvPr/>
          </p:nvSpPr>
          <p:spPr bwMode="gray">
            <a:xfrm>
              <a:off x="8085510" y="2059042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ARP</a:t>
              </a:r>
              <a:r>
                <a:rPr lang="zh-CN" altLang="en-US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应答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gray">
            <a:xfrm>
              <a:off x="8085510" y="1680902"/>
              <a:ext cx="1037795" cy="378140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DMAC 1-1-1</a:t>
              </a:r>
              <a:endParaRPr lang="en-US" altLang="zh-CN" sz="12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SMAC</a:t>
              </a:r>
              <a:r>
                <a:rPr lang="zh-CN" altLang="en-US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2-2-2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gray">
            <a:xfrm>
              <a:off x="8085509" y="1446677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301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1" name="矩形 110"/>
            <p:cNvSpPr/>
            <p:nvPr/>
          </p:nvSpPr>
          <p:spPr bwMode="gray">
            <a:xfrm>
              <a:off x="8085508" y="1215750"/>
              <a:ext cx="1037795" cy="230927"/>
            </a:xfrm>
            <a:prstGeom prst="rect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Tunnel</a:t>
              </a:r>
              <a:endParaRPr lang="zh-CN" altLang="en-US" sz="12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2" name="任意多边形 2"/>
          <p:cNvSpPr/>
          <p:nvPr/>
        </p:nvSpPr>
        <p:spPr bwMode="gray">
          <a:xfrm>
            <a:off x="5191635" y="2455271"/>
            <a:ext cx="1920998" cy="482731"/>
          </a:xfrm>
          <a:custGeom>
            <a:avLst/>
            <a:gdLst>
              <a:gd name="connsiteX0" fmla="*/ 0 w 2235200"/>
              <a:gd name="connsiteY0" fmla="*/ 38100 h 482731"/>
              <a:gd name="connsiteX1" fmla="*/ 1143000 w 2235200"/>
              <a:gd name="connsiteY1" fmla="*/ 482600 h 482731"/>
              <a:gd name="connsiteX2" fmla="*/ 2235200 w 2235200"/>
              <a:gd name="connsiteY2" fmla="*/ 0 h 48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5200" h="482731">
                <a:moveTo>
                  <a:pt x="0" y="38100"/>
                </a:moveTo>
                <a:cubicBezTo>
                  <a:pt x="385233" y="263525"/>
                  <a:pt x="770467" y="488950"/>
                  <a:pt x="1143000" y="482600"/>
                </a:cubicBezTo>
                <a:cubicBezTo>
                  <a:pt x="1515533" y="476250"/>
                  <a:pt x="1875366" y="238125"/>
                  <a:pt x="2235200" y="0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14" name="表格 113"/>
          <p:cNvGraphicFramePr>
            <a:graphicFrameLocks noGrp="1"/>
          </p:cNvGraphicFramePr>
          <p:nvPr/>
        </p:nvGraphicFramePr>
        <p:xfrm>
          <a:off x="1974094" y="1909669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1974094" y="4600997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116" name="矩形 115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矩形 116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61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62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74" name="矩形 7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75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77" name="矩形 76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84" name="矩形 8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7" name="矩形 86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3815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总结：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解决双活带来问题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Type 1</a:t>
            </a:r>
            <a:r>
              <a:rPr lang="zh-CN" altLang="en-US" sz="1800" dirty="0">
                <a:sym typeface="Huawei Sans" panose="020C0503030203020204" pitchFamily="34" charset="0"/>
              </a:rPr>
              <a:t>路由携带的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解决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侧环路问题。</a:t>
            </a:r>
            <a:r>
              <a:rPr lang="en-US" altLang="zh-CN" sz="1800" dirty="0">
                <a:sym typeface="Huawei Sans" panose="020C0503030203020204" pitchFamily="34" charset="0"/>
              </a:rPr>
              <a:t>Type 4</a:t>
            </a:r>
            <a:r>
              <a:rPr lang="zh-CN" altLang="en-US" sz="1800" dirty="0">
                <a:sym typeface="Huawei Sans" panose="020C0503030203020204" pitchFamily="34" charset="0"/>
              </a:rPr>
              <a:t>路由实现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选举，解决广播流量向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发送多份的问题。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71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71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6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6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902851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902851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426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8488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994659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994660" y="49018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2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68"/>
          <p:cNvSpPr/>
          <p:nvPr/>
        </p:nvSpPr>
        <p:spPr bwMode="gray">
          <a:xfrm>
            <a:off x="10571928" y="2515998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3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10571928" y="4889151"/>
            <a:ext cx="782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Port 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93651" y="17037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1047163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10608904" y="2808905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/>
          <p:cNvSpPr/>
          <p:nvPr/>
        </p:nvSpPr>
        <p:spPr bwMode="gray">
          <a:xfrm>
            <a:off x="1047163" y="5232060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矩形 106"/>
          <p:cNvSpPr/>
          <p:nvPr/>
        </p:nvSpPr>
        <p:spPr bwMode="gray">
          <a:xfrm>
            <a:off x="10608904" y="5121417"/>
            <a:ext cx="662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ESI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14" name="表格 113"/>
          <p:cNvGraphicFramePr>
            <a:graphicFrameLocks noGrp="1"/>
          </p:cNvGraphicFramePr>
          <p:nvPr/>
        </p:nvGraphicFramePr>
        <p:xfrm>
          <a:off x="1974094" y="1690213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1974094" y="43815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116" name="矩形 115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矩形 116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70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85" name="矩形 8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86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93" name="矩形 92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5" name="组合 94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96" name="矩形 9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97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99" name="矩形 98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十字形 71"/>
          <p:cNvSpPr/>
          <p:nvPr/>
        </p:nvSpPr>
        <p:spPr bwMode="gray">
          <a:xfrm rot="2785165">
            <a:off x="1241465" y="4283315"/>
            <a:ext cx="549297" cy="549297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任意多边形 1"/>
          <p:cNvSpPr/>
          <p:nvPr/>
        </p:nvSpPr>
        <p:spPr bwMode="gray">
          <a:xfrm>
            <a:off x="5350782" y="3053362"/>
            <a:ext cx="628086" cy="2418426"/>
          </a:xfrm>
          <a:custGeom>
            <a:avLst/>
            <a:gdLst>
              <a:gd name="connsiteX0" fmla="*/ 0 w 764285"/>
              <a:gd name="connsiteY0" fmla="*/ 0 h 2511188"/>
              <a:gd name="connsiteX1" fmla="*/ 764275 w 764285"/>
              <a:gd name="connsiteY1" fmla="*/ 1201003 h 2511188"/>
              <a:gd name="connsiteX2" fmla="*/ 13648 w 764285"/>
              <a:gd name="connsiteY2" fmla="*/ 2511188 h 25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285" h="2511188">
                <a:moveTo>
                  <a:pt x="0" y="0"/>
                </a:moveTo>
                <a:cubicBezTo>
                  <a:pt x="381000" y="391236"/>
                  <a:pt x="762000" y="782472"/>
                  <a:pt x="764275" y="1201003"/>
                </a:cubicBezTo>
                <a:cubicBezTo>
                  <a:pt x="766550" y="1619534"/>
                  <a:pt x="390099" y="2065361"/>
                  <a:pt x="13648" y="2511188"/>
                </a:cubicBez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任意多边形 2"/>
          <p:cNvSpPr/>
          <p:nvPr/>
        </p:nvSpPr>
        <p:spPr bwMode="gray">
          <a:xfrm>
            <a:off x="5306036" y="2927337"/>
            <a:ext cx="1847041" cy="2008587"/>
          </a:xfrm>
          <a:custGeom>
            <a:avLst/>
            <a:gdLst>
              <a:gd name="connsiteX0" fmla="*/ 0 w 1869743"/>
              <a:gd name="connsiteY0" fmla="*/ 0 h 1719618"/>
              <a:gd name="connsiteX1" fmla="*/ 1869743 w 1869743"/>
              <a:gd name="connsiteY1" fmla="*/ 1719618 h 171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9743" h="1719618">
                <a:moveTo>
                  <a:pt x="0" y="0"/>
                </a:moveTo>
                <a:lnTo>
                  <a:pt x="1869743" y="1719618"/>
                </a:ln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任意多边形 3"/>
          <p:cNvSpPr/>
          <p:nvPr/>
        </p:nvSpPr>
        <p:spPr bwMode="gray">
          <a:xfrm rot="21347661">
            <a:off x="5259324" y="2642345"/>
            <a:ext cx="1949425" cy="108055"/>
          </a:xfrm>
          <a:custGeom>
            <a:avLst/>
            <a:gdLst>
              <a:gd name="connsiteX0" fmla="*/ 0 w 1856095"/>
              <a:gd name="connsiteY0" fmla="*/ 40944 h 40944"/>
              <a:gd name="connsiteX1" fmla="*/ 1856095 w 1856095"/>
              <a:gd name="connsiteY1" fmla="*/ 0 h 4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6095" h="40944">
                <a:moveTo>
                  <a:pt x="0" y="40944"/>
                </a:moveTo>
                <a:lnTo>
                  <a:pt x="1856095" y="0"/>
                </a:lnTo>
              </a:path>
            </a:pathLst>
          </a:cu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十字形 75"/>
          <p:cNvSpPr/>
          <p:nvPr/>
        </p:nvSpPr>
        <p:spPr bwMode="gray">
          <a:xfrm rot="2785165">
            <a:off x="10510724" y="4309542"/>
            <a:ext cx="549297" cy="549297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7" name="直接箭头连接符 76"/>
          <p:cNvCxnSpPr/>
          <p:nvPr/>
        </p:nvCxnSpPr>
        <p:spPr>
          <a:xfrm>
            <a:off x="5350782" y="5843523"/>
            <a:ext cx="453118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直接箭头连接符 77"/>
          <p:cNvCxnSpPr/>
          <p:nvPr/>
        </p:nvCxnSpPr>
        <p:spPr>
          <a:xfrm>
            <a:off x="10456057" y="3147459"/>
            <a:ext cx="532442" cy="76685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框 4"/>
          <p:cNvSpPr txBox="1"/>
          <p:nvPr/>
        </p:nvSpPr>
        <p:spPr>
          <a:xfrm>
            <a:off x="5821029" y="5693246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BUM</a:t>
            </a:r>
            <a:r>
              <a:rPr lang="zh-CN" altLang="en-US" sz="1400" dirty="0"/>
              <a:t>流量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3815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总结：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实现负载分担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实现全路径负载分担。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67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  <a:endCxn id="67" idx="3"/>
          </p:cNvCxnSpPr>
          <p:nvPr/>
        </p:nvCxnSpPr>
        <p:spPr bwMode="gray">
          <a:xfrm flipH="1" flipV="1">
            <a:off x="1080361" y="3899987"/>
            <a:ext cx="781956" cy="1212549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66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6" idx="1"/>
          </p:cNvCxnSpPr>
          <p:nvPr/>
        </p:nvCxnSpPr>
        <p:spPr bwMode="gray">
          <a:xfrm flipV="1">
            <a:off x="10427652" y="3905435"/>
            <a:ext cx="677353" cy="1207102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683603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8683603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512101" y="2669523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512101" y="5348707"/>
          <a:ext cx="1626257" cy="769628"/>
        </p:xfrm>
        <a:graphic>
          <a:graphicData uri="http://schemas.openxmlformats.org/drawingml/2006/table">
            <a:tbl>
              <a:tblPr/>
              <a:tblGrid>
                <a:gridCol w="353996"/>
                <a:gridCol w="457843"/>
                <a:gridCol w="407209"/>
                <a:gridCol w="407209"/>
              </a:tblGrid>
              <a:tr h="169113">
                <a:tc gridSpan="4"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成员信息表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序号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69113"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9028517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9028517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42608" y="4382445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848833" y="1703261"/>
          <a:ext cx="1309333" cy="962035"/>
        </p:xfrm>
        <a:graphic>
          <a:graphicData uri="http://schemas.openxmlformats.org/drawingml/2006/table">
            <a:tbl>
              <a:tblPr/>
              <a:tblGrid>
                <a:gridCol w="608902"/>
                <a:gridCol w="700431"/>
              </a:tblGrid>
              <a:tr h="12005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流量转发表</a:t>
                      </a:r>
                      <a:endParaRPr lang="en-US" altLang="zh-CN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Peer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Label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200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93651" y="17037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14" name="表格 113"/>
          <p:cNvGraphicFramePr>
            <a:graphicFrameLocks noGrp="1"/>
          </p:cNvGraphicFramePr>
          <p:nvPr/>
        </p:nvGraphicFramePr>
        <p:xfrm>
          <a:off x="1974094" y="1690213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1974094" y="43815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116" name="矩形 115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矩形 116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连接符 70"/>
          <p:cNvCxnSpPr/>
          <p:nvPr/>
        </p:nvCxnSpPr>
        <p:spPr bwMode="gray">
          <a:xfrm rot="18329043" flipH="1" flipV="1">
            <a:off x="931726" y="3204405"/>
            <a:ext cx="650226" cy="4132"/>
          </a:xfrm>
          <a:prstGeom prst="line">
            <a:avLst/>
          </a:prstGeom>
          <a:noFill/>
          <a:ln w="28575">
            <a:solidFill>
              <a:srgbClr val="D0E8C4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直接连接符 71"/>
          <p:cNvCxnSpPr/>
          <p:nvPr/>
        </p:nvCxnSpPr>
        <p:spPr bwMode="gray">
          <a:xfrm rot="18329043" flipH="1">
            <a:off x="1020745" y="3276043"/>
            <a:ext cx="650227" cy="0"/>
          </a:xfrm>
          <a:prstGeom prst="line">
            <a:avLst/>
          </a:prstGeom>
          <a:noFill/>
          <a:ln w="28575">
            <a:solidFill>
              <a:srgbClr val="AFD89C"/>
            </a:solidFill>
            <a:prstDash val="sysDot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文本框 74"/>
          <p:cNvSpPr txBox="1"/>
          <p:nvPr/>
        </p:nvSpPr>
        <p:spPr bwMode="gray">
          <a:xfrm>
            <a:off x="485953" y="1807453"/>
            <a:ext cx="611065" cy="292388"/>
          </a:xfrm>
          <a:prstGeom prst="rect">
            <a:avLst/>
          </a:prstGeom>
          <a:solidFill>
            <a:srgbClr val="D0E8C4"/>
          </a:solidFill>
        </p:spPr>
        <p:txBody>
          <a:bodyPr wrap="none" rtlCol="0">
            <a:spAutoFit/>
          </a:bodyPr>
          <a:lstStyle/>
          <a:p>
            <a:r>
              <a:rPr lang="zh-CN" altLang="en-US" sz="13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lang="en-US" altLang="zh-CN" sz="13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 bwMode="gray">
          <a:xfrm>
            <a:off x="485953" y="2117331"/>
            <a:ext cx="611065" cy="292388"/>
          </a:xfrm>
          <a:prstGeom prst="rect">
            <a:avLst/>
          </a:prstGeom>
          <a:solidFill>
            <a:srgbClr val="AFD89C"/>
          </a:solidFill>
        </p:spPr>
        <p:txBody>
          <a:bodyPr wrap="none" rtlCol="0">
            <a:spAutoFit/>
          </a:bodyPr>
          <a:lstStyle/>
          <a:p>
            <a:r>
              <a:rPr lang="zh-CN" altLang="en-US" sz="13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lang="en-US" altLang="zh-CN" sz="13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3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485953" y="2427209"/>
            <a:ext cx="611065" cy="292388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/>
          <a:p>
            <a:r>
              <a:rPr lang="zh-CN" altLang="en-US" sz="13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lang="en-US" altLang="zh-CN" sz="13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3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485953" y="2737086"/>
            <a:ext cx="611065" cy="292388"/>
          </a:xfrm>
          <a:prstGeom prst="rect">
            <a:avLst/>
          </a:prstGeom>
          <a:solidFill>
            <a:srgbClr val="62B230"/>
          </a:solidFill>
        </p:spPr>
        <p:txBody>
          <a:bodyPr wrap="none" rtlCol="0">
            <a:spAutoFit/>
          </a:bodyPr>
          <a:lstStyle/>
          <a:p>
            <a:r>
              <a:rPr lang="zh-CN" altLang="en-US" sz="13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lang="en-US" altLang="zh-CN" sz="13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3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10695047" y="2333545"/>
            <a:ext cx="611065" cy="292388"/>
          </a:xfrm>
          <a:prstGeom prst="rect">
            <a:avLst/>
          </a:prstGeom>
          <a:solidFill>
            <a:srgbClr val="D0E8C4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3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数据</a:t>
            </a:r>
            <a:r>
              <a:rPr lang="en-US" altLang="zh-CN" dirty="0">
                <a:sym typeface="Huawei Sans" panose="020C0503030203020204" pitchFamily="34" charset="0"/>
              </a:rPr>
              <a:t>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10695047" y="2652677"/>
            <a:ext cx="611065" cy="292388"/>
          </a:xfrm>
          <a:prstGeom prst="rect">
            <a:avLst/>
          </a:prstGeom>
          <a:solidFill>
            <a:srgbClr val="81C15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3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数据</a:t>
            </a:r>
            <a:r>
              <a:rPr lang="en-US" altLang="zh-CN" dirty="0">
                <a:sym typeface="Huawei Sans" panose="020C0503030203020204" pitchFamily="34" charset="0"/>
              </a:rPr>
              <a:t>3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10695047" y="4909748"/>
            <a:ext cx="611065" cy="292388"/>
          </a:xfrm>
          <a:prstGeom prst="rect">
            <a:avLst/>
          </a:prstGeom>
          <a:solidFill>
            <a:srgbClr val="AFD89C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3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>
                <a:sym typeface="Huawei Sans" panose="020C0503030203020204" pitchFamily="34" charset="0"/>
              </a:rPr>
              <a:t>数据</a:t>
            </a:r>
            <a:r>
              <a:rPr lang="en-US" altLang="zh-CN">
                <a:sym typeface="Huawei Sans" panose="020C0503030203020204" pitchFamily="34" charset="0"/>
              </a:rPr>
              <a:t>2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10695047" y="5241405"/>
            <a:ext cx="611065" cy="292388"/>
          </a:xfrm>
          <a:prstGeom prst="rect">
            <a:avLst/>
          </a:prstGeom>
          <a:solidFill>
            <a:srgbClr val="62B230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3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>
                <a:sym typeface="Huawei Sans" panose="020C0503030203020204" pitchFamily="34" charset="0"/>
              </a:rPr>
              <a:t>数据</a:t>
            </a:r>
            <a:r>
              <a:rPr lang="en-US" altLang="zh-CN">
                <a:sym typeface="Huawei Sans" panose="020C0503030203020204" pitchFamily="34" charset="0"/>
              </a:rPr>
              <a:t>4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97" name="直接连接符 96"/>
          <p:cNvCxnSpPr/>
          <p:nvPr/>
        </p:nvCxnSpPr>
        <p:spPr bwMode="gray">
          <a:xfrm flipH="1" flipV="1">
            <a:off x="1167788" y="4382445"/>
            <a:ext cx="385217" cy="407630"/>
          </a:xfrm>
          <a:prstGeom prst="line">
            <a:avLst/>
          </a:prstGeom>
          <a:noFill/>
          <a:ln w="28575">
            <a:solidFill>
              <a:srgbClr val="81C15F"/>
            </a:solidFill>
            <a:prstDash val="sysDash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直接连接符 97"/>
          <p:cNvCxnSpPr/>
          <p:nvPr/>
        </p:nvCxnSpPr>
        <p:spPr bwMode="gray">
          <a:xfrm flipH="1" flipV="1">
            <a:off x="1097018" y="4473148"/>
            <a:ext cx="369342" cy="398979"/>
          </a:xfrm>
          <a:prstGeom prst="line">
            <a:avLst/>
          </a:prstGeom>
          <a:noFill/>
          <a:ln w="28575">
            <a:solidFill>
              <a:srgbClr val="62B230"/>
            </a:solidFill>
            <a:prstDash val="dash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9" name="直接连接符 98"/>
          <p:cNvCxnSpPr>
            <a:endCxn id="3" idx="3"/>
          </p:cNvCxnSpPr>
          <p:nvPr/>
        </p:nvCxnSpPr>
        <p:spPr bwMode="gray">
          <a:xfrm flipH="1">
            <a:off x="5279073" y="2669524"/>
            <a:ext cx="1880584" cy="0"/>
          </a:xfrm>
          <a:prstGeom prst="line">
            <a:avLst/>
          </a:prstGeom>
          <a:noFill/>
          <a:ln w="28575">
            <a:solidFill>
              <a:srgbClr val="D0E8C4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连接符 99"/>
          <p:cNvCxnSpPr>
            <a:stCxn id="20" idx="1"/>
            <a:endCxn id="3" idx="3"/>
          </p:cNvCxnSpPr>
          <p:nvPr/>
        </p:nvCxnSpPr>
        <p:spPr bwMode="gray">
          <a:xfrm flipH="1" flipV="1">
            <a:off x="5279073" y="2696330"/>
            <a:ext cx="1839769" cy="2416206"/>
          </a:xfrm>
          <a:prstGeom prst="line">
            <a:avLst/>
          </a:prstGeom>
          <a:noFill/>
          <a:ln w="28575">
            <a:solidFill>
              <a:srgbClr val="AFD89C"/>
            </a:solidFill>
            <a:prstDash val="sysDot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连接符 102"/>
          <p:cNvCxnSpPr>
            <a:stCxn id="18" idx="1"/>
            <a:endCxn id="16" idx="3"/>
          </p:cNvCxnSpPr>
          <p:nvPr/>
        </p:nvCxnSpPr>
        <p:spPr bwMode="gray">
          <a:xfrm flipH="1">
            <a:off x="5279072" y="2696330"/>
            <a:ext cx="1839770" cy="2416206"/>
          </a:xfrm>
          <a:prstGeom prst="line">
            <a:avLst/>
          </a:prstGeom>
          <a:noFill/>
          <a:ln w="28575">
            <a:solidFill>
              <a:srgbClr val="81C15F"/>
            </a:solidFill>
            <a:prstDash val="sysDash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连接符 103"/>
          <p:cNvCxnSpPr/>
          <p:nvPr/>
        </p:nvCxnSpPr>
        <p:spPr bwMode="gray">
          <a:xfrm flipH="1">
            <a:off x="5296763" y="5134349"/>
            <a:ext cx="1868861" cy="1"/>
          </a:xfrm>
          <a:prstGeom prst="line">
            <a:avLst/>
          </a:prstGeom>
          <a:noFill/>
          <a:ln w="28575">
            <a:solidFill>
              <a:srgbClr val="62B230"/>
            </a:solidFill>
            <a:prstDash val="dash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矩形 65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5" name="组合 94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96" name="矩形 95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2" name="组合 101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105" name="矩形 104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108" name="矩形 107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09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111" name="矩形 110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总结：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故障快速收敛 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PE3</a:t>
            </a:r>
            <a:r>
              <a:rPr lang="zh-CN" altLang="en-US" sz="1600" dirty="0">
                <a:sym typeface="Huawei Sans" panose="020C0503030203020204" pitchFamily="34" charset="0"/>
              </a:rPr>
              <a:t>检测到</a:t>
            </a:r>
            <a:r>
              <a:rPr lang="en-US" altLang="zh-CN" sz="1600" dirty="0">
                <a:sym typeface="Huawei Sans" panose="020C0503030203020204" pitchFamily="34" charset="0"/>
              </a:rPr>
              <a:t>CE2</a:t>
            </a:r>
            <a:r>
              <a:rPr lang="zh-CN" altLang="en-US" sz="1600" dirty="0">
                <a:sym typeface="Huawei Sans" panose="020C0503030203020204" pitchFamily="34" charset="0"/>
              </a:rPr>
              <a:t>链路故障，首先删除自己本地</a:t>
            </a:r>
            <a:r>
              <a:rPr lang="en-US" altLang="zh-CN" sz="1600" dirty="0"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ym typeface="Huawei Sans" panose="020C0503030203020204" pitchFamily="34" charset="0"/>
              </a:rPr>
              <a:t>表项，然后通过</a:t>
            </a:r>
            <a:r>
              <a:rPr lang="en-US" altLang="zh-CN" sz="1600" dirty="0">
                <a:sym typeface="Huawei Sans" panose="020C0503030203020204" pitchFamily="34" charset="0"/>
              </a:rPr>
              <a:t>Type 1</a:t>
            </a:r>
            <a:r>
              <a:rPr lang="zh-CN" altLang="en-US" sz="1600" dirty="0">
                <a:sym typeface="Huawei Sans" panose="020C0503030203020204" pitchFamily="34" charset="0"/>
              </a:rPr>
              <a:t>路由通告所有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撤销该</a:t>
            </a:r>
            <a:r>
              <a:rPr lang="en-US" altLang="zh-CN" sz="1600" dirty="0">
                <a:sym typeface="Huawei Sans" panose="020C0503030203020204" pitchFamily="34" charset="0"/>
              </a:rPr>
              <a:t>ES</a:t>
            </a:r>
            <a:r>
              <a:rPr lang="zh-CN" altLang="en-US" sz="1600" dirty="0">
                <a:sym typeface="Huawei Sans" panose="020C0503030203020204" pitchFamily="34" charset="0"/>
              </a:rPr>
              <a:t>相关的所有</a:t>
            </a:r>
            <a:r>
              <a:rPr lang="en-US" altLang="zh-CN" sz="1600" dirty="0"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ym typeface="Huawei Sans" panose="020C0503030203020204" pitchFamily="34" charset="0"/>
              </a:rPr>
              <a:t>地址。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1862317" y="1624920"/>
            <a:ext cx="3416756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568666" y="343118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连接符 9"/>
          <p:cNvCxnSpPr>
            <a:stCxn id="3" idx="1"/>
            <a:endCxn id="53" idx="3"/>
          </p:cNvCxnSpPr>
          <p:nvPr/>
        </p:nvCxnSpPr>
        <p:spPr bwMode="gray">
          <a:xfrm flipH="1">
            <a:off x="1080361" y="2696330"/>
            <a:ext cx="781956" cy="1203657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53" idx="3"/>
          </p:cNvCxnSpPr>
          <p:nvPr/>
        </p:nvCxnSpPr>
        <p:spPr bwMode="gray">
          <a:xfrm flipH="1" flipV="1">
            <a:off x="1080361" y="3899987"/>
            <a:ext cx="781956" cy="1203656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18" idx="3"/>
            <a:endCxn id="48" idx="1"/>
          </p:cNvCxnSpPr>
          <p:nvPr/>
        </p:nvCxnSpPr>
        <p:spPr bwMode="gray">
          <a:xfrm>
            <a:off x="10427652" y="2696330"/>
            <a:ext cx="677353" cy="1209105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20" idx="3"/>
            <a:endCxn id="48" idx="1"/>
          </p:cNvCxnSpPr>
          <p:nvPr/>
        </p:nvCxnSpPr>
        <p:spPr bwMode="gray">
          <a:xfrm flipV="1">
            <a:off x="10427652" y="3905435"/>
            <a:ext cx="677353" cy="1207101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 bwMode="gray">
          <a:xfrm>
            <a:off x="1862317" y="4027471"/>
            <a:ext cx="3416755" cy="217012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565619" y="4024704"/>
            <a:ext cx="542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118842" y="1624920"/>
            <a:ext cx="3308810" cy="21428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7180062" y="3438911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PE3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118842" y="4027472"/>
            <a:ext cx="3308810" cy="217012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7186930" y="4046385"/>
            <a:ext cx="542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PE4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7179843" y="1681561"/>
            <a:ext cx="3176341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159656" y="4367205"/>
            <a:ext cx="3213386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矩形 55"/>
          <p:cNvSpPr/>
          <p:nvPr/>
        </p:nvSpPr>
        <p:spPr bwMode="gray">
          <a:xfrm>
            <a:off x="1933785" y="1681561"/>
            <a:ext cx="3297066" cy="17703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1937502" y="4367205"/>
            <a:ext cx="3282117" cy="177705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endParaRPr lang="zh-CN" altLang="en-US" sz="1600" b="1" dirty="0">
              <a:solidFill>
                <a:srgbClr val="FF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7541862" y="556424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2381872" y="556294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28535" y="2956907"/>
            <a:ext cx="447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2305640" y="2927337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7112633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7193651" y="17037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3 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7186031" y="437646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302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 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 bwMode="gray">
          <a:xfrm>
            <a:off x="7112291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14" name="表格 113"/>
          <p:cNvGraphicFramePr>
            <a:graphicFrameLocks noGrp="1"/>
          </p:cNvGraphicFramePr>
          <p:nvPr/>
        </p:nvGraphicFramePr>
        <p:xfrm>
          <a:off x="1974094" y="1690213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Port1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1974094" y="4381541"/>
          <a:ext cx="1842218" cy="962035"/>
        </p:xfrm>
        <a:graphic>
          <a:graphicData uri="http://schemas.openxmlformats.org/drawingml/2006/table">
            <a:tbl>
              <a:tblPr/>
              <a:tblGrid>
                <a:gridCol w="409761"/>
                <a:gridCol w="427732"/>
                <a:gridCol w="546983"/>
                <a:gridCol w="457742"/>
              </a:tblGrid>
              <a:tr h="0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MAC-VRF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 hMerge="1">
                  <a:tcPr/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MAC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下一跳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标签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C4D2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1-1-1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1</a:t>
                      </a:r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Port2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NULL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PE3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i="0" u="none" strike="sng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303</a:t>
                      </a:r>
                      <a:endParaRPr lang="en-US" altLang="zh-CN" sz="1200" b="1" i="0" u="none" strike="sng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  <a:tr h="1866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2-2-2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ESI 2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PE4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Arial" panose="020B0604020202020204" pitchFamily="34" charset="0"/>
                          <a:sym typeface="Huawei Sans" panose="020C0503030203020204" pitchFamily="34" charset="0"/>
                        </a:rPr>
                        <a:t>304</a:t>
                      </a:r>
                      <a:endParaRPr lang="en-US" altLang="zh-CN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anose="020B0604020202020204" pitchFamily="34" charset="0"/>
                        <a:sym typeface="Huawei Sans" panose="020C0503030203020204" pitchFamily="34" charset="0"/>
                      </a:endParaRPr>
                    </a:p>
                  </a:txBody>
                  <a:tcPr marL="9527" marR="9527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9EE"/>
                    </a:solidFill>
                  </a:tcPr>
                </a:tc>
              </a:tr>
            </a:tbl>
          </a:graphicData>
        </a:graphic>
      </p:graphicFrame>
      <p:sp>
        <p:nvSpPr>
          <p:cNvPr id="116" name="矩形 115"/>
          <p:cNvSpPr/>
          <p:nvPr/>
        </p:nvSpPr>
        <p:spPr bwMode="gray">
          <a:xfrm>
            <a:off x="1900354" y="1633550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矩形 116"/>
          <p:cNvSpPr/>
          <p:nvPr/>
        </p:nvSpPr>
        <p:spPr bwMode="gray">
          <a:xfrm>
            <a:off x="1900696" y="4330826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078230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EVI 1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十字形 68"/>
          <p:cNvSpPr/>
          <p:nvPr/>
        </p:nvSpPr>
        <p:spPr bwMode="gray">
          <a:xfrm rot="1717244">
            <a:off x="10476749" y="2909484"/>
            <a:ext cx="287786" cy="287786"/>
          </a:xfrm>
          <a:prstGeom prst="plus">
            <a:avLst>
              <a:gd name="adj" fmla="val 39697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任意多边形 1"/>
          <p:cNvSpPr/>
          <p:nvPr/>
        </p:nvSpPr>
        <p:spPr bwMode="gray">
          <a:xfrm flipV="1">
            <a:off x="5337867" y="2727077"/>
            <a:ext cx="1774423" cy="229829"/>
          </a:xfrm>
          <a:custGeom>
            <a:avLst/>
            <a:gdLst>
              <a:gd name="connsiteX0" fmla="*/ 1282700 w 1282700"/>
              <a:gd name="connsiteY0" fmla="*/ 0 h 101600"/>
              <a:gd name="connsiteX1" fmla="*/ 0 w 1282700"/>
              <a:gd name="connsiteY1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2700" h="101600">
                <a:moveTo>
                  <a:pt x="1282700" y="0"/>
                </a:moveTo>
                <a:lnTo>
                  <a:pt x="0" y="10160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任意多边形 3"/>
          <p:cNvSpPr/>
          <p:nvPr/>
        </p:nvSpPr>
        <p:spPr bwMode="gray">
          <a:xfrm>
            <a:off x="5349558" y="3097191"/>
            <a:ext cx="1775833" cy="411702"/>
          </a:xfrm>
          <a:custGeom>
            <a:avLst/>
            <a:gdLst>
              <a:gd name="connsiteX0" fmla="*/ 1397000 w 1397000"/>
              <a:gd name="connsiteY0" fmla="*/ 0 h 1549400"/>
              <a:gd name="connsiteX1" fmla="*/ 0 w 1397000"/>
              <a:gd name="connsiteY1" fmla="*/ 15494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7000" h="1549400">
                <a:moveTo>
                  <a:pt x="1397000" y="0"/>
                </a:moveTo>
                <a:lnTo>
                  <a:pt x="0" y="1549400"/>
                </a:ln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任意多边形 4"/>
          <p:cNvSpPr/>
          <p:nvPr/>
        </p:nvSpPr>
        <p:spPr bwMode="gray">
          <a:xfrm>
            <a:off x="6743550" y="2890009"/>
            <a:ext cx="396274" cy="1472637"/>
          </a:xfrm>
          <a:custGeom>
            <a:avLst/>
            <a:gdLst>
              <a:gd name="connsiteX0" fmla="*/ 256574 w 396274"/>
              <a:gd name="connsiteY0" fmla="*/ 0 h 2324100"/>
              <a:gd name="connsiteX1" fmla="*/ 2574 w 396274"/>
              <a:gd name="connsiteY1" fmla="*/ 1435100 h 2324100"/>
              <a:gd name="connsiteX2" fmla="*/ 396274 w 396274"/>
              <a:gd name="connsiteY2" fmla="*/ 232410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74" h="2324100">
                <a:moveTo>
                  <a:pt x="256574" y="0"/>
                </a:moveTo>
                <a:cubicBezTo>
                  <a:pt x="117932" y="523875"/>
                  <a:pt x="-20709" y="1047750"/>
                  <a:pt x="2574" y="1435100"/>
                </a:cubicBezTo>
                <a:cubicBezTo>
                  <a:pt x="25857" y="1822450"/>
                  <a:pt x="211065" y="2073275"/>
                  <a:pt x="396274" y="2324100"/>
                </a:cubicBezTo>
              </a:path>
            </a:pathLst>
          </a:custGeom>
          <a:noFill/>
          <a:ln w="38100">
            <a:solidFill>
              <a:srgbClr val="EC706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1" name="组合 80"/>
          <p:cNvGrpSpPr/>
          <p:nvPr/>
        </p:nvGrpSpPr>
        <p:grpSpPr bwMode="gray">
          <a:xfrm>
            <a:off x="6690109" y="2691217"/>
            <a:ext cx="1865095" cy="650058"/>
            <a:chOff x="5256840" y="2129351"/>
            <a:chExt cx="2255016" cy="650058"/>
          </a:xfrm>
        </p:grpSpPr>
        <p:sp>
          <p:nvSpPr>
            <p:cNvPr id="82" name="矩形 81"/>
            <p:cNvSpPr/>
            <p:nvPr/>
          </p:nvSpPr>
          <p:spPr bwMode="gray">
            <a:xfrm>
              <a:off x="5256841" y="2356491"/>
              <a:ext cx="2255015" cy="201845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RD = rd3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gray">
            <a:xfrm>
              <a:off x="5256841" y="2564059"/>
              <a:ext cx="2255015" cy="215350"/>
            </a:xfrm>
            <a:prstGeom prst="rect">
              <a:avLst/>
            </a:prstGeom>
            <a:solidFill>
              <a:srgbClr val="FAD3BB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2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ESI = ESI 2</a:t>
              </a:r>
              <a:endPara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6" name="矩形 85"/>
            <p:cNvSpPr/>
            <p:nvPr/>
          </p:nvSpPr>
          <p:spPr bwMode="gray">
            <a:xfrm>
              <a:off x="5256840" y="2129351"/>
              <a:ext cx="2255015" cy="226072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8230"/>
              <a:r>
                <a:rPr lang="en-US" altLang="zh-CN" sz="130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PE3 Type1 Route</a:t>
              </a:r>
              <a:endParaRPr lang="en-US" altLang="zh-CN" sz="13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7" name="直接箭头连接符 6"/>
          <p:cNvCxnSpPr/>
          <p:nvPr/>
        </p:nvCxnSpPr>
        <p:spPr bwMode="gray">
          <a:xfrm>
            <a:off x="8196208" y="5733521"/>
            <a:ext cx="4404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 bwMode="gray">
          <a:xfrm>
            <a:off x="8636652" y="5564244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切换为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11105005" y="3650348"/>
            <a:ext cx="642495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444500" y="3644900"/>
            <a:ext cx="635861" cy="510173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8230"/>
            <a:r>
              <a:rPr lang="en-US" altLang="zh-CN" sz="16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endParaRPr lang="zh-CN" altLang="en-US" sz="16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 bwMode="gray">
          <a:xfrm rot="5400000">
            <a:off x="1817443" y="2652212"/>
            <a:ext cx="156754" cy="122809"/>
            <a:chOff x="5719030" y="3021874"/>
            <a:chExt cx="156754" cy="122809"/>
          </a:xfrm>
        </p:grpSpPr>
        <p:sp>
          <p:nvSpPr>
            <p:cNvPr id="61" name="矩形 60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/>
        </p:nvGrpSpPr>
        <p:grpSpPr bwMode="gray">
          <a:xfrm rot="5400000">
            <a:off x="1817443" y="5045165"/>
            <a:ext cx="156754" cy="122809"/>
            <a:chOff x="5719030" y="3021874"/>
            <a:chExt cx="156754" cy="122809"/>
          </a:xfrm>
        </p:grpSpPr>
        <p:sp>
          <p:nvSpPr>
            <p:cNvPr id="64" name="矩形 63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/>
          <p:cNvGrpSpPr/>
          <p:nvPr/>
        </p:nvGrpSpPr>
        <p:grpSpPr bwMode="gray">
          <a:xfrm rot="16200000" flipH="1">
            <a:off x="10316274" y="2652212"/>
            <a:ext cx="156754" cy="122809"/>
            <a:chOff x="5719030" y="3021874"/>
            <a:chExt cx="156754" cy="122809"/>
          </a:xfrm>
        </p:grpSpPr>
        <p:sp>
          <p:nvSpPr>
            <p:cNvPr id="67" name="矩形 66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 bwMode="gray">
          <a:xfrm rot="16200000" flipH="1">
            <a:off x="10316275" y="5020932"/>
            <a:ext cx="156754" cy="122809"/>
            <a:chOff x="5719030" y="3021874"/>
            <a:chExt cx="156754" cy="122809"/>
          </a:xfrm>
        </p:grpSpPr>
        <p:sp>
          <p:nvSpPr>
            <p:cNvPr id="72" name="矩形 71"/>
            <p:cNvSpPr/>
            <p:nvPr/>
          </p:nvSpPr>
          <p:spPr bwMode="gray">
            <a:xfrm>
              <a:off x="5719030" y="3021874"/>
              <a:ext cx="156754" cy="122809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 bwMode="gray">
            <a:xfrm>
              <a:off x="5750506" y="3068820"/>
              <a:ext cx="93802" cy="75863"/>
            </a:xfrm>
            <a:prstGeom prst="rect">
              <a:avLst/>
            </a:prstGeom>
            <a:solidFill>
              <a:srgbClr val="62B23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r>
              <a:rPr lang="zh-CN" altLang="en-US" b="1" dirty="0">
                <a:sym typeface="Huawei Sans" panose="020C0503030203020204" pitchFamily="34" charset="0"/>
              </a:rPr>
              <a:t>工作原理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路由简介与交互流程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路由类型详解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接入原理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路由回顾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通过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协议工作流程介绍了的</a:t>
            </a:r>
            <a:r>
              <a:rPr lang="en-US" altLang="zh-CN" sz="1800" dirty="0">
                <a:sym typeface="Huawei Sans" panose="020C0503030203020204" pitchFamily="34" charset="0"/>
              </a:rPr>
              <a:t>Type 1~Type 4</a:t>
            </a:r>
            <a:r>
              <a:rPr lang="zh-CN" altLang="en-US" sz="1800" dirty="0">
                <a:sym typeface="Huawei Sans" panose="020C0503030203020204" pitchFamily="34" charset="0"/>
              </a:rPr>
              <a:t>类路由的作用，本章节将继续学习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路由的详细报文和完整使用场景。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93909" y="1993072"/>
          <a:ext cx="10804182" cy="33277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8602"/>
                <a:gridCol w="4276578"/>
                <a:gridCol w="2959002"/>
              </a:tblGrid>
              <a:tr h="3699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路由类型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作用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受益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27854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1) 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A-D Route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别名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地址批量撤销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多活指示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ESI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环路避免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快速收敛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负载分担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3365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2) 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MAC/IP Advertisement Route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地址学习通告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MAC/IP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绑定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地址移动性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基于每个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的策略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ARP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抑制</a:t>
                      </a:r>
                      <a:b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主机迁移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8933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3) </a:t>
                      </a:r>
                      <a:r>
                        <a:rPr lang="en-US" sz="1600" u="none" strike="noStrike" kern="120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Inclusive Multicast Route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组播隧道端点自动发现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&amp;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组播类型自动发现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支持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220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4) </a:t>
                      </a: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Segment Route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成员自动发现</a:t>
                      </a:r>
                      <a:endParaRPr lang="en-US" altLang="zh-CN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DF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选举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多活，单活支持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EVPN</a:t>
            </a:r>
            <a:r>
              <a:rPr lang="zh-CN" altLang="en-US" dirty="0"/>
              <a:t>路由携带的关键参数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/>
              <a:t>EVPN</a:t>
            </a:r>
            <a:r>
              <a:rPr lang="zh-CN" altLang="en-US" sz="1600" dirty="0"/>
              <a:t>四种路由类型的作用和其携带的参数有密不可分的关系：</a:t>
            </a:r>
            <a:endParaRPr lang="en-US" altLang="zh-CN" sz="1600" dirty="0"/>
          </a:p>
          <a:p>
            <a:pPr lvl="1"/>
            <a:r>
              <a:rPr lang="en-US" altLang="zh-CN" sz="1400" dirty="0"/>
              <a:t>Type 1</a:t>
            </a:r>
            <a:r>
              <a:rPr lang="zh-CN" altLang="en-US" sz="1400" dirty="0"/>
              <a:t>路由携带</a:t>
            </a:r>
            <a:r>
              <a:rPr lang="en-US" altLang="zh-CN" sz="1400" dirty="0"/>
              <a:t>ESI</a:t>
            </a:r>
            <a:r>
              <a:rPr lang="zh-CN" altLang="en-US" sz="1400" dirty="0"/>
              <a:t>标签用于实现水平分割。</a:t>
            </a:r>
            <a:endParaRPr lang="en-US" altLang="zh-CN" sz="1400" dirty="0"/>
          </a:p>
          <a:p>
            <a:pPr lvl="1"/>
            <a:r>
              <a:rPr lang="en-US" altLang="zh-CN" sz="1400" dirty="0"/>
              <a:t>Type 2</a:t>
            </a:r>
            <a:r>
              <a:rPr lang="zh-CN" altLang="en-US" sz="1400" dirty="0"/>
              <a:t>路由携带单播标签指导单播流量转发。</a:t>
            </a:r>
            <a:endParaRPr lang="en-US" altLang="zh-CN" sz="1400" dirty="0"/>
          </a:p>
          <a:p>
            <a:pPr lvl="1"/>
            <a:r>
              <a:rPr lang="en-US" altLang="zh-CN" sz="1400" dirty="0"/>
              <a:t>Type 3</a:t>
            </a:r>
            <a:r>
              <a:rPr lang="zh-CN" altLang="en-US" sz="1400" dirty="0"/>
              <a:t>路由携带</a:t>
            </a:r>
            <a:r>
              <a:rPr lang="en-US" altLang="zh-CN" sz="1400" dirty="0"/>
              <a:t>BUM</a:t>
            </a:r>
            <a:r>
              <a:rPr lang="zh-CN" altLang="en-US" sz="1400" dirty="0"/>
              <a:t>标签指导</a:t>
            </a:r>
            <a:r>
              <a:rPr lang="en-US" altLang="zh-CN" sz="1400" dirty="0"/>
              <a:t>BUM</a:t>
            </a:r>
            <a:r>
              <a:rPr lang="zh-CN" altLang="en-US" sz="1400" dirty="0"/>
              <a:t>流量转发，但</a:t>
            </a:r>
            <a:r>
              <a:rPr lang="en-US" altLang="zh-CN" sz="1400" dirty="0"/>
              <a:t>Type 3</a:t>
            </a:r>
            <a:r>
              <a:rPr lang="zh-CN" altLang="en-US" sz="1400" dirty="0"/>
              <a:t>路由未携带</a:t>
            </a:r>
            <a:r>
              <a:rPr lang="en-US" altLang="zh-CN" sz="1400" dirty="0"/>
              <a:t>ES</a:t>
            </a:r>
            <a:r>
              <a:rPr lang="zh-CN" altLang="en-US" sz="1400" dirty="0"/>
              <a:t>相关信息。</a:t>
            </a:r>
            <a:endParaRPr lang="en-US" altLang="zh-CN" sz="1400" dirty="0"/>
          </a:p>
          <a:p>
            <a:pPr lvl="1"/>
            <a:r>
              <a:rPr lang="en-US" altLang="zh-CN" sz="1400" dirty="0"/>
              <a:t>Type 4</a:t>
            </a:r>
            <a:r>
              <a:rPr lang="zh-CN" altLang="en-US" sz="1400" dirty="0"/>
              <a:t>路由携带</a:t>
            </a:r>
            <a:r>
              <a:rPr lang="en-US" altLang="zh-CN" sz="1400" dirty="0"/>
              <a:t>ESI</a:t>
            </a:r>
            <a:r>
              <a:rPr lang="zh-CN" altLang="en-US" sz="1400" dirty="0"/>
              <a:t>用于</a:t>
            </a:r>
            <a:r>
              <a:rPr lang="en-US" altLang="zh-CN" sz="1400" dirty="0"/>
              <a:t>DF</a:t>
            </a:r>
            <a:r>
              <a:rPr lang="zh-CN" altLang="en-US" sz="1400" dirty="0"/>
              <a:t>选举，但</a:t>
            </a:r>
            <a:r>
              <a:rPr lang="en-US" altLang="zh-CN" sz="1400" dirty="0"/>
              <a:t>Type 4</a:t>
            </a:r>
            <a:r>
              <a:rPr lang="zh-CN" altLang="en-US" sz="1400" dirty="0"/>
              <a:t>路由未携带任何标签信息。</a:t>
            </a:r>
            <a:endParaRPr lang="en-US" altLang="zh-CN" sz="1400" dirty="0"/>
          </a:p>
          <a:p>
            <a:pPr lvl="1"/>
            <a:endParaRPr lang="zh-CN" altLang="en-US" sz="1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64261" y="3203458"/>
          <a:ext cx="9093870" cy="291225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10372"/>
                <a:gridCol w="613909"/>
                <a:gridCol w="818042"/>
                <a:gridCol w="1029308"/>
                <a:gridCol w="1850372"/>
                <a:gridCol w="1587515"/>
                <a:gridCol w="1484352"/>
              </a:tblGrid>
              <a:tr h="7522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          参数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路由类型  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RD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ESI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Ethernet Tag ID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Originating Router's IP Address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MAC/IP Address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 MPLS Label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 1</a:t>
                      </a:r>
                      <a:endParaRPr lang="zh-CN" altLang="en-US" sz="12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</a:t>
                      </a:r>
                      <a:r>
                        <a:rPr lang="en-US" altLang="zh-CN" sz="120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Label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 2</a:t>
                      </a:r>
                      <a:endParaRPr lang="en-US" altLang="zh-CN" sz="12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 3</a:t>
                      </a:r>
                      <a:endParaRPr lang="zh-CN" altLang="en-US" sz="12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BUM Label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r>
                        <a:rPr lang="en-US" altLang="zh-CN" sz="1200" baseline="0" dirty="0"/>
                        <a:t> 4</a:t>
                      </a:r>
                      <a:endParaRPr lang="zh-CN" altLang="en-US" sz="12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/>
                        <a:t>√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Ethernet A-D</a:t>
            </a:r>
            <a:r>
              <a:rPr lang="zh-CN" altLang="en-US">
                <a:sym typeface="Huawei Sans" panose="020C0503030203020204" pitchFamily="34" charset="0"/>
              </a:rPr>
              <a:t>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以太自动发现路由（</a:t>
            </a:r>
            <a:r>
              <a:rPr lang="en-US" altLang="zh-CN" sz="1600" dirty="0">
                <a:sym typeface="Huawei Sans" panose="020C0503030203020204" pitchFamily="34" charset="0"/>
              </a:rPr>
              <a:t>Ethernet Auto-Discovery Route</a:t>
            </a:r>
            <a:r>
              <a:rPr lang="zh-CN" altLang="en-US" sz="1600" dirty="0">
                <a:sym typeface="Huawei Sans" panose="020C0503030203020204" pitchFamily="34" charset="0"/>
              </a:rPr>
              <a:t>）有两种类型：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Ethernet A-D per ES route</a:t>
            </a:r>
            <a:r>
              <a:rPr lang="zh-CN" altLang="en-US" sz="1400" dirty="0">
                <a:sym typeface="Huawei Sans" panose="020C0503030203020204" pitchFamily="34" charset="0"/>
              </a:rPr>
              <a:t>：主要用于快速收敛、冗余模式和水平分割。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Ethernet A-D per EVI route</a:t>
            </a:r>
            <a:r>
              <a:rPr lang="zh-CN" altLang="en-US" sz="1400" dirty="0">
                <a:sym typeface="Huawei Sans" panose="020C0503030203020204" pitchFamily="34" charset="0"/>
              </a:rPr>
              <a:t>：主要用于别名。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3907" y="2356497"/>
          <a:ext cx="10964185" cy="2994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2392"/>
                <a:gridCol w="6981793"/>
              </a:tblGrid>
              <a:tr h="4343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NLRI</a:t>
                      </a: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格式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4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Route Distinguisher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8 Byte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Auto-Discovery Per ES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路由上该字段是由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上设置的源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地址组合而成，例如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X.X.X.X:0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；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Auto-Discovery Per EVI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路由上该字段为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实例下设置的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Route Distinguisher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）值。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Segment Identifier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 Byte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与某一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CE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的连接定义的唯一标识。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algn="l" defTabSz="913765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Auto-Discovery Per ES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路由上该字段为全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F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Auto-Discovery Per EVI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路由上该字段用于标识一个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下的不同的子广播域，全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标识该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EVI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只有一个广播域。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Tag ID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Tag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的标识，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RFC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建议最后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20 bit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可以为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VLAN ID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 Label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 Byte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Auto-Discovery Per ES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路由上该字段为全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；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Auto-Discovery Per EVI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路由上该字段为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单播流量负载分担转发时使用的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标签。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燕尾形 25"/>
          <p:cNvSpPr/>
          <p:nvPr/>
        </p:nvSpPr>
        <p:spPr bwMode="gray">
          <a:xfrm>
            <a:off x="9324819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25"/>
          <p:cNvSpPr/>
          <p:nvPr/>
        </p:nvSpPr>
        <p:spPr bwMode="gray">
          <a:xfrm>
            <a:off x="10088104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五边形 14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ESI Label</a:t>
            </a:r>
            <a:r>
              <a:rPr lang="zh-CN" altLang="en-US">
                <a:sym typeface="Huawei Sans" panose="020C0503030203020204" pitchFamily="34" charset="0"/>
              </a:rPr>
              <a:t>扩展团体属性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ESI Label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EVPN Type 1</a:t>
            </a:r>
            <a:r>
              <a:rPr lang="zh-CN" altLang="en-US" sz="1800" dirty="0">
                <a:sym typeface="Huawei Sans" panose="020C0503030203020204" pitchFamily="34" charset="0"/>
              </a:rPr>
              <a:t>路由所携带的扩展团体属性。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在多归场景下，</a:t>
            </a:r>
            <a:r>
              <a:rPr lang="en-US" altLang="zh-CN" sz="1800" dirty="0">
                <a:sym typeface="Huawei Sans" panose="020C0503030203020204" pitchFamily="34" charset="0"/>
              </a:rPr>
              <a:t>Type 1</a:t>
            </a:r>
            <a:r>
              <a:rPr lang="zh-CN" altLang="en-US" sz="1800" dirty="0">
                <a:sym typeface="Huawei Sans" panose="020C0503030203020204" pitchFamily="34" charset="0"/>
              </a:rPr>
              <a:t>路由必须携带此团体属性用于实现多归情况下的水平分割。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924798" y="2379148"/>
          <a:ext cx="8342403" cy="2674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1016"/>
                <a:gridCol w="5871387"/>
              </a:tblGrid>
              <a:tr h="4457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扩展团体属性</a:t>
                      </a:r>
                      <a:endParaRPr lang="zh-CN" altLang="en-US" sz="16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457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该字段固定为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0x06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57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Sub-Type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该字段固定为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0x01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57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Flag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该字段最低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bit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被定义为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Single-Active bit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，值为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时标识为多活场景。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57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Reserved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该字段保留全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5730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ESI Label 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该字段用于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标识每个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，用于水平分割。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五边形 17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 bwMode="gray">
          <a:xfrm>
            <a:off x="8864676" y="4222434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2068643" y="4222434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快速收敛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中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地址通过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控制学习，在大规模的复杂网络下，路由的收敛时间会很长。因此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定义了一种机制用于高效地通知远端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直接更新转发表，即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为所有的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通告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ES route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检测到连接的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故障，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撤销对应的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地址表，并发送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ES route</a:t>
            </a:r>
            <a:r>
              <a:rPr lang="zh-CN" altLang="en-US" sz="1800" dirty="0">
                <a:sym typeface="Huawei Sans" panose="020C0503030203020204" pitchFamily="34" charset="0"/>
              </a:rPr>
              <a:t>，知会其它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撤销对应的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地址表。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ESI Label</a:t>
            </a:r>
            <a:r>
              <a:rPr lang="zh-CN" altLang="en-US" sz="1800" dirty="0">
                <a:sym typeface="Huawei Sans" panose="020C0503030203020204" pitchFamily="34" charset="0"/>
              </a:rPr>
              <a:t>扩展团体必须被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ES route</a:t>
            </a:r>
            <a:r>
              <a:rPr lang="zh-CN" altLang="en-US" sz="1800" dirty="0">
                <a:sym typeface="Huawei Sans" panose="020C0503030203020204" pitchFamily="34" charset="0"/>
              </a:rPr>
              <a:t>携带。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3" name="椭圆 12"/>
          <p:cNvSpPr/>
          <p:nvPr/>
        </p:nvSpPr>
        <p:spPr bwMode="gray">
          <a:xfrm>
            <a:off x="3713230" y="4277039"/>
            <a:ext cx="250836" cy="779430"/>
          </a:xfrm>
          <a:prstGeom prst="ellipse">
            <a:avLst/>
          </a:prstGeom>
          <a:noFill/>
          <a:ln w="19050" cap="flat" cmpd="sng" algn="ctr">
            <a:solidFill>
              <a:srgbClr val="62B23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gray">
          <a:xfrm>
            <a:off x="7798902" y="3643284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5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7492575" y="4410889"/>
            <a:ext cx="540000" cy="441818"/>
          </a:xfrm>
          <a:prstGeom prst="rect">
            <a:avLst/>
          </a:prstGeom>
          <a:noFill/>
        </p:spPr>
      </p:pic>
      <p:pic>
        <p:nvPicPr>
          <p:cNvPr id="16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5321684"/>
            <a:ext cx="540000" cy="441818"/>
          </a:xfrm>
          <a:prstGeom prst="rect">
            <a:avLst/>
          </a:prstGeom>
          <a:noFill/>
        </p:spPr>
      </p:pic>
      <p:pic>
        <p:nvPicPr>
          <p:cNvPr id="1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3633124"/>
            <a:ext cx="540000" cy="441818"/>
          </a:xfrm>
          <a:prstGeom prst="rect">
            <a:avLst/>
          </a:prstGeom>
          <a:noFill/>
        </p:spPr>
      </p:pic>
      <p:cxnSp>
        <p:nvCxnSpPr>
          <p:cNvPr id="18" name="直接连接符 17"/>
          <p:cNvCxnSpPr>
            <a:stCxn id="17" idx="3"/>
            <a:endCxn id="30" idx="0"/>
          </p:cNvCxnSpPr>
          <p:nvPr/>
        </p:nvCxnSpPr>
        <p:spPr bwMode="gray">
          <a:xfrm>
            <a:off x="5382140" y="3854033"/>
            <a:ext cx="795571" cy="55685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6" idx="3"/>
            <a:endCxn id="30" idx="2"/>
          </p:cNvCxnSpPr>
          <p:nvPr/>
        </p:nvCxnSpPr>
        <p:spPr bwMode="gray">
          <a:xfrm flipV="1">
            <a:off x="5382140" y="4852707"/>
            <a:ext cx="795571" cy="68988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903226" y="4413904"/>
            <a:ext cx="540000" cy="441818"/>
          </a:xfrm>
          <a:prstGeom prst="rect">
            <a:avLst/>
          </a:prstGeom>
        </p:spPr>
      </p:pic>
      <p:cxnSp>
        <p:nvCxnSpPr>
          <p:cNvPr id="21" name="直接连接符 20"/>
          <p:cNvCxnSpPr>
            <a:stCxn id="17" idx="1"/>
            <a:endCxn id="20" idx="3"/>
          </p:cNvCxnSpPr>
          <p:nvPr/>
        </p:nvCxnSpPr>
        <p:spPr bwMode="gray">
          <a:xfrm flipH="1">
            <a:off x="3443226" y="3854033"/>
            <a:ext cx="1398914" cy="780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6" idx="1"/>
            <a:endCxn id="20" idx="3"/>
          </p:cNvCxnSpPr>
          <p:nvPr/>
        </p:nvCxnSpPr>
        <p:spPr bwMode="gray">
          <a:xfrm flipH="1" flipV="1">
            <a:off x="3443226" y="4634813"/>
            <a:ext cx="1398914" cy="907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 bwMode="gray">
          <a:xfrm>
            <a:off x="4638293" y="328060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4606904" y="579291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7263467" y="406141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PE3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 rot="19801552">
            <a:off x="4036944" y="407949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 rot="1924799">
            <a:off x="4029446" y="488011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2678320" y="486203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1962299" y="447661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3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5907711" y="4410889"/>
            <a:ext cx="540000" cy="441818"/>
          </a:xfrm>
          <a:prstGeom prst="rect">
            <a:avLst/>
          </a:prstGeom>
          <a:noFill/>
        </p:spPr>
      </p:pic>
      <p:cxnSp>
        <p:nvCxnSpPr>
          <p:cNvPr id="31" name="直接连接符 30"/>
          <p:cNvCxnSpPr>
            <a:stCxn id="30" idx="3"/>
            <a:endCxn id="15" idx="1"/>
          </p:cNvCxnSpPr>
          <p:nvPr/>
        </p:nvCxnSpPr>
        <p:spPr bwMode="gray">
          <a:xfrm>
            <a:off x="6447711" y="4631798"/>
            <a:ext cx="10448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8927929" y="4413904"/>
            <a:ext cx="540000" cy="441818"/>
          </a:xfrm>
          <a:prstGeom prst="rect">
            <a:avLst/>
          </a:prstGeom>
        </p:spPr>
      </p:pic>
      <p:cxnSp>
        <p:nvCxnSpPr>
          <p:cNvPr id="33" name="直接连接符 32"/>
          <p:cNvCxnSpPr>
            <a:stCxn id="15" idx="3"/>
            <a:endCxn id="32" idx="1"/>
          </p:cNvCxnSpPr>
          <p:nvPr/>
        </p:nvCxnSpPr>
        <p:spPr bwMode="gray">
          <a:xfrm>
            <a:off x="8032575" y="4631798"/>
            <a:ext cx="895354" cy="301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 bwMode="gray">
          <a:xfrm>
            <a:off x="8688113" y="486203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9504768" y="447661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38" name="直接连接符 37"/>
          <p:cNvCxnSpPr/>
          <p:nvPr/>
        </p:nvCxnSpPr>
        <p:spPr bwMode="gray">
          <a:xfrm flipH="1" flipV="1">
            <a:off x="5680083" y="3830494"/>
            <a:ext cx="484114" cy="391940"/>
          </a:xfrm>
          <a:prstGeom prst="line">
            <a:avLst/>
          </a:prstGeom>
          <a:noFill/>
          <a:ln w="76200">
            <a:solidFill>
              <a:srgbClr val="EC7061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/>
          <p:cNvCxnSpPr/>
          <p:nvPr/>
        </p:nvCxnSpPr>
        <p:spPr bwMode="gray">
          <a:xfrm flipH="1">
            <a:off x="6679769" y="4446813"/>
            <a:ext cx="583698" cy="0"/>
          </a:xfrm>
          <a:prstGeom prst="line">
            <a:avLst/>
          </a:prstGeom>
          <a:noFill/>
          <a:ln w="76200">
            <a:solidFill>
              <a:srgbClr val="EC7061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/>
          <p:cNvCxnSpPr/>
          <p:nvPr/>
        </p:nvCxnSpPr>
        <p:spPr bwMode="gray">
          <a:xfrm flipV="1">
            <a:off x="5451369" y="4900332"/>
            <a:ext cx="438609" cy="395385"/>
          </a:xfrm>
          <a:prstGeom prst="line">
            <a:avLst/>
          </a:prstGeom>
          <a:noFill/>
          <a:ln w="76200">
            <a:solidFill>
              <a:srgbClr val="EC7061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十字形 41"/>
          <p:cNvSpPr/>
          <p:nvPr/>
        </p:nvSpPr>
        <p:spPr bwMode="gray">
          <a:xfrm rot="2785165">
            <a:off x="4649772" y="3713536"/>
            <a:ext cx="314163" cy="314163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5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6411075" y="3410263"/>
            <a:ext cx="2913745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Update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 A-D per ES Route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五边形 47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 bwMode="gray">
          <a:xfrm>
            <a:off x="8869682" y="4269344"/>
            <a:ext cx="1582492" cy="86097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DDDDD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2068643" y="4269344"/>
            <a:ext cx="1582492" cy="8609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DDDDD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水平分割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多归接入到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场景下，如果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的链路为</a:t>
            </a:r>
            <a:r>
              <a:rPr lang="en-US" altLang="zh-CN" sz="1800" dirty="0">
                <a:sym typeface="Huawei Sans" panose="020C0503030203020204" pitchFamily="34" charset="0"/>
              </a:rPr>
              <a:t>All-Active</a:t>
            </a:r>
            <a:r>
              <a:rPr lang="zh-CN" altLang="en-US" sz="1800" dirty="0">
                <a:sym typeface="Huawei Sans" panose="020C0503030203020204" pitchFamily="34" charset="0"/>
              </a:rPr>
              <a:t>模式，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发送给一个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报文可能被另一个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环回，所以需要水平分割解决这个问题。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水平分割由所有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通告携带</a:t>
            </a:r>
            <a:r>
              <a:rPr lang="en-US" altLang="zh-CN" sz="1800" dirty="0">
                <a:sym typeface="Huawei Sans" panose="020C0503030203020204" pitchFamily="34" charset="0"/>
              </a:rPr>
              <a:t>ESI Label</a:t>
            </a:r>
            <a:r>
              <a:rPr lang="zh-CN" altLang="en-US" sz="1800" dirty="0">
                <a:sym typeface="Huawei Sans" panose="020C0503030203020204" pitchFamily="34" charset="0"/>
              </a:rPr>
              <a:t>扩展团体属性的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ES route</a:t>
            </a:r>
            <a:r>
              <a:rPr lang="zh-CN" altLang="en-US" sz="1800" dirty="0">
                <a:sym typeface="Huawei Sans" panose="020C0503030203020204" pitchFamily="34" charset="0"/>
              </a:rPr>
              <a:t>实现。例如下图中，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）会分配</a:t>
            </a:r>
            <a:r>
              <a:rPr lang="en-US" altLang="zh-CN" sz="1800" dirty="0">
                <a:sym typeface="Huawei Sans" panose="020C0503030203020204" pitchFamily="34" charset="0"/>
              </a:rPr>
              <a:t>1</a:t>
            </a:r>
            <a:r>
              <a:rPr lang="zh-CN" altLang="en-US" sz="1800" dirty="0">
                <a:sym typeface="Huawei Sans" panose="020C0503030203020204" pitchFamily="34" charset="0"/>
              </a:rPr>
              <a:t>个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标签，来标识</a:t>
            </a:r>
            <a:r>
              <a:rPr lang="en-US" altLang="zh-CN" sz="1800" dirty="0">
                <a:sym typeface="Huawei Sans" panose="020C0503030203020204" pitchFamily="34" charset="0"/>
              </a:rPr>
              <a:t>ES1</a:t>
            </a:r>
            <a:r>
              <a:rPr lang="zh-CN" altLang="en-US" sz="1800" dirty="0">
                <a:sym typeface="Huawei Sans" panose="020C0503030203020204" pitchFamily="34" charset="0"/>
              </a:rPr>
              <a:t>，并通过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ES route</a:t>
            </a:r>
            <a:r>
              <a:rPr lang="zh-CN" altLang="en-US" sz="1800" dirty="0">
                <a:sym typeface="Huawei Sans" panose="020C0503030203020204" pitchFamily="34" charset="0"/>
              </a:rPr>
              <a:t>发布给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（非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向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发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报文时需要打上此标签。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收到后识别发现是自己分配的标签，即不会向</a:t>
            </a:r>
            <a:r>
              <a:rPr lang="en-US" altLang="zh-CN" sz="1800" dirty="0">
                <a:sym typeface="Huawei Sans" panose="020C0503030203020204" pitchFamily="34" charset="0"/>
              </a:rPr>
              <a:t>ES1</a:t>
            </a:r>
            <a:r>
              <a:rPr lang="zh-CN" altLang="en-US" sz="1800" dirty="0">
                <a:sym typeface="Huawei Sans" panose="020C0503030203020204" pitchFamily="34" charset="0"/>
              </a:rPr>
              <a:t>转发。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17" name="椭圆 116"/>
          <p:cNvSpPr/>
          <p:nvPr/>
        </p:nvSpPr>
        <p:spPr bwMode="gray">
          <a:xfrm>
            <a:off x="3713230" y="4217079"/>
            <a:ext cx="250836" cy="779430"/>
          </a:xfrm>
          <a:prstGeom prst="ellipse">
            <a:avLst/>
          </a:prstGeom>
          <a:noFill/>
          <a:ln w="19050" cap="flat" cmpd="sng" algn="ctr">
            <a:solidFill>
              <a:srgbClr val="62B23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矩形 13"/>
          <p:cNvSpPr>
            <a:spLocks noChangeArrowheads="1"/>
          </p:cNvSpPr>
          <p:nvPr/>
        </p:nvSpPr>
        <p:spPr bwMode="gray">
          <a:xfrm>
            <a:off x="7798902" y="3583324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2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7492575" y="4350929"/>
            <a:ext cx="540000" cy="441818"/>
          </a:xfrm>
          <a:prstGeom prst="rect">
            <a:avLst/>
          </a:prstGeom>
          <a:noFill/>
        </p:spPr>
      </p:pic>
      <p:pic>
        <p:nvPicPr>
          <p:cNvPr id="12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5261724"/>
            <a:ext cx="540000" cy="441818"/>
          </a:xfrm>
          <a:prstGeom prst="rect">
            <a:avLst/>
          </a:prstGeom>
          <a:noFill/>
        </p:spPr>
      </p:pic>
      <p:pic>
        <p:nvPicPr>
          <p:cNvPr id="12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3573164"/>
            <a:ext cx="540000" cy="441818"/>
          </a:xfrm>
          <a:prstGeom prst="rect">
            <a:avLst/>
          </a:prstGeom>
          <a:noFill/>
        </p:spPr>
      </p:pic>
      <p:cxnSp>
        <p:nvCxnSpPr>
          <p:cNvPr id="124" name="直接连接符 123"/>
          <p:cNvCxnSpPr>
            <a:stCxn id="123" idx="3"/>
            <a:endCxn id="142" idx="0"/>
          </p:cNvCxnSpPr>
          <p:nvPr/>
        </p:nvCxnSpPr>
        <p:spPr bwMode="gray">
          <a:xfrm>
            <a:off x="5382140" y="3794073"/>
            <a:ext cx="795571" cy="55685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stCxn id="122" idx="3"/>
            <a:endCxn id="142" idx="2"/>
          </p:cNvCxnSpPr>
          <p:nvPr/>
        </p:nvCxnSpPr>
        <p:spPr bwMode="gray">
          <a:xfrm flipV="1">
            <a:off x="5382140" y="4792747"/>
            <a:ext cx="795571" cy="68988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图片 126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903226" y="4353944"/>
            <a:ext cx="540000" cy="441818"/>
          </a:xfrm>
          <a:prstGeom prst="rect">
            <a:avLst/>
          </a:prstGeom>
        </p:spPr>
      </p:pic>
      <p:cxnSp>
        <p:nvCxnSpPr>
          <p:cNvPr id="128" name="直接连接符 127"/>
          <p:cNvCxnSpPr>
            <a:stCxn id="123" idx="1"/>
            <a:endCxn id="127" idx="3"/>
          </p:cNvCxnSpPr>
          <p:nvPr/>
        </p:nvCxnSpPr>
        <p:spPr bwMode="gray">
          <a:xfrm flipH="1">
            <a:off x="3443226" y="3794073"/>
            <a:ext cx="1398914" cy="780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122" idx="1"/>
            <a:endCxn id="127" idx="3"/>
          </p:cNvCxnSpPr>
          <p:nvPr/>
        </p:nvCxnSpPr>
        <p:spPr bwMode="gray">
          <a:xfrm flipH="1" flipV="1">
            <a:off x="3443226" y="4574853"/>
            <a:ext cx="1398914" cy="907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 bwMode="gray">
          <a:xfrm>
            <a:off x="4638293" y="322064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1" name="文本框 130"/>
          <p:cNvSpPr txBox="1"/>
          <p:nvPr/>
        </p:nvSpPr>
        <p:spPr bwMode="gray">
          <a:xfrm>
            <a:off x="4606904" y="5656755"/>
            <a:ext cx="972815" cy="562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en-US" altLang="zh-CN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DF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2" name="文本框 131"/>
          <p:cNvSpPr txBox="1"/>
          <p:nvPr/>
        </p:nvSpPr>
        <p:spPr bwMode="gray">
          <a:xfrm>
            <a:off x="7263467" y="400145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PE3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 bwMode="gray">
          <a:xfrm rot="19801552">
            <a:off x="4036944" y="401953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4" name="文本框 133"/>
          <p:cNvSpPr txBox="1"/>
          <p:nvPr/>
        </p:nvSpPr>
        <p:spPr bwMode="gray">
          <a:xfrm rot="1924799">
            <a:off x="4029446" y="482015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7" name="文本框 136"/>
          <p:cNvSpPr txBox="1"/>
          <p:nvPr/>
        </p:nvSpPr>
        <p:spPr bwMode="gray">
          <a:xfrm>
            <a:off x="2678320" y="480207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8" name="文本框 137"/>
          <p:cNvSpPr txBox="1"/>
          <p:nvPr/>
        </p:nvSpPr>
        <p:spPr bwMode="gray">
          <a:xfrm>
            <a:off x="1962299" y="441665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14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5907711" y="4350929"/>
            <a:ext cx="540000" cy="441818"/>
          </a:xfrm>
          <a:prstGeom prst="rect">
            <a:avLst/>
          </a:prstGeom>
          <a:noFill/>
        </p:spPr>
      </p:pic>
      <p:cxnSp>
        <p:nvCxnSpPr>
          <p:cNvPr id="108" name="直接连接符 107"/>
          <p:cNvCxnSpPr>
            <a:stCxn id="142" idx="3"/>
            <a:endCxn id="121" idx="1"/>
          </p:cNvCxnSpPr>
          <p:nvPr/>
        </p:nvCxnSpPr>
        <p:spPr bwMode="gray">
          <a:xfrm>
            <a:off x="6447711" y="4571838"/>
            <a:ext cx="10448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8" name="图片 147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8927929" y="4353944"/>
            <a:ext cx="540000" cy="441818"/>
          </a:xfrm>
          <a:prstGeom prst="rect">
            <a:avLst/>
          </a:prstGeom>
        </p:spPr>
      </p:pic>
      <p:cxnSp>
        <p:nvCxnSpPr>
          <p:cNvPr id="149" name="直接连接符 148"/>
          <p:cNvCxnSpPr>
            <a:stCxn id="121" idx="3"/>
            <a:endCxn id="148" idx="1"/>
          </p:cNvCxnSpPr>
          <p:nvPr/>
        </p:nvCxnSpPr>
        <p:spPr bwMode="gray">
          <a:xfrm>
            <a:off x="8032575" y="4571838"/>
            <a:ext cx="895354" cy="301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/>
          <p:cNvSpPr txBox="1"/>
          <p:nvPr/>
        </p:nvSpPr>
        <p:spPr bwMode="gray">
          <a:xfrm>
            <a:off x="8688113" y="480207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53" name="文本框 152"/>
          <p:cNvSpPr txBox="1"/>
          <p:nvPr/>
        </p:nvSpPr>
        <p:spPr bwMode="gray">
          <a:xfrm>
            <a:off x="9504768" y="441665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156" name="直接连接符 155"/>
          <p:cNvCxnSpPr/>
          <p:nvPr/>
        </p:nvCxnSpPr>
        <p:spPr bwMode="gray">
          <a:xfrm flipH="1">
            <a:off x="3899966" y="3767272"/>
            <a:ext cx="575396" cy="323184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文本框 156"/>
          <p:cNvSpPr txBox="1"/>
          <p:nvPr/>
        </p:nvSpPr>
        <p:spPr bwMode="gray">
          <a:xfrm>
            <a:off x="2884041" y="3722594"/>
            <a:ext cx="631904" cy="3231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US" altLang="zh-CN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BUM</a:t>
            </a:r>
            <a:endParaRPr lang="zh-CN" altLang="en-US" sz="15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9" name="直接连接符 158"/>
          <p:cNvCxnSpPr/>
          <p:nvPr/>
        </p:nvCxnSpPr>
        <p:spPr bwMode="gray">
          <a:xfrm flipH="1" flipV="1">
            <a:off x="5680083" y="3770534"/>
            <a:ext cx="484114" cy="39194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2" name="直接连接符 161"/>
          <p:cNvCxnSpPr/>
          <p:nvPr/>
        </p:nvCxnSpPr>
        <p:spPr bwMode="gray">
          <a:xfrm flipH="1">
            <a:off x="6679769" y="4386853"/>
            <a:ext cx="583698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" name="直接连接符 163"/>
          <p:cNvCxnSpPr/>
          <p:nvPr/>
        </p:nvCxnSpPr>
        <p:spPr bwMode="gray">
          <a:xfrm flipH="1">
            <a:off x="8188403" y="4386853"/>
            <a:ext cx="583698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5" name="直接连接符 164"/>
          <p:cNvCxnSpPr/>
          <p:nvPr/>
        </p:nvCxnSpPr>
        <p:spPr bwMode="gray">
          <a:xfrm flipV="1">
            <a:off x="5451369" y="4840372"/>
            <a:ext cx="438609" cy="395385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五边形 44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椭圆 6"/>
          <p:cNvSpPr/>
          <p:nvPr/>
        </p:nvSpPr>
        <p:spPr bwMode="gray">
          <a:xfrm>
            <a:off x="5425462" y="5516619"/>
            <a:ext cx="224013" cy="224013"/>
          </a:xfrm>
          <a:prstGeom prst="ellipse">
            <a:avLst/>
          </a:prstGeom>
          <a:solidFill>
            <a:srgbClr val="30B5C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5687297" y="5474737"/>
            <a:ext cx="3672800" cy="307777"/>
          </a:xfrm>
          <a:prstGeom prst="rect">
            <a:avLst/>
          </a:prstGeom>
          <a:solidFill>
            <a:srgbClr val="BEE9EE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PE2</a:t>
            </a:r>
            <a:r>
              <a:rPr lang="zh-CN" altLang="en-US" sz="1400" dirty="0"/>
              <a:t>为</a:t>
            </a:r>
            <a:r>
              <a:rPr lang="en-US" altLang="zh-CN" sz="1400" dirty="0"/>
              <a:t>ES1</a:t>
            </a:r>
            <a:r>
              <a:rPr lang="zh-CN" altLang="en-US" sz="1400" dirty="0"/>
              <a:t>分配</a:t>
            </a:r>
            <a:r>
              <a:rPr lang="en-US" altLang="zh-CN" sz="1400" dirty="0"/>
              <a:t>1</a:t>
            </a:r>
            <a:r>
              <a:rPr lang="zh-CN" altLang="en-US" sz="1400" dirty="0"/>
              <a:t>个</a:t>
            </a:r>
            <a:r>
              <a:rPr lang="en-US" altLang="zh-CN" sz="1400" dirty="0"/>
              <a:t>MPLS</a:t>
            </a:r>
            <a:r>
              <a:rPr lang="zh-CN" altLang="en-US" sz="1400" dirty="0"/>
              <a:t>标签，例如</a:t>
            </a:r>
            <a:r>
              <a:rPr lang="en-US" altLang="zh-CN" sz="1400" b="1" dirty="0"/>
              <a:t>Label1</a:t>
            </a:r>
            <a:r>
              <a:rPr lang="zh-CN" altLang="en-US" sz="1400" dirty="0"/>
              <a:t>。</a:t>
            </a:r>
            <a:endParaRPr lang="zh-CN" altLang="en-US" sz="1400" dirty="0"/>
          </a:p>
        </p:txBody>
      </p:sp>
      <p:sp>
        <p:nvSpPr>
          <p:cNvPr id="50" name="椭圆 49"/>
          <p:cNvSpPr/>
          <p:nvPr/>
        </p:nvSpPr>
        <p:spPr bwMode="gray">
          <a:xfrm>
            <a:off x="5425462" y="3387505"/>
            <a:ext cx="224013" cy="224013"/>
          </a:xfrm>
          <a:prstGeom prst="ellipse">
            <a:avLst/>
          </a:prstGeom>
          <a:solidFill>
            <a:srgbClr val="30B5C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2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5661798" y="3237901"/>
            <a:ext cx="5730102" cy="523220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PE1</a:t>
            </a:r>
            <a:r>
              <a:rPr lang="zh-CN" altLang="en-US" sz="1400" dirty="0"/>
              <a:t>发送</a:t>
            </a:r>
            <a:r>
              <a:rPr lang="en-US" altLang="zh-CN" sz="1400" dirty="0"/>
              <a:t>BUM</a:t>
            </a:r>
            <a:r>
              <a:rPr lang="zh-CN" altLang="en-US" sz="1400" dirty="0"/>
              <a:t>流量给</a:t>
            </a:r>
            <a:r>
              <a:rPr lang="en-US" altLang="zh-CN" sz="1400" dirty="0"/>
              <a:t>PE2</a:t>
            </a:r>
            <a:r>
              <a:rPr lang="zh-CN" altLang="en-US" sz="1400" dirty="0"/>
              <a:t>时先打上</a:t>
            </a:r>
            <a:r>
              <a:rPr lang="en-US" altLang="zh-CN" sz="1400" b="1" dirty="0"/>
              <a:t>Label1</a:t>
            </a:r>
            <a:r>
              <a:rPr lang="zh-CN" altLang="en-US" sz="1400" dirty="0"/>
              <a:t>，再打上</a:t>
            </a:r>
            <a:r>
              <a:rPr lang="en-US" altLang="zh-CN" sz="1400" dirty="0"/>
              <a:t>PE2</a:t>
            </a:r>
            <a:r>
              <a:rPr lang="zh-CN" altLang="en-US" sz="1400" dirty="0"/>
              <a:t>分配的</a:t>
            </a:r>
            <a:r>
              <a:rPr lang="en-US" altLang="zh-CN" sz="1400" dirty="0"/>
              <a:t>BUM</a:t>
            </a:r>
            <a:r>
              <a:rPr lang="zh-CN" altLang="en-US" sz="1400" dirty="0"/>
              <a:t>标签。</a:t>
            </a:r>
            <a:endParaRPr lang="en-US" altLang="zh-CN" sz="1400" dirty="0"/>
          </a:p>
          <a:p>
            <a:r>
              <a:rPr lang="en-US" altLang="zh-CN" sz="1400" dirty="0"/>
              <a:t>PE1</a:t>
            </a:r>
            <a:r>
              <a:rPr lang="zh-CN" altLang="en-US" sz="1400" dirty="0"/>
              <a:t>发送</a:t>
            </a:r>
            <a:r>
              <a:rPr lang="en-US" altLang="zh-CN" sz="1400" dirty="0"/>
              <a:t>BUM</a:t>
            </a:r>
            <a:r>
              <a:rPr lang="zh-CN" altLang="en-US" sz="1400" dirty="0"/>
              <a:t>流量给</a:t>
            </a:r>
            <a:r>
              <a:rPr lang="en-US" altLang="zh-CN" sz="1400" dirty="0"/>
              <a:t>PE3</a:t>
            </a:r>
            <a:r>
              <a:rPr lang="zh-CN" altLang="en-US" sz="1400" dirty="0"/>
              <a:t>时，打上</a:t>
            </a:r>
            <a:r>
              <a:rPr lang="en-US" altLang="zh-CN" sz="1400" dirty="0"/>
              <a:t>PE3</a:t>
            </a:r>
            <a:r>
              <a:rPr lang="zh-CN" altLang="en-US" sz="1400" dirty="0"/>
              <a:t>分配的</a:t>
            </a:r>
            <a:r>
              <a:rPr lang="en-US" altLang="zh-CN" sz="1400" dirty="0"/>
              <a:t>BUM</a:t>
            </a:r>
            <a:r>
              <a:rPr lang="zh-CN" altLang="en-US" sz="1400" dirty="0"/>
              <a:t>标签。</a:t>
            </a:r>
            <a:endParaRPr lang="zh-CN" altLang="en-US" sz="1400" dirty="0"/>
          </a:p>
        </p:txBody>
      </p:sp>
      <p:sp>
        <p:nvSpPr>
          <p:cNvPr id="55" name="文本框 54"/>
          <p:cNvSpPr txBox="1"/>
          <p:nvPr/>
        </p:nvSpPr>
        <p:spPr bwMode="gray">
          <a:xfrm>
            <a:off x="1363282" y="5487516"/>
            <a:ext cx="3465899" cy="523220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PE2</a:t>
            </a:r>
            <a:r>
              <a:rPr lang="zh-CN" altLang="en-US" sz="1400" dirty="0"/>
              <a:t>识别</a:t>
            </a:r>
            <a:r>
              <a:rPr lang="en-US" altLang="zh-CN" sz="1400" b="1" dirty="0"/>
              <a:t>Label1</a:t>
            </a:r>
            <a:r>
              <a:rPr lang="zh-CN" altLang="en-US" sz="1400" dirty="0"/>
              <a:t>，不向</a:t>
            </a:r>
            <a:r>
              <a:rPr lang="en-US" altLang="zh-CN" sz="1400" dirty="0"/>
              <a:t>CE1</a:t>
            </a:r>
            <a:r>
              <a:rPr lang="zh-CN" altLang="en-US" sz="1400" dirty="0"/>
              <a:t>转发该</a:t>
            </a:r>
            <a:r>
              <a:rPr lang="en-US" altLang="zh-CN" sz="1400" dirty="0"/>
              <a:t>BUM</a:t>
            </a:r>
            <a:r>
              <a:rPr lang="zh-CN" altLang="en-US" sz="1400" dirty="0"/>
              <a:t>流量（但是会发给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实例内的其他</a:t>
            </a:r>
            <a:r>
              <a:rPr lang="en-US" altLang="zh-CN" sz="1400" dirty="0"/>
              <a:t>ES</a:t>
            </a:r>
            <a:r>
              <a:rPr lang="zh-CN" altLang="en-US" sz="1400" dirty="0"/>
              <a:t>）。</a:t>
            </a:r>
            <a:endParaRPr lang="zh-CN" altLang="en-US" sz="1400" dirty="0"/>
          </a:p>
        </p:txBody>
      </p:sp>
      <p:grpSp>
        <p:nvGrpSpPr>
          <p:cNvPr id="10" name="组合 9"/>
          <p:cNvGrpSpPr/>
          <p:nvPr/>
        </p:nvGrpSpPr>
        <p:grpSpPr bwMode="gray">
          <a:xfrm>
            <a:off x="3687215" y="5030971"/>
            <a:ext cx="526619" cy="350244"/>
            <a:chOff x="3687215" y="5030971"/>
            <a:chExt cx="526619" cy="350244"/>
          </a:xfrm>
        </p:grpSpPr>
        <p:cxnSp>
          <p:nvCxnSpPr>
            <p:cNvPr id="52" name="直接连接符 51"/>
            <p:cNvCxnSpPr/>
            <p:nvPr/>
          </p:nvCxnSpPr>
          <p:spPr bwMode="gray">
            <a:xfrm>
              <a:off x="3687215" y="5030971"/>
              <a:ext cx="526619" cy="310985"/>
            </a:xfrm>
            <a:prstGeom prst="line">
              <a:avLst/>
            </a:prstGeom>
            <a:noFill/>
            <a:ln w="76200">
              <a:solidFill>
                <a:schemeClr val="accent3"/>
              </a:solidFill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7" name="十字形 176"/>
            <p:cNvSpPr/>
            <p:nvPr/>
          </p:nvSpPr>
          <p:spPr bwMode="gray">
            <a:xfrm rot="2785165">
              <a:off x="3874031" y="5067052"/>
              <a:ext cx="314163" cy="314163"/>
            </a:xfrm>
            <a:prstGeom prst="plus">
              <a:avLst>
                <a:gd name="adj" fmla="val 39697"/>
              </a:avLst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50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54" name="椭圆 53"/>
          <p:cNvSpPr/>
          <p:nvPr/>
        </p:nvSpPr>
        <p:spPr bwMode="gray">
          <a:xfrm>
            <a:off x="1031691" y="5637120"/>
            <a:ext cx="224013" cy="224013"/>
          </a:xfrm>
          <a:prstGeom prst="ellipse">
            <a:avLst/>
          </a:prstGeom>
          <a:solidFill>
            <a:srgbClr val="30B5C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3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0" name="椭圆 59"/>
          <p:cNvSpPr/>
          <p:nvPr/>
        </p:nvSpPr>
        <p:spPr bwMode="gray">
          <a:xfrm>
            <a:off x="7933606" y="3952650"/>
            <a:ext cx="224013" cy="224013"/>
          </a:xfrm>
          <a:prstGeom prst="ellipse">
            <a:avLst/>
          </a:prstGeom>
          <a:solidFill>
            <a:srgbClr val="30B5C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4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 bwMode="gray">
          <a:xfrm>
            <a:off x="8196922" y="3910768"/>
            <a:ext cx="2456122" cy="307777"/>
          </a:xfrm>
          <a:prstGeom prst="rect">
            <a:avLst/>
          </a:prstGeom>
          <a:solidFill>
            <a:srgbClr val="BEE9EE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PE3</a:t>
            </a:r>
            <a:r>
              <a:rPr lang="zh-CN" altLang="en-US" sz="1400" dirty="0"/>
              <a:t>将</a:t>
            </a:r>
            <a:r>
              <a:rPr lang="en-US" altLang="zh-CN" sz="1400" dirty="0"/>
              <a:t>BUM</a:t>
            </a:r>
            <a:r>
              <a:rPr lang="zh-CN" altLang="en-US" sz="1400" dirty="0"/>
              <a:t>流量转发至</a:t>
            </a:r>
            <a:r>
              <a:rPr lang="en-US" altLang="zh-CN" sz="1400" dirty="0"/>
              <a:t>CE2</a:t>
            </a:r>
            <a:r>
              <a:rPr lang="zh-CN" altLang="en-US" sz="1400" dirty="0"/>
              <a:t>。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别名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多归多活场景时，可能存在多归的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中有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没有学习到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地址的情况，导致远端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只接收到一个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MAC/IP</a:t>
            </a:r>
            <a:r>
              <a:rPr lang="zh-CN" altLang="en-US" sz="1800" dirty="0">
                <a:sym typeface="Huawei Sans" panose="020C0503030203020204" pitchFamily="34" charset="0"/>
              </a:rPr>
              <a:t>通告，从而无法实现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节点之间路径的负载均衡。别名（</a:t>
            </a:r>
            <a:r>
              <a:rPr lang="en-US" altLang="zh-CN" sz="1800" dirty="0">
                <a:sym typeface="Huawei Sans" panose="020C0503030203020204" pitchFamily="34" charset="0"/>
              </a:rPr>
              <a:t>aliasing</a:t>
            </a:r>
            <a:r>
              <a:rPr lang="zh-CN" altLang="en-US" sz="1800" dirty="0">
                <a:sym typeface="Huawei Sans" panose="020C0503030203020204" pitchFamily="34" charset="0"/>
              </a:rPr>
              <a:t>）通过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EVI route</a:t>
            </a:r>
            <a:r>
              <a:rPr lang="zh-CN" altLang="en-US" sz="1800" dirty="0">
                <a:sym typeface="Huawei Sans" panose="020C0503030203020204" pitchFamily="34" charset="0"/>
              </a:rPr>
              <a:t>解决这个问题。别名的功能是让一个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即使没有从</a:t>
            </a:r>
            <a:r>
              <a:rPr lang="en-US" altLang="zh-CN" sz="1800" dirty="0">
                <a:sym typeface="Huawei Sans" panose="020C0503030203020204" pitchFamily="34" charset="0"/>
              </a:rPr>
              <a:t>EVI/ES</a:t>
            </a:r>
            <a:r>
              <a:rPr lang="zh-CN" altLang="en-US" sz="1800" dirty="0">
                <a:sym typeface="Huawei Sans" panose="020C0503030203020204" pitchFamily="34" charset="0"/>
              </a:rPr>
              <a:t>学习到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地址，依然有可达性。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本例</a:t>
            </a:r>
            <a:r>
              <a:rPr lang="en-US" altLang="zh-CN" sz="1800" dirty="0">
                <a:sym typeface="Huawei Sans" panose="020C0503030203020204" pitchFamily="34" charset="0"/>
              </a:rPr>
              <a:t>CE1</a:t>
            </a:r>
            <a:r>
              <a:rPr lang="zh-CN" altLang="en-US" sz="1800" dirty="0">
                <a:sym typeface="Huawei Sans" panose="020C0503030203020204" pitchFamily="34" charset="0"/>
              </a:rPr>
              <a:t>双归接入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，假设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学习到</a:t>
            </a:r>
            <a:r>
              <a:rPr lang="en-US" altLang="zh-CN" sz="1800" dirty="0">
                <a:sym typeface="Huawei Sans" panose="020C0503030203020204" pitchFamily="34" charset="0"/>
              </a:rPr>
              <a:t>Site1</a:t>
            </a:r>
            <a:r>
              <a:rPr lang="zh-CN" altLang="en-US" sz="1800" dirty="0">
                <a:sym typeface="Huawei Sans" panose="020C0503030203020204" pitchFamily="34" charset="0"/>
              </a:rPr>
              <a:t>的地址而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没有学到，则</a:t>
            </a:r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将通告</a:t>
            </a:r>
            <a:r>
              <a:rPr lang="en-US" altLang="zh-CN" sz="1800" dirty="0">
                <a:sym typeface="Huawei Sans" panose="020C0503030203020204" pitchFamily="34" charset="0"/>
              </a:rPr>
              <a:t>MAC/IP</a:t>
            </a:r>
            <a:r>
              <a:rPr lang="zh-CN" altLang="en-US" sz="1800" dirty="0">
                <a:sym typeface="Huawei Sans" panose="020C0503030203020204" pitchFamily="34" charset="0"/>
              </a:rPr>
              <a:t>路由包含具体信息，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通过</a:t>
            </a:r>
            <a:r>
              <a:rPr lang="en-US" altLang="zh-CN" sz="1800" dirty="0">
                <a:sym typeface="Huawei Sans" panose="020C0503030203020204" pitchFamily="34" charset="0"/>
              </a:rPr>
              <a:t>Ethernet A-D per EVI</a:t>
            </a:r>
            <a:r>
              <a:rPr lang="zh-CN" altLang="en-US" sz="1800" dirty="0">
                <a:sym typeface="Huawei Sans" panose="020C0503030203020204" pitchFamily="34" charset="0"/>
              </a:rPr>
              <a:t>路由通告可达性。因此</a:t>
            </a:r>
            <a:r>
              <a:rPr lang="en-US" altLang="zh-CN" sz="1800" dirty="0">
                <a:sym typeface="Huawei Sans" panose="020C0503030203020204" pitchFamily="34" charset="0"/>
              </a:rPr>
              <a:t>PE3</a:t>
            </a:r>
            <a:r>
              <a:rPr lang="zh-CN" altLang="en-US" sz="1800" dirty="0">
                <a:sym typeface="Huawei Sans" panose="020C0503030203020204" pitchFamily="34" charset="0"/>
              </a:rPr>
              <a:t>认为</a:t>
            </a:r>
            <a:r>
              <a:rPr lang="en-US" altLang="zh-CN" sz="1800" dirty="0">
                <a:sym typeface="Huawei Sans" panose="020C0503030203020204" pitchFamily="34" charset="0"/>
              </a:rPr>
              <a:t>Site1 PE1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均可达。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 txBox="1"/>
          <p:nvPr/>
        </p:nvSpPr>
        <p:spPr bwMode="gray">
          <a:xfrm>
            <a:off x="468317" y="1233488"/>
            <a:ext cx="11276183" cy="49337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椭圆 34"/>
          <p:cNvSpPr/>
          <p:nvPr/>
        </p:nvSpPr>
        <p:spPr bwMode="gray">
          <a:xfrm>
            <a:off x="3713230" y="4247055"/>
            <a:ext cx="250836" cy="779430"/>
          </a:xfrm>
          <a:prstGeom prst="ellipse">
            <a:avLst/>
          </a:prstGeom>
          <a:noFill/>
          <a:ln w="19050" cap="flat" cmpd="sng" algn="ctr">
            <a:solidFill>
              <a:srgbClr val="62B23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defTabSz="914400" fontAlgn="t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13"/>
          <p:cNvSpPr>
            <a:spLocks noChangeArrowheads="1"/>
          </p:cNvSpPr>
          <p:nvPr/>
        </p:nvSpPr>
        <p:spPr bwMode="gray">
          <a:xfrm>
            <a:off x="7798902" y="3613300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7492575" y="4380905"/>
            <a:ext cx="540000" cy="441818"/>
          </a:xfrm>
          <a:prstGeom prst="rect">
            <a:avLst/>
          </a:prstGeom>
          <a:noFill/>
        </p:spPr>
      </p:pic>
      <p:pic>
        <p:nvPicPr>
          <p:cNvPr id="3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5291700"/>
            <a:ext cx="540000" cy="441818"/>
          </a:xfrm>
          <a:prstGeom prst="rect">
            <a:avLst/>
          </a:prstGeom>
          <a:noFill/>
        </p:spPr>
      </p:pic>
      <p:pic>
        <p:nvPicPr>
          <p:cNvPr id="3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3603140"/>
            <a:ext cx="540000" cy="441818"/>
          </a:xfrm>
          <a:prstGeom prst="rect">
            <a:avLst/>
          </a:prstGeom>
          <a:noFill/>
        </p:spPr>
      </p:pic>
      <p:cxnSp>
        <p:nvCxnSpPr>
          <p:cNvPr id="40" name="直接连接符 39"/>
          <p:cNvCxnSpPr>
            <a:stCxn id="39" idx="3"/>
            <a:endCxn id="52" idx="0"/>
          </p:cNvCxnSpPr>
          <p:nvPr/>
        </p:nvCxnSpPr>
        <p:spPr bwMode="gray">
          <a:xfrm>
            <a:off x="5382140" y="3824049"/>
            <a:ext cx="795571" cy="55685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8" idx="3"/>
            <a:endCxn id="52" idx="2"/>
          </p:cNvCxnSpPr>
          <p:nvPr/>
        </p:nvCxnSpPr>
        <p:spPr bwMode="gray">
          <a:xfrm flipV="1">
            <a:off x="5382140" y="4822723"/>
            <a:ext cx="795571" cy="68988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903226" y="4383920"/>
            <a:ext cx="540000" cy="441818"/>
          </a:xfrm>
          <a:prstGeom prst="rect">
            <a:avLst/>
          </a:prstGeom>
        </p:spPr>
      </p:pic>
      <p:cxnSp>
        <p:nvCxnSpPr>
          <p:cNvPr id="43" name="直接连接符 42"/>
          <p:cNvCxnSpPr>
            <a:stCxn id="39" idx="1"/>
            <a:endCxn id="42" idx="3"/>
          </p:cNvCxnSpPr>
          <p:nvPr/>
        </p:nvCxnSpPr>
        <p:spPr bwMode="gray">
          <a:xfrm flipH="1">
            <a:off x="3443226" y="3824049"/>
            <a:ext cx="1398914" cy="780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38" idx="1"/>
            <a:endCxn id="42" idx="3"/>
          </p:cNvCxnSpPr>
          <p:nvPr/>
        </p:nvCxnSpPr>
        <p:spPr bwMode="gray">
          <a:xfrm flipH="1" flipV="1">
            <a:off x="3443226" y="4604829"/>
            <a:ext cx="1398914" cy="907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 bwMode="gray">
          <a:xfrm>
            <a:off x="4638293" y="325061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4606904" y="576293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7263467" y="4031430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PE3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 rot="19801552">
            <a:off x="4036944" y="4049510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 rot="1924799">
            <a:off x="4029446" y="485013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2678320" y="483205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1962299" y="4446633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52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5907711" y="4380905"/>
            <a:ext cx="540000" cy="441818"/>
          </a:xfrm>
          <a:prstGeom prst="rect">
            <a:avLst/>
          </a:prstGeom>
          <a:noFill/>
        </p:spPr>
      </p:pic>
      <p:cxnSp>
        <p:nvCxnSpPr>
          <p:cNvPr id="53" name="直接连接符 52"/>
          <p:cNvCxnSpPr>
            <a:stCxn id="52" idx="3"/>
            <a:endCxn id="37" idx="1"/>
          </p:cNvCxnSpPr>
          <p:nvPr/>
        </p:nvCxnSpPr>
        <p:spPr bwMode="gray">
          <a:xfrm>
            <a:off x="6447711" y="4601814"/>
            <a:ext cx="10448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8927929" y="4383920"/>
            <a:ext cx="540000" cy="441818"/>
          </a:xfrm>
          <a:prstGeom prst="rect">
            <a:avLst/>
          </a:prstGeom>
        </p:spPr>
      </p:pic>
      <p:cxnSp>
        <p:nvCxnSpPr>
          <p:cNvPr id="55" name="直接连接符 54"/>
          <p:cNvCxnSpPr>
            <a:stCxn id="37" idx="3"/>
            <a:endCxn id="54" idx="1"/>
          </p:cNvCxnSpPr>
          <p:nvPr/>
        </p:nvCxnSpPr>
        <p:spPr bwMode="gray">
          <a:xfrm>
            <a:off x="8032575" y="4601814"/>
            <a:ext cx="895354" cy="301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 bwMode="gray">
          <a:xfrm>
            <a:off x="8688113" y="483205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9504768" y="4446633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gray">
          <a:xfrm flipH="1">
            <a:off x="5489114" y="3382942"/>
            <a:ext cx="418597" cy="0"/>
          </a:xfrm>
          <a:prstGeom prst="line">
            <a:avLst/>
          </a:prstGeom>
          <a:noFill/>
          <a:ln w="76200">
            <a:solidFill>
              <a:schemeClr val="accent2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gray">
          <a:xfrm flipH="1">
            <a:off x="8188403" y="4416829"/>
            <a:ext cx="583698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直接连接符 68"/>
          <p:cNvCxnSpPr/>
          <p:nvPr/>
        </p:nvCxnSpPr>
        <p:spPr bwMode="gray">
          <a:xfrm flipH="1">
            <a:off x="5489114" y="5705074"/>
            <a:ext cx="418597" cy="0"/>
          </a:xfrm>
          <a:prstGeom prst="line">
            <a:avLst/>
          </a:prstGeom>
          <a:noFill/>
          <a:ln w="76200">
            <a:solidFill>
              <a:schemeClr val="accent2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文本框 69"/>
          <p:cNvSpPr txBox="1"/>
          <p:nvPr/>
        </p:nvSpPr>
        <p:spPr bwMode="gray">
          <a:xfrm>
            <a:off x="6106408" y="3191791"/>
            <a:ext cx="2821521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Update</a:t>
            </a:r>
            <a:r>
              <a:rPr lang="zh-CN" altLang="en-US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MAC/IP Route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6106408" y="5430793"/>
            <a:ext cx="2821521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Update</a:t>
            </a:r>
            <a:r>
              <a:rPr lang="zh-CN" altLang="en-US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Ethernet A-D per EVI Route</a:t>
            </a:r>
            <a:endParaRPr lang="zh-CN" altLang="en-US" sz="16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8981520" y="3191791"/>
            <a:ext cx="1851579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通告具体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路由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8981520" y="5513422"/>
            <a:ext cx="2054780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通告到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Site1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路由可达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4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五边形 66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1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MAC/IP</a:t>
            </a:r>
            <a:r>
              <a:rPr lang="zh-CN" altLang="en-US">
                <a:sym typeface="Huawei Sans" panose="020C0503030203020204" pitchFamily="34" charset="0"/>
              </a:rPr>
              <a:t>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MAC/IP</a:t>
            </a:r>
            <a:r>
              <a:rPr lang="zh-CN" altLang="en-US" sz="1800" dirty="0">
                <a:sym typeface="Huawei Sans" panose="020C0503030203020204" pitchFamily="34" charset="0"/>
              </a:rPr>
              <a:t>地址通告路由：主要用于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地址通告。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51501" y="1789652"/>
          <a:ext cx="9330224" cy="4137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0573"/>
                <a:gridCol w="6019651"/>
              </a:tblGrid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NLRI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格式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Route Distinguisher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8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实例下设置的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值。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Segment Identifier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10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与某一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的连接定义的唯一标识。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Tag ID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该字段为当前设备上实际配置的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 ID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 Address Length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该字段被设置为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48 bit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 Address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6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该字段为此路由携带的主机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IP Address Length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该字段为可选，可被设置为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128 bit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IP Address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4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16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该字段为可选，携带的主机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599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MPLS Label1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3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该字段由下游路由器分配，用于二层业务流量转发。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4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MPLS Label2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3 Byte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该字段为可选，用于三层业务流量转发。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燕尾形 25"/>
          <p:cNvSpPr/>
          <p:nvPr/>
        </p:nvSpPr>
        <p:spPr bwMode="auto">
          <a:xfrm>
            <a:off x="9324820" y="114300"/>
            <a:ext cx="81791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6" name="燕尾形 26"/>
          <p:cNvSpPr/>
          <p:nvPr/>
        </p:nvSpPr>
        <p:spPr bwMode="auto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燕尾形 25"/>
          <p:cNvSpPr/>
          <p:nvPr/>
        </p:nvSpPr>
        <p:spPr bwMode="auto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五边形 17"/>
          <p:cNvSpPr/>
          <p:nvPr/>
        </p:nvSpPr>
        <p:spPr bwMode="auto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MAC</a:t>
            </a:r>
            <a:r>
              <a:rPr lang="zh-CN" altLang="en-US">
                <a:sym typeface="Huawei Sans" panose="020C0503030203020204" pitchFamily="34" charset="0"/>
              </a:rPr>
              <a:t>迁移扩展团体属性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MAC Mobility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EVPN Type 2</a:t>
            </a:r>
            <a:r>
              <a:rPr lang="zh-CN" altLang="en-US" sz="1800" dirty="0">
                <a:sym typeface="Huawei Sans" panose="020C0503030203020204" pitchFamily="34" charset="0"/>
              </a:rPr>
              <a:t>路由所携带的扩展团体属性。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Flag</a:t>
            </a:r>
            <a:r>
              <a:rPr lang="zh-CN" altLang="en-US" sz="1800" dirty="0">
                <a:sym typeface="Huawei Sans" panose="020C0503030203020204" pitchFamily="34" charset="0"/>
              </a:rPr>
              <a:t>字段中最低比特被定义为“</a:t>
            </a:r>
            <a:r>
              <a:rPr lang="en-US" altLang="zh-CN" sz="1800" dirty="0">
                <a:sym typeface="Huawei Sans" panose="020C0503030203020204" pitchFamily="34" charset="0"/>
              </a:rPr>
              <a:t>Sticky/static</a:t>
            </a:r>
            <a:r>
              <a:rPr lang="zh-CN" altLang="en-US" sz="1800" dirty="0">
                <a:sym typeface="Huawei Sans" panose="020C0503030203020204" pitchFamily="34" charset="0"/>
              </a:rPr>
              <a:t>”位，此位为</a:t>
            </a:r>
            <a:r>
              <a:rPr lang="en-US" altLang="zh-CN" sz="1800" dirty="0">
                <a:sym typeface="Huawei Sans" panose="020C0503030203020204" pitchFamily="34" charset="0"/>
              </a:rPr>
              <a:t>1</a:t>
            </a:r>
            <a:r>
              <a:rPr lang="zh-CN" altLang="en-US" sz="1800" dirty="0">
                <a:sym typeface="Huawei Sans" panose="020C0503030203020204" pitchFamily="34" charset="0"/>
              </a:rPr>
              <a:t>时标识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地址固定不能移动。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89201" y="2533913"/>
          <a:ext cx="8859749" cy="2942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3274"/>
                <a:gridCol w="6086475"/>
              </a:tblGrid>
              <a:tr h="4904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扩展团体属性</a:t>
                      </a:r>
                      <a:endParaRPr lang="zh-CN" altLang="en-US" sz="16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904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该字段固定为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0x06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04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Sub-Type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该字段固定为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0x00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04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Flag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该字段最低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bit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被定义为“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Sticky/static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”位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为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时标识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地址可移动。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04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Reserved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该字段保留全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0494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Sequence Number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该字段用于收到多个更新时确保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保持有正确的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MAC/IP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通告路由。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燕尾形 25"/>
          <p:cNvSpPr/>
          <p:nvPr/>
        </p:nvSpPr>
        <p:spPr bwMode="auto">
          <a:xfrm>
            <a:off x="9324820" y="114300"/>
            <a:ext cx="81791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2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6" name="燕尾形 26"/>
          <p:cNvSpPr/>
          <p:nvPr/>
        </p:nvSpPr>
        <p:spPr bwMode="auto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燕尾形 25"/>
          <p:cNvSpPr/>
          <p:nvPr/>
        </p:nvSpPr>
        <p:spPr bwMode="auto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五边形 17"/>
          <p:cNvSpPr/>
          <p:nvPr/>
        </p:nvSpPr>
        <p:spPr bwMode="auto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Inclusive Multicast</a:t>
            </a:r>
            <a:r>
              <a:rPr lang="zh-CN" altLang="en-US">
                <a:sym typeface="Huawei Sans" panose="020C0503030203020204" pitchFamily="34" charset="0"/>
              </a:rPr>
              <a:t>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集成多播路由（</a:t>
            </a:r>
            <a:r>
              <a:rPr lang="en-US" altLang="zh-CN" sz="1800" dirty="0">
                <a:sym typeface="Huawei Sans" panose="020C0503030203020204" pitchFamily="34" charset="0"/>
              </a:rPr>
              <a:t>Inclusive Multicast Route</a:t>
            </a:r>
            <a:r>
              <a:rPr lang="zh-CN" altLang="en-US" sz="1800" dirty="0">
                <a:sym typeface="Huawei Sans" panose="020C0503030203020204" pitchFamily="34" charset="0"/>
              </a:rPr>
              <a:t>）：用于处理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报文。多播流量包括广播流量、组播流量和未知目的地址的单播流量。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之间的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邻居关系建立成功后，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之间会传递集成多播路由，集成多播路由可以携带本端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实例的</a:t>
            </a:r>
            <a:r>
              <a:rPr lang="en-US" altLang="zh-CN" sz="1800" dirty="0">
                <a:sym typeface="Huawei Sans" panose="020C0503030203020204" pitchFamily="34" charset="0"/>
              </a:rPr>
              <a:t>RD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Route Target</a:t>
            </a:r>
            <a:r>
              <a:rPr lang="zh-CN" altLang="en-US" sz="1800" dirty="0">
                <a:sym typeface="Huawei Sans" panose="020C0503030203020204" pitchFamily="34" charset="0"/>
              </a:rPr>
              <a:t>）值，以及</a:t>
            </a:r>
            <a:r>
              <a:rPr lang="en-US" altLang="zh-CN" sz="1800" dirty="0">
                <a:sym typeface="Huawei Sans" panose="020C0503030203020204" pitchFamily="34" charset="0"/>
              </a:rPr>
              <a:t>Source IP</a:t>
            </a:r>
            <a:r>
              <a:rPr lang="zh-CN" altLang="en-US" sz="1800" dirty="0">
                <a:sym typeface="Huawei Sans" panose="020C0503030203020204" pitchFamily="34" charset="0"/>
              </a:rPr>
              <a:t>（一般为本端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Loopback</a:t>
            </a:r>
            <a:r>
              <a:rPr lang="zh-CN" altLang="en-US" sz="1800" dirty="0">
                <a:sym typeface="Huawei Sans" panose="020C0503030203020204" pitchFamily="34" charset="0"/>
              </a:rPr>
              <a:t>地址）和</a:t>
            </a:r>
            <a:r>
              <a:rPr lang="en-US" altLang="zh-CN" sz="1800" dirty="0">
                <a:sym typeface="Huawei Sans" panose="020C0503030203020204" pitchFamily="34" charset="0"/>
              </a:rPr>
              <a:t>PMSI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Provider Multicast Service Interface</a:t>
            </a:r>
            <a:r>
              <a:rPr lang="zh-CN" altLang="en-US" sz="1800" dirty="0">
                <a:sym typeface="Huawei Sans" panose="020C0503030203020204" pitchFamily="34" charset="0"/>
              </a:rPr>
              <a:t>）信息。</a:t>
            </a:r>
            <a:r>
              <a:rPr lang="en-US" altLang="zh-CN" sz="1800" dirty="0">
                <a:sym typeface="Huawei Sans" panose="020C0503030203020204" pitchFamily="34" charset="0"/>
              </a:rPr>
              <a:t>PMSI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值承载在路由的属性信息中，</a:t>
            </a:r>
            <a:r>
              <a:rPr lang="en-US" altLang="zh-CN" sz="1800" dirty="0">
                <a:sym typeface="Huawei Sans" panose="020C0503030203020204" pitchFamily="34" charset="0"/>
              </a:rPr>
              <a:t>RD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Source IP</a:t>
            </a:r>
            <a:r>
              <a:rPr lang="zh-CN" altLang="en-US" sz="1800" dirty="0">
                <a:sym typeface="Huawei Sans" panose="020C0503030203020204" pitchFamily="34" charset="0"/>
              </a:rPr>
              <a:t>承载在路由的</a:t>
            </a:r>
            <a:r>
              <a:rPr lang="en-US" altLang="zh-CN" sz="1800" dirty="0">
                <a:sym typeface="Huawei Sans" panose="020C0503030203020204" pitchFamily="34" charset="0"/>
              </a:rPr>
              <a:t>NLRI</a:t>
            </a:r>
            <a:r>
              <a:rPr lang="zh-CN" altLang="en-US" sz="1800" dirty="0">
                <a:sym typeface="Huawei Sans" panose="020C0503030203020204" pitchFamily="34" charset="0"/>
              </a:rPr>
              <a:t>信息中。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155321" y="3559265"/>
          <a:ext cx="9894056" cy="21176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028"/>
                <a:gridCol w="4947028"/>
              </a:tblGrid>
              <a:tr h="423527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NLRI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格式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35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Route Distinguisher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8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实例下设置的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值。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35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Tag ID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该字段为当前设备上的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 ID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35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 Address Length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上配置的源地址长度。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35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Originating Router‘s IP Address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16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上配置的源地址。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20" name="五边形 19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PMSI</a:t>
            </a:r>
            <a:r>
              <a:rPr lang="zh-CN" altLang="en-US">
                <a:sym typeface="Huawei Sans" panose="020C0503030203020204" pitchFamily="34" charset="0"/>
              </a:rPr>
              <a:t>属性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PMSI</a:t>
            </a:r>
            <a:r>
              <a:rPr lang="zh-CN" altLang="en-US" sz="1800" dirty="0">
                <a:sym typeface="Huawei Sans" panose="020C0503030203020204" pitchFamily="34" charset="0"/>
              </a:rPr>
              <a:t>用于携带多播报文传输所使用的隧道类型（</a:t>
            </a:r>
            <a:r>
              <a:rPr lang="en-US" altLang="zh-CN" sz="1800" dirty="0">
                <a:sym typeface="Huawei Sans" panose="020C0503030203020204" pitchFamily="34" charset="0"/>
              </a:rPr>
              <a:t>Ingress Replication</a:t>
            </a:r>
            <a:r>
              <a:rPr lang="zh-CN" altLang="en-US" sz="1800" dirty="0">
                <a:sym typeface="Huawei Sans" panose="020C0503030203020204" pitchFamily="34" charset="0"/>
              </a:rPr>
              <a:t>或者</a:t>
            </a:r>
            <a:r>
              <a:rPr lang="en-US" altLang="zh-CN" sz="1800" dirty="0">
                <a:sym typeface="Huawei Sans" panose="020C0503030203020204" pitchFamily="34" charset="0"/>
              </a:rPr>
              <a:t>MLDP</a:t>
            </a:r>
            <a:r>
              <a:rPr lang="zh-CN" altLang="en-US" sz="1800" dirty="0">
                <a:sym typeface="Huawei Sans" panose="020C0503030203020204" pitchFamily="34" charset="0"/>
              </a:rPr>
              <a:t>）和隧道标签信息。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当一台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设备收到多播流量后，会将多播流量以点到多点的形式转发给其他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设备。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设备之间通过集成多播路由可以建立传送流量的隧道。 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PMSI</a:t>
            </a:r>
            <a:r>
              <a:rPr lang="zh-CN" altLang="en-US" sz="1800" dirty="0">
                <a:sym typeface="Huawei Sans" panose="020C0503030203020204" pitchFamily="34" charset="0"/>
              </a:rPr>
              <a:t>属性在</a:t>
            </a:r>
            <a:r>
              <a:rPr lang="en-US" altLang="zh-CN" sz="1800" dirty="0">
                <a:sym typeface="Huawei Sans" panose="020C0503030203020204" pitchFamily="34" charset="0"/>
              </a:rPr>
              <a:t>RFC6514</a:t>
            </a:r>
            <a:r>
              <a:rPr lang="zh-CN" altLang="en-US" sz="1800" dirty="0">
                <a:sym typeface="Huawei Sans" panose="020C0503030203020204" pitchFamily="34" charset="0"/>
              </a:rPr>
              <a:t>中被定义。在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场景中其</a:t>
            </a:r>
            <a:r>
              <a:rPr lang="en-US" altLang="zh-CN" sz="1800" dirty="0">
                <a:sym typeface="Huawei Sans" panose="020C0503030203020204" pitchFamily="34" charset="0"/>
              </a:rPr>
              <a:t>Flag</a:t>
            </a:r>
            <a:r>
              <a:rPr lang="zh-CN" altLang="en-US" sz="1800" dirty="0">
                <a:sym typeface="Huawei Sans" panose="020C0503030203020204" pitchFamily="34" charset="0"/>
              </a:rPr>
              <a:t>字段</a:t>
            </a:r>
            <a:r>
              <a:rPr lang="en-US" altLang="zh-CN" sz="1800" dirty="0">
                <a:sym typeface="Huawei Sans" panose="020C0503030203020204" pitchFamily="34" charset="0"/>
              </a:rPr>
              <a:t>Leaf</a:t>
            </a:r>
            <a:r>
              <a:rPr lang="zh-CN" altLang="en-US" sz="1800" dirty="0">
                <a:sym typeface="Huawei Sans" panose="020C0503030203020204" pitchFamily="34" charset="0"/>
              </a:rPr>
              <a:t>位为</a:t>
            </a:r>
            <a:r>
              <a:rPr lang="en-US" altLang="zh-CN" sz="1800" dirty="0">
                <a:sym typeface="Huawei Sans" panose="020C0503030203020204" pitchFamily="34" charset="0"/>
              </a:rPr>
              <a:t>0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Tunnel</a:t>
            </a:r>
            <a:r>
              <a:rPr lang="zh-CN" altLang="en-US" sz="1800" dirty="0">
                <a:sym typeface="Huawei Sans" panose="020C0503030203020204" pitchFamily="34" charset="0"/>
              </a:rPr>
              <a:t>类型为</a:t>
            </a:r>
            <a:r>
              <a:rPr lang="en-US" altLang="zh-CN" sz="1800" dirty="0">
                <a:sym typeface="Huawei Sans" panose="020C0503030203020204" pitchFamily="34" charset="0"/>
              </a:rPr>
              <a:t>6</a:t>
            </a:r>
            <a:r>
              <a:rPr lang="zh-CN" altLang="en-US" sz="1800" dirty="0">
                <a:sym typeface="Huawei Sans" panose="020C0503030203020204" pitchFamily="34" charset="0"/>
              </a:rPr>
              <a:t>“</a:t>
            </a:r>
            <a:r>
              <a:rPr lang="en-US" altLang="zh-CN" sz="1800" dirty="0">
                <a:sym typeface="Huawei Sans" panose="020C0503030203020204" pitchFamily="34" charset="0"/>
              </a:rPr>
              <a:t>Ingress Replication</a:t>
            </a:r>
            <a:r>
              <a:rPr lang="zh-CN" altLang="en-US" sz="1800" dirty="0">
                <a:sym typeface="Huawei Sans" panose="020C0503030203020204" pitchFamily="34" charset="0"/>
              </a:rPr>
              <a:t>”。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208151" y="3411537"/>
          <a:ext cx="8697862" cy="220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4161"/>
                <a:gridCol w="6123701"/>
              </a:tblGrid>
              <a:tr h="4405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PMSI</a:t>
                      </a:r>
                      <a:r>
                        <a:rPr lang="zh-CN" altLang="en-US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属性</a:t>
                      </a:r>
                      <a:endParaRPr lang="zh-CN" altLang="en-US" sz="16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40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Flags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最后一个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bit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为“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Leaf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”位。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0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中类型一般为“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6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：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Ingress Replication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”。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0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 Label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0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Identifier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（变长）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该字段是隧道端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燕尾形 25"/>
          <p:cNvSpPr/>
          <p:nvPr/>
        </p:nvSpPr>
        <p:spPr bwMode="auto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燕尾形 26"/>
          <p:cNvSpPr/>
          <p:nvPr/>
        </p:nvSpPr>
        <p:spPr bwMode="auto">
          <a:xfrm>
            <a:off x="10851387" y="114300"/>
            <a:ext cx="896113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 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燕尾形 25"/>
          <p:cNvSpPr/>
          <p:nvPr/>
        </p:nvSpPr>
        <p:spPr bwMode="auto">
          <a:xfrm>
            <a:off x="10088103" y="114300"/>
            <a:ext cx="81791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3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22" name="五边形 21"/>
          <p:cNvSpPr/>
          <p:nvPr/>
        </p:nvSpPr>
        <p:spPr bwMode="auto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Ethernet Segment Route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以太网段路由（</a:t>
            </a:r>
            <a:r>
              <a:rPr lang="en-US" altLang="zh-CN" sz="1800" dirty="0">
                <a:sym typeface="Huawei Sans" panose="020C0503030203020204" pitchFamily="34" charset="0"/>
              </a:rPr>
              <a:t>Ethernet Segment Route</a:t>
            </a:r>
            <a:r>
              <a:rPr lang="zh-CN" altLang="en-US" sz="1800" dirty="0">
                <a:sym typeface="Huawei Sans" panose="020C0503030203020204" pitchFamily="34" charset="0"/>
              </a:rPr>
              <a:t>）：主要用于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选举。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以太网段路由可以携带本端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ESI</a:t>
            </a:r>
            <a:r>
              <a:rPr lang="zh-CN" altLang="en-US" sz="1800" dirty="0">
                <a:sym typeface="Huawei Sans" panose="020C0503030203020204" pitchFamily="34" charset="0"/>
              </a:rPr>
              <a:t>值、</a:t>
            </a:r>
            <a:r>
              <a:rPr lang="en-US" altLang="zh-CN" sz="1800" dirty="0">
                <a:sym typeface="Huawei Sans" panose="020C0503030203020204" pitchFamily="34" charset="0"/>
              </a:rPr>
              <a:t>Source IP</a:t>
            </a:r>
            <a:r>
              <a:rPr lang="zh-CN" altLang="en-US" sz="1800" dirty="0">
                <a:sym typeface="Huawei Sans" panose="020C0503030203020204" pitchFamily="34" charset="0"/>
              </a:rPr>
              <a:t>地址和</a:t>
            </a:r>
            <a:r>
              <a:rPr lang="en-US" altLang="zh-CN" sz="1800" dirty="0">
                <a:sym typeface="Huawei Sans" panose="020C0503030203020204" pitchFamily="34" charset="0"/>
              </a:rPr>
              <a:t>RD</a:t>
            </a:r>
            <a:r>
              <a:rPr lang="zh-CN" altLang="en-US" sz="1800" dirty="0">
                <a:sym typeface="Huawei Sans" panose="020C0503030203020204" pitchFamily="34" charset="0"/>
              </a:rPr>
              <a:t>值（</a:t>
            </a:r>
            <a:r>
              <a:rPr lang="en-US" altLang="zh-CN" sz="1800" dirty="0">
                <a:sym typeface="Huawei Sans" panose="020C0503030203020204" pitchFamily="34" charset="0"/>
              </a:rPr>
              <a:t>Source IP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r>
              <a:rPr lang="en-US" altLang="zh-CN" sz="1800" dirty="0">
                <a:sym typeface="Huawei Sans" panose="020C0503030203020204" pitchFamily="34" charset="0"/>
              </a:rPr>
              <a:t>0</a:t>
            </a:r>
            <a:r>
              <a:rPr lang="zh-CN" altLang="en-US" sz="1800" dirty="0">
                <a:sym typeface="Huawei Sans" panose="020C0503030203020204" pitchFamily="34" charset="0"/>
              </a:rPr>
              <a:t>），用来实现连接到相同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设备之间互相自动发现。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107640" y="2784601"/>
          <a:ext cx="9976720" cy="2358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8820"/>
                <a:gridCol w="6057900"/>
              </a:tblGrid>
              <a:tr h="471629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NLRI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格式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71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Route Distinguisher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8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实例下设置的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值。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1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Segment Identifier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该字段为当前设备与对端连接定义的唯一标识。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1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 Address Length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地址长度。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16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Originating Router‘s IP Address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or 16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上配置的源地址。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 4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五边形 19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ES-Import Route Target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ES-Import RT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新定义的被</a:t>
            </a:r>
            <a:r>
              <a:rPr lang="en-US" altLang="zh-CN" sz="1800" dirty="0">
                <a:sym typeface="Huawei Sans" panose="020C0503030203020204" pitchFamily="34" charset="0"/>
              </a:rPr>
              <a:t>Type 4</a:t>
            </a:r>
            <a:r>
              <a:rPr lang="zh-CN" altLang="en-US" sz="1800" dirty="0">
                <a:sym typeface="Huawei Sans" panose="020C0503030203020204" pitchFamily="34" charset="0"/>
              </a:rPr>
              <a:t>路由所携带的扩展团体属性。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多归场景下，</a:t>
            </a:r>
            <a:r>
              <a:rPr lang="en-US" altLang="zh-CN" sz="1800" dirty="0">
                <a:sym typeface="Huawei Sans" panose="020C0503030203020204" pitchFamily="34" charset="0"/>
              </a:rPr>
              <a:t>BGP EVPN</a:t>
            </a:r>
            <a:r>
              <a:rPr lang="zh-CN" altLang="en-US" sz="1800" dirty="0">
                <a:sym typeface="Huawei Sans" panose="020C0503030203020204" pitchFamily="34" charset="0"/>
              </a:rPr>
              <a:t>通告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路由时候必须同时携带</a:t>
            </a:r>
            <a:r>
              <a:rPr lang="en-US" altLang="zh-CN" sz="1800" dirty="0">
                <a:sym typeface="Huawei Sans" panose="020C0503030203020204" pitchFamily="34" charset="0"/>
              </a:rPr>
              <a:t>ES-Import RT</a:t>
            </a:r>
            <a:r>
              <a:rPr lang="zh-CN" altLang="en-US" sz="1800" dirty="0">
                <a:sym typeface="Huawei Sans" panose="020C0503030203020204" pitchFamily="34" charset="0"/>
              </a:rPr>
              <a:t>，用于实现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路由过滤。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路由过滤：</a:t>
            </a:r>
            <a:r>
              <a:rPr lang="en-US" altLang="zh-CN" sz="1800" dirty="0">
                <a:sym typeface="Huawei Sans" panose="020C0503030203020204" pitchFamily="34" charset="0"/>
              </a:rPr>
              <a:t>ES-Import RT</a:t>
            </a:r>
            <a:r>
              <a:rPr lang="zh-CN" altLang="en-US" sz="1800" dirty="0">
                <a:sym typeface="Huawei Sans" panose="020C0503030203020204" pitchFamily="34" charset="0"/>
              </a:rPr>
              <a:t>只允许连接相同站点的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引入</a:t>
            </a:r>
            <a:r>
              <a:rPr lang="en-US" altLang="zh-CN" sz="1800" dirty="0">
                <a:sym typeface="Huawei Sans" panose="020C0503030203020204" pitchFamily="34" charset="0"/>
              </a:rPr>
              <a:t>Type 4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被用于在所有连接相同站点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上引入</a:t>
            </a:r>
            <a:r>
              <a:rPr lang="en-US" altLang="zh-CN" sz="1800" dirty="0">
                <a:sym typeface="Huawei Sans" panose="020C0503030203020204" pitchFamily="34" charset="0"/>
              </a:rPr>
              <a:t>Ethernet Segment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 txBox="1"/>
          <p:nvPr/>
        </p:nvSpPr>
        <p:spPr bwMode="gray">
          <a:xfrm>
            <a:off x="468317" y="1233488"/>
            <a:ext cx="11276183" cy="1280144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28101" y="3237892"/>
          <a:ext cx="9123286" cy="2143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43974"/>
                <a:gridCol w="5679312"/>
              </a:tblGrid>
              <a:tr h="4286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扩展团体属性</a:t>
                      </a:r>
                      <a:endParaRPr lang="zh-CN" altLang="en-US" sz="16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该字段固定为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0x06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Sub-Type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该字段固定为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0x02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ES-Import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该字段最低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bit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被定义为“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Single-Active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”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bit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标识为多归场景。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ES-Import Cont’d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该字段保留全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 4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7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五边形 17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DF</a:t>
            </a:r>
            <a:r>
              <a:rPr lang="zh-CN" altLang="en-US" dirty="0">
                <a:sym typeface="Huawei Sans" panose="020C0503030203020204" pitchFamily="34" charset="0"/>
              </a:rPr>
              <a:t>选举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多归场景下，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上可能会被配置有多个</a:t>
            </a:r>
            <a:r>
              <a:rPr lang="en-US" altLang="zh-CN" sz="1800" dirty="0">
                <a:sym typeface="Huawei Sans" panose="020C0503030203020204" pitchFamily="34" charset="0"/>
              </a:rPr>
              <a:t>Ethernet Tag</a:t>
            </a:r>
            <a:r>
              <a:rPr lang="zh-CN" altLang="en-US" sz="1800" dirty="0">
                <a:sym typeface="Huawei Sans" panose="020C0503030203020204" pitchFamily="34" charset="0"/>
              </a:rPr>
              <a:t>，只有一个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会被选举为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Designated Forwarder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选举由携带</a:t>
            </a:r>
            <a:r>
              <a:rPr lang="en-US" altLang="zh-CN" sz="1800" dirty="0">
                <a:sym typeface="Huawei Sans" panose="020C0503030203020204" pitchFamily="34" charset="0"/>
              </a:rPr>
              <a:t>ES-Import</a:t>
            </a:r>
            <a:r>
              <a:rPr lang="zh-CN" altLang="en-US" sz="1800" dirty="0">
                <a:sym typeface="Huawei Sans" panose="020C0503030203020204" pitchFamily="34" charset="0"/>
              </a:rPr>
              <a:t>属性的</a:t>
            </a:r>
            <a:r>
              <a:rPr lang="en-US" altLang="zh-CN" sz="1800" dirty="0">
                <a:sym typeface="Huawei Sans" panose="020C0503030203020204" pitchFamily="34" charset="0"/>
              </a:rPr>
              <a:t>Type 4</a:t>
            </a:r>
            <a:r>
              <a:rPr lang="zh-CN" altLang="en-US" sz="1800" dirty="0">
                <a:sym typeface="Huawei Sans" panose="020C0503030203020204" pitchFamily="34" charset="0"/>
              </a:rPr>
              <a:t>路由完成，其作用是：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在指定的</a:t>
            </a:r>
            <a:r>
              <a:rPr lang="en-US" altLang="zh-CN" sz="1600" dirty="0">
                <a:sym typeface="Huawei Sans" panose="020C0503030203020204" pitchFamily="34" charset="0"/>
              </a:rPr>
              <a:t>ES</a:t>
            </a:r>
            <a:r>
              <a:rPr lang="zh-CN" altLang="en-US" sz="1600" dirty="0">
                <a:sym typeface="Huawei Sans" panose="020C0503030203020204" pitchFamily="34" charset="0"/>
              </a:rPr>
              <a:t>上向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发送组播和广播。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向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泛洪未知单播流量。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800" b="1" dirty="0">
              <a:sym typeface="Huawei Sans" panose="020C0503030203020204" pitchFamily="34" charset="0"/>
            </a:endParaRPr>
          </a:p>
        </p:txBody>
      </p:sp>
      <p:sp>
        <p:nvSpPr>
          <p:cNvPr id="6" name="椭圆 5"/>
          <p:cNvSpPr/>
          <p:nvPr/>
        </p:nvSpPr>
        <p:spPr bwMode="gray">
          <a:xfrm>
            <a:off x="3713230" y="3890329"/>
            <a:ext cx="250836" cy="779430"/>
          </a:xfrm>
          <a:prstGeom prst="ellipse">
            <a:avLst/>
          </a:prstGeom>
          <a:noFill/>
          <a:ln w="19050" cap="flat" cmpd="sng" algn="ctr">
            <a:solidFill>
              <a:srgbClr val="62B23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13"/>
          <p:cNvSpPr>
            <a:spLocks noChangeArrowheads="1"/>
          </p:cNvSpPr>
          <p:nvPr/>
        </p:nvSpPr>
        <p:spPr bwMode="gray">
          <a:xfrm>
            <a:off x="7798902" y="3256574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7492575" y="4024179"/>
            <a:ext cx="540000" cy="441818"/>
          </a:xfrm>
          <a:prstGeom prst="rect">
            <a:avLst/>
          </a:prstGeom>
          <a:noFill/>
        </p:spPr>
      </p:pic>
      <p:pic>
        <p:nvPicPr>
          <p:cNvPr id="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4934974"/>
            <a:ext cx="540000" cy="441818"/>
          </a:xfrm>
          <a:prstGeom prst="rect">
            <a:avLst/>
          </a:prstGeom>
          <a:noFill/>
        </p:spPr>
      </p:pic>
      <p:pic>
        <p:nvPicPr>
          <p:cNvPr id="10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42140" y="3246414"/>
            <a:ext cx="540000" cy="441818"/>
          </a:xfrm>
          <a:prstGeom prst="rect">
            <a:avLst/>
          </a:prstGeom>
          <a:noFill/>
        </p:spPr>
      </p:pic>
      <p:cxnSp>
        <p:nvCxnSpPr>
          <p:cNvPr id="11" name="直接连接符 10"/>
          <p:cNvCxnSpPr>
            <a:stCxn id="10" idx="3"/>
            <a:endCxn id="23" idx="0"/>
          </p:cNvCxnSpPr>
          <p:nvPr/>
        </p:nvCxnSpPr>
        <p:spPr bwMode="gray">
          <a:xfrm>
            <a:off x="5382140" y="3467323"/>
            <a:ext cx="795571" cy="55685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9" idx="3"/>
            <a:endCxn id="23" idx="2"/>
          </p:cNvCxnSpPr>
          <p:nvPr/>
        </p:nvCxnSpPr>
        <p:spPr bwMode="gray">
          <a:xfrm flipV="1">
            <a:off x="5382140" y="4465997"/>
            <a:ext cx="795571" cy="68988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2903226" y="4027194"/>
            <a:ext cx="540000" cy="441818"/>
          </a:xfrm>
          <a:prstGeom prst="rect">
            <a:avLst/>
          </a:prstGeom>
        </p:spPr>
      </p:pic>
      <p:cxnSp>
        <p:nvCxnSpPr>
          <p:cNvPr id="14" name="直接连接符 13"/>
          <p:cNvCxnSpPr>
            <a:stCxn id="10" idx="1"/>
            <a:endCxn id="13" idx="3"/>
          </p:cNvCxnSpPr>
          <p:nvPr/>
        </p:nvCxnSpPr>
        <p:spPr bwMode="gray">
          <a:xfrm flipH="1">
            <a:off x="3443226" y="3467323"/>
            <a:ext cx="1398914" cy="780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9" idx="1"/>
            <a:endCxn id="13" idx="3"/>
          </p:cNvCxnSpPr>
          <p:nvPr/>
        </p:nvCxnSpPr>
        <p:spPr bwMode="gray">
          <a:xfrm flipH="1" flipV="1">
            <a:off x="3443226" y="4248103"/>
            <a:ext cx="1398914" cy="90778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 bwMode="gray">
          <a:xfrm>
            <a:off x="4638293" y="289389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4606904" y="540620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7263467" y="367470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PE3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 rot="19801552">
            <a:off x="4036944" y="369278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 rot="1924799">
            <a:off x="4029446" y="449340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ES1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 bwMode="gray">
          <a:xfrm>
            <a:off x="2678320" y="447532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1962299" y="408990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5907711" y="4024179"/>
            <a:ext cx="540000" cy="441818"/>
          </a:xfrm>
          <a:prstGeom prst="rect">
            <a:avLst/>
          </a:prstGeom>
          <a:noFill/>
        </p:spPr>
      </p:pic>
      <p:cxnSp>
        <p:nvCxnSpPr>
          <p:cNvPr id="24" name="直接连接符 23"/>
          <p:cNvCxnSpPr>
            <a:stCxn id="23" idx="3"/>
            <a:endCxn id="8" idx="1"/>
          </p:cNvCxnSpPr>
          <p:nvPr/>
        </p:nvCxnSpPr>
        <p:spPr bwMode="gray">
          <a:xfrm>
            <a:off x="6447711" y="4245088"/>
            <a:ext cx="104486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CE12800交换机-蓝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8927929" y="4027194"/>
            <a:ext cx="540000" cy="441818"/>
          </a:xfrm>
          <a:prstGeom prst="rect">
            <a:avLst/>
          </a:prstGeom>
        </p:spPr>
      </p:pic>
      <p:cxnSp>
        <p:nvCxnSpPr>
          <p:cNvPr id="26" name="直接连接符 25"/>
          <p:cNvCxnSpPr>
            <a:stCxn id="8" idx="3"/>
            <a:endCxn id="25" idx="1"/>
          </p:cNvCxnSpPr>
          <p:nvPr/>
        </p:nvCxnSpPr>
        <p:spPr bwMode="gray">
          <a:xfrm>
            <a:off x="8032575" y="4245088"/>
            <a:ext cx="895354" cy="301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 bwMode="gray">
          <a:xfrm>
            <a:off x="8688113" y="447532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9504768" y="408990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29" name="直接连接符 28"/>
          <p:cNvCxnSpPr/>
          <p:nvPr/>
        </p:nvCxnSpPr>
        <p:spPr bwMode="gray">
          <a:xfrm flipV="1">
            <a:off x="3910013" y="3404205"/>
            <a:ext cx="671491" cy="405576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/>
          <p:cNvSpPr txBox="1"/>
          <p:nvPr/>
        </p:nvSpPr>
        <p:spPr bwMode="gray">
          <a:xfrm>
            <a:off x="2884041" y="3395844"/>
            <a:ext cx="631904" cy="323165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US" altLang="zh-CN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BUM</a:t>
            </a:r>
            <a:endParaRPr lang="zh-CN" altLang="en-US" sz="15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1" name="直接连接符 30"/>
          <p:cNvCxnSpPr/>
          <p:nvPr/>
        </p:nvCxnSpPr>
        <p:spPr bwMode="gray">
          <a:xfrm>
            <a:off x="5542528" y="3372984"/>
            <a:ext cx="566603" cy="428436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/>
          <p:nvPr/>
        </p:nvCxnSpPr>
        <p:spPr bwMode="gray">
          <a:xfrm>
            <a:off x="6600825" y="4059660"/>
            <a:ext cx="662642" cy="443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/>
          <p:nvPr/>
        </p:nvCxnSpPr>
        <p:spPr bwMode="gray">
          <a:xfrm flipV="1">
            <a:off x="5451369" y="4513622"/>
            <a:ext cx="438609" cy="395385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十字形 34"/>
          <p:cNvSpPr/>
          <p:nvPr/>
        </p:nvSpPr>
        <p:spPr bwMode="gray">
          <a:xfrm rot="2785165">
            <a:off x="4472887" y="4900619"/>
            <a:ext cx="314163" cy="314163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5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9" name="直接连接符 48"/>
          <p:cNvCxnSpPr/>
          <p:nvPr/>
        </p:nvCxnSpPr>
        <p:spPr bwMode="gray">
          <a:xfrm>
            <a:off x="8158091" y="4059660"/>
            <a:ext cx="662642" cy="443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文本框 49"/>
          <p:cNvSpPr txBox="1"/>
          <p:nvPr/>
        </p:nvSpPr>
        <p:spPr bwMode="gray">
          <a:xfrm>
            <a:off x="4604570" y="3733169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DF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4629970" y="4475597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non-DF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4" name="燕尾形 25"/>
          <p:cNvSpPr/>
          <p:nvPr/>
        </p:nvSpPr>
        <p:spPr bwMode="gray">
          <a:xfrm>
            <a:off x="9324820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燕尾形 26"/>
          <p:cNvSpPr/>
          <p:nvPr/>
        </p:nvSpPr>
        <p:spPr bwMode="gray">
          <a:xfrm>
            <a:off x="10851387" y="114300"/>
            <a:ext cx="896113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b"/>
            <a:r>
              <a:rPr lang="en-US" altLang="zh-CN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Type  4</a:t>
            </a:r>
            <a:endParaRPr lang="zh-CN" altLang="en-US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6" name="燕尾形 25"/>
          <p:cNvSpPr/>
          <p:nvPr/>
        </p:nvSpPr>
        <p:spPr bwMode="gray">
          <a:xfrm>
            <a:off x="10088103" y="114300"/>
            <a:ext cx="81791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3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五边形 46"/>
          <p:cNvSpPr/>
          <p:nvPr/>
        </p:nvSpPr>
        <p:spPr bwMode="gray">
          <a:xfrm>
            <a:off x="8603342" y="114300"/>
            <a:ext cx="77610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新的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不仅限于二层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的应用，随着其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路由类型的增加，支持更多的应用例如</a:t>
            </a:r>
            <a:r>
              <a:rPr lang="en-US" altLang="zh-CN" sz="1800" dirty="0">
                <a:sym typeface="Huawei Sans" panose="020C0503030203020204" pitchFamily="34" charset="0"/>
              </a:rPr>
              <a:t>L3 VPN</a:t>
            </a:r>
            <a:r>
              <a:rPr lang="zh-CN" altLang="en-US" sz="1800" dirty="0">
                <a:sym typeface="Huawei Sans" panose="020C0503030203020204" pitchFamily="34" charset="0"/>
              </a:rPr>
              <a:t>功能。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00258" y="1589040"/>
          <a:ext cx="10804182" cy="4472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8602"/>
                <a:gridCol w="4276578"/>
                <a:gridCol w="2959002"/>
              </a:tblGrid>
              <a:tr h="3440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路由类型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作用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受益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03449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1) </a:t>
                      </a: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A-D Route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别名</a:t>
                      </a:r>
                      <a:b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en-US" altLang="zh-CN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地址批量撤销</a:t>
                      </a:r>
                      <a:b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多活指示</a:t>
                      </a:r>
                      <a:br>
                        <a:rPr 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通告</a:t>
                      </a:r>
                      <a:r>
                        <a:rPr lang="en-US" altLang="zh-CN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ESI</a:t>
                      </a:r>
                      <a:r>
                        <a:rPr lang="zh-CN" altLang="en-US" sz="16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  <a:endParaRPr lang="en-US" sz="16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环路避免</a:t>
                      </a:r>
                      <a:b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快速收敛</a:t>
                      </a:r>
                      <a:b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负载分担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4089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2) </a:t>
                      </a: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MAC/IP Advertisement Route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地址学习通告</a:t>
                      </a:r>
                      <a:b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MAC/IP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绑定</a:t>
                      </a:r>
                      <a:b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地址移动性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基于每个</a:t>
                      </a: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MAC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的策略</a:t>
                      </a:r>
                      <a:b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ARP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抑制</a:t>
                      </a:r>
                      <a:b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</a:b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主机迁移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8979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3) </a:t>
                      </a: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Inclusive Multicast Route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组播隧道端点自动发现</a:t>
                      </a: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&amp;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组播类型自动发现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支持</a:t>
                      </a: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BUM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流量转发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8979"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4) </a:t>
                      </a: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Ethernet Segment Route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ES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成员自动发现</a:t>
                      </a:r>
                      <a:endParaRPr lang="en-US" altLang="zh-CN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DF</a:t>
                      </a: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选举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多活，单活支持</a:t>
                      </a:r>
                      <a:endParaRPr lang="en-US" sz="16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8979">
                <a:tc>
                  <a:txBody>
                    <a:bodyPr/>
                    <a:lstStyle/>
                    <a:p>
                      <a:pPr marL="71755" marR="0" lvl="0" indent="0" algn="ctr" defTabSz="91376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(Type 5) IP Prefix Route</a:t>
                      </a:r>
                      <a:endParaRPr lang="en-US" altLang="zh-CN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IP Prefix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通告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ctr" defTabSz="913765" rtl="0" eaLnBrk="1" fontAlgn="ctr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支持</a:t>
                      </a:r>
                      <a:r>
                        <a:rPr lang="en-US" altLang="zh-CN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L3 VPN</a:t>
                      </a:r>
                      <a:r>
                        <a:rPr lang="zh-CN" altLang="en-US" sz="1600" u="none" strike="noStrike" kern="120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功能</a:t>
                      </a:r>
                      <a:endParaRPr lang="en-US" sz="1600" u="none" strike="noStrike" kern="12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IP</a:t>
            </a:r>
            <a:r>
              <a:rPr lang="zh-CN" altLang="en-US">
                <a:sym typeface="Huawei Sans" panose="020C0503030203020204" pitchFamily="34" charset="0"/>
              </a:rPr>
              <a:t>前缀路由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前缀路由（</a:t>
            </a:r>
            <a:r>
              <a:rPr lang="en-US" altLang="zh-CN" sz="1800" dirty="0">
                <a:sym typeface="Huawei Sans" panose="020C0503030203020204" pitchFamily="34" charset="0"/>
              </a:rPr>
              <a:t>IP Prefix Route</a:t>
            </a:r>
            <a:r>
              <a:rPr lang="zh-CN" altLang="en-US" sz="1800" dirty="0">
                <a:sym typeface="Huawei Sans" panose="020C0503030203020204" pitchFamily="34" charset="0"/>
              </a:rPr>
              <a:t>）：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前缀路由用于在网络中传播从接入侧网络收到的主机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地址信息或主机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所在的网段信息。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859896" y="2271342"/>
          <a:ext cx="8990984" cy="3257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3432"/>
                <a:gridCol w="4797552"/>
              </a:tblGrid>
              <a:tr h="421743"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NLRI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格式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Route Distinguisher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8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实例下设置的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值。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Segment Identifier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与某一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CE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的连接定义的唯一标识。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Ethernet Tag ID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该字段当前仅支持各位置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 Prefix Length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该字段为此路由携带的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前缀掩码长度。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 Prefix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16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该字段为此路由携带的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前缀。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GW IP Address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或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16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该字段为默认网关地址。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0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 Label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 Byte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该字段为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三层业务流量转发使用的标签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前缀路由典型应用场景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2000" dirty="0">
                <a:sym typeface="Huawei Sans" panose="020C0503030203020204" pitchFamily="34" charset="0"/>
              </a:rPr>
              <a:t>Type 5</a:t>
            </a:r>
            <a:r>
              <a:rPr lang="zh-CN" altLang="en-US" sz="2000" dirty="0">
                <a:sym typeface="Huawei Sans" panose="020C0503030203020204" pitchFamily="34" charset="0"/>
              </a:rPr>
              <a:t>被通告入</a:t>
            </a:r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实例中，实现</a:t>
            </a:r>
            <a:r>
              <a:rPr lang="en-US" altLang="zh-CN" sz="2000" dirty="0">
                <a:sym typeface="Huawei Sans" panose="020C0503030203020204" pitchFamily="34" charset="0"/>
              </a:rPr>
              <a:t>EVPN</a:t>
            </a:r>
            <a:r>
              <a:rPr lang="zh-CN" altLang="en-US" sz="2000" dirty="0">
                <a:sym typeface="Huawei Sans" panose="020C0503030203020204" pitchFamily="34" charset="0"/>
              </a:rPr>
              <a:t>实例与外部网络互通。</a:t>
            </a:r>
            <a:endParaRPr lang="zh-CN" altLang="en-US" sz="2000" dirty="0">
              <a:sym typeface="Huawei Sans" panose="020C0503030203020204" pitchFamily="34" charset="0"/>
            </a:endParaRP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  <p:sp>
        <p:nvSpPr>
          <p:cNvPr id="3" name="矩形: 圆角 2"/>
          <p:cNvSpPr/>
          <p:nvPr/>
        </p:nvSpPr>
        <p:spPr bwMode="gray">
          <a:xfrm>
            <a:off x="2444680" y="1802993"/>
            <a:ext cx="4745789" cy="2144797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79553" y="2813469"/>
            <a:ext cx="540000" cy="442800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4" idx="3"/>
            <a:endCxn id="9" idx="1"/>
          </p:cNvCxnSpPr>
          <p:nvPr/>
        </p:nvCxnSpPr>
        <p:spPr bwMode="gray">
          <a:xfrm flipV="1">
            <a:off x="3619553" y="3027142"/>
            <a:ext cx="2081950" cy="77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 bwMode="gray">
          <a:xfrm>
            <a:off x="3083028" y="3330656"/>
            <a:ext cx="497252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5735954" y="3293976"/>
            <a:ext cx="497252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01503" y="2805742"/>
            <a:ext cx="540000" cy="442800"/>
          </a:xfrm>
          <a:prstGeom prst="rect">
            <a:avLst/>
          </a:prstGeom>
        </p:spPr>
      </p:pic>
      <p:cxnSp>
        <p:nvCxnSpPr>
          <p:cNvPr id="10" name="直接连接符 9"/>
          <p:cNvCxnSpPr>
            <a:endCxn id="9" idx="3"/>
          </p:cNvCxnSpPr>
          <p:nvPr/>
        </p:nvCxnSpPr>
        <p:spPr bwMode="gray">
          <a:xfrm flipH="1" flipV="1">
            <a:off x="6241503" y="3027142"/>
            <a:ext cx="1474889" cy="77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 bwMode="gray">
          <a:xfrm>
            <a:off x="3423834" y="4175890"/>
            <a:ext cx="2492779" cy="263141"/>
          </a:xfrm>
          <a:prstGeom prst="round2SameRect">
            <a:avLst>
              <a:gd name="adj1" fmla="val 11237"/>
              <a:gd name="adj2" fmla="val 0"/>
            </a:avLst>
          </a:prstGeom>
          <a:solidFill>
            <a:srgbClr val="30B5C5"/>
          </a:solidFill>
          <a:ln w="19050">
            <a:solidFill>
              <a:schemeClr val="tx1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3423834" y="4432650"/>
            <a:ext cx="2492779" cy="15137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3482647" y="4787676"/>
            <a:ext cx="2376129" cy="344674"/>
          </a:xfrm>
          <a:prstGeom prst="rect">
            <a:avLst/>
          </a:prstGeom>
          <a:solidFill>
            <a:srgbClr val="D0E8C4"/>
          </a:solidFill>
          <a:ln w="1905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Type5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3482647" y="5132350"/>
            <a:ext cx="2376129" cy="713020"/>
          </a:xfrm>
          <a:prstGeom prst="rect">
            <a:avLst/>
          </a:prstGeom>
          <a:solidFill>
            <a:srgbClr val="AFD89C"/>
          </a:solidFill>
          <a:ln w="19050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RD = 100:1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网段：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10.0.0.0/8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3423834" y="4166377"/>
            <a:ext cx="2443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Update</a:t>
            </a:r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3824355" y="4459327"/>
            <a:ext cx="16448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RT: 10:10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 bwMode="gray">
          <a:xfrm>
            <a:off x="3473234" y="4027557"/>
            <a:ext cx="2443379" cy="0"/>
          </a:xfrm>
          <a:prstGeom prst="line">
            <a:avLst/>
          </a:prstGeom>
          <a:ln w="381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159"/>
          <p:cNvSpPr/>
          <p:nvPr/>
        </p:nvSpPr>
        <p:spPr bwMode="gray">
          <a:xfrm flipH="1">
            <a:off x="7460059" y="2361770"/>
            <a:ext cx="1977092" cy="832691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7716392" y="2600890"/>
            <a:ext cx="1294564" cy="363285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10.0.0.0/8</a:t>
            </a:r>
            <a:endParaRPr lang="en-US" altLang="zh-CN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Freeform 222"/>
          <p:cNvSpPr/>
          <p:nvPr/>
        </p:nvSpPr>
        <p:spPr bwMode="gray">
          <a:xfrm rot="21305801" flipH="1">
            <a:off x="6460982" y="2671651"/>
            <a:ext cx="1345598" cy="496624"/>
          </a:xfrm>
          <a:custGeom>
            <a:avLst/>
            <a:gdLst>
              <a:gd name="connsiteX0" fmla="*/ 0 w 2418840"/>
              <a:gd name="connsiteY0" fmla="*/ 0 h 1119840"/>
              <a:gd name="connsiteX1" fmla="*/ 2238744 w 2418840"/>
              <a:gd name="connsiteY1" fmla="*/ 899338 h 1119840"/>
              <a:gd name="connsiteX2" fmla="*/ 2317936 w 2418840"/>
              <a:gd name="connsiteY2" fmla="*/ 795940 h 1119840"/>
              <a:gd name="connsiteX3" fmla="*/ 2418840 w 2418840"/>
              <a:gd name="connsiteY3" fmla="*/ 1119840 h 1119840"/>
              <a:gd name="connsiteX4" fmla="*/ 2014045 w 2418840"/>
              <a:gd name="connsiteY4" fmla="*/ 1012135 h 1119840"/>
              <a:gd name="connsiteX5" fmla="*/ 2172685 w 2418840"/>
              <a:gd name="connsiteY5" fmla="*/ 935960 h 1119840"/>
              <a:gd name="connsiteX6" fmla="*/ 116860 w 2418840"/>
              <a:gd name="connsiteY6" fmla="*/ 695448 h 111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8840" h="1119840">
                <a:moveTo>
                  <a:pt x="0" y="0"/>
                </a:moveTo>
                <a:cubicBezTo>
                  <a:pt x="1542115" y="93757"/>
                  <a:pt x="2025896" y="712448"/>
                  <a:pt x="2238744" y="899338"/>
                </a:cubicBezTo>
                <a:lnTo>
                  <a:pt x="2317936" y="795940"/>
                </a:lnTo>
                <a:lnTo>
                  <a:pt x="2418840" y="1119840"/>
                </a:lnTo>
                <a:lnTo>
                  <a:pt x="2014045" y="1012135"/>
                </a:lnTo>
                <a:lnTo>
                  <a:pt x="2172685" y="935960"/>
                </a:lnTo>
                <a:cubicBezTo>
                  <a:pt x="1329367" y="531234"/>
                  <a:pt x="409846" y="668374"/>
                  <a:pt x="116860" y="695448"/>
                </a:cubicBezTo>
              </a:path>
            </a:pathLst>
          </a:custGeom>
          <a:gradFill flip="none" rotWithShape="1">
            <a:gsLst>
              <a:gs pos="18000">
                <a:srgbClr val="5B9BD5">
                  <a:lumMod val="5000"/>
                  <a:lumOff val="95000"/>
                  <a:alpha val="0"/>
                </a:srgbClr>
              </a:gs>
              <a:gs pos="100000">
                <a:schemeClr val="accent2"/>
              </a:gs>
            </a:gsLst>
            <a:lin ang="2700000" scaled="1"/>
          </a:gra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4721460" y="2292127"/>
            <a:ext cx="2275063" cy="4064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EVI: RD 100:1  RT 10:10</a:t>
            </a:r>
            <a:endParaRPr lang="en-US" altLang="zh-CN" sz="1400" b="1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5696679" y="2809623"/>
            <a:ext cx="540000" cy="441818"/>
          </a:xfrm>
          <a:prstGeom prst="rect">
            <a:avLst/>
          </a:prstGeom>
          <a:noFill/>
        </p:spPr>
      </p:pic>
      <p:pic>
        <p:nvPicPr>
          <p:cNvPr id="29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3083392" y="2809623"/>
            <a:ext cx="540000" cy="441818"/>
          </a:xfrm>
          <a:prstGeom prst="rect">
            <a:avLst/>
          </a:prstGeom>
          <a:noFill/>
        </p:spPr>
      </p:pic>
      <p:sp>
        <p:nvSpPr>
          <p:cNvPr id="30" name="文本框 29"/>
          <p:cNvSpPr txBox="1"/>
          <p:nvPr/>
        </p:nvSpPr>
        <p:spPr bwMode="gray">
          <a:xfrm>
            <a:off x="4159181" y="3114386"/>
            <a:ext cx="1096775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Peer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协议标准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>
            <a:off x="1266820" y="1543627"/>
            <a:ext cx="9712228" cy="2043591"/>
            <a:chOff x="720131" y="2300739"/>
            <a:chExt cx="8063240" cy="920176"/>
          </a:xfrm>
          <a:solidFill>
            <a:srgbClr val="D0E8C4"/>
          </a:solidFill>
        </p:grpSpPr>
        <p:sp>
          <p:nvSpPr>
            <p:cNvPr id="4" name="Rectangle 3"/>
            <p:cNvSpPr/>
            <p:nvPr/>
          </p:nvSpPr>
          <p:spPr bwMode="gray">
            <a:xfrm>
              <a:off x="720131" y="2300739"/>
              <a:ext cx="8063240" cy="92017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Control </a:t>
              </a:r>
              <a:endPara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Plane</a:t>
              </a:r>
              <a:endPara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" name="Rounded Rectangle 5"/>
            <p:cNvSpPr/>
            <p:nvPr/>
          </p:nvSpPr>
          <p:spPr bwMode="gray">
            <a:xfrm>
              <a:off x="1566520" y="2419018"/>
              <a:ext cx="1692311" cy="68562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RFC7432</a:t>
              </a:r>
              <a:endParaRPr lang="en-US" sz="20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685800"/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 MPLS-Based Ethernet VPN</a:t>
              </a:r>
              <a:endParaRPr lang="en-US" sz="20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 bwMode="gray">
            <a:xfrm>
              <a:off x="3352999" y="2426849"/>
              <a:ext cx="1673749" cy="68562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/>
              <a:r>
                <a:rPr lang="en-US" sz="20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RFC</a:t>
              </a:r>
              <a:r>
                <a:rPr lang="en-US" altLang="zh-CN" sz="20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8365</a:t>
              </a:r>
              <a:endParaRPr lang="en-US" sz="20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685800"/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 Network Virtualization Overlay Solution using EVPN</a:t>
              </a:r>
              <a:endParaRPr lang="en-US" sz="20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" name="Rounded Rectangle 5"/>
            <p:cNvSpPr/>
            <p:nvPr/>
          </p:nvSpPr>
          <p:spPr bwMode="gray">
            <a:xfrm>
              <a:off x="5100411" y="2426849"/>
              <a:ext cx="1781734" cy="68562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/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draft-</a:t>
              </a:r>
              <a:r>
                <a:rPr lang="en-US" sz="1600" b="1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ietf</a:t>
              </a:r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</a:t>
              </a:r>
              <a:r>
                <a:rPr lang="en-US" sz="1600" b="1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bess</a:t>
              </a:r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</a:t>
              </a:r>
              <a:r>
                <a:rPr lang="en-US" sz="1600" b="1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evpn</a:t>
              </a:r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-inter-subnet-forwarding</a:t>
              </a:r>
              <a:endPara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685800"/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Integrated Routing and Bridging in EVPN</a:t>
              </a:r>
              <a:endParaRPr lang="en-US" sz="20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Rounded Rectangle 5"/>
            <p:cNvSpPr/>
            <p:nvPr/>
          </p:nvSpPr>
          <p:spPr bwMode="gray">
            <a:xfrm>
              <a:off x="6947645" y="2435720"/>
              <a:ext cx="1727742" cy="68562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/>
              <a:r>
                <a:rPr lang="en-US" sz="16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 Prefix Advertisement in EVPN</a:t>
              </a:r>
              <a:endPara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defTabSz="685800"/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draft-</a:t>
              </a:r>
              <a:r>
                <a:rPr lang="en-US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ietf</a:t>
              </a:r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</a:t>
              </a:r>
              <a:r>
                <a:rPr lang="en-US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bess</a:t>
              </a:r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</a:t>
              </a:r>
              <a:r>
                <a:rPr lang="en-US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evpn</a:t>
              </a:r>
              <a:r>
                <a:rPr lang="en-US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-prefix-advertisement</a:t>
              </a:r>
              <a:endParaRPr lang="en-US" sz="20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0" name="Rectangle 4"/>
          <p:cNvSpPr/>
          <p:nvPr/>
        </p:nvSpPr>
        <p:spPr bwMode="gray">
          <a:xfrm>
            <a:off x="1266820" y="3587500"/>
            <a:ext cx="9712229" cy="2043591"/>
          </a:xfrm>
          <a:prstGeom prst="rect">
            <a:avLst/>
          </a:prstGeom>
          <a:solidFill>
            <a:srgbClr val="94DA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</a:t>
            </a:r>
            <a:endParaRPr lang="en-US" sz="16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Plane</a:t>
            </a:r>
            <a:endParaRPr lang="en-US" sz="16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Rounded Rectangle 6"/>
          <p:cNvSpPr/>
          <p:nvPr/>
        </p:nvSpPr>
        <p:spPr bwMode="gray">
          <a:xfrm>
            <a:off x="2593944" y="3756373"/>
            <a:ext cx="3656446" cy="987263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RFC7348</a:t>
            </a:r>
            <a:endParaRPr lang="en-US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685800"/>
            <a:r>
              <a:rPr lang="en-US" sz="105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Virtual </a:t>
            </a:r>
            <a:r>
              <a:rPr lang="en-US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eXtensible</a:t>
            </a:r>
            <a:r>
              <a: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Area Network</a:t>
            </a:r>
            <a:r>
              <a:rPr lang="en-US" sz="105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en-US" sz="105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Rounded Rectangle 12"/>
          <p:cNvSpPr/>
          <p:nvPr/>
        </p:nvSpPr>
        <p:spPr bwMode="gray">
          <a:xfrm>
            <a:off x="2593946" y="4788963"/>
            <a:ext cx="3656446" cy="964871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VXLAN (IP overlay)</a:t>
            </a:r>
            <a:endParaRPr lang="en-US" sz="16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Rounded Rectangle 13"/>
          <p:cNvSpPr/>
          <p:nvPr/>
        </p:nvSpPr>
        <p:spPr bwMode="gray">
          <a:xfrm>
            <a:off x="7338731" y="4861747"/>
            <a:ext cx="2810136" cy="89008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sz="18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Rounded Rectangle 5"/>
          <p:cNvSpPr/>
          <p:nvPr/>
        </p:nvSpPr>
        <p:spPr bwMode="gray">
          <a:xfrm>
            <a:off x="7338731" y="3725132"/>
            <a:ext cx="2780923" cy="1060733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RFC7432</a:t>
            </a:r>
            <a:endParaRPr lang="en-US" sz="1800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(BGP MPLS-Based Ethernet VPN)</a:t>
            </a:r>
            <a:endParaRPr 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r>
              <a:rPr lang="zh-CN" altLang="en-US" b="1" dirty="0">
                <a:sym typeface="Huawei Sans" panose="020C0503030203020204" pitchFamily="34" charset="0"/>
              </a:rPr>
              <a:t>工作原理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路由简介与交互流程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路由类型详解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接入原理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接入概述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网络边缘的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设备上可以部署多个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实例（</a:t>
            </a:r>
            <a:r>
              <a:rPr lang="en-US" altLang="zh-CN" sz="1800" dirty="0">
                <a:sym typeface="Huawei Sans" panose="020C0503030203020204" pitchFamily="34" charset="0"/>
              </a:rPr>
              <a:t>EVI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EVPN Instance</a:t>
            </a:r>
            <a:r>
              <a:rPr lang="zh-CN" altLang="en-US" sz="1800" dirty="0">
                <a:sym typeface="Huawei Sans" panose="020C0503030203020204" pitchFamily="34" charset="0"/>
              </a:rPr>
              <a:t>），每个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实例可以连接一个或者多个用户网络。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支持通过多种服务模式来接入用户网络：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4398" y="2083118"/>
          <a:ext cx="10044430" cy="3063040"/>
        </p:xfrm>
        <a:graphic>
          <a:graphicData uri="http://schemas.openxmlformats.org/drawingml/2006/table">
            <a:tbl>
              <a:tblPr/>
              <a:tblGrid>
                <a:gridCol w="2182106"/>
                <a:gridCol w="7862324"/>
              </a:tblGrid>
              <a:tr h="61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服务模式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适用场景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1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Port Based</a:t>
                      </a:r>
                      <a:endParaRPr lang="en-US" altLang="zh-CN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连接用户网络的物理接口直接绑定普通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实例，只能用于承载二层业务。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 Based</a:t>
                      </a:r>
                      <a:endParaRPr lang="en-US" altLang="zh-CN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连接用户网络的物理接口划分成不同子接口，每个子接口与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实例绑定。每个用户单独使用一个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实例，可用于承载二层业务或三层业务。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 Bundle</a:t>
                      </a:r>
                      <a:endParaRPr lang="en-US" altLang="zh-CN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不同用户间使用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进行划分，不同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实例绑定，可用于承载二层业务或三层业务。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VLAN-Aware Bundle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不同用户间使用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进行划分，不同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VLAN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通过与同一</a:t>
                      </a:r>
                      <a:r>
                        <a:rPr lang="en-US" altLang="zh-CN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</a:t>
                      </a:r>
                      <a:r>
                        <a:rPr lang="zh-CN" altLang="en-US" sz="140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实例绑定，可用于承载二层业务或三层业务。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gray">
          <a:xfrm>
            <a:off x="2843181" y="2895964"/>
            <a:ext cx="2114614" cy="16566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Port Based</a:t>
            </a:r>
            <a:r>
              <a:rPr lang="zh-CN" altLang="en-US">
                <a:sym typeface="Huawei Sans" panose="020C0503030203020204" pitchFamily="34" charset="0"/>
              </a:rPr>
              <a:t>模式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Port Base</a:t>
            </a:r>
            <a:r>
              <a:rPr lang="zh-CN" altLang="en-US" sz="1800" dirty="0">
                <a:sym typeface="Huawei Sans" panose="020C0503030203020204" pitchFamily="34" charset="0"/>
              </a:rPr>
              <a:t>模式是一种整个接口接入业务的方式，即连接用户网络的物理接口直接绑定普通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实例，且该接口不创建子接口。此种服务模式只能用于承载二层业务。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gray">
          <a:xfrm>
            <a:off x="3662169" y="4114386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 bwMode="gray">
          <a:xfrm>
            <a:off x="1898179" y="391776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5247014" y="3052432"/>
            <a:ext cx="5970658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[~PE] interface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1/0/0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[*PE-GigabitEthernet1/0/0]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vpn-instance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evpna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[*PE-GigabitEthernet1/0/0] commit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[~PE-GigabitEthernet1/0/0] quit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2983571" y="3048590"/>
            <a:ext cx="1828800" cy="967801"/>
          </a:xfrm>
          <a:prstGeom prst="rect">
            <a:avLst/>
          </a:prstGeom>
          <a:solidFill>
            <a:srgbClr val="BEE9EE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Can 225"/>
          <p:cNvSpPr/>
          <p:nvPr/>
        </p:nvSpPr>
        <p:spPr bwMode="gray">
          <a:xfrm rot="5400000">
            <a:off x="2181962" y="2899927"/>
            <a:ext cx="342966" cy="1614471"/>
          </a:xfrm>
          <a:prstGeom prst="can">
            <a:avLst>
              <a:gd name="adj" fmla="val 40000"/>
            </a:avLst>
          </a:prstGeom>
          <a:solidFill>
            <a:srgbClr val="56C4D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3469881" y="3347824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gray">
          <a:xfrm>
            <a:off x="3437541" y="2992954"/>
            <a:ext cx="3061630" cy="172612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Can 9"/>
          <p:cNvSpPr/>
          <p:nvPr/>
        </p:nvSpPr>
        <p:spPr bwMode="gray">
          <a:xfrm rot="5400000">
            <a:off x="2176466" y="3709945"/>
            <a:ext cx="253196" cy="582431"/>
          </a:xfrm>
          <a:prstGeom prst="can">
            <a:avLst>
              <a:gd name="adj" fmla="val 40000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Can 9"/>
          <p:cNvSpPr/>
          <p:nvPr/>
        </p:nvSpPr>
        <p:spPr bwMode="gray">
          <a:xfrm rot="5400000">
            <a:off x="2187812" y="3173180"/>
            <a:ext cx="253196" cy="590220"/>
          </a:xfrm>
          <a:prstGeom prst="can">
            <a:avLst>
              <a:gd name="adj" fmla="val 40000"/>
            </a:avLst>
          </a:prstGeom>
          <a:solidFill>
            <a:srgbClr val="AFD89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VLAN Based</a:t>
            </a:r>
            <a:r>
              <a:rPr lang="zh-CN" altLang="en-US">
                <a:sym typeface="Huawei Sans" panose="020C0503030203020204" pitchFamily="34" charset="0"/>
              </a:rPr>
              <a:t>模式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VLAN Based</a:t>
            </a:r>
            <a:r>
              <a:rPr lang="zh-CN" altLang="en-US" sz="1800" dirty="0">
                <a:sym typeface="Huawei Sans" panose="020C0503030203020204" pitchFamily="34" charset="0"/>
              </a:rPr>
              <a:t>模式下，连接用户网络的物理接口划分成不同子接口，每个子接口关联不同的</a:t>
            </a:r>
            <a:r>
              <a:rPr lang="en-US" altLang="zh-CN" sz="1800" dirty="0">
                <a:sym typeface="Huawei Sans" panose="020C0503030203020204" pitchFamily="34" charset="0"/>
              </a:rPr>
              <a:t>VLAN</a:t>
            </a:r>
            <a:r>
              <a:rPr lang="zh-CN" altLang="en-US" sz="1800" dirty="0">
                <a:sym typeface="Huawei Sans" panose="020C0503030203020204" pitchFamily="34" charset="0"/>
              </a:rPr>
              <a:t>且加入不同的广播域</a:t>
            </a:r>
            <a:r>
              <a:rPr lang="en-US" altLang="zh-CN" sz="1800" dirty="0">
                <a:sym typeface="Huawei Sans" panose="020C0503030203020204" pitchFamily="34" charset="0"/>
              </a:rPr>
              <a:t>BD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Bridge Domain</a:t>
            </a:r>
            <a:r>
              <a:rPr lang="zh-CN" altLang="en-US" sz="1800" dirty="0">
                <a:sym typeface="Huawei Sans" panose="020C0503030203020204" pitchFamily="34" charset="0"/>
              </a:rPr>
              <a:t>）。每个广播域</a:t>
            </a:r>
            <a:r>
              <a:rPr lang="en-US" altLang="zh-CN" sz="1800" dirty="0">
                <a:sym typeface="Huawei Sans" panose="020C0503030203020204" pitchFamily="34" charset="0"/>
              </a:rPr>
              <a:t>BD</a:t>
            </a:r>
            <a:r>
              <a:rPr lang="zh-CN" altLang="en-US" sz="1800" dirty="0">
                <a:sym typeface="Huawei Sans" panose="020C0503030203020204" pitchFamily="34" charset="0"/>
              </a:rPr>
              <a:t>会与单独的一个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实例进行绑定。此种服务模式可以用于承载二层业务或三层业务。本例有</a:t>
            </a:r>
            <a:r>
              <a:rPr lang="en-US" altLang="zh-CN" sz="1800" dirty="0">
                <a:sym typeface="Huawei Sans" panose="020C0503030203020204" pitchFamily="34" charset="0"/>
              </a:rPr>
              <a:t>User1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User2</a:t>
            </a:r>
            <a:r>
              <a:rPr lang="zh-CN" altLang="en-US" sz="1800" dirty="0">
                <a:sym typeface="Huawei Sans" panose="020C0503030203020204" pitchFamily="34" charset="0"/>
              </a:rPr>
              <a:t>，分别使用不同的子接口接入。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4732554" y="4307771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6641063" y="2654400"/>
            <a:ext cx="1861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配置示例：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6694397" y="3040333"/>
            <a:ext cx="480164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[~PE] bridge-domain 10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[*PE-bd10]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vpn-instance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evpna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[*PE-bd10] quit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[*PE] interface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1/0/0.1 mode l2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encapsulation dot1q vid 10</a:t>
            </a:r>
            <a:endParaRPr lang="sv-SE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bridge-domain 10</a:t>
            </a:r>
            <a:endParaRPr lang="sv-SE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commit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3723772" y="3232822"/>
            <a:ext cx="1137725" cy="480658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Can 225"/>
          <p:cNvSpPr/>
          <p:nvPr/>
        </p:nvSpPr>
        <p:spPr bwMode="gray">
          <a:xfrm rot="5400000">
            <a:off x="2473099" y="3066642"/>
            <a:ext cx="1193902" cy="1369981"/>
          </a:xfrm>
          <a:prstGeom prst="can">
            <a:avLst>
              <a:gd name="adj" fmla="val 40000"/>
            </a:avLst>
          </a:prstGeom>
          <a:solidFill>
            <a:srgbClr val="56C4D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gray">
          <a:xfrm>
            <a:off x="3929210" y="327092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BD 10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Can 9"/>
          <p:cNvSpPr/>
          <p:nvPr/>
        </p:nvSpPr>
        <p:spPr bwMode="gray">
          <a:xfrm rot="5400000">
            <a:off x="3525286" y="3239690"/>
            <a:ext cx="253196" cy="457200"/>
          </a:xfrm>
          <a:prstGeom prst="can">
            <a:avLst>
              <a:gd name="adj" fmla="val 40000"/>
            </a:avLst>
          </a:prstGeom>
          <a:solidFill>
            <a:srgbClr val="AFD89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1417023" y="294355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1417023" y="413849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 bwMode="gray">
          <a:xfrm>
            <a:off x="5118842" y="3232822"/>
            <a:ext cx="1229591" cy="480658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5268326" y="3289972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连接符 23"/>
          <p:cNvCxnSpPr>
            <a:stCxn id="9" idx="3"/>
            <a:endCxn id="21" idx="1"/>
          </p:cNvCxnSpPr>
          <p:nvPr/>
        </p:nvCxnSpPr>
        <p:spPr bwMode="gray">
          <a:xfrm>
            <a:off x="4861497" y="3473151"/>
            <a:ext cx="257345" cy="0"/>
          </a:xfrm>
          <a:prstGeom prst="line">
            <a:avLst/>
          </a:prstGeom>
          <a:ln w="19050">
            <a:solidFill>
              <a:srgbClr val="AFD8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 bwMode="gray">
          <a:xfrm>
            <a:off x="3723772" y="3787063"/>
            <a:ext cx="1137725" cy="480658"/>
          </a:xfrm>
          <a:prstGeom prst="rect">
            <a:avLst/>
          </a:prstGeom>
          <a:solidFill>
            <a:srgbClr val="BEE9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3929210" y="3825163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BD 20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5118842" y="3787063"/>
            <a:ext cx="1229591" cy="480658"/>
          </a:xfrm>
          <a:prstGeom prst="rect">
            <a:avLst/>
          </a:prstGeom>
          <a:solidFill>
            <a:srgbClr val="BEE9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5268326" y="3844213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B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9" name="直接连接符 28"/>
          <p:cNvCxnSpPr>
            <a:stCxn id="25" idx="3"/>
            <a:endCxn id="27" idx="1"/>
          </p:cNvCxnSpPr>
          <p:nvPr/>
        </p:nvCxnSpPr>
        <p:spPr bwMode="gray">
          <a:xfrm>
            <a:off x="4861497" y="4027392"/>
            <a:ext cx="2573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n 9"/>
          <p:cNvSpPr/>
          <p:nvPr/>
        </p:nvSpPr>
        <p:spPr bwMode="gray">
          <a:xfrm rot="5400000">
            <a:off x="3493954" y="3772559"/>
            <a:ext cx="253196" cy="457201"/>
          </a:xfrm>
          <a:prstGeom prst="can">
            <a:avLst>
              <a:gd name="adj" fmla="val 40000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068012" y="3315315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1417023" y="2638398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1417023" y="4404051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1529984" y="5158653"/>
            <a:ext cx="46383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，从子接口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20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，从子接口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1075110" y="3828513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20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VLAN Bundle</a:t>
            </a:r>
            <a:r>
              <a:rPr lang="zh-CN" altLang="en-US">
                <a:sym typeface="Huawei Sans" panose="020C0503030203020204" pitchFamily="34" charset="0"/>
              </a:rPr>
              <a:t>模式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VLAN Bundle</a:t>
            </a:r>
            <a:r>
              <a:rPr lang="zh-CN" altLang="en-US" sz="1800" dirty="0">
                <a:sym typeface="Huawei Sans" panose="020C0503030203020204" pitchFamily="34" charset="0"/>
              </a:rPr>
              <a:t>模式下，一个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实例可以连接多个用户，不同用户间使用</a:t>
            </a:r>
            <a:r>
              <a:rPr lang="en-US" altLang="zh-CN" sz="1800" dirty="0">
                <a:sym typeface="Huawei Sans" panose="020C0503030203020204" pitchFamily="34" charset="0"/>
              </a:rPr>
              <a:t>VLAN</a:t>
            </a:r>
            <a:r>
              <a:rPr lang="zh-CN" altLang="en-US" sz="1800" dirty="0">
                <a:sym typeface="Huawei Sans" panose="020C0503030203020204" pitchFamily="34" charset="0"/>
              </a:rPr>
              <a:t>进行划分，而该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实例会绑定到一个广播域</a:t>
            </a:r>
            <a:r>
              <a:rPr lang="en-US" altLang="zh-CN" sz="1800" dirty="0">
                <a:sym typeface="Huawei Sans" panose="020C0503030203020204" pitchFamily="34" charset="0"/>
              </a:rPr>
              <a:t>BD</a:t>
            </a:r>
            <a:r>
              <a:rPr lang="zh-CN" altLang="en-US" sz="1800" dirty="0">
                <a:sym typeface="Huawei Sans" panose="020C0503030203020204" pitchFamily="34" charset="0"/>
              </a:rPr>
              <a:t>上。此类型服务模式中，接入同一个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实例的不同用户共用同一个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转发表，因此需要网络中用户的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地址唯一。此种服务模式可以用于承载二层业务或三层业务。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6736657" y="2928720"/>
            <a:ext cx="1861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配置示例：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6801077" y="3314653"/>
            <a:ext cx="480164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[~PE] bridge-domain 10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[*PE-bd10]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vpn-instance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evpna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[*PE-bd10] quit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[*PE] interface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1/0/0.1 mode l2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encapsulation dot1q vid 10</a:t>
            </a:r>
            <a:endParaRPr lang="sv-SE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bridge-domain 10</a:t>
            </a:r>
            <a:endParaRPr lang="sv-SE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commit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3437541" y="2992954"/>
            <a:ext cx="3061630" cy="172612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Can 9"/>
          <p:cNvSpPr/>
          <p:nvPr/>
        </p:nvSpPr>
        <p:spPr bwMode="gray">
          <a:xfrm rot="5400000">
            <a:off x="2176466" y="3709945"/>
            <a:ext cx="253196" cy="582431"/>
          </a:xfrm>
          <a:prstGeom prst="can">
            <a:avLst>
              <a:gd name="adj" fmla="val 40000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Can 9"/>
          <p:cNvSpPr/>
          <p:nvPr/>
        </p:nvSpPr>
        <p:spPr bwMode="gray">
          <a:xfrm rot="5400000">
            <a:off x="2187812" y="3173180"/>
            <a:ext cx="253196" cy="590220"/>
          </a:xfrm>
          <a:prstGeom prst="can">
            <a:avLst>
              <a:gd name="adj" fmla="val 40000"/>
            </a:avLst>
          </a:prstGeom>
          <a:solidFill>
            <a:srgbClr val="AFD89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4732554" y="4307771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3723772" y="3232822"/>
            <a:ext cx="1137725" cy="1019482"/>
          </a:xfrm>
          <a:prstGeom prst="rect">
            <a:avLst/>
          </a:prstGeom>
          <a:solidFill>
            <a:srgbClr val="FDD35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Can 225"/>
          <p:cNvSpPr/>
          <p:nvPr/>
        </p:nvSpPr>
        <p:spPr bwMode="gray">
          <a:xfrm rot="5400000">
            <a:off x="2473099" y="3066642"/>
            <a:ext cx="1193902" cy="1369981"/>
          </a:xfrm>
          <a:prstGeom prst="can">
            <a:avLst>
              <a:gd name="adj" fmla="val 40000"/>
            </a:avLst>
          </a:prstGeom>
          <a:solidFill>
            <a:srgbClr val="56C4D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Can 9"/>
          <p:cNvSpPr/>
          <p:nvPr/>
        </p:nvSpPr>
        <p:spPr bwMode="gray">
          <a:xfrm rot="5400000">
            <a:off x="3525286" y="3239690"/>
            <a:ext cx="253196" cy="457200"/>
          </a:xfrm>
          <a:prstGeom prst="can">
            <a:avLst>
              <a:gd name="adj" fmla="val 40000"/>
            </a:avLst>
          </a:prstGeom>
          <a:solidFill>
            <a:srgbClr val="AFD89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1417023" y="294355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1417023" y="413849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5118842" y="3232822"/>
            <a:ext cx="1229591" cy="1019482"/>
          </a:xfrm>
          <a:prstGeom prst="rect">
            <a:avLst/>
          </a:prstGeom>
          <a:solidFill>
            <a:srgbClr val="FDD35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5268326" y="3592782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直接连接符 41"/>
          <p:cNvCxnSpPr>
            <a:stCxn id="34" idx="3"/>
            <a:endCxn id="40" idx="1"/>
          </p:cNvCxnSpPr>
          <p:nvPr/>
        </p:nvCxnSpPr>
        <p:spPr bwMode="gray">
          <a:xfrm>
            <a:off x="4861497" y="3742563"/>
            <a:ext cx="257345" cy="0"/>
          </a:xfrm>
          <a:prstGeom prst="line">
            <a:avLst/>
          </a:prstGeom>
          <a:ln w="28575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n 9"/>
          <p:cNvSpPr/>
          <p:nvPr/>
        </p:nvSpPr>
        <p:spPr bwMode="gray">
          <a:xfrm rot="5400000">
            <a:off x="3493954" y="3772559"/>
            <a:ext cx="253196" cy="457201"/>
          </a:xfrm>
          <a:prstGeom prst="can">
            <a:avLst>
              <a:gd name="adj" fmla="val 40000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1068012" y="3315315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1417023" y="2638398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1417023" y="4404051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1529984" y="5158653"/>
            <a:ext cx="46383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，从子接口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20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，从子接口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1075110" y="3828513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20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3929210" y="359278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BD 10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VLAN-Aware Bundle</a:t>
            </a:r>
            <a:r>
              <a:rPr lang="zh-CN" altLang="en-US">
                <a:sym typeface="Huawei Sans" panose="020C0503030203020204" pitchFamily="34" charset="0"/>
              </a:rPr>
              <a:t>模式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</a:t>
            </a:r>
            <a:r>
              <a:rPr lang="en-US" altLang="zh-CN" sz="1800" dirty="0">
                <a:sym typeface="Huawei Sans" panose="020C0503030203020204" pitchFamily="34" charset="0"/>
              </a:rPr>
              <a:t>VLAN-Aware Bundle</a:t>
            </a:r>
            <a:r>
              <a:rPr lang="zh-CN" altLang="en-US" sz="1800" dirty="0">
                <a:sym typeface="Huawei Sans" panose="020C0503030203020204" pitchFamily="34" charset="0"/>
              </a:rPr>
              <a:t>模式下，一个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实例可以连接多个用户，不同用户间使用</a:t>
            </a:r>
            <a:r>
              <a:rPr lang="en-US" altLang="zh-CN" sz="1800" dirty="0">
                <a:sym typeface="Huawei Sans" panose="020C0503030203020204" pitchFamily="34" charset="0"/>
              </a:rPr>
              <a:t>VLAN</a:t>
            </a:r>
            <a:r>
              <a:rPr lang="zh-CN" altLang="en-US" sz="1800" dirty="0">
                <a:sym typeface="Huawei Sans" panose="020C0503030203020204" pitchFamily="34" charset="0"/>
              </a:rPr>
              <a:t>进行划分绑定不同的</a:t>
            </a:r>
            <a:r>
              <a:rPr lang="en-US" altLang="zh-CN" sz="1800" dirty="0">
                <a:sym typeface="Huawei Sans" panose="020C0503030203020204" pitchFamily="34" charset="0"/>
              </a:rPr>
              <a:t>BD</a:t>
            </a:r>
            <a:r>
              <a:rPr lang="zh-CN" altLang="en-US" sz="1800" dirty="0">
                <a:sym typeface="Huawei Sans" panose="020C0503030203020204" pitchFamily="34" charset="0"/>
              </a:rPr>
              <a:t>。此类型服务模式中，接入同一个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实例的不同用户分别使用独立的与</a:t>
            </a:r>
            <a:r>
              <a:rPr lang="en-US" altLang="zh-CN" sz="1800" dirty="0">
                <a:sym typeface="Huawei Sans" panose="020C0503030203020204" pitchFamily="34" charset="0"/>
              </a:rPr>
              <a:t>BD</a:t>
            </a:r>
            <a:r>
              <a:rPr lang="zh-CN" altLang="en-US" sz="1800" dirty="0">
                <a:sym typeface="Huawei Sans" panose="020C0503030203020204" pitchFamily="34" charset="0"/>
              </a:rPr>
              <a:t>对应的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转发表（以</a:t>
            </a:r>
            <a:r>
              <a:rPr lang="en-US" altLang="zh-CN" sz="1800" dirty="0">
                <a:sym typeface="Huawei Sans" panose="020C0503030203020204" pitchFamily="34" charset="0"/>
              </a:rPr>
              <a:t>BD-tag</a:t>
            </a:r>
            <a:r>
              <a:rPr lang="zh-CN" altLang="en-US" sz="1800" dirty="0">
                <a:sym typeface="Huawei Sans" panose="020C0503030203020204" pitchFamily="34" charset="0"/>
              </a:rPr>
              <a:t>标识）。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6508057" y="2928720"/>
            <a:ext cx="1861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配置示例：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gray">
          <a:xfrm>
            <a:off x="6450557" y="3314653"/>
            <a:ext cx="529394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[~PE] bridge-domain 10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[*PE-bd10]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vpn-instance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evpna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bd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-tag 10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[*PE-bd10] quit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[*PE] interface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1/0/0.1 mode l2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encapsulation dot1q vid 10</a:t>
            </a:r>
            <a:endParaRPr lang="sv-SE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bridge-domain 10</a:t>
            </a:r>
            <a:endParaRPr lang="sv-SE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[*PE-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G1/0/0.1</a:t>
            </a:r>
            <a:r>
              <a:rPr lang="sv-SE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] commit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gray">
          <a:xfrm>
            <a:off x="3163221" y="2992954"/>
            <a:ext cx="3061630" cy="172612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Can 9"/>
          <p:cNvSpPr/>
          <p:nvPr/>
        </p:nvSpPr>
        <p:spPr bwMode="gray">
          <a:xfrm rot="5400000">
            <a:off x="1902146" y="3709945"/>
            <a:ext cx="253196" cy="582431"/>
          </a:xfrm>
          <a:prstGeom prst="can">
            <a:avLst>
              <a:gd name="adj" fmla="val 40000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Can 9"/>
          <p:cNvSpPr/>
          <p:nvPr/>
        </p:nvSpPr>
        <p:spPr bwMode="gray">
          <a:xfrm rot="5400000">
            <a:off x="1913492" y="3173180"/>
            <a:ext cx="253196" cy="590220"/>
          </a:xfrm>
          <a:prstGeom prst="can">
            <a:avLst>
              <a:gd name="adj" fmla="val 40000"/>
            </a:avLst>
          </a:prstGeom>
          <a:solidFill>
            <a:srgbClr val="AFD89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4458234" y="4307771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20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Can 225"/>
          <p:cNvSpPr/>
          <p:nvPr/>
        </p:nvSpPr>
        <p:spPr bwMode="gray">
          <a:xfrm rot="5400000">
            <a:off x="2198779" y="3066642"/>
            <a:ext cx="1193902" cy="1369981"/>
          </a:xfrm>
          <a:prstGeom prst="can">
            <a:avLst>
              <a:gd name="adj" fmla="val 40000"/>
            </a:avLst>
          </a:prstGeom>
          <a:solidFill>
            <a:srgbClr val="56C4D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1142703" y="294355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1142703" y="4138494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4844522" y="3232822"/>
            <a:ext cx="1229591" cy="1019482"/>
          </a:xfrm>
          <a:prstGeom prst="rect">
            <a:avLst/>
          </a:prstGeom>
          <a:solidFill>
            <a:srgbClr val="FDD35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4994006" y="3592782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 A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793692" y="3315315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1142703" y="2638398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1142703" y="4404051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User2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1255664" y="5158653"/>
            <a:ext cx="46383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，从子接口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GE1/0/0.1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业务使用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20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，从子接口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GE1/0/0.2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接入。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800790" y="3828513"/>
            <a:ext cx="1474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20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 50"/>
          <p:cNvSpPr/>
          <p:nvPr/>
        </p:nvSpPr>
        <p:spPr bwMode="gray">
          <a:xfrm>
            <a:off x="3457009" y="3197572"/>
            <a:ext cx="1137725" cy="480658"/>
          </a:xfrm>
          <a:prstGeom prst="rect">
            <a:avLst/>
          </a:prstGeom>
          <a:solidFill>
            <a:srgbClr val="AFD89C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 bwMode="gray">
          <a:xfrm>
            <a:off x="3662447" y="328647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BD 10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3457009" y="3764513"/>
            <a:ext cx="1137725" cy="480658"/>
          </a:xfrm>
          <a:prstGeom prst="rect">
            <a:avLst/>
          </a:prstGeom>
          <a:solidFill>
            <a:srgbClr val="BEE9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3662447" y="3840713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BD 20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Can 9"/>
          <p:cNvSpPr/>
          <p:nvPr/>
        </p:nvSpPr>
        <p:spPr bwMode="gray">
          <a:xfrm rot="5400000">
            <a:off x="3250966" y="3239690"/>
            <a:ext cx="253196" cy="457200"/>
          </a:xfrm>
          <a:prstGeom prst="can">
            <a:avLst>
              <a:gd name="adj" fmla="val 40000"/>
            </a:avLst>
          </a:prstGeom>
          <a:solidFill>
            <a:srgbClr val="AFD89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Can 9"/>
          <p:cNvSpPr/>
          <p:nvPr/>
        </p:nvSpPr>
        <p:spPr bwMode="gray">
          <a:xfrm rot="5400000">
            <a:off x="3219634" y="3772559"/>
            <a:ext cx="253196" cy="457201"/>
          </a:xfrm>
          <a:prstGeom prst="can">
            <a:avLst>
              <a:gd name="adj" fmla="val 40000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5" name="直接连接符 54"/>
          <p:cNvCxnSpPr/>
          <p:nvPr/>
        </p:nvCxnSpPr>
        <p:spPr bwMode="gray">
          <a:xfrm>
            <a:off x="4594734" y="3453802"/>
            <a:ext cx="257345" cy="0"/>
          </a:xfrm>
          <a:prstGeom prst="line">
            <a:avLst/>
          </a:prstGeom>
          <a:ln w="19050">
            <a:solidFill>
              <a:srgbClr val="AFD8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 bwMode="gray">
          <a:xfrm>
            <a:off x="4594734" y="4020743"/>
            <a:ext cx="25734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b="1" dirty="0">
                <a:sym typeface="Huawei Sans" panose="020C0503030203020204" pitchFamily="34" charset="0"/>
              </a:rPr>
              <a:t>跨域</a:t>
            </a:r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跨域</a:t>
            </a:r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一般的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的体系结构都是在一个自治系统（</a:t>
            </a:r>
            <a:r>
              <a:rPr lang="en-US" altLang="zh-CN" sz="1800" dirty="0">
                <a:sym typeface="Huawei Sans" panose="020C0503030203020204" pitchFamily="34" charset="0"/>
              </a:rPr>
              <a:t>Autonomous System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）内运行，任何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的路由信息都是只能在一个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内按需扩散，没有提供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内的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信息向其他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扩散的功能。在一些复杂场景下，可能存在企业拥有多个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，这就需要扩展现有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体系框架，提供一种跨域（</a:t>
            </a:r>
            <a:r>
              <a:rPr lang="en-US" altLang="zh-CN" sz="1800" dirty="0">
                <a:sym typeface="Huawei Sans" panose="020C0503030203020204" pitchFamily="34" charset="0"/>
              </a:rPr>
              <a:t>Inter-AS</a:t>
            </a:r>
            <a:r>
              <a:rPr lang="zh-CN" altLang="en-US" sz="1800" dirty="0">
                <a:sym typeface="Huawei Sans" panose="020C0503030203020204" pitchFamily="34" charset="0"/>
              </a:rPr>
              <a:t>）的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跨域的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借鉴跨域</a:t>
            </a:r>
            <a:r>
              <a:rPr lang="en-US" altLang="zh-CN" sz="1800" dirty="0">
                <a:sym typeface="Huawei Sans" panose="020C0503030203020204" pitchFamily="34" charset="0"/>
              </a:rPr>
              <a:t>MPLS VPN</a:t>
            </a:r>
            <a:r>
              <a:rPr lang="zh-CN" altLang="en-US" sz="1800" dirty="0">
                <a:sym typeface="Huawei Sans" panose="020C0503030203020204" pitchFamily="34" charset="0"/>
              </a:rPr>
              <a:t>的方式，也有三种：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OptionB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OptionC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 bwMode="gray">
          <a:xfrm>
            <a:off x="10037886" y="3295166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gray">
          <a:xfrm>
            <a:off x="770019" y="3295166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: 圆角 50"/>
          <p:cNvSpPr/>
          <p:nvPr/>
        </p:nvSpPr>
        <p:spPr bwMode="gray">
          <a:xfrm>
            <a:off x="6667093" y="2886620"/>
            <a:ext cx="2756401" cy="1508168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: 圆角 49"/>
          <p:cNvSpPr/>
          <p:nvPr/>
        </p:nvSpPr>
        <p:spPr bwMode="gray">
          <a:xfrm>
            <a:off x="2948723" y="2886620"/>
            <a:ext cx="2756401" cy="1508168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：</a:t>
            </a:r>
            <a:r>
              <a:rPr lang="en-US" altLang="zh-CN" dirty="0" err="1">
                <a:sym typeface="Huawei Sans" panose="020C0503030203020204" pitchFamily="34" charset="0"/>
              </a:rPr>
              <a:t>OptionA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跨域的</a:t>
            </a:r>
            <a:r>
              <a:rPr lang="en-US" altLang="zh-CN" sz="1800" dirty="0">
                <a:sym typeface="Huawei Sans" panose="020C0503030203020204" pitchFamily="34" charset="0"/>
              </a:rPr>
              <a:t>EVPN-</a:t>
            </a:r>
            <a:r>
              <a:rPr lang="en-US" altLang="zh-CN" sz="1800" dirty="0" err="1">
                <a:sym typeface="Huawei Sans" panose="020C0503030203020204" pitchFamily="34" charset="0"/>
              </a:rPr>
              <a:t>OptionA</a:t>
            </a:r>
            <a:r>
              <a:rPr lang="zh-CN" altLang="en-US" sz="1800" dirty="0">
                <a:sym typeface="Huawei Sans" panose="020C0503030203020204" pitchFamily="34" charset="0"/>
              </a:rPr>
              <a:t>中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之间建立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邻居关系，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之间不需要运行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之间采用创建多个子接口并绑定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的方式实现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路由传递。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 err="1">
                <a:sym typeface="Huawei Sans" panose="020C0503030203020204" pitchFamily="34" charset="0"/>
              </a:rPr>
              <a:t>OptionA</a:t>
            </a:r>
            <a:r>
              <a:rPr lang="zh-CN" altLang="en-US" sz="1800" dirty="0">
                <a:sym typeface="Huawei Sans" panose="020C0503030203020204" pitchFamily="34" charset="0"/>
              </a:rPr>
              <a:t>的域内流量有两层标签，域间流量无标签。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8" name="矩形 13"/>
          <p:cNvSpPr>
            <a:spLocks noChangeArrowheads="1"/>
          </p:cNvSpPr>
          <p:nvPr/>
        </p:nvSpPr>
        <p:spPr bwMode="gray">
          <a:xfrm>
            <a:off x="7617777" y="3309684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5016073" y="3419795"/>
            <a:ext cx="540000" cy="441818"/>
          </a:xfrm>
          <a:prstGeom prst="rect">
            <a:avLst/>
          </a:prstGeom>
          <a:noFill/>
        </p:spPr>
      </p:pic>
      <p:cxnSp>
        <p:nvCxnSpPr>
          <p:cNvPr id="12" name="直接连接符 11"/>
          <p:cNvCxnSpPr>
            <a:stCxn id="11" idx="3"/>
            <a:endCxn id="24" idx="1"/>
          </p:cNvCxnSpPr>
          <p:nvPr/>
        </p:nvCxnSpPr>
        <p:spPr bwMode="gray">
          <a:xfrm>
            <a:off x="5556073" y="3640704"/>
            <a:ext cx="130768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1" idx="1"/>
            <a:endCxn id="39" idx="3"/>
          </p:cNvCxnSpPr>
          <p:nvPr/>
        </p:nvCxnSpPr>
        <p:spPr bwMode="gray">
          <a:xfrm flipH="1">
            <a:off x="1860701" y="3640704"/>
            <a:ext cx="3155372" cy="49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2936200" y="39744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6639462" y="39744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ASBR2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4787831" y="39744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ASBR1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1084569" y="39744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6863759" y="3419795"/>
            <a:ext cx="540000" cy="441818"/>
          </a:xfrm>
          <a:prstGeom prst="rect">
            <a:avLst/>
          </a:prstGeom>
          <a:noFill/>
        </p:spPr>
      </p:pic>
      <p:cxnSp>
        <p:nvCxnSpPr>
          <p:cNvPr id="25" name="直接连接符 24"/>
          <p:cNvCxnSpPr>
            <a:stCxn id="24" idx="3"/>
            <a:endCxn id="40" idx="1"/>
          </p:cNvCxnSpPr>
          <p:nvPr/>
        </p:nvCxnSpPr>
        <p:spPr bwMode="gray">
          <a:xfrm>
            <a:off x="7403759" y="3640704"/>
            <a:ext cx="3155373" cy="49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 bwMode="gray">
          <a:xfrm>
            <a:off x="8491093" y="39744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10342724" y="39744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CE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33" name="直接连接符 32"/>
          <p:cNvCxnSpPr/>
          <p:nvPr/>
        </p:nvCxnSpPr>
        <p:spPr bwMode="gray">
          <a:xfrm flipH="1">
            <a:off x="1931222" y="4700210"/>
            <a:ext cx="812586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9" name="图片 3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20701" y="3419795"/>
            <a:ext cx="540000" cy="44280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59132" y="3419795"/>
            <a:ext cx="540000" cy="442800"/>
          </a:xfrm>
          <a:prstGeom prst="rect">
            <a:avLst/>
          </a:prstGeom>
        </p:spPr>
      </p:pic>
      <p:pic>
        <p:nvPicPr>
          <p:cNvPr id="4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3168387" y="3419795"/>
            <a:ext cx="540000" cy="441818"/>
          </a:xfrm>
          <a:prstGeom prst="rect">
            <a:avLst/>
          </a:prstGeom>
          <a:noFill/>
        </p:spPr>
      </p:pic>
      <p:pic>
        <p:nvPicPr>
          <p:cNvPr id="4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8711445" y="3419795"/>
            <a:ext cx="540000" cy="441818"/>
          </a:xfrm>
          <a:prstGeom prst="rect">
            <a:avLst/>
          </a:prstGeom>
          <a:noFill/>
        </p:spPr>
      </p:pic>
      <p:sp>
        <p:nvSpPr>
          <p:cNvPr id="55" name="文本框 54"/>
          <p:cNvSpPr txBox="1"/>
          <p:nvPr/>
        </p:nvSpPr>
        <p:spPr bwMode="gray">
          <a:xfrm>
            <a:off x="2797154" y="291048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AS1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6505049" y="291048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AS2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1784485" y="4964822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0" name="直接连接符 59"/>
          <p:cNvCxnSpPr/>
          <p:nvPr/>
        </p:nvCxnSpPr>
        <p:spPr bwMode="gray">
          <a:xfrm flipH="1">
            <a:off x="3817008" y="4700210"/>
            <a:ext cx="812586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670271" y="4964822"/>
          <a:ext cx="1440000" cy="10668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3" name="直接连接符 62"/>
          <p:cNvCxnSpPr/>
          <p:nvPr/>
        </p:nvCxnSpPr>
        <p:spPr bwMode="gray">
          <a:xfrm flipH="1">
            <a:off x="5737707" y="4700210"/>
            <a:ext cx="812586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5590970" y="4964822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5" name="直接连接符 64"/>
          <p:cNvCxnSpPr/>
          <p:nvPr/>
        </p:nvCxnSpPr>
        <p:spPr bwMode="gray">
          <a:xfrm flipH="1">
            <a:off x="9529291" y="4700210"/>
            <a:ext cx="812586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9382554" y="4964822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7" name="直接连接符 66"/>
          <p:cNvCxnSpPr/>
          <p:nvPr/>
        </p:nvCxnSpPr>
        <p:spPr bwMode="gray">
          <a:xfrm flipH="1">
            <a:off x="7608592" y="4700210"/>
            <a:ext cx="812586" cy="0"/>
          </a:xfrm>
          <a:prstGeom prst="line">
            <a:avLst/>
          </a:prstGeom>
          <a:noFill/>
          <a:ln w="76200">
            <a:solidFill>
              <a:schemeClr val="accent3"/>
            </a:solidFill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7461855" y="4964822"/>
          <a:ext cx="1440000" cy="10668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9" name="直接箭头连接符 68"/>
          <p:cNvCxnSpPr/>
          <p:nvPr/>
        </p:nvCxnSpPr>
        <p:spPr bwMode="gray">
          <a:xfrm>
            <a:off x="3409474" y="3282064"/>
            <a:ext cx="1797526" cy="222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 bwMode="gray">
          <a:xfrm>
            <a:off x="7116122" y="3282064"/>
            <a:ext cx="1797526" cy="222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 bwMode="gray">
          <a:xfrm>
            <a:off x="3797600" y="3130812"/>
            <a:ext cx="972815" cy="331781"/>
          </a:xfrm>
          <a:prstGeom prst="rect">
            <a:avLst/>
          </a:prstGeom>
          <a:solidFill>
            <a:srgbClr val="56C4D2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7494999" y="3130812"/>
            <a:ext cx="972815" cy="331781"/>
          </a:xfrm>
          <a:prstGeom prst="rect">
            <a:avLst/>
          </a:prstGeom>
          <a:solidFill>
            <a:srgbClr val="56C4D2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>
            <a:defPPr>
              <a:defRPr lang="en-US"/>
            </a:defPPr>
            <a:lvl1pPr algn="ctr" defTabSz="1001395" eaLnBrk="0" hangingPunct="0">
              <a:defRPr sz="1500" b="1">
                <a:solidFill>
                  <a:schemeClr val="bg1"/>
                </a:solidFill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EVPN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 bwMode="gray">
          <a:xfrm>
            <a:off x="10061311" y="3123495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矩形 42"/>
          <p:cNvSpPr/>
          <p:nvPr/>
        </p:nvSpPr>
        <p:spPr bwMode="gray">
          <a:xfrm>
            <a:off x="793444" y="3123495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：</a:t>
            </a:r>
            <a:r>
              <a:rPr lang="en-US" altLang="zh-CN" dirty="0" err="1">
                <a:sym typeface="Huawei Sans" panose="020C0503030203020204" pitchFamily="34" charset="0"/>
              </a:rPr>
              <a:t>OptionB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跨域的</a:t>
            </a:r>
            <a:r>
              <a:rPr lang="en-US" altLang="zh-CN" sz="1800" dirty="0">
                <a:sym typeface="Huawei Sans" panose="020C0503030203020204" pitchFamily="34" charset="0"/>
              </a:rPr>
              <a:t>EVPN-</a:t>
            </a:r>
            <a:r>
              <a:rPr lang="en-US" altLang="zh-CN" sz="1800" dirty="0" err="1">
                <a:sym typeface="Huawei Sans" panose="020C0503030203020204" pitchFamily="34" charset="0"/>
              </a:rPr>
              <a:t>OptionB</a:t>
            </a:r>
            <a:r>
              <a:rPr lang="zh-CN" altLang="en-US" sz="1800" dirty="0">
                <a:sym typeface="Huawei Sans" panose="020C0503030203020204" pitchFamily="34" charset="0"/>
              </a:rPr>
              <a:t>中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之间建立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邻居关系，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之间也建立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邻居关系。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在收到</a:t>
            </a:r>
            <a:r>
              <a:rPr lang="en-US" altLang="zh-CN" sz="1800" dirty="0">
                <a:sym typeface="Huawei Sans" panose="020C0503030203020204" pitchFamily="34" charset="0"/>
              </a:rPr>
              <a:t>MAC/IP</a:t>
            </a:r>
            <a:r>
              <a:rPr lang="zh-CN" altLang="en-US" sz="1800" dirty="0">
                <a:sym typeface="Huawei Sans" panose="020C0503030203020204" pitchFamily="34" charset="0"/>
              </a:rPr>
              <a:t>路由后，修改下一跳为自己，并重新分配标签发给跨域的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 err="1">
                <a:sym typeface="Huawei Sans" panose="020C0503030203020204" pitchFamily="34" charset="0"/>
              </a:rPr>
              <a:t>OptionB</a:t>
            </a:r>
            <a:r>
              <a:rPr lang="zh-CN" altLang="en-US" sz="1800" dirty="0">
                <a:sym typeface="Huawei Sans" panose="020C0503030203020204" pitchFamily="34" charset="0"/>
              </a:rPr>
              <a:t>的域内流量有两层标签，域间流量有一层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标签。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1784484" y="5104522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670271" y="5104522"/>
          <a:ext cx="1440000" cy="10668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 1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5590970" y="5104522"/>
          <a:ext cx="1440000" cy="85344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 2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9382553" y="5104522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7461855" y="5104522"/>
          <a:ext cx="1440000" cy="10668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 3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D351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C4D2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" name="矩形: 圆角 44"/>
          <p:cNvSpPr/>
          <p:nvPr/>
        </p:nvSpPr>
        <p:spPr bwMode="gray">
          <a:xfrm>
            <a:off x="6806793" y="2823120"/>
            <a:ext cx="2756401" cy="1304805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: 圆角 45"/>
          <p:cNvSpPr/>
          <p:nvPr/>
        </p:nvSpPr>
        <p:spPr bwMode="gray">
          <a:xfrm>
            <a:off x="2758223" y="2823120"/>
            <a:ext cx="2756401" cy="1304805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13"/>
          <p:cNvSpPr>
            <a:spLocks noChangeArrowheads="1"/>
          </p:cNvSpPr>
          <p:nvPr/>
        </p:nvSpPr>
        <p:spPr bwMode="gray">
          <a:xfrm>
            <a:off x="7757477" y="3131884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25573" y="3241995"/>
            <a:ext cx="540000" cy="441818"/>
          </a:xfrm>
          <a:prstGeom prst="rect">
            <a:avLst/>
          </a:prstGeom>
          <a:noFill/>
        </p:spPr>
      </p:pic>
      <p:cxnSp>
        <p:nvCxnSpPr>
          <p:cNvPr id="49" name="直接连接符 48"/>
          <p:cNvCxnSpPr>
            <a:stCxn id="48" idx="3"/>
            <a:endCxn id="71" idx="1"/>
          </p:cNvCxnSpPr>
          <p:nvPr/>
        </p:nvCxnSpPr>
        <p:spPr bwMode="gray">
          <a:xfrm>
            <a:off x="5365573" y="3462904"/>
            <a:ext cx="163788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48" idx="1"/>
            <a:endCxn id="75" idx="3"/>
          </p:cNvCxnSpPr>
          <p:nvPr/>
        </p:nvCxnSpPr>
        <p:spPr bwMode="gray">
          <a:xfrm flipH="1">
            <a:off x="1860701" y="3462904"/>
            <a:ext cx="2964872" cy="49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 bwMode="gray">
          <a:xfrm>
            <a:off x="2745700" y="37966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6779162" y="37966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ASBR2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4597331" y="37966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ASBR1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>
            <a:off x="1084569" y="37966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7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7003459" y="3241995"/>
            <a:ext cx="540000" cy="441818"/>
          </a:xfrm>
          <a:prstGeom prst="rect">
            <a:avLst/>
          </a:prstGeom>
          <a:noFill/>
        </p:spPr>
      </p:pic>
      <p:cxnSp>
        <p:nvCxnSpPr>
          <p:cNvPr id="72" name="直接连接符 71"/>
          <p:cNvCxnSpPr>
            <a:stCxn id="71" idx="3"/>
            <a:endCxn id="76" idx="1"/>
          </p:cNvCxnSpPr>
          <p:nvPr/>
        </p:nvCxnSpPr>
        <p:spPr bwMode="gray">
          <a:xfrm>
            <a:off x="7543459" y="3462904"/>
            <a:ext cx="3015673" cy="49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 bwMode="gray">
          <a:xfrm>
            <a:off x="8630793" y="37966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10342724" y="3796635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75" name="图片 7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20701" y="3241995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59132" y="3241995"/>
            <a:ext cx="540000" cy="442800"/>
          </a:xfrm>
          <a:prstGeom prst="rect">
            <a:avLst/>
          </a:prstGeom>
        </p:spPr>
      </p:pic>
      <p:pic>
        <p:nvPicPr>
          <p:cNvPr id="77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2977887" y="3241995"/>
            <a:ext cx="540000" cy="441818"/>
          </a:xfrm>
          <a:prstGeom prst="rect">
            <a:avLst/>
          </a:prstGeom>
          <a:noFill/>
        </p:spPr>
      </p:pic>
      <p:pic>
        <p:nvPicPr>
          <p:cNvPr id="78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8851145" y="3241995"/>
            <a:ext cx="540000" cy="441818"/>
          </a:xfrm>
          <a:prstGeom prst="rect">
            <a:avLst/>
          </a:prstGeom>
          <a:noFill/>
        </p:spPr>
      </p:pic>
      <p:sp>
        <p:nvSpPr>
          <p:cNvPr id="79" name="文本框 78"/>
          <p:cNvSpPr txBox="1"/>
          <p:nvPr/>
        </p:nvSpPr>
        <p:spPr bwMode="gray">
          <a:xfrm>
            <a:off x="2606654" y="283428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AS1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6619349" y="2834281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AS2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83" name="直接箭头连接符 82"/>
          <p:cNvCxnSpPr/>
          <p:nvPr/>
        </p:nvCxnSpPr>
        <p:spPr bwMode="gray">
          <a:xfrm>
            <a:off x="3142987" y="4458689"/>
            <a:ext cx="1975113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 bwMode="gray">
          <a:xfrm>
            <a:off x="3675123" y="4279524"/>
            <a:ext cx="972815" cy="3317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85" name="直接箭头连接符 84"/>
          <p:cNvCxnSpPr/>
          <p:nvPr/>
        </p:nvCxnSpPr>
        <p:spPr bwMode="gray">
          <a:xfrm>
            <a:off x="5171773" y="4458689"/>
            <a:ext cx="1975113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 bwMode="gray">
          <a:xfrm>
            <a:off x="5656178" y="4292798"/>
            <a:ext cx="972815" cy="331781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500" b="1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87" name="直接箭头连接符 86"/>
          <p:cNvCxnSpPr/>
          <p:nvPr/>
        </p:nvCxnSpPr>
        <p:spPr bwMode="gray">
          <a:xfrm>
            <a:off x="7200132" y="4458689"/>
            <a:ext cx="1975113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 bwMode="gray">
          <a:xfrm>
            <a:off x="7656068" y="4279524"/>
            <a:ext cx="972815" cy="3317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500" b="1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 bwMode="gray">
          <a:xfrm>
            <a:off x="10046796" y="3153284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778929" y="3153284"/>
            <a:ext cx="1582492" cy="971386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跨域的</a:t>
            </a:r>
            <a:r>
              <a:rPr lang="en-US" altLang="zh-CN" sz="1800" dirty="0">
                <a:sym typeface="Huawei Sans" panose="020C0503030203020204" pitchFamily="34" charset="0"/>
              </a:rPr>
              <a:t>EVPN-</a:t>
            </a:r>
            <a:r>
              <a:rPr lang="en-US" altLang="zh-CN" sz="1800" dirty="0" err="1">
                <a:sym typeface="Huawei Sans" panose="020C0503030203020204" pitchFamily="34" charset="0"/>
              </a:rPr>
              <a:t>OptionC</a:t>
            </a:r>
            <a:r>
              <a:rPr lang="zh-CN" altLang="en-US" sz="1800" dirty="0">
                <a:sym typeface="Huawei Sans" panose="020C0503030203020204" pitchFamily="34" charset="0"/>
              </a:rPr>
              <a:t>中</a:t>
            </a:r>
            <a:r>
              <a:rPr lang="en-US" altLang="zh-CN" sz="1800" dirty="0">
                <a:sym typeface="Huawei Sans" panose="020C0503030203020204" pitchFamily="34" charset="0"/>
              </a:rPr>
              <a:t>Site1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Site2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间建立端到端的</a:t>
            </a:r>
            <a:r>
              <a:rPr lang="en-US" altLang="zh-CN" sz="1800" dirty="0">
                <a:sym typeface="Huawei Sans" panose="020C0503030203020204" pitchFamily="34" charset="0"/>
              </a:rPr>
              <a:t>BGP LSP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PE1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PE2</a:t>
            </a:r>
            <a:r>
              <a:rPr lang="zh-CN" altLang="en-US" sz="1800" dirty="0">
                <a:sym typeface="Huawei Sans" panose="020C0503030203020204" pitchFamily="34" charset="0"/>
              </a:rPr>
              <a:t>建立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邻居关系。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不感知</a:t>
            </a:r>
            <a:r>
              <a:rPr lang="en-US" altLang="zh-CN" sz="1800" dirty="0">
                <a:sym typeface="Huawei Sans" panose="020C0503030203020204" pitchFamily="34" charset="0"/>
              </a:rPr>
              <a:t>MAC/IP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en-US" altLang="zh-CN" sz="1800" dirty="0" err="1">
                <a:sym typeface="Huawei Sans" panose="020C0503030203020204" pitchFamily="34" charset="0"/>
              </a:rPr>
              <a:t>OptionC</a:t>
            </a:r>
            <a:r>
              <a:rPr lang="zh-CN" altLang="en-US" sz="1800" dirty="0">
                <a:sym typeface="Huawei Sans" panose="020C0503030203020204" pitchFamily="34" charset="0"/>
              </a:rPr>
              <a:t>的域内流量有三层标签，域间流量有两层标签（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标签）。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1" name="矩形: 圆角 50"/>
          <p:cNvSpPr/>
          <p:nvPr/>
        </p:nvSpPr>
        <p:spPr bwMode="gray">
          <a:xfrm>
            <a:off x="6806793" y="2842823"/>
            <a:ext cx="2756401" cy="1304805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: 圆角 49"/>
          <p:cNvSpPr/>
          <p:nvPr/>
        </p:nvSpPr>
        <p:spPr bwMode="gray">
          <a:xfrm>
            <a:off x="2758223" y="2842823"/>
            <a:ext cx="2756401" cy="1304805"/>
          </a:xfrm>
          <a:prstGeom prst="round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：</a:t>
            </a:r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矩形 13"/>
          <p:cNvSpPr>
            <a:spLocks noChangeArrowheads="1"/>
          </p:cNvSpPr>
          <p:nvPr/>
        </p:nvSpPr>
        <p:spPr bwMode="gray">
          <a:xfrm>
            <a:off x="7757477" y="3151587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4825573" y="3261698"/>
            <a:ext cx="540000" cy="441818"/>
          </a:xfrm>
          <a:prstGeom prst="rect">
            <a:avLst/>
          </a:prstGeom>
          <a:noFill/>
        </p:spPr>
      </p:pic>
      <p:cxnSp>
        <p:nvCxnSpPr>
          <p:cNvPr id="12" name="直接连接符 11"/>
          <p:cNvCxnSpPr>
            <a:stCxn id="11" idx="3"/>
            <a:endCxn id="24" idx="1"/>
          </p:cNvCxnSpPr>
          <p:nvPr/>
        </p:nvCxnSpPr>
        <p:spPr bwMode="gray">
          <a:xfrm>
            <a:off x="5365573" y="3482607"/>
            <a:ext cx="163788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1" idx="1"/>
            <a:endCxn id="39" idx="3"/>
          </p:cNvCxnSpPr>
          <p:nvPr/>
        </p:nvCxnSpPr>
        <p:spPr bwMode="gray">
          <a:xfrm flipH="1">
            <a:off x="1860701" y="3482607"/>
            <a:ext cx="2964872" cy="49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 bwMode="gray">
          <a:xfrm>
            <a:off x="2745700" y="381633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6779162" y="381633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ASBR2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4597331" y="381633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ASBR1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gray">
          <a:xfrm>
            <a:off x="1084569" y="381633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1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4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7003459" y="3261698"/>
            <a:ext cx="540000" cy="441818"/>
          </a:xfrm>
          <a:prstGeom prst="rect">
            <a:avLst/>
          </a:prstGeom>
          <a:noFill/>
        </p:spPr>
      </p:pic>
      <p:cxnSp>
        <p:nvCxnSpPr>
          <p:cNvPr id="25" name="直接连接符 24"/>
          <p:cNvCxnSpPr>
            <a:stCxn id="24" idx="3"/>
            <a:endCxn id="40" idx="1"/>
          </p:cNvCxnSpPr>
          <p:nvPr/>
        </p:nvCxnSpPr>
        <p:spPr bwMode="gray">
          <a:xfrm>
            <a:off x="7543459" y="3482607"/>
            <a:ext cx="3015673" cy="49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 bwMode="gray">
          <a:xfrm>
            <a:off x="8630793" y="381633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PE2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10342724" y="3816338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Site 2</a:t>
            </a:r>
            <a:endParaRPr lang="zh-CN" altLang="en-US" sz="15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39" name="图片 3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20701" y="3261698"/>
            <a:ext cx="540000" cy="44280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59132" y="3261698"/>
            <a:ext cx="540000" cy="442800"/>
          </a:xfrm>
          <a:prstGeom prst="rect">
            <a:avLst/>
          </a:prstGeom>
        </p:spPr>
      </p:pic>
      <p:pic>
        <p:nvPicPr>
          <p:cNvPr id="41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2977887" y="3261698"/>
            <a:ext cx="540000" cy="441818"/>
          </a:xfrm>
          <a:prstGeom prst="rect">
            <a:avLst/>
          </a:prstGeom>
          <a:noFill/>
        </p:spPr>
      </p:pic>
      <p:pic>
        <p:nvPicPr>
          <p:cNvPr id="43" name="Picture 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8851145" y="3261698"/>
            <a:ext cx="540000" cy="441818"/>
          </a:xfrm>
          <a:prstGeom prst="rect">
            <a:avLst/>
          </a:prstGeom>
          <a:noFill/>
        </p:spPr>
      </p:pic>
      <p:sp>
        <p:nvSpPr>
          <p:cNvPr id="55" name="文本框 54"/>
          <p:cNvSpPr txBox="1"/>
          <p:nvPr/>
        </p:nvSpPr>
        <p:spPr bwMode="gray">
          <a:xfrm>
            <a:off x="2606654" y="285398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AS1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6619349" y="2853984"/>
            <a:ext cx="972815" cy="3317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AS2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1784485" y="4877487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670271" y="4877487"/>
          <a:ext cx="1440000" cy="128016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 Label 1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5590970" y="4877487"/>
          <a:ext cx="1440000" cy="10668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2662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 Label 2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C15F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9382554" y="4877487"/>
          <a:ext cx="1076123" cy="426720"/>
        </p:xfrm>
        <a:graphic>
          <a:graphicData uri="http://schemas.openxmlformats.org/drawingml/2006/table">
            <a:tbl>
              <a:tblPr firstRow="1" bandRow="1"/>
              <a:tblGrid>
                <a:gridCol w="1076123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7461855" y="4877487"/>
          <a:ext cx="1440000" cy="128016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</a:tblGrid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8294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4390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30486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6582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4267835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878070" algn="l" defTabSz="121920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EVPN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 Label 3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D351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Tunnel Label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/>
                    </a:solidFill>
                  </a:tcPr>
                </a:tc>
              </a:tr>
              <a:tr h="144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Eth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" name="直接箭头连接符 3"/>
          <p:cNvCxnSpPr/>
          <p:nvPr/>
        </p:nvCxnSpPr>
        <p:spPr bwMode="gray">
          <a:xfrm>
            <a:off x="3155687" y="4340994"/>
            <a:ext cx="6019558" cy="10806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 bwMode="gray">
          <a:xfrm>
            <a:off x="5656178" y="4175103"/>
            <a:ext cx="972815" cy="3317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42" name="直接箭头连接符 41"/>
          <p:cNvCxnSpPr/>
          <p:nvPr/>
        </p:nvCxnSpPr>
        <p:spPr bwMode="gray">
          <a:xfrm>
            <a:off x="3142987" y="4592692"/>
            <a:ext cx="1975113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 bwMode="gray">
          <a:xfrm>
            <a:off x="3675123" y="4413527"/>
            <a:ext cx="972815" cy="3317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IBGP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47" name="直接箭头连接符 46"/>
          <p:cNvCxnSpPr/>
          <p:nvPr/>
        </p:nvCxnSpPr>
        <p:spPr bwMode="gray">
          <a:xfrm>
            <a:off x="5171773" y="4592692"/>
            <a:ext cx="1975113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 bwMode="gray">
          <a:xfrm>
            <a:off x="5656178" y="4426801"/>
            <a:ext cx="972815" cy="3317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EBGP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48" name="直接箭头连接符 47"/>
          <p:cNvCxnSpPr/>
          <p:nvPr/>
        </p:nvCxnSpPr>
        <p:spPr bwMode="gray">
          <a:xfrm>
            <a:off x="7200132" y="4592692"/>
            <a:ext cx="1975113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 bwMode="gray">
          <a:xfrm>
            <a:off x="7656068" y="4413527"/>
            <a:ext cx="972815" cy="3317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5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IBGP</a:t>
            </a:r>
            <a:endParaRPr lang="zh-CN" altLang="en-US" sz="15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r>
              <a:rPr lang="zh-CN" altLang="en-US" b="1" dirty="0">
                <a:sym typeface="Huawei Sans" panose="020C0503030203020204" pitchFamily="34" charset="0"/>
              </a:rPr>
              <a:t>的典型应用场景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在广域网的应用</a:t>
            </a:r>
            <a:endParaRPr lang="zh-CN" altLang="en-US">
              <a:sym typeface="Huawei Sans" panose="020C050303020302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676990" y="1792612"/>
          <a:ext cx="8103701" cy="3832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538"/>
                <a:gridCol w="2007001"/>
                <a:gridCol w="2222036"/>
                <a:gridCol w="1756126"/>
              </a:tblGrid>
              <a:tr h="3866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E-LAN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E-LINE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E-TREE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L3VPN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09885"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26128"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椭圆 7"/>
          <p:cNvSpPr/>
          <p:nvPr/>
        </p:nvSpPr>
        <p:spPr bwMode="gray">
          <a:xfrm>
            <a:off x="5193109" y="2299572"/>
            <a:ext cx="1178476" cy="718336"/>
          </a:xfrm>
          <a:prstGeom prst="ellipse">
            <a:avLst/>
          </a:prstGeom>
          <a:solidFill>
            <a:srgbClr val="BEE9EE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VPWS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9" name="椭圆 8"/>
          <p:cNvSpPr/>
          <p:nvPr/>
        </p:nvSpPr>
        <p:spPr bwMode="gray">
          <a:xfrm>
            <a:off x="3235414" y="2286383"/>
            <a:ext cx="1056901" cy="718336"/>
          </a:xfrm>
          <a:prstGeom prst="ellipse">
            <a:avLst/>
          </a:prstGeom>
          <a:solidFill>
            <a:srgbClr val="BEE9EE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VPLS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" name="椭圆 9"/>
          <p:cNvSpPr/>
          <p:nvPr/>
        </p:nvSpPr>
        <p:spPr bwMode="gray">
          <a:xfrm>
            <a:off x="7279867" y="2251340"/>
            <a:ext cx="1178475" cy="718336"/>
          </a:xfrm>
          <a:prstGeom prst="ellipse">
            <a:avLst/>
          </a:prstGeom>
          <a:solidFill>
            <a:srgbClr val="BEE9EE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VPLS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ETREE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" name="椭圆 10"/>
          <p:cNvSpPr/>
          <p:nvPr/>
        </p:nvSpPr>
        <p:spPr bwMode="gray">
          <a:xfrm>
            <a:off x="3216164" y="3331947"/>
            <a:ext cx="1064227" cy="718336"/>
          </a:xfrm>
          <a:prstGeom prst="ellipse">
            <a:avLst/>
          </a:prstGeom>
          <a:solidFill>
            <a:srgbClr val="AFD89C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2" name="椭圆 11"/>
          <p:cNvSpPr/>
          <p:nvPr/>
        </p:nvSpPr>
        <p:spPr bwMode="gray">
          <a:xfrm>
            <a:off x="3188505" y="4533265"/>
            <a:ext cx="1095401" cy="718336"/>
          </a:xfrm>
          <a:prstGeom prst="ellipse">
            <a:avLst/>
          </a:prstGeom>
          <a:solidFill>
            <a:srgbClr val="AFD89C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PBB-EVPN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" name="椭圆 12"/>
          <p:cNvSpPr/>
          <p:nvPr/>
        </p:nvSpPr>
        <p:spPr bwMode="gray">
          <a:xfrm>
            <a:off x="5247340" y="3328052"/>
            <a:ext cx="1141908" cy="718336"/>
          </a:xfrm>
          <a:prstGeom prst="ellipse">
            <a:avLst/>
          </a:prstGeom>
          <a:solidFill>
            <a:srgbClr val="AFD89C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VPWS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" name="椭圆 13"/>
          <p:cNvSpPr/>
          <p:nvPr/>
        </p:nvSpPr>
        <p:spPr bwMode="gray">
          <a:xfrm>
            <a:off x="7311894" y="3290867"/>
            <a:ext cx="1182091" cy="718336"/>
          </a:xfrm>
          <a:prstGeom prst="ellipse">
            <a:avLst/>
          </a:prstGeom>
          <a:solidFill>
            <a:srgbClr val="AFD89C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ETREE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圆角矩形 5"/>
          <p:cNvSpPr/>
          <p:nvPr/>
        </p:nvSpPr>
        <p:spPr bwMode="gray">
          <a:xfrm>
            <a:off x="1067154" y="2251340"/>
            <a:ext cx="1493990" cy="911698"/>
          </a:xfrm>
          <a:prstGeom prst="roundRect">
            <a:avLst/>
          </a:prstGeom>
          <a:solidFill>
            <a:srgbClr val="BEE9EE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Without EVPN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" name="圆角矩形 33"/>
          <p:cNvSpPr/>
          <p:nvPr/>
        </p:nvSpPr>
        <p:spPr bwMode="gray">
          <a:xfrm>
            <a:off x="1053677" y="3201138"/>
            <a:ext cx="1493990" cy="2440082"/>
          </a:xfrm>
          <a:prstGeom prst="roundRect">
            <a:avLst/>
          </a:prstGeom>
          <a:solidFill>
            <a:srgbClr val="AFD89C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With EVPN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7" name="TextBox 7"/>
          <p:cNvSpPr txBox="1">
            <a:spLocks noChangeArrowheads="1"/>
          </p:cNvSpPr>
          <p:nvPr/>
        </p:nvSpPr>
        <p:spPr bwMode="gray">
          <a:xfrm>
            <a:off x="2944334" y="3990937"/>
            <a:ext cx="16417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RFC7432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Basic Standard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8" name="TextBox 7"/>
          <p:cNvSpPr txBox="1">
            <a:spLocks noChangeArrowheads="1"/>
          </p:cNvSpPr>
          <p:nvPr/>
        </p:nvSpPr>
        <p:spPr bwMode="gray">
          <a:xfrm>
            <a:off x="3242453" y="5229265"/>
            <a:ext cx="10326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RFC7623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9" name="矩形 18"/>
          <p:cNvSpPr/>
          <p:nvPr/>
        </p:nvSpPr>
        <p:spPr bwMode="gray">
          <a:xfrm>
            <a:off x="5091890" y="4068443"/>
            <a:ext cx="1474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RFC8214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7363248" y="4031258"/>
            <a:ext cx="13622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RFC8317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1" name="椭圆 20"/>
          <p:cNvSpPr/>
          <p:nvPr/>
        </p:nvSpPr>
        <p:spPr bwMode="gray">
          <a:xfrm>
            <a:off x="9283700" y="2286383"/>
            <a:ext cx="1178475" cy="718336"/>
          </a:xfrm>
          <a:prstGeom prst="ellipse">
            <a:avLst/>
          </a:prstGeom>
          <a:solidFill>
            <a:srgbClr val="BEE9EE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L3VPN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2" name="椭圆 21"/>
          <p:cNvSpPr/>
          <p:nvPr/>
        </p:nvSpPr>
        <p:spPr bwMode="gray">
          <a:xfrm>
            <a:off x="9331325" y="3312922"/>
            <a:ext cx="1182091" cy="718336"/>
          </a:xfrm>
          <a:prstGeom prst="ellipse">
            <a:avLst/>
          </a:prstGeom>
          <a:solidFill>
            <a:srgbClr val="AFD89C"/>
          </a:solidFill>
          <a:ln w="9525">
            <a:noFill/>
            <a:miter lim="800000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EVPN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L3VPN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9040073" y="4102278"/>
            <a:ext cx="18699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draft-ietf-bess-evpn-prefix-advertisement-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 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9"/>
          <p:cNvSpPr/>
          <p:nvPr/>
        </p:nvSpPr>
        <p:spPr bwMode="gray">
          <a:xfrm>
            <a:off x="1741268" y="2358976"/>
            <a:ext cx="3633220" cy="1880467"/>
          </a:xfrm>
          <a:custGeom>
            <a:avLst/>
            <a:gdLst>
              <a:gd name="connsiteX0" fmla="*/ 1522976 w 3069379"/>
              <a:gd name="connsiteY0" fmla="*/ 0 h 1667868"/>
              <a:gd name="connsiteX1" fmla="*/ 2105444 w 3069379"/>
              <a:gd name="connsiteY1" fmla="*/ 243498 h 1667868"/>
              <a:gd name="connsiteX2" fmla="*/ 2165457 w 3069379"/>
              <a:gd name="connsiteY2" fmla="*/ 316907 h 1667868"/>
              <a:gd name="connsiteX3" fmla="*/ 2204139 w 3069379"/>
              <a:gd name="connsiteY3" fmla="*/ 313329 h 1667868"/>
              <a:gd name="connsiteX4" fmla="*/ 2688456 w 3069379"/>
              <a:gd name="connsiteY4" fmla="*/ 757688 h 1667868"/>
              <a:gd name="connsiteX5" fmla="*/ 2679008 w 3069379"/>
              <a:gd name="connsiteY5" fmla="*/ 843679 h 1667868"/>
              <a:gd name="connsiteX6" fmla="*/ 2742591 w 3069379"/>
              <a:gd name="connsiteY6" fmla="*/ 850148 h 1667868"/>
              <a:gd name="connsiteX7" fmla="*/ 3069379 w 3069379"/>
              <a:gd name="connsiteY7" fmla="*/ 1254812 h 1667868"/>
              <a:gd name="connsiteX8" fmla="*/ 2742591 w 3069379"/>
              <a:gd name="connsiteY8" fmla="*/ 1659476 h 1667868"/>
              <a:gd name="connsiteX9" fmla="*/ 2727471 w 3069379"/>
              <a:gd name="connsiteY9" fmla="*/ 1661015 h 1667868"/>
              <a:gd name="connsiteX10" fmla="*/ 2727471 w 3069379"/>
              <a:gd name="connsiteY10" fmla="*/ 1667868 h 1667868"/>
              <a:gd name="connsiteX11" fmla="*/ 2660108 w 3069379"/>
              <a:gd name="connsiteY11" fmla="*/ 1667868 h 1667868"/>
              <a:gd name="connsiteX12" fmla="*/ 450197 w 3069379"/>
              <a:gd name="connsiteY12" fmla="*/ 1667868 h 1667868"/>
              <a:gd name="connsiteX13" fmla="*/ 373665 w 3069379"/>
              <a:gd name="connsiteY13" fmla="*/ 1667868 h 1667868"/>
              <a:gd name="connsiteX14" fmla="*/ 373665 w 3069379"/>
              <a:gd name="connsiteY14" fmla="*/ 1660082 h 1667868"/>
              <a:gd name="connsiteX15" fmla="*/ 359467 w 3069379"/>
              <a:gd name="connsiteY15" fmla="*/ 1658637 h 1667868"/>
              <a:gd name="connsiteX16" fmla="*/ 0 w 3069379"/>
              <a:gd name="connsiteY16" fmla="*/ 1213505 h 1667868"/>
              <a:gd name="connsiteX17" fmla="*/ 274960 w 3069379"/>
              <a:gd name="connsiteY17" fmla="*/ 794848 h 1667868"/>
              <a:gd name="connsiteX18" fmla="*/ 303951 w 3069379"/>
              <a:gd name="connsiteY18" fmla="*/ 785765 h 1667868"/>
              <a:gd name="connsiteX19" fmla="*/ 315888 w 3069379"/>
              <a:gd name="connsiteY19" fmla="*/ 677121 h 1667868"/>
              <a:gd name="connsiteX20" fmla="*/ 931587 w 3069379"/>
              <a:gd name="connsiteY20" fmla="*/ 216713 h 1667868"/>
              <a:gd name="connsiteX21" fmla="*/ 968567 w 3069379"/>
              <a:gd name="connsiteY21" fmla="*/ 220133 h 1667868"/>
              <a:gd name="connsiteX22" fmla="*/ 1062419 w 3069379"/>
              <a:gd name="connsiteY22" fmla="*/ 141982 h 1667868"/>
              <a:gd name="connsiteX23" fmla="*/ 1522976 w 3069379"/>
              <a:gd name="connsiteY23" fmla="*/ 0 h 166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69379" h="1667868">
                <a:moveTo>
                  <a:pt x="1522976" y="0"/>
                </a:moveTo>
                <a:cubicBezTo>
                  <a:pt x="1750444" y="0"/>
                  <a:pt x="1956378" y="93052"/>
                  <a:pt x="2105444" y="243498"/>
                </a:cubicBezTo>
                <a:lnTo>
                  <a:pt x="2165457" y="316907"/>
                </a:lnTo>
                <a:lnTo>
                  <a:pt x="2204139" y="313329"/>
                </a:lnTo>
                <a:cubicBezTo>
                  <a:pt x="2471620" y="313329"/>
                  <a:pt x="2688456" y="512275"/>
                  <a:pt x="2688456" y="757688"/>
                </a:cubicBezTo>
                <a:lnTo>
                  <a:pt x="2679008" y="843679"/>
                </a:lnTo>
                <a:lnTo>
                  <a:pt x="2742591" y="850148"/>
                </a:lnTo>
                <a:cubicBezTo>
                  <a:pt x="2929088" y="888664"/>
                  <a:pt x="3069379" y="1055202"/>
                  <a:pt x="3069379" y="1254812"/>
                </a:cubicBezTo>
                <a:cubicBezTo>
                  <a:pt x="3069379" y="1454421"/>
                  <a:pt x="2929088" y="1620960"/>
                  <a:pt x="2742591" y="1659476"/>
                </a:cubicBezTo>
                <a:lnTo>
                  <a:pt x="2727471" y="1661015"/>
                </a:lnTo>
                <a:lnTo>
                  <a:pt x="2727471" y="1667868"/>
                </a:lnTo>
                <a:lnTo>
                  <a:pt x="2660108" y="1667868"/>
                </a:lnTo>
                <a:lnTo>
                  <a:pt x="450197" y="1667868"/>
                </a:lnTo>
                <a:lnTo>
                  <a:pt x="373665" y="1667868"/>
                </a:lnTo>
                <a:lnTo>
                  <a:pt x="373665" y="1660082"/>
                </a:lnTo>
                <a:lnTo>
                  <a:pt x="359467" y="1658637"/>
                </a:lnTo>
                <a:cubicBezTo>
                  <a:pt x="154319" y="1616269"/>
                  <a:pt x="0" y="1433076"/>
                  <a:pt x="0" y="1213505"/>
                </a:cubicBezTo>
                <a:cubicBezTo>
                  <a:pt x="0" y="1025301"/>
                  <a:pt x="113377" y="863824"/>
                  <a:pt x="274960" y="794848"/>
                </a:cubicBezTo>
                <a:lnTo>
                  <a:pt x="303951" y="785765"/>
                </a:lnTo>
                <a:lnTo>
                  <a:pt x="315888" y="677121"/>
                </a:lnTo>
                <a:cubicBezTo>
                  <a:pt x="374490" y="414367"/>
                  <a:pt x="627881" y="216713"/>
                  <a:pt x="931587" y="216713"/>
                </a:cubicBezTo>
                <a:lnTo>
                  <a:pt x="968567" y="220133"/>
                </a:lnTo>
                <a:lnTo>
                  <a:pt x="1062419" y="141982"/>
                </a:lnTo>
                <a:cubicBezTo>
                  <a:pt x="1193887" y="52342"/>
                  <a:pt x="1352375" y="0"/>
                  <a:pt x="1522976" y="0"/>
                </a:cubicBezTo>
                <a:close/>
              </a:path>
            </a:pathLst>
          </a:custGeom>
          <a:solidFill>
            <a:srgbClr val="BEE9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1219200" fontAlgn="ctr">
              <a:defRPr/>
            </a:pPr>
            <a:endParaRPr lang="en-US" sz="2400" kern="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在数据中心的应用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在云数据中心采用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NVO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Network Virtualization Overlay</a:t>
            </a:r>
            <a:r>
              <a:rPr lang="zh-CN" altLang="en-US" sz="1800" dirty="0">
                <a:sym typeface="Huawei Sans" panose="020C0503030203020204" pitchFamily="34" charset="0"/>
              </a:rPr>
              <a:t>）解决方案（</a:t>
            </a:r>
            <a:r>
              <a:rPr lang="en-US" altLang="zh-CN" sz="1800" dirty="0">
                <a:sym typeface="Huawei Sans" panose="020C0503030203020204" pitchFamily="34" charset="0"/>
              </a:rPr>
              <a:t>RFC8365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推荐数据平面使用</a:t>
            </a:r>
            <a:r>
              <a:rPr lang="en-US" altLang="zh-CN" sz="1800" dirty="0">
                <a:sym typeface="Huawei Sans" panose="020C0503030203020204" pitchFamily="34" charset="0"/>
              </a:rPr>
              <a:t>VXLAN</a:t>
            </a:r>
            <a:r>
              <a:rPr lang="zh-CN" altLang="en-US" sz="1800" dirty="0">
                <a:sym typeface="Huawei Sans" panose="020C0503030203020204" pitchFamily="34" charset="0"/>
              </a:rPr>
              <a:t>封装，控制平面使用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，构建灵活的数据中心</a:t>
            </a:r>
            <a:r>
              <a:rPr lang="en-US" altLang="zh-CN" sz="1800" dirty="0">
                <a:sym typeface="Huawei Sans" panose="020C0503030203020204" pitchFamily="34" charset="0"/>
              </a:rPr>
              <a:t>Overlay</a:t>
            </a:r>
            <a:r>
              <a:rPr lang="zh-CN" altLang="en-US" sz="1800" dirty="0">
                <a:sym typeface="Huawei Sans" panose="020C0503030203020204" pitchFamily="34" charset="0"/>
              </a:rPr>
              <a:t>网络。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77167" y="2272069"/>
            <a:ext cx="540000" cy="44280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80544" y="3961033"/>
            <a:ext cx="540000" cy="4428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05869" y="3961033"/>
            <a:ext cx="540000" cy="4428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63594" y="3961033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36067" y="2272069"/>
            <a:ext cx="540000" cy="442800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4" idx="0"/>
            <a:endCxn id="3" idx="2"/>
          </p:cNvCxnSpPr>
          <p:nvPr/>
        </p:nvCxnSpPr>
        <p:spPr bwMode="gray">
          <a:xfrm flipV="1">
            <a:off x="1750544" y="2714869"/>
            <a:ext cx="1096623" cy="1246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" idx="0"/>
            <a:endCxn id="7" idx="2"/>
          </p:cNvCxnSpPr>
          <p:nvPr/>
        </p:nvCxnSpPr>
        <p:spPr bwMode="gray">
          <a:xfrm flipV="1">
            <a:off x="1750544" y="2714869"/>
            <a:ext cx="2455523" cy="1246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6" idx="0"/>
            <a:endCxn id="3" idx="2"/>
          </p:cNvCxnSpPr>
          <p:nvPr/>
        </p:nvCxnSpPr>
        <p:spPr bwMode="gray">
          <a:xfrm flipH="1" flipV="1">
            <a:off x="2847167" y="2714869"/>
            <a:ext cx="686427" cy="1246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0"/>
            <a:endCxn id="7" idx="2"/>
          </p:cNvCxnSpPr>
          <p:nvPr/>
        </p:nvCxnSpPr>
        <p:spPr bwMode="gray">
          <a:xfrm flipH="1" flipV="1">
            <a:off x="4206067" y="2714869"/>
            <a:ext cx="1169802" cy="1246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3" idx="2"/>
            <a:endCxn id="5" idx="0"/>
          </p:cNvCxnSpPr>
          <p:nvPr/>
        </p:nvCxnSpPr>
        <p:spPr bwMode="gray">
          <a:xfrm>
            <a:off x="2847167" y="2714869"/>
            <a:ext cx="2528702" cy="1246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6" idx="0"/>
            <a:endCxn id="7" idx="2"/>
          </p:cNvCxnSpPr>
          <p:nvPr/>
        </p:nvCxnSpPr>
        <p:spPr bwMode="gray">
          <a:xfrm flipV="1">
            <a:off x="3533594" y="2714869"/>
            <a:ext cx="672473" cy="1246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 bwMode="gray">
          <a:xfrm>
            <a:off x="2614334" y="3142598"/>
            <a:ext cx="1752097" cy="338554"/>
          </a:xfrm>
          <a:prstGeom prst="rect">
            <a:avLst/>
          </a:prstGeom>
          <a:solidFill>
            <a:srgbClr val="62B230"/>
          </a:solidFill>
        </p:spPr>
        <p:txBody>
          <a:bodyPr wrap="square" rtlCol="0">
            <a:noAutofit/>
          </a:bodyPr>
          <a:lstStyle/>
          <a:p>
            <a:pPr algn="ctr" fontAlgn="ctr"/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VXLAN/EVPN</a:t>
            </a:r>
            <a:endParaRPr lang="en-US" altLang="zh-CN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1527668" y="2301324"/>
            <a:ext cx="854721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Spine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639973" y="4012092"/>
            <a:ext cx="854721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连接符 17"/>
          <p:cNvCxnSpPr>
            <a:stCxn id="23" idx="0"/>
            <a:endCxn id="4" idx="2"/>
          </p:cNvCxnSpPr>
          <p:nvPr/>
        </p:nvCxnSpPr>
        <p:spPr bwMode="gray">
          <a:xfrm flipV="1">
            <a:off x="1750254" y="4403833"/>
            <a:ext cx="290" cy="427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endCxn id="6" idx="2"/>
          </p:cNvCxnSpPr>
          <p:nvPr/>
        </p:nvCxnSpPr>
        <p:spPr bwMode="gray">
          <a:xfrm flipV="1">
            <a:off x="3533594" y="4403833"/>
            <a:ext cx="0" cy="427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5" idx="2"/>
          </p:cNvCxnSpPr>
          <p:nvPr/>
        </p:nvCxnSpPr>
        <p:spPr bwMode="gray">
          <a:xfrm flipV="1">
            <a:off x="5375869" y="4403833"/>
            <a:ext cx="0" cy="427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 bwMode="gray">
          <a:xfrm>
            <a:off x="3019810" y="5299076"/>
            <a:ext cx="1281679" cy="400604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VAS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资源池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4888605" y="5299076"/>
            <a:ext cx="1163983" cy="400604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出口路由器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3" name="图片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80254" y="4831270"/>
            <a:ext cx="540000" cy="4428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 bwMode="gray">
          <a:xfrm>
            <a:off x="1183117" y="5299076"/>
            <a:ext cx="1163983" cy="400604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服务器集群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25" name="图片 2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05868" y="4830936"/>
            <a:ext cx="540000" cy="4428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67436" y="4831562"/>
            <a:ext cx="540000" cy="442174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 bwMode="gray">
          <a:xfrm>
            <a:off x="6258838" y="2955402"/>
            <a:ext cx="4638805" cy="8361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9705" indent="-179705" algn="just" fontAlgn="ctr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数据中心的业务均由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VXLAN Overlay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9705" indent="-179705" algn="just" fontAlgn="ctr">
              <a:lnSpc>
                <a:spcPts val="2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Spine-Leaf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组成的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Underlay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网络负责高速转发。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EVPN</a:t>
            </a:r>
            <a:r>
              <a:rPr lang="zh-CN" altLang="en-US">
                <a:sym typeface="Huawei Sans" panose="020C0503030203020204" pitchFamily="34" charset="0"/>
              </a:rPr>
              <a:t>在园区网的应用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2" name="文本占位符 6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园区虚拟化园区网络解决方案与云数据中心相同，采用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NVO</a:t>
            </a:r>
            <a:r>
              <a:rPr lang="zh-CN" altLang="en-US" sz="1800" dirty="0">
                <a:sym typeface="Huawei Sans" panose="020C0503030203020204" pitchFamily="34" charset="0"/>
              </a:rPr>
              <a:t>解决方案（</a:t>
            </a:r>
            <a:r>
              <a:rPr lang="en-US" altLang="zh-CN" sz="1800" dirty="0">
                <a:sym typeface="Huawei Sans" panose="020C0503030203020204" pitchFamily="34" charset="0"/>
              </a:rPr>
              <a:t>RFC8365</a:t>
            </a:r>
            <a:r>
              <a:rPr lang="zh-CN" altLang="en-US" sz="1800" dirty="0">
                <a:sym typeface="Huawei Sans" panose="020C0503030203020204" pitchFamily="34" charset="0"/>
              </a:rPr>
              <a:t>）。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在不同的底层组网上使用</a:t>
            </a:r>
            <a:r>
              <a:rPr lang="en-US" altLang="zh-CN" sz="1800" dirty="0">
                <a:sym typeface="Huawei Sans" panose="020C0503030203020204" pitchFamily="34" charset="0"/>
              </a:rPr>
              <a:t>VXLAN</a:t>
            </a:r>
            <a:r>
              <a:rPr lang="zh-CN" altLang="en-US" sz="1800" dirty="0">
                <a:sym typeface="Huawei Sans" panose="020C0503030203020204" pitchFamily="34" charset="0"/>
              </a:rPr>
              <a:t>封装与控制平面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结合，构建灵活的园区</a:t>
            </a:r>
            <a:r>
              <a:rPr lang="en-US" altLang="zh-CN" sz="1800" dirty="0">
                <a:sym typeface="Huawei Sans" panose="020C0503030203020204" pitchFamily="34" charset="0"/>
              </a:rPr>
              <a:t>Overlay</a:t>
            </a:r>
            <a:r>
              <a:rPr lang="zh-CN" altLang="en-US" sz="1800" dirty="0">
                <a:sym typeface="Huawei Sans" panose="020C0503030203020204" pitchFamily="34" charset="0"/>
              </a:rPr>
              <a:t>网络。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梯形 2"/>
          <p:cNvSpPr/>
          <p:nvPr/>
        </p:nvSpPr>
        <p:spPr bwMode="gray">
          <a:xfrm>
            <a:off x="2431450" y="4207945"/>
            <a:ext cx="7658834" cy="1685757"/>
          </a:xfrm>
          <a:prstGeom prst="trapezoid">
            <a:avLst>
              <a:gd name="adj" fmla="val 22961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94DA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ctr"/>
            <a:endParaRPr lang="en-US" altLang="zh-CN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 bwMode="gray">
          <a:xfrm>
            <a:off x="7525583" y="4951780"/>
            <a:ext cx="10385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gray">
          <a:xfrm>
            <a:off x="5129939" y="4329858"/>
            <a:ext cx="10385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>
            <a:off x="6333196" y="4329858"/>
            <a:ext cx="1114009" cy="6219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V="1">
            <a:off x="5762758" y="4951781"/>
            <a:ext cx="1684447" cy="4613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gray">
          <a:xfrm>
            <a:off x="3648347" y="5400227"/>
            <a:ext cx="21144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87" descr="汇聚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6130341" y="4176152"/>
            <a:ext cx="405710" cy="331945"/>
          </a:xfrm>
          <a:prstGeom prst="rect">
            <a:avLst/>
          </a:prstGeom>
        </p:spPr>
      </p:pic>
      <p:pic>
        <p:nvPicPr>
          <p:cNvPr id="11" name="图片 76" descr="接入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4951339" y="4176152"/>
            <a:ext cx="405710" cy="331945"/>
          </a:xfrm>
          <a:prstGeom prst="rect">
            <a:avLst/>
          </a:prstGeom>
        </p:spPr>
      </p:pic>
      <p:pic>
        <p:nvPicPr>
          <p:cNvPr id="12" name="图片 105" descr="A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242637" y="5242454"/>
            <a:ext cx="405710" cy="331945"/>
          </a:xfrm>
          <a:prstGeom prst="rect">
            <a:avLst/>
          </a:prstGeom>
        </p:spPr>
      </p:pic>
      <p:pic>
        <p:nvPicPr>
          <p:cNvPr id="13" name="图片 87" descr="汇聚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5599118" y="5242454"/>
            <a:ext cx="405710" cy="331945"/>
          </a:xfrm>
          <a:prstGeom prst="rect">
            <a:avLst/>
          </a:prstGeom>
        </p:spPr>
      </p:pic>
      <p:pic>
        <p:nvPicPr>
          <p:cNvPr id="14" name="图片 76" descr="接入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gray">
          <a:xfrm>
            <a:off x="4420116" y="5242454"/>
            <a:ext cx="405710" cy="33194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 bwMode="gray">
          <a:xfrm rot="19045468">
            <a:off x="7703464" y="5003195"/>
            <a:ext cx="160817" cy="566967"/>
            <a:chOff x="7470759" y="4815953"/>
            <a:chExt cx="148072" cy="540507"/>
          </a:xfrm>
        </p:grpSpPr>
        <p:cxnSp>
          <p:nvCxnSpPr>
            <p:cNvPr id="16" name="直接连接符 15"/>
            <p:cNvCxnSpPr/>
            <p:nvPr/>
          </p:nvCxnSpPr>
          <p:spPr bwMode="gray">
            <a:xfrm>
              <a:off x="7470759" y="4815953"/>
              <a:ext cx="0" cy="5405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 bwMode="gray">
            <a:xfrm>
              <a:off x="7544795" y="4815953"/>
              <a:ext cx="0" cy="5405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gray">
            <a:xfrm>
              <a:off x="7618831" y="4815953"/>
              <a:ext cx="0" cy="5405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17806" y="5280559"/>
            <a:ext cx="405710" cy="331945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 bwMode="gray">
          <a:xfrm>
            <a:off x="8199557" y="4452661"/>
            <a:ext cx="1240662" cy="659131"/>
            <a:chOff x="6317561" y="3933067"/>
            <a:chExt cx="1240662" cy="659131"/>
          </a:xfrm>
        </p:grpSpPr>
        <p:sp>
          <p:nvSpPr>
            <p:cNvPr id="21" name="Freeform 159"/>
            <p:cNvSpPr/>
            <p:nvPr/>
          </p:nvSpPr>
          <p:spPr bwMode="gray">
            <a:xfrm flipH="1">
              <a:off x="6317561" y="3933067"/>
              <a:ext cx="1240662" cy="64853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 bwMode="gray">
            <a:xfrm>
              <a:off x="6510899" y="4068978"/>
              <a:ext cx="9012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Internet/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WAN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23" name="图片 86" descr="核心交换机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7201751" y="4750953"/>
            <a:ext cx="490909" cy="401654"/>
          </a:xfrm>
          <a:prstGeom prst="rect">
            <a:avLst/>
          </a:prstGeom>
        </p:spPr>
      </p:pic>
      <p:sp>
        <p:nvSpPr>
          <p:cNvPr id="25" name="矩形 317"/>
          <p:cNvSpPr/>
          <p:nvPr/>
        </p:nvSpPr>
        <p:spPr bwMode="gray">
          <a:xfrm>
            <a:off x="3256197" y="5585810"/>
            <a:ext cx="334561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AP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6" name="矩形 317"/>
          <p:cNvSpPr/>
          <p:nvPr/>
        </p:nvSpPr>
        <p:spPr bwMode="gray">
          <a:xfrm>
            <a:off x="4395577" y="5585810"/>
            <a:ext cx="454786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LSW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7" name="矩形 317"/>
          <p:cNvSpPr/>
          <p:nvPr/>
        </p:nvSpPr>
        <p:spPr bwMode="gray">
          <a:xfrm>
            <a:off x="5550488" y="5585810"/>
            <a:ext cx="454786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LSW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8" name="矩形 317"/>
          <p:cNvSpPr/>
          <p:nvPr/>
        </p:nvSpPr>
        <p:spPr bwMode="gray">
          <a:xfrm>
            <a:off x="7213773" y="4502426"/>
            <a:ext cx="454786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LSW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29" name="矩形 317"/>
          <p:cNvSpPr/>
          <p:nvPr/>
        </p:nvSpPr>
        <p:spPr bwMode="gray">
          <a:xfrm>
            <a:off x="4944852" y="4520937"/>
            <a:ext cx="454786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LSW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30" name="矩形 317"/>
          <p:cNvSpPr/>
          <p:nvPr/>
        </p:nvSpPr>
        <p:spPr bwMode="gray">
          <a:xfrm>
            <a:off x="6099763" y="4520937"/>
            <a:ext cx="454786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LSW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31" name="矩形 317"/>
          <p:cNvSpPr/>
          <p:nvPr/>
        </p:nvSpPr>
        <p:spPr bwMode="gray">
          <a:xfrm>
            <a:off x="7735459" y="5623782"/>
            <a:ext cx="616689" cy="257369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/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NGFW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32" name="梯形 31"/>
          <p:cNvSpPr/>
          <p:nvPr/>
        </p:nvSpPr>
        <p:spPr bwMode="gray">
          <a:xfrm>
            <a:off x="2660419" y="2106699"/>
            <a:ext cx="7016098" cy="1954702"/>
          </a:xfrm>
          <a:prstGeom prst="trapezoid">
            <a:avLst>
              <a:gd name="adj" fmla="val 22961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94DAE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ctr"/>
            <a:endParaRPr lang="en-US" altLang="zh-CN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梯形 32"/>
          <p:cNvSpPr/>
          <p:nvPr/>
        </p:nvSpPr>
        <p:spPr bwMode="gray">
          <a:xfrm>
            <a:off x="2977757" y="2200654"/>
            <a:ext cx="2076297" cy="1402892"/>
          </a:xfrm>
          <a:prstGeom prst="trapezoid">
            <a:avLst>
              <a:gd name="adj" fmla="val 22668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94DAE2"/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56C4D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ctr"/>
            <a:endParaRPr lang="en-US" altLang="zh-CN" sz="20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2789098" y="3656845"/>
            <a:ext cx="2640828" cy="3537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fontAlgn="ctr"/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Overlay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（虚拟网络层）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 bwMode="gray">
          <a:xfrm>
            <a:off x="3483191" y="2337999"/>
            <a:ext cx="645600" cy="730053"/>
            <a:chOff x="7493567" y="5008689"/>
            <a:chExt cx="1283264" cy="956570"/>
          </a:xfrm>
        </p:grpSpPr>
        <p:cxnSp>
          <p:nvCxnSpPr>
            <p:cNvPr id="36" name="直接连接符 35"/>
            <p:cNvCxnSpPr/>
            <p:nvPr/>
          </p:nvCxnSpPr>
          <p:spPr bwMode="gray">
            <a:xfrm flipH="1" flipV="1">
              <a:off x="7493567" y="5598789"/>
              <a:ext cx="1283264" cy="36647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 bwMode="gray">
            <a:xfrm flipH="1">
              <a:off x="7588319" y="5008689"/>
              <a:ext cx="847863" cy="456494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直接连接符 37"/>
          <p:cNvCxnSpPr>
            <a:stCxn id="41" idx="3"/>
            <a:endCxn id="42" idx="1"/>
          </p:cNvCxnSpPr>
          <p:nvPr/>
        </p:nvCxnSpPr>
        <p:spPr bwMode="gray">
          <a:xfrm>
            <a:off x="4237691" y="3087698"/>
            <a:ext cx="28038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40" idx="3"/>
            <a:endCxn id="43" idx="1"/>
          </p:cNvCxnSpPr>
          <p:nvPr/>
        </p:nvCxnSpPr>
        <p:spPr bwMode="gray">
          <a:xfrm>
            <a:off x="4029676" y="2385620"/>
            <a:ext cx="28165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87" descr="汇聚交换机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gray">
          <a:xfrm>
            <a:off x="3757684" y="2274350"/>
            <a:ext cx="271992" cy="222541"/>
          </a:xfrm>
          <a:prstGeom prst="rect">
            <a:avLst/>
          </a:prstGeom>
        </p:spPr>
      </p:pic>
      <p:pic>
        <p:nvPicPr>
          <p:cNvPr id="41" name="图片 87" descr="汇聚交换机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gray">
          <a:xfrm>
            <a:off x="3965699" y="2976428"/>
            <a:ext cx="271992" cy="222541"/>
          </a:xfrm>
          <a:prstGeom prst="rect">
            <a:avLst/>
          </a:prstGeom>
        </p:spPr>
      </p:pic>
      <p:pic>
        <p:nvPicPr>
          <p:cNvPr id="42" name="图片 76" descr="接入交换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4518079" y="2976428"/>
            <a:ext cx="271992" cy="222541"/>
          </a:xfrm>
          <a:prstGeom prst="rect">
            <a:avLst/>
          </a:prstGeom>
        </p:spPr>
      </p:pic>
      <p:pic>
        <p:nvPicPr>
          <p:cNvPr id="43" name="图片 42" descr="接入交换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4311333" y="2274350"/>
            <a:ext cx="271992" cy="222541"/>
          </a:xfrm>
          <a:prstGeom prst="rect">
            <a:avLst/>
          </a:prstGeom>
        </p:spPr>
      </p:pic>
      <p:pic>
        <p:nvPicPr>
          <p:cNvPr id="44" name="图片 86" descr="核心交换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gray">
          <a:xfrm>
            <a:off x="3313663" y="2642098"/>
            <a:ext cx="271992" cy="222541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 bwMode="gray">
          <a:xfrm>
            <a:off x="3004507" y="3251192"/>
            <a:ext cx="2022799" cy="3184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fontAlgn="ctr"/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虚拟网络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梯形 45"/>
          <p:cNvSpPr/>
          <p:nvPr/>
        </p:nvSpPr>
        <p:spPr bwMode="gray">
          <a:xfrm>
            <a:off x="5149467" y="2200654"/>
            <a:ext cx="2076297" cy="1402892"/>
          </a:xfrm>
          <a:prstGeom prst="trapezoid">
            <a:avLst>
              <a:gd name="adj" fmla="val 22668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94DAE2"/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56C4D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ctr"/>
            <a:endParaRPr lang="en-US" altLang="zh-CN" sz="20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 bwMode="gray">
          <a:xfrm flipH="1">
            <a:off x="5702565" y="2337995"/>
            <a:ext cx="426553" cy="348395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49" idx="3"/>
            <a:endCxn id="50" idx="1"/>
          </p:cNvCxnSpPr>
          <p:nvPr/>
        </p:nvCxnSpPr>
        <p:spPr bwMode="gray">
          <a:xfrm>
            <a:off x="6201386" y="2385620"/>
            <a:ext cx="28165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87" descr="汇聚交换机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gray">
          <a:xfrm>
            <a:off x="5929394" y="2274350"/>
            <a:ext cx="271992" cy="222541"/>
          </a:xfrm>
          <a:prstGeom prst="rect">
            <a:avLst/>
          </a:prstGeom>
        </p:spPr>
      </p:pic>
      <p:pic>
        <p:nvPicPr>
          <p:cNvPr id="50" name="图片 49" descr="接入交换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6483043" y="2274350"/>
            <a:ext cx="271992" cy="222541"/>
          </a:xfrm>
          <a:prstGeom prst="rect">
            <a:avLst/>
          </a:prstGeom>
        </p:spPr>
      </p:pic>
      <p:pic>
        <p:nvPicPr>
          <p:cNvPr id="51" name="图片 86" descr="核心交换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gray">
          <a:xfrm>
            <a:off x="5485373" y="2642098"/>
            <a:ext cx="271992" cy="222541"/>
          </a:xfrm>
          <a:prstGeom prst="rect">
            <a:avLst/>
          </a:prstGeom>
        </p:spPr>
      </p:pic>
      <p:sp>
        <p:nvSpPr>
          <p:cNvPr id="52" name="矩形 51"/>
          <p:cNvSpPr/>
          <p:nvPr/>
        </p:nvSpPr>
        <p:spPr bwMode="gray">
          <a:xfrm>
            <a:off x="5176216" y="3251192"/>
            <a:ext cx="2022799" cy="3184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fontAlgn="ctr"/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虚拟网络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梯形 52"/>
          <p:cNvSpPr/>
          <p:nvPr/>
        </p:nvSpPr>
        <p:spPr bwMode="gray">
          <a:xfrm>
            <a:off x="7337424" y="2200654"/>
            <a:ext cx="2076297" cy="1402892"/>
          </a:xfrm>
          <a:prstGeom prst="trapezoid">
            <a:avLst>
              <a:gd name="adj" fmla="val 22668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94DAE2"/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rgbClr val="56C4D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ctr"/>
            <a:endParaRPr lang="en-US" altLang="zh-CN" sz="2000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 bwMode="gray">
          <a:xfrm flipH="1" flipV="1">
            <a:off x="7842858" y="2661356"/>
            <a:ext cx="645600" cy="27968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56" idx="3"/>
            <a:endCxn id="57" idx="1"/>
          </p:cNvCxnSpPr>
          <p:nvPr/>
        </p:nvCxnSpPr>
        <p:spPr bwMode="gray">
          <a:xfrm>
            <a:off x="8597358" y="2960698"/>
            <a:ext cx="280388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图片 87" descr="汇聚交换机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gray">
          <a:xfrm>
            <a:off x="8325366" y="2849428"/>
            <a:ext cx="271992" cy="222541"/>
          </a:xfrm>
          <a:prstGeom prst="rect">
            <a:avLst/>
          </a:prstGeom>
        </p:spPr>
      </p:pic>
      <p:pic>
        <p:nvPicPr>
          <p:cNvPr id="57" name="图片 76" descr="接入交换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8877746" y="2849428"/>
            <a:ext cx="271992" cy="222541"/>
          </a:xfrm>
          <a:prstGeom prst="rect">
            <a:avLst/>
          </a:prstGeom>
        </p:spPr>
      </p:pic>
      <p:pic>
        <p:nvPicPr>
          <p:cNvPr id="58" name="图片 86" descr="核心交换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gray">
          <a:xfrm>
            <a:off x="7673330" y="2515098"/>
            <a:ext cx="271992" cy="222541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 bwMode="gray">
          <a:xfrm>
            <a:off x="7364174" y="3251192"/>
            <a:ext cx="2022799" cy="31840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fontAlgn="ctr"/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虚拟网络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在</a:t>
            </a:r>
            <a:r>
              <a:rPr lang="en-US" altLang="zh-CN" dirty="0">
                <a:sym typeface="Huawei Sans" panose="020C0503030203020204" pitchFamily="34" charset="0"/>
              </a:rPr>
              <a:t>SD-WAN</a:t>
            </a:r>
            <a:r>
              <a:rPr lang="zh-CN" altLang="en-US" dirty="0">
                <a:sym typeface="Huawei Sans" panose="020C0503030203020204" pitchFamily="34" charset="0"/>
              </a:rPr>
              <a:t>的应用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SD-WAN</a:t>
            </a:r>
            <a:r>
              <a:rPr lang="zh-CN" altLang="en-US" sz="1800" dirty="0">
                <a:sym typeface="Huawei Sans" panose="020C0503030203020204" pitchFamily="34" charset="0"/>
              </a:rPr>
              <a:t>是新一代的企业分支互联解决方案，支持智能动态选路、</a:t>
            </a:r>
            <a:r>
              <a:rPr lang="en-US" altLang="zh-CN" sz="1800" dirty="0">
                <a:sym typeface="Huawei Sans" panose="020C0503030203020204" pitchFamily="34" charset="0"/>
              </a:rPr>
              <a:t>ZTP</a:t>
            </a:r>
            <a:r>
              <a:rPr lang="zh-CN" altLang="en-US" sz="1800" dirty="0">
                <a:sym typeface="Huawei Sans" panose="020C0503030203020204" pitchFamily="34" charset="0"/>
              </a:rPr>
              <a:t>和可视化等特性。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SD-WAN</a:t>
            </a:r>
            <a:r>
              <a:rPr lang="zh-CN" altLang="en-US" sz="1800" dirty="0">
                <a:sym typeface="Huawei Sans" panose="020C0503030203020204" pitchFamily="34" charset="0"/>
              </a:rPr>
              <a:t>解决方案中，在</a:t>
            </a:r>
            <a:r>
              <a:rPr lang="en-US" altLang="zh-CN" sz="1800" dirty="0">
                <a:sym typeface="Huawei Sans" panose="020C0503030203020204" pitchFamily="34" charset="0"/>
              </a:rPr>
              <a:t>RR</a:t>
            </a:r>
            <a:r>
              <a:rPr lang="zh-CN" altLang="en-US" sz="1800" dirty="0">
                <a:sym typeface="Huawei Sans" panose="020C0503030203020204" pitchFamily="34" charset="0"/>
              </a:rPr>
              <a:t>与</a:t>
            </a:r>
            <a:r>
              <a:rPr lang="en-US" altLang="zh-CN" sz="1800" dirty="0">
                <a:sym typeface="Huawei Sans" panose="020C0503030203020204" pitchFamily="34" charset="0"/>
              </a:rPr>
              <a:t>CPE</a:t>
            </a:r>
            <a:r>
              <a:rPr lang="zh-CN" altLang="en-US" sz="1800" dirty="0">
                <a:sym typeface="Huawei Sans" panose="020C0503030203020204" pitchFamily="34" charset="0"/>
              </a:rPr>
              <a:t>之间部署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用于在控制平面传递</a:t>
            </a:r>
            <a:r>
              <a:rPr lang="en-US" altLang="zh-CN" sz="1800" dirty="0">
                <a:sym typeface="Huawei Sans" panose="020C0503030203020204" pitchFamily="34" charset="0"/>
              </a:rPr>
              <a:t>SD-WAN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Overlay VPN</a:t>
            </a:r>
            <a:r>
              <a:rPr lang="zh-CN" altLang="en-US" sz="1800" dirty="0">
                <a:sym typeface="Huawei Sans" panose="020C0503030203020204" pitchFamily="34" charset="0"/>
              </a:rPr>
              <a:t>路由，数据平面采用</a:t>
            </a:r>
            <a:r>
              <a:rPr lang="en-US" altLang="zh-CN" sz="1800" dirty="0">
                <a:sym typeface="Huawei Sans" panose="020C0503030203020204" pitchFamily="34" charset="0"/>
              </a:rPr>
              <a:t>IPsec VPN</a:t>
            </a:r>
            <a:r>
              <a:rPr lang="zh-CN" altLang="en-US" sz="1800" dirty="0">
                <a:sym typeface="Huawei Sans" panose="020C0503030203020204" pitchFamily="34" charset="0"/>
              </a:rPr>
              <a:t>构建安全的转发通道。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8988911" y="4236863"/>
            <a:ext cx="1105071" cy="574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2047769" y="4270119"/>
            <a:ext cx="1097924" cy="574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8" name="Picture 12" descr="E:\2016.01\1.12 扁平化图标\蓝色\AR-蓝色最新-40.png"/>
          <p:cNvPicPr>
            <a:picLocks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3286375" y="4295989"/>
            <a:ext cx="540000" cy="441818"/>
          </a:xfrm>
          <a:prstGeom prst="rect">
            <a:avLst/>
          </a:prstGeom>
          <a:noFill/>
        </p:spPr>
      </p:pic>
      <p:pic>
        <p:nvPicPr>
          <p:cNvPr id="9" name="Picture 12" descr="E:\2016.01\1.12 扁平化图标\蓝色\AR-蓝色最新-40.png"/>
          <p:cNvPicPr>
            <a:picLocks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8203720" y="4295989"/>
            <a:ext cx="540000" cy="441818"/>
          </a:xfrm>
          <a:prstGeom prst="rect">
            <a:avLst/>
          </a:prstGeom>
          <a:noFill/>
        </p:spPr>
      </p:pic>
      <p:sp>
        <p:nvSpPr>
          <p:cNvPr id="10" name="云形 9"/>
          <p:cNvSpPr/>
          <p:nvPr/>
        </p:nvSpPr>
        <p:spPr bwMode="gray">
          <a:xfrm>
            <a:off x="5067521" y="3810995"/>
            <a:ext cx="1833486" cy="610676"/>
          </a:xfrm>
          <a:prstGeom prst="cloud">
            <a:avLst/>
          </a:prstGeom>
          <a:solidFill>
            <a:srgbClr val="FFCC99"/>
          </a:solidFill>
          <a:ln w="3175" cap="flat" cmpd="sng" algn="ctr">
            <a:noFill/>
            <a:prstDash val="solid"/>
          </a:ln>
          <a:effectLst/>
        </p:spPr>
        <p:txBody>
          <a:bodyPr lIns="91392" tIns="45696" rIns="91392" bIns="45696" rtlCol="0" anchor="ctr"/>
          <a:lstStyle/>
          <a:p>
            <a:pPr algn="ctr" defTabSz="1219200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Transport network-1</a:t>
            </a:r>
            <a:endParaRPr lang="zh-CN" altLang="en-US" sz="1335" kern="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云形 10"/>
          <p:cNvSpPr/>
          <p:nvPr/>
        </p:nvSpPr>
        <p:spPr bwMode="gray">
          <a:xfrm>
            <a:off x="5214829" y="4614305"/>
            <a:ext cx="1830698" cy="674001"/>
          </a:xfrm>
          <a:prstGeom prst="cloud">
            <a:avLst/>
          </a:prstGeom>
          <a:solidFill>
            <a:srgbClr val="0963B0">
              <a:lumMod val="20000"/>
              <a:lumOff val="80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91392" tIns="45696" rIns="91392" bIns="45696" rtlCol="0" anchor="ctr"/>
          <a:lstStyle/>
          <a:p>
            <a:pPr algn="ctr" defTabSz="1219200"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Transport network-2</a:t>
            </a:r>
            <a:endParaRPr lang="zh-CN" altLang="en-US" sz="1400" kern="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椭圆 11"/>
          <p:cNvSpPr/>
          <p:nvPr/>
        </p:nvSpPr>
        <p:spPr bwMode="gray">
          <a:xfrm>
            <a:off x="3879453" y="4353105"/>
            <a:ext cx="192876" cy="159894"/>
          </a:xfrm>
          <a:prstGeom prst="ellipse">
            <a:avLst/>
          </a:prstGeom>
          <a:solidFill>
            <a:srgbClr val="FFCC6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椭圆 12"/>
          <p:cNvSpPr/>
          <p:nvPr/>
        </p:nvSpPr>
        <p:spPr bwMode="gray">
          <a:xfrm>
            <a:off x="3875568" y="4587455"/>
            <a:ext cx="192876" cy="159894"/>
          </a:xfrm>
          <a:prstGeom prst="ellipse">
            <a:avLst/>
          </a:prstGeom>
          <a:solidFill>
            <a:srgbClr val="99CC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椭圆 13"/>
          <p:cNvSpPr/>
          <p:nvPr/>
        </p:nvSpPr>
        <p:spPr bwMode="gray">
          <a:xfrm>
            <a:off x="8098459" y="4353105"/>
            <a:ext cx="192876" cy="159894"/>
          </a:xfrm>
          <a:prstGeom prst="ellipse">
            <a:avLst/>
          </a:prstGeom>
          <a:solidFill>
            <a:srgbClr val="FFCC6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椭圆 14"/>
          <p:cNvSpPr/>
          <p:nvPr/>
        </p:nvSpPr>
        <p:spPr bwMode="gray">
          <a:xfrm>
            <a:off x="8094574" y="4587455"/>
            <a:ext cx="192876" cy="159894"/>
          </a:xfrm>
          <a:prstGeom prst="ellipse">
            <a:avLst/>
          </a:prstGeom>
          <a:solidFill>
            <a:srgbClr val="99CC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" name="直接连接符 78"/>
          <p:cNvCxnSpPr>
            <a:cxnSpLocks noChangeShapeType="1"/>
            <a:stCxn id="12" idx="6"/>
            <a:endCxn id="10" idx="2"/>
          </p:cNvCxnSpPr>
          <p:nvPr/>
        </p:nvCxnSpPr>
        <p:spPr bwMode="gray">
          <a:xfrm flipV="1">
            <a:off x="4072329" y="4116333"/>
            <a:ext cx="1000879" cy="316719"/>
          </a:xfrm>
          <a:prstGeom prst="line">
            <a:avLst/>
          </a:prstGeom>
          <a:noFill/>
          <a:ln w="9525" algn="ctr">
            <a:solidFill>
              <a:srgbClr val="FFFFFF">
                <a:lumMod val="75000"/>
              </a:srgbClr>
            </a:solidFill>
            <a:round/>
          </a:ln>
        </p:spPr>
      </p:cxnSp>
      <p:cxnSp>
        <p:nvCxnSpPr>
          <p:cNvPr id="17" name="直接连接符 78"/>
          <p:cNvCxnSpPr>
            <a:cxnSpLocks noChangeShapeType="1"/>
          </p:cNvCxnSpPr>
          <p:nvPr/>
        </p:nvCxnSpPr>
        <p:spPr bwMode="gray">
          <a:xfrm>
            <a:off x="4123313" y="4667403"/>
            <a:ext cx="1063163" cy="283902"/>
          </a:xfrm>
          <a:prstGeom prst="line">
            <a:avLst/>
          </a:prstGeom>
          <a:noFill/>
          <a:ln w="9525" algn="ctr">
            <a:solidFill>
              <a:srgbClr val="FFFFFF">
                <a:lumMod val="75000"/>
              </a:srgbClr>
            </a:solidFill>
            <a:round/>
          </a:ln>
        </p:spPr>
      </p:cxnSp>
      <p:cxnSp>
        <p:nvCxnSpPr>
          <p:cNvPr id="18" name="直接连接符 78"/>
          <p:cNvCxnSpPr>
            <a:cxnSpLocks noChangeShapeType="1"/>
            <a:stCxn id="10" idx="0"/>
            <a:endCxn id="14" idx="1"/>
          </p:cNvCxnSpPr>
          <p:nvPr/>
        </p:nvCxnSpPr>
        <p:spPr bwMode="gray">
          <a:xfrm>
            <a:off x="6899479" y="4116333"/>
            <a:ext cx="1227226" cy="260188"/>
          </a:xfrm>
          <a:prstGeom prst="line">
            <a:avLst/>
          </a:prstGeom>
          <a:noFill/>
          <a:ln w="9525" algn="ctr">
            <a:solidFill>
              <a:srgbClr val="FFFFFF">
                <a:lumMod val="75000"/>
              </a:srgbClr>
            </a:solidFill>
            <a:round/>
          </a:ln>
        </p:spPr>
      </p:cxnSp>
      <p:cxnSp>
        <p:nvCxnSpPr>
          <p:cNvPr id="19" name="直接连接符 78"/>
          <p:cNvCxnSpPr>
            <a:cxnSpLocks noChangeShapeType="1"/>
            <a:stCxn id="11" idx="0"/>
            <a:endCxn id="15" idx="2"/>
          </p:cNvCxnSpPr>
          <p:nvPr/>
        </p:nvCxnSpPr>
        <p:spPr bwMode="gray">
          <a:xfrm flipV="1">
            <a:off x="7044001" y="4667402"/>
            <a:ext cx="1050573" cy="283904"/>
          </a:xfrm>
          <a:prstGeom prst="line">
            <a:avLst/>
          </a:prstGeom>
          <a:noFill/>
          <a:ln w="9525" algn="ctr">
            <a:solidFill>
              <a:srgbClr val="FFFFFF">
                <a:lumMod val="75000"/>
              </a:srgbClr>
            </a:solidFill>
            <a:round/>
          </a:ln>
        </p:spPr>
      </p:cxnSp>
      <p:cxnSp>
        <p:nvCxnSpPr>
          <p:cNvPr id="20" name="直接连接符 78"/>
          <p:cNvCxnSpPr>
            <a:cxnSpLocks noChangeShapeType="1"/>
            <a:stCxn id="8" idx="0"/>
            <a:endCxn id="42" idx="2"/>
          </p:cNvCxnSpPr>
          <p:nvPr/>
        </p:nvCxnSpPr>
        <p:spPr bwMode="gray">
          <a:xfrm flipV="1">
            <a:off x="3556375" y="2799728"/>
            <a:ext cx="2409958" cy="1496261"/>
          </a:xfrm>
          <a:prstGeom prst="line">
            <a:avLst/>
          </a:prstGeom>
          <a:noFill/>
          <a:ln w="28575" algn="ctr">
            <a:solidFill>
              <a:srgbClr val="56C4D2"/>
            </a:solidFill>
            <a:prstDash val="dash"/>
            <a:round/>
            <a:headEnd type="triangle" w="med" len="med"/>
            <a:tailEnd type="triangle" w="med" len="med"/>
          </a:ln>
        </p:spPr>
      </p:cxnSp>
      <p:cxnSp>
        <p:nvCxnSpPr>
          <p:cNvPr id="21" name="直接连接符 78"/>
          <p:cNvCxnSpPr>
            <a:cxnSpLocks noChangeShapeType="1"/>
            <a:stCxn id="9" idx="0"/>
            <a:endCxn id="42" idx="2"/>
          </p:cNvCxnSpPr>
          <p:nvPr/>
        </p:nvCxnSpPr>
        <p:spPr bwMode="gray">
          <a:xfrm flipH="1" flipV="1">
            <a:off x="5966333" y="2799728"/>
            <a:ext cx="2507387" cy="1496261"/>
          </a:xfrm>
          <a:prstGeom prst="line">
            <a:avLst/>
          </a:prstGeom>
          <a:noFill/>
          <a:ln w="28575" algn="ctr">
            <a:solidFill>
              <a:srgbClr val="56C4D2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22" name="文本框 21"/>
          <p:cNvSpPr txBox="1"/>
          <p:nvPr/>
        </p:nvSpPr>
        <p:spPr bwMode="gray">
          <a:xfrm>
            <a:off x="5435125" y="5418668"/>
            <a:ext cx="1262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IPSec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任意多边形 56"/>
          <p:cNvSpPr/>
          <p:nvPr/>
        </p:nvSpPr>
        <p:spPr bwMode="gray">
          <a:xfrm>
            <a:off x="4161904" y="3611923"/>
            <a:ext cx="3809406" cy="704755"/>
          </a:xfrm>
          <a:custGeom>
            <a:avLst/>
            <a:gdLst>
              <a:gd name="connsiteX0" fmla="*/ 0 w 3393440"/>
              <a:gd name="connsiteY0" fmla="*/ 701064 h 721384"/>
              <a:gd name="connsiteX1" fmla="*/ 1564640 w 3393440"/>
              <a:gd name="connsiteY1" fmla="*/ 24 h 721384"/>
              <a:gd name="connsiteX2" fmla="*/ 3393440 w 3393440"/>
              <a:gd name="connsiteY2" fmla="*/ 721384 h 72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3440" h="721384">
                <a:moveTo>
                  <a:pt x="0" y="701064"/>
                </a:moveTo>
                <a:cubicBezTo>
                  <a:pt x="499533" y="348850"/>
                  <a:pt x="999067" y="-3363"/>
                  <a:pt x="1564640" y="24"/>
                </a:cubicBezTo>
                <a:cubicBezTo>
                  <a:pt x="2130213" y="3411"/>
                  <a:pt x="2761826" y="362397"/>
                  <a:pt x="3393440" y="721384"/>
                </a:cubicBezTo>
              </a:path>
            </a:pathLst>
          </a:custGeom>
          <a:noFill/>
          <a:ln w="571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任意多边形 57"/>
          <p:cNvSpPr/>
          <p:nvPr/>
        </p:nvSpPr>
        <p:spPr bwMode="gray">
          <a:xfrm>
            <a:off x="4161904" y="4733561"/>
            <a:ext cx="3661135" cy="685107"/>
          </a:xfrm>
          <a:custGeom>
            <a:avLst/>
            <a:gdLst>
              <a:gd name="connsiteX0" fmla="*/ 0 w 3261360"/>
              <a:gd name="connsiteY0" fmla="*/ 0 h 701272"/>
              <a:gd name="connsiteX1" fmla="*/ 1625600 w 3261360"/>
              <a:gd name="connsiteY1" fmla="*/ 701040 h 701272"/>
              <a:gd name="connsiteX2" fmla="*/ 3261360 w 3261360"/>
              <a:gd name="connsiteY2" fmla="*/ 60960 h 70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61360" h="701272">
                <a:moveTo>
                  <a:pt x="0" y="0"/>
                </a:moveTo>
                <a:cubicBezTo>
                  <a:pt x="541020" y="345440"/>
                  <a:pt x="1082040" y="690880"/>
                  <a:pt x="1625600" y="701040"/>
                </a:cubicBezTo>
                <a:cubicBezTo>
                  <a:pt x="2169160" y="711200"/>
                  <a:pt x="2715260" y="386080"/>
                  <a:pt x="3261360" y="60960"/>
                </a:cubicBezTo>
              </a:path>
            </a:pathLst>
          </a:cu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2942271" y="4821088"/>
            <a:ext cx="12418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(CPE)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7875960" y="4840704"/>
            <a:ext cx="12418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(CPE)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椭圆 26"/>
          <p:cNvSpPr/>
          <p:nvPr/>
        </p:nvSpPr>
        <p:spPr bwMode="gray">
          <a:xfrm>
            <a:off x="2164844" y="4350355"/>
            <a:ext cx="192876" cy="159894"/>
          </a:xfrm>
          <a:prstGeom prst="ellipse">
            <a:avLst/>
          </a:prstGeom>
          <a:solidFill>
            <a:srgbClr val="FFCC6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椭圆 27"/>
          <p:cNvSpPr/>
          <p:nvPr/>
        </p:nvSpPr>
        <p:spPr bwMode="gray">
          <a:xfrm>
            <a:off x="2164844" y="4584705"/>
            <a:ext cx="192876" cy="159894"/>
          </a:xfrm>
          <a:prstGeom prst="ellipse">
            <a:avLst/>
          </a:prstGeom>
          <a:solidFill>
            <a:srgbClr val="99CC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2262612" y="4276322"/>
            <a:ext cx="971331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65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465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65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2.2.2.1</a:t>
            </a:r>
            <a:endParaRPr lang="zh-CN" altLang="en-US" sz="1465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椭圆 34"/>
          <p:cNvSpPr/>
          <p:nvPr/>
        </p:nvSpPr>
        <p:spPr bwMode="gray">
          <a:xfrm>
            <a:off x="9100293" y="4304521"/>
            <a:ext cx="192876" cy="159894"/>
          </a:xfrm>
          <a:prstGeom prst="ellipse">
            <a:avLst/>
          </a:prstGeom>
          <a:solidFill>
            <a:srgbClr val="FFCC6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椭圆 35"/>
          <p:cNvSpPr/>
          <p:nvPr/>
        </p:nvSpPr>
        <p:spPr bwMode="gray">
          <a:xfrm>
            <a:off x="9100293" y="4538871"/>
            <a:ext cx="192876" cy="159894"/>
          </a:xfrm>
          <a:prstGeom prst="ellipse">
            <a:avLst/>
          </a:prstGeom>
          <a:solidFill>
            <a:srgbClr val="99CC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35" kern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8988598" y="4226536"/>
            <a:ext cx="1295176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65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1.1.1.2</a:t>
            </a:r>
            <a:endParaRPr lang="en-US" altLang="zh-CN" sz="1465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65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zh-CN" altLang="en-US" sz="1465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3136329" y="3081319"/>
            <a:ext cx="168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EVPN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2047769" y="4955929"/>
            <a:ext cx="1019034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65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站点信息</a:t>
            </a:r>
            <a:endParaRPr lang="zh-CN" altLang="en-US" sz="1465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9065200" y="4878884"/>
            <a:ext cx="1003722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65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站点信息</a:t>
            </a:r>
            <a:endParaRPr lang="zh-CN" altLang="en-US" sz="1465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2" name="图片 41"/>
          <p:cNvPicPr/>
          <p:nvPr/>
        </p:nvPicPr>
        <p:blipFill>
          <a:blip r:embed="rId2" cstate="print"/>
          <a:stretch>
            <a:fillRect/>
          </a:stretch>
        </p:blipFill>
        <p:spPr bwMode="gray">
          <a:xfrm>
            <a:off x="5696333" y="2357910"/>
            <a:ext cx="540000" cy="441818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 bwMode="gray">
          <a:xfrm>
            <a:off x="7111687" y="3044464"/>
            <a:ext cx="168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EVPN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 bwMode="gray">
          <a:xfrm>
            <a:off x="5435125" y="3273369"/>
            <a:ext cx="1262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IPsec VPN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5919341" y="2383973"/>
            <a:ext cx="1262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r>
              <a:rPr lang="zh-CN" altLang="en-US" b="1" dirty="0">
                <a:sym typeface="Huawei Sans" panose="020C0503030203020204" pitchFamily="34" charset="0"/>
              </a:rPr>
              <a:t>的基本配置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承载二层业务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承载三层业务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BD EVPN</a:t>
            </a:r>
            <a:r>
              <a:rPr lang="zh-CN" altLang="en-US" dirty="0"/>
              <a:t>功能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gray">
          <a:xfrm>
            <a:off x="967343" y="1750662"/>
            <a:ext cx="10417179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 err="1"/>
              <a:t>evpn</a:t>
            </a:r>
            <a:r>
              <a:rPr lang="en-US" altLang="zh-CN" sz="1600" b="1" dirty="0"/>
              <a:t> vpn-instance </a:t>
            </a:r>
            <a:r>
              <a:rPr lang="en-US" altLang="zh-CN" sz="1600" i="1" dirty="0" err="1"/>
              <a:t>evpna</a:t>
            </a:r>
            <a:r>
              <a:rPr lang="en-US" altLang="zh-CN" sz="1600" i="1" dirty="0"/>
              <a:t> </a:t>
            </a:r>
            <a:r>
              <a:rPr lang="en-US" altLang="zh-CN" sz="1600" b="1" dirty="0" err="1"/>
              <a:t>bd</a:t>
            </a:r>
            <a:r>
              <a:rPr lang="en-US" altLang="zh-CN" sz="1600" b="1" dirty="0"/>
              <a:t>-mode</a:t>
            </a:r>
            <a:endParaRPr lang="en-US" altLang="zh-CN" sz="1600" b="1" dirty="0"/>
          </a:p>
          <a:p>
            <a:pPr fontAlgn="base"/>
            <a:r>
              <a:rPr lang="en-US" altLang="zh-CN" sz="1600" dirty="0"/>
              <a:t>[Huawei-</a:t>
            </a:r>
            <a:r>
              <a:rPr lang="en-US" altLang="zh-CN" sz="1600" dirty="0" err="1"/>
              <a:t>evpn</a:t>
            </a:r>
            <a:r>
              <a:rPr lang="en-US" altLang="zh-CN" sz="1600" dirty="0"/>
              <a:t>-instance-</a:t>
            </a:r>
            <a:r>
              <a:rPr lang="en-US" altLang="zh-CN" sz="1600" dirty="0" err="1"/>
              <a:t>evpna</a:t>
            </a:r>
            <a:r>
              <a:rPr lang="en-US" altLang="zh-CN" sz="1600" dirty="0"/>
              <a:t>] </a:t>
            </a:r>
            <a:r>
              <a:rPr lang="en-US" altLang="zh-CN" sz="1600" b="1" dirty="0"/>
              <a:t>route-distinguisher </a:t>
            </a:r>
            <a:r>
              <a:rPr lang="en-US" altLang="zh-CN" sz="1600" i="1" dirty="0"/>
              <a:t>100:1</a:t>
            </a:r>
            <a:endParaRPr lang="en-US" altLang="zh-CN" sz="1600" i="1" dirty="0"/>
          </a:p>
          <a:p>
            <a:pPr fontAlgn="base"/>
            <a:r>
              <a:rPr lang="en-US" altLang="zh-CN" sz="1600" dirty="0"/>
              <a:t>[Huawei-</a:t>
            </a:r>
            <a:r>
              <a:rPr lang="en-US" altLang="zh-CN" sz="1600" dirty="0" err="1"/>
              <a:t>evpn</a:t>
            </a:r>
            <a:r>
              <a:rPr lang="en-US" altLang="zh-CN" sz="1600" dirty="0"/>
              <a:t>-instance-</a:t>
            </a:r>
            <a:r>
              <a:rPr lang="en-US" altLang="zh-CN" sz="1600" dirty="0" err="1"/>
              <a:t>evpna</a:t>
            </a:r>
            <a:r>
              <a:rPr lang="en-US" altLang="zh-CN" sz="1600" dirty="0"/>
              <a:t>] 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vpn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-target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1:1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both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|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export-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extcommunity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|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import-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extcommunity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]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486809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实例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791650" y="2905455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/>
              <a:t>创建一个名字为</a:t>
            </a:r>
            <a:r>
              <a:rPr lang="en-US" altLang="zh-CN" sz="1400" dirty="0" err="1"/>
              <a:t>evpna</a:t>
            </a:r>
            <a:r>
              <a:rPr lang="zh-CN" altLang="en-US" sz="1400" dirty="0"/>
              <a:t>的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实例，进入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实例视图，并配置</a:t>
            </a:r>
            <a:r>
              <a:rPr lang="en-US" altLang="zh-CN" sz="1400" dirty="0"/>
              <a:t>RD</a:t>
            </a:r>
            <a:r>
              <a:rPr lang="zh-CN" altLang="en-US" sz="1400" dirty="0"/>
              <a:t>和</a:t>
            </a:r>
            <a:r>
              <a:rPr lang="en-US" altLang="zh-CN" sz="1400" dirty="0"/>
              <a:t>RT</a:t>
            </a:r>
            <a:r>
              <a:rPr lang="zh-CN" altLang="en-US" sz="1400" dirty="0"/>
              <a:t>分别为</a:t>
            </a:r>
            <a:r>
              <a:rPr lang="en-US" altLang="zh-CN" sz="1400" dirty="0"/>
              <a:t>100:1</a:t>
            </a:r>
            <a:r>
              <a:rPr lang="zh-CN" altLang="en-US" sz="1400" dirty="0"/>
              <a:t>、</a:t>
            </a:r>
            <a:r>
              <a:rPr lang="en-US" altLang="zh-CN" sz="1400" dirty="0"/>
              <a:t>1:1</a:t>
            </a:r>
            <a:r>
              <a:rPr lang="zh-CN" altLang="en-US" sz="1400" dirty="0"/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967343" y="3737712"/>
            <a:ext cx="104171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evpn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source-address </a:t>
            </a:r>
            <a:r>
              <a:rPr lang="en-US" altLang="zh-CN" sz="1600" i="1" dirty="0" err="1">
                <a:sym typeface="Huawei Sans" panose="020C0503030203020204" pitchFamily="34" charset="0"/>
              </a:rPr>
              <a:t>i</a:t>
            </a:r>
            <a:r>
              <a:rPr lang="en-US" altLang="zh-CN" sz="1600" i="1" dirty="0" err="1"/>
              <a:t>p</a:t>
            </a:r>
            <a:r>
              <a:rPr lang="en-US" altLang="zh-CN" sz="1600" i="1" dirty="0"/>
              <a:t>-address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486809" y="335236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源地址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gray">
          <a:xfrm>
            <a:off x="791650" y="4107921"/>
            <a:ext cx="10608699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/>
              <a:t>通过配置</a:t>
            </a:r>
            <a:r>
              <a:rPr lang="en-US" altLang="zh-CN" sz="1400" dirty="0"/>
              <a:t>EVPN</a:t>
            </a:r>
            <a:r>
              <a:rPr lang="zh-CN" altLang="en-US" sz="1400" dirty="0"/>
              <a:t>源地址可以用于在</a:t>
            </a:r>
            <a:r>
              <a:rPr lang="en-US" altLang="zh-CN" sz="1400" dirty="0"/>
              <a:t>EVPN</a:t>
            </a:r>
            <a:r>
              <a:rPr lang="zh-CN" altLang="en-US" sz="1400" dirty="0"/>
              <a:t>组网中标识</a:t>
            </a:r>
            <a:r>
              <a:rPr lang="en-US" altLang="zh-CN" sz="1400" dirty="0"/>
              <a:t>PE</a:t>
            </a:r>
            <a:r>
              <a:rPr lang="zh-CN" altLang="en-US" sz="1400" dirty="0"/>
              <a:t>设备，而且</a:t>
            </a:r>
            <a:r>
              <a:rPr lang="en-US" altLang="zh-CN" sz="1400" dirty="0"/>
              <a:t>EVPN</a:t>
            </a:r>
            <a:r>
              <a:rPr lang="zh-CN" altLang="en-US" sz="1400" dirty="0"/>
              <a:t>源地址是</a:t>
            </a:r>
            <a:r>
              <a:rPr lang="en-US" altLang="zh-CN" sz="1400" dirty="0"/>
              <a:t>EVPN</a:t>
            </a:r>
            <a:r>
              <a:rPr lang="zh-CN" altLang="en-US" sz="1400" dirty="0"/>
              <a:t>路由信息中的一部分，因此只有成功配置</a:t>
            </a:r>
            <a:r>
              <a:rPr lang="en-US" altLang="zh-CN" sz="1400" dirty="0"/>
              <a:t>EVPN</a:t>
            </a:r>
            <a:r>
              <a:rPr lang="zh-CN" altLang="en-US" sz="1400" dirty="0"/>
              <a:t>源地址才能成功配置</a:t>
            </a:r>
            <a:r>
              <a:rPr lang="en-US" altLang="zh-CN" sz="1400" dirty="0"/>
              <a:t>EVPN</a:t>
            </a:r>
            <a:r>
              <a:rPr lang="zh-CN" altLang="en-US" sz="1400" dirty="0"/>
              <a:t>功能。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967343" y="5217295"/>
            <a:ext cx="104171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/>
              <a:t>[Huawei-Eth-Trunk10] </a:t>
            </a:r>
            <a:r>
              <a:rPr lang="fi-FI" altLang="zh-CN" sz="1600" b="1" dirty="0"/>
              <a:t>esi </a:t>
            </a:r>
            <a:r>
              <a:rPr lang="fi-FI" altLang="zh-CN" sz="1600" i="1" dirty="0"/>
              <a:t>esi</a:t>
            </a:r>
            <a:endParaRPr lang="en-US" altLang="zh-CN" sz="1600" i="1" dirty="0"/>
          </a:p>
        </p:txBody>
      </p:sp>
      <p:sp>
        <p:nvSpPr>
          <p:cNvPr id="12" name="矩形 11"/>
          <p:cNvSpPr/>
          <p:nvPr/>
        </p:nvSpPr>
        <p:spPr bwMode="gray">
          <a:xfrm>
            <a:off x="486809" y="4831945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静态配置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ESI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791650" y="5555849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>
                <a:sym typeface="Huawei Sans" panose="020C0503030203020204" pitchFamily="34" charset="0"/>
              </a:rPr>
              <a:t>如果用户使用</a:t>
            </a:r>
            <a:r>
              <a:rPr lang="en-US" altLang="zh-CN" sz="1400" dirty="0">
                <a:sym typeface="Huawei Sans" panose="020C0503030203020204" pitchFamily="34" charset="0"/>
              </a:rPr>
              <a:t>VLAN</a:t>
            </a:r>
            <a:r>
              <a:rPr lang="zh-CN" altLang="en-US" sz="1400" dirty="0">
                <a:sym typeface="Huawei Sans" panose="020C0503030203020204" pitchFamily="34" charset="0"/>
              </a:rPr>
              <a:t>接入</a:t>
            </a:r>
            <a:r>
              <a:rPr lang="en-US" altLang="zh-CN" sz="1400" dirty="0">
                <a:sym typeface="Huawei Sans" panose="020C0503030203020204" pitchFamily="34" charset="0"/>
              </a:rPr>
              <a:t>EVPN</a:t>
            </a:r>
            <a:r>
              <a:rPr lang="zh-CN" altLang="en-US" sz="1400" dirty="0">
                <a:sym typeface="Huawei Sans" panose="020C0503030203020204" pitchFamily="34" charset="0"/>
              </a:rPr>
              <a:t>，则使用此种方式。其它配置方式请参考对应产品的产品手册。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BD</a:t>
            </a:r>
            <a:r>
              <a:rPr lang="zh-CN" altLang="en-US" dirty="0"/>
              <a:t>并绑定</a:t>
            </a:r>
            <a:r>
              <a:rPr lang="en-US" altLang="zh-CN" dirty="0"/>
              <a:t>EVPN</a:t>
            </a:r>
            <a:r>
              <a:rPr lang="zh-CN" altLang="en-US" dirty="0"/>
              <a:t>实例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 bwMode="gray">
          <a:xfrm>
            <a:off x="967343" y="1750662"/>
            <a:ext cx="1041717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bridge-domain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10</a:t>
            </a:r>
            <a:endParaRPr lang="en-US" altLang="zh-CN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  <a:p>
            <a:pPr fontAlgn="base"/>
            <a:r>
              <a:rPr lang="en-US" altLang="zh-CN" sz="1600" dirty="0"/>
              <a:t>[Huawei-bd10] </a:t>
            </a:r>
            <a:r>
              <a:rPr lang="en-US" altLang="zh-CN" sz="1600" b="1" dirty="0" err="1"/>
              <a:t>evpn</a:t>
            </a:r>
            <a:r>
              <a:rPr lang="en-US" altLang="zh-CN" sz="1600" b="1" dirty="0"/>
              <a:t> binding 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 </a:t>
            </a:r>
            <a:r>
              <a:rPr lang="en-US" altLang="zh-CN" sz="1600" i="1" dirty="0" err="1"/>
              <a:t>evpna</a:t>
            </a:r>
            <a:r>
              <a:rPr lang="en-US" altLang="zh-CN" sz="1600" dirty="0"/>
              <a:t> [ </a:t>
            </a:r>
            <a:r>
              <a:rPr lang="en-US" altLang="zh-CN" sz="1600" b="1" dirty="0" err="1"/>
              <a:t>bd</a:t>
            </a:r>
            <a:r>
              <a:rPr lang="en-US" altLang="zh-CN" sz="1600" b="1" dirty="0"/>
              <a:t>-tag</a:t>
            </a:r>
            <a:r>
              <a:rPr lang="en-US" altLang="zh-CN" sz="1600" dirty="0"/>
              <a:t> </a:t>
            </a:r>
            <a:r>
              <a:rPr lang="en-US" altLang="zh-CN" sz="1600" i="1" dirty="0" err="1"/>
              <a:t>bd</a:t>
            </a:r>
            <a:r>
              <a:rPr lang="en-US" altLang="zh-CN" sz="1600" i="1" dirty="0"/>
              <a:t>-tag</a:t>
            </a:r>
            <a:r>
              <a:rPr lang="en-US" altLang="zh-CN" sz="1600" dirty="0"/>
              <a:t> ]</a:t>
            </a:r>
            <a:r>
              <a:rPr lang="zh-CN" altLang="en-US" sz="1600" dirty="0"/>
              <a:t>，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486809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实例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791650" y="2382233"/>
            <a:ext cx="106086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/>
              <a:t>在</a:t>
            </a:r>
            <a:r>
              <a:rPr lang="en-US" altLang="zh-CN" sz="1400" dirty="0"/>
              <a:t>MPLS</a:t>
            </a:r>
            <a:r>
              <a:rPr lang="zh-CN" altLang="en-US" sz="1400" dirty="0"/>
              <a:t>转发方式下，</a:t>
            </a:r>
            <a:r>
              <a:rPr lang="en-US" altLang="zh-CN" sz="1400" dirty="0"/>
              <a:t>BD</a:t>
            </a:r>
            <a:r>
              <a:rPr lang="zh-CN" altLang="en-US" sz="1400" dirty="0"/>
              <a:t>直接配置绑定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</a:t>
            </a:r>
            <a:r>
              <a:rPr lang="en-US" altLang="zh-CN" sz="1400" dirty="0" err="1"/>
              <a:t>evpna</a:t>
            </a:r>
            <a:r>
              <a:rPr lang="zh-CN" altLang="en-US" sz="1400" dirty="0"/>
              <a:t>。此处</a:t>
            </a:r>
            <a:r>
              <a:rPr lang="en-US" altLang="zh-CN" sz="1400" dirty="0"/>
              <a:t>BD</a:t>
            </a:r>
            <a:r>
              <a:rPr lang="zh-CN" altLang="en-US" sz="1400" dirty="0"/>
              <a:t>的</a:t>
            </a:r>
            <a:r>
              <a:rPr lang="en-US" altLang="zh-CN" sz="1400" dirty="0"/>
              <a:t>ID</a:t>
            </a:r>
            <a:r>
              <a:rPr lang="zh-CN" altLang="en-US" sz="1400" dirty="0"/>
              <a:t>为</a:t>
            </a:r>
            <a:r>
              <a:rPr lang="en-US" altLang="zh-CN" sz="1400" dirty="0"/>
              <a:t>10</a:t>
            </a:r>
            <a:r>
              <a:rPr lang="zh-CN" altLang="en-US" sz="1400" dirty="0"/>
              <a:t>。通过设置不同的</a:t>
            </a:r>
            <a:r>
              <a:rPr lang="en-US" altLang="zh-CN" sz="1400" i="1" dirty="0" err="1"/>
              <a:t>bd</a:t>
            </a:r>
            <a:r>
              <a:rPr lang="en-US" altLang="zh-CN" sz="1400" i="1" dirty="0"/>
              <a:t>-tag</a:t>
            </a:r>
            <a:r>
              <a:rPr lang="zh-CN" altLang="en-US" sz="1400" dirty="0"/>
              <a:t>，用户可以将多个</a:t>
            </a:r>
            <a:r>
              <a:rPr lang="en-US" altLang="zh-CN" sz="1400" dirty="0"/>
              <a:t>BD</a:t>
            </a:r>
            <a:r>
              <a:rPr lang="zh-CN" altLang="en-US" sz="1400" dirty="0"/>
              <a:t>绑定到相同的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实例下，实现不同的</a:t>
            </a:r>
            <a:r>
              <a:rPr lang="en-US" altLang="zh-CN" sz="1400" dirty="0"/>
              <a:t>VLAN</a:t>
            </a:r>
            <a:r>
              <a:rPr lang="zh-CN" altLang="en-US" sz="1400" dirty="0"/>
              <a:t>对应的广播域接入同一个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实例，但是属于不同广播域的业务相互隔离。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 bwMode="gray">
          <a:xfrm>
            <a:off x="967343" y="3737712"/>
            <a:ext cx="10417179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/>
              <a:t>interface </a:t>
            </a:r>
            <a:r>
              <a:rPr lang="en-US" altLang="zh-CN" sz="1600" i="1" dirty="0"/>
              <a:t>Eth-Trunk10.1</a:t>
            </a:r>
            <a:r>
              <a:rPr lang="en-US" altLang="zh-CN" sz="1600" dirty="0"/>
              <a:t> </a:t>
            </a:r>
            <a:r>
              <a:rPr lang="en-US" altLang="zh-CN" sz="1600" b="1" dirty="0"/>
              <a:t>mode l2</a:t>
            </a:r>
            <a:endParaRPr lang="en-US" altLang="zh-CN" sz="1600" b="1" dirty="0"/>
          </a:p>
          <a:p>
            <a:pPr fontAlgn="base"/>
            <a:r>
              <a:rPr lang="en-US" altLang="zh-CN" sz="1600" dirty="0"/>
              <a:t>[Huawei-Eth-Trunk10.1] </a:t>
            </a:r>
            <a:r>
              <a:rPr lang="en-US" altLang="zh-CN" sz="1600" b="1" dirty="0"/>
              <a:t>encapsulation dot1q vid</a:t>
            </a:r>
            <a:r>
              <a:rPr lang="en-US" altLang="zh-CN" sz="1600" dirty="0"/>
              <a:t> </a:t>
            </a:r>
            <a:r>
              <a:rPr lang="en-US" altLang="zh-CN" sz="1600" i="1" dirty="0"/>
              <a:t>2</a:t>
            </a:r>
            <a:endParaRPr lang="en-US" altLang="zh-CN" sz="1600" i="1" dirty="0"/>
          </a:p>
          <a:p>
            <a:pPr fontAlgn="base"/>
            <a:r>
              <a:rPr lang="en-US" altLang="zh-CN" sz="1600" dirty="0"/>
              <a:t>[Huawei-Eth-Trunk10.1] </a:t>
            </a:r>
            <a:r>
              <a:rPr lang="en-US" altLang="zh-CN" sz="1600" b="1" dirty="0"/>
              <a:t>rewrite pop single</a:t>
            </a:r>
            <a:r>
              <a:rPr lang="en-US" altLang="zh-CN" sz="1600" dirty="0"/>
              <a:t> </a:t>
            </a:r>
            <a:endParaRPr lang="en-US" altLang="zh-CN" sz="1600" dirty="0"/>
          </a:p>
          <a:p>
            <a:pPr fontAlgn="base"/>
            <a:r>
              <a:rPr lang="en-US" altLang="zh-CN" sz="1600" dirty="0"/>
              <a:t>[Huawei-Eth-Trunk10.1] </a:t>
            </a:r>
            <a:r>
              <a:rPr lang="en-US" altLang="zh-CN" sz="1600" b="1" dirty="0"/>
              <a:t>bridge-domain</a:t>
            </a:r>
            <a:r>
              <a:rPr lang="en-US" altLang="zh-CN" sz="1600" dirty="0"/>
              <a:t> </a:t>
            </a:r>
            <a:r>
              <a:rPr lang="en-US" altLang="zh-CN" sz="1600" i="1" dirty="0"/>
              <a:t>10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486809" y="335236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/>
              <a:t>将二层子接口加入</a:t>
            </a:r>
            <a:r>
              <a:rPr lang="en-US" altLang="zh-CN" sz="1600" dirty="0"/>
              <a:t>BD</a:t>
            </a:r>
            <a:r>
              <a:rPr lang="zh-CN" altLang="en-US" sz="1600" dirty="0"/>
              <a:t>，允许报文通过广播域</a:t>
            </a:r>
            <a:r>
              <a:rPr lang="en-US" altLang="zh-CN" sz="1600" dirty="0"/>
              <a:t>BD</a:t>
            </a:r>
            <a:r>
              <a:rPr lang="zh-CN" altLang="en-US" sz="1600" dirty="0"/>
              <a:t>转发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791649" y="4816569"/>
            <a:ext cx="106086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>
                <a:sym typeface="Huawei Sans" panose="020C0503030203020204" pitchFamily="34" charset="0"/>
              </a:rPr>
              <a:t>将二层子接口加入</a:t>
            </a:r>
            <a:r>
              <a:rPr lang="en-US" altLang="zh-CN" sz="1400" dirty="0">
                <a:sym typeface="Huawei Sans" panose="020C0503030203020204" pitchFamily="34" charset="0"/>
              </a:rPr>
              <a:t>BD</a:t>
            </a:r>
            <a:r>
              <a:rPr lang="zh-CN" altLang="en-US" sz="1400" dirty="0">
                <a:sym typeface="Huawei Sans" panose="020C0503030203020204" pitchFamily="34" charset="0"/>
              </a:rPr>
              <a:t>，允许报文通过广播域</a:t>
            </a:r>
            <a:r>
              <a:rPr lang="en-US" altLang="zh-CN" sz="1400" dirty="0">
                <a:sym typeface="Huawei Sans" panose="020C0503030203020204" pitchFamily="34" charset="0"/>
              </a:rPr>
              <a:t>BD</a:t>
            </a:r>
            <a:r>
              <a:rPr lang="zh-CN" altLang="en-US" sz="1400" dirty="0">
                <a:sym typeface="Huawei Sans" panose="020C0503030203020204" pitchFamily="34" charset="0"/>
              </a:rPr>
              <a:t>转发。此处子接口</a:t>
            </a:r>
            <a:r>
              <a:rPr lang="en-US" altLang="zh-CN" sz="1400" dirty="0">
                <a:sym typeface="Huawei Sans" panose="020C0503030203020204" pitchFamily="34" charset="0"/>
              </a:rPr>
              <a:t>ID</a:t>
            </a:r>
            <a:r>
              <a:rPr lang="zh-CN" altLang="en-US" sz="1400" dirty="0">
                <a:sym typeface="Huawei Sans" panose="020C0503030203020204" pitchFamily="34" charset="0"/>
              </a:rPr>
              <a:t>为</a:t>
            </a:r>
            <a:r>
              <a:rPr lang="en-US" altLang="zh-CN" sz="1400" i="1" dirty="0"/>
              <a:t>Eth-Trunk10.1</a:t>
            </a:r>
            <a:r>
              <a:rPr lang="en-US" altLang="zh-CN" sz="1400" dirty="0"/>
              <a:t> 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fontAlgn="auto">
              <a:lnSpc>
                <a:spcPts val="2400"/>
              </a:lnSpc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rewrite pop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{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single | double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}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，对接收的报文进行剥除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 Tag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操作。如果二层子接口接收的报文携带一层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 Tag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，选择参数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single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，将报文中的一层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 Tag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剥除。如果上一个步骤已经配置了流封装类型是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qinq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，则选择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double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参数，用来指定对接收的报文进行剥除两层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VLAN Tag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操作。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Eth-Trunk</a:t>
            </a:r>
            <a:r>
              <a:rPr lang="zh-CN" altLang="en-US" dirty="0"/>
              <a:t>子接口接入</a:t>
            </a:r>
            <a:r>
              <a:rPr lang="en-US" altLang="zh-CN" dirty="0"/>
              <a:t>BD EVPN</a:t>
            </a:r>
            <a:r>
              <a:rPr lang="zh-CN" altLang="en-US" dirty="0"/>
              <a:t>示例 </a:t>
            </a:r>
            <a:r>
              <a:rPr lang="en-US" altLang="zh-CN" dirty="0"/>
              <a:t>(</a:t>
            </a:r>
            <a:r>
              <a:rPr lang="zh-CN" altLang="en-US" dirty="0"/>
              <a:t>双归双活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40" name="矩形 39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2" name="直接连接符 11"/>
            <p:cNvCxnSpPr>
              <a:stCxn id="3" idx="3"/>
              <a:endCxn id="4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9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9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9" idx="3"/>
              <a:endCxn id="7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31" name="组合 30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8" name="文本框 27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0" name="文本框 2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44" name="文本框 43"/>
          <p:cNvSpPr txBox="1"/>
          <p:nvPr/>
        </p:nvSpPr>
        <p:spPr bwMode="gray">
          <a:xfrm>
            <a:off x="436044" y="3588311"/>
            <a:ext cx="5653086" cy="26124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02260" indent="-302260" defTabSz="913765" fontAlgn="base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654685" lvl="1" indent="-252095" defTabSz="913765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base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base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base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zh-CN" altLang="en-US" dirty="0"/>
              <a:t>在网络中配置</a:t>
            </a:r>
            <a:r>
              <a:rPr lang="en-US" altLang="zh-CN" dirty="0"/>
              <a:t>EVPN</a:t>
            </a:r>
            <a:r>
              <a:rPr lang="zh-CN" altLang="en-US" dirty="0"/>
              <a:t>功能，实现二层流量互访：</a:t>
            </a:r>
            <a:endParaRPr lang="en-US" altLang="zh-CN" dirty="0"/>
          </a:p>
          <a:p>
            <a:pPr lvl="1"/>
            <a:r>
              <a:rPr lang="en-US" altLang="zh-CN" dirty="0"/>
              <a:t>CE1</a:t>
            </a:r>
            <a:r>
              <a:rPr lang="zh-CN" altLang="en-US" dirty="0"/>
              <a:t>双归属到</a:t>
            </a:r>
            <a:r>
              <a:rPr lang="en-US" altLang="zh-CN" dirty="0"/>
              <a:t>PE1</a:t>
            </a:r>
            <a:r>
              <a:rPr lang="zh-CN" altLang="en-US" dirty="0"/>
              <a:t>和</a:t>
            </a:r>
            <a:r>
              <a:rPr lang="en-US" altLang="zh-CN" dirty="0"/>
              <a:t>PE2</a:t>
            </a:r>
            <a:r>
              <a:rPr lang="zh-CN" altLang="en-US" dirty="0"/>
              <a:t>，通过</a:t>
            </a:r>
            <a:r>
              <a:rPr lang="en-US" altLang="zh-CN" dirty="0"/>
              <a:t>E-Trunk</a:t>
            </a:r>
            <a:r>
              <a:rPr lang="zh-CN" altLang="en-US" dirty="0"/>
              <a:t>来实现双活。</a:t>
            </a:r>
            <a:endParaRPr lang="en-US" altLang="zh-CN" dirty="0"/>
          </a:p>
          <a:p>
            <a:pPr lvl="1"/>
            <a:r>
              <a:rPr lang="en-US" altLang="zh-CN" dirty="0"/>
              <a:t>CE1</a:t>
            </a:r>
            <a:r>
              <a:rPr lang="zh-CN" altLang="en-US" dirty="0"/>
              <a:t>的</a:t>
            </a:r>
            <a:r>
              <a:rPr lang="en-US" altLang="zh-CN" dirty="0"/>
              <a:t>ESI</a:t>
            </a:r>
            <a:r>
              <a:rPr lang="zh-CN" altLang="en-US" dirty="0"/>
              <a:t>为</a:t>
            </a:r>
            <a:r>
              <a:rPr lang="en-US" altLang="zh-CN" dirty="0"/>
              <a:t>0000.1111.2222.1111.1111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CE1</a:t>
            </a:r>
            <a:r>
              <a:rPr lang="zh-CN" altLang="en-US" dirty="0"/>
              <a:t>和</a:t>
            </a:r>
            <a:r>
              <a:rPr lang="en-US" altLang="zh-CN" dirty="0"/>
              <a:t>CE2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地址分别为</a:t>
            </a:r>
            <a:r>
              <a:rPr lang="en-US" altLang="zh-CN" dirty="0"/>
              <a:t>192.168.1.1/24</a:t>
            </a:r>
            <a:r>
              <a:rPr lang="zh-CN" altLang="en-US" dirty="0"/>
              <a:t>、</a:t>
            </a:r>
            <a:r>
              <a:rPr lang="en-US" altLang="zh-CN" dirty="0"/>
              <a:t>192.168.1.2/24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EVPN</a:t>
            </a:r>
            <a:r>
              <a:rPr lang="zh-CN" altLang="en-US" dirty="0"/>
              <a:t>实例名称</a:t>
            </a:r>
            <a:r>
              <a:rPr lang="en-US" altLang="zh-CN" dirty="0" err="1"/>
              <a:t>evpna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各个</a:t>
            </a:r>
            <a:r>
              <a:rPr lang="en-US" altLang="zh-CN" dirty="0"/>
              <a:t>PE</a:t>
            </a:r>
            <a:r>
              <a:rPr lang="zh-CN" altLang="en-US" dirty="0"/>
              <a:t>的</a:t>
            </a:r>
            <a:r>
              <a:rPr lang="en-US" altLang="zh-CN" dirty="0"/>
              <a:t>EVPN</a:t>
            </a:r>
            <a:r>
              <a:rPr lang="zh-CN" altLang="en-US" dirty="0"/>
              <a:t>实例</a:t>
            </a:r>
            <a:r>
              <a:rPr lang="en-US" altLang="zh-CN" dirty="0" err="1"/>
              <a:t>evpna</a:t>
            </a:r>
            <a:r>
              <a:rPr lang="zh-CN" altLang="en-US" dirty="0"/>
              <a:t>的</a:t>
            </a:r>
            <a:r>
              <a:rPr lang="en-US" altLang="zh-CN" dirty="0"/>
              <a:t>RD</a:t>
            </a:r>
            <a:r>
              <a:rPr lang="zh-CN" altLang="en-US" dirty="0"/>
              <a:t>值分别为</a:t>
            </a:r>
            <a:r>
              <a:rPr lang="en-US" altLang="zh-CN" dirty="0"/>
              <a:t>100:1</a:t>
            </a:r>
            <a:r>
              <a:rPr lang="zh-CN" altLang="en-US" dirty="0"/>
              <a:t>、</a:t>
            </a:r>
            <a:r>
              <a:rPr lang="en-US" altLang="zh-CN" dirty="0"/>
              <a:t>200:1</a:t>
            </a:r>
            <a:r>
              <a:rPr lang="zh-CN" altLang="en-US" dirty="0"/>
              <a:t>、</a:t>
            </a:r>
            <a:r>
              <a:rPr lang="en-US" altLang="zh-CN" dirty="0"/>
              <a:t>300:1</a:t>
            </a:r>
            <a:r>
              <a:rPr lang="zh-CN" altLang="en-US" dirty="0"/>
              <a:t>，</a:t>
            </a:r>
            <a:r>
              <a:rPr lang="en-US" altLang="zh-CN" dirty="0"/>
              <a:t>RT</a:t>
            </a:r>
            <a:r>
              <a:rPr lang="zh-CN" altLang="en-US" dirty="0"/>
              <a:t>值均为</a:t>
            </a:r>
            <a:r>
              <a:rPr lang="en-US" altLang="zh-CN" dirty="0"/>
              <a:t>1:1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6096000" y="1449388"/>
            <a:ext cx="5638207" cy="4879805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ym typeface="Huawei Sans" panose="020C0503030203020204" pitchFamily="34" charset="0"/>
              </a:rPr>
              <a:t>配置思路：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 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上的</a:t>
            </a:r>
            <a:r>
              <a:rPr lang="en-US" altLang="zh-CN" sz="1400" dirty="0">
                <a:sym typeface="Huawei Sans" panose="020C0503030203020204" pitchFamily="34" charset="0"/>
              </a:rPr>
              <a:t>BD EVPN</a:t>
            </a:r>
            <a:r>
              <a:rPr lang="zh-CN" altLang="en-US" sz="1400" dirty="0">
                <a:sym typeface="Huawei Sans" panose="020C0503030203020204" pitchFamily="34" charset="0"/>
              </a:rPr>
              <a:t>实例。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ym typeface="Huawei Sans" panose="020C0503030203020204" pitchFamily="34" charset="0"/>
              </a:rPr>
              <a:t>ESI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E-Trunk</a:t>
            </a:r>
            <a:r>
              <a:rPr lang="zh-CN" altLang="en-US" sz="1400" dirty="0">
                <a:sym typeface="Huawei Sans" panose="020C0503030203020204" pitchFamily="34" charset="0"/>
              </a:rPr>
              <a:t>功能实现双归双活。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配置本端、远端</a:t>
            </a:r>
            <a:r>
              <a:rPr lang="en-US" altLang="zh-CN" sz="1400" dirty="0">
                <a:sym typeface="Huawei Sans" panose="020C0503030203020204" pitchFamily="34" charset="0"/>
              </a:rPr>
              <a:t>MAC</a:t>
            </a:r>
            <a:r>
              <a:rPr lang="zh-CN" altLang="en-US" sz="1400" dirty="0">
                <a:sym typeface="Huawei Sans" panose="020C0503030203020204" pitchFamily="34" charset="0"/>
              </a:rPr>
              <a:t>路由快速重路由功能。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配置建立</a:t>
            </a:r>
            <a:r>
              <a:rPr lang="en-US" altLang="zh-CN" sz="1400" dirty="0">
                <a:sym typeface="Huawei Sans" panose="020C0503030203020204" pitchFamily="34" charset="0"/>
              </a:rPr>
              <a:t>BGP EVPN</a:t>
            </a:r>
            <a:r>
              <a:rPr lang="zh-CN" altLang="en-US" sz="1400" dirty="0">
                <a:sym typeface="Huawei Sans" panose="020C0503030203020204" pitchFamily="34" charset="0"/>
              </a:rPr>
              <a:t>对等体关系。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ym typeface="Huawei Sans" panose="020C0503030203020204" pitchFamily="34" charset="0"/>
              </a:rPr>
              <a:t>Eth-Trunk</a:t>
            </a:r>
            <a:r>
              <a:rPr lang="zh-CN" altLang="en-US" sz="1400" dirty="0">
                <a:sym typeface="Huawei Sans" panose="020C0503030203020204" pitchFamily="34" charset="0"/>
              </a:rPr>
              <a:t>接口接入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配置结果验证。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Eth-Trunk</a:t>
            </a:r>
            <a:r>
              <a:rPr lang="zh-CN" altLang="en-US" dirty="0"/>
              <a:t>子接口接入</a:t>
            </a:r>
            <a:r>
              <a:rPr lang="en-US" altLang="zh-CN" dirty="0"/>
              <a:t>BD EVPN</a:t>
            </a:r>
            <a:r>
              <a:rPr lang="zh-CN" altLang="en-US" dirty="0"/>
              <a:t>示例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40" name="矩形 39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2" name="直接连接符 11"/>
            <p:cNvCxnSpPr>
              <a:stCxn id="3" idx="3"/>
              <a:endCxn id="4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9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9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9" idx="3"/>
              <a:endCxn id="7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31" name="组合 30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8" name="文本框 27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0" name="文本框 2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45" name="文本占位符 4"/>
          <p:cNvSpPr txBox="1"/>
          <p:nvPr/>
        </p:nvSpPr>
        <p:spPr bwMode="gray">
          <a:xfrm>
            <a:off x="442913" y="3610114"/>
            <a:ext cx="5638207" cy="259066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ym typeface="Huawei Sans" panose="020C0503030203020204" pitchFamily="34" charset="0"/>
              </a:rPr>
              <a:t>配置</a:t>
            </a:r>
            <a:r>
              <a:rPr lang="en-US" altLang="zh-CN" sz="1600" b="1" dirty="0">
                <a:sym typeface="Huawei Sans" panose="020C0503030203020204" pitchFamily="34" charset="0"/>
              </a:rPr>
              <a:t>PE</a:t>
            </a:r>
            <a:r>
              <a:rPr lang="zh-CN" altLang="en-US" sz="1600" b="1" dirty="0">
                <a:sym typeface="Huawei Sans" panose="020C0503030203020204" pitchFamily="34" charset="0"/>
              </a:rPr>
              <a:t>上的</a:t>
            </a:r>
            <a:r>
              <a:rPr lang="en-US" altLang="zh-CN" sz="1600" b="1" dirty="0">
                <a:sym typeface="Huawei Sans" panose="020C0503030203020204" pitchFamily="34" charset="0"/>
              </a:rPr>
              <a:t>BD EVPN</a:t>
            </a:r>
            <a:r>
              <a:rPr lang="zh-CN" altLang="en-US" sz="1600" b="1" dirty="0">
                <a:sym typeface="Huawei Sans" panose="020C0503030203020204" pitchFamily="34" charset="0"/>
              </a:rPr>
              <a:t>实例。</a:t>
            </a:r>
            <a:endParaRPr lang="zh-CN" altLang="en-US" sz="1600" b="1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ESI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功能实现双归双活。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配置本端、远端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路由快速重路由功能。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Eth-Trunk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接口接入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149970" y="2364331"/>
            <a:ext cx="5599117" cy="1815882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[~PE1]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vpn-instance </a:t>
            </a:r>
            <a:r>
              <a:rPr lang="en-US" altLang="zh-CN" sz="1400" dirty="0" err="1"/>
              <a:t>evpna</a:t>
            </a:r>
            <a:r>
              <a:rPr lang="en-US" altLang="zh-CN" sz="1400" dirty="0"/>
              <a:t> </a:t>
            </a:r>
            <a:r>
              <a:rPr lang="en-US" altLang="zh-CN" sz="1400" dirty="0" err="1"/>
              <a:t>bd</a:t>
            </a:r>
            <a:r>
              <a:rPr lang="en-US" altLang="zh-CN" sz="1400" dirty="0"/>
              <a:t>-mode</a:t>
            </a:r>
            <a:endParaRPr lang="en-US" altLang="zh-CN" sz="1400" dirty="0"/>
          </a:p>
          <a:p>
            <a:r>
              <a:rPr lang="en-US" altLang="zh-CN" sz="1400" dirty="0"/>
              <a:t>[*PE1-evpn-instance-evpna] route-distinguisher 100:1</a:t>
            </a:r>
            <a:endParaRPr lang="en-US" altLang="zh-CN" sz="1400" dirty="0"/>
          </a:p>
          <a:p>
            <a:r>
              <a:rPr lang="en-US" altLang="zh-CN" sz="1400" dirty="0"/>
              <a:t>[*PE1-evpn-instance-evpna] vpn-target 1:1</a:t>
            </a:r>
            <a:endParaRPr lang="en-US" altLang="zh-CN" sz="1400" dirty="0"/>
          </a:p>
          <a:p>
            <a:r>
              <a:rPr lang="en-US" altLang="zh-CN" sz="1400" dirty="0"/>
              <a:t>[*PE1-evpn-instance-evpna] quit</a:t>
            </a:r>
            <a:endParaRPr lang="en-US" altLang="zh-CN" sz="1400" dirty="0"/>
          </a:p>
          <a:p>
            <a:r>
              <a:rPr lang="en-US" altLang="zh-CN" sz="1400" dirty="0"/>
              <a:t>[*PE1] bridge-domain 10</a:t>
            </a:r>
            <a:endParaRPr lang="en-US" altLang="zh-CN" sz="1400" dirty="0"/>
          </a:p>
          <a:p>
            <a:r>
              <a:rPr lang="en-US" altLang="zh-CN" sz="1400" dirty="0"/>
              <a:t>[*PE1-bd10]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binding vpn-instance </a:t>
            </a:r>
            <a:r>
              <a:rPr lang="en-US" altLang="zh-CN" sz="1400" dirty="0" err="1"/>
              <a:t>evpna</a:t>
            </a:r>
            <a:endParaRPr lang="en-US" altLang="zh-CN" sz="1400" dirty="0"/>
          </a:p>
          <a:p>
            <a:r>
              <a:rPr lang="en-US" altLang="zh-CN" sz="1400" dirty="0"/>
              <a:t>[*PE1-bd10] quit</a:t>
            </a:r>
            <a:endParaRPr lang="en-US" altLang="zh-CN" sz="1400" dirty="0"/>
          </a:p>
          <a:p>
            <a:r>
              <a:rPr lang="en-US" altLang="zh-CN" sz="1400" dirty="0"/>
              <a:t>[*PE1] commit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6049272" y="1962303"/>
            <a:ext cx="332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以</a:t>
            </a:r>
            <a:r>
              <a:rPr lang="en-US" altLang="zh-CN" sz="1600" dirty="0"/>
              <a:t>PE1</a:t>
            </a:r>
            <a:r>
              <a:rPr lang="zh-CN" altLang="en-US" sz="1600" dirty="0"/>
              <a:t>为例配置</a:t>
            </a:r>
            <a:r>
              <a:rPr lang="en-US" altLang="zh-CN" sz="1600" dirty="0"/>
              <a:t>PE</a:t>
            </a:r>
            <a:r>
              <a:rPr lang="zh-CN" altLang="en-US" sz="1600" dirty="0"/>
              <a:t>上的</a:t>
            </a:r>
            <a:r>
              <a:rPr lang="en-US" altLang="zh-CN" sz="1600" dirty="0"/>
              <a:t>EVPN</a:t>
            </a:r>
            <a:r>
              <a:rPr lang="zh-CN" altLang="en-US" sz="1600" dirty="0"/>
              <a:t>实例。</a:t>
            </a:r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 bwMode="gray">
          <a:xfrm>
            <a:off x="6049272" y="4246075"/>
            <a:ext cx="3015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以</a:t>
            </a:r>
            <a:r>
              <a:rPr lang="en-US" altLang="zh-CN" sz="1600" dirty="0"/>
              <a:t>PE1</a:t>
            </a:r>
            <a:r>
              <a:rPr lang="zh-CN" altLang="en-US" sz="1600" dirty="0"/>
              <a:t>为例配置</a:t>
            </a:r>
            <a:r>
              <a:rPr lang="en-US" altLang="zh-CN" sz="1600" dirty="0"/>
              <a:t>PE</a:t>
            </a:r>
            <a:r>
              <a:rPr lang="zh-CN" altLang="en-US" sz="1600" dirty="0"/>
              <a:t>上的源地址。</a:t>
            </a:r>
            <a:endParaRPr lang="zh-CN" altLang="en-US" sz="1600" dirty="0"/>
          </a:p>
        </p:txBody>
      </p:sp>
      <p:sp>
        <p:nvSpPr>
          <p:cNvPr id="47" name="文本框 46"/>
          <p:cNvSpPr txBox="1"/>
          <p:nvPr/>
        </p:nvSpPr>
        <p:spPr bwMode="gray">
          <a:xfrm>
            <a:off x="6149970" y="4584629"/>
            <a:ext cx="5599117" cy="523220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[~PE1]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source-address 1.1.1.1 </a:t>
            </a:r>
            <a:endParaRPr lang="en-US" altLang="zh-CN" sz="1400" dirty="0"/>
          </a:p>
          <a:p>
            <a:r>
              <a:rPr lang="en-US" altLang="zh-CN" sz="1400" dirty="0"/>
              <a:t>[*PE1] commit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Eth-Trunk</a:t>
            </a:r>
            <a:r>
              <a:rPr lang="zh-CN" altLang="en-US" dirty="0"/>
              <a:t>子接口接入</a:t>
            </a:r>
            <a:r>
              <a:rPr lang="en-US" altLang="zh-CN" dirty="0"/>
              <a:t>BD EVPN</a:t>
            </a:r>
            <a:r>
              <a:rPr lang="zh-CN" altLang="en-US" dirty="0"/>
              <a:t>示例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40" name="矩形 39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2" name="直接连接符 11"/>
            <p:cNvCxnSpPr>
              <a:stCxn id="3" idx="3"/>
              <a:endCxn id="4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9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9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9" idx="3"/>
              <a:endCxn id="7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31" name="组合 30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8" name="文本框 27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0" name="文本框 2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45" name="文本占位符 4"/>
          <p:cNvSpPr txBox="1"/>
          <p:nvPr/>
        </p:nvSpPr>
        <p:spPr bwMode="gray">
          <a:xfrm>
            <a:off x="442913" y="3610114"/>
            <a:ext cx="5638207" cy="259066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BD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b="1" dirty="0">
                <a:sym typeface="Huawei Sans" panose="020C0503030203020204" pitchFamily="34" charset="0"/>
              </a:rPr>
              <a:t>配置</a:t>
            </a:r>
            <a:r>
              <a:rPr lang="en-US" altLang="zh-CN" sz="1600" b="1" dirty="0">
                <a:sym typeface="Huawei Sans" panose="020C0503030203020204" pitchFamily="34" charset="0"/>
              </a:rPr>
              <a:t>ESI</a:t>
            </a:r>
            <a:r>
              <a:rPr lang="zh-CN" altLang="en-US" sz="1600" b="1" dirty="0">
                <a:sym typeface="Huawei Sans" panose="020C0503030203020204" pitchFamily="34" charset="0"/>
              </a:rPr>
              <a:t>和</a:t>
            </a:r>
            <a:r>
              <a:rPr lang="en-US" altLang="zh-CN" sz="1600" b="1" dirty="0">
                <a:sym typeface="Huawei Sans" panose="020C0503030203020204" pitchFamily="34" charset="0"/>
              </a:rPr>
              <a:t>E-Trunk</a:t>
            </a:r>
            <a:r>
              <a:rPr lang="zh-CN" altLang="en-US" sz="1600" b="1" dirty="0">
                <a:sym typeface="Huawei Sans" panose="020C0503030203020204" pitchFamily="34" charset="0"/>
              </a:rPr>
              <a:t>功能实现双归双活。</a:t>
            </a:r>
            <a:endParaRPr lang="zh-CN" altLang="en-US" sz="1600" b="1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配置本端、远端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路由快速重路由功能。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Eth-Trunk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接口接入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157693" y="1419938"/>
            <a:ext cx="5599117" cy="4401205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[~PE1] </a:t>
            </a:r>
            <a:r>
              <a:rPr lang="en-US" altLang="zh-CN" sz="1400" b="1" dirty="0" err="1"/>
              <a:t>lacp</a:t>
            </a:r>
            <a:r>
              <a:rPr lang="en-US" altLang="zh-CN" sz="1400" b="1" dirty="0"/>
              <a:t> e-trunk system-id 00e0-fc00-0000</a:t>
            </a:r>
            <a:endParaRPr lang="en-US" altLang="zh-CN" sz="1400" b="1" dirty="0"/>
          </a:p>
          <a:p>
            <a:r>
              <a:rPr lang="en-US" altLang="zh-CN" sz="1400" dirty="0"/>
              <a:t>[*PE1] </a:t>
            </a:r>
            <a:r>
              <a:rPr lang="en-US" altLang="zh-CN" sz="1400" dirty="0" err="1"/>
              <a:t>lacp</a:t>
            </a:r>
            <a:r>
              <a:rPr lang="en-US" altLang="zh-CN" sz="1400" dirty="0"/>
              <a:t> e-trunk priority 1</a:t>
            </a:r>
            <a:endParaRPr lang="en-US" altLang="zh-CN" sz="1400" dirty="0"/>
          </a:p>
          <a:p>
            <a:r>
              <a:rPr lang="en-US" altLang="zh-CN" sz="1400" dirty="0"/>
              <a:t>[*PE1] e-trunk 1</a:t>
            </a:r>
            <a:endParaRPr lang="en-US" altLang="zh-CN" sz="1400" dirty="0"/>
          </a:p>
          <a:p>
            <a:r>
              <a:rPr lang="en-US" altLang="zh-CN" sz="1400" dirty="0"/>
              <a:t>[*PE1-e-trunk-1] peer-address 2.2.2.2  source-address 1.1.1.1</a:t>
            </a:r>
            <a:endParaRPr lang="en-US" altLang="zh-CN" sz="1400" dirty="0"/>
          </a:p>
          <a:p>
            <a:r>
              <a:rPr lang="en-US" altLang="zh-CN" sz="1400" dirty="0"/>
              <a:t>[*PE1-e-trunk-1] quit</a:t>
            </a:r>
            <a:endParaRPr lang="en-US" altLang="zh-CN" sz="1400" dirty="0"/>
          </a:p>
          <a:p>
            <a:r>
              <a:rPr lang="en-US" altLang="zh-CN" sz="1400" dirty="0"/>
              <a:t>[*PE1] interface eth-trunk 10</a:t>
            </a:r>
            <a:endParaRPr lang="en-US" altLang="zh-CN" sz="1400" dirty="0"/>
          </a:p>
          <a:p>
            <a:r>
              <a:rPr lang="en-US" altLang="zh-CN" sz="1400" dirty="0"/>
              <a:t>[*PE1-Eth-Trunk10] mode </a:t>
            </a:r>
            <a:r>
              <a:rPr lang="en-US" altLang="zh-CN" sz="1400" dirty="0" err="1"/>
              <a:t>lacp</a:t>
            </a:r>
            <a:r>
              <a:rPr lang="en-US" altLang="zh-CN" sz="1400" dirty="0"/>
              <a:t>-static</a:t>
            </a:r>
            <a:endParaRPr lang="en-US" altLang="zh-CN" sz="1400" dirty="0"/>
          </a:p>
          <a:p>
            <a:r>
              <a:rPr lang="en-US" altLang="zh-CN" sz="1400" dirty="0"/>
              <a:t>[*PE1-Eth-Trunk10] e-trunk 1</a:t>
            </a:r>
            <a:endParaRPr lang="en-US" altLang="zh-CN" sz="1400" dirty="0"/>
          </a:p>
          <a:p>
            <a:r>
              <a:rPr lang="en-US" altLang="zh-CN" sz="1400" dirty="0"/>
              <a:t>[*PE1-Eth-Trunk10] e-trunk mode force-master</a:t>
            </a:r>
            <a:endParaRPr lang="en-US" altLang="zh-CN" sz="1400" dirty="0"/>
          </a:p>
          <a:p>
            <a:r>
              <a:rPr lang="en-US" altLang="zh-CN" sz="1400" dirty="0"/>
              <a:t>[*PE1-Eth-Trunk10] </a:t>
            </a:r>
            <a:r>
              <a:rPr lang="en-US" altLang="zh-CN" sz="1400" b="1" dirty="0" err="1"/>
              <a:t>esi</a:t>
            </a:r>
            <a:r>
              <a:rPr lang="en-US" altLang="zh-CN" sz="1400" b="1" dirty="0"/>
              <a:t> 0000.1111.2222.1111.1111</a:t>
            </a:r>
            <a:endParaRPr lang="en-US" altLang="zh-CN" sz="1400" b="1" dirty="0"/>
          </a:p>
          <a:p>
            <a:r>
              <a:rPr lang="en-US" altLang="zh-CN" sz="1400" dirty="0"/>
              <a:t>[*PE1-Eth-Trunk10] quit</a:t>
            </a:r>
            <a:endParaRPr lang="en-US" altLang="zh-CN" sz="1400" dirty="0"/>
          </a:p>
          <a:p>
            <a:r>
              <a:rPr lang="en-US" altLang="zh-CN" sz="1400" dirty="0"/>
              <a:t>[*PE1] interface eth-trunk 10.1 mode l2</a:t>
            </a:r>
            <a:endParaRPr lang="en-US" altLang="zh-CN" sz="1400" dirty="0"/>
          </a:p>
          <a:p>
            <a:r>
              <a:rPr lang="en-US" altLang="zh-CN" sz="1400" dirty="0"/>
              <a:t>[*PE1-Eth-Trunk10.1] encapsulation dot1q vid 2</a:t>
            </a:r>
            <a:endParaRPr lang="en-US" altLang="zh-CN" sz="1400" dirty="0"/>
          </a:p>
          <a:p>
            <a:r>
              <a:rPr lang="en-US" altLang="zh-CN" sz="1400" dirty="0"/>
              <a:t>[*PE1-Eth-Trunk10.1] rewrite pop single</a:t>
            </a:r>
            <a:endParaRPr lang="en-US" altLang="zh-CN" sz="1400" dirty="0"/>
          </a:p>
          <a:p>
            <a:r>
              <a:rPr lang="en-US" altLang="zh-CN" sz="1400" dirty="0"/>
              <a:t>[*PE1-Eth-Trunk10.1] bridge-domain 10</a:t>
            </a:r>
            <a:endParaRPr lang="en-US" altLang="zh-CN" sz="1400" dirty="0"/>
          </a:p>
          <a:p>
            <a:r>
              <a:rPr lang="en-US" altLang="zh-CN" sz="1400" dirty="0"/>
              <a:t>[*PE1-Eth-Trunk10.1] quit</a:t>
            </a:r>
            <a:endParaRPr lang="en-US" altLang="zh-CN" sz="1400" dirty="0"/>
          </a:p>
          <a:p>
            <a:r>
              <a:rPr lang="en-US" altLang="zh-CN" sz="1400" dirty="0"/>
              <a:t>[*PE1] interface </a:t>
            </a:r>
            <a:r>
              <a:rPr lang="en-US" altLang="zh-CN" sz="1400" dirty="0" err="1"/>
              <a:t>gigabitethernet</a:t>
            </a:r>
            <a:r>
              <a:rPr lang="en-US" altLang="zh-CN" sz="1400" dirty="0"/>
              <a:t> 0/1/0</a:t>
            </a:r>
            <a:endParaRPr lang="en-US" altLang="zh-CN" sz="1400" dirty="0"/>
          </a:p>
          <a:p>
            <a:r>
              <a:rPr lang="en-US" altLang="zh-CN" sz="1400" dirty="0"/>
              <a:t>[*PE1-GigabitEthernet0/1/0] eth-trunk 10</a:t>
            </a:r>
            <a:endParaRPr lang="en-US" altLang="zh-CN" sz="1400" dirty="0"/>
          </a:p>
          <a:p>
            <a:r>
              <a:rPr lang="en-US" altLang="zh-CN" sz="1400" dirty="0"/>
              <a:t>[*PE1-GigabitEthernet0/1/0] quit</a:t>
            </a:r>
            <a:endParaRPr lang="en-US" altLang="zh-CN" sz="1400" dirty="0"/>
          </a:p>
          <a:p>
            <a:r>
              <a:rPr lang="en-US" altLang="zh-CN" sz="1400" dirty="0"/>
              <a:t>[*PE1] commit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6081120" y="1128902"/>
            <a:ext cx="4620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以</a:t>
            </a:r>
            <a:r>
              <a:rPr lang="en-US" altLang="zh-CN" sz="1600" dirty="0"/>
              <a:t>PE1</a:t>
            </a:r>
            <a:r>
              <a:rPr lang="zh-CN" altLang="en-US" sz="1600" dirty="0"/>
              <a:t>为例配置</a:t>
            </a:r>
            <a:r>
              <a:rPr lang="en-US" altLang="zh-CN" sz="1600" dirty="0"/>
              <a:t>ESI</a:t>
            </a:r>
            <a:r>
              <a:rPr lang="zh-CN" altLang="en-US" sz="1600" dirty="0"/>
              <a:t>和</a:t>
            </a:r>
            <a:r>
              <a:rPr lang="en-US" altLang="zh-CN" sz="1600" dirty="0"/>
              <a:t>E-Trunk</a:t>
            </a:r>
            <a:r>
              <a:rPr lang="zh-CN" altLang="en-US" sz="1600" dirty="0"/>
              <a:t>功能实现双归双活。</a:t>
            </a:r>
            <a:endParaRPr lang="zh-CN" altLang="en-US" sz="1600" dirty="0"/>
          </a:p>
        </p:txBody>
      </p:sp>
      <p:sp>
        <p:nvSpPr>
          <p:cNvPr id="10" name="文本框 9"/>
          <p:cNvSpPr txBox="1"/>
          <p:nvPr/>
        </p:nvSpPr>
        <p:spPr bwMode="gray">
          <a:xfrm>
            <a:off x="6157693" y="5837322"/>
            <a:ext cx="4027064" cy="338554"/>
          </a:xfrm>
          <a:prstGeom prst="rect">
            <a:avLst/>
          </a:prstGeom>
          <a:solidFill>
            <a:srgbClr val="BEE9EE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/>
              <a:t>PE2</a:t>
            </a:r>
            <a:r>
              <a:rPr lang="zh-CN" altLang="en-US" sz="1600" dirty="0"/>
              <a:t>的</a:t>
            </a:r>
            <a:r>
              <a:rPr lang="en-US" altLang="zh-CN" sz="1600" dirty="0"/>
              <a:t>E-Trunk System-id</a:t>
            </a:r>
            <a:r>
              <a:rPr lang="zh-CN" altLang="en-US" sz="1600" dirty="0"/>
              <a:t>需要和</a:t>
            </a:r>
            <a:r>
              <a:rPr lang="en-US" altLang="zh-CN" sz="1600" dirty="0"/>
              <a:t>PE1</a:t>
            </a:r>
            <a:r>
              <a:rPr lang="zh-CN" altLang="en-US" sz="1600" dirty="0"/>
              <a:t>一致。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Eth-Trunk</a:t>
            </a:r>
            <a:r>
              <a:rPr lang="zh-CN" altLang="en-US" dirty="0"/>
              <a:t>子接口接入</a:t>
            </a:r>
            <a:r>
              <a:rPr lang="en-US" altLang="zh-CN" dirty="0"/>
              <a:t>BD EVPN</a:t>
            </a:r>
            <a:r>
              <a:rPr lang="zh-CN" altLang="en-US" dirty="0"/>
              <a:t>示例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40" name="矩形 39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2" name="直接连接符 11"/>
            <p:cNvCxnSpPr>
              <a:stCxn id="3" idx="3"/>
              <a:endCxn id="4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9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9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9" idx="3"/>
              <a:endCxn id="7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31" name="组合 30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8" name="文本框 27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0" name="文本框 2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45" name="文本占位符 4"/>
          <p:cNvSpPr txBox="1"/>
          <p:nvPr/>
        </p:nvSpPr>
        <p:spPr bwMode="gray">
          <a:xfrm>
            <a:off x="442913" y="3610114"/>
            <a:ext cx="5638207" cy="259066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BD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ESI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功能实现双归双活。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b="1" dirty="0">
                <a:sym typeface="Huawei Sans" panose="020C0503030203020204" pitchFamily="34" charset="0"/>
              </a:rPr>
              <a:t>配置本端、远端</a:t>
            </a:r>
            <a:r>
              <a:rPr lang="en-US" altLang="zh-CN" sz="1600" b="1" dirty="0">
                <a:sym typeface="Huawei Sans" panose="020C0503030203020204" pitchFamily="34" charset="0"/>
              </a:rPr>
              <a:t>MAC</a:t>
            </a:r>
            <a:r>
              <a:rPr lang="zh-CN" altLang="en-US" sz="1600" b="1" dirty="0">
                <a:sym typeface="Huawei Sans" panose="020C0503030203020204" pitchFamily="34" charset="0"/>
              </a:rPr>
              <a:t>路由快速重路由功能。</a:t>
            </a:r>
            <a:endParaRPr lang="zh-CN" altLang="en-US" sz="1600" b="1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Eth-Trunk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接口接入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157693" y="2525254"/>
            <a:ext cx="5599117" cy="1384995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[~PE1] </a:t>
            </a:r>
            <a:r>
              <a:rPr lang="en-US" altLang="zh-CN" sz="1400" dirty="0" err="1"/>
              <a:t>evpn</a:t>
            </a:r>
            <a:endParaRPr lang="en-US" altLang="zh-CN" sz="1400" dirty="0"/>
          </a:p>
          <a:p>
            <a:r>
              <a:rPr lang="en-US" altLang="zh-CN" sz="1400" dirty="0"/>
              <a:t>[*PE1-evpn] </a:t>
            </a:r>
            <a:r>
              <a:rPr lang="en-US" altLang="zh-CN" sz="1400" dirty="0" err="1"/>
              <a:t>vlan</a:t>
            </a:r>
            <a:r>
              <a:rPr lang="en-US" altLang="zh-CN" sz="1400" dirty="0"/>
              <a:t>-extend private enable</a:t>
            </a:r>
            <a:endParaRPr lang="en-US" altLang="zh-CN" sz="1400" dirty="0"/>
          </a:p>
          <a:p>
            <a:r>
              <a:rPr lang="en-US" altLang="zh-CN" sz="1400" dirty="0"/>
              <a:t>[*PE1-evpn] </a:t>
            </a:r>
            <a:r>
              <a:rPr lang="en-US" altLang="zh-CN" sz="1400" dirty="0" err="1"/>
              <a:t>vlan</a:t>
            </a:r>
            <a:r>
              <a:rPr lang="en-US" altLang="zh-CN" sz="1400" dirty="0"/>
              <a:t>-extend redirect enable</a:t>
            </a:r>
            <a:endParaRPr lang="en-US" altLang="zh-CN" sz="1400" dirty="0"/>
          </a:p>
          <a:p>
            <a:r>
              <a:rPr lang="en-US" altLang="zh-CN" sz="1400" dirty="0"/>
              <a:t>[*PE1-evpn] local-remote </a:t>
            </a:r>
            <a:r>
              <a:rPr lang="en-US" altLang="zh-CN" sz="1400" dirty="0" err="1"/>
              <a:t>frr</a:t>
            </a:r>
            <a:r>
              <a:rPr lang="en-US" altLang="zh-CN" sz="1400" dirty="0"/>
              <a:t> enable</a:t>
            </a:r>
            <a:endParaRPr lang="en-US" altLang="zh-CN" sz="1400" dirty="0"/>
          </a:p>
          <a:p>
            <a:r>
              <a:rPr lang="en-US" altLang="zh-CN" sz="1400" dirty="0"/>
              <a:t>[*PE1-evpn] quit</a:t>
            </a:r>
            <a:endParaRPr lang="en-US" altLang="zh-CN" sz="1400" dirty="0"/>
          </a:p>
          <a:p>
            <a:r>
              <a:rPr lang="en-US" altLang="zh-CN" sz="1400" dirty="0"/>
              <a:t>[*PE1] commit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6081120" y="2234218"/>
            <a:ext cx="5083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以</a:t>
            </a:r>
            <a:r>
              <a:rPr lang="en-US" altLang="zh-CN" sz="1600" dirty="0"/>
              <a:t>PE1</a:t>
            </a:r>
            <a:r>
              <a:rPr lang="zh-CN" altLang="en-US" sz="1600" dirty="0"/>
              <a:t>为例配置本端、远端</a:t>
            </a:r>
            <a:r>
              <a:rPr lang="en-US" altLang="zh-CN" sz="1600" dirty="0"/>
              <a:t>MAC</a:t>
            </a:r>
            <a:r>
              <a:rPr lang="zh-CN" altLang="en-US" sz="1600" dirty="0"/>
              <a:t>路由快速重路由功能。</a:t>
            </a:r>
            <a:endParaRPr lang="zh-CN" altLang="en-US" sz="1600" dirty="0"/>
          </a:p>
        </p:txBody>
      </p:sp>
      <p:sp>
        <p:nvSpPr>
          <p:cNvPr id="10" name="文本框 9"/>
          <p:cNvSpPr txBox="1"/>
          <p:nvPr/>
        </p:nvSpPr>
        <p:spPr bwMode="gray">
          <a:xfrm>
            <a:off x="6157692" y="3957368"/>
            <a:ext cx="5591395" cy="1323439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CE</a:t>
            </a:r>
            <a:r>
              <a:rPr lang="zh-CN" altLang="en-US" sz="1600" dirty="0"/>
              <a:t>多归场景中，通过</a:t>
            </a:r>
            <a:r>
              <a:rPr lang="en-US" altLang="zh-CN" sz="1600" dirty="0"/>
              <a:t>MAC</a:t>
            </a:r>
            <a:r>
              <a:rPr lang="zh-CN" altLang="en-US" sz="1600" dirty="0"/>
              <a:t>路由重定向功能，可以使连接同一个</a:t>
            </a:r>
            <a:r>
              <a:rPr lang="en-US" altLang="zh-CN" sz="1600" dirty="0"/>
              <a:t>CE</a:t>
            </a:r>
            <a:r>
              <a:rPr lang="zh-CN" altLang="en-US" sz="1600" dirty="0"/>
              <a:t>的</a:t>
            </a:r>
            <a:r>
              <a:rPr lang="en-US" altLang="zh-CN" sz="1600" dirty="0"/>
              <a:t>PE</a:t>
            </a:r>
            <a:r>
              <a:rPr lang="zh-CN" altLang="en-US" sz="1600" dirty="0"/>
              <a:t>设备都将去往该</a:t>
            </a:r>
            <a:r>
              <a:rPr lang="en-US" altLang="zh-CN" sz="1600" dirty="0"/>
              <a:t>CE</a:t>
            </a:r>
            <a:r>
              <a:rPr lang="zh-CN" altLang="en-US" sz="1600" dirty="0"/>
              <a:t>的</a:t>
            </a:r>
            <a:r>
              <a:rPr lang="en-US" altLang="zh-CN" sz="1600" dirty="0"/>
              <a:t>MAC</a:t>
            </a:r>
            <a:r>
              <a:rPr lang="zh-CN" altLang="en-US" sz="1600" dirty="0"/>
              <a:t>路由出接口重定向到本地</a:t>
            </a:r>
            <a:r>
              <a:rPr lang="en-US" altLang="zh-CN" sz="1600" dirty="0"/>
              <a:t>AC</a:t>
            </a:r>
            <a:r>
              <a:rPr lang="zh-CN" altLang="en-US" sz="1600" dirty="0"/>
              <a:t>接口，从而缩短转发路径，提升转发效率。</a:t>
            </a:r>
            <a:endParaRPr lang="en-US" altLang="zh-CN" sz="1600" dirty="0"/>
          </a:p>
          <a:p>
            <a:r>
              <a:rPr lang="zh-CN" altLang="en-US" sz="1600" dirty="0"/>
              <a:t>另外当其中一个</a:t>
            </a:r>
            <a:r>
              <a:rPr lang="en-US" altLang="zh-CN" sz="1600" dirty="0"/>
              <a:t>PE</a:t>
            </a:r>
            <a:r>
              <a:rPr lang="zh-CN" altLang="en-US" sz="1600" dirty="0"/>
              <a:t>上的</a:t>
            </a:r>
            <a:r>
              <a:rPr lang="en-US" altLang="zh-CN" sz="1600" dirty="0"/>
              <a:t>AC</a:t>
            </a:r>
            <a:r>
              <a:rPr lang="zh-CN" altLang="en-US" sz="1600" dirty="0"/>
              <a:t>接口故障时，</a:t>
            </a:r>
            <a:r>
              <a:rPr lang="en-US" altLang="zh-CN" sz="1600" dirty="0"/>
              <a:t>MAC</a:t>
            </a:r>
            <a:r>
              <a:rPr lang="zh-CN" altLang="en-US" sz="1600" dirty="0"/>
              <a:t>路由可以快速重定向出接口，通过另外的多活</a:t>
            </a:r>
            <a:r>
              <a:rPr lang="en-US" altLang="zh-CN" sz="1600" dirty="0"/>
              <a:t>PE</a:t>
            </a:r>
            <a:r>
              <a:rPr lang="zh-CN" altLang="en-US" sz="1600" dirty="0"/>
              <a:t>转发，提升可靠性。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Eth-Trunk</a:t>
            </a:r>
            <a:r>
              <a:rPr lang="zh-CN" altLang="en-US" dirty="0"/>
              <a:t>子接口接入</a:t>
            </a:r>
            <a:r>
              <a:rPr lang="en-US" altLang="zh-CN" dirty="0"/>
              <a:t>BD EVPN</a:t>
            </a:r>
            <a:r>
              <a:rPr lang="zh-CN" altLang="en-US" dirty="0"/>
              <a:t>示例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40" name="矩形 39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2" name="直接连接符 11"/>
            <p:cNvCxnSpPr>
              <a:stCxn id="3" idx="3"/>
              <a:endCxn id="4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9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9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9" idx="3"/>
              <a:endCxn id="7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31" name="组合 30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8" name="文本框 27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0" name="文本框 2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45" name="文本占位符 4"/>
          <p:cNvSpPr txBox="1"/>
          <p:nvPr/>
        </p:nvSpPr>
        <p:spPr bwMode="gray">
          <a:xfrm>
            <a:off x="442913" y="3610114"/>
            <a:ext cx="5638207" cy="259066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BD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ESI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功能实现双归双活。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配置本端、远端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路由快速重路由功能。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b="1" dirty="0">
                <a:sym typeface="Huawei Sans" panose="020C0503030203020204" pitchFamily="34" charset="0"/>
              </a:rPr>
              <a:t>配置建立</a:t>
            </a:r>
            <a:r>
              <a:rPr lang="en-US" altLang="zh-CN" sz="1600" b="1" dirty="0">
                <a:sym typeface="Huawei Sans" panose="020C0503030203020204" pitchFamily="34" charset="0"/>
              </a:rPr>
              <a:t>BGP EVPN</a:t>
            </a:r>
            <a:r>
              <a:rPr lang="zh-CN" altLang="en-US" sz="1600" b="1" dirty="0">
                <a:sym typeface="Huawei Sans" panose="020C0503030203020204" pitchFamily="34" charset="0"/>
              </a:rPr>
              <a:t>对等体关系。</a:t>
            </a:r>
            <a:endParaRPr lang="zh-CN" altLang="en-US" sz="1600" b="1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Eth-Trunk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接口接入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157693" y="2277203"/>
            <a:ext cx="5599117" cy="2462213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[~PE1] </a:t>
            </a:r>
            <a:r>
              <a:rPr lang="en-US" altLang="zh-CN" sz="1400" dirty="0" err="1"/>
              <a:t>bgp</a:t>
            </a:r>
            <a:r>
              <a:rPr lang="en-US" altLang="zh-CN" sz="1400" dirty="0"/>
              <a:t> 100</a:t>
            </a:r>
            <a:endParaRPr lang="en-US" altLang="zh-CN" sz="1400" dirty="0"/>
          </a:p>
          <a:p>
            <a:r>
              <a:rPr lang="en-US" altLang="zh-CN" sz="1400" dirty="0"/>
              <a:t>[*PE1-bgp] peer 10.0.2.2 as-number 100</a:t>
            </a:r>
            <a:endParaRPr lang="en-US" altLang="zh-CN" sz="1400" dirty="0"/>
          </a:p>
          <a:p>
            <a:r>
              <a:rPr lang="en-US" altLang="zh-CN" sz="1400" dirty="0"/>
              <a:t>[*PE1-bgp] peer 10.0.2.2 connect-interface loopback 1</a:t>
            </a:r>
            <a:endParaRPr lang="en-US" altLang="zh-CN" sz="1400" dirty="0"/>
          </a:p>
          <a:p>
            <a:r>
              <a:rPr lang="en-US" altLang="zh-CN" sz="1400" dirty="0"/>
              <a:t>[*PE1-bgp] peer 10.0.3.3 as-number 100</a:t>
            </a:r>
            <a:endParaRPr lang="en-US" altLang="zh-CN" sz="1400" dirty="0"/>
          </a:p>
          <a:p>
            <a:r>
              <a:rPr lang="en-US" altLang="zh-CN" sz="1400" dirty="0"/>
              <a:t>[*PE1-bgp] peer 10.0.3.3 connect-interface loopback 1</a:t>
            </a:r>
            <a:endParaRPr lang="en-US" altLang="zh-CN" sz="1400" dirty="0"/>
          </a:p>
          <a:p>
            <a:r>
              <a:rPr lang="en-US" altLang="zh-CN" sz="1400" dirty="0"/>
              <a:t>[*PE1-bgp] l2vpn-family </a:t>
            </a:r>
            <a:r>
              <a:rPr lang="en-US" altLang="zh-CN" sz="1400" dirty="0" err="1"/>
              <a:t>evpn</a:t>
            </a:r>
            <a:endParaRPr lang="en-US" altLang="zh-CN" sz="1400" dirty="0"/>
          </a:p>
          <a:p>
            <a:r>
              <a:rPr lang="en-US" altLang="zh-CN" sz="1400" dirty="0"/>
              <a:t>[*PE1-bgp-af-evpn] peer 10.0.2.2 enable</a:t>
            </a:r>
            <a:endParaRPr lang="en-US" altLang="zh-CN" sz="1400" dirty="0"/>
          </a:p>
          <a:p>
            <a:r>
              <a:rPr lang="en-US" altLang="zh-CN" sz="1400" dirty="0"/>
              <a:t>[*PE1-bgp-af-evpn] peer 10.0.3.3 enable</a:t>
            </a:r>
            <a:endParaRPr lang="en-US" altLang="zh-CN" sz="1400" dirty="0"/>
          </a:p>
          <a:p>
            <a:r>
              <a:rPr lang="en-US" altLang="zh-CN" sz="1400" dirty="0"/>
              <a:t>[*PE1-bgp-af-evpn] quit</a:t>
            </a:r>
            <a:endParaRPr lang="en-US" altLang="zh-CN" sz="1400" dirty="0"/>
          </a:p>
          <a:p>
            <a:r>
              <a:rPr lang="en-US" altLang="zh-CN" sz="1400" dirty="0"/>
              <a:t>[*PE1-bgp] quit</a:t>
            </a:r>
            <a:endParaRPr lang="en-US" altLang="zh-CN" sz="1400" dirty="0"/>
          </a:p>
          <a:p>
            <a:r>
              <a:rPr lang="en-US" altLang="zh-CN" sz="1400" dirty="0"/>
              <a:t>[*PE1] commit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6081120" y="1986167"/>
            <a:ext cx="4163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以</a:t>
            </a:r>
            <a:r>
              <a:rPr lang="en-US" altLang="zh-CN" sz="1600" dirty="0"/>
              <a:t>PE1</a:t>
            </a:r>
            <a:r>
              <a:rPr lang="zh-CN" altLang="en-US" sz="1600" dirty="0"/>
              <a:t>为例配置建立</a:t>
            </a:r>
            <a:r>
              <a:rPr lang="en-US" altLang="zh-CN" sz="1600" dirty="0"/>
              <a:t>BGP EVPN</a:t>
            </a:r>
            <a:r>
              <a:rPr lang="zh-CN" altLang="en-US" sz="1600" dirty="0"/>
              <a:t>对等体关系。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Eth-Trunk</a:t>
            </a:r>
            <a:r>
              <a:rPr lang="zh-CN" altLang="en-US" dirty="0"/>
              <a:t>子接口接入</a:t>
            </a:r>
            <a:r>
              <a:rPr lang="en-US" altLang="zh-CN" dirty="0"/>
              <a:t>BD EVPN</a:t>
            </a:r>
            <a:r>
              <a:rPr lang="zh-CN" altLang="en-US" dirty="0"/>
              <a:t>示例 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40" name="矩形 39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2" name="直接连接符 11"/>
            <p:cNvCxnSpPr>
              <a:stCxn id="3" idx="3"/>
              <a:endCxn id="4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" idx="3"/>
              <a:endCxn id="5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  <a:endCxn id="9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5" idx="3"/>
              <a:endCxn id="9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9" idx="3"/>
              <a:endCxn id="7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31" name="组合 30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8" name="文本框 27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0" name="文本框 2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45" name="文本占位符 4"/>
          <p:cNvSpPr txBox="1"/>
          <p:nvPr/>
        </p:nvSpPr>
        <p:spPr bwMode="gray">
          <a:xfrm>
            <a:off x="442913" y="3610114"/>
            <a:ext cx="5638207" cy="259066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BD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ESI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E-Trunk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功能实现双归双活。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配置本端、远端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路由快速重路由功能。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600" b="1" dirty="0">
                <a:sym typeface="Huawei Sans" panose="020C0503030203020204" pitchFamily="34" charset="0"/>
              </a:rPr>
              <a:t>配置</a:t>
            </a:r>
            <a:r>
              <a:rPr lang="en-US" altLang="zh-CN" sz="1600" b="1" dirty="0">
                <a:sym typeface="Huawei Sans" panose="020C0503030203020204" pitchFamily="34" charset="0"/>
              </a:rPr>
              <a:t>CE</a:t>
            </a:r>
            <a:r>
              <a:rPr lang="zh-CN" altLang="en-US" sz="1600" b="1" dirty="0">
                <a:sym typeface="Huawei Sans" panose="020C0503030203020204" pitchFamily="34" charset="0"/>
              </a:rPr>
              <a:t>通过</a:t>
            </a:r>
            <a:r>
              <a:rPr lang="en-US" altLang="zh-CN" sz="1600" b="1" dirty="0">
                <a:sym typeface="Huawei Sans" panose="020C0503030203020204" pitchFamily="34" charset="0"/>
              </a:rPr>
              <a:t>Eth-Trunk</a:t>
            </a:r>
            <a:r>
              <a:rPr lang="zh-CN" altLang="en-US" sz="1600" b="1" dirty="0">
                <a:sym typeface="Huawei Sans" panose="020C0503030203020204" pitchFamily="34" charset="0"/>
              </a:rPr>
              <a:t>接口接入</a:t>
            </a:r>
            <a:r>
              <a:rPr lang="en-US" altLang="zh-CN" sz="1600" b="1" dirty="0">
                <a:sym typeface="Huawei Sans" panose="020C0503030203020204" pitchFamily="34" charset="0"/>
              </a:rPr>
              <a:t>PE</a:t>
            </a:r>
            <a:r>
              <a:rPr lang="zh-CN" altLang="en-US" sz="1600" b="1" dirty="0">
                <a:sym typeface="Huawei Sans" panose="020C0503030203020204" pitchFamily="34" charset="0"/>
              </a:rPr>
              <a:t>。</a:t>
            </a:r>
            <a:endParaRPr lang="zh-CN" altLang="en-US" sz="1600" b="1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157693" y="2341611"/>
            <a:ext cx="5599117" cy="3323987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[~CE1] VLAN 2</a:t>
            </a:r>
            <a:endParaRPr lang="en-US" altLang="zh-CN" sz="1400" dirty="0"/>
          </a:p>
          <a:p>
            <a:r>
              <a:rPr lang="en-US" altLang="zh-CN" sz="1400" dirty="0"/>
              <a:t>[*CE1-vlan2] quit</a:t>
            </a:r>
            <a:endParaRPr lang="en-US" altLang="zh-CN" sz="1400" dirty="0"/>
          </a:p>
          <a:p>
            <a:r>
              <a:rPr lang="en-US" altLang="zh-CN" sz="1400" dirty="0"/>
              <a:t>[*CE1] interface Eth-Trunk10</a:t>
            </a:r>
            <a:endParaRPr lang="en-US" altLang="zh-CN" sz="1400" dirty="0"/>
          </a:p>
          <a:p>
            <a:r>
              <a:rPr lang="en-US" altLang="zh-CN" sz="1400" dirty="0"/>
              <a:t>[*CE1-Eth-Trunk10] </a:t>
            </a:r>
            <a:r>
              <a:rPr lang="en-US" altLang="zh-CN" sz="1400" dirty="0" err="1"/>
              <a:t>portswitch</a:t>
            </a:r>
            <a:endParaRPr lang="en-US" altLang="zh-CN" sz="1400" dirty="0"/>
          </a:p>
          <a:p>
            <a:r>
              <a:rPr lang="en-US" altLang="zh-CN" sz="1400" dirty="0"/>
              <a:t>[*CE1-Eth-Trunk10] port link-type trunk</a:t>
            </a:r>
            <a:endParaRPr lang="en-US" altLang="zh-CN" sz="1400" dirty="0"/>
          </a:p>
          <a:p>
            <a:r>
              <a:rPr lang="en-US" altLang="zh-CN" sz="1400" dirty="0"/>
              <a:t>[*CE1-Eth-Trunk10] port trunk allow-pass VLAN 2</a:t>
            </a:r>
            <a:endParaRPr lang="en-US" altLang="zh-CN" sz="1400" dirty="0"/>
          </a:p>
          <a:p>
            <a:r>
              <a:rPr lang="en-US" altLang="zh-CN" sz="1400" dirty="0"/>
              <a:t>[*CE1-Eth-Trunk10] mode </a:t>
            </a:r>
            <a:r>
              <a:rPr lang="en-US" altLang="zh-CN" sz="1400" dirty="0" err="1"/>
              <a:t>lacp</a:t>
            </a:r>
            <a:r>
              <a:rPr lang="en-US" altLang="zh-CN" sz="1400" dirty="0"/>
              <a:t>-static</a:t>
            </a:r>
            <a:endParaRPr lang="en-US" altLang="zh-CN" sz="1400" dirty="0"/>
          </a:p>
          <a:p>
            <a:r>
              <a:rPr lang="en-US" altLang="zh-CN" sz="1400" dirty="0"/>
              <a:t>[*CE1-Eth-Trunk10] quit</a:t>
            </a:r>
            <a:endParaRPr lang="en-US" altLang="zh-CN" sz="1400" dirty="0"/>
          </a:p>
          <a:p>
            <a:r>
              <a:rPr lang="en-US" altLang="zh-CN" sz="1400" dirty="0"/>
              <a:t>[*CE1] interface gigabitethernet0/1/0</a:t>
            </a:r>
            <a:endParaRPr lang="en-US" altLang="zh-CN" sz="1400" dirty="0"/>
          </a:p>
          <a:p>
            <a:r>
              <a:rPr lang="en-US" altLang="zh-CN" sz="1400" dirty="0"/>
              <a:t>[*CE1-GigabitEthernet0/1/0] eth-trunk 10</a:t>
            </a:r>
            <a:endParaRPr lang="en-US" altLang="zh-CN" sz="1400" dirty="0"/>
          </a:p>
          <a:p>
            <a:r>
              <a:rPr lang="en-US" altLang="zh-CN" sz="1400" dirty="0"/>
              <a:t>[*CE1-GigabitEthernet0/1/0] quit</a:t>
            </a:r>
            <a:endParaRPr lang="en-US" altLang="zh-CN" sz="1400" dirty="0"/>
          </a:p>
          <a:p>
            <a:r>
              <a:rPr lang="en-US" altLang="zh-CN" sz="1400" dirty="0"/>
              <a:t>[*CE1] interface gigabitethernet0/2/0</a:t>
            </a:r>
            <a:endParaRPr lang="en-US" altLang="zh-CN" sz="1400" dirty="0"/>
          </a:p>
          <a:p>
            <a:r>
              <a:rPr lang="en-US" altLang="zh-CN" sz="1400" dirty="0"/>
              <a:t>[*CE1-GigabitEthernet0/2/0] eth-trunk 10</a:t>
            </a:r>
            <a:endParaRPr lang="en-US" altLang="zh-CN" sz="1400" dirty="0"/>
          </a:p>
          <a:p>
            <a:r>
              <a:rPr lang="en-US" altLang="zh-CN" sz="1400" dirty="0"/>
              <a:t>[*CE1-GigabitEthernet0/2/0] quit</a:t>
            </a:r>
            <a:endParaRPr lang="en-US" altLang="zh-CN" sz="1400" dirty="0"/>
          </a:p>
          <a:p>
            <a:r>
              <a:rPr lang="en-US" altLang="zh-CN" sz="1400" dirty="0"/>
              <a:t>[*CE1] commit</a:t>
            </a:r>
            <a:endParaRPr lang="en-US" altLang="zh-CN" sz="1400" dirty="0"/>
          </a:p>
        </p:txBody>
      </p:sp>
      <p:sp>
        <p:nvSpPr>
          <p:cNvPr id="8" name="文本框 7"/>
          <p:cNvSpPr txBox="1"/>
          <p:nvPr/>
        </p:nvSpPr>
        <p:spPr bwMode="gray">
          <a:xfrm>
            <a:off x="6081120" y="1986167"/>
            <a:ext cx="4395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以</a:t>
            </a:r>
            <a:r>
              <a:rPr lang="en-US" altLang="zh-CN" sz="1600" dirty="0"/>
              <a:t>CE1</a:t>
            </a:r>
            <a:r>
              <a:rPr lang="zh-CN" altLang="en-US" sz="1600" dirty="0"/>
              <a:t>为例配置</a:t>
            </a:r>
            <a:r>
              <a:rPr lang="en-US" altLang="zh-CN" sz="1600" dirty="0"/>
              <a:t>CE</a:t>
            </a:r>
            <a:r>
              <a:rPr lang="zh-CN" altLang="en-US" sz="1600" dirty="0"/>
              <a:t>通过</a:t>
            </a:r>
            <a:r>
              <a:rPr lang="en-US" altLang="zh-CN" sz="1600" dirty="0"/>
              <a:t>Eth-Trunk</a:t>
            </a:r>
            <a:r>
              <a:rPr lang="zh-CN" altLang="en-US" sz="1600" dirty="0"/>
              <a:t>接口接入</a:t>
            </a:r>
            <a:r>
              <a:rPr lang="en-US" altLang="zh-CN" sz="1600" dirty="0"/>
              <a:t>PE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5" name="矩形 4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" name="图片 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7" idx="3"/>
              <a:endCxn id="28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7" idx="3"/>
              <a:endCxn id="30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28" idx="3"/>
              <a:endCxn id="8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0" idx="3"/>
              <a:endCxn id="8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8" idx="3"/>
              <a:endCxn id="9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18" name="组合 17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3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1" name="文本框 30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2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20" name="文本框 1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21" name="文本框 20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2" name="文本框 21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3" name="文本框 22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24" name="文本框 23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25" name="文本框 24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32" name="文本框 31"/>
          <p:cNvSpPr txBox="1"/>
          <p:nvPr/>
        </p:nvSpPr>
        <p:spPr bwMode="gray">
          <a:xfrm>
            <a:off x="442913" y="3836717"/>
            <a:ext cx="3342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PE3</a:t>
            </a:r>
            <a:r>
              <a:rPr lang="zh-CN" altLang="en-US" sz="1600" dirty="0"/>
              <a:t>上查看</a:t>
            </a:r>
            <a:r>
              <a:rPr lang="en-US" altLang="zh-CN" sz="1600" dirty="0"/>
              <a:t>BGP EVPN</a:t>
            </a:r>
            <a:r>
              <a:rPr lang="zh-CN" altLang="en-US" sz="1600" dirty="0"/>
              <a:t>邻居关系。</a:t>
            </a:r>
            <a:endParaRPr lang="zh-CN" altLang="en-US" sz="1600" dirty="0"/>
          </a:p>
        </p:txBody>
      </p:sp>
      <p:sp>
        <p:nvSpPr>
          <p:cNvPr id="33" name="文本框 32"/>
          <p:cNvSpPr txBox="1"/>
          <p:nvPr/>
        </p:nvSpPr>
        <p:spPr bwMode="gray">
          <a:xfrm>
            <a:off x="448435" y="4184084"/>
            <a:ext cx="5468178" cy="1600438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[~PE3]display </a:t>
            </a:r>
            <a:r>
              <a:rPr lang="en-US" altLang="zh-CN" sz="1400" dirty="0" err="1"/>
              <a:t>bgp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peer </a:t>
            </a:r>
            <a:endParaRPr lang="en-US" altLang="zh-CN" sz="1400" dirty="0"/>
          </a:p>
          <a:p>
            <a:r>
              <a:rPr lang="en-US" altLang="zh-CN" sz="1400" dirty="0"/>
              <a:t> BGP local router ID : 10.0.3.3</a:t>
            </a:r>
            <a:endParaRPr lang="en-US" altLang="zh-CN" sz="1400" dirty="0"/>
          </a:p>
          <a:p>
            <a:r>
              <a:rPr lang="en-US" altLang="zh-CN" sz="1400" dirty="0"/>
              <a:t> Local AS number : 100</a:t>
            </a:r>
            <a:endParaRPr lang="en-US" altLang="zh-CN" sz="1400" dirty="0"/>
          </a:p>
          <a:p>
            <a:r>
              <a:rPr lang="en-US" altLang="zh-CN" sz="1400" dirty="0"/>
              <a:t> Total number of peers : 2   Peers in established state : 2</a:t>
            </a:r>
            <a:endParaRPr lang="en-US" altLang="zh-CN" sz="1400" dirty="0"/>
          </a:p>
          <a:p>
            <a:r>
              <a:rPr lang="en-US" altLang="zh-CN" sz="1400" dirty="0"/>
              <a:t>  Peer           AS      State            </a:t>
            </a:r>
            <a:r>
              <a:rPr lang="en-US" altLang="zh-CN" sz="1400" dirty="0" err="1"/>
              <a:t>PrefRcv</a:t>
            </a:r>
            <a:endParaRPr lang="en-US" altLang="zh-CN" sz="1400" dirty="0"/>
          </a:p>
          <a:p>
            <a:r>
              <a:rPr lang="en-US" altLang="zh-CN" sz="1400" dirty="0"/>
              <a:t>  10.0.1.1      100  Established         4</a:t>
            </a:r>
            <a:endParaRPr lang="en-US" altLang="zh-CN" sz="1400" dirty="0"/>
          </a:p>
          <a:p>
            <a:r>
              <a:rPr lang="en-US" altLang="zh-CN" sz="1400" dirty="0"/>
              <a:t>  10.0.2.2      100  Established         4 </a:t>
            </a:r>
            <a:endParaRPr lang="en-US" altLang="zh-CN" sz="1400" dirty="0"/>
          </a:p>
        </p:txBody>
      </p:sp>
      <p:sp>
        <p:nvSpPr>
          <p:cNvPr id="36" name="文本框 35"/>
          <p:cNvSpPr txBox="1"/>
          <p:nvPr/>
        </p:nvSpPr>
        <p:spPr bwMode="gray">
          <a:xfrm>
            <a:off x="6149970" y="1387586"/>
            <a:ext cx="5599117" cy="4185761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&lt;PE3&gt;display </a:t>
            </a:r>
            <a:r>
              <a:rPr lang="en-US" altLang="zh-CN" sz="1400" dirty="0" err="1"/>
              <a:t>bgp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 all routing-table inclusive-route </a:t>
            </a:r>
            <a:endParaRPr lang="en-US" altLang="zh-CN" sz="1400" dirty="0"/>
          </a:p>
          <a:p>
            <a:r>
              <a:rPr lang="en-US" altLang="zh-CN" sz="1400" dirty="0"/>
              <a:t> Local AS number : 100</a:t>
            </a:r>
            <a:endParaRPr lang="en-US" altLang="zh-CN" sz="1400" dirty="0"/>
          </a:p>
          <a:p>
            <a:r>
              <a:rPr lang="en-US" altLang="zh-CN" sz="1400" dirty="0"/>
              <a:t> EVPN address family:</a:t>
            </a:r>
            <a:endParaRPr lang="en-US" altLang="zh-CN" sz="1400" dirty="0"/>
          </a:p>
          <a:p>
            <a:r>
              <a:rPr lang="en-US" altLang="zh-CN" sz="1400" dirty="0"/>
              <a:t> Number of Inclusive Multicast Routes: 3</a:t>
            </a:r>
            <a:endParaRPr lang="en-US" altLang="zh-CN" sz="1400" dirty="0"/>
          </a:p>
          <a:p>
            <a:r>
              <a:rPr lang="en-US" altLang="zh-CN" sz="1400" dirty="0"/>
              <a:t> Route Distinguisher: 100:1</a:t>
            </a:r>
            <a:endParaRPr lang="en-US" altLang="zh-CN" sz="1400" dirty="0"/>
          </a:p>
          <a:p>
            <a:r>
              <a:rPr lang="en-US" altLang="zh-CN" sz="1400" dirty="0"/>
              <a:t>       Network(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IpAddrLen</a:t>
            </a:r>
            <a:r>
              <a:rPr lang="en-US" altLang="zh-CN" sz="1400" dirty="0"/>
              <a:t>/</a:t>
            </a:r>
            <a:r>
              <a:rPr lang="en-US" altLang="zh-CN" sz="1400" dirty="0" err="1"/>
              <a:t>OriginalIp</a:t>
            </a:r>
            <a:r>
              <a:rPr lang="en-US" altLang="zh-CN" sz="1400" dirty="0"/>
              <a:t>)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0:32:10.0.1.1                                          10.0.1.1</a:t>
            </a:r>
            <a:endParaRPr lang="en-US" altLang="zh-CN" sz="1400" dirty="0"/>
          </a:p>
          <a:p>
            <a:r>
              <a:rPr lang="en-US" altLang="zh-CN" sz="1400" dirty="0"/>
              <a:t> Route Distinguisher: 200:1</a:t>
            </a:r>
            <a:endParaRPr lang="en-US" altLang="zh-CN" sz="1400" dirty="0"/>
          </a:p>
          <a:p>
            <a:r>
              <a:rPr lang="en-US" altLang="zh-CN" sz="1400" dirty="0"/>
              <a:t>       Network(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IpAddrLen</a:t>
            </a:r>
            <a:r>
              <a:rPr lang="en-US" altLang="zh-CN" sz="1400" dirty="0"/>
              <a:t>/</a:t>
            </a:r>
            <a:r>
              <a:rPr lang="en-US" altLang="zh-CN" sz="1400" dirty="0" err="1"/>
              <a:t>OriginalIp</a:t>
            </a:r>
            <a:r>
              <a:rPr lang="en-US" altLang="zh-CN" sz="1400" dirty="0"/>
              <a:t>)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0:32:10.0.2.2                                          10.0.2.2</a:t>
            </a:r>
            <a:endParaRPr lang="en-US" altLang="zh-CN" sz="1400" dirty="0"/>
          </a:p>
          <a:p>
            <a:r>
              <a:rPr lang="en-US" altLang="zh-CN" sz="1400" dirty="0"/>
              <a:t> Route Distinguisher: 300:1</a:t>
            </a:r>
            <a:endParaRPr lang="en-US" altLang="zh-CN" sz="1400" dirty="0"/>
          </a:p>
          <a:p>
            <a:r>
              <a:rPr lang="en-US" altLang="zh-CN" sz="1400" dirty="0"/>
              <a:t>       Network(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IpAddrLen</a:t>
            </a:r>
            <a:r>
              <a:rPr lang="en-US" altLang="zh-CN" sz="1400" dirty="0"/>
              <a:t>/</a:t>
            </a:r>
            <a:r>
              <a:rPr lang="en-US" altLang="zh-CN" sz="1400" dirty="0" err="1"/>
              <a:t>OriginalIp</a:t>
            </a:r>
            <a:r>
              <a:rPr lang="en-US" altLang="zh-CN" sz="1400" dirty="0"/>
              <a:t>)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    0:32:10.0.3.3                                          127.0.0.1</a:t>
            </a:r>
            <a:endParaRPr lang="en-US" altLang="zh-CN" sz="1400" dirty="0"/>
          </a:p>
          <a:p>
            <a:r>
              <a:rPr lang="en-US" altLang="zh-CN" sz="1400" dirty="0"/>
              <a:t> </a:t>
            </a:r>
            <a:r>
              <a:rPr lang="en-US" altLang="zh-CN" sz="1400" b="1" dirty="0"/>
              <a:t>EVPN-Instance </a:t>
            </a:r>
            <a:r>
              <a:rPr lang="en-US" altLang="zh-CN" sz="1400" b="1" dirty="0" err="1"/>
              <a:t>evpna</a:t>
            </a:r>
            <a:r>
              <a:rPr lang="en-US" altLang="zh-CN" sz="1400" b="1" dirty="0"/>
              <a:t>:</a:t>
            </a:r>
            <a:endParaRPr lang="en-US" altLang="zh-CN" sz="1400" b="1" dirty="0"/>
          </a:p>
          <a:p>
            <a:r>
              <a:rPr lang="en-US" altLang="zh-CN" sz="1400" dirty="0"/>
              <a:t> Number of Inclusive Multicast Routes: 3</a:t>
            </a:r>
            <a:endParaRPr lang="en-US" altLang="zh-CN" sz="1400" dirty="0"/>
          </a:p>
          <a:p>
            <a:r>
              <a:rPr lang="en-US" altLang="zh-CN" sz="1400" dirty="0"/>
              <a:t>       Network(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IpAddrLen</a:t>
            </a:r>
            <a:r>
              <a:rPr lang="en-US" altLang="zh-CN" sz="1400" dirty="0"/>
              <a:t>/</a:t>
            </a:r>
            <a:r>
              <a:rPr lang="en-US" altLang="zh-CN" sz="1400" dirty="0" err="1"/>
              <a:t>OriginalIp</a:t>
            </a:r>
            <a:r>
              <a:rPr lang="en-US" altLang="zh-CN" sz="1400" dirty="0"/>
              <a:t>)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0:32:10.0.1.1                                          10.0.1.1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0:32:10.0.2.2                                          10.0.2.2</a:t>
            </a:r>
            <a:endParaRPr lang="en-US" altLang="zh-CN" sz="1400" dirty="0"/>
          </a:p>
          <a:p>
            <a:r>
              <a:rPr lang="en-US" altLang="zh-CN" sz="1400" dirty="0"/>
              <a:t> *&gt;    0:32:10.0.3.3                                          127.0.0.1</a:t>
            </a:r>
            <a:endParaRPr lang="en-US" altLang="zh-CN" sz="1400" dirty="0"/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073397" y="1032142"/>
            <a:ext cx="2587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PE3</a:t>
            </a:r>
            <a:r>
              <a:rPr lang="zh-CN" altLang="en-US" sz="1600" dirty="0"/>
              <a:t>上查看</a:t>
            </a:r>
            <a:r>
              <a:rPr lang="en-US" altLang="zh-CN" sz="1600" dirty="0"/>
              <a:t>Type 3</a:t>
            </a:r>
            <a:r>
              <a:rPr lang="zh-CN" altLang="en-US" sz="1600" dirty="0"/>
              <a:t>路由。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149970" y="5615245"/>
            <a:ext cx="4923314" cy="338554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PE3</a:t>
            </a:r>
            <a:r>
              <a:rPr lang="zh-CN" altLang="en-US" sz="1600" dirty="0"/>
              <a:t>从</a:t>
            </a:r>
            <a:r>
              <a:rPr lang="en-US" altLang="zh-CN" sz="1600" dirty="0"/>
              <a:t>PE1</a:t>
            </a:r>
            <a:r>
              <a:rPr lang="zh-CN" altLang="en-US" sz="1600" dirty="0"/>
              <a:t>和</a:t>
            </a:r>
            <a:r>
              <a:rPr lang="en-US" altLang="zh-CN" sz="1600" dirty="0"/>
              <a:t>PE2</a:t>
            </a:r>
            <a:r>
              <a:rPr lang="zh-CN" altLang="en-US" sz="1600" dirty="0"/>
              <a:t>收到</a:t>
            </a:r>
            <a:r>
              <a:rPr lang="en-US" altLang="zh-CN" sz="1600" dirty="0"/>
              <a:t>Type 3</a:t>
            </a:r>
            <a:r>
              <a:rPr lang="zh-CN" altLang="en-US" sz="1600" dirty="0"/>
              <a:t>路由用于转发</a:t>
            </a:r>
            <a:r>
              <a:rPr lang="en-US" altLang="zh-CN" sz="1600" dirty="0"/>
              <a:t>BUM</a:t>
            </a:r>
            <a:r>
              <a:rPr lang="zh-CN" altLang="en-US" sz="1600" dirty="0"/>
              <a:t>流量。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5" name="矩形 4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" name="图片 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7" idx="3"/>
              <a:endCxn id="28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7" idx="3"/>
              <a:endCxn id="30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28" idx="3"/>
              <a:endCxn id="8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0" idx="3"/>
              <a:endCxn id="8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8" idx="3"/>
              <a:endCxn id="9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18" name="组合 17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3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1" name="文本框 30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2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20" name="文本框 1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21" name="文本框 20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2" name="文本框 21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3" name="文本框 22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24" name="文本框 23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25" name="文本框 24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36" name="文本框 35"/>
          <p:cNvSpPr txBox="1"/>
          <p:nvPr/>
        </p:nvSpPr>
        <p:spPr bwMode="gray">
          <a:xfrm>
            <a:off x="6149970" y="1387586"/>
            <a:ext cx="5599117" cy="3754874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&lt;PE3&gt;display </a:t>
            </a:r>
            <a:r>
              <a:rPr lang="en-US" altLang="zh-CN" sz="1400" dirty="0" err="1"/>
              <a:t>bgp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 all routing-table </a:t>
            </a:r>
            <a:r>
              <a:rPr lang="en-US" altLang="zh-CN" sz="1400" dirty="0" err="1"/>
              <a:t>es</a:t>
            </a:r>
            <a:r>
              <a:rPr lang="en-US" altLang="zh-CN" sz="1400" dirty="0"/>
              <a:t>-route </a:t>
            </a:r>
            <a:endParaRPr lang="en-US" altLang="zh-CN" sz="1400" dirty="0"/>
          </a:p>
          <a:p>
            <a:r>
              <a:rPr lang="en-US" altLang="zh-CN" sz="1400" dirty="0"/>
              <a:t> Local AS number : 100</a:t>
            </a:r>
            <a:endParaRPr lang="en-US" altLang="zh-CN" sz="1400" dirty="0"/>
          </a:p>
          <a:p>
            <a:r>
              <a:rPr lang="en-US" altLang="zh-CN" sz="1400" dirty="0"/>
              <a:t> EVPN address family:</a:t>
            </a:r>
            <a:endParaRPr lang="en-US" altLang="zh-CN" sz="1400" dirty="0"/>
          </a:p>
          <a:p>
            <a:r>
              <a:rPr lang="en-US" altLang="zh-CN" sz="1400" dirty="0"/>
              <a:t> Number of ES Routes: 3</a:t>
            </a:r>
            <a:endParaRPr lang="en-US" altLang="zh-CN" sz="1400" dirty="0"/>
          </a:p>
          <a:p>
            <a:r>
              <a:rPr lang="en-US" altLang="zh-CN" sz="1400" dirty="0"/>
              <a:t> Route Distinguisher: 10.0.1.1:0</a:t>
            </a:r>
            <a:endParaRPr lang="en-US" altLang="zh-CN" sz="1400" dirty="0"/>
          </a:p>
          <a:p>
            <a:r>
              <a:rPr lang="en-US" altLang="zh-CN" sz="1400" dirty="0"/>
              <a:t>       Network(ESI)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0000.1111.2222.1111.1111           10.0.1.1</a:t>
            </a:r>
            <a:endParaRPr lang="en-US" altLang="zh-CN" sz="1400" dirty="0"/>
          </a:p>
          <a:p>
            <a:r>
              <a:rPr lang="en-US" altLang="zh-CN" sz="1400" dirty="0"/>
              <a:t> Route Distinguisher: 10.0.2.2:0</a:t>
            </a:r>
            <a:endParaRPr lang="en-US" altLang="zh-CN" sz="1400" dirty="0"/>
          </a:p>
          <a:p>
            <a:r>
              <a:rPr lang="en-US" altLang="zh-CN" sz="1400" dirty="0"/>
              <a:t>       Network(ESI) 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0000.1111.2222.1111.1111            10.0.2.2</a:t>
            </a:r>
            <a:endParaRPr lang="en-US" altLang="zh-CN" sz="1400" dirty="0"/>
          </a:p>
          <a:p>
            <a:r>
              <a:rPr lang="en-US" altLang="zh-CN" sz="1400" dirty="0"/>
              <a:t> Route Distinguisher: 10.0.3.3:0</a:t>
            </a:r>
            <a:endParaRPr lang="en-US" altLang="zh-CN" sz="1400" dirty="0"/>
          </a:p>
          <a:p>
            <a:r>
              <a:rPr lang="en-US" altLang="zh-CN" sz="1400" dirty="0"/>
              <a:t>       Network(ESI)  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    014c.1fcc.f95d.e30a.3100               127.0.0.1</a:t>
            </a:r>
            <a:endParaRPr lang="en-US" altLang="zh-CN" sz="1400" dirty="0"/>
          </a:p>
          <a:p>
            <a:r>
              <a:rPr lang="en-US" altLang="zh-CN" sz="1400" dirty="0"/>
              <a:t> </a:t>
            </a:r>
            <a:r>
              <a:rPr lang="en-US" altLang="zh-CN" sz="1400" b="1" dirty="0"/>
              <a:t>EVPN-Instance </a:t>
            </a:r>
            <a:r>
              <a:rPr lang="en-US" altLang="zh-CN" sz="1400" b="1" dirty="0" err="1"/>
              <a:t>evpna</a:t>
            </a:r>
            <a:r>
              <a:rPr lang="en-US" altLang="zh-CN" sz="1400" b="1" dirty="0"/>
              <a:t>:</a:t>
            </a:r>
            <a:endParaRPr lang="en-US" altLang="zh-CN" sz="1400" b="1" dirty="0"/>
          </a:p>
          <a:p>
            <a:r>
              <a:rPr lang="en-US" altLang="zh-CN" sz="1400" dirty="0"/>
              <a:t> Number of ES Routes: 1</a:t>
            </a:r>
            <a:endParaRPr lang="en-US" altLang="zh-CN" sz="1400" dirty="0"/>
          </a:p>
          <a:p>
            <a:r>
              <a:rPr lang="en-US" altLang="zh-CN" sz="1400" dirty="0"/>
              <a:t>       Network(ESI) 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    014c.1fcc.f95d.e30a.3100               127.0.0.1</a:t>
            </a:r>
            <a:endParaRPr lang="en-US" altLang="zh-CN" sz="1400" dirty="0"/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073397" y="1032142"/>
            <a:ext cx="2587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PE3</a:t>
            </a:r>
            <a:r>
              <a:rPr lang="zh-CN" altLang="en-US" sz="1600" dirty="0"/>
              <a:t>上查看</a:t>
            </a:r>
            <a:r>
              <a:rPr lang="en-US" altLang="zh-CN" sz="1600" dirty="0"/>
              <a:t>Type 4</a:t>
            </a:r>
            <a:r>
              <a:rPr lang="zh-CN" altLang="en-US" sz="1600" dirty="0"/>
              <a:t>路由。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102350" y="5424634"/>
            <a:ext cx="4096726" cy="338554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PE1</a:t>
            </a:r>
            <a:r>
              <a:rPr lang="zh-CN" altLang="en-US" sz="1600" dirty="0"/>
              <a:t>和</a:t>
            </a:r>
            <a:r>
              <a:rPr lang="en-US" altLang="zh-CN" sz="1600" dirty="0"/>
              <a:t>PE2</a:t>
            </a:r>
            <a:r>
              <a:rPr lang="zh-CN" altLang="en-US" sz="1600" dirty="0"/>
              <a:t>发送的</a:t>
            </a:r>
            <a:r>
              <a:rPr lang="en-US" altLang="zh-CN" sz="1600" dirty="0"/>
              <a:t>Type 4</a:t>
            </a:r>
            <a:r>
              <a:rPr lang="zh-CN" altLang="en-US" sz="1600" dirty="0"/>
              <a:t>路由携带相同的</a:t>
            </a:r>
            <a:r>
              <a:rPr lang="en-US" altLang="zh-CN" sz="1600" dirty="0"/>
              <a:t>ESI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sp>
        <p:nvSpPr>
          <p:cNvPr id="3" name="矩形 2"/>
          <p:cNvSpPr/>
          <p:nvPr/>
        </p:nvSpPr>
        <p:spPr bwMode="gray">
          <a:xfrm>
            <a:off x="6238517" y="2696254"/>
            <a:ext cx="3960559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 bwMode="gray">
          <a:xfrm>
            <a:off x="6238517" y="3326051"/>
            <a:ext cx="3960559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stCxn id="27" idx="3"/>
          </p:cNvCxnSpPr>
          <p:nvPr/>
        </p:nvCxnSpPr>
        <p:spPr bwMode="gray">
          <a:xfrm>
            <a:off x="5983015" y="2790497"/>
            <a:ext cx="255502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27" idx="3"/>
          </p:cNvCxnSpPr>
          <p:nvPr/>
        </p:nvCxnSpPr>
        <p:spPr bwMode="gray">
          <a:xfrm>
            <a:off x="5983015" y="2790497"/>
            <a:ext cx="0" cy="2803414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8" idx="1"/>
          </p:cNvCxnSpPr>
          <p:nvPr/>
        </p:nvCxnSpPr>
        <p:spPr bwMode="gray">
          <a:xfrm>
            <a:off x="5983015" y="5593911"/>
            <a:ext cx="119335" cy="0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9" idx="1"/>
          </p:cNvCxnSpPr>
          <p:nvPr/>
        </p:nvCxnSpPr>
        <p:spPr bwMode="gray">
          <a:xfrm>
            <a:off x="5980784" y="3444250"/>
            <a:ext cx="257733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5" name="矩形 4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" name="图片 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7" idx="3"/>
              <a:endCxn id="28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7" idx="3"/>
              <a:endCxn id="30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28" idx="3"/>
              <a:endCxn id="8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0" idx="3"/>
              <a:endCxn id="8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8" idx="3"/>
              <a:endCxn id="9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18" name="组合 17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3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1" name="文本框 30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2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20" name="文本框 1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21" name="文本框 20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2" name="文本框 21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3" name="文本框 22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24" name="文本框 23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25" name="文本框 24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36" name="文本框 35"/>
          <p:cNvSpPr txBox="1"/>
          <p:nvPr/>
        </p:nvSpPr>
        <p:spPr bwMode="gray">
          <a:xfrm>
            <a:off x="6110880" y="1387586"/>
            <a:ext cx="5638208" cy="3231654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&lt;PE3&gt;display </a:t>
            </a:r>
            <a:r>
              <a:rPr lang="en-US" altLang="zh-CN" sz="1200" dirty="0" err="1"/>
              <a:t>bgp</a:t>
            </a:r>
            <a:r>
              <a:rPr lang="en-US" altLang="zh-CN" sz="1200" dirty="0"/>
              <a:t> </a:t>
            </a:r>
            <a:r>
              <a:rPr lang="en-US" altLang="zh-CN" sz="1200" dirty="0" err="1"/>
              <a:t>evpn</a:t>
            </a:r>
            <a:r>
              <a:rPr lang="en-US" altLang="zh-CN" sz="1200" dirty="0"/>
              <a:t>  all routing-table mac-route 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Local AS number : 100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BGP Local router ID is 10.0.3.3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EVPN address family: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Number of Mac Routes: 2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Route Distinguisher: 100:1</a:t>
            </a:r>
            <a:endParaRPr lang="zh-CN" altLang="en-US" sz="1200" dirty="0"/>
          </a:p>
          <a:p>
            <a:r>
              <a:rPr lang="zh-CN" altLang="en-US" sz="1200" dirty="0"/>
              <a:t>  </a:t>
            </a:r>
            <a:r>
              <a:rPr lang="en-US" altLang="zh-CN" sz="1200" dirty="0"/>
              <a:t>Network(</a:t>
            </a:r>
            <a:r>
              <a:rPr lang="en-US" altLang="zh-CN" sz="1200" dirty="0" err="1"/>
              <a:t>EthTagId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MacAddrLen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MacAddr</a:t>
            </a:r>
            <a:r>
              <a:rPr lang="en-US" altLang="zh-CN" sz="1200" dirty="0"/>
              <a:t>/</a:t>
            </a:r>
            <a:r>
              <a:rPr lang="en-US" altLang="zh-CN" sz="1200" dirty="0" err="1"/>
              <a:t>IpAddrLen</a:t>
            </a:r>
            <a:r>
              <a:rPr lang="en-US" altLang="zh-CN" sz="1200" dirty="0"/>
              <a:t>/</a:t>
            </a:r>
            <a:r>
              <a:rPr lang="en-US" altLang="zh-CN" sz="1200" dirty="0" err="1"/>
              <a:t>IpAddr</a:t>
            </a:r>
            <a:r>
              <a:rPr lang="en-US" altLang="zh-CN" sz="1200" dirty="0"/>
              <a:t>)  </a:t>
            </a:r>
            <a:r>
              <a:rPr lang="en-US" altLang="zh-CN" sz="1200" dirty="0" err="1"/>
              <a:t>NextHop</a:t>
            </a:r>
            <a:endParaRPr lang="zh-CN" altLang="en-US" sz="1200" dirty="0"/>
          </a:p>
          <a:p>
            <a:r>
              <a:rPr lang="zh-CN" altLang="en-US" sz="1200" dirty="0"/>
              <a:t> *</a:t>
            </a:r>
            <a:r>
              <a:rPr lang="en-US" altLang="zh-CN" sz="1200" dirty="0"/>
              <a:t>&gt;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  0:48:4c1f-cccf-6675:0:0.0.0.0                                             10.0.1.1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Route Distinguisher: 300:1</a:t>
            </a:r>
            <a:endParaRPr lang="zh-CN" altLang="en-US" sz="1200" dirty="0"/>
          </a:p>
          <a:p>
            <a:r>
              <a:rPr lang="zh-CN" altLang="en-US" sz="1200" dirty="0"/>
              <a:t>  </a:t>
            </a:r>
            <a:r>
              <a:rPr lang="en-US" altLang="zh-CN" sz="1200" dirty="0"/>
              <a:t>Network(</a:t>
            </a:r>
            <a:r>
              <a:rPr lang="en-US" altLang="zh-CN" sz="1200" dirty="0" err="1"/>
              <a:t>EthTagId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MacAddrLen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MacAddr</a:t>
            </a:r>
            <a:r>
              <a:rPr lang="en-US" altLang="zh-CN" sz="1200" dirty="0"/>
              <a:t>/</a:t>
            </a:r>
            <a:r>
              <a:rPr lang="en-US" altLang="zh-CN" sz="1200" dirty="0" err="1"/>
              <a:t>IpAddrLen</a:t>
            </a:r>
            <a:r>
              <a:rPr lang="en-US" altLang="zh-CN" sz="1200" dirty="0"/>
              <a:t>/</a:t>
            </a:r>
            <a:r>
              <a:rPr lang="en-US" altLang="zh-CN" sz="1200" dirty="0" err="1"/>
              <a:t>IpAddr</a:t>
            </a:r>
            <a:r>
              <a:rPr lang="en-US" altLang="zh-CN" sz="1200" dirty="0"/>
              <a:t>)  </a:t>
            </a:r>
            <a:r>
              <a:rPr lang="en-US" altLang="zh-CN" sz="1200" dirty="0" err="1"/>
              <a:t>NextHop</a:t>
            </a:r>
            <a:endParaRPr lang="zh-CN" altLang="en-US" sz="1200" dirty="0"/>
          </a:p>
          <a:p>
            <a:r>
              <a:rPr lang="zh-CN" altLang="en-US" sz="1200" dirty="0"/>
              <a:t> *</a:t>
            </a:r>
            <a:r>
              <a:rPr lang="en-US" altLang="zh-CN" sz="1200" dirty="0"/>
              <a:t>&gt;    0:48:4c1f-ccf9-5de3:0:0.0.0.0                                              0.0.0.0</a:t>
            </a:r>
            <a:endParaRPr lang="zh-CN" altLang="en-US" sz="1200" dirty="0"/>
          </a:p>
          <a:p>
            <a:r>
              <a:rPr lang="zh-CN" altLang="en-US" sz="1200" dirty="0"/>
              <a:t>    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EVPN-Instance </a:t>
            </a:r>
            <a:r>
              <a:rPr lang="en-US" altLang="zh-CN" sz="1200" dirty="0" err="1"/>
              <a:t>evpna</a:t>
            </a:r>
            <a:r>
              <a:rPr lang="en-US" altLang="zh-CN" sz="1200" dirty="0"/>
              <a:t>:</a:t>
            </a:r>
            <a:endParaRPr lang="zh-CN" altLang="en-US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Number of Mac Routes: 2</a:t>
            </a:r>
            <a:endParaRPr lang="zh-CN" altLang="en-US" sz="1200" dirty="0"/>
          </a:p>
          <a:p>
            <a:r>
              <a:rPr lang="zh-CN" altLang="en-US" sz="1200" dirty="0"/>
              <a:t>       </a:t>
            </a:r>
            <a:r>
              <a:rPr lang="en-US" altLang="zh-CN" sz="1200" dirty="0"/>
              <a:t>Network(</a:t>
            </a:r>
            <a:r>
              <a:rPr lang="en-US" altLang="zh-CN" sz="1200" dirty="0" err="1"/>
              <a:t>EthTagId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MacAddrLen</a:t>
            </a:r>
            <a:r>
              <a:rPr lang="en-US" altLang="zh-CN" sz="1200" dirty="0"/>
              <a:t>/</a:t>
            </a:r>
            <a:r>
              <a:rPr lang="en-US" altLang="zh-CN" sz="1200" dirty="0" err="1"/>
              <a:t>MacAddr</a:t>
            </a:r>
            <a:r>
              <a:rPr lang="en-US" altLang="zh-CN" sz="1200" dirty="0"/>
              <a:t>/</a:t>
            </a:r>
            <a:r>
              <a:rPr lang="en-US" altLang="zh-CN" sz="1200" dirty="0" err="1"/>
              <a:t>IpAddrLen</a:t>
            </a:r>
            <a:r>
              <a:rPr lang="en-US" altLang="zh-CN" sz="1200" dirty="0"/>
              <a:t>/</a:t>
            </a:r>
            <a:r>
              <a:rPr lang="en-US" altLang="zh-CN" sz="1200" dirty="0" err="1"/>
              <a:t>IpAddr</a:t>
            </a:r>
            <a:r>
              <a:rPr lang="en-US" altLang="zh-CN" sz="1200" dirty="0"/>
              <a:t>)  </a:t>
            </a:r>
            <a:r>
              <a:rPr lang="en-US" altLang="zh-CN" sz="1200" dirty="0" err="1"/>
              <a:t>NextHop</a:t>
            </a:r>
            <a:endParaRPr lang="zh-CN" altLang="en-US" sz="1200" dirty="0"/>
          </a:p>
          <a:p>
            <a:r>
              <a:rPr lang="zh-CN" altLang="en-US" sz="1200" dirty="0"/>
              <a:t> *</a:t>
            </a:r>
            <a:r>
              <a:rPr lang="en-US" altLang="zh-CN" sz="1200" dirty="0"/>
              <a:t>&gt;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  0:48:4c1f-cccf-6675:0:0.0.0.0                          10.0.1.1</a:t>
            </a:r>
            <a:endParaRPr lang="zh-CN" altLang="en-US" sz="1200" dirty="0"/>
          </a:p>
          <a:p>
            <a:r>
              <a:rPr lang="zh-CN" altLang="en-US" sz="1200" dirty="0"/>
              <a:t> *</a:t>
            </a:r>
            <a:r>
              <a:rPr lang="en-US" altLang="zh-CN" sz="1200" dirty="0"/>
              <a:t>&gt;    0:48:4c1f-ccf9-5de3:0:0.0.0.0                          0.0.0.0</a:t>
            </a:r>
            <a:endParaRPr lang="zh-CN" altLang="en-US" sz="1200" dirty="0"/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073397" y="1032142"/>
            <a:ext cx="2587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PE3</a:t>
            </a:r>
            <a:r>
              <a:rPr lang="zh-CN" altLang="en-US" sz="1600" dirty="0"/>
              <a:t>上查看</a:t>
            </a:r>
            <a:r>
              <a:rPr lang="en-US" altLang="zh-CN" sz="1600" dirty="0"/>
              <a:t>Type 2</a:t>
            </a:r>
            <a:r>
              <a:rPr lang="zh-CN" altLang="en-US" sz="1600" dirty="0"/>
              <a:t>路由。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84013" y="4752241"/>
            <a:ext cx="3012211" cy="307777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PE1</a:t>
            </a:r>
            <a:r>
              <a:rPr lang="zh-CN" altLang="en-US" sz="1400" dirty="0"/>
              <a:t>将</a:t>
            </a:r>
            <a:r>
              <a:rPr lang="en-US" altLang="zh-CN" sz="1400" dirty="0"/>
              <a:t>CE1</a:t>
            </a:r>
            <a:r>
              <a:rPr lang="zh-CN" altLang="en-US" sz="1400" dirty="0"/>
              <a:t>的</a:t>
            </a:r>
            <a:r>
              <a:rPr lang="en-US" altLang="zh-CN" sz="1400" dirty="0"/>
              <a:t>MAC</a:t>
            </a:r>
            <a:r>
              <a:rPr lang="zh-CN" altLang="en-US" sz="1400" dirty="0"/>
              <a:t>地址发送给</a:t>
            </a:r>
            <a:r>
              <a:rPr lang="en-US" altLang="zh-CN" sz="1400" dirty="0"/>
              <a:t>PE3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sp>
        <p:nvSpPr>
          <p:cNvPr id="39" name="矩形 38"/>
          <p:cNvSpPr/>
          <p:nvPr/>
        </p:nvSpPr>
        <p:spPr bwMode="gray">
          <a:xfrm>
            <a:off x="6238517" y="2699251"/>
            <a:ext cx="2507153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stCxn id="27" idx="3"/>
          </p:cNvCxnSpPr>
          <p:nvPr/>
        </p:nvCxnSpPr>
        <p:spPr bwMode="gray">
          <a:xfrm>
            <a:off x="5983015" y="2790497"/>
            <a:ext cx="255502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27" idx="3"/>
          </p:cNvCxnSpPr>
          <p:nvPr/>
        </p:nvCxnSpPr>
        <p:spPr bwMode="gray">
          <a:xfrm>
            <a:off x="5983015" y="2790497"/>
            <a:ext cx="0" cy="2131021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8" idx="1"/>
          </p:cNvCxnSpPr>
          <p:nvPr/>
        </p:nvCxnSpPr>
        <p:spPr bwMode="gray">
          <a:xfrm flipV="1">
            <a:off x="5983015" y="4906130"/>
            <a:ext cx="300998" cy="15388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5" name="矩形 4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" name="图片 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7" idx="3"/>
              <a:endCxn id="28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7" idx="3"/>
              <a:endCxn id="30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28" idx="3"/>
              <a:endCxn id="8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0" idx="3"/>
              <a:endCxn id="8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8" idx="3"/>
              <a:endCxn id="9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18" name="组合 17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3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1" name="文本框 30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2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20" name="文本框 1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21" name="文本框 20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2" name="文本框 21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3" name="文本框 22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24" name="文本框 23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25" name="文本框 24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36" name="文本框 35"/>
          <p:cNvSpPr txBox="1"/>
          <p:nvPr/>
        </p:nvSpPr>
        <p:spPr bwMode="gray">
          <a:xfrm>
            <a:off x="6110880" y="1387586"/>
            <a:ext cx="5638208" cy="3754874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&lt;PE3&gt;display </a:t>
            </a:r>
            <a:r>
              <a:rPr lang="en-US" altLang="zh-CN" sz="1400" dirty="0" err="1"/>
              <a:t>bgp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evpn</a:t>
            </a:r>
            <a:r>
              <a:rPr lang="en-US" altLang="zh-CN" sz="1400" dirty="0"/>
              <a:t>  all routing-table ad-route </a:t>
            </a:r>
            <a:endParaRPr lang="en-US" altLang="zh-CN" sz="1400" dirty="0"/>
          </a:p>
          <a:p>
            <a:r>
              <a:rPr lang="en-US" altLang="zh-CN" sz="1400" dirty="0"/>
              <a:t> Local AS number : 100</a:t>
            </a:r>
            <a:endParaRPr lang="en-US" altLang="zh-CN" sz="1400" dirty="0"/>
          </a:p>
          <a:p>
            <a:r>
              <a:rPr lang="en-US" altLang="zh-CN" sz="1400" dirty="0"/>
              <a:t> BGP Local router ID is 10.0.3.3</a:t>
            </a:r>
            <a:endParaRPr lang="en-US" altLang="zh-CN" sz="1400" dirty="0"/>
          </a:p>
          <a:p>
            <a:r>
              <a:rPr lang="en-US" altLang="zh-CN" sz="1400" dirty="0"/>
              <a:t>EVPN address family:</a:t>
            </a:r>
            <a:endParaRPr lang="en-US" altLang="zh-CN" sz="1400" dirty="0"/>
          </a:p>
          <a:p>
            <a:r>
              <a:rPr lang="en-US" altLang="zh-CN" sz="1400" dirty="0"/>
              <a:t> Number of A-D Routes: 5</a:t>
            </a:r>
            <a:endParaRPr lang="en-US" altLang="zh-CN" sz="1400" dirty="0"/>
          </a:p>
          <a:p>
            <a:r>
              <a:rPr lang="en-US" altLang="zh-CN" sz="1400" dirty="0"/>
              <a:t> Route Distinguisher: 100:1</a:t>
            </a:r>
            <a:endParaRPr lang="en-US" altLang="zh-CN" sz="1400" dirty="0"/>
          </a:p>
          <a:p>
            <a:r>
              <a:rPr lang="en-US" altLang="zh-CN" sz="1400" dirty="0"/>
              <a:t>       Network(ESI/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)   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0000.1111.2222.1111.1111:0                             10.0.1.1</a:t>
            </a:r>
            <a:endParaRPr lang="en-US" altLang="zh-CN" sz="1400" dirty="0"/>
          </a:p>
          <a:p>
            <a:r>
              <a:rPr lang="en-US" altLang="zh-CN" sz="1400" dirty="0"/>
              <a:t> Route Distinguisher: 200:1</a:t>
            </a:r>
            <a:endParaRPr lang="en-US" altLang="zh-CN" sz="1400" dirty="0"/>
          </a:p>
          <a:p>
            <a:r>
              <a:rPr lang="en-US" altLang="zh-CN" sz="1400" dirty="0"/>
              <a:t>       Network(ESI/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)   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0000.1111.2222.1111.1111:0                             10.0.2.2</a:t>
            </a:r>
            <a:endParaRPr lang="en-US" altLang="zh-CN" sz="1400" dirty="0"/>
          </a:p>
          <a:p>
            <a:r>
              <a:rPr lang="en-US" altLang="zh-CN" sz="1400" dirty="0"/>
              <a:t> EVPN-Instance </a:t>
            </a:r>
            <a:r>
              <a:rPr lang="en-US" altLang="zh-CN" sz="1400" dirty="0" err="1"/>
              <a:t>evpna</a:t>
            </a:r>
            <a:r>
              <a:rPr lang="en-US" altLang="zh-CN" sz="1400" dirty="0"/>
              <a:t>:</a:t>
            </a:r>
            <a:endParaRPr lang="en-US" altLang="zh-CN" sz="1400" dirty="0"/>
          </a:p>
          <a:p>
            <a:r>
              <a:rPr lang="en-US" altLang="zh-CN" sz="1400" dirty="0"/>
              <a:t> Number of A-D Routes: 4</a:t>
            </a:r>
            <a:endParaRPr lang="en-US" altLang="zh-CN" sz="1400" dirty="0"/>
          </a:p>
          <a:p>
            <a:r>
              <a:rPr lang="en-US" altLang="zh-CN" sz="1400" dirty="0"/>
              <a:t>       Network(ESI/</a:t>
            </a:r>
            <a:r>
              <a:rPr lang="en-US" altLang="zh-CN" sz="1400" dirty="0" err="1"/>
              <a:t>EthTagId</a:t>
            </a:r>
            <a:r>
              <a:rPr lang="en-US" altLang="zh-CN" sz="1400" dirty="0"/>
              <a:t>)                                   </a:t>
            </a:r>
            <a:r>
              <a:rPr lang="en-US" altLang="zh-CN" sz="1400" dirty="0" err="1"/>
              <a:t>NextHop</a:t>
            </a:r>
            <a:endParaRPr lang="en-US" altLang="zh-CN" sz="1400" dirty="0"/>
          </a:p>
          <a:p>
            <a:r>
              <a:rPr lang="en-US" altLang="zh-CN" sz="1400" dirty="0"/>
              <a:t> *&gt;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0000.1111.2222.1111.1111:0                            10.0.1.1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                                                                        10.0.2.2</a:t>
            </a:r>
            <a:endParaRPr lang="en-US" altLang="zh-CN" sz="1400" dirty="0"/>
          </a:p>
          <a:p>
            <a:r>
              <a:rPr lang="en-US" altLang="zh-CN" sz="1400" dirty="0"/>
              <a:t> *&gt;    014c.1fcc.f95d.e30a.3100:0                             127.0.0.1</a:t>
            </a:r>
            <a:endParaRPr lang="en-US" altLang="zh-CN" sz="1400" dirty="0"/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073397" y="1032142"/>
            <a:ext cx="2587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PE3</a:t>
            </a:r>
            <a:r>
              <a:rPr lang="zh-CN" altLang="en-US" sz="1600" dirty="0"/>
              <a:t>上查看</a:t>
            </a:r>
            <a:r>
              <a:rPr lang="en-US" altLang="zh-CN" sz="1600" dirty="0"/>
              <a:t>Type 1</a:t>
            </a:r>
            <a:r>
              <a:rPr lang="zh-CN" altLang="en-US" sz="1600" dirty="0"/>
              <a:t>路由。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92087" y="5395416"/>
            <a:ext cx="4923314" cy="338554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PE1</a:t>
            </a:r>
            <a:r>
              <a:rPr lang="zh-CN" altLang="en-US" sz="1600" dirty="0"/>
              <a:t>和</a:t>
            </a:r>
            <a:r>
              <a:rPr lang="en-US" altLang="zh-CN" sz="1600" dirty="0"/>
              <a:t>PE2</a:t>
            </a:r>
            <a:r>
              <a:rPr lang="zh-CN" altLang="en-US" sz="1600" dirty="0"/>
              <a:t>发布</a:t>
            </a:r>
            <a:r>
              <a:rPr lang="en-US" altLang="zh-CN" sz="1600" dirty="0"/>
              <a:t>Type 1</a:t>
            </a:r>
            <a:r>
              <a:rPr lang="zh-CN" altLang="en-US" sz="1600" dirty="0"/>
              <a:t>路由实现水平分割等功能。</a:t>
            </a:r>
            <a:endParaRPr lang="en-US" altLang="zh-CN" sz="1600" dirty="0"/>
          </a:p>
        </p:txBody>
      </p:sp>
      <p:sp>
        <p:nvSpPr>
          <p:cNvPr id="39" name="矩形 38"/>
          <p:cNvSpPr/>
          <p:nvPr/>
        </p:nvSpPr>
        <p:spPr bwMode="gray">
          <a:xfrm>
            <a:off x="6219061" y="2910426"/>
            <a:ext cx="2842679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endCxn id="41" idx="1"/>
          </p:cNvCxnSpPr>
          <p:nvPr/>
        </p:nvCxnSpPr>
        <p:spPr bwMode="gray">
          <a:xfrm>
            <a:off x="6029587" y="3639793"/>
            <a:ext cx="189474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 bwMode="gray">
          <a:xfrm>
            <a:off x="6029587" y="3021329"/>
            <a:ext cx="0" cy="2543364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8" idx="1"/>
          </p:cNvCxnSpPr>
          <p:nvPr/>
        </p:nvCxnSpPr>
        <p:spPr bwMode="gray">
          <a:xfrm>
            <a:off x="6029587" y="5564693"/>
            <a:ext cx="262500" cy="0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9" idx="1"/>
          </p:cNvCxnSpPr>
          <p:nvPr/>
        </p:nvCxnSpPr>
        <p:spPr bwMode="gray">
          <a:xfrm>
            <a:off x="6029587" y="3028625"/>
            <a:ext cx="189474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 bwMode="gray">
          <a:xfrm>
            <a:off x="6219061" y="3521594"/>
            <a:ext cx="2842679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(5)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 bwMode="gray">
          <a:xfrm>
            <a:off x="472972" y="1307407"/>
            <a:ext cx="5510043" cy="2408931"/>
            <a:chOff x="543931" y="1110557"/>
            <a:chExt cx="5510043" cy="2408931"/>
          </a:xfrm>
        </p:grpSpPr>
        <p:sp>
          <p:nvSpPr>
            <p:cNvPr id="5" name="矩形 4"/>
            <p:cNvSpPr/>
            <p:nvPr/>
          </p:nvSpPr>
          <p:spPr bwMode="gray">
            <a:xfrm>
              <a:off x="4888511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gray">
            <a:xfrm>
              <a:off x="637866" y="1753985"/>
              <a:ext cx="1103855" cy="1158393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2338" y="1949248"/>
              <a:ext cx="540000" cy="442800"/>
            </a:xfrm>
            <a:prstGeom prst="rect">
              <a:avLst/>
            </a:prstGeom>
          </p:spPr>
        </p:pic>
        <p:pic>
          <p:nvPicPr>
            <p:cNvPr id="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533164" y="1949248"/>
              <a:ext cx="540000" cy="441818"/>
            </a:xfrm>
            <a:prstGeom prst="rect">
              <a:avLst/>
            </a:prstGeom>
            <a:noFill/>
          </p:spPr>
        </p:pic>
        <p:pic>
          <p:nvPicPr>
            <p:cNvPr id="9" name="图片 8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016376" y="1949248"/>
              <a:ext cx="540000" cy="442800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7" idx="3"/>
              <a:endCxn id="28" idx="1"/>
            </p:cNvCxnSpPr>
            <p:nvPr/>
          </p:nvCxnSpPr>
          <p:spPr bwMode="gray">
            <a:xfrm flipV="1">
              <a:off x="1462338" y="13324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7" idx="3"/>
              <a:endCxn id="30" idx="1"/>
            </p:cNvCxnSpPr>
            <p:nvPr/>
          </p:nvCxnSpPr>
          <p:spPr bwMode="gray">
            <a:xfrm>
              <a:off x="1462338" y="2170648"/>
              <a:ext cx="765413" cy="838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28" idx="3"/>
              <a:endCxn id="8" idx="1"/>
            </p:cNvCxnSpPr>
            <p:nvPr/>
          </p:nvCxnSpPr>
          <p:spPr bwMode="gray">
            <a:xfrm>
              <a:off x="2767751" y="1332448"/>
              <a:ext cx="765413" cy="8377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0" idx="3"/>
              <a:endCxn id="8" idx="1"/>
            </p:cNvCxnSpPr>
            <p:nvPr/>
          </p:nvCxnSpPr>
          <p:spPr bwMode="gray">
            <a:xfrm flipV="1">
              <a:off x="2767751" y="2170157"/>
              <a:ext cx="765413" cy="838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8" idx="3"/>
              <a:endCxn id="9" idx="1"/>
            </p:cNvCxnSpPr>
            <p:nvPr/>
          </p:nvCxnSpPr>
          <p:spPr bwMode="gray">
            <a:xfrm>
              <a:off x="4073164" y="2170157"/>
              <a:ext cx="94321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 bwMode="gray">
            <a:xfrm>
              <a:off x="543931" y="2054160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CE1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3568172" y="239788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PE3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5499923" y="2016759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CE2</a:t>
              </a:r>
              <a:endParaRPr lang="zh-CN" altLang="en-US" sz="1400" dirty="0"/>
            </a:p>
          </p:txBody>
        </p:sp>
        <p:grpSp>
          <p:nvGrpSpPr>
            <p:cNvPr id="18" name="组合 17"/>
            <p:cNvGrpSpPr/>
            <p:nvPr/>
          </p:nvGrpSpPr>
          <p:grpSpPr bwMode="gray">
            <a:xfrm>
              <a:off x="2227751" y="2787939"/>
              <a:ext cx="540000" cy="731549"/>
              <a:chOff x="2227751" y="2660939"/>
              <a:chExt cx="540000" cy="731549"/>
            </a:xfrm>
          </p:grpSpPr>
          <p:pic>
            <p:nvPicPr>
              <p:cNvPr id="3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26609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1" name="文本框 30"/>
              <p:cNvSpPr txBox="1"/>
              <p:nvPr/>
            </p:nvSpPr>
            <p:spPr bwMode="gray">
              <a:xfrm>
                <a:off x="2254736" y="3084711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PE2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 bwMode="gray">
            <a:xfrm>
              <a:off x="2227751" y="1111539"/>
              <a:ext cx="540000" cy="740572"/>
              <a:chOff x="2227751" y="1238539"/>
              <a:chExt cx="540000" cy="740572"/>
            </a:xfrm>
          </p:grpSpPr>
          <p:pic>
            <p:nvPicPr>
              <p:cNvPr id="2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20" name="文本框 19"/>
            <p:cNvSpPr txBox="1"/>
            <p:nvPr/>
          </p:nvSpPr>
          <p:spPr bwMode="gray">
            <a:xfrm rot="18666283">
              <a:off x="1437774" y="1520716"/>
              <a:ext cx="7569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GE0/1/0</a:t>
              </a:r>
              <a:endParaRPr lang="en-US" altLang="zh-CN" sz="1200" dirty="0"/>
            </a:p>
            <a:p>
              <a:pPr algn="ctr"/>
              <a:endParaRPr lang="zh-CN" altLang="en-US" sz="1200" dirty="0"/>
            </a:p>
          </p:txBody>
        </p:sp>
        <p:sp>
          <p:nvSpPr>
            <p:cNvPr id="21" name="文本框 20"/>
            <p:cNvSpPr txBox="1"/>
            <p:nvPr/>
          </p:nvSpPr>
          <p:spPr bwMode="gray">
            <a:xfrm rot="2846470">
              <a:off x="1574047" y="24014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2" name="文本框 21"/>
            <p:cNvSpPr txBox="1"/>
            <p:nvPr/>
          </p:nvSpPr>
          <p:spPr bwMode="gray">
            <a:xfrm>
              <a:off x="4166301" y="1934730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GE0/2/0</a:t>
              </a:r>
              <a:endParaRPr lang="en-US" altLang="zh-CN" sz="1200" dirty="0"/>
            </a:p>
          </p:txBody>
        </p:sp>
        <p:sp>
          <p:nvSpPr>
            <p:cNvPr id="23" name="文本框 22"/>
            <p:cNvSpPr txBox="1"/>
            <p:nvPr/>
          </p:nvSpPr>
          <p:spPr bwMode="gray">
            <a:xfrm>
              <a:off x="2818649" y="1110557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24" name="文本框 23"/>
            <p:cNvSpPr txBox="1"/>
            <p:nvPr/>
          </p:nvSpPr>
          <p:spPr bwMode="gray">
            <a:xfrm>
              <a:off x="3400979" y="261197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  <p:sp>
          <p:nvSpPr>
            <p:cNvPr id="25" name="文本框 24"/>
            <p:cNvSpPr txBox="1"/>
            <p:nvPr/>
          </p:nvSpPr>
          <p:spPr bwMode="gray">
            <a:xfrm>
              <a:off x="1299025" y="2970955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  <p:sp>
          <p:nvSpPr>
            <p:cNvPr id="26" name="文本框 25"/>
            <p:cNvSpPr txBox="1"/>
            <p:nvPr/>
          </p:nvSpPr>
          <p:spPr bwMode="gray">
            <a:xfrm>
              <a:off x="587932" y="2389768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192.168.1.1/24</a:t>
              </a:r>
              <a:endParaRPr lang="en-US" altLang="zh-CN" sz="1200" dirty="0"/>
            </a:p>
          </p:txBody>
        </p:sp>
        <p:sp>
          <p:nvSpPr>
            <p:cNvPr id="27" name="文本框 26"/>
            <p:cNvSpPr txBox="1"/>
            <p:nvPr/>
          </p:nvSpPr>
          <p:spPr bwMode="gray">
            <a:xfrm>
              <a:off x="4838577" y="2362814"/>
              <a:ext cx="12153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VLAN 2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192.168.1.2/24</a:t>
              </a:r>
              <a:endParaRPr lang="en-US" altLang="zh-CN" sz="1200" dirty="0"/>
            </a:p>
          </p:txBody>
        </p:sp>
      </p:grpSp>
      <p:sp>
        <p:nvSpPr>
          <p:cNvPr id="36" name="文本框 35"/>
          <p:cNvSpPr txBox="1"/>
          <p:nvPr/>
        </p:nvSpPr>
        <p:spPr bwMode="gray">
          <a:xfrm>
            <a:off x="6110880" y="1387586"/>
            <a:ext cx="5638208" cy="3600986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&lt;PE3&gt;display </a:t>
            </a:r>
            <a:r>
              <a:rPr lang="en-US" altLang="zh-CN" sz="1200" dirty="0" err="1"/>
              <a:t>evpn</a:t>
            </a:r>
            <a:r>
              <a:rPr lang="en-US" altLang="zh-CN" sz="1200" dirty="0"/>
              <a:t> mac routing-table </a:t>
            </a:r>
            <a:r>
              <a:rPr lang="en-US" altLang="zh-CN" sz="1200" dirty="0" err="1"/>
              <a:t>evpn</a:t>
            </a:r>
            <a:r>
              <a:rPr lang="en-US" altLang="zh-CN" sz="1200" dirty="0"/>
              <a:t>-instance </a:t>
            </a:r>
            <a:r>
              <a:rPr lang="en-US" altLang="zh-CN" sz="1200" dirty="0" err="1"/>
              <a:t>evpna</a:t>
            </a:r>
            <a:r>
              <a:rPr lang="en-US" altLang="zh-CN" sz="1200" dirty="0"/>
              <a:t> verbose </a:t>
            </a:r>
            <a:endParaRPr lang="en-US" altLang="zh-CN" sz="1200" dirty="0"/>
          </a:p>
          <a:p>
            <a:r>
              <a:rPr lang="en-US" altLang="zh-CN" sz="1200" dirty="0"/>
              <a:t>MAC Flag: D - download to fib</a:t>
            </a:r>
            <a:endParaRPr lang="en-US" altLang="zh-CN" sz="1200" dirty="0"/>
          </a:p>
          <a:p>
            <a:r>
              <a:rPr lang="en-US" altLang="zh-CN" sz="1200" dirty="0"/>
              <a:t>-----------------------------------------------------------------------------EVPN name: </a:t>
            </a:r>
            <a:r>
              <a:rPr lang="en-US" altLang="zh-CN" sz="1200" dirty="0" err="1"/>
              <a:t>evpna</a:t>
            </a:r>
            <a:endParaRPr lang="en-US" altLang="zh-CN" sz="1200" dirty="0"/>
          </a:p>
          <a:p>
            <a:r>
              <a:rPr lang="en-US" altLang="zh-CN" sz="1200" dirty="0"/>
              <a:t>MACs: 2         Entries: 3          </a:t>
            </a:r>
            <a:endParaRPr lang="en-US" altLang="zh-CN" sz="1200" dirty="0"/>
          </a:p>
          <a:p>
            <a:r>
              <a:rPr lang="en-US" altLang="zh-CN" sz="1200" dirty="0"/>
              <a:t>MAC Address: 4c1f-cccf-6675      </a:t>
            </a:r>
            <a:endParaRPr lang="en-US" altLang="zh-CN" sz="1200" dirty="0"/>
          </a:p>
          <a:p>
            <a:r>
              <a:rPr lang="en-US" altLang="zh-CN" sz="1200" dirty="0"/>
              <a:t>   Protocol: BGP                         VLAN/BD: 10                            </a:t>
            </a:r>
            <a:endParaRPr lang="en-US" altLang="zh-CN" sz="1200" dirty="0"/>
          </a:p>
          <a:p>
            <a:r>
              <a:rPr lang="en-US" altLang="zh-CN" sz="1200" dirty="0"/>
              <a:t>      State: Active                          Age: 00h13m01s                     </a:t>
            </a:r>
            <a:endParaRPr lang="en-US" altLang="zh-CN" sz="1200" dirty="0"/>
          </a:p>
          <a:p>
            <a:r>
              <a:rPr lang="en-US" altLang="zh-CN" sz="1200" dirty="0"/>
              <a:t>       Type: Dynamic                       Label: 48002                         </a:t>
            </a:r>
            <a:endParaRPr lang="en-US" altLang="zh-CN" sz="1200" dirty="0"/>
          </a:p>
          <a:p>
            <a:r>
              <a:rPr lang="en-US" altLang="zh-CN" sz="1200" dirty="0"/>
              <a:t> </a:t>
            </a:r>
            <a:r>
              <a:rPr lang="en-US" altLang="zh-CN" sz="1200" dirty="0" err="1"/>
              <a:t>IndirectID</a:t>
            </a:r>
            <a:r>
              <a:rPr lang="en-US" altLang="zh-CN" sz="1200" dirty="0"/>
              <a:t>: 0x1000080                    </a:t>
            </a:r>
            <a:r>
              <a:rPr lang="en-US" altLang="zh-CN" sz="1200" dirty="0" err="1"/>
              <a:t>PeerIP</a:t>
            </a:r>
            <a:r>
              <a:rPr lang="en-US" altLang="zh-CN" sz="1200" dirty="0"/>
              <a:t>: 10.0.1.1                      </a:t>
            </a:r>
            <a:endParaRPr lang="en-US" altLang="zh-CN" sz="1200" dirty="0"/>
          </a:p>
          <a:p>
            <a:r>
              <a:rPr lang="en-US" altLang="zh-CN" sz="1200" dirty="0"/>
              <a:t>       Flag: D              </a:t>
            </a:r>
            <a:endParaRPr lang="en-US" altLang="zh-CN" sz="1200" dirty="0"/>
          </a:p>
          <a:p>
            <a:r>
              <a:rPr lang="en-US" altLang="zh-CN" sz="1200" dirty="0"/>
              <a:t>   </a:t>
            </a:r>
            <a:r>
              <a:rPr lang="en-US" altLang="zh-CN" sz="1200" dirty="0" err="1"/>
              <a:t>TunnelID</a:t>
            </a:r>
            <a:r>
              <a:rPr lang="en-US" altLang="zh-CN" sz="1200" dirty="0"/>
              <a:t>: 0x0000000001004c4b82      Interface: Ethernet1/0/0</a:t>
            </a:r>
            <a:endParaRPr lang="en-US" altLang="zh-CN" sz="1200" dirty="0"/>
          </a:p>
          <a:p>
            <a:r>
              <a:rPr lang="en-US" altLang="zh-CN" sz="1200" dirty="0"/>
              <a:t>MAC Address: 4c1f-cccf-6675      </a:t>
            </a:r>
            <a:endParaRPr lang="en-US" altLang="zh-CN" sz="1200" dirty="0"/>
          </a:p>
          <a:p>
            <a:r>
              <a:rPr lang="en-US" altLang="zh-CN" sz="1200" dirty="0"/>
              <a:t>   Protocol: BGP                         VLAN/BD: 10                            </a:t>
            </a:r>
            <a:endParaRPr lang="en-US" altLang="zh-CN" sz="1200" dirty="0"/>
          </a:p>
          <a:p>
            <a:r>
              <a:rPr lang="en-US" altLang="zh-CN" sz="1200" dirty="0"/>
              <a:t>      State: Active                          Age: 00h13m01s                     </a:t>
            </a:r>
            <a:endParaRPr lang="en-US" altLang="zh-CN" sz="1200" dirty="0"/>
          </a:p>
          <a:p>
            <a:r>
              <a:rPr lang="en-US" altLang="zh-CN" sz="1200" dirty="0"/>
              <a:t>       Type: Dynamic                       Label: 48002                         </a:t>
            </a:r>
            <a:endParaRPr lang="en-US" altLang="zh-CN" sz="1200" dirty="0"/>
          </a:p>
          <a:p>
            <a:r>
              <a:rPr lang="en-US" altLang="zh-CN" sz="1200" dirty="0"/>
              <a:t> </a:t>
            </a:r>
            <a:r>
              <a:rPr lang="en-US" altLang="zh-CN" sz="1200" dirty="0" err="1"/>
              <a:t>IndirectID</a:t>
            </a:r>
            <a:r>
              <a:rPr lang="en-US" altLang="zh-CN" sz="1200" dirty="0"/>
              <a:t>: 0x100007D                    </a:t>
            </a:r>
            <a:r>
              <a:rPr lang="en-US" altLang="zh-CN" sz="1200" dirty="0" err="1"/>
              <a:t>PeerIP</a:t>
            </a:r>
            <a:r>
              <a:rPr lang="en-US" altLang="zh-CN" sz="1200" dirty="0"/>
              <a:t>: 10.0.2.2                      </a:t>
            </a:r>
            <a:endParaRPr lang="en-US" altLang="zh-CN" sz="1200" dirty="0"/>
          </a:p>
          <a:p>
            <a:r>
              <a:rPr lang="en-US" altLang="zh-CN" sz="1200" dirty="0"/>
              <a:t>       Flag: D              </a:t>
            </a:r>
            <a:endParaRPr lang="en-US" altLang="zh-CN" sz="1200" dirty="0"/>
          </a:p>
          <a:p>
            <a:r>
              <a:rPr lang="en-US" altLang="zh-CN" sz="1200" dirty="0"/>
              <a:t>   </a:t>
            </a:r>
            <a:r>
              <a:rPr lang="en-US" altLang="zh-CN" sz="1200" dirty="0" err="1"/>
              <a:t>TunnelID</a:t>
            </a:r>
            <a:r>
              <a:rPr lang="en-US" altLang="zh-CN" sz="1200" dirty="0"/>
              <a:t>: 0x0000000001004c4b81      Interface: Ethernet1/0/1</a:t>
            </a:r>
            <a:endParaRPr lang="en-US" altLang="zh-CN" sz="1200" dirty="0"/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073397" y="1032142"/>
            <a:ext cx="3387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PE3</a:t>
            </a:r>
            <a:r>
              <a:rPr lang="zh-CN" altLang="en-US" sz="1600" dirty="0"/>
              <a:t>上查看</a:t>
            </a:r>
            <a:r>
              <a:rPr lang="en-US" altLang="zh-CN" sz="1600" dirty="0" err="1"/>
              <a:t>evpna</a:t>
            </a:r>
            <a:r>
              <a:rPr lang="zh-CN" altLang="en-US" sz="1600" dirty="0"/>
              <a:t>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地址表。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110880" y="5082408"/>
            <a:ext cx="1676753" cy="338554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CE1</a:t>
            </a:r>
            <a:r>
              <a:rPr lang="zh-CN" altLang="en-US" sz="1600" dirty="0"/>
              <a:t>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</a:t>
            </a:r>
            <a:endParaRPr lang="en-US" altLang="zh-CN" sz="1600" dirty="0"/>
          </a:p>
        </p:txBody>
      </p:sp>
      <p:cxnSp>
        <p:nvCxnSpPr>
          <p:cNvPr id="46" name="直接连接符 45"/>
          <p:cNvCxnSpPr/>
          <p:nvPr/>
        </p:nvCxnSpPr>
        <p:spPr bwMode="gray">
          <a:xfrm>
            <a:off x="5991545" y="2439390"/>
            <a:ext cx="0" cy="2812295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8" idx="1"/>
          </p:cNvCxnSpPr>
          <p:nvPr/>
        </p:nvCxnSpPr>
        <p:spPr bwMode="gray">
          <a:xfrm>
            <a:off x="5991545" y="5251685"/>
            <a:ext cx="119335" cy="0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41" idx="1"/>
          </p:cNvCxnSpPr>
          <p:nvPr/>
        </p:nvCxnSpPr>
        <p:spPr bwMode="gray">
          <a:xfrm>
            <a:off x="5991545" y="2439390"/>
            <a:ext cx="148216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 bwMode="gray">
          <a:xfrm>
            <a:off x="6139761" y="2338047"/>
            <a:ext cx="2270709" cy="202685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 bwMode="gray">
          <a:xfrm>
            <a:off x="733059" y="3759526"/>
            <a:ext cx="31758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CE2</a:t>
            </a:r>
            <a:r>
              <a:rPr lang="zh-CN" altLang="en-US" sz="1600" dirty="0"/>
              <a:t>上查看</a:t>
            </a:r>
            <a:r>
              <a:rPr lang="en-US" altLang="zh-CN" sz="1600" dirty="0"/>
              <a:t>ARP</a:t>
            </a:r>
            <a:r>
              <a:rPr lang="zh-CN" altLang="en-US" sz="1600" dirty="0"/>
              <a:t>表并</a:t>
            </a:r>
            <a:r>
              <a:rPr lang="en-US" altLang="zh-CN" sz="1600" dirty="0"/>
              <a:t>ping CE1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  <p:sp>
        <p:nvSpPr>
          <p:cNvPr id="45" name="文本框 44"/>
          <p:cNvSpPr txBox="1"/>
          <p:nvPr/>
        </p:nvSpPr>
        <p:spPr bwMode="gray">
          <a:xfrm>
            <a:off x="448435" y="4184084"/>
            <a:ext cx="5468178" cy="1938992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&lt;CE2&gt;display </a:t>
            </a:r>
            <a:r>
              <a:rPr lang="en-US" altLang="zh-CN" sz="1200" dirty="0" err="1"/>
              <a:t>arp</a:t>
            </a:r>
            <a:endParaRPr lang="en-US" altLang="zh-CN" sz="1200" dirty="0"/>
          </a:p>
          <a:p>
            <a:r>
              <a:rPr lang="en-US" altLang="zh-CN" sz="1200" dirty="0"/>
              <a:t>IP ADDRESS      MAC ADDRESS            INTERFACE      </a:t>
            </a:r>
            <a:endParaRPr lang="en-US" altLang="zh-CN" sz="1200" dirty="0"/>
          </a:p>
          <a:p>
            <a:r>
              <a:rPr lang="en-US" altLang="zh-CN" sz="1200" dirty="0"/>
              <a:t>--------------------------------------------------------------------</a:t>
            </a:r>
            <a:endParaRPr lang="en-US" altLang="zh-CN" sz="1200" dirty="0"/>
          </a:p>
          <a:p>
            <a:r>
              <a:rPr lang="en-US" altLang="zh-CN" sz="1200" dirty="0"/>
              <a:t>192.168.1.2    </a:t>
            </a:r>
            <a:r>
              <a:rPr lang="en-US" altLang="zh-CN" sz="1200" b="1" dirty="0"/>
              <a:t>4c1f-ccf9-5de3</a:t>
            </a:r>
            <a:r>
              <a:rPr lang="en-US" altLang="zh-CN" sz="1200" dirty="0"/>
              <a:t>              Vlanif2             </a:t>
            </a:r>
            <a:r>
              <a:rPr lang="en-US" altLang="zh-CN" sz="1200" b="1" dirty="0"/>
              <a:t>#CE2</a:t>
            </a:r>
            <a:r>
              <a:rPr lang="zh-CN" altLang="en-US" sz="1200" b="1" dirty="0"/>
              <a:t>的</a:t>
            </a:r>
            <a:r>
              <a:rPr lang="en-US" altLang="zh-CN" sz="1200" b="1" dirty="0"/>
              <a:t>MAC</a:t>
            </a:r>
            <a:r>
              <a:rPr lang="zh-CN" altLang="en-US" sz="1200" b="1" dirty="0"/>
              <a:t>地址</a:t>
            </a:r>
            <a:endParaRPr lang="en-US" altLang="zh-CN" sz="1200" b="1" dirty="0"/>
          </a:p>
          <a:p>
            <a:r>
              <a:rPr lang="en-US" altLang="zh-CN" sz="1200" dirty="0"/>
              <a:t>192.168.1.1    </a:t>
            </a:r>
            <a:r>
              <a:rPr lang="en-US" altLang="zh-CN" sz="1200" b="1" dirty="0"/>
              <a:t>4c1f-cccf-6675 </a:t>
            </a:r>
            <a:r>
              <a:rPr lang="en-US" altLang="zh-CN" sz="1200" dirty="0"/>
              <a:t>              Eth-Trunk10     </a:t>
            </a:r>
            <a:r>
              <a:rPr lang="en-US" altLang="zh-CN" sz="1200" b="1" dirty="0"/>
              <a:t>#CE1</a:t>
            </a:r>
            <a:r>
              <a:rPr lang="zh-CN" altLang="en-US" sz="1200" b="1" dirty="0"/>
              <a:t>的</a:t>
            </a:r>
            <a:r>
              <a:rPr lang="en-US" altLang="zh-CN" sz="1200" b="1" dirty="0"/>
              <a:t>MAC</a:t>
            </a:r>
            <a:r>
              <a:rPr lang="zh-CN" altLang="en-US" sz="1200" b="1" dirty="0"/>
              <a:t>地址</a:t>
            </a:r>
            <a:endParaRPr lang="en-US" altLang="zh-CN" sz="1200" b="1" dirty="0"/>
          </a:p>
          <a:p>
            <a:endParaRPr lang="en-US" altLang="zh-CN" sz="1200" dirty="0"/>
          </a:p>
          <a:p>
            <a:r>
              <a:rPr lang="en-US" altLang="zh-CN" sz="1200" dirty="0"/>
              <a:t>&lt;CE2&gt;ping 192.168.1.1</a:t>
            </a:r>
            <a:endParaRPr lang="en-US" altLang="zh-CN" sz="1200" dirty="0"/>
          </a:p>
          <a:p>
            <a:r>
              <a:rPr lang="en-US" altLang="zh-CN" sz="1200" dirty="0"/>
              <a:t>  PING 192.168.1.1: 56  data bytes, press CTRL_C to break</a:t>
            </a:r>
            <a:endParaRPr lang="en-US" altLang="zh-CN" sz="1200" dirty="0"/>
          </a:p>
          <a:p>
            <a:r>
              <a:rPr lang="en-US" altLang="zh-CN" sz="1200" dirty="0"/>
              <a:t>    Reply from 192.168.1.1: bytes=56 Sequence=1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time=10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192.168.1.1: bytes=56 Sequence=2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=255 time=50 </a:t>
            </a:r>
            <a:r>
              <a:rPr lang="en-US" altLang="zh-CN" sz="1200" dirty="0" err="1"/>
              <a:t>ms</a:t>
            </a:r>
            <a:endParaRPr lang="en-US" altLang="zh-CN" sz="1200" dirty="0"/>
          </a:p>
        </p:txBody>
      </p:sp>
      <p:sp>
        <p:nvSpPr>
          <p:cNvPr id="39" name="矩形 38"/>
          <p:cNvSpPr/>
          <p:nvPr/>
        </p:nvSpPr>
        <p:spPr bwMode="gray">
          <a:xfrm>
            <a:off x="1476091" y="4740798"/>
            <a:ext cx="1271600" cy="220309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 bwMode="gray">
          <a:xfrm>
            <a:off x="1476091" y="4952627"/>
            <a:ext cx="1271600" cy="220309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 bwMode="gray">
          <a:xfrm>
            <a:off x="8570082" y="2883446"/>
            <a:ext cx="2270709" cy="202685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/>
          <p:cNvCxnSpPr>
            <a:stCxn id="49" idx="3"/>
          </p:cNvCxnSpPr>
          <p:nvPr/>
        </p:nvCxnSpPr>
        <p:spPr bwMode="gray">
          <a:xfrm>
            <a:off x="10840791" y="2984789"/>
            <a:ext cx="252659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 bwMode="gray">
          <a:xfrm>
            <a:off x="11090595" y="2984789"/>
            <a:ext cx="0" cy="2266896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 bwMode="gray">
          <a:xfrm>
            <a:off x="8570082" y="5082408"/>
            <a:ext cx="2151251" cy="338554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PE1</a:t>
            </a:r>
            <a:r>
              <a:rPr lang="zh-CN" altLang="en-US" sz="1600" dirty="0"/>
              <a:t>为</a:t>
            </a:r>
            <a:r>
              <a:rPr lang="en-US" altLang="zh-CN" sz="1600" dirty="0"/>
              <a:t>CE1</a:t>
            </a:r>
            <a:r>
              <a:rPr lang="zh-CN" altLang="en-US" sz="1600" dirty="0"/>
              <a:t>分配的标签。</a:t>
            </a:r>
            <a:endParaRPr lang="en-US" altLang="zh-CN" sz="1600" dirty="0"/>
          </a:p>
        </p:txBody>
      </p:sp>
      <p:cxnSp>
        <p:nvCxnSpPr>
          <p:cNvPr id="58" name="直接箭头连接符 57"/>
          <p:cNvCxnSpPr>
            <a:endCxn id="57" idx="3"/>
          </p:cNvCxnSpPr>
          <p:nvPr/>
        </p:nvCxnSpPr>
        <p:spPr bwMode="gray">
          <a:xfrm flipH="1">
            <a:off x="10721333" y="5251685"/>
            <a:ext cx="372118" cy="0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背景与基本术语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的典型应用场景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EVPN</a:t>
            </a:r>
            <a:r>
              <a:rPr lang="zh-CN" altLang="en-US" b="1" dirty="0">
                <a:sym typeface="Huawei Sans" panose="020C0503030203020204" pitchFamily="34" charset="0"/>
              </a:rPr>
              <a:t>的基本配置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承载二层业务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EVPN</a:t>
            </a:r>
            <a:r>
              <a:rPr lang="zh-CN" altLang="en-US" dirty="0">
                <a:sym typeface="Huawei Sans" panose="020C0503030203020204" pitchFamily="34" charset="0"/>
              </a:rPr>
              <a:t>承载三层业务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EVPN</a:t>
            </a:r>
            <a:r>
              <a:rPr lang="zh-CN" altLang="en-US" dirty="0"/>
              <a:t>承载三层业务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gray">
          <a:xfrm>
            <a:off x="967343" y="1750662"/>
            <a:ext cx="10417179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[Huawei] </a:t>
            </a:r>
            <a:r>
              <a:rPr lang="en-US" altLang="zh-CN" sz="1600" b="1" dirty="0" err="1"/>
              <a:t>ip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 </a:t>
            </a:r>
            <a:r>
              <a:rPr lang="en-US" altLang="zh-CN" sz="1600" dirty="0" err="1"/>
              <a:t>vpna</a:t>
            </a:r>
            <a:endParaRPr lang="en-US" altLang="zh-CN" sz="1600" dirty="0"/>
          </a:p>
          <a:p>
            <a:pPr fontAlgn="base"/>
            <a:r>
              <a:rPr lang="en-US" altLang="zh-CN" sz="1600" dirty="0"/>
              <a:t>[Huawei-</a:t>
            </a:r>
            <a:r>
              <a:rPr lang="en-US" altLang="zh-CN" sz="1600" dirty="0" err="1"/>
              <a:t>vpn</a:t>
            </a:r>
            <a:r>
              <a:rPr lang="en-US" altLang="zh-CN" sz="1600" dirty="0"/>
              <a:t>-instance-</a:t>
            </a:r>
            <a:r>
              <a:rPr lang="en-US" altLang="zh-CN" sz="1600" dirty="0" err="1"/>
              <a:t>vpna</a:t>
            </a:r>
            <a:r>
              <a:rPr lang="en-US" altLang="zh-CN" sz="1600" dirty="0"/>
              <a:t>] </a:t>
            </a:r>
            <a:r>
              <a:rPr lang="en-US" altLang="zh-CN" sz="1600" b="1" dirty="0"/>
              <a:t>route-distinguisher </a:t>
            </a:r>
            <a:r>
              <a:rPr lang="en-US" altLang="zh-CN" sz="1600" i="1" dirty="0" err="1"/>
              <a:t>route-distinguisher</a:t>
            </a:r>
            <a:endParaRPr lang="en-US" altLang="zh-CN" sz="1600" i="1" dirty="0"/>
          </a:p>
          <a:p>
            <a:pPr fontAlgn="base"/>
            <a:r>
              <a:rPr lang="en-US" altLang="zh-CN" sz="1600" dirty="0"/>
              <a:t>[Huawei-</a:t>
            </a:r>
            <a:r>
              <a:rPr lang="en-US" altLang="zh-CN" sz="1600" dirty="0" err="1"/>
              <a:t>vpn</a:t>
            </a:r>
            <a:r>
              <a:rPr lang="en-US" altLang="zh-CN" sz="1600" dirty="0"/>
              <a:t>-instance-</a:t>
            </a:r>
            <a:r>
              <a:rPr lang="en-US" altLang="zh-CN" sz="1600" dirty="0" err="1"/>
              <a:t>vpna</a:t>
            </a:r>
            <a:r>
              <a:rPr lang="en-US" altLang="zh-CN" sz="1600" dirty="0"/>
              <a:t>]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vpn-target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vpn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-target &amp;&lt;1-8&gt;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[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both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|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export-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extcommunity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|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import-</a:t>
            </a:r>
            <a:r>
              <a:rPr lang="en-US" altLang="zh-CN" sz="16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extcommunity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 ] </a:t>
            </a:r>
            <a:r>
              <a:rPr lang="en-US" altLang="zh-CN" sz="1600" b="1" dirty="0" err="1"/>
              <a:t>evpn</a:t>
            </a:r>
            <a:endParaRPr lang="en-US" altLang="zh-CN" sz="1600" b="1" dirty="0"/>
          </a:p>
        </p:txBody>
      </p:sp>
      <p:sp>
        <p:nvSpPr>
          <p:cNvPr id="6" name="矩形 5"/>
          <p:cNvSpPr/>
          <p:nvPr/>
        </p:nvSpPr>
        <p:spPr bwMode="gray">
          <a:xfrm>
            <a:off x="486809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L3VPN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实例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791650" y="2905455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/>
              <a:t>创建一个名字为</a:t>
            </a:r>
            <a:r>
              <a:rPr lang="en-US" altLang="zh-CN" sz="1400" dirty="0" err="1"/>
              <a:t>vpna</a:t>
            </a:r>
            <a:r>
              <a:rPr lang="zh-CN" altLang="en-US" sz="1400" dirty="0"/>
              <a:t>的</a:t>
            </a:r>
            <a:r>
              <a:rPr lang="en-US" altLang="zh-CN" sz="1400" dirty="0"/>
              <a:t>L3VPN</a:t>
            </a:r>
            <a:r>
              <a:rPr lang="zh-CN" altLang="en-US" sz="1400" dirty="0"/>
              <a:t>实例，进入</a:t>
            </a:r>
            <a:r>
              <a:rPr lang="en-US" altLang="zh-CN" sz="1400" dirty="0"/>
              <a:t>L3VPN</a:t>
            </a:r>
            <a:r>
              <a:rPr lang="zh-CN" altLang="en-US" sz="1400" dirty="0"/>
              <a:t>实例视图，并配置</a:t>
            </a:r>
            <a:r>
              <a:rPr lang="en-US" altLang="zh-CN" sz="1400" dirty="0"/>
              <a:t>RD</a:t>
            </a:r>
            <a:r>
              <a:rPr lang="zh-CN" altLang="en-US" sz="1400" dirty="0"/>
              <a:t>和</a:t>
            </a:r>
            <a:r>
              <a:rPr lang="en-US" altLang="zh-CN" sz="1400" dirty="0"/>
              <a:t>RT</a:t>
            </a:r>
            <a:r>
              <a:rPr lang="zh-CN" altLang="en-US" sz="1400" dirty="0"/>
              <a:t>。注意</a:t>
            </a:r>
            <a:r>
              <a:rPr lang="en-US" altLang="zh-CN" sz="1400" dirty="0"/>
              <a:t>RT</a:t>
            </a:r>
            <a:r>
              <a:rPr lang="zh-CN" altLang="en-US" sz="1400" dirty="0"/>
              <a:t>值后面需要添加关键字</a:t>
            </a:r>
            <a:r>
              <a:rPr lang="en-US" altLang="zh-CN" sz="1400" b="1" dirty="0" err="1"/>
              <a:t>evpn</a:t>
            </a:r>
            <a:r>
              <a:rPr lang="zh-CN" altLang="en-US" sz="1400" dirty="0"/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967343" y="3737712"/>
            <a:ext cx="104171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/>
              <a:t>[Huawei-</a:t>
            </a:r>
            <a:r>
              <a:rPr lang="en-US" altLang="zh-CN" sz="1600" dirty="0" err="1"/>
              <a:t>vpn</a:t>
            </a:r>
            <a:r>
              <a:rPr lang="en-US" altLang="zh-CN" sz="1600" dirty="0"/>
              <a:t>-instance-</a:t>
            </a:r>
            <a:r>
              <a:rPr lang="en-US" altLang="zh-CN" sz="1600" dirty="0" err="1"/>
              <a:t>vpna</a:t>
            </a:r>
            <a:r>
              <a:rPr lang="en-US" altLang="zh-CN" sz="1600" dirty="0"/>
              <a:t>] </a:t>
            </a:r>
            <a:r>
              <a:rPr lang="en-US" altLang="zh-CN" sz="1600" b="1" dirty="0" err="1"/>
              <a:t>evpn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mpls</a:t>
            </a:r>
            <a:r>
              <a:rPr lang="en-US" altLang="zh-CN" sz="1600" b="1" dirty="0"/>
              <a:t> routing-enable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486809" y="335236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使能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EVPN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生成和发布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前缀路由和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IRB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路由的功能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gray">
          <a:xfrm>
            <a:off x="791650" y="4107921"/>
            <a:ext cx="106086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/>
              <a:t>在</a:t>
            </a:r>
            <a:r>
              <a:rPr lang="en-US" altLang="zh-CN" sz="1400" dirty="0"/>
              <a:t>EVPN L3VPN</a:t>
            </a:r>
            <a:r>
              <a:rPr lang="zh-CN" altLang="en-US" sz="1400" dirty="0"/>
              <a:t>业务场景中，当公网隧道采用</a:t>
            </a:r>
            <a:r>
              <a:rPr lang="en-US" altLang="zh-CN" sz="1400" dirty="0"/>
              <a:t>MPLS</a:t>
            </a:r>
            <a:r>
              <a:rPr lang="zh-CN" altLang="en-US" sz="1400" dirty="0"/>
              <a:t>或</a:t>
            </a:r>
            <a:r>
              <a:rPr lang="en-US" altLang="zh-CN" sz="1400" dirty="0"/>
              <a:t>SR-MPLS</a:t>
            </a:r>
            <a:r>
              <a:rPr lang="zh-CN" altLang="en-US" sz="1400" dirty="0"/>
              <a:t>隧道时，使能</a:t>
            </a:r>
            <a:r>
              <a:rPr lang="en-US" altLang="zh-CN" sz="1400" dirty="0"/>
              <a:t>EVPN</a:t>
            </a:r>
            <a:r>
              <a:rPr lang="zh-CN" altLang="en-US" sz="1400" dirty="0"/>
              <a:t>生成和发布</a:t>
            </a:r>
            <a:r>
              <a:rPr lang="en-US" altLang="zh-CN" sz="1400" dirty="0"/>
              <a:t>IP</a:t>
            </a:r>
            <a:r>
              <a:rPr lang="zh-CN" altLang="en-US" sz="1400" dirty="0"/>
              <a:t>前缀路由和</a:t>
            </a:r>
            <a:r>
              <a:rPr lang="en-US" altLang="zh-CN" sz="1400" dirty="0"/>
              <a:t>IRB</a:t>
            </a:r>
            <a:r>
              <a:rPr lang="zh-CN" altLang="en-US" sz="1400" dirty="0"/>
              <a:t>路由的功能，使本端设备向</a:t>
            </a:r>
            <a:r>
              <a:rPr lang="en-US" altLang="zh-CN" sz="1400" dirty="0"/>
              <a:t>EVPN</a:t>
            </a:r>
            <a:r>
              <a:rPr lang="zh-CN" altLang="en-US" sz="1400" dirty="0"/>
              <a:t>对等体发布</a:t>
            </a:r>
            <a:r>
              <a:rPr lang="en-US" altLang="zh-CN" sz="1400" dirty="0"/>
              <a:t>IP</a:t>
            </a:r>
            <a:r>
              <a:rPr lang="zh-CN" altLang="en-US" sz="1400" dirty="0"/>
              <a:t>前缀路由和</a:t>
            </a:r>
            <a:r>
              <a:rPr lang="en-US" altLang="zh-CN" sz="1400" dirty="0"/>
              <a:t>IRB</a:t>
            </a:r>
            <a:r>
              <a:rPr lang="zh-CN" altLang="en-US" sz="1400" dirty="0"/>
              <a:t>路由。当公网隧道采用</a:t>
            </a:r>
            <a:r>
              <a:rPr lang="en-US" altLang="zh-CN" sz="1400" dirty="0"/>
              <a:t>VXLAN</a:t>
            </a:r>
            <a:r>
              <a:rPr lang="zh-CN" altLang="en-US" sz="1400" dirty="0"/>
              <a:t>、</a:t>
            </a:r>
            <a:r>
              <a:rPr lang="en-US" altLang="zh-CN" sz="1400" dirty="0"/>
              <a:t>SRv6</a:t>
            </a:r>
            <a:r>
              <a:rPr lang="zh-CN" altLang="en-US" sz="1400" dirty="0"/>
              <a:t>等非</a:t>
            </a:r>
            <a:r>
              <a:rPr lang="en-US" altLang="zh-CN" sz="1400" dirty="0"/>
              <a:t>MPLS</a:t>
            </a:r>
            <a:r>
              <a:rPr lang="zh-CN" altLang="en-US" sz="1400" dirty="0"/>
              <a:t>类型隧道时，无需配置此命令。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967343" y="5217295"/>
            <a:ext cx="104171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/>
              <a:t>[Huawei-</a:t>
            </a:r>
            <a:r>
              <a:rPr lang="en-US" altLang="zh-CN" sz="1600" dirty="0" err="1"/>
              <a:t>bgp</a:t>
            </a:r>
            <a:r>
              <a:rPr lang="en-US" altLang="zh-CN" sz="1600" dirty="0"/>
              <a:t>-</a:t>
            </a:r>
            <a:r>
              <a:rPr lang="en-US" altLang="zh-CN" sz="1600" dirty="0" err="1"/>
              <a:t>vpna</a:t>
            </a:r>
            <a:r>
              <a:rPr lang="en-US" altLang="zh-CN" sz="1600" dirty="0"/>
              <a:t>] </a:t>
            </a:r>
            <a:r>
              <a:rPr lang="fi-FI" altLang="zh-CN" sz="1600" b="1" dirty="0"/>
              <a:t>advertise l2vpn evpn</a:t>
            </a:r>
            <a:endParaRPr lang="en-US" altLang="zh-CN" sz="1600" i="1" dirty="0"/>
          </a:p>
        </p:txBody>
      </p:sp>
      <p:sp>
        <p:nvSpPr>
          <p:cNvPr id="12" name="矩形 11"/>
          <p:cNvSpPr/>
          <p:nvPr/>
        </p:nvSpPr>
        <p:spPr bwMode="gray">
          <a:xfrm>
            <a:off x="486809" y="4831945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/>
              <a:t>配置发布</a:t>
            </a:r>
            <a:r>
              <a:rPr lang="en-US" altLang="zh-CN" sz="1600" dirty="0"/>
              <a:t>IP</a:t>
            </a:r>
            <a:r>
              <a:rPr lang="zh-CN" altLang="en-US" sz="1600" dirty="0"/>
              <a:t>前缀类型的路由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791650" y="5517749"/>
            <a:ext cx="10608699" cy="678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400" dirty="0"/>
              <a:t>缺省情况下，</a:t>
            </a:r>
            <a:r>
              <a:rPr lang="en-US" altLang="zh-CN" sz="1400" dirty="0"/>
              <a:t>VPN</a:t>
            </a:r>
            <a:r>
              <a:rPr lang="zh-CN" altLang="en-US" sz="1400" dirty="0"/>
              <a:t>实例的本地交叉路由是不会上送给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实例的，为了解决不同</a:t>
            </a:r>
            <a:r>
              <a:rPr lang="en-US" altLang="zh-CN" sz="1400" dirty="0"/>
              <a:t>VPN</a:t>
            </a:r>
            <a:r>
              <a:rPr lang="zh-CN" altLang="en-US" sz="1400" dirty="0"/>
              <a:t>实例互访问题，可以使能</a:t>
            </a:r>
            <a:r>
              <a:rPr lang="en-US" altLang="zh-CN" sz="1400" dirty="0"/>
              <a:t>VPN</a:t>
            </a:r>
            <a:r>
              <a:rPr lang="zh-CN" altLang="en-US" sz="1400" dirty="0"/>
              <a:t>实例向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实例发布本地交叉功能，使</a:t>
            </a:r>
            <a:r>
              <a:rPr lang="en-US" altLang="zh-CN" sz="1400" dirty="0"/>
              <a:t>VPN</a:t>
            </a:r>
            <a:r>
              <a:rPr lang="zh-CN" altLang="en-US" sz="1400" dirty="0"/>
              <a:t>实例收集的本地交叉路由发送给</a:t>
            </a:r>
            <a:r>
              <a:rPr lang="en-US" altLang="zh-CN" sz="1400" dirty="0"/>
              <a:t>EVPN</a:t>
            </a:r>
            <a:r>
              <a:rPr lang="zh-CN" altLang="en-US" sz="1400" dirty="0"/>
              <a:t>实例，然后通过</a:t>
            </a:r>
            <a:r>
              <a:rPr lang="en-US" altLang="zh-CN" sz="1400" dirty="0"/>
              <a:t>BGP EVPN</a:t>
            </a:r>
            <a:r>
              <a:rPr lang="zh-CN" altLang="en-US" sz="1400" dirty="0"/>
              <a:t>对等体关系发送给远端设备。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EVPN</a:t>
            </a:r>
            <a:r>
              <a:rPr lang="zh-CN" altLang="en-US" dirty="0"/>
              <a:t>承载三层业务示例：需求说明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 bwMode="gray">
          <a:xfrm>
            <a:off x="4817552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566907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1379" y="2146098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5417" y="214609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>
            <a:off x="1391379" y="2367498"/>
            <a:ext cx="603060" cy="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4" idx="3"/>
            <a:endCxn id="9" idx="1"/>
          </p:cNvCxnSpPr>
          <p:nvPr/>
        </p:nvCxnSpPr>
        <p:spPr bwMode="gray">
          <a:xfrm flipV="1">
            <a:off x="2534439" y="2367007"/>
            <a:ext cx="1146841" cy="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7" idx="1"/>
          </p:cNvCxnSpPr>
          <p:nvPr/>
        </p:nvCxnSpPr>
        <p:spPr bwMode="gray">
          <a:xfrm>
            <a:off x="4221280" y="2367007"/>
            <a:ext cx="724137" cy="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 bwMode="gray">
          <a:xfrm>
            <a:off x="472972" y="225101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CE1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428964" y="2213609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CE2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309156" y="2146098"/>
            <a:ext cx="756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GE0/1/0</a:t>
            </a:r>
            <a:endParaRPr lang="en-US" altLang="zh-CN" sz="1200" dirty="0"/>
          </a:p>
          <a:p>
            <a:pPr algn="ctr"/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46629" y="213158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GE0/2/0</a:t>
            </a:r>
            <a:endParaRPr lang="en-US" altLang="zh-CN" sz="1200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1786583" y="1662630"/>
            <a:ext cx="1799131" cy="1224673"/>
            <a:chOff x="1929458" y="1662630"/>
            <a:chExt cx="1799131" cy="1224673"/>
          </a:xfrm>
        </p:grpSpPr>
        <p:grpSp>
          <p:nvGrpSpPr>
            <p:cNvPr id="32" name="组合 31"/>
            <p:cNvGrpSpPr/>
            <p:nvPr/>
          </p:nvGrpSpPr>
          <p:grpSpPr bwMode="gray">
            <a:xfrm>
              <a:off x="2137314" y="2146731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5" name="文本框 34"/>
            <p:cNvSpPr txBox="1"/>
            <p:nvPr/>
          </p:nvSpPr>
          <p:spPr bwMode="gray">
            <a:xfrm>
              <a:off x="192945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77287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3473424" y="1662630"/>
            <a:ext cx="955711" cy="1239878"/>
            <a:chOff x="3254349" y="1662630"/>
            <a:chExt cx="955711" cy="1239878"/>
          </a:xfrm>
        </p:grpSpPr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462205" y="214609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 bwMode="gray">
            <a:xfrm>
              <a:off x="3497213" y="259473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PE2</a:t>
              </a:r>
              <a:endParaRPr lang="zh-CN" altLang="en-US" sz="14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254349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</p:grpSp>
      <p:sp>
        <p:nvSpPr>
          <p:cNvPr id="39" name="文本框 38"/>
          <p:cNvSpPr txBox="1"/>
          <p:nvPr/>
        </p:nvSpPr>
        <p:spPr bwMode="gray">
          <a:xfrm>
            <a:off x="516973" y="2586618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192.168.1.1/24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767618" y="2559664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192.168.2.1/24</a:t>
            </a:r>
            <a:endParaRPr lang="en-US" altLang="zh-CN" sz="1200" dirty="0"/>
          </a:p>
        </p:txBody>
      </p:sp>
      <p:sp>
        <p:nvSpPr>
          <p:cNvPr id="44" name="文本框 43"/>
          <p:cNvSpPr txBox="1"/>
          <p:nvPr/>
        </p:nvSpPr>
        <p:spPr bwMode="gray">
          <a:xfrm>
            <a:off x="444017" y="3385154"/>
            <a:ext cx="5653086" cy="26124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02260" indent="-302260" defTabSz="913765" fontAlgn="base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 marL="654685" lvl="1" indent="-252095" defTabSz="913765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defTabSz="913765" fontAlgn="base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540" indent="-198120" defTabSz="913765" fontAlgn="base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defTabSz="913765" fontAlgn="base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3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05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77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4930" indent="-228600" defTabSz="91376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zh-CN" altLang="en-US" dirty="0"/>
              <a:t>在网络中配置</a:t>
            </a:r>
            <a:r>
              <a:rPr lang="en-US" altLang="zh-CN" dirty="0"/>
              <a:t>EVPN</a:t>
            </a:r>
            <a:r>
              <a:rPr lang="zh-CN" altLang="en-US" dirty="0"/>
              <a:t>功能，实现三层流量互访：</a:t>
            </a:r>
            <a:endParaRPr lang="en-US" altLang="zh-CN" dirty="0"/>
          </a:p>
          <a:p>
            <a:pPr lvl="1"/>
            <a:r>
              <a:rPr lang="en-US" altLang="zh-CN" dirty="0"/>
              <a:t>CE1</a:t>
            </a:r>
            <a:r>
              <a:rPr lang="zh-CN" altLang="en-US" dirty="0"/>
              <a:t>的网关为</a:t>
            </a:r>
            <a:r>
              <a:rPr lang="en-US" altLang="zh-CN" dirty="0"/>
              <a:t>192.168.1.254/24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CE2</a:t>
            </a:r>
            <a:r>
              <a:rPr lang="zh-CN" altLang="en-US" dirty="0"/>
              <a:t>的网关为</a:t>
            </a:r>
            <a:r>
              <a:rPr lang="en-US" altLang="zh-CN" dirty="0"/>
              <a:t>192.168.2.254/24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L3VPN</a:t>
            </a:r>
            <a:r>
              <a:rPr lang="zh-CN" altLang="en-US" dirty="0"/>
              <a:t>实例名称</a:t>
            </a:r>
            <a:r>
              <a:rPr lang="en-US" altLang="zh-CN" dirty="0" err="1"/>
              <a:t>vpna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各个</a:t>
            </a:r>
            <a:r>
              <a:rPr lang="en-US" altLang="zh-CN" dirty="0"/>
              <a:t>PE</a:t>
            </a:r>
            <a:r>
              <a:rPr lang="zh-CN" altLang="en-US" dirty="0"/>
              <a:t>的</a:t>
            </a:r>
            <a:r>
              <a:rPr lang="en-US" altLang="zh-CN" dirty="0"/>
              <a:t>VPN</a:t>
            </a:r>
            <a:r>
              <a:rPr lang="zh-CN" altLang="en-US" dirty="0"/>
              <a:t>实例</a:t>
            </a:r>
            <a:r>
              <a:rPr lang="en-US" altLang="zh-CN" dirty="0" err="1"/>
              <a:t>vpna</a:t>
            </a:r>
            <a:r>
              <a:rPr lang="zh-CN" altLang="en-US" dirty="0"/>
              <a:t>的</a:t>
            </a:r>
            <a:r>
              <a:rPr lang="en-US" altLang="zh-CN" dirty="0"/>
              <a:t>RD</a:t>
            </a:r>
            <a:r>
              <a:rPr lang="zh-CN" altLang="en-US" dirty="0"/>
              <a:t>值分别为</a:t>
            </a:r>
            <a:r>
              <a:rPr lang="en-US" altLang="zh-CN" dirty="0"/>
              <a:t>100:1</a:t>
            </a:r>
            <a:r>
              <a:rPr lang="zh-CN" altLang="en-US" dirty="0"/>
              <a:t>、</a:t>
            </a:r>
            <a:r>
              <a:rPr lang="en-US" altLang="zh-CN" dirty="0"/>
              <a:t>200:1</a:t>
            </a:r>
            <a:r>
              <a:rPr lang="zh-CN" altLang="en-US" dirty="0"/>
              <a:t>，</a:t>
            </a:r>
            <a:r>
              <a:rPr lang="en-US" altLang="zh-CN" dirty="0"/>
              <a:t>RT</a:t>
            </a:r>
            <a:r>
              <a:rPr lang="zh-CN" altLang="en-US" dirty="0"/>
              <a:t>值均为</a:t>
            </a:r>
            <a:r>
              <a:rPr lang="en-US" altLang="zh-CN" dirty="0"/>
              <a:t>1:1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6096000" y="1449388"/>
            <a:ext cx="5638207" cy="4879805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ym typeface="Huawei Sans" panose="020C0503030203020204" pitchFamily="34" charset="0"/>
              </a:rPr>
              <a:t>配置思路：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上的</a:t>
            </a:r>
            <a:r>
              <a:rPr lang="en-US" altLang="zh-CN" sz="1400" dirty="0"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sym typeface="Huawei Sans" panose="020C0503030203020204" pitchFamily="34" charset="0"/>
              </a:rPr>
              <a:t>实例。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配置建立</a:t>
            </a:r>
            <a:r>
              <a:rPr lang="en-US" altLang="zh-CN" sz="1400" dirty="0">
                <a:sym typeface="Huawei Sans" panose="020C0503030203020204" pitchFamily="34" charset="0"/>
              </a:rPr>
              <a:t>BGP EVPN</a:t>
            </a:r>
            <a:r>
              <a:rPr lang="zh-CN" altLang="en-US" sz="1400" dirty="0">
                <a:sym typeface="Huawei Sans" panose="020C0503030203020204" pitchFamily="34" charset="0"/>
              </a:rPr>
              <a:t>对等体关系。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ym typeface="Huawei Sans" panose="020C0503030203020204" pitchFamily="34" charset="0"/>
              </a:rPr>
              <a:t>接入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，发布路由。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配置结果验证。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2801943" y="2146731"/>
            <a:ext cx="540000" cy="740572"/>
            <a:chOff x="2227751" y="1238539"/>
            <a:chExt cx="540000" cy="740572"/>
          </a:xfrm>
        </p:grpSpPr>
        <p:pic>
          <p:nvPicPr>
            <p:cNvPr id="4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gray">
            <a:xfrm>
              <a:off x="2227751" y="1238539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47" name="文本框 46"/>
            <p:cNvSpPr txBox="1"/>
            <p:nvPr/>
          </p:nvSpPr>
          <p:spPr bwMode="gray">
            <a:xfrm>
              <a:off x="2303627" y="167133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P1</a:t>
              </a:r>
              <a:endParaRPr lang="zh-CN" altLang="en-US" sz="1400" dirty="0"/>
            </a:p>
          </p:txBody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EVPN</a:t>
            </a:r>
            <a:r>
              <a:rPr lang="zh-CN" altLang="en-US" dirty="0"/>
              <a:t>承载三层业务示例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 bwMode="gray">
          <a:xfrm>
            <a:off x="4817552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566907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1379" y="2146098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5417" y="214609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>
            <a:off x="1391379" y="2367498"/>
            <a:ext cx="603060" cy="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4" idx="3"/>
            <a:endCxn id="9" idx="1"/>
          </p:cNvCxnSpPr>
          <p:nvPr/>
        </p:nvCxnSpPr>
        <p:spPr bwMode="gray">
          <a:xfrm flipV="1">
            <a:off x="2534439" y="2367007"/>
            <a:ext cx="1146841" cy="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7" idx="1"/>
          </p:cNvCxnSpPr>
          <p:nvPr/>
        </p:nvCxnSpPr>
        <p:spPr bwMode="gray">
          <a:xfrm>
            <a:off x="4221280" y="2367007"/>
            <a:ext cx="724137" cy="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 bwMode="gray">
          <a:xfrm>
            <a:off x="472972" y="225101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CE1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428964" y="2213609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CE2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309156" y="2146098"/>
            <a:ext cx="756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GE0/1/0</a:t>
            </a:r>
            <a:endParaRPr lang="en-US" altLang="zh-CN" sz="1200" dirty="0"/>
          </a:p>
          <a:p>
            <a:pPr algn="ctr"/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46629" y="213158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GE0/2/0</a:t>
            </a:r>
            <a:endParaRPr lang="en-US" altLang="zh-CN" sz="1200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1786583" y="1662630"/>
            <a:ext cx="1799131" cy="1224673"/>
            <a:chOff x="1929458" y="1662630"/>
            <a:chExt cx="1799131" cy="1224673"/>
          </a:xfrm>
        </p:grpSpPr>
        <p:grpSp>
          <p:nvGrpSpPr>
            <p:cNvPr id="32" name="组合 31"/>
            <p:cNvGrpSpPr/>
            <p:nvPr/>
          </p:nvGrpSpPr>
          <p:grpSpPr bwMode="gray">
            <a:xfrm>
              <a:off x="2137314" y="2146731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5" name="文本框 34"/>
            <p:cNvSpPr txBox="1"/>
            <p:nvPr/>
          </p:nvSpPr>
          <p:spPr bwMode="gray">
            <a:xfrm>
              <a:off x="192945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77287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3473424" y="1662630"/>
            <a:ext cx="955711" cy="1239878"/>
            <a:chOff x="3254349" y="1662630"/>
            <a:chExt cx="955711" cy="1239878"/>
          </a:xfrm>
        </p:grpSpPr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462205" y="214609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 bwMode="gray">
            <a:xfrm>
              <a:off x="3497213" y="259473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PE2</a:t>
              </a:r>
              <a:endParaRPr lang="zh-CN" altLang="en-US" sz="14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254349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</p:grpSp>
      <p:sp>
        <p:nvSpPr>
          <p:cNvPr id="39" name="文本框 38"/>
          <p:cNvSpPr txBox="1"/>
          <p:nvPr/>
        </p:nvSpPr>
        <p:spPr bwMode="gray">
          <a:xfrm>
            <a:off x="516973" y="2586618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192.168.1.1/24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767618" y="2559664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192.168.2.1/24</a:t>
            </a:r>
            <a:endParaRPr lang="en-US" altLang="zh-CN" sz="1200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452438" y="3392488"/>
            <a:ext cx="5638207" cy="277003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ym typeface="Huawei Sans" panose="020C0503030203020204" pitchFamily="34" charset="0"/>
              </a:rPr>
              <a:t>配置</a:t>
            </a:r>
            <a:r>
              <a:rPr lang="en-US" altLang="zh-CN" sz="1400" b="1" dirty="0"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sym typeface="Huawei Sans" panose="020C0503030203020204" pitchFamily="34" charset="0"/>
              </a:rPr>
              <a:t>上的</a:t>
            </a:r>
            <a:r>
              <a:rPr lang="en-US" altLang="zh-CN" sz="1400" b="1" dirty="0">
                <a:sym typeface="Huawei Sans" panose="020C0503030203020204" pitchFamily="34" charset="0"/>
              </a:rPr>
              <a:t>L3VPN</a:t>
            </a:r>
            <a:r>
              <a:rPr lang="zh-CN" altLang="en-US" sz="1400" b="1" dirty="0">
                <a:sym typeface="Huawei Sans" panose="020C0503030203020204" pitchFamily="34" charset="0"/>
              </a:rPr>
              <a:t>实例。</a:t>
            </a:r>
            <a:endParaRPr lang="zh-CN" altLang="en-US" sz="1400" b="1" dirty="0"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ym typeface="Huawei Sans" panose="020C0503030203020204" pitchFamily="34" charset="0"/>
              </a:rPr>
              <a:t>配置建立</a:t>
            </a:r>
            <a:r>
              <a:rPr lang="en-US" altLang="zh-CN" sz="1400" b="1" dirty="0">
                <a:sym typeface="Huawei Sans" panose="020C0503030203020204" pitchFamily="34" charset="0"/>
              </a:rPr>
              <a:t>BGP EVPN</a:t>
            </a:r>
            <a:r>
              <a:rPr lang="zh-CN" altLang="en-US" sz="1400" b="1" dirty="0">
                <a:sym typeface="Huawei Sans" panose="020C0503030203020204" pitchFamily="34" charset="0"/>
              </a:rPr>
              <a:t>对等体关系。</a:t>
            </a:r>
            <a:endParaRPr lang="zh-CN" altLang="en-US" sz="1400" b="1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，发布路由。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2801943" y="2146731"/>
            <a:ext cx="540000" cy="740572"/>
            <a:chOff x="2227751" y="1238539"/>
            <a:chExt cx="540000" cy="740572"/>
          </a:xfrm>
        </p:grpSpPr>
        <p:pic>
          <p:nvPicPr>
            <p:cNvPr id="4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gray">
            <a:xfrm>
              <a:off x="2227751" y="1238539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47" name="文本框 46"/>
            <p:cNvSpPr txBox="1"/>
            <p:nvPr/>
          </p:nvSpPr>
          <p:spPr bwMode="gray">
            <a:xfrm>
              <a:off x="2303627" y="167133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P1</a:t>
              </a:r>
              <a:endParaRPr lang="zh-CN" altLang="en-US" sz="1400" dirty="0"/>
            </a:p>
          </p:txBody>
        </p:sp>
      </p:grpSp>
      <p:grpSp>
        <p:nvGrpSpPr>
          <p:cNvPr id="5" name="组合 4"/>
          <p:cNvGrpSpPr/>
          <p:nvPr/>
        </p:nvGrpSpPr>
        <p:grpSpPr bwMode="gray">
          <a:xfrm>
            <a:off x="6049273" y="1522323"/>
            <a:ext cx="5699815" cy="4447469"/>
            <a:chOff x="6049272" y="1066953"/>
            <a:chExt cx="5699815" cy="4447469"/>
          </a:xfrm>
        </p:grpSpPr>
        <p:sp>
          <p:nvSpPr>
            <p:cNvPr id="31" name="文本框 30"/>
            <p:cNvSpPr txBox="1"/>
            <p:nvPr/>
          </p:nvSpPr>
          <p:spPr bwMode="gray">
            <a:xfrm>
              <a:off x="6149970" y="1468981"/>
              <a:ext cx="5599117" cy="1815882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[~PE1] </a:t>
              </a:r>
              <a:r>
                <a:rPr lang="en-US" altLang="zh-CN" sz="1400" dirty="0" err="1"/>
                <a:t>ip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vpn</a:t>
              </a:r>
              <a:r>
                <a:rPr lang="en-US" altLang="zh-CN" sz="1400" dirty="0"/>
                <a:t>-instance </a:t>
              </a:r>
              <a:r>
                <a:rPr lang="en-US" altLang="zh-CN" sz="1400" dirty="0" err="1"/>
                <a:t>vpna</a:t>
              </a:r>
              <a:endParaRPr lang="en-US" altLang="zh-CN" sz="1400" dirty="0"/>
            </a:p>
            <a:p>
              <a:r>
                <a:rPr lang="en-US" altLang="zh-CN" sz="1400" dirty="0"/>
                <a:t>[*PE1-vpn-instance-vpna] ipv4-family</a:t>
              </a:r>
              <a:endParaRPr lang="en-US" altLang="zh-CN" sz="1400" dirty="0"/>
            </a:p>
            <a:p>
              <a:r>
                <a:rPr lang="en-US" altLang="zh-CN" sz="1400" dirty="0"/>
                <a:t>[*PE1-vpn-instance-vpna-af-ipv4] route-distinguisher 100:1</a:t>
              </a:r>
              <a:endParaRPr lang="en-US" altLang="zh-CN" sz="1400" dirty="0"/>
            </a:p>
            <a:p>
              <a:r>
                <a:rPr lang="en-US" altLang="zh-CN" sz="1400" dirty="0"/>
                <a:t>[*PE1-vpn-instance-vpna-af-ipv4] </a:t>
              </a:r>
              <a:r>
                <a:rPr lang="en-US" altLang="zh-CN" sz="1400" b="1" dirty="0" err="1"/>
                <a:t>vpn</a:t>
              </a:r>
              <a:r>
                <a:rPr lang="en-US" altLang="zh-CN" sz="1400" b="1" dirty="0"/>
                <a:t>-target 1:1 both </a:t>
              </a:r>
              <a:r>
                <a:rPr lang="en-US" altLang="zh-CN" sz="1400" b="1" dirty="0" err="1"/>
                <a:t>evpn</a:t>
              </a:r>
              <a:endParaRPr lang="en-US" altLang="zh-CN" sz="1400" b="1" dirty="0"/>
            </a:p>
            <a:p>
              <a:r>
                <a:rPr lang="en-US" altLang="zh-CN" sz="1400" dirty="0"/>
                <a:t>[*PE1-vpn-instance-vpna-af-ipv4] </a:t>
              </a:r>
              <a:r>
                <a:rPr lang="en-US" altLang="zh-CN" sz="1400" dirty="0" err="1"/>
                <a:t>evpn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mpls</a:t>
              </a:r>
              <a:r>
                <a:rPr lang="en-US" altLang="zh-CN" sz="1400" dirty="0"/>
                <a:t> routing-enable</a:t>
              </a:r>
              <a:endParaRPr lang="en-US" altLang="zh-CN" sz="1400" dirty="0"/>
            </a:p>
            <a:p>
              <a:r>
                <a:rPr lang="en-US" altLang="zh-CN" sz="1400" dirty="0"/>
                <a:t>[*PE1-vpn-instance-vpna-af-ipv4] quit</a:t>
              </a:r>
              <a:endParaRPr lang="en-US" altLang="zh-CN" sz="1400" dirty="0"/>
            </a:p>
            <a:p>
              <a:r>
                <a:rPr lang="en-US" altLang="zh-CN" sz="1400" dirty="0"/>
                <a:t>[*PE1-vpn-instance-vpna] quit</a:t>
              </a:r>
              <a:endParaRPr lang="en-US" altLang="zh-CN" sz="1400" dirty="0"/>
            </a:p>
            <a:p>
              <a:r>
                <a:rPr lang="en-US" altLang="zh-CN" sz="1400" dirty="0"/>
                <a:t>[*PE1] commit</a:t>
              </a:r>
              <a:endParaRPr lang="zh-CN" altLang="en-US" sz="14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>
              <a:off x="6049272" y="1066953"/>
              <a:ext cx="34339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以</a:t>
              </a:r>
              <a:r>
                <a:rPr lang="en-US" altLang="zh-CN" sz="1600" dirty="0"/>
                <a:t>PE1</a:t>
              </a:r>
              <a:r>
                <a:rPr lang="zh-CN" altLang="en-US" sz="1600" dirty="0"/>
                <a:t>为例配置</a:t>
              </a:r>
              <a:r>
                <a:rPr lang="en-US" altLang="zh-CN" sz="1600" dirty="0"/>
                <a:t>PE</a:t>
              </a:r>
              <a:r>
                <a:rPr lang="zh-CN" altLang="en-US" sz="1600" dirty="0"/>
                <a:t>上的</a:t>
              </a:r>
              <a:r>
                <a:rPr lang="en-US" altLang="zh-CN" sz="1600" dirty="0"/>
                <a:t>L3VPN</a:t>
              </a:r>
              <a:r>
                <a:rPr lang="zh-CN" altLang="en-US" sz="1600" dirty="0"/>
                <a:t>实例。</a:t>
              </a:r>
              <a:endParaRPr lang="zh-CN" altLang="en-US" sz="16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6149970" y="3698540"/>
              <a:ext cx="5599117" cy="1815882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[~PE1] </a:t>
              </a:r>
              <a:r>
                <a:rPr lang="en-US" altLang="zh-CN" sz="1400" dirty="0" err="1"/>
                <a:t>bgp</a:t>
              </a:r>
              <a:r>
                <a:rPr lang="en-US" altLang="zh-CN" sz="1400" dirty="0"/>
                <a:t> 100</a:t>
              </a:r>
              <a:endParaRPr lang="en-US" altLang="zh-CN" sz="1400" dirty="0"/>
            </a:p>
            <a:p>
              <a:r>
                <a:rPr lang="en-US" altLang="zh-CN" sz="1400" dirty="0"/>
                <a:t>[*PE1-bgp] peer 10.0.3.3 as-number 100</a:t>
              </a:r>
              <a:endParaRPr lang="en-US" altLang="zh-CN" sz="1400" dirty="0"/>
            </a:p>
            <a:p>
              <a:r>
                <a:rPr lang="en-US" altLang="zh-CN" sz="1400" dirty="0"/>
                <a:t>[*PE1-bgp] peer 10.0.3.3 connect-interface loopback 0</a:t>
              </a:r>
              <a:endParaRPr lang="en-US" altLang="zh-CN" sz="1400" dirty="0"/>
            </a:p>
            <a:p>
              <a:r>
                <a:rPr lang="en-US" altLang="zh-CN" sz="1400" dirty="0"/>
                <a:t>[*PE1-bgp] l2vpn-family </a:t>
              </a:r>
              <a:r>
                <a:rPr lang="en-US" altLang="zh-CN" sz="1400" dirty="0" err="1"/>
                <a:t>evpn</a:t>
              </a:r>
              <a:endParaRPr lang="en-US" altLang="zh-CN" sz="1400" dirty="0"/>
            </a:p>
            <a:p>
              <a:r>
                <a:rPr lang="en-US" altLang="zh-CN" sz="1400" dirty="0"/>
                <a:t>[*PE1-bgp-af-evpn] peer 10.0.3.3 enable</a:t>
              </a:r>
              <a:endParaRPr lang="en-US" altLang="zh-CN" sz="1400" dirty="0"/>
            </a:p>
            <a:p>
              <a:r>
                <a:rPr lang="en-US" altLang="zh-CN" sz="1400" dirty="0"/>
                <a:t>[*PE1-bgp-af-evpn] quit</a:t>
              </a:r>
              <a:endParaRPr lang="en-US" altLang="zh-CN" sz="1400" dirty="0"/>
            </a:p>
            <a:p>
              <a:r>
                <a:rPr lang="en-US" altLang="zh-CN" sz="1400" dirty="0"/>
                <a:t>[*PE1-bgp] quit</a:t>
              </a:r>
              <a:endParaRPr lang="en-US" altLang="zh-CN" sz="1400" dirty="0"/>
            </a:p>
            <a:p>
              <a:r>
                <a:rPr lang="en-US" altLang="zh-CN" sz="1400" dirty="0"/>
                <a:t>[*PE1] commit</a:t>
              </a:r>
              <a:endParaRPr lang="zh-CN" altLang="en-US" sz="1400" dirty="0"/>
            </a:p>
          </p:txBody>
        </p:sp>
        <p:sp>
          <p:nvSpPr>
            <p:cNvPr id="42" name="文本框 41"/>
            <p:cNvSpPr txBox="1"/>
            <p:nvPr/>
          </p:nvSpPr>
          <p:spPr bwMode="gray">
            <a:xfrm>
              <a:off x="6049272" y="3407504"/>
              <a:ext cx="41633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以</a:t>
              </a:r>
              <a:r>
                <a:rPr lang="en-US" altLang="zh-CN" sz="1600" dirty="0"/>
                <a:t>PE1</a:t>
              </a:r>
              <a:r>
                <a:rPr lang="zh-CN" altLang="en-US" sz="1600" dirty="0"/>
                <a:t>为例配置建立</a:t>
              </a:r>
              <a:r>
                <a:rPr lang="en-US" altLang="zh-CN" sz="1600" dirty="0"/>
                <a:t>BGP EVPN</a:t>
              </a:r>
              <a:r>
                <a:rPr lang="zh-CN" altLang="en-US" sz="1600" dirty="0"/>
                <a:t>对等体关系。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EVPN</a:t>
            </a:r>
            <a:r>
              <a:rPr lang="zh-CN" altLang="en-US" dirty="0"/>
              <a:t>承载三层业务示例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 bwMode="gray">
          <a:xfrm>
            <a:off x="4817552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566907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1379" y="2146098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5417" y="214609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>
            <a:off x="1391379" y="2367498"/>
            <a:ext cx="603060" cy="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4" idx="3"/>
            <a:endCxn id="9" idx="1"/>
          </p:cNvCxnSpPr>
          <p:nvPr/>
        </p:nvCxnSpPr>
        <p:spPr bwMode="gray">
          <a:xfrm flipV="1">
            <a:off x="2534439" y="2367007"/>
            <a:ext cx="1146841" cy="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7" idx="1"/>
          </p:cNvCxnSpPr>
          <p:nvPr/>
        </p:nvCxnSpPr>
        <p:spPr bwMode="gray">
          <a:xfrm>
            <a:off x="4221280" y="2367007"/>
            <a:ext cx="724137" cy="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 bwMode="gray">
          <a:xfrm>
            <a:off x="472972" y="225101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CE1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428964" y="2213609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CE2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309156" y="2146098"/>
            <a:ext cx="756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GE0/1/0</a:t>
            </a:r>
            <a:endParaRPr lang="en-US" altLang="zh-CN" sz="1200" dirty="0"/>
          </a:p>
          <a:p>
            <a:pPr algn="ctr"/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46629" y="213158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GE0/2/0</a:t>
            </a:r>
            <a:endParaRPr lang="en-US" altLang="zh-CN" sz="1200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1786583" y="1662630"/>
            <a:ext cx="1799131" cy="1224673"/>
            <a:chOff x="1929458" y="1662630"/>
            <a:chExt cx="1799131" cy="1224673"/>
          </a:xfrm>
        </p:grpSpPr>
        <p:grpSp>
          <p:nvGrpSpPr>
            <p:cNvPr id="32" name="组合 31"/>
            <p:cNvGrpSpPr/>
            <p:nvPr/>
          </p:nvGrpSpPr>
          <p:grpSpPr bwMode="gray">
            <a:xfrm>
              <a:off x="2137314" y="2146731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5" name="文本框 34"/>
            <p:cNvSpPr txBox="1"/>
            <p:nvPr/>
          </p:nvSpPr>
          <p:spPr bwMode="gray">
            <a:xfrm>
              <a:off x="192945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77287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3473424" y="1662630"/>
            <a:ext cx="955711" cy="1239878"/>
            <a:chOff x="3254349" y="1662630"/>
            <a:chExt cx="955711" cy="1239878"/>
          </a:xfrm>
        </p:grpSpPr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462205" y="214609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 bwMode="gray">
            <a:xfrm>
              <a:off x="3497213" y="259473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PE2</a:t>
              </a:r>
              <a:endParaRPr lang="zh-CN" altLang="en-US" sz="14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254349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</p:grpSp>
      <p:sp>
        <p:nvSpPr>
          <p:cNvPr id="39" name="文本框 38"/>
          <p:cNvSpPr txBox="1"/>
          <p:nvPr/>
        </p:nvSpPr>
        <p:spPr bwMode="gray">
          <a:xfrm>
            <a:off x="516973" y="2586618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192.168.1.1/24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767618" y="2559664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192.168.2.1/24</a:t>
            </a:r>
            <a:endParaRPr lang="en-US" altLang="zh-CN" sz="1200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452438" y="3392488"/>
            <a:ext cx="5638207" cy="277003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ym typeface="Huawei Sans" panose="020C0503030203020204" pitchFamily="34" charset="0"/>
              </a:rPr>
              <a:t>配置</a:t>
            </a:r>
            <a:r>
              <a:rPr lang="en-US" altLang="zh-CN" sz="1400" b="1" dirty="0">
                <a:sym typeface="Huawei Sans" panose="020C0503030203020204" pitchFamily="34" charset="0"/>
              </a:rPr>
              <a:t>CE</a:t>
            </a:r>
            <a:r>
              <a:rPr lang="zh-CN" altLang="en-US" sz="1400" b="1" dirty="0">
                <a:sym typeface="Huawei Sans" panose="020C0503030203020204" pitchFamily="34" charset="0"/>
              </a:rPr>
              <a:t>接入</a:t>
            </a:r>
            <a:r>
              <a:rPr lang="en-US" altLang="zh-CN" sz="1400" b="1" dirty="0">
                <a:sym typeface="Huawei Sans" panose="020C0503030203020204" pitchFamily="34" charset="0"/>
              </a:rPr>
              <a:t>PE</a:t>
            </a:r>
            <a:r>
              <a:rPr lang="zh-CN" altLang="en-US" sz="1400" b="1" dirty="0">
                <a:sym typeface="Huawei Sans" panose="020C0503030203020204" pitchFamily="34" charset="0"/>
              </a:rPr>
              <a:t>，发布路由。</a:t>
            </a:r>
            <a:endParaRPr lang="zh-CN" altLang="en-US" sz="1400" b="1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配置结果验证。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2801943" y="2146731"/>
            <a:ext cx="540000" cy="740572"/>
            <a:chOff x="2227751" y="1238539"/>
            <a:chExt cx="540000" cy="740572"/>
          </a:xfrm>
        </p:grpSpPr>
        <p:pic>
          <p:nvPicPr>
            <p:cNvPr id="4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gray">
            <a:xfrm>
              <a:off x="2227751" y="1238539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47" name="文本框 46"/>
            <p:cNvSpPr txBox="1"/>
            <p:nvPr/>
          </p:nvSpPr>
          <p:spPr bwMode="gray">
            <a:xfrm>
              <a:off x="2303627" y="167133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P1</a:t>
              </a:r>
              <a:endParaRPr lang="zh-CN" altLang="en-US" sz="1400" dirty="0"/>
            </a:p>
          </p:txBody>
        </p:sp>
      </p:grpSp>
      <p:grpSp>
        <p:nvGrpSpPr>
          <p:cNvPr id="5" name="组合 4"/>
          <p:cNvGrpSpPr/>
          <p:nvPr/>
        </p:nvGrpSpPr>
        <p:grpSpPr bwMode="gray">
          <a:xfrm>
            <a:off x="6049273" y="1500388"/>
            <a:ext cx="5699815" cy="3836380"/>
            <a:chOff x="6049272" y="1066953"/>
            <a:chExt cx="5699815" cy="3836380"/>
          </a:xfrm>
        </p:grpSpPr>
        <p:sp>
          <p:nvSpPr>
            <p:cNvPr id="31" name="文本框 30"/>
            <p:cNvSpPr txBox="1"/>
            <p:nvPr/>
          </p:nvSpPr>
          <p:spPr bwMode="gray">
            <a:xfrm>
              <a:off x="6149970" y="1468981"/>
              <a:ext cx="5599117" cy="1384995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[~PE1] interface </a:t>
              </a:r>
              <a:r>
                <a:rPr lang="en-US" altLang="zh-CN" sz="1400" dirty="0" err="1"/>
                <a:t>GigabitEthernet</a:t>
              </a:r>
              <a:r>
                <a:rPr lang="en-US" altLang="zh-CN" sz="1400" dirty="0"/>
                <a:t> 0/1/0</a:t>
              </a:r>
              <a:endParaRPr lang="en-US" altLang="zh-CN" sz="1400" dirty="0"/>
            </a:p>
            <a:p>
              <a:r>
                <a:rPr lang="en-US" altLang="zh-CN" sz="1400" dirty="0"/>
                <a:t>[*PE1-GigabitEthernet0/1/0] </a:t>
              </a:r>
              <a:r>
                <a:rPr lang="en-US" altLang="zh-CN" sz="1400" dirty="0" err="1"/>
                <a:t>ip</a:t>
              </a:r>
              <a:r>
                <a:rPr lang="en-US" altLang="zh-CN" sz="1400" dirty="0"/>
                <a:t> binding </a:t>
              </a:r>
              <a:r>
                <a:rPr lang="en-US" altLang="zh-CN" sz="1400" dirty="0" err="1"/>
                <a:t>vpn</a:t>
              </a:r>
              <a:r>
                <a:rPr lang="en-US" altLang="zh-CN" sz="1400" dirty="0"/>
                <a:t>-instance </a:t>
              </a:r>
              <a:r>
                <a:rPr lang="en-US" altLang="zh-CN" sz="1400" dirty="0" err="1"/>
                <a:t>vpna</a:t>
              </a:r>
              <a:endParaRPr lang="en-US" altLang="zh-CN" sz="1400" dirty="0"/>
            </a:p>
            <a:p>
              <a:r>
                <a:rPr lang="en-US" altLang="zh-CN" sz="1400" dirty="0"/>
                <a:t>[*PE1-GigabitEthernet0/1/0] </a:t>
              </a:r>
              <a:r>
                <a:rPr lang="en-US" altLang="zh-CN" sz="1400" dirty="0" err="1"/>
                <a:t>ip</a:t>
              </a:r>
              <a:r>
                <a:rPr lang="en-US" altLang="zh-CN" sz="1400" dirty="0"/>
                <a:t> address 192.168.1.254 255.255.255.0</a:t>
              </a:r>
              <a:endParaRPr lang="en-US" altLang="zh-CN" sz="1400" dirty="0"/>
            </a:p>
            <a:p>
              <a:r>
                <a:rPr lang="en-US" altLang="zh-CN" sz="1400" dirty="0"/>
                <a:t>[*PE1-GigabitEthernet0/1/0] quit</a:t>
              </a:r>
              <a:endParaRPr lang="en-US" altLang="zh-CN" sz="1400" dirty="0"/>
            </a:p>
            <a:p>
              <a:r>
                <a:rPr lang="en-US" altLang="zh-CN" sz="1400" dirty="0"/>
                <a:t>[*PE1] commit</a:t>
              </a:r>
              <a:endParaRPr lang="zh-CN" altLang="en-US" sz="14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>
              <a:off x="6049272" y="1066953"/>
              <a:ext cx="26372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以</a:t>
              </a:r>
              <a:r>
                <a:rPr lang="en-US" altLang="zh-CN" sz="1600" dirty="0"/>
                <a:t>PE1</a:t>
              </a:r>
              <a:r>
                <a:rPr lang="zh-CN" altLang="en-US" sz="1600" dirty="0"/>
                <a:t>为例配置</a:t>
              </a:r>
              <a:r>
                <a:rPr lang="en-US" altLang="zh-CN" sz="1600" dirty="0"/>
                <a:t>CE</a:t>
              </a:r>
              <a:r>
                <a:rPr lang="zh-CN" altLang="en-US" sz="1600" dirty="0"/>
                <a:t>接入</a:t>
              </a:r>
              <a:r>
                <a:rPr lang="en-US" altLang="zh-CN" sz="1600" dirty="0"/>
                <a:t>PE</a:t>
              </a:r>
              <a:r>
                <a:rPr lang="zh-CN" altLang="en-US" sz="1600" dirty="0"/>
                <a:t>。</a:t>
              </a:r>
              <a:endParaRPr lang="zh-CN" altLang="en-US" sz="1600" dirty="0"/>
            </a:p>
          </p:txBody>
        </p:sp>
        <p:sp>
          <p:nvSpPr>
            <p:cNvPr id="37" name="文本框 36"/>
            <p:cNvSpPr txBox="1"/>
            <p:nvPr/>
          </p:nvSpPr>
          <p:spPr bwMode="gray">
            <a:xfrm>
              <a:off x="6149970" y="3241340"/>
              <a:ext cx="5599117" cy="1661993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[~PE1] </a:t>
              </a:r>
              <a:r>
                <a:rPr lang="en-US" altLang="zh-CN" sz="1400" dirty="0" err="1"/>
                <a:t>bgp</a:t>
              </a:r>
              <a:r>
                <a:rPr lang="en-US" altLang="zh-CN" sz="1400" dirty="0"/>
                <a:t> 100</a:t>
              </a:r>
              <a:endParaRPr lang="en-US" altLang="zh-CN" sz="1400" dirty="0"/>
            </a:p>
            <a:p>
              <a:r>
                <a:rPr lang="en-US" altLang="zh-CN" sz="1400" dirty="0"/>
                <a:t>[~PE1-bgp] ipv4-family </a:t>
              </a:r>
              <a:r>
                <a:rPr lang="en-US" altLang="zh-CN" sz="1400" dirty="0" err="1"/>
                <a:t>vpn</a:t>
              </a:r>
              <a:r>
                <a:rPr lang="en-US" altLang="zh-CN" sz="1400" dirty="0"/>
                <a:t>-instance </a:t>
              </a:r>
              <a:r>
                <a:rPr lang="en-US" altLang="zh-CN" sz="1400" dirty="0" err="1"/>
                <a:t>vpna</a:t>
              </a:r>
              <a:endParaRPr lang="en-US" altLang="zh-CN" sz="1400" dirty="0"/>
            </a:p>
            <a:p>
              <a:r>
                <a:rPr lang="en-US" altLang="zh-CN" sz="1400" dirty="0"/>
                <a:t>[~PE1-bgp-vpna] import-route direct</a:t>
              </a:r>
              <a:endParaRPr lang="en-US" altLang="zh-CN" sz="1400" dirty="0"/>
            </a:p>
            <a:p>
              <a:r>
                <a:rPr lang="en-US" altLang="zh-CN" sz="1400" dirty="0"/>
                <a:t>[~PE1-bgp-vpna] advertise l2vpn </a:t>
              </a:r>
              <a:r>
                <a:rPr lang="en-US" altLang="zh-CN" sz="1400" dirty="0" err="1"/>
                <a:t>evpn</a:t>
              </a:r>
              <a:endParaRPr lang="en-US" altLang="zh-CN" sz="1400" dirty="0"/>
            </a:p>
            <a:p>
              <a:r>
                <a:rPr lang="en-US" altLang="zh-CN" sz="1400" dirty="0"/>
                <a:t>[~PE1-bgp-vpna] quit</a:t>
              </a:r>
              <a:endParaRPr lang="en-US" altLang="zh-CN" sz="1400" dirty="0"/>
            </a:p>
            <a:p>
              <a:r>
                <a:rPr lang="en-US" altLang="zh-CN" sz="1400" dirty="0"/>
                <a:t>[~PE1-bgp] quit</a:t>
              </a:r>
              <a:endParaRPr lang="en-US" altLang="zh-CN" sz="1400" dirty="0"/>
            </a:p>
            <a:p>
              <a:r>
                <a:rPr lang="en-US" altLang="zh-CN" sz="1400" dirty="0"/>
                <a:t>[~PE1] commit</a:t>
              </a:r>
              <a:endParaRPr lang="zh-CN" altLang="en-US" sz="1400" dirty="0"/>
            </a:p>
          </p:txBody>
        </p:sp>
        <p:sp>
          <p:nvSpPr>
            <p:cNvPr id="42" name="文本框 41"/>
            <p:cNvSpPr txBox="1"/>
            <p:nvPr/>
          </p:nvSpPr>
          <p:spPr bwMode="gray">
            <a:xfrm>
              <a:off x="6049272" y="2950304"/>
              <a:ext cx="30235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以</a:t>
              </a:r>
              <a:r>
                <a:rPr lang="en-US" altLang="zh-CN" sz="1600" dirty="0"/>
                <a:t>PE1</a:t>
              </a:r>
              <a:r>
                <a:rPr lang="zh-CN" altLang="en-US" sz="1600" dirty="0"/>
                <a:t>为例配置发布</a:t>
              </a:r>
              <a:r>
                <a:rPr lang="en-US" altLang="zh-CN" sz="1600" dirty="0"/>
                <a:t>CE</a:t>
              </a:r>
              <a:r>
                <a:rPr lang="zh-CN" altLang="en-US" sz="1600" dirty="0"/>
                <a:t>侧路由。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 bwMode="gray">
          <a:xfrm>
            <a:off x="4817552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566907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1379" y="2146098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5417" y="214609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>
            <a:off x="1391379" y="2367498"/>
            <a:ext cx="603060" cy="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4" idx="3"/>
            <a:endCxn id="9" idx="1"/>
          </p:cNvCxnSpPr>
          <p:nvPr/>
        </p:nvCxnSpPr>
        <p:spPr bwMode="gray">
          <a:xfrm flipV="1">
            <a:off x="2534439" y="2367007"/>
            <a:ext cx="1146841" cy="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7" idx="1"/>
          </p:cNvCxnSpPr>
          <p:nvPr/>
        </p:nvCxnSpPr>
        <p:spPr bwMode="gray">
          <a:xfrm>
            <a:off x="4221280" y="2367007"/>
            <a:ext cx="724137" cy="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 bwMode="gray">
          <a:xfrm>
            <a:off x="472972" y="225101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CE1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428964" y="2213609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CE2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309156" y="2146098"/>
            <a:ext cx="756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GE0/1/0</a:t>
            </a:r>
            <a:endParaRPr lang="en-US" altLang="zh-CN" sz="1200" dirty="0"/>
          </a:p>
          <a:p>
            <a:pPr algn="ctr"/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46629" y="213158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GE0/2/0</a:t>
            </a:r>
            <a:endParaRPr lang="en-US" altLang="zh-CN" sz="1200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1786583" y="1662630"/>
            <a:ext cx="1799131" cy="1224673"/>
            <a:chOff x="1929458" y="1662630"/>
            <a:chExt cx="1799131" cy="1224673"/>
          </a:xfrm>
        </p:grpSpPr>
        <p:grpSp>
          <p:nvGrpSpPr>
            <p:cNvPr id="32" name="组合 31"/>
            <p:cNvGrpSpPr/>
            <p:nvPr/>
          </p:nvGrpSpPr>
          <p:grpSpPr bwMode="gray">
            <a:xfrm>
              <a:off x="2137314" y="2146731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5" name="文本框 34"/>
            <p:cNvSpPr txBox="1"/>
            <p:nvPr/>
          </p:nvSpPr>
          <p:spPr bwMode="gray">
            <a:xfrm>
              <a:off x="192945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77287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3473424" y="1662630"/>
            <a:ext cx="955711" cy="1239878"/>
            <a:chOff x="3254349" y="1662630"/>
            <a:chExt cx="955711" cy="1239878"/>
          </a:xfrm>
        </p:grpSpPr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462205" y="214609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 bwMode="gray">
            <a:xfrm>
              <a:off x="3497213" y="259473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PE2</a:t>
              </a:r>
              <a:endParaRPr lang="zh-CN" altLang="en-US" sz="14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254349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</p:grpSp>
      <p:sp>
        <p:nvSpPr>
          <p:cNvPr id="39" name="文本框 38"/>
          <p:cNvSpPr txBox="1"/>
          <p:nvPr/>
        </p:nvSpPr>
        <p:spPr bwMode="gray">
          <a:xfrm>
            <a:off x="516973" y="2586618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192.168.1.1/24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767618" y="2559664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192.168.2.1/24</a:t>
            </a:r>
            <a:endParaRPr lang="en-US" altLang="zh-CN" sz="1200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452438" y="3392488"/>
            <a:ext cx="5638207" cy="277003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，发布路由。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ym typeface="Huawei Sans" panose="020C0503030203020204" pitchFamily="34" charset="0"/>
              </a:rPr>
              <a:t>配置结果验证。</a:t>
            </a:r>
            <a:endParaRPr lang="en-US" altLang="zh-CN" sz="1400" b="1" dirty="0">
              <a:sym typeface="Huawei Sans" panose="020C0503030203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2801943" y="2146731"/>
            <a:ext cx="540000" cy="740572"/>
            <a:chOff x="2227751" y="1238539"/>
            <a:chExt cx="540000" cy="740572"/>
          </a:xfrm>
        </p:grpSpPr>
        <p:pic>
          <p:nvPicPr>
            <p:cNvPr id="4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gray">
            <a:xfrm>
              <a:off x="2227751" y="1238539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47" name="文本框 46"/>
            <p:cNvSpPr txBox="1"/>
            <p:nvPr/>
          </p:nvSpPr>
          <p:spPr bwMode="gray">
            <a:xfrm>
              <a:off x="2303627" y="167133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P1</a:t>
              </a:r>
              <a:endParaRPr lang="zh-CN" altLang="en-US" sz="1400" dirty="0"/>
            </a:p>
          </p:txBody>
        </p:sp>
      </p:grpSp>
      <p:grpSp>
        <p:nvGrpSpPr>
          <p:cNvPr id="5" name="组合 4"/>
          <p:cNvGrpSpPr/>
          <p:nvPr/>
        </p:nvGrpSpPr>
        <p:grpSpPr bwMode="gray">
          <a:xfrm>
            <a:off x="6049273" y="1500388"/>
            <a:ext cx="5699815" cy="2864241"/>
            <a:chOff x="6049272" y="1066953"/>
            <a:chExt cx="5699815" cy="2864241"/>
          </a:xfrm>
        </p:grpSpPr>
        <p:sp>
          <p:nvSpPr>
            <p:cNvPr id="31" name="文本框 30"/>
            <p:cNvSpPr txBox="1"/>
            <p:nvPr/>
          </p:nvSpPr>
          <p:spPr bwMode="gray">
            <a:xfrm>
              <a:off x="6149970" y="1468981"/>
              <a:ext cx="5599117" cy="2462213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&lt;PE1&gt;display </a:t>
              </a:r>
              <a:r>
                <a:rPr lang="en-US" altLang="zh-CN" sz="1400" dirty="0" err="1"/>
                <a:t>bgp</a:t>
              </a:r>
              <a:r>
                <a:rPr lang="en-US" altLang="zh-CN" sz="1400" dirty="0"/>
                <a:t> </a:t>
              </a:r>
              <a:r>
                <a:rPr lang="en-US" altLang="zh-CN" sz="1400" dirty="0" err="1"/>
                <a:t>evpn</a:t>
              </a:r>
              <a:r>
                <a:rPr lang="en-US" altLang="zh-CN" sz="1400" dirty="0"/>
                <a:t> all routing-table prefix-route </a:t>
              </a:r>
              <a:endParaRPr lang="en-US" altLang="zh-CN" sz="1400" dirty="0"/>
            </a:p>
            <a:p>
              <a:r>
                <a:rPr lang="en-US" altLang="zh-CN" sz="1400" dirty="0"/>
                <a:t> Local AS number : 100</a:t>
              </a:r>
              <a:endParaRPr lang="en-US" altLang="zh-CN" sz="1400" dirty="0"/>
            </a:p>
            <a:p>
              <a:r>
                <a:rPr lang="en-US" altLang="zh-CN" sz="1400" dirty="0"/>
                <a:t> BGP Local router ID is 10.0.1.1</a:t>
              </a:r>
              <a:endParaRPr lang="en-US" altLang="zh-CN" sz="1400" dirty="0"/>
            </a:p>
            <a:p>
              <a:r>
                <a:rPr lang="en-US" altLang="zh-CN" sz="1400" dirty="0"/>
                <a:t> EVPN address family:</a:t>
              </a:r>
              <a:endParaRPr lang="en-US" altLang="zh-CN" sz="1400" dirty="0"/>
            </a:p>
            <a:p>
              <a:r>
                <a:rPr lang="en-US" altLang="zh-CN" sz="1400" dirty="0"/>
                <a:t> Number of </a:t>
              </a:r>
              <a:r>
                <a:rPr lang="en-US" altLang="zh-CN" sz="1400" dirty="0" err="1"/>
                <a:t>Ip</a:t>
              </a:r>
              <a:r>
                <a:rPr lang="en-US" altLang="zh-CN" sz="1400" dirty="0"/>
                <a:t> Prefix Routes: 2</a:t>
              </a:r>
              <a:endParaRPr lang="en-US" altLang="zh-CN" sz="1400" dirty="0"/>
            </a:p>
            <a:p>
              <a:r>
                <a:rPr lang="en-US" altLang="zh-CN" sz="1400" dirty="0"/>
                <a:t> Route Distinguisher: 100:1</a:t>
              </a:r>
              <a:endParaRPr lang="en-US" altLang="zh-CN" sz="1400" dirty="0"/>
            </a:p>
            <a:p>
              <a:r>
                <a:rPr lang="en-US" altLang="zh-CN" sz="1400" dirty="0"/>
                <a:t>       Network(</a:t>
              </a:r>
              <a:r>
                <a:rPr lang="en-US" altLang="zh-CN" sz="1400" dirty="0" err="1"/>
                <a:t>EthTagId</a:t>
              </a:r>
              <a:r>
                <a:rPr lang="en-US" altLang="zh-CN" sz="1400" dirty="0"/>
                <a:t>/</a:t>
              </a:r>
              <a:r>
                <a:rPr lang="en-US" altLang="zh-CN" sz="1400" dirty="0" err="1"/>
                <a:t>IpPrefix</a:t>
              </a:r>
              <a:r>
                <a:rPr lang="en-US" altLang="zh-CN" sz="1400" dirty="0"/>
                <a:t>/</a:t>
              </a:r>
              <a:r>
                <a:rPr lang="en-US" altLang="zh-CN" sz="1400" dirty="0" err="1"/>
                <a:t>IpPrefixLen</a:t>
              </a:r>
              <a:r>
                <a:rPr lang="en-US" altLang="zh-CN" sz="1400" dirty="0"/>
                <a:t>)      </a:t>
              </a:r>
              <a:r>
                <a:rPr lang="en-US" altLang="zh-CN" sz="1400" dirty="0" err="1"/>
                <a:t>NextHop</a:t>
              </a:r>
              <a:endParaRPr lang="en-US" altLang="zh-CN" sz="1400" dirty="0"/>
            </a:p>
            <a:p>
              <a:r>
                <a:rPr lang="en-US" altLang="zh-CN" sz="1400" dirty="0"/>
                <a:t> *&gt;    0:192.168.1.0:24                                       0.0.0.0</a:t>
              </a:r>
              <a:endParaRPr lang="en-US" altLang="zh-CN" sz="1400" dirty="0"/>
            </a:p>
            <a:p>
              <a:r>
                <a:rPr lang="en-US" altLang="zh-CN" sz="1400" dirty="0"/>
                <a:t> Route Distinguisher: 200:1</a:t>
              </a:r>
              <a:endParaRPr lang="en-US" altLang="zh-CN" sz="1400" dirty="0"/>
            </a:p>
            <a:p>
              <a:r>
                <a:rPr lang="en-US" altLang="zh-CN" sz="1400" dirty="0"/>
                <a:t>       Network(</a:t>
              </a:r>
              <a:r>
                <a:rPr lang="en-US" altLang="zh-CN" sz="1400" dirty="0" err="1"/>
                <a:t>EthTagId</a:t>
              </a:r>
              <a:r>
                <a:rPr lang="en-US" altLang="zh-CN" sz="1400" dirty="0"/>
                <a:t>/</a:t>
              </a:r>
              <a:r>
                <a:rPr lang="en-US" altLang="zh-CN" sz="1400" dirty="0" err="1"/>
                <a:t>IpPrefix</a:t>
              </a:r>
              <a:r>
                <a:rPr lang="en-US" altLang="zh-CN" sz="1400" dirty="0"/>
                <a:t>/</a:t>
              </a:r>
              <a:r>
                <a:rPr lang="en-US" altLang="zh-CN" sz="1400" dirty="0" err="1"/>
                <a:t>IpPrefixLen</a:t>
              </a:r>
              <a:r>
                <a:rPr lang="en-US" altLang="zh-CN" sz="1400" dirty="0"/>
                <a:t>)      </a:t>
              </a:r>
              <a:r>
                <a:rPr lang="en-US" altLang="zh-CN" sz="1400" dirty="0" err="1"/>
                <a:t>NextHop</a:t>
              </a:r>
              <a:endParaRPr lang="en-US" altLang="zh-CN" sz="1400" dirty="0"/>
            </a:p>
            <a:p>
              <a:r>
                <a:rPr lang="en-US" altLang="zh-CN" sz="1400" dirty="0"/>
                <a:t> *&gt;</a:t>
              </a:r>
              <a:r>
                <a:rPr lang="en-US" altLang="zh-CN" sz="1400" dirty="0" err="1"/>
                <a:t>i</a:t>
              </a:r>
              <a:r>
                <a:rPr lang="en-US" altLang="zh-CN" sz="1400" dirty="0"/>
                <a:t>   0:192.168.2.0:24                                       10.0.3.3</a:t>
              </a:r>
              <a:endParaRPr lang="zh-CN" altLang="en-US" sz="14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>
              <a:off x="6049272" y="1066953"/>
              <a:ext cx="25875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在</a:t>
              </a:r>
              <a:r>
                <a:rPr lang="en-US" altLang="zh-CN" sz="1600" dirty="0"/>
                <a:t>PE1</a:t>
              </a:r>
              <a:r>
                <a:rPr lang="zh-CN" altLang="en-US" sz="1600" dirty="0"/>
                <a:t>上查看</a:t>
              </a:r>
              <a:r>
                <a:rPr lang="en-US" altLang="zh-CN" sz="1600" dirty="0"/>
                <a:t>Type 5</a:t>
              </a:r>
              <a:r>
                <a:rPr lang="zh-CN" altLang="en-US" sz="1600" dirty="0"/>
                <a:t>路由。</a:t>
              </a:r>
              <a:endParaRPr lang="zh-CN" altLang="en-US" sz="1600" dirty="0"/>
            </a:p>
          </p:txBody>
        </p:sp>
      </p:grpSp>
      <p:sp>
        <p:nvSpPr>
          <p:cNvPr id="44" name="文本框 43"/>
          <p:cNvSpPr txBox="1"/>
          <p:nvPr/>
        </p:nvSpPr>
        <p:spPr bwMode="gray">
          <a:xfrm>
            <a:off x="6292087" y="4747716"/>
            <a:ext cx="3033068" cy="338554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此处为</a:t>
            </a:r>
            <a:r>
              <a:rPr lang="en-US" altLang="zh-CN" sz="1600" dirty="0"/>
              <a:t>PE3</a:t>
            </a:r>
            <a:r>
              <a:rPr lang="zh-CN" altLang="en-US" sz="1600" dirty="0"/>
              <a:t>发布的</a:t>
            </a:r>
            <a:r>
              <a:rPr lang="en-US" altLang="zh-CN" sz="1600" dirty="0"/>
              <a:t>Type 5</a:t>
            </a:r>
            <a:r>
              <a:rPr lang="zh-CN" altLang="en-US" sz="1600" dirty="0"/>
              <a:t>路由。</a:t>
            </a:r>
            <a:endParaRPr lang="en-US" altLang="zh-CN" sz="1600" dirty="0"/>
          </a:p>
        </p:txBody>
      </p:sp>
      <p:cxnSp>
        <p:nvCxnSpPr>
          <p:cNvPr id="49" name="直接箭头连接符 48"/>
          <p:cNvCxnSpPr>
            <a:endCxn id="52" idx="1"/>
          </p:cNvCxnSpPr>
          <p:nvPr/>
        </p:nvCxnSpPr>
        <p:spPr bwMode="gray">
          <a:xfrm>
            <a:off x="6029587" y="4208486"/>
            <a:ext cx="166958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gray">
          <a:xfrm>
            <a:off x="6029587" y="4208486"/>
            <a:ext cx="0" cy="708507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endCxn id="44" idx="1"/>
          </p:cNvCxnSpPr>
          <p:nvPr/>
        </p:nvCxnSpPr>
        <p:spPr bwMode="gray">
          <a:xfrm>
            <a:off x="6029587" y="4916993"/>
            <a:ext cx="262500" cy="0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 bwMode="gray">
          <a:xfrm>
            <a:off x="6196545" y="4090287"/>
            <a:ext cx="2842679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 bwMode="gray">
          <a:xfrm>
            <a:off x="4817552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566907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1379" y="2146098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5417" y="214609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>
            <a:off x="1391379" y="2367498"/>
            <a:ext cx="603060" cy="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4" idx="3"/>
            <a:endCxn id="9" idx="1"/>
          </p:cNvCxnSpPr>
          <p:nvPr/>
        </p:nvCxnSpPr>
        <p:spPr bwMode="gray">
          <a:xfrm flipV="1">
            <a:off x="2534439" y="2367007"/>
            <a:ext cx="1146841" cy="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7" idx="1"/>
          </p:cNvCxnSpPr>
          <p:nvPr/>
        </p:nvCxnSpPr>
        <p:spPr bwMode="gray">
          <a:xfrm>
            <a:off x="4221280" y="2367007"/>
            <a:ext cx="724137" cy="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 bwMode="gray">
          <a:xfrm>
            <a:off x="472972" y="225101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CE1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428964" y="2213609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CE2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309156" y="2146098"/>
            <a:ext cx="756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GE0/1/0</a:t>
            </a:r>
            <a:endParaRPr lang="en-US" altLang="zh-CN" sz="1200" dirty="0"/>
          </a:p>
          <a:p>
            <a:pPr algn="ctr"/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46629" y="213158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GE0/2/0</a:t>
            </a:r>
            <a:endParaRPr lang="en-US" altLang="zh-CN" sz="1200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1786583" y="1662630"/>
            <a:ext cx="1799131" cy="1224673"/>
            <a:chOff x="1929458" y="1662630"/>
            <a:chExt cx="1799131" cy="1224673"/>
          </a:xfrm>
        </p:grpSpPr>
        <p:grpSp>
          <p:nvGrpSpPr>
            <p:cNvPr id="32" name="组合 31"/>
            <p:cNvGrpSpPr/>
            <p:nvPr/>
          </p:nvGrpSpPr>
          <p:grpSpPr bwMode="gray">
            <a:xfrm>
              <a:off x="2137314" y="2146731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5" name="文本框 34"/>
            <p:cNvSpPr txBox="1"/>
            <p:nvPr/>
          </p:nvSpPr>
          <p:spPr bwMode="gray">
            <a:xfrm>
              <a:off x="192945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77287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3473424" y="1662630"/>
            <a:ext cx="955711" cy="1239878"/>
            <a:chOff x="3254349" y="1662630"/>
            <a:chExt cx="955711" cy="1239878"/>
          </a:xfrm>
        </p:grpSpPr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462205" y="214609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 bwMode="gray">
            <a:xfrm>
              <a:off x="3497213" y="259473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PE2</a:t>
              </a:r>
              <a:endParaRPr lang="zh-CN" altLang="en-US" sz="14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254349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</p:grpSp>
      <p:sp>
        <p:nvSpPr>
          <p:cNvPr id="39" name="文本框 38"/>
          <p:cNvSpPr txBox="1"/>
          <p:nvPr/>
        </p:nvSpPr>
        <p:spPr bwMode="gray">
          <a:xfrm>
            <a:off x="516973" y="2586618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192.168.1.1/24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767618" y="2559664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192.168.2.1/24</a:t>
            </a:r>
            <a:endParaRPr lang="en-US" altLang="zh-CN" sz="1200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452438" y="3392488"/>
            <a:ext cx="5638207" cy="277003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，发布路由。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ym typeface="Huawei Sans" panose="020C0503030203020204" pitchFamily="34" charset="0"/>
              </a:rPr>
              <a:t>配置结果验证。</a:t>
            </a:r>
            <a:endParaRPr lang="en-US" altLang="zh-CN" sz="1400" b="1" dirty="0">
              <a:sym typeface="Huawei Sans" panose="020C0503030203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2801943" y="2146731"/>
            <a:ext cx="540000" cy="740572"/>
            <a:chOff x="2227751" y="1238539"/>
            <a:chExt cx="540000" cy="740572"/>
          </a:xfrm>
        </p:grpSpPr>
        <p:pic>
          <p:nvPicPr>
            <p:cNvPr id="4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gray">
            <a:xfrm>
              <a:off x="2227751" y="1238539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47" name="文本框 46"/>
            <p:cNvSpPr txBox="1"/>
            <p:nvPr/>
          </p:nvSpPr>
          <p:spPr bwMode="gray">
            <a:xfrm>
              <a:off x="2303627" y="167133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P1</a:t>
              </a:r>
              <a:endParaRPr lang="zh-CN" altLang="en-US" sz="1400" dirty="0"/>
            </a:p>
          </p:txBody>
        </p:sp>
      </p:grpSp>
      <p:grpSp>
        <p:nvGrpSpPr>
          <p:cNvPr id="5" name="组合 4"/>
          <p:cNvGrpSpPr/>
          <p:nvPr/>
        </p:nvGrpSpPr>
        <p:grpSpPr bwMode="gray">
          <a:xfrm>
            <a:off x="6049273" y="1500388"/>
            <a:ext cx="5699815" cy="4187680"/>
            <a:chOff x="6049272" y="1066953"/>
            <a:chExt cx="5699815" cy="4187680"/>
          </a:xfrm>
        </p:grpSpPr>
        <p:sp>
          <p:nvSpPr>
            <p:cNvPr id="31" name="文本框 30"/>
            <p:cNvSpPr txBox="1"/>
            <p:nvPr/>
          </p:nvSpPr>
          <p:spPr bwMode="gray">
            <a:xfrm>
              <a:off x="6149970" y="1468981"/>
              <a:ext cx="5599117" cy="3785652"/>
            </a:xfrm>
            <a:prstGeom prst="rect">
              <a:avLst/>
            </a:prstGeom>
            <a:solidFill>
              <a:srgbClr val="D9D9D9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[~PE1]display </a:t>
              </a:r>
              <a:r>
                <a:rPr lang="en-US" altLang="zh-CN" sz="1200" dirty="0" err="1"/>
                <a:t>bgp</a:t>
              </a:r>
              <a:r>
                <a:rPr lang="en-US" altLang="zh-CN" sz="1200" dirty="0"/>
                <a:t> </a:t>
              </a:r>
              <a:r>
                <a:rPr lang="en-US" altLang="zh-CN" sz="1200" dirty="0" err="1"/>
                <a:t>evpn</a:t>
              </a:r>
              <a:r>
                <a:rPr lang="en-US" altLang="zh-CN" sz="1200" dirty="0"/>
                <a:t> all routing-table prefix-route  0:192.168.2.0:24</a:t>
              </a:r>
              <a:endParaRPr lang="en-US" altLang="zh-CN" sz="1200" dirty="0"/>
            </a:p>
            <a:p>
              <a:r>
                <a:rPr lang="en-US" altLang="zh-CN" sz="1200" dirty="0"/>
                <a:t> BGP local router ID : 10.0.1.1</a:t>
              </a:r>
              <a:endParaRPr lang="en-US" altLang="zh-CN" sz="1200" dirty="0"/>
            </a:p>
            <a:p>
              <a:r>
                <a:rPr lang="en-US" altLang="zh-CN" sz="1200" dirty="0"/>
                <a:t> Local AS number : 100</a:t>
              </a:r>
              <a:endParaRPr lang="en-US" altLang="zh-CN" sz="1200" dirty="0"/>
            </a:p>
            <a:p>
              <a:r>
                <a:rPr lang="en-US" altLang="zh-CN" sz="1200" dirty="0"/>
                <a:t> Total routes of Route Distinguisher(200:1): 1</a:t>
              </a:r>
              <a:endParaRPr lang="en-US" altLang="zh-CN" sz="1200" dirty="0"/>
            </a:p>
            <a:p>
              <a:r>
                <a:rPr lang="en-US" altLang="zh-CN" sz="1200" dirty="0"/>
                <a:t> BGP routing table entry information of 0:192.168.2.0:24:</a:t>
              </a:r>
              <a:endParaRPr lang="en-US" altLang="zh-CN" sz="1200" dirty="0"/>
            </a:p>
            <a:p>
              <a:r>
                <a:rPr lang="en-US" altLang="zh-CN" sz="1200" dirty="0"/>
                <a:t> Label information (Received/Applied): 48005/NULL</a:t>
              </a:r>
              <a:endParaRPr lang="en-US" altLang="zh-CN" sz="1200" dirty="0"/>
            </a:p>
            <a:p>
              <a:r>
                <a:rPr lang="en-US" altLang="zh-CN" sz="1200" dirty="0"/>
                <a:t> From: 10.0.3.3 (10.0.13.3) </a:t>
              </a:r>
              <a:endParaRPr lang="en-US" altLang="zh-CN" sz="1200" dirty="0"/>
            </a:p>
            <a:p>
              <a:r>
                <a:rPr lang="en-US" altLang="zh-CN" sz="1200" dirty="0"/>
                <a:t> Route Duration: 0d01h29m51s</a:t>
              </a:r>
              <a:endParaRPr lang="en-US" altLang="zh-CN" sz="1200" dirty="0"/>
            </a:p>
            <a:p>
              <a:r>
                <a:rPr lang="en-US" altLang="zh-CN" sz="1200" dirty="0"/>
                <a:t> Relay IP </a:t>
              </a:r>
              <a:r>
                <a:rPr lang="en-US" altLang="zh-CN" sz="1200" dirty="0" err="1"/>
                <a:t>Nexthop</a:t>
              </a:r>
              <a:r>
                <a:rPr lang="en-US" altLang="zh-CN" sz="1200" dirty="0"/>
                <a:t>: 10.0.13.3</a:t>
              </a:r>
              <a:endParaRPr lang="en-US" altLang="zh-CN" sz="1200" dirty="0"/>
            </a:p>
            <a:p>
              <a:r>
                <a:rPr lang="en-US" altLang="zh-CN" sz="1200" dirty="0"/>
                <a:t> </a:t>
              </a:r>
              <a:r>
                <a:rPr lang="en-US" altLang="zh-CN" sz="1200" b="1" dirty="0"/>
                <a:t>Relay Tunnel Out-Interface: LDP LSP    #</a:t>
              </a:r>
              <a:r>
                <a:rPr lang="zh-CN" altLang="en-US" sz="1200" b="1" dirty="0"/>
                <a:t>外层隧道为</a:t>
              </a:r>
              <a:r>
                <a:rPr lang="en-US" altLang="zh-CN" sz="1200" b="1" dirty="0"/>
                <a:t>LDP</a:t>
              </a:r>
              <a:r>
                <a:rPr lang="zh-CN" altLang="en-US" sz="1200" b="1" dirty="0"/>
                <a:t>隧道</a:t>
              </a:r>
              <a:endParaRPr lang="en-US" altLang="zh-CN" sz="1200" b="1" dirty="0"/>
            </a:p>
            <a:p>
              <a:r>
                <a:rPr lang="en-US" altLang="zh-CN" sz="1200" dirty="0"/>
                <a:t> Original </a:t>
              </a:r>
              <a:r>
                <a:rPr lang="en-US" altLang="zh-CN" sz="1200" dirty="0" err="1"/>
                <a:t>nexthop</a:t>
              </a:r>
              <a:r>
                <a:rPr lang="en-US" altLang="zh-CN" sz="1200" dirty="0"/>
                <a:t>: 10.0.3.3</a:t>
              </a:r>
              <a:endParaRPr lang="en-US" altLang="zh-CN" sz="1200" dirty="0"/>
            </a:p>
            <a:p>
              <a:r>
                <a:rPr lang="en-US" altLang="zh-CN" sz="1200" dirty="0"/>
                <a:t> </a:t>
              </a:r>
              <a:r>
                <a:rPr lang="en-US" altLang="zh-CN" sz="1200" dirty="0" err="1"/>
                <a:t>Qos</a:t>
              </a:r>
              <a:r>
                <a:rPr lang="en-US" altLang="zh-CN" sz="1200" dirty="0"/>
                <a:t> information : 0x0</a:t>
              </a:r>
              <a:endParaRPr lang="en-US" altLang="zh-CN" sz="1200" dirty="0"/>
            </a:p>
            <a:p>
              <a:r>
                <a:rPr lang="en-US" altLang="zh-CN" sz="1200" dirty="0"/>
                <a:t> Ext-Community: RT &lt;1 : 1&gt;</a:t>
              </a:r>
              <a:endParaRPr lang="en-US" altLang="zh-CN" sz="1200" dirty="0"/>
            </a:p>
            <a:p>
              <a:r>
                <a:rPr lang="en-US" altLang="zh-CN" sz="1200" dirty="0"/>
                <a:t> AS-path Nil, origin incomplete, MED 0, </a:t>
              </a:r>
              <a:r>
                <a:rPr lang="en-US" altLang="zh-CN" sz="1200" dirty="0" err="1"/>
                <a:t>localpref</a:t>
              </a:r>
              <a:r>
                <a:rPr lang="en-US" altLang="zh-CN" sz="1200" dirty="0"/>
                <a:t> 100, </a:t>
              </a:r>
              <a:r>
                <a:rPr lang="en-US" altLang="zh-CN" sz="1200" dirty="0" err="1"/>
                <a:t>pref-val</a:t>
              </a:r>
              <a:r>
                <a:rPr lang="en-US" altLang="zh-CN" sz="1200" dirty="0"/>
                <a:t> 0, valid, intern</a:t>
              </a:r>
              <a:endParaRPr lang="en-US" altLang="zh-CN" sz="1200" dirty="0"/>
            </a:p>
            <a:p>
              <a:r>
                <a:rPr lang="en-US" altLang="zh-CN" sz="1200" dirty="0"/>
                <a:t>al, best, select, pre 255, IGP cost 1</a:t>
              </a:r>
              <a:endParaRPr lang="en-US" altLang="zh-CN" sz="1200" dirty="0"/>
            </a:p>
            <a:p>
              <a:r>
                <a:rPr lang="en-US" altLang="zh-CN" sz="1200" dirty="0"/>
                <a:t> Route Type: 5 (</a:t>
              </a:r>
              <a:r>
                <a:rPr lang="en-US" altLang="zh-CN" sz="1200" dirty="0" err="1"/>
                <a:t>Ip</a:t>
              </a:r>
              <a:r>
                <a:rPr lang="en-US" altLang="zh-CN" sz="1200" dirty="0"/>
                <a:t> Prefix Route)</a:t>
              </a:r>
              <a:endParaRPr lang="en-US" altLang="zh-CN" sz="1200" dirty="0"/>
            </a:p>
            <a:p>
              <a:r>
                <a:rPr lang="en-US" altLang="zh-CN" sz="1200" dirty="0"/>
                <a:t> Ethernet Tag ID: 0, IP Prefix/Len: 192.168.2.0/24, ESI: 0000.0000.0000.0000.000</a:t>
              </a:r>
              <a:endParaRPr lang="en-US" altLang="zh-CN" sz="1200" dirty="0"/>
            </a:p>
            <a:p>
              <a:r>
                <a:rPr lang="en-US" altLang="zh-CN" sz="1200" dirty="0"/>
                <a:t>0, GW IP Address: 0.0.0.0</a:t>
              </a:r>
              <a:endParaRPr lang="en-US" altLang="zh-CN" sz="1200" dirty="0"/>
            </a:p>
            <a:p>
              <a:r>
                <a:rPr lang="en-US" altLang="zh-CN" sz="1200" dirty="0"/>
                <a:t> Not advertised to any peer yet</a:t>
              </a:r>
              <a:endParaRPr lang="zh-CN" altLang="en-US" sz="1200" dirty="0"/>
            </a:p>
          </p:txBody>
        </p:sp>
        <p:sp>
          <p:nvSpPr>
            <p:cNvPr id="33" name="文本框 32"/>
            <p:cNvSpPr txBox="1"/>
            <p:nvPr/>
          </p:nvSpPr>
          <p:spPr bwMode="gray">
            <a:xfrm>
              <a:off x="6049272" y="1066953"/>
              <a:ext cx="36134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/>
                <a:t>在</a:t>
              </a:r>
              <a:r>
                <a:rPr lang="en-US" altLang="zh-CN" sz="1600" dirty="0"/>
                <a:t>PE1</a:t>
              </a:r>
              <a:r>
                <a:rPr lang="zh-CN" altLang="en-US" sz="1600" dirty="0"/>
                <a:t>上查看</a:t>
              </a:r>
              <a:r>
                <a:rPr lang="en-US" altLang="zh-CN" sz="1600" dirty="0"/>
                <a:t>Type 5</a:t>
              </a:r>
              <a:r>
                <a:rPr lang="zh-CN" altLang="en-US" sz="1600" dirty="0"/>
                <a:t>路由的详细信息。</a:t>
              </a:r>
              <a:endParaRPr lang="zh-CN" altLang="en-US" sz="1600" dirty="0"/>
            </a:p>
          </p:txBody>
        </p:sp>
      </p:grpSp>
      <p:sp>
        <p:nvSpPr>
          <p:cNvPr id="44" name="文本框 43"/>
          <p:cNvSpPr txBox="1"/>
          <p:nvPr/>
        </p:nvSpPr>
        <p:spPr bwMode="gray">
          <a:xfrm>
            <a:off x="6292087" y="5739752"/>
            <a:ext cx="2627626" cy="307777"/>
          </a:xfrm>
          <a:prstGeom prst="rect">
            <a:avLst/>
          </a:prstGeom>
          <a:solidFill>
            <a:srgbClr val="BEE9EE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此处为</a:t>
            </a:r>
            <a:r>
              <a:rPr lang="en-US" altLang="zh-CN" sz="1400" dirty="0"/>
              <a:t>PE3</a:t>
            </a:r>
            <a:r>
              <a:rPr lang="zh-CN" altLang="en-US" sz="1400" dirty="0"/>
              <a:t>分配的标签。</a:t>
            </a:r>
            <a:endParaRPr lang="en-US" altLang="zh-CN" sz="1400" dirty="0"/>
          </a:p>
        </p:txBody>
      </p:sp>
      <p:cxnSp>
        <p:nvCxnSpPr>
          <p:cNvPr id="49" name="直接箭头连接符 48"/>
          <p:cNvCxnSpPr>
            <a:endCxn id="52" idx="1"/>
          </p:cNvCxnSpPr>
          <p:nvPr/>
        </p:nvCxnSpPr>
        <p:spPr bwMode="gray">
          <a:xfrm>
            <a:off x="6029587" y="2957663"/>
            <a:ext cx="166958" cy="0"/>
          </a:xfrm>
          <a:prstGeom prst="straightConnector1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gray">
          <a:xfrm>
            <a:off x="6029587" y="2957663"/>
            <a:ext cx="0" cy="2951366"/>
          </a:xfrm>
          <a:prstGeom prst="line">
            <a:avLst/>
          </a:prstGeom>
          <a:ln w="1905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endCxn id="44" idx="1"/>
          </p:cNvCxnSpPr>
          <p:nvPr/>
        </p:nvCxnSpPr>
        <p:spPr bwMode="gray">
          <a:xfrm flipV="1">
            <a:off x="6029587" y="5893641"/>
            <a:ext cx="262500" cy="15388"/>
          </a:xfrm>
          <a:prstGeom prst="straightConnector1">
            <a:avLst/>
          </a:prstGeom>
          <a:ln w="19050">
            <a:solidFill>
              <a:srgbClr val="56C4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 bwMode="gray">
          <a:xfrm>
            <a:off x="6196545" y="2839464"/>
            <a:ext cx="3723832" cy="236398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配置结果验证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 bwMode="gray">
          <a:xfrm>
            <a:off x="4817552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566907" y="1950835"/>
            <a:ext cx="1103855" cy="1158393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1379" y="2146098"/>
            <a:ext cx="540000" cy="442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45417" y="2146098"/>
            <a:ext cx="540000" cy="442800"/>
          </a:xfrm>
          <a:prstGeom prst="rect">
            <a:avLst/>
          </a:prstGeom>
        </p:spPr>
      </p:pic>
      <p:cxnSp>
        <p:nvCxnSpPr>
          <p:cNvPr id="12" name="直接连接符 11"/>
          <p:cNvCxnSpPr>
            <a:stCxn id="3" idx="3"/>
            <a:endCxn id="4" idx="1"/>
          </p:cNvCxnSpPr>
          <p:nvPr/>
        </p:nvCxnSpPr>
        <p:spPr bwMode="gray">
          <a:xfrm>
            <a:off x="1391379" y="2367498"/>
            <a:ext cx="603060" cy="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4" idx="3"/>
            <a:endCxn id="9" idx="1"/>
          </p:cNvCxnSpPr>
          <p:nvPr/>
        </p:nvCxnSpPr>
        <p:spPr bwMode="gray">
          <a:xfrm flipV="1">
            <a:off x="2534439" y="2367007"/>
            <a:ext cx="1146841" cy="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7" idx="1"/>
          </p:cNvCxnSpPr>
          <p:nvPr/>
        </p:nvCxnSpPr>
        <p:spPr bwMode="gray">
          <a:xfrm>
            <a:off x="4221280" y="2367007"/>
            <a:ext cx="724137" cy="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 bwMode="gray">
          <a:xfrm>
            <a:off x="472972" y="2251010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CE1</a:t>
            </a:r>
            <a:endParaRPr lang="zh-CN" altLang="en-US" sz="1400" dirty="0"/>
          </a:p>
        </p:txBody>
      </p:sp>
      <p:sp>
        <p:nvSpPr>
          <p:cNvPr id="27" name="文本框 26"/>
          <p:cNvSpPr txBox="1"/>
          <p:nvPr/>
        </p:nvSpPr>
        <p:spPr bwMode="gray">
          <a:xfrm>
            <a:off x="5428964" y="2213609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CE2</a:t>
            </a:r>
            <a:endParaRPr lang="zh-CN" altLang="en-US" sz="1400" dirty="0"/>
          </a:p>
        </p:txBody>
      </p:sp>
      <p:sp>
        <p:nvSpPr>
          <p:cNvPr id="30" name="文本框 29"/>
          <p:cNvSpPr txBox="1"/>
          <p:nvPr/>
        </p:nvSpPr>
        <p:spPr bwMode="gray">
          <a:xfrm>
            <a:off x="1309156" y="2146098"/>
            <a:ext cx="756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GE0/1/0</a:t>
            </a:r>
            <a:endParaRPr lang="en-US" altLang="zh-CN" sz="1200" dirty="0"/>
          </a:p>
          <a:p>
            <a:pPr algn="ctr"/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46629" y="213158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GE0/2/0</a:t>
            </a:r>
            <a:endParaRPr lang="en-US" altLang="zh-CN" sz="1200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1786583" y="1662630"/>
            <a:ext cx="1799131" cy="1224673"/>
            <a:chOff x="1929458" y="1662630"/>
            <a:chExt cx="1799131" cy="1224673"/>
          </a:xfrm>
        </p:grpSpPr>
        <p:grpSp>
          <p:nvGrpSpPr>
            <p:cNvPr id="32" name="组合 31"/>
            <p:cNvGrpSpPr/>
            <p:nvPr/>
          </p:nvGrpSpPr>
          <p:grpSpPr bwMode="gray">
            <a:xfrm>
              <a:off x="2137314" y="2146731"/>
              <a:ext cx="540000" cy="740572"/>
              <a:chOff x="2227751" y="1238539"/>
              <a:chExt cx="540000" cy="740572"/>
            </a:xfrm>
          </p:grpSpPr>
          <p:pic>
            <p:nvPicPr>
              <p:cNvPr id="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gray">
              <a:xfrm>
                <a:off x="2227751" y="1238539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9" name="文本框 28"/>
              <p:cNvSpPr txBox="1"/>
              <p:nvPr/>
            </p:nvSpPr>
            <p:spPr bwMode="gray">
              <a:xfrm>
                <a:off x="2254736" y="1671334"/>
                <a:ext cx="4860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PE1</a:t>
                </a:r>
                <a:endParaRPr lang="zh-CN" altLang="en-US" sz="1400" dirty="0"/>
              </a:p>
            </p:txBody>
          </p:sp>
        </p:grpSp>
        <p:sp>
          <p:nvSpPr>
            <p:cNvPr id="35" name="文本框 34"/>
            <p:cNvSpPr txBox="1"/>
            <p:nvPr/>
          </p:nvSpPr>
          <p:spPr bwMode="gray">
            <a:xfrm>
              <a:off x="192945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10.0.1.1/32</a:t>
              </a:r>
              <a:endParaRPr lang="en-US" altLang="zh-CN" sz="1200" dirty="0"/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772878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10.0.2.2/32</a:t>
              </a:r>
              <a:endParaRPr lang="en-US" altLang="zh-CN" sz="1200" dirty="0"/>
            </a:p>
          </p:txBody>
        </p:sp>
      </p:grpSp>
      <p:grpSp>
        <p:nvGrpSpPr>
          <p:cNvPr id="6" name="组合 5"/>
          <p:cNvGrpSpPr/>
          <p:nvPr/>
        </p:nvGrpSpPr>
        <p:grpSpPr bwMode="gray">
          <a:xfrm>
            <a:off x="3473424" y="1662630"/>
            <a:ext cx="955711" cy="1239878"/>
            <a:chOff x="3254349" y="1662630"/>
            <a:chExt cx="955711" cy="1239878"/>
          </a:xfrm>
        </p:grpSpPr>
        <p:pic>
          <p:nvPicPr>
            <p:cNvPr id="9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462205" y="214609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 bwMode="gray">
            <a:xfrm>
              <a:off x="3497213" y="2594731"/>
              <a:ext cx="486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PE2</a:t>
              </a:r>
              <a:endParaRPr lang="zh-CN" altLang="en-US" sz="1400" dirty="0"/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3254349" y="1662630"/>
              <a:ext cx="9557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/>
                <a:t>Loopback0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10.0.3.3/32</a:t>
              </a:r>
              <a:endParaRPr lang="en-US" altLang="zh-CN" sz="1200" dirty="0"/>
            </a:p>
          </p:txBody>
        </p:sp>
      </p:grpSp>
      <p:sp>
        <p:nvSpPr>
          <p:cNvPr id="39" name="文本框 38"/>
          <p:cNvSpPr txBox="1"/>
          <p:nvPr/>
        </p:nvSpPr>
        <p:spPr bwMode="gray">
          <a:xfrm>
            <a:off x="516973" y="2586618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192.168.1.1/24</a:t>
            </a:r>
            <a:endParaRPr lang="en-US" altLang="zh-CN" sz="1200" dirty="0"/>
          </a:p>
        </p:txBody>
      </p:sp>
      <p:sp>
        <p:nvSpPr>
          <p:cNvPr id="41" name="文本框 40"/>
          <p:cNvSpPr txBox="1"/>
          <p:nvPr/>
        </p:nvSpPr>
        <p:spPr bwMode="gray">
          <a:xfrm>
            <a:off x="4767618" y="2559664"/>
            <a:ext cx="1215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192.168.2.1/24</a:t>
            </a:r>
            <a:endParaRPr lang="en-US" altLang="zh-CN" sz="1200" dirty="0"/>
          </a:p>
        </p:txBody>
      </p:sp>
      <p:sp>
        <p:nvSpPr>
          <p:cNvPr id="45" name="文本占位符 4"/>
          <p:cNvSpPr txBox="1"/>
          <p:nvPr/>
        </p:nvSpPr>
        <p:spPr bwMode="gray">
          <a:xfrm>
            <a:off x="452438" y="3392488"/>
            <a:ext cx="5638207" cy="2770033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SzPct val="50000"/>
              <a:buFont typeface="Wingdings" panose="05000000000000000000" pitchFamily="2" charset="2"/>
              <a:buChar char="l"/>
              <a:defRPr sz="22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685" indent="-252095" algn="l" defTabSz="913765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0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base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1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base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实现各个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设备之间的互通。（略）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在骨干网上配置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基本能力和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LDP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MPLS LSP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上的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L3VPN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实例。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配置建立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BGP EVPN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对等体关系。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接入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，发布路由。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ym typeface="Huawei Sans" panose="020C0503030203020204" pitchFamily="34" charset="0"/>
              </a:rPr>
              <a:t>配置结果验证。</a:t>
            </a:r>
            <a:endParaRPr lang="en-US" altLang="zh-CN" sz="1400" b="1" dirty="0">
              <a:sym typeface="Huawei Sans" panose="020C0503030203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 bwMode="gray">
          <a:xfrm>
            <a:off x="2801943" y="2146731"/>
            <a:ext cx="540000" cy="740572"/>
            <a:chOff x="2227751" y="1238539"/>
            <a:chExt cx="540000" cy="740572"/>
          </a:xfrm>
        </p:grpSpPr>
        <p:pic>
          <p:nvPicPr>
            <p:cNvPr id="46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gray">
            <a:xfrm>
              <a:off x="2227751" y="1238539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47" name="文本框 46"/>
            <p:cNvSpPr txBox="1"/>
            <p:nvPr/>
          </p:nvSpPr>
          <p:spPr bwMode="gray">
            <a:xfrm>
              <a:off x="2303627" y="167133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/>
                <a:t>P1</a:t>
              </a:r>
              <a:endParaRPr lang="zh-CN" altLang="en-US" sz="1400" dirty="0"/>
            </a:p>
          </p:txBody>
        </p:sp>
      </p:grpSp>
      <p:sp>
        <p:nvSpPr>
          <p:cNvPr id="31" name="文本框 30"/>
          <p:cNvSpPr txBox="1"/>
          <p:nvPr/>
        </p:nvSpPr>
        <p:spPr bwMode="gray">
          <a:xfrm>
            <a:off x="6149971" y="1867912"/>
            <a:ext cx="5599117" cy="1200329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&lt;PE1&gt;display </a:t>
            </a:r>
            <a:r>
              <a:rPr lang="en-US" altLang="zh-CN" sz="1200" dirty="0" err="1"/>
              <a:t>ip</a:t>
            </a:r>
            <a:r>
              <a:rPr lang="en-US" altLang="zh-CN" sz="1200" dirty="0"/>
              <a:t> routing-table </a:t>
            </a:r>
            <a:r>
              <a:rPr lang="en-US" altLang="zh-CN" sz="1200" dirty="0" err="1"/>
              <a:t>vpn</a:t>
            </a:r>
            <a:r>
              <a:rPr lang="en-US" altLang="zh-CN" sz="1200" dirty="0"/>
              <a:t>-instance </a:t>
            </a:r>
            <a:r>
              <a:rPr lang="en-US" altLang="zh-CN" sz="1200" dirty="0" err="1"/>
              <a:t>vpna</a:t>
            </a:r>
            <a:endParaRPr lang="en-US" altLang="zh-CN" sz="1200" dirty="0"/>
          </a:p>
          <a:p>
            <a:r>
              <a:rPr lang="en-US" altLang="zh-CN" sz="1200" dirty="0"/>
              <a:t>------------------------------------------------</a:t>
            </a:r>
            <a:endParaRPr lang="en-US" altLang="zh-CN" sz="1200" dirty="0"/>
          </a:p>
          <a:p>
            <a:r>
              <a:rPr lang="en-US" altLang="zh-CN" sz="1200" dirty="0"/>
              <a:t>Routing Table : </a:t>
            </a:r>
            <a:r>
              <a:rPr lang="en-US" altLang="zh-CN" sz="1200" dirty="0" err="1"/>
              <a:t>vpna</a:t>
            </a:r>
            <a:endParaRPr lang="en-US" altLang="zh-CN" sz="1200" dirty="0"/>
          </a:p>
          <a:p>
            <a:r>
              <a:rPr lang="en-US" altLang="zh-CN" sz="1200" dirty="0"/>
              <a:t>Destination/Mask    Proto   </a:t>
            </a:r>
            <a:r>
              <a:rPr lang="en-US" altLang="zh-CN" sz="1200" dirty="0" err="1"/>
              <a:t>NextHop</a:t>
            </a:r>
            <a:r>
              <a:rPr lang="en-US" altLang="zh-CN" sz="1200" dirty="0"/>
              <a:t>           Interface</a:t>
            </a:r>
            <a:endParaRPr lang="en-US" altLang="zh-CN" sz="1200" dirty="0"/>
          </a:p>
          <a:p>
            <a:r>
              <a:rPr lang="en-US" altLang="zh-CN" sz="1200" dirty="0"/>
              <a:t>192.168.1.0/24        Direct  192.168.1.254   GigabitEthernet0/1/0      192.168.2.0/24        IBGP     10.0.3.3           GigabitEthernet0/2/0</a:t>
            </a:r>
            <a:endParaRPr lang="zh-CN" altLang="en-US" sz="1200" dirty="0"/>
          </a:p>
        </p:txBody>
      </p:sp>
      <p:sp>
        <p:nvSpPr>
          <p:cNvPr id="33" name="文本框 32"/>
          <p:cNvSpPr txBox="1"/>
          <p:nvPr/>
        </p:nvSpPr>
        <p:spPr bwMode="gray">
          <a:xfrm>
            <a:off x="6049273" y="1500388"/>
            <a:ext cx="28280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PE1</a:t>
            </a:r>
            <a:r>
              <a:rPr lang="zh-CN" altLang="en-US" sz="1600" dirty="0"/>
              <a:t>上查看</a:t>
            </a:r>
            <a:r>
              <a:rPr lang="en-US" altLang="zh-CN" sz="1600" dirty="0" err="1"/>
              <a:t>vpna</a:t>
            </a:r>
            <a:r>
              <a:rPr lang="zh-CN" altLang="en-US" sz="1600" dirty="0"/>
              <a:t>的路由表。</a:t>
            </a:r>
            <a:endParaRPr lang="zh-CN" altLang="en-US" sz="1600" dirty="0"/>
          </a:p>
        </p:txBody>
      </p:sp>
      <p:sp>
        <p:nvSpPr>
          <p:cNvPr id="42" name="文本框 41"/>
          <p:cNvSpPr txBox="1"/>
          <p:nvPr/>
        </p:nvSpPr>
        <p:spPr bwMode="gray">
          <a:xfrm>
            <a:off x="6149971" y="3692929"/>
            <a:ext cx="5599117" cy="2308324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&lt;CE1&gt;ping 192.168.2.1</a:t>
            </a:r>
            <a:endParaRPr lang="en-US" altLang="zh-CN" sz="1200" dirty="0"/>
          </a:p>
          <a:p>
            <a:r>
              <a:rPr lang="en-US" altLang="zh-CN" sz="1200" dirty="0"/>
              <a:t>  PING 192.168.2.1: 56  data bytes, press CTRL_C to break</a:t>
            </a:r>
            <a:endParaRPr lang="en-US" altLang="zh-CN" sz="1200" dirty="0"/>
          </a:p>
          <a:p>
            <a:r>
              <a:rPr lang="en-US" altLang="zh-CN" sz="1200" dirty="0"/>
              <a:t>    Reply from 192.168.2.1: bytes=56 Sequence=1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=126 time=30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192.168.2.1: bytes=56 Sequence=2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=126 time=10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192.168.2.1: bytes=56 Sequence=3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=126 time=50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192.168.2.1: bytes=56 Sequence=4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=126 time=40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  Reply from 192.168.2.1: bytes=56 Sequence=5 </a:t>
            </a:r>
            <a:r>
              <a:rPr lang="en-US" altLang="zh-CN" sz="1200" dirty="0" err="1"/>
              <a:t>ttl</a:t>
            </a:r>
            <a:r>
              <a:rPr lang="en-US" altLang="zh-CN" sz="1200" dirty="0"/>
              <a:t>=126 time=50 </a:t>
            </a:r>
            <a:r>
              <a:rPr lang="en-US" altLang="zh-CN" sz="1200" dirty="0" err="1"/>
              <a:t>ms</a:t>
            </a:r>
            <a:endParaRPr lang="en-US" altLang="zh-CN" sz="1200" dirty="0"/>
          </a:p>
          <a:p>
            <a:r>
              <a:rPr lang="en-US" altLang="zh-CN" sz="1200" dirty="0"/>
              <a:t>  --- 192.168.2.1 ping statistics ---</a:t>
            </a:r>
            <a:endParaRPr lang="en-US" altLang="zh-CN" sz="1200" dirty="0"/>
          </a:p>
          <a:p>
            <a:r>
              <a:rPr lang="en-US" altLang="zh-CN" sz="1200" dirty="0"/>
              <a:t>    5 packet(s) transmitted</a:t>
            </a:r>
            <a:endParaRPr lang="en-US" altLang="zh-CN" sz="1200" dirty="0"/>
          </a:p>
          <a:p>
            <a:r>
              <a:rPr lang="en-US" altLang="zh-CN" sz="1200" dirty="0"/>
              <a:t>    5 packet(s) received</a:t>
            </a:r>
            <a:endParaRPr lang="en-US" altLang="zh-CN" sz="1200" dirty="0"/>
          </a:p>
          <a:p>
            <a:r>
              <a:rPr lang="en-US" altLang="zh-CN" sz="1200" dirty="0"/>
              <a:t>    0.00% packet loss</a:t>
            </a:r>
            <a:endParaRPr lang="en-US" altLang="zh-CN" sz="1200" dirty="0"/>
          </a:p>
          <a:p>
            <a:r>
              <a:rPr lang="en-US" altLang="zh-CN" sz="1200" dirty="0"/>
              <a:t>    round-trip min/</a:t>
            </a:r>
            <a:r>
              <a:rPr lang="en-US" altLang="zh-CN" sz="1200" dirty="0" err="1"/>
              <a:t>avg</a:t>
            </a:r>
            <a:r>
              <a:rPr lang="en-US" altLang="zh-CN" sz="1200" dirty="0"/>
              <a:t>/max = 10/36/50 </a:t>
            </a:r>
            <a:r>
              <a:rPr lang="en-US" altLang="zh-CN" sz="1200" dirty="0" err="1"/>
              <a:t>ms</a:t>
            </a:r>
            <a:endParaRPr lang="zh-CN" altLang="en-US" sz="1200" dirty="0"/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049273" y="3325405"/>
            <a:ext cx="26933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CE1</a:t>
            </a:r>
            <a:r>
              <a:rPr lang="zh-CN" altLang="en-US" sz="1600" dirty="0"/>
              <a:t>上</a:t>
            </a:r>
            <a:r>
              <a:rPr lang="en-US" altLang="zh-CN" sz="1600" dirty="0"/>
              <a:t>ping 192.168.2.1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>
          <a:xfrm>
            <a:off x="1019176" y="1844675"/>
            <a:ext cx="10153650" cy="4356100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(</a:t>
            </a:r>
            <a:r>
              <a:rPr lang="zh-CN" altLang="en-US" sz="1800" dirty="0">
                <a:sym typeface="Huawei Sans" panose="020C0503030203020204" pitchFamily="34" charset="0"/>
              </a:rPr>
              <a:t>单选题</a:t>
            </a:r>
            <a:r>
              <a:rPr lang="en-US" altLang="zh-CN" sz="1800" dirty="0">
                <a:sym typeface="Huawei Sans" panose="020C0503030203020204" pitchFamily="34" charset="0"/>
              </a:rPr>
              <a:t>)EVPN</a:t>
            </a:r>
            <a:r>
              <a:rPr lang="zh-CN" altLang="en-US" sz="1800" dirty="0">
                <a:sym typeface="Huawei Sans" panose="020C0503030203020204" pitchFamily="34" charset="0"/>
              </a:rPr>
              <a:t>使用以下哪一选项路由类型实现快速收敛的功能？</a:t>
            </a:r>
            <a:r>
              <a:rPr lang="en-US" altLang="zh-CN" sz="1800" dirty="0">
                <a:sym typeface="Huawei Sans" panose="020C0503030203020204" pitchFamily="34" charset="0"/>
              </a:rPr>
              <a:t>(     )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1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2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3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4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(</a:t>
            </a:r>
            <a:r>
              <a:rPr lang="zh-CN" altLang="en-US" sz="1800" dirty="0">
                <a:sym typeface="Huawei Sans" panose="020C0503030203020204" pitchFamily="34" charset="0"/>
              </a:rPr>
              <a:t>单选题</a:t>
            </a:r>
            <a:r>
              <a:rPr lang="en-US" altLang="zh-CN" sz="1800" dirty="0">
                <a:sym typeface="Huawei Sans" panose="020C0503030203020204" pitchFamily="34" charset="0"/>
              </a:rPr>
              <a:t>)</a:t>
            </a:r>
            <a:r>
              <a:rPr lang="zh-CN" altLang="en-US" sz="1800" dirty="0">
                <a:sym typeface="Huawei Sans" panose="020C0503030203020204" pitchFamily="34" charset="0"/>
              </a:rPr>
              <a:t>以下哪一选项路由类型会携带转发单播数据时所使用的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标签？</a:t>
            </a:r>
            <a:r>
              <a:rPr lang="en-US" altLang="zh-CN" sz="1800" dirty="0">
                <a:sym typeface="Huawei Sans" panose="020C0503030203020204" pitchFamily="34" charset="0"/>
              </a:rPr>
              <a:t>(     )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1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2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3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Type 4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>
          <a:xfrm>
            <a:off x="1019175" y="1844675"/>
            <a:ext cx="10153650" cy="4356100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通过扩展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协议使二层网络间的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地址学习和发布过程从数据平面转移到控制平面。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使设备在管理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地址时像管理路由一样，可以实现目的</a:t>
            </a:r>
            <a:r>
              <a:rPr lang="en-US" altLang="zh-CN" sz="1800" dirty="0">
                <a:sym typeface="Huawei Sans" panose="020C0503030203020204" pitchFamily="34" charset="0"/>
              </a:rPr>
              <a:t>MAC</a:t>
            </a:r>
            <a:r>
              <a:rPr lang="zh-CN" altLang="en-US" sz="1800" dirty="0">
                <a:sym typeface="Huawei Sans" panose="020C0503030203020204" pitchFamily="34" charset="0"/>
              </a:rPr>
              <a:t>地址相同但下一跳不同的多条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路由实现负载分担；另外结合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路由反射器功能，大大降低了网络复杂度。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使用</a:t>
            </a:r>
            <a:r>
              <a:rPr lang="en-US" altLang="zh-CN" sz="1800" dirty="0">
                <a:sym typeface="Huawei Sans" panose="020C0503030203020204" pitchFamily="34" charset="0"/>
              </a:rPr>
              <a:t>Type 3</a:t>
            </a:r>
            <a:r>
              <a:rPr lang="zh-CN" altLang="en-US" sz="1800" dirty="0">
                <a:sym typeface="Huawei Sans" panose="020C0503030203020204" pitchFamily="34" charset="0"/>
              </a:rPr>
              <a:t>路由携带的标签指导</a:t>
            </a:r>
            <a:r>
              <a:rPr lang="en-US" altLang="zh-CN" sz="1800" dirty="0">
                <a:sym typeface="Huawei Sans" panose="020C0503030203020204" pitchFamily="34" charset="0"/>
              </a:rPr>
              <a:t>BUM</a:t>
            </a:r>
            <a:r>
              <a:rPr lang="zh-CN" altLang="en-US" sz="1800" dirty="0">
                <a:sym typeface="Huawei Sans" panose="020C0503030203020204" pitchFamily="34" charset="0"/>
              </a:rPr>
              <a:t>流量转发，使用</a:t>
            </a:r>
            <a:r>
              <a:rPr lang="en-US" altLang="zh-CN" sz="1800" dirty="0">
                <a:sym typeface="Huawei Sans" panose="020C0503030203020204" pitchFamily="34" charset="0"/>
              </a:rPr>
              <a:t>Type 2</a:t>
            </a:r>
            <a:r>
              <a:rPr lang="zh-CN" altLang="en-US" sz="1800" dirty="0">
                <a:sym typeface="Huawei Sans" panose="020C0503030203020204" pitchFamily="34" charset="0"/>
              </a:rPr>
              <a:t>路由携带的标签指导单播流量转发，使用</a:t>
            </a:r>
            <a:r>
              <a:rPr lang="en-US" altLang="zh-CN" sz="1800" dirty="0">
                <a:sym typeface="Huawei Sans" panose="020C0503030203020204" pitchFamily="34" charset="0"/>
              </a:rPr>
              <a:t>Type 1</a:t>
            </a:r>
            <a:r>
              <a:rPr lang="zh-CN" altLang="en-US" sz="1800" dirty="0">
                <a:sym typeface="Huawei Sans" panose="020C0503030203020204" pitchFamily="34" charset="0"/>
              </a:rPr>
              <a:t>路由实现水平分割、快速收敛等功能，使用</a:t>
            </a:r>
            <a:r>
              <a:rPr lang="en-US" altLang="zh-CN" sz="1800" dirty="0">
                <a:sym typeface="Huawei Sans" panose="020C0503030203020204" pitchFamily="34" charset="0"/>
              </a:rPr>
              <a:t>Type 4</a:t>
            </a:r>
            <a:r>
              <a:rPr lang="zh-CN" altLang="en-US" sz="1800" dirty="0">
                <a:sym typeface="Huawei Sans" panose="020C0503030203020204" pitchFamily="34" charset="0"/>
              </a:rPr>
              <a:t>路由实现</a:t>
            </a:r>
            <a:r>
              <a:rPr lang="en-US" altLang="zh-CN" sz="1800" dirty="0">
                <a:sym typeface="Huawei Sans" panose="020C0503030203020204" pitchFamily="34" charset="0"/>
              </a:rPr>
              <a:t>DF</a:t>
            </a:r>
            <a:r>
              <a:rPr lang="zh-CN" altLang="en-US" sz="1800" dirty="0">
                <a:sym typeface="Huawei Sans" panose="020C0503030203020204" pitchFamily="34" charset="0"/>
              </a:rPr>
              <a:t>选举和</a:t>
            </a:r>
            <a:r>
              <a:rPr lang="en-US" altLang="zh-CN" sz="1800" dirty="0">
                <a:sym typeface="Huawei Sans" panose="020C0503030203020204" pitchFamily="34" charset="0"/>
              </a:rPr>
              <a:t>ES</a:t>
            </a:r>
            <a:r>
              <a:rPr lang="zh-CN" altLang="en-US" sz="1800" dirty="0">
                <a:sym typeface="Huawei Sans" panose="020C0503030203020204" pitchFamily="34" charset="0"/>
              </a:rPr>
              <a:t>成员自动发现，随着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的扩展，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支持通过</a:t>
            </a:r>
            <a:r>
              <a:rPr lang="en-US" altLang="zh-CN" sz="1800" dirty="0">
                <a:sym typeface="Huawei Sans" panose="020C0503030203020204" pitchFamily="34" charset="0"/>
              </a:rPr>
              <a:t>Type 5</a:t>
            </a:r>
            <a:r>
              <a:rPr lang="zh-CN" altLang="en-US" sz="1800" dirty="0">
                <a:sym typeface="Huawei Sans" panose="020C0503030203020204" pitchFamily="34" charset="0"/>
              </a:rPr>
              <a:t>路由实现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前缀路由的传递。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随着应用场景的逐渐丰富和协议的扩展，</a:t>
            </a:r>
            <a:r>
              <a:rPr lang="en-US" altLang="zh-CN" sz="1800" dirty="0">
                <a:sym typeface="Huawei Sans" panose="020C0503030203020204" pitchFamily="34" charset="0"/>
              </a:rPr>
              <a:t>EVPN</a:t>
            </a:r>
            <a:r>
              <a:rPr lang="zh-CN" altLang="en-US" sz="1800" dirty="0">
                <a:sym typeface="Huawei Sans" panose="020C0503030203020204" pitchFamily="34" charset="0"/>
              </a:rPr>
              <a:t>可以被用于多场景，包括广域网、数据中心、园区网等多种场景。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4.xml><?xml version="1.0" encoding="utf-8"?>
<p:tagLst xmlns:p="http://schemas.openxmlformats.org/presentationml/2006/main">
  <p:tag name="commondata" val="eyJoZGlkIjoiNjc0ZmI2NjkxZWUzNmMzMGQwY2FmZGU3M2U2NTgzMTEifQ=="/>
</p:tagLst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��
</file>

<file path=customXml/item2.xml>��
</file>

<file path=customXml/item3.xml>��
</file>

<file path=customXml/itemProps1.xml><?xml version="1.0" encoding="utf-8"?>
<ds:datastoreItem xmlns:ds="http://schemas.openxmlformats.org/officeDocument/2006/customXml" ds:itemID="{DA5960F2-6186-408B-A0DC-5CA5E58B604F}">
  <ds:schemaRefs/>
</ds:datastoreItem>
</file>

<file path=customXml/itemProps2.xml><?xml version="1.0" encoding="utf-8"?>
<ds:datastoreItem xmlns:ds="http://schemas.openxmlformats.org/officeDocument/2006/customXml" ds:itemID="{5EE5F635-80E0-4CE9-BD8F-2CE59584D715}">
  <ds:schemaRefs/>
</ds:datastoreItem>
</file>

<file path=customXml/itemProps3.xml><?xml version="1.0" encoding="utf-8"?>
<ds:datastoreItem xmlns:ds="http://schemas.openxmlformats.org/officeDocument/2006/customXml" ds:itemID="{FEDE263F-0510-4442-823E-69B63ECB61E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47378</Words>
  <Application>WPS 演示</Application>
  <PresentationFormat>宽屏</PresentationFormat>
  <Paragraphs>8010</Paragraphs>
  <Slides>112</Slides>
  <Notes>112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112</vt:i4>
      </vt:variant>
    </vt:vector>
  </HeadingPairs>
  <TitlesOfParts>
    <vt:vector size="129" baseType="lpstr">
      <vt:lpstr>Arial</vt:lpstr>
      <vt:lpstr>宋体</vt:lpstr>
      <vt:lpstr>Wingdings</vt:lpstr>
      <vt:lpstr>Huawei Sans</vt:lpstr>
      <vt:lpstr>DejaVu Math TeX Gyre</vt:lpstr>
      <vt:lpstr>方正兰亭黑简体</vt:lpstr>
      <vt:lpstr>黑体</vt:lpstr>
      <vt:lpstr>微软雅黑</vt:lpstr>
      <vt:lpstr>Arial Unicode MS</vt:lpstr>
      <vt:lpstr>Calibri</vt:lpstr>
      <vt:lpstr>华文细黑</vt:lpstr>
      <vt:lpstr>Wingdings 3</vt:lpstr>
      <vt:lpstr>Calibri</vt:lpstr>
      <vt:lpstr>2_标题页模板</vt:lpstr>
      <vt:lpstr>3_功能页模板</vt:lpstr>
      <vt:lpstr>4_内容页模板</vt:lpstr>
      <vt:lpstr>5_感谢页模板</vt:lpstr>
      <vt:lpstr>PowerPoint 演示文稿</vt:lpstr>
      <vt:lpstr>EVPN原理与配置</vt:lpstr>
      <vt:lpstr>PowerPoint 演示文稿</vt:lpstr>
      <vt:lpstr>PowerPoint 演示文稿</vt:lpstr>
      <vt:lpstr>PowerPoint 演示文稿</vt:lpstr>
      <vt:lpstr>VPLS简介</vt:lpstr>
      <vt:lpstr>VPLS基本工作原理：创建隧道和PW</vt:lpstr>
      <vt:lpstr>VPLS基本工作原理：创建VSI</vt:lpstr>
      <vt:lpstr>VPLS基本工作原理：绑定PW和AC到VSI</vt:lpstr>
      <vt:lpstr>VPLS的报文转发过程</vt:lpstr>
      <vt:lpstr>VPLS的挑战1：单活接入导致流量分担不均</vt:lpstr>
      <vt:lpstr>VPLS的挑战2：故障收敛速度慢</vt:lpstr>
      <vt:lpstr>EVPN简介</vt:lpstr>
      <vt:lpstr>EVPN基本术语</vt:lpstr>
      <vt:lpstr>EVPN基本术语：ES和ESI</vt:lpstr>
      <vt:lpstr>ESI的格式</vt:lpstr>
      <vt:lpstr>EVPN基本术语：EVI和MAC-VRF</vt:lpstr>
      <vt:lpstr>EVPN基本术语：RD和RT</vt:lpstr>
      <vt:lpstr>PowerPoint 演示文稿</vt:lpstr>
      <vt:lpstr>EVPN路由</vt:lpstr>
      <vt:lpstr>EVPN四种类型路由的作用</vt:lpstr>
      <vt:lpstr>EVPN工作流程</vt:lpstr>
      <vt:lpstr>EVPN表项简介</vt:lpstr>
      <vt:lpstr>本地创建EVPN实例</vt:lpstr>
      <vt:lpstr>BUM流量转发表 (1)</vt:lpstr>
      <vt:lpstr>BUM流量转发表 (2)</vt:lpstr>
      <vt:lpstr>BUM流量转发表 (3)</vt:lpstr>
      <vt:lpstr>配置接口绑定EVPN实例</vt:lpstr>
      <vt:lpstr>配置CE接入接口ESI</vt:lpstr>
      <vt:lpstr>DF选举 (1)</vt:lpstr>
      <vt:lpstr>DF选举 (2)</vt:lpstr>
      <vt:lpstr>分发ESI标签：水平分割 (1)</vt:lpstr>
      <vt:lpstr>分发ESI标签：水平分割 (2)</vt:lpstr>
      <vt:lpstr>EVPN启动阶段总结</vt:lpstr>
      <vt:lpstr>EVPN流量转发阶段</vt:lpstr>
      <vt:lpstr>本地MAC地址学习</vt:lpstr>
      <vt:lpstr>MAC地址通告 (1)</vt:lpstr>
      <vt:lpstr>MAC地址通告 (2)</vt:lpstr>
      <vt:lpstr>MAC地址通告 (3)</vt:lpstr>
      <vt:lpstr>远端MAC地址学习</vt:lpstr>
      <vt:lpstr>ARP广播转发</vt:lpstr>
      <vt:lpstr>ARP广播转发：PE1 to PE3</vt:lpstr>
      <vt:lpstr>ARP广播转发：PE1 to PE4</vt:lpstr>
      <vt:lpstr>ARP广播转发：PE1 to PE2</vt:lpstr>
      <vt:lpstr>ARP单播应答</vt:lpstr>
      <vt:lpstr>ARP单播应答：本地学习MAC地址</vt:lpstr>
      <vt:lpstr>ARP单播应答：MAC地址通告 (1)</vt:lpstr>
      <vt:lpstr>ARP单播应答：MAC地址通告 (2)</vt:lpstr>
      <vt:lpstr>ARP单播应答：数据平面转发</vt:lpstr>
      <vt:lpstr>总结：EVPN解决双活带来问题</vt:lpstr>
      <vt:lpstr>总结：EVPN实现负载分担</vt:lpstr>
      <vt:lpstr>总结：EVPN故障快速收敛 </vt:lpstr>
      <vt:lpstr>PowerPoint 演示文稿</vt:lpstr>
      <vt:lpstr>EVPN路由回顾</vt:lpstr>
      <vt:lpstr>EVPN路由携带的关键参数</vt:lpstr>
      <vt:lpstr>Ethernet A-D路由</vt:lpstr>
      <vt:lpstr>ESI Label扩展团体属性</vt:lpstr>
      <vt:lpstr>快速收敛</vt:lpstr>
      <vt:lpstr>水平分割</vt:lpstr>
      <vt:lpstr>别名</vt:lpstr>
      <vt:lpstr>MAC/IP路由</vt:lpstr>
      <vt:lpstr>MAC迁移扩展团体属性</vt:lpstr>
      <vt:lpstr>Inclusive Multicast路由</vt:lpstr>
      <vt:lpstr>PMSI属性</vt:lpstr>
      <vt:lpstr>Ethernet Segment Route</vt:lpstr>
      <vt:lpstr>ES-Import Route Target</vt:lpstr>
      <vt:lpstr>DF选举</vt:lpstr>
      <vt:lpstr>新的EVPN路由</vt:lpstr>
      <vt:lpstr>IP前缀路由</vt:lpstr>
      <vt:lpstr>IP前缀路由典型应用场景</vt:lpstr>
      <vt:lpstr>EVPN协议标准</vt:lpstr>
      <vt:lpstr>PowerPoint 演示文稿</vt:lpstr>
      <vt:lpstr>EVPN接入概述</vt:lpstr>
      <vt:lpstr>Port Based模式</vt:lpstr>
      <vt:lpstr>VLAN Based模式</vt:lpstr>
      <vt:lpstr>VLAN Bundle模式</vt:lpstr>
      <vt:lpstr>VLAN-Aware Bundle模式</vt:lpstr>
      <vt:lpstr>PowerPoint 演示文稿</vt:lpstr>
      <vt:lpstr>跨域EVPN简介</vt:lpstr>
      <vt:lpstr>跨域EVPN：OptionA</vt:lpstr>
      <vt:lpstr>跨域EVPN：OptionB</vt:lpstr>
      <vt:lpstr>跨域EVPN：OptionC</vt:lpstr>
      <vt:lpstr>PowerPoint 演示文稿</vt:lpstr>
      <vt:lpstr>EVPN在广域网的应用</vt:lpstr>
      <vt:lpstr>EVPN在数据中心的应用</vt:lpstr>
      <vt:lpstr>EVPN在园区网的应用</vt:lpstr>
      <vt:lpstr>EVPN在SD-WAN的应用</vt:lpstr>
      <vt:lpstr>PowerPoint 演示文稿</vt:lpstr>
      <vt:lpstr>配置BD EVPN功能</vt:lpstr>
      <vt:lpstr>配置BD并绑定EVPN实例</vt:lpstr>
      <vt:lpstr>配置Eth-Trunk子接口接入BD EVPN示例 (双归双活)</vt:lpstr>
      <vt:lpstr>配置Eth-Trunk子接口接入BD EVPN示例 (1)</vt:lpstr>
      <vt:lpstr>配置Eth-Trunk子接口接入BD EVPN示例 (2)</vt:lpstr>
      <vt:lpstr>配置Eth-Trunk子接口接入BD EVPN示例 (3)</vt:lpstr>
      <vt:lpstr>配置Eth-Trunk子接口接入BD EVPN示例 (4)</vt:lpstr>
      <vt:lpstr>配置Eth-Trunk子接口接入BD EVPN示例 (5)</vt:lpstr>
      <vt:lpstr>配置结果验证 (1)</vt:lpstr>
      <vt:lpstr>配置结果验证 (2)</vt:lpstr>
      <vt:lpstr>配置结果验证 (3)</vt:lpstr>
      <vt:lpstr>配置结果验证 (4)</vt:lpstr>
      <vt:lpstr>配置结果验证 (5)</vt:lpstr>
      <vt:lpstr>PowerPoint 演示文稿</vt:lpstr>
      <vt:lpstr>配置EVPN承载三层业务</vt:lpstr>
      <vt:lpstr>配置EVPN承载三层业务示例：需求说明</vt:lpstr>
      <vt:lpstr>配置EVPN承载三层业务示例 (1)</vt:lpstr>
      <vt:lpstr>配置EVPN承载三层业务示例 (2)</vt:lpstr>
      <vt:lpstr>配置结果验证 (1)</vt:lpstr>
      <vt:lpstr>配置结果验证 (2)</vt:lpstr>
      <vt:lpstr>配置结果验证 (3)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郑桂彬</cp:lastModifiedBy>
  <cp:revision>720</cp:revision>
  <cp:lastPrinted>2020-07-31T09:33:00Z</cp:lastPrinted>
  <dcterms:created xsi:type="dcterms:W3CDTF">2018-11-29T10:16:00Z</dcterms:created>
  <dcterms:modified xsi:type="dcterms:W3CDTF">2024-05-18T11:57:08Z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(3)z7tTAPkvmqOnZOUH2ID2CJ5dmewixYYmru+wyUUqn6DE/QcHdtZItLNZtGEuYsDmCNje1Qmh
2RMytxjKhN5g3iX7T4DnPUV3t6ZXOvjGEPy8K8umvbrw/CeExgg7ns7x84s20IX+Q+BqquFn
zifKJDtA7j2+2wnyMtCky+Nro71qBVejiuI23uP8F3XUcm72ufwXcnWH+vzcTpDK0QmjYeuB
mbQbftPkhQoW+vx5Xn</vt:lpwstr>
  </property>
  <property fmtid="{D5CDD505-2E9C-101B-9397-08002B2CF9AE}" pid="3" name="_2015_ms_pID_7253431">
    <vt:lpwstr>I8C/8tVLju8C/AuuoPdewG8g4I5LcUTynbHlhgsPNBrBoTr9bb+Vji
mHcH2yZnDkFN2aqUOPoxbiN2YN+jx8xvzmUGVUKzvulKZMwmizav85LNEK1tfK/eJa0fTWzr
xAfy5ShZR2Yk82IUqlWttRVezD0z3IfIIQVJvztJYPB5fBwuO07zMmzDK6duy41+bWh0QxbN
cdjAi4Svp99zdglRuuch0dCLzH8DP+JNG05N</vt:lpwstr>
  </property>
  <property fmtid="{D5CDD505-2E9C-101B-9397-08002B2CF9AE}" pid="4" name="_2015_ms_pID_7253432">
    <vt:lpwstr>YinlEVp3z0AgtGH7oiujbPo=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1639977539</vt:lpwstr>
  </property>
  <property fmtid="{D5CDD505-2E9C-101B-9397-08002B2CF9AE}" pid="10" name="ICV">
    <vt:lpwstr>AE9F2171EF414B9CB9347F28AF37CACB_12</vt:lpwstr>
  </property>
  <property fmtid="{D5CDD505-2E9C-101B-9397-08002B2CF9AE}" pid="11" name="KSOProductBuildVer">
    <vt:lpwstr>2052-12.1.0.16417</vt:lpwstr>
  </property>
</Properties>
</file>