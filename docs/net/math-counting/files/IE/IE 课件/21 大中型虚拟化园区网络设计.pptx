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139"/>
  </p:notesMasterIdLst>
  <p:handoutMasterIdLst>
    <p:handoutMasterId r:id="rId140"/>
  </p:handoutMasterIdLst>
  <p:sldIdLst>
    <p:sldId id="257" r:id="rId8"/>
    <p:sldId id="256" r:id="rId9"/>
    <p:sldId id="470" r:id="rId10"/>
    <p:sldId id="259" r:id="rId11"/>
    <p:sldId id="260" r:id="rId12"/>
    <p:sldId id="430" r:id="rId13"/>
    <p:sldId id="429" r:id="rId14"/>
    <p:sldId id="262" r:id="rId15"/>
    <p:sldId id="481" r:id="rId16"/>
    <p:sldId id="479" r:id="rId17"/>
    <p:sldId id="480" r:id="rId18"/>
    <p:sldId id="475" r:id="rId19"/>
    <p:sldId id="483" r:id="rId20"/>
    <p:sldId id="493" r:id="rId21"/>
    <p:sldId id="465" r:id="rId22"/>
    <p:sldId id="463" r:id="rId23"/>
    <p:sldId id="464" r:id="rId24"/>
    <p:sldId id="509" r:id="rId25"/>
    <p:sldId id="466" r:id="rId26"/>
    <p:sldId id="267" r:id="rId27"/>
    <p:sldId id="268" r:id="rId28"/>
    <p:sldId id="265" r:id="rId29"/>
    <p:sldId id="266" r:id="rId30"/>
    <p:sldId id="439" r:id="rId31"/>
    <p:sldId id="452" r:id="rId32"/>
    <p:sldId id="437" r:id="rId33"/>
    <p:sldId id="447" r:id="rId34"/>
    <p:sldId id="472" r:id="rId35"/>
    <p:sldId id="474" r:id="rId36"/>
    <p:sldId id="473" r:id="rId37"/>
    <p:sldId id="478" r:id="rId38"/>
    <p:sldId id="438" r:id="rId39"/>
    <p:sldId id="416" r:id="rId40"/>
    <p:sldId id="273" r:id="rId41"/>
    <p:sldId id="275" r:id="rId42"/>
    <p:sldId id="276" r:id="rId43"/>
    <p:sldId id="298" r:id="rId44"/>
    <p:sldId id="299" r:id="rId45"/>
    <p:sldId id="300" r:id="rId46"/>
    <p:sldId id="495" r:id="rId47"/>
    <p:sldId id="297" r:id="rId48"/>
    <p:sldId id="307" r:id="rId49"/>
    <p:sldId id="308" r:id="rId50"/>
    <p:sldId id="309" r:id="rId51"/>
    <p:sldId id="310" r:id="rId52"/>
    <p:sldId id="311" r:id="rId53"/>
    <p:sldId id="312" r:id="rId54"/>
    <p:sldId id="520" r:id="rId55"/>
    <p:sldId id="523" r:id="rId56"/>
    <p:sldId id="315" r:id="rId57"/>
    <p:sldId id="524" r:id="rId58"/>
    <p:sldId id="446" r:id="rId59"/>
    <p:sldId id="322" r:id="rId60"/>
    <p:sldId id="324" r:id="rId61"/>
    <p:sldId id="340" r:id="rId62"/>
    <p:sldId id="440" r:id="rId63"/>
    <p:sldId id="441" r:id="rId64"/>
    <p:sldId id="442" r:id="rId65"/>
    <p:sldId id="443" r:id="rId66"/>
    <p:sldId id="444" r:id="rId67"/>
    <p:sldId id="445" r:id="rId68"/>
    <p:sldId id="417" r:id="rId69"/>
    <p:sldId id="507" r:id="rId70"/>
    <p:sldId id="510" r:id="rId71"/>
    <p:sldId id="491" r:id="rId72"/>
    <p:sldId id="343" r:id="rId73"/>
    <p:sldId id="344" r:id="rId74"/>
    <p:sldId id="345" r:id="rId75"/>
    <p:sldId id="346" r:id="rId76"/>
    <p:sldId id="347" r:id="rId77"/>
    <p:sldId id="348" r:id="rId78"/>
    <p:sldId id="350" r:id="rId79"/>
    <p:sldId id="351" r:id="rId80"/>
    <p:sldId id="352" r:id="rId81"/>
    <p:sldId id="361" r:id="rId82"/>
    <p:sldId id="511" r:id="rId83"/>
    <p:sldId id="512" r:id="rId84"/>
    <p:sldId id="449" r:id="rId85"/>
    <p:sldId id="451" r:id="rId86"/>
    <p:sldId id="366" r:id="rId87"/>
    <p:sldId id="353" r:id="rId88"/>
    <p:sldId id="354" r:id="rId89"/>
    <p:sldId id="355" r:id="rId90"/>
    <p:sldId id="356" r:id="rId91"/>
    <p:sldId id="367" r:id="rId92"/>
    <p:sldId id="513" r:id="rId93"/>
    <p:sldId id="421" r:id="rId94"/>
    <p:sldId id="484" r:id="rId95"/>
    <p:sldId id="423" r:id="rId96"/>
    <p:sldId id="368" r:id="rId97"/>
    <p:sldId id="369" r:id="rId98"/>
    <p:sldId id="487" r:id="rId99"/>
    <p:sldId id="374" r:id="rId100"/>
    <p:sldId id="373" r:id="rId101"/>
    <p:sldId id="496" r:id="rId102"/>
    <p:sldId id="302" r:id="rId103"/>
    <p:sldId id="303" r:id="rId104"/>
    <p:sldId id="304" r:id="rId105"/>
    <p:sldId id="305" r:id="rId106"/>
    <p:sldId id="492" r:id="rId107"/>
    <p:sldId id="306" r:id="rId108"/>
    <p:sldId id="517" r:id="rId109"/>
    <p:sldId id="518" r:id="rId110"/>
    <p:sldId id="498" r:id="rId111"/>
    <p:sldId id="500" r:id="rId112"/>
    <p:sldId id="379" r:id="rId113"/>
    <p:sldId id="406" r:id="rId114"/>
    <p:sldId id="468" r:id="rId115"/>
    <p:sldId id="431" r:id="rId116"/>
    <p:sldId id="432" r:id="rId117"/>
    <p:sldId id="415" r:id="rId118"/>
    <p:sldId id="411" r:id="rId119"/>
    <p:sldId id="433" r:id="rId120"/>
    <p:sldId id="501" r:id="rId121"/>
    <p:sldId id="502" r:id="rId122"/>
    <p:sldId id="503" r:id="rId123"/>
    <p:sldId id="504" r:id="rId124"/>
    <p:sldId id="505" r:id="rId125"/>
    <p:sldId id="508" r:id="rId126"/>
    <p:sldId id="506" r:id="rId127"/>
    <p:sldId id="381" r:id="rId128"/>
    <p:sldId id="385" r:id="rId129"/>
    <p:sldId id="382" r:id="rId130"/>
    <p:sldId id="485" r:id="rId131"/>
    <p:sldId id="486" r:id="rId132"/>
    <p:sldId id="383" r:id="rId133"/>
    <p:sldId id="384" r:id="rId134"/>
    <p:sldId id="403" r:id="rId135"/>
    <p:sldId id="404" r:id="rId136"/>
    <p:sldId id="469" r:id="rId137"/>
    <p:sldId id="405" r:id="rId138"/>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3" orient="horz" pos="73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421" clrIdx="0">
    <p:extLst>
      <p:ext uri="{19B8F6BF-5375-455C-9EA6-DF929625EA0E}">
        <p15:presenceInfo xmlns:p15="http://schemas.microsoft.com/office/powerpoint/2012/main" userId="S-1-5-21-147214757-305610072-1517763936-4736116" providerId="AD"/>
      </p:ext>
    </p:extLst>
  </p:cmAuthor>
  <p:cmAuthor id="2" name="Zhanglinruizjhw (Leroy)" initials="Z(" lastIdx="36" clrIdx="1">
    <p:extLst>
      <p:ext uri="{19B8F6BF-5375-455C-9EA6-DF929625EA0E}">
        <p15:presenceInfo xmlns:p15="http://schemas.microsoft.com/office/powerpoint/2012/main" userId="S-1-5-21-147214757-305610072-1517763936-5615262" providerId="AD"/>
      </p:ext>
    </p:extLst>
  </p:cmAuthor>
  <p:cmAuthor id="3" name="Wuyuezjhw (Monk)" initials="W(" lastIdx="5" clrIdx="2">
    <p:extLst>
      <p:ext uri="{19B8F6BF-5375-455C-9EA6-DF929625EA0E}">
        <p15:presenceInfo xmlns:p15="http://schemas.microsoft.com/office/powerpoint/2012/main" userId="S-1-5-21-147214757-305610072-1517763936-31936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5C5"/>
    <a:srgbClr val="C7000B"/>
    <a:srgbClr val="BEE9EE"/>
    <a:srgbClr val="ECF9FA"/>
    <a:srgbClr val="D0E8C4"/>
    <a:srgbClr val="ED6D00"/>
    <a:srgbClr val="00B050"/>
    <a:srgbClr val="56C4D2"/>
    <a:srgbClr val="9B9B9B"/>
    <a:srgbClr val="AFD8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86" autoAdjust="0"/>
    <p:restoredTop sz="95043" autoAdjust="0"/>
  </p:normalViewPr>
  <p:slideViewPr>
    <p:cSldViewPr snapToGrid="0" snapToObjects="1">
      <p:cViewPr varScale="1">
        <p:scale>
          <a:sx n="85" d="100"/>
          <a:sy n="85" d="100"/>
        </p:scale>
        <p:origin x="40" y="64"/>
      </p:cViewPr>
      <p:guideLst>
        <p:guide pos="3840"/>
        <p:guide orient="horz" pos="731"/>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100" d="100"/>
          <a:sy n="100" d="100"/>
        </p:scale>
        <p:origin x="3420" y="-85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134" Type="http://schemas.openxmlformats.org/officeDocument/2006/relationships/slide" Target="slides/slide127.xml"/><Relationship Id="rId139" Type="http://schemas.openxmlformats.org/officeDocument/2006/relationships/notesMaster" Target="notesMasters/notesMaster1.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40" Type="http://schemas.openxmlformats.org/officeDocument/2006/relationships/handoutMaster" Target="handoutMasters/handoutMaster1.xml"/><Relationship Id="rId14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0" Type="http://schemas.openxmlformats.org/officeDocument/2006/relationships/slide" Target="slides/slide123.xml"/><Relationship Id="rId135" Type="http://schemas.openxmlformats.org/officeDocument/2006/relationships/slide" Target="slides/slide128.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commentAuthors" Target="commentAuthor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412CDC-CA2F-4AC0-997B-4F9A32367F3C}" type="doc">
      <dgm:prSet loTypeId="urn:microsoft.com/office/officeart/2005/8/layout/orgChart1" loCatId="hierarchy" qsTypeId="urn:microsoft.com/office/officeart/2005/8/quickstyle/simple5" qsCatId="simple" csTypeId="urn:microsoft.com/office/officeart/2005/8/colors/colorful1" csCatId="colorful" phldr="1"/>
      <dgm:spPr/>
      <dgm:t>
        <a:bodyPr/>
        <a:lstStyle/>
        <a:p>
          <a:endParaRPr lang="zh-CN" altLang="en-US"/>
        </a:p>
      </dgm:t>
    </dgm:pt>
    <dgm:pt modelId="{64352500-A724-4934-9B87-263D04CEFB0D}">
      <dgm:prSet phldrT="[文本]" custT="1"/>
      <dgm:spPr>
        <a:solidFill>
          <a:srgbClr val="30B5C5"/>
        </a:solidFill>
      </dgm:spPr>
      <dgm:t>
        <a:bodyPr/>
        <a:lstStyle/>
        <a:p>
          <a:pPr>
            <a:lnSpc>
              <a:spcPct val="100000"/>
            </a:lnSpc>
            <a:spcAft>
              <a:spcPts val="0"/>
            </a:spcAft>
          </a:pPr>
          <a:r>
            <a:rPr lang="zh-CN" altLang="en-US" sz="1600" b="1" dirty="0">
              <a:latin typeface="+mn-lt"/>
              <a:ea typeface="+mn-ea"/>
              <a:sym typeface="Huawei Sans" panose="020C0503030203020204" pitchFamily="34" charset="0"/>
            </a:rPr>
            <a:t>虚拟化园区网络设计</a:t>
          </a:r>
        </a:p>
      </dgm:t>
    </dgm:pt>
    <dgm:pt modelId="{35BB533F-58D4-4E1E-9BDB-0394B9CF1C6B}" type="parTrans" cxnId="{77D4B867-E79C-4726-A354-893D80BFF064}">
      <dgm:prSet/>
      <dgm:spPr/>
      <dgm:t>
        <a:bodyPr/>
        <a:lstStyle/>
        <a:p>
          <a:endParaRPr lang="zh-CN" altLang="en-US" sz="1200" b="0">
            <a:latin typeface="+mn-lt"/>
            <a:ea typeface="+mn-ea"/>
          </a:endParaRPr>
        </a:p>
      </dgm:t>
    </dgm:pt>
    <dgm:pt modelId="{4F36EF18-2676-45B6-88BB-4A028FFDE13A}" type="sibTrans" cxnId="{77D4B867-E79C-4726-A354-893D80BFF064}">
      <dgm:prSet/>
      <dgm:spPr/>
      <dgm:t>
        <a:bodyPr/>
        <a:lstStyle/>
        <a:p>
          <a:endParaRPr lang="zh-CN" altLang="en-US" sz="1200" b="0">
            <a:latin typeface="+mn-lt"/>
            <a:ea typeface="+mn-ea"/>
          </a:endParaRPr>
        </a:p>
      </dgm:t>
    </dgm:pt>
    <dgm:pt modelId="{CEB5D414-BD56-49FE-95CD-D08C7C923DCB}">
      <dgm:prSet phldrT="[文本]" custT="1"/>
      <dgm:spPr>
        <a:solidFill>
          <a:srgbClr val="56C4D2"/>
        </a:solidFill>
      </dgm:spPr>
      <dgm:t>
        <a:bodyPr/>
        <a:lstStyle/>
        <a:p>
          <a:pPr>
            <a:lnSpc>
              <a:spcPct val="100000"/>
            </a:lnSpc>
            <a:spcAft>
              <a:spcPts val="0"/>
            </a:spcAft>
          </a:pPr>
          <a:r>
            <a:rPr lang="en-US" altLang="zh-CN" sz="1200" b="1" dirty="0">
              <a:latin typeface="+mn-lt"/>
              <a:ea typeface="+mn-ea"/>
              <a:sym typeface="Huawei Sans" panose="020C0503030203020204" pitchFamily="34" charset="0"/>
            </a:rPr>
            <a:t>Overlay</a:t>
          </a:r>
        </a:p>
        <a:p>
          <a:pPr>
            <a:lnSpc>
              <a:spcPct val="100000"/>
            </a:lnSpc>
            <a:spcAft>
              <a:spcPts val="0"/>
            </a:spcAft>
          </a:pPr>
          <a:r>
            <a:rPr lang="zh-CN" altLang="en-US" sz="1200" b="1" dirty="0">
              <a:latin typeface="+mn-lt"/>
              <a:ea typeface="+mn-ea"/>
              <a:sym typeface="Huawei Sans" panose="020C0503030203020204" pitchFamily="34" charset="0"/>
            </a:rPr>
            <a:t>网络设计</a:t>
          </a:r>
        </a:p>
      </dgm:t>
    </dgm:pt>
    <dgm:pt modelId="{D5C4AEF2-C4E7-4BE9-9BC3-4EEB2B4FFCB4}" type="parTrans" cxnId="{8F8CFC1E-BE40-4C2C-8428-71940A0674F1}">
      <dgm:prSet/>
      <dgm:spPr>
        <a:ln>
          <a:solidFill>
            <a:srgbClr val="30B5C5"/>
          </a:solidFill>
        </a:ln>
      </dgm:spPr>
      <dgm:t>
        <a:bodyPr/>
        <a:lstStyle/>
        <a:p>
          <a:endParaRPr lang="zh-CN" altLang="en-US" sz="1200" b="0">
            <a:latin typeface="+mn-lt"/>
            <a:ea typeface="+mn-ea"/>
          </a:endParaRPr>
        </a:p>
      </dgm:t>
    </dgm:pt>
    <dgm:pt modelId="{616705CB-3FB3-4CC7-A965-AFB6279669B5}" type="sibTrans" cxnId="{8F8CFC1E-BE40-4C2C-8428-71940A0674F1}">
      <dgm:prSet/>
      <dgm:spPr/>
      <dgm:t>
        <a:bodyPr/>
        <a:lstStyle/>
        <a:p>
          <a:endParaRPr lang="zh-CN" altLang="en-US" sz="1200" b="0">
            <a:latin typeface="+mn-lt"/>
            <a:ea typeface="+mn-ea"/>
          </a:endParaRPr>
        </a:p>
      </dgm:t>
    </dgm:pt>
    <dgm:pt modelId="{CF93F3A8-A199-4DCB-8C9B-ED123C32F761}">
      <dgm:prSet phldrT="[文本]" custT="1"/>
      <dgm:spPr>
        <a:solidFill>
          <a:srgbClr val="56C4D2"/>
        </a:solidFill>
      </dgm:spPr>
      <dgm:t>
        <a:bodyPr/>
        <a:lstStyle/>
        <a:p>
          <a:r>
            <a:rPr lang="en-US" altLang="zh-CN" sz="1200" b="1" dirty="0">
              <a:latin typeface="+mn-lt"/>
              <a:ea typeface="+mn-ea"/>
              <a:sym typeface="Huawei Sans" panose="020C0503030203020204" pitchFamily="34" charset="0"/>
            </a:rPr>
            <a:t>WLAN</a:t>
          </a:r>
          <a:r>
            <a:rPr lang="zh-CN" altLang="en-US" sz="1200" b="1" dirty="0">
              <a:latin typeface="+mn-lt"/>
              <a:ea typeface="+mn-ea"/>
              <a:sym typeface="Huawei Sans" panose="020C0503030203020204" pitchFamily="34" charset="0"/>
            </a:rPr>
            <a:t>设计</a:t>
          </a:r>
        </a:p>
      </dgm:t>
    </dgm:pt>
    <dgm:pt modelId="{B313CDA0-D7A2-475B-8B30-85AE879D61B4}" type="parTrans" cxnId="{E4D8C2F4-16C7-49EE-9778-B53D2D42D856}">
      <dgm:prSet/>
      <dgm:spPr>
        <a:ln>
          <a:solidFill>
            <a:srgbClr val="30B5C5"/>
          </a:solidFill>
        </a:ln>
      </dgm:spPr>
      <dgm:t>
        <a:bodyPr/>
        <a:lstStyle/>
        <a:p>
          <a:endParaRPr lang="zh-CN" altLang="en-US" sz="1200" b="0">
            <a:latin typeface="+mn-lt"/>
            <a:ea typeface="+mn-ea"/>
          </a:endParaRPr>
        </a:p>
      </dgm:t>
    </dgm:pt>
    <dgm:pt modelId="{4CC6BFE9-E5E7-43D0-A3FD-053E5A07924C}" type="sibTrans" cxnId="{E4D8C2F4-16C7-49EE-9778-B53D2D42D856}">
      <dgm:prSet/>
      <dgm:spPr/>
      <dgm:t>
        <a:bodyPr/>
        <a:lstStyle/>
        <a:p>
          <a:endParaRPr lang="zh-CN" altLang="en-US" sz="1200" b="0">
            <a:latin typeface="+mn-lt"/>
            <a:ea typeface="+mn-ea"/>
          </a:endParaRPr>
        </a:p>
      </dgm:t>
    </dgm:pt>
    <dgm:pt modelId="{2B9F6DFA-F00E-4EC5-AD3E-27E5816EEA8E}">
      <dgm:prSet custT="1"/>
      <dgm:spPr/>
      <dgm:t>
        <a:bodyPr/>
        <a:lstStyle/>
        <a:p>
          <a:r>
            <a:rPr lang="zh-CN" altLang="en-US" sz="1200" b="0" dirty="0">
              <a:latin typeface="+mn-lt"/>
              <a:ea typeface="+mn-ea"/>
              <a:sym typeface="Huawei Sans" panose="020C0503030203020204" pitchFamily="34" charset="0"/>
            </a:rPr>
            <a:t>策略设计</a:t>
          </a:r>
        </a:p>
      </dgm:t>
    </dgm:pt>
    <dgm:pt modelId="{BCDDF0C5-3D39-4789-B5E4-EB908C53D7DA}" type="parTrans" cxnId="{111E240A-81B7-496A-99DA-A530F4C39F5A}">
      <dgm:prSet/>
      <dgm:spPr/>
      <dgm:t>
        <a:bodyPr/>
        <a:lstStyle/>
        <a:p>
          <a:endParaRPr lang="zh-CN" altLang="en-US" sz="1200" b="0">
            <a:latin typeface="+mn-lt"/>
            <a:ea typeface="+mn-ea"/>
          </a:endParaRPr>
        </a:p>
      </dgm:t>
    </dgm:pt>
    <dgm:pt modelId="{23784DC8-F321-4C0F-B116-323C4E42066A}" type="sibTrans" cxnId="{111E240A-81B7-496A-99DA-A530F4C39F5A}">
      <dgm:prSet/>
      <dgm:spPr/>
      <dgm:t>
        <a:bodyPr/>
        <a:lstStyle/>
        <a:p>
          <a:endParaRPr lang="zh-CN" altLang="en-US" sz="1200" b="0">
            <a:latin typeface="+mn-lt"/>
            <a:ea typeface="+mn-ea"/>
          </a:endParaRPr>
        </a:p>
      </dgm:t>
    </dgm:pt>
    <dgm:pt modelId="{F4E374AF-D540-48E7-941E-F1DAD6307ABA}">
      <dgm:prSet custT="1"/>
      <dgm:spPr/>
      <dgm:t>
        <a:bodyPr/>
        <a:lstStyle/>
        <a:p>
          <a:r>
            <a:rPr lang="en-US" altLang="zh-CN" sz="1200" b="0" dirty="0">
              <a:latin typeface="+mn-lt"/>
              <a:ea typeface="+mn-ea"/>
              <a:sym typeface="Huawei Sans" panose="020C0503030203020204" pitchFamily="34" charset="0"/>
            </a:rPr>
            <a:t>VN</a:t>
          </a:r>
          <a:r>
            <a:rPr lang="zh-CN" altLang="en-US" sz="1200" b="0" dirty="0">
              <a:latin typeface="+mn-lt"/>
              <a:ea typeface="+mn-ea"/>
              <a:sym typeface="Huawei Sans" panose="020C0503030203020204" pitchFamily="34" charset="0"/>
            </a:rPr>
            <a:t>接入设计</a:t>
          </a:r>
        </a:p>
      </dgm:t>
    </dgm:pt>
    <dgm:pt modelId="{FA1DA8D2-3F9A-4E4E-A9A4-2173D09F6EBD}" type="parTrans" cxnId="{AB013C8C-3F38-4283-BCB7-030F9041ADBF}">
      <dgm:prSet/>
      <dgm:spPr/>
      <dgm:t>
        <a:bodyPr/>
        <a:lstStyle/>
        <a:p>
          <a:endParaRPr lang="zh-CN" altLang="en-US" sz="1200" b="0">
            <a:latin typeface="+mn-lt"/>
            <a:ea typeface="+mn-ea"/>
          </a:endParaRPr>
        </a:p>
      </dgm:t>
    </dgm:pt>
    <dgm:pt modelId="{F74992B3-09E9-4372-B269-FCC0891743E6}" type="sibTrans" cxnId="{AB013C8C-3F38-4283-BCB7-030F9041ADBF}">
      <dgm:prSet/>
      <dgm:spPr/>
      <dgm:t>
        <a:bodyPr/>
        <a:lstStyle/>
        <a:p>
          <a:endParaRPr lang="zh-CN" altLang="en-US" sz="1200" b="0">
            <a:latin typeface="+mn-lt"/>
            <a:ea typeface="+mn-ea"/>
          </a:endParaRPr>
        </a:p>
      </dgm:t>
    </dgm:pt>
    <dgm:pt modelId="{60B4DF0C-C877-4E37-AB0F-016DBDC3D2A6}">
      <dgm:prSet custT="1"/>
      <dgm:spPr/>
      <dgm:t>
        <a:bodyPr/>
        <a:lstStyle/>
        <a:p>
          <a:r>
            <a:rPr lang="en-US" altLang="zh-CN" sz="1200" b="0" dirty="0">
              <a:latin typeface="+mn-lt"/>
              <a:ea typeface="+mn-ea"/>
              <a:sym typeface="Huawei Sans" panose="020C0503030203020204" pitchFamily="34" charset="0"/>
            </a:rPr>
            <a:t>VN</a:t>
          </a:r>
          <a:r>
            <a:rPr lang="zh-CN" altLang="en-US" sz="1200" b="0" dirty="0">
              <a:latin typeface="+mn-lt"/>
              <a:ea typeface="+mn-ea"/>
              <a:sym typeface="Huawei Sans" panose="020C0503030203020204" pitchFamily="34" charset="0"/>
            </a:rPr>
            <a:t>设计</a:t>
          </a:r>
        </a:p>
      </dgm:t>
    </dgm:pt>
    <dgm:pt modelId="{2EEFA0A1-976F-4C56-934F-B1FC9CEFC9EE}" type="parTrans" cxnId="{15E972D7-45D1-4B8B-8DD3-965DC85BE0DF}">
      <dgm:prSet/>
      <dgm:spPr/>
      <dgm:t>
        <a:bodyPr/>
        <a:lstStyle/>
        <a:p>
          <a:endParaRPr lang="zh-CN" altLang="en-US" sz="1200" b="0">
            <a:latin typeface="+mn-lt"/>
            <a:ea typeface="+mn-ea"/>
          </a:endParaRPr>
        </a:p>
      </dgm:t>
    </dgm:pt>
    <dgm:pt modelId="{08144643-8A57-4F91-9643-236DC61D06D7}" type="sibTrans" cxnId="{15E972D7-45D1-4B8B-8DD3-965DC85BE0DF}">
      <dgm:prSet/>
      <dgm:spPr/>
      <dgm:t>
        <a:bodyPr/>
        <a:lstStyle/>
        <a:p>
          <a:endParaRPr lang="zh-CN" altLang="en-US" sz="1200" b="0">
            <a:latin typeface="+mn-lt"/>
            <a:ea typeface="+mn-ea"/>
          </a:endParaRPr>
        </a:p>
      </dgm:t>
    </dgm:pt>
    <dgm:pt modelId="{E8EB4253-4965-4F02-AC5E-4B60784CC9DE}">
      <dgm:prSet phldrT="[文本]" custT="1"/>
      <dgm:spPr>
        <a:solidFill>
          <a:srgbClr val="56C4D2"/>
        </a:solidFill>
      </dgm:spPr>
      <dgm:t>
        <a:bodyPr/>
        <a:lstStyle/>
        <a:p>
          <a:pPr>
            <a:lnSpc>
              <a:spcPct val="100000"/>
            </a:lnSpc>
            <a:spcAft>
              <a:spcPts val="0"/>
            </a:spcAft>
          </a:pPr>
          <a:r>
            <a:rPr lang="en-US" altLang="zh-CN" sz="1200" b="1" dirty="0">
              <a:latin typeface="+mn-lt"/>
              <a:ea typeface="+mn-ea"/>
              <a:sym typeface="Huawei Sans" panose="020C0503030203020204" pitchFamily="34" charset="0"/>
            </a:rPr>
            <a:t>Underlay</a:t>
          </a:r>
        </a:p>
        <a:p>
          <a:pPr>
            <a:lnSpc>
              <a:spcPct val="100000"/>
            </a:lnSpc>
            <a:spcAft>
              <a:spcPts val="0"/>
            </a:spcAft>
          </a:pPr>
          <a:r>
            <a:rPr lang="zh-CN" altLang="en-US" sz="1200" b="1" dirty="0">
              <a:latin typeface="+mn-lt"/>
              <a:ea typeface="+mn-ea"/>
              <a:sym typeface="Huawei Sans" panose="020C0503030203020204" pitchFamily="34" charset="0"/>
            </a:rPr>
            <a:t>网络设计</a:t>
          </a:r>
        </a:p>
      </dgm:t>
    </dgm:pt>
    <dgm:pt modelId="{824A3C02-AFC7-4503-95E3-5180C182D4D6}" type="parTrans" cxnId="{9B2D2D70-383C-47FE-9A86-23DFDC43BF8F}">
      <dgm:prSet/>
      <dgm:spPr>
        <a:ln>
          <a:solidFill>
            <a:srgbClr val="30B5C5"/>
          </a:solidFill>
        </a:ln>
      </dgm:spPr>
      <dgm:t>
        <a:bodyPr/>
        <a:lstStyle/>
        <a:p>
          <a:endParaRPr lang="en-US" sz="1200" b="0">
            <a:latin typeface="+mn-lt"/>
            <a:ea typeface="+mn-ea"/>
          </a:endParaRPr>
        </a:p>
      </dgm:t>
    </dgm:pt>
    <dgm:pt modelId="{4BEB1ACB-C4AF-45CA-8E80-F473D96F1253}" type="sibTrans" cxnId="{9B2D2D70-383C-47FE-9A86-23DFDC43BF8F}">
      <dgm:prSet/>
      <dgm:spPr/>
      <dgm:t>
        <a:bodyPr/>
        <a:lstStyle/>
        <a:p>
          <a:endParaRPr lang="en-US" sz="1200" b="0">
            <a:latin typeface="+mn-lt"/>
            <a:ea typeface="+mn-ea"/>
          </a:endParaRPr>
        </a:p>
      </dgm:t>
    </dgm:pt>
    <dgm:pt modelId="{658AFCF7-1AE2-4289-BA12-2E650ED21D7A}">
      <dgm:prSet custT="1"/>
      <dgm:spPr/>
      <dgm:t>
        <a:bodyPr/>
        <a:lstStyle/>
        <a:p>
          <a:r>
            <a:rPr lang="zh-CN" altLang="en-US" sz="1200" b="0" dirty="0">
              <a:latin typeface="+mn-lt"/>
              <a:ea typeface="+mn-ea"/>
              <a:sym typeface="Huawei Sans" panose="020C0503030203020204" pitchFamily="34" charset="0"/>
            </a:rPr>
            <a:t>基础业务设计</a:t>
          </a:r>
          <a:endParaRPr lang="en-US" sz="1200" b="0" dirty="0">
            <a:latin typeface="+mn-lt"/>
            <a:ea typeface="+mn-ea"/>
            <a:sym typeface="Huawei Sans" panose="020C0503030203020204" pitchFamily="34" charset="0"/>
          </a:endParaRPr>
        </a:p>
      </dgm:t>
    </dgm:pt>
    <dgm:pt modelId="{EAC2C7C5-BB95-48CE-8394-70DBCAC256CC}" type="parTrans" cxnId="{7A1C029F-EB03-4D72-AE1B-03ABDE67356B}">
      <dgm:prSet/>
      <dgm:spPr/>
      <dgm:t>
        <a:bodyPr/>
        <a:lstStyle/>
        <a:p>
          <a:endParaRPr lang="en-US" sz="1200" b="0">
            <a:latin typeface="+mn-lt"/>
            <a:ea typeface="+mn-ea"/>
          </a:endParaRPr>
        </a:p>
      </dgm:t>
    </dgm:pt>
    <dgm:pt modelId="{3D4F14C5-8272-428B-82BF-718A89A0C3A5}" type="sibTrans" cxnId="{7A1C029F-EB03-4D72-AE1B-03ABDE67356B}">
      <dgm:prSet/>
      <dgm:spPr/>
      <dgm:t>
        <a:bodyPr/>
        <a:lstStyle/>
        <a:p>
          <a:endParaRPr lang="en-US" sz="1200" b="0">
            <a:latin typeface="+mn-lt"/>
            <a:ea typeface="+mn-ea"/>
          </a:endParaRPr>
        </a:p>
      </dgm:t>
    </dgm:pt>
    <dgm:pt modelId="{C7146351-3963-44C4-859D-DB6D2AC38CF0}">
      <dgm:prSet custT="1"/>
      <dgm:spPr/>
      <dgm:t>
        <a:bodyPr/>
        <a:lstStyle/>
        <a:p>
          <a:pPr>
            <a:lnSpc>
              <a:spcPct val="100000"/>
            </a:lnSpc>
            <a:spcAft>
              <a:spcPts val="0"/>
            </a:spcAft>
          </a:pPr>
          <a:r>
            <a:rPr lang="en-US" altLang="zh-CN" sz="1200" b="0" dirty="0">
              <a:latin typeface="+mn-lt"/>
              <a:ea typeface="+mn-ea"/>
              <a:sym typeface="Huawei Sans" panose="020C0503030203020204" pitchFamily="34" charset="0"/>
            </a:rPr>
            <a:t>LAN</a:t>
          </a:r>
          <a:r>
            <a:rPr lang="zh-CN" altLang="en-US" sz="1200" b="0" dirty="0">
              <a:latin typeface="+mn-lt"/>
              <a:ea typeface="+mn-ea"/>
              <a:sym typeface="Huawei Sans" panose="020C0503030203020204" pitchFamily="34" charset="0"/>
            </a:rPr>
            <a:t>自动化</a:t>
          </a:r>
          <a:endParaRPr lang="en-US" altLang="zh-CN" sz="1200" b="0" dirty="0">
            <a:latin typeface="+mn-lt"/>
            <a:ea typeface="+mn-ea"/>
            <a:sym typeface="Huawei Sans" panose="020C0503030203020204" pitchFamily="34" charset="0"/>
          </a:endParaRPr>
        </a:p>
        <a:p>
          <a:pPr>
            <a:lnSpc>
              <a:spcPct val="100000"/>
            </a:lnSpc>
            <a:spcAft>
              <a:spcPts val="0"/>
            </a:spcAft>
          </a:pPr>
          <a:r>
            <a:rPr lang="zh-CN" altLang="en-US" sz="1200" b="0" dirty="0">
              <a:latin typeface="+mn-lt"/>
              <a:ea typeface="+mn-ea"/>
              <a:sym typeface="Huawei Sans" panose="020C0503030203020204" pitchFamily="34" charset="0"/>
            </a:rPr>
            <a:t>设计</a:t>
          </a:r>
          <a:endParaRPr lang="en-US" sz="1200" b="0" dirty="0">
            <a:latin typeface="+mn-lt"/>
            <a:ea typeface="+mn-ea"/>
            <a:sym typeface="Huawei Sans" panose="020C0503030203020204" pitchFamily="34" charset="0"/>
          </a:endParaRPr>
        </a:p>
      </dgm:t>
    </dgm:pt>
    <dgm:pt modelId="{D2F6210F-FCA3-474C-B21C-D299B0892F89}" type="parTrans" cxnId="{7ADF39F8-B0F7-4988-A91C-BE46B0D48FFA}">
      <dgm:prSet/>
      <dgm:spPr/>
      <dgm:t>
        <a:bodyPr/>
        <a:lstStyle/>
        <a:p>
          <a:endParaRPr lang="en-US" sz="1200" b="0">
            <a:latin typeface="+mn-lt"/>
            <a:ea typeface="+mn-ea"/>
          </a:endParaRPr>
        </a:p>
      </dgm:t>
    </dgm:pt>
    <dgm:pt modelId="{2A3521EC-38B8-412B-957D-CDDFCEE11C51}" type="sibTrans" cxnId="{7ADF39F8-B0F7-4988-A91C-BE46B0D48FFA}">
      <dgm:prSet/>
      <dgm:spPr/>
      <dgm:t>
        <a:bodyPr/>
        <a:lstStyle/>
        <a:p>
          <a:endParaRPr lang="en-US" sz="1200" b="0">
            <a:latin typeface="+mn-lt"/>
            <a:ea typeface="+mn-ea"/>
          </a:endParaRPr>
        </a:p>
      </dgm:t>
    </dgm:pt>
    <dgm:pt modelId="{0E0CFCBF-A051-4032-8F3D-0F53736B7176}">
      <dgm:prSet phldrT="[文本]" custT="1"/>
      <dgm:spPr>
        <a:solidFill>
          <a:srgbClr val="56C4D2"/>
        </a:solidFill>
      </dgm:spPr>
      <dgm:t>
        <a:bodyPr/>
        <a:lstStyle/>
        <a:p>
          <a:pPr>
            <a:lnSpc>
              <a:spcPct val="100000"/>
            </a:lnSpc>
            <a:spcAft>
              <a:spcPts val="0"/>
            </a:spcAft>
          </a:pPr>
          <a:r>
            <a:rPr lang="zh-CN" altLang="en-US" sz="1200" b="1" dirty="0">
              <a:latin typeface="+mn-lt"/>
              <a:ea typeface="+mn-ea"/>
              <a:sym typeface="Huawei Sans" panose="020C0503030203020204" pitchFamily="34" charset="0"/>
            </a:rPr>
            <a:t>网络安全与</a:t>
          </a:r>
          <a:endParaRPr lang="en-US" altLang="zh-CN" sz="1200" b="1" dirty="0">
            <a:latin typeface="+mn-lt"/>
            <a:ea typeface="+mn-ea"/>
            <a:sym typeface="Huawei Sans" panose="020C0503030203020204" pitchFamily="34" charset="0"/>
          </a:endParaRPr>
        </a:p>
        <a:p>
          <a:pPr>
            <a:lnSpc>
              <a:spcPct val="100000"/>
            </a:lnSpc>
            <a:spcAft>
              <a:spcPts val="0"/>
            </a:spcAft>
          </a:pPr>
          <a:r>
            <a:rPr lang="zh-CN" altLang="en-US" sz="1200" b="1" dirty="0">
              <a:latin typeface="+mn-lt"/>
              <a:ea typeface="+mn-ea"/>
              <a:sym typeface="Huawei Sans" panose="020C0503030203020204" pitchFamily="34" charset="0"/>
            </a:rPr>
            <a:t>服务质量设计</a:t>
          </a:r>
        </a:p>
      </dgm:t>
    </dgm:pt>
    <dgm:pt modelId="{5C5C6EA0-A542-4C3C-AA1C-D647C369D5D3}" type="parTrans" cxnId="{CD69142B-82FA-4B53-B00A-B0D6BD528B28}">
      <dgm:prSet/>
      <dgm:spPr>
        <a:ln>
          <a:solidFill>
            <a:srgbClr val="30B5C5"/>
          </a:solidFill>
        </a:ln>
      </dgm:spPr>
      <dgm:t>
        <a:bodyPr/>
        <a:lstStyle/>
        <a:p>
          <a:endParaRPr lang="zh-CN" altLang="en-US" sz="1200" b="0">
            <a:latin typeface="+mn-lt"/>
            <a:ea typeface="+mn-ea"/>
          </a:endParaRPr>
        </a:p>
      </dgm:t>
    </dgm:pt>
    <dgm:pt modelId="{BFA9DFC8-E91D-4E57-B32F-8EF7882F1316}" type="sibTrans" cxnId="{CD69142B-82FA-4B53-B00A-B0D6BD528B28}">
      <dgm:prSet/>
      <dgm:spPr/>
      <dgm:t>
        <a:bodyPr/>
        <a:lstStyle/>
        <a:p>
          <a:endParaRPr lang="zh-CN" altLang="en-US" sz="1200" b="0">
            <a:latin typeface="+mn-lt"/>
            <a:ea typeface="+mn-ea"/>
          </a:endParaRPr>
        </a:p>
      </dgm:t>
    </dgm:pt>
    <dgm:pt modelId="{5601CF4D-C770-4FCC-A3CC-19DB33AF3638}">
      <dgm:prSet phldrT="[文本]" custT="1"/>
      <dgm:spPr/>
      <dgm:t>
        <a:bodyPr/>
        <a:lstStyle/>
        <a:p>
          <a:r>
            <a:rPr lang="zh-CN" altLang="en-US" sz="1200" b="0" dirty="0">
              <a:latin typeface="+mn-lt"/>
              <a:ea typeface="+mn-ea"/>
              <a:sym typeface="Huawei Sans" panose="020C0503030203020204" pitchFamily="34" charset="0"/>
            </a:rPr>
            <a:t>出口安全</a:t>
          </a:r>
        </a:p>
      </dgm:t>
    </dgm:pt>
    <dgm:pt modelId="{EBFAA74F-4A19-43CB-8E13-E9FABA444A1E}" type="parTrans" cxnId="{E4E53B7B-FF0B-48D5-8A4A-13686937EDBA}">
      <dgm:prSet/>
      <dgm:spPr/>
      <dgm:t>
        <a:bodyPr/>
        <a:lstStyle/>
        <a:p>
          <a:endParaRPr lang="zh-CN" altLang="en-US" sz="1200" b="0">
            <a:latin typeface="+mn-lt"/>
            <a:ea typeface="+mn-ea"/>
          </a:endParaRPr>
        </a:p>
      </dgm:t>
    </dgm:pt>
    <dgm:pt modelId="{C3C7902D-22E1-4688-A51F-B8C9E1BDD2B6}" type="sibTrans" cxnId="{E4E53B7B-FF0B-48D5-8A4A-13686937EDBA}">
      <dgm:prSet/>
      <dgm:spPr/>
      <dgm:t>
        <a:bodyPr/>
        <a:lstStyle/>
        <a:p>
          <a:endParaRPr lang="zh-CN" altLang="en-US" sz="1200" b="0">
            <a:latin typeface="+mn-lt"/>
            <a:ea typeface="+mn-ea"/>
          </a:endParaRPr>
        </a:p>
      </dgm:t>
    </dgm:pt>
    <dgm:pt modelId="{1E4E2CCE-31CD-4A1D-81B3-53FF368FEE38}">
      <dgm:prSet phldrT="[文本]" custT="1"/>
      <dgm:spPr/>
      <dgm:t>
        <a:bodyPr/>
        <a:lstStyle/>
        <a:p>
          <a:r>
            <a:rPr lang="zh-CN" altLang="en-US" sz="1200" b="0" dirty="0">
              <a:latin typeface="+mn-lt"/>
              <a:ea typeface="+mn-ea"/>
              <a:sym typeface="Huawei Sans" panose="020C0503030203020204" pitchFamily="34" charset="0"/>
            </a:rPr>
            <a:t>内网安全</a:t>
          </a:r>
        </a:p>
      </dgm:t>
    </dgm:pt>
    <dgm:pt modelId="{EA22B02C-68C8-484B-928F-75338D1E6FD7}" type="parTrans" cxnId="{1CF1DF05-4915-4129-A5F6-0D72B88A2294}">
      <dgm:prSet/>
      <dgm:spPr/>
      <dgm:t>
        <a:bodyPr/>
        <a:lstStyle/>
        <a:p>
          <a:endParaRPr lang="zh-CN" altLang="en-US" sz="1200" b="0">
            <a:latin typeface="+mn-lt"/>
            <a:ea typeface="+mn-ea"/>
          </a:endParaRPr>
        </a:p>
      </dgm:t>
    </dgm:pt>
    <dgm:pt modelId="{448C93B2-4757-454A-9D06-6A3718D25432}" type="sibTrans" cxnId="{1CF1DF05-4915-4129-A5F6-0D72B88A2294}">
      <dgm:prSet/>
      <dgm:spPr/>
      <dgm:t>
        <a:bodyPr/>
        <a:lstStyle/>
        <a:p>
          <a:endParaRPr lang="zh-CN" altLang="en-US" sz="1200" b="0">
            <a:latin typeface="+mn-lt"/>
            <a:ea typeface="+mn-ea"/>
          </a:endParaRPr>
        </a:p>
      </dgm:t>
    </dgm:pt>
    <dgm:pt modelId="{FFA89972-E794-4C6D-B1AE-4D51D6B210EB}">
      <dgm:prSet phldrT="[文本]" custT="1"/>
      <dgm:spPr/>
      <dgm:t>
        <a:bodyPr/>
        <a:lstStyle/>
        <a:p>
          <a:r>
            <a:rPr lang="zh-CN" altLang="en-US" sz="1200" b="0" dirty="0">
              <a:latin typeface="+mn-lt"/>
              <a:ea typeface="+mn-ea"/>
              <a:sym typeface="Huawei Sans" panose="020C0503030203020204" pitchFamily="34" charset="0"/>
            </a:rPr>
            <a:t>组网方案</a:t>
          </a:r>
        </a:p>
      </dgm:t>
    </dgm:pt>
    <dgm:pt modelId="{6B01E1E4-D5B1-4EA5-BA6B-132A76B8B839}" type="parTrans" cxnId="{AF212740-E283-4375-BB09-96140138E773}">
      <dgm:prSet/>
      <dgm:spPr/>
      <dgm:t>
        <a:bodyPr/>
        <a:lstStyle/>
        <a:p>
          <a:endParaRPr lang="zh-CN" altLang="en-US" sz="1200" b="0">
            <a:latin typeface="+mn-lt"/>
            <a:ea typeface="+mn-ea"/>
          </a:endParaRPr>
        </a:p>
      </dgm:t>
    </dgm:pt>
    <dgm:pt modelId="{B5F8ED9F-03A7-4A1A-9350-934EF2227220}" type="sibTrans" cxnId="{AF212740-E283-4375-BB09-96140138E773}">
      <dgm:prSet/>
      <dgm:spPr/>
      <dgm:t>
        <a:bodyPr/>
        <a:lstStyle/>
        <a:p>
          <a:endParaRPr lang="zh-CN" altLang="en-US" sz="1200" b="0">
            <a:latin typeface="+mn-lt"/>
            <a:ea typeface="+mn-ea"/>
          </a:endParaRPr>
        </a:p>
      </dgm:t>
    </dgm:pt>
    <dgm:pt modelId="{9708A317-8EB0-4380-AA1D-6844209E1E6D}">
      <dgm:prSet phldrT="[文本]" custT="1"/>
      <dgm:spPr/>
      <dgm:t>
        <a:bodyPr/>
        <a:lstStyle/>
        <a:p>
          <a:r>
            <a:rPr lang="zh-CN" altLang="en-US" sz="1200" b="0" dirty="0">
              <a:latin typeface="+mn-lt"/>
              <a:ea typeface="+mn-ea"/>
              <a:sym typeface="Huawei Sans" panose="020C0503030203020204" pitchFamily="34" charset="0"/>
            </a:rPr>
            <a:t>智能运维设计</a:t>
          </a:r>
        </a:p>
      </dgm:t>
    </dgm:pt>
    <dgm:pt modelId="{3F63E84F-7637-4809-B791-FF61EFF2F082}">
      <dgm:prSet phldrT="[文本]" custT="1"/>
      <dgm:spPr/>
      <dgm:t>
        <a:bodyPr/>
        <a:lstStyle/>
        <a:p>
          <a:pPr>
            <a:lnSpc>
              <a:spcPct val="100000"/>
            </a:lnSpc>
            <a:spcAft>
              <a:spcPts val="0"/>
            </a:spcAft>
          </a:pPr>
          <a:r>
            <a:rPr lang="zh-CN" altLang="en-US" sz="1200" b="0" dirty="0">
              <a:latin typeface="+mn-lt"/>
              <a:ea typeface="+mn-ea"/>
              <a:sym typeface="Huawei Sans" panose="020C0503030203020204" pitchFamily="34" charset="0"/>
            </a:rPr>
            <a:t>基础网络</a:t>
          </a:r>
          <a:endParaRPr lang="en-US" altLang="zh-CN" sz="1200" b="0" dirty="0">
            <a:latin typeface="+mn-lt"/>
            <a:ea typeface="+mn-ea"/>
            <a:sym typeface="Huawei Sans" panose="020C0503030203020204" pitchFamily="34" charset="0"/>
          </a:endParaRPr>
        </a:p>
        <a:p>
          <a:pPr>
            <a:lnSpc>
              <a:spcPct val="100000"/>
            </a:lnSpc>
            <a:spcAft>
              <a:spcPts val="0"/>
            </a:spcAft>
          </a:pPr>
          <a:r>
            <a:rPr lang="zh-CN" altLang="en-US" sz="1200" b="0" dirty="0">
              <a:latin typeface="+mn-lt"/>
              <a:ea typeface="+mn-ea"/>
              <a:sym typeface="Huawei Sans" panose="020C0503030203020204" pitchFamily="34" charset="0"/>
            </a:rPr>
            <a:t>运维设计</a:t>
          </a:r>
        </a:p>
      </dgm:t>
    </dgm:pt>
    <dgm:pt modelId="{D6E896B7-7AA5-400F-BC01-631A9F7E5D1A}">
      <dgm:prSet phldrT="[文本]" custT="1"/>
      <dgm:spPr>
        <a:solidFill>
          <a:srgbClr val="56C4D2"/>
        </a:solidFill>
      </dgm:spPr>
      <dgm:t>
        <a:bodyPr/>
        <a:lstStyle/>
        <a:p>
          <a:r>
            <a:rPr lang="zh-CN" altLang="en-US" sz="1200" b="1" dirty="0">
              <a:latin typeface="+mn-lt"/>
              <a:ea typeface="+mn-ea"/>
              <a:sym typeface="Huawei Sans" panose="020C0503030203020204" pitchFamily="34" charset="0"/>
            </a:rPr>
            <a:t>运维管理设计</a:t>
          </a:r>
        </a:p>
      </dgm:t>
    </dgm:pt>
    <dgm:pt modelId="{865EF881-613A-4329-A086-EC12C0B9C266}" type="sibTrans" cxnId="{5231340A-27E0-4CF7-A67E-CC4443C3EE29}">
      <dgm:prSet/>
      <dgm:spPr/>
      <dgm:t>
        <a:bodyPr/>
        <a:lstStyle/>
        <a:p>
          <a:endParaRPr lang="zh-CN" altLang="en-US" sz="1200" b="0">
            <a:latin typeface="+mn-lt"/>
            <a:ea typeface="+mn-ea"/>
          </a:endParaRPr>
        </a:p>
      </dgm:t>
    </dgm:pt>
    <dgm:pt modelId="{8ACCD391-0AF9-403D-AE24-6FC2F38A6317}" type="parTrans" cxnId="{5231340A-27E0-4CF7-A67E-CC4443C3EE29}">
      <dgm:prSet/>
      <dgm:spPr>
        <a:ln>
          <a:solidFill>
            <a:srgbClr val="30B5C5"/>
          </a:solidFill>
        </a:ln>
      </dgm:spPr>
      <dgm:t>
        <a:bodyPr/>
        <a:lstStyle/>
        <a:p>
          <a:endParaRPr lang="zh-CN" altLang="en-US" sz="1200" b="0">
            <a:latin typeface="+mn-lt"/>
            <a:ea typeface="+mn-ea"/>
          </a:endParaRPr>
        </a:p>
      </dgm:t>
    </dgm:pt>
    <dgm:pt modelId="{B3DB4858-7C81-477C-87F7-02F9DE33C539}" type="sibTrans" cxnId="{336DA9F0-F07B-45A1-AF1B-14E2D6CFA3EF}">
      <dgm:prSet/>
      <dgm:spPr/>
      <dgm:t>
        <a:bodyPr/>
        <a:lstStyle/>
        <a:p>
          <a:endParaRPr lang="zh-CN" altLang="en-US" sz="1200" b="0">
            <a:latin typeface="+mn-lt"/>
            <a:ea typeface="+mn-ea"/>
          </a:endParaRPr>
        </a:p>
      </dgm:t>
    </dgm:pt>
    <dgm:pt modelId="{70775DB6-B6A2-4962-82DD-6A99F7262D58}" type="parTrans" cxnId="{336DA9F0-F07B-45A1-AF1B-14E2D6CFA3EF}">
      <dgm:prSet/>
      <dgm:spPr/>
      <dgm:t>
        <a:bodyPr/>
        <a:lstStyle/>
        <a:p>
          <a:endParaRPr lang="zh-CN" altLang="en-US" sz="1200" b="0">
            <a:latin typeface="+mn-lt"/>
            <a:ea typeface="+mn-ea"/>
          </a:endParaRPr>
        </a:p>
      </dgm:t>
    </dgm:pt>
    <dgm:pt modelId="{0210CCD9-3DBC-400C-988A-F992F849104F}" type="sibTrans" cxnId="{02EBC849-70E9-4220-B374-946D0077F56A}">
      <dgm:prSet/>
      <dgm:spPr/>
      <dgm:t>
        <a:bodyPr/>
        <a:lstStyle/>
        <a:p>
          <a:endParaRPr lang="zh-CN" altLang="en-US" sz="1200" b="0">
            <a:latin typeface="+mn-lt"/>
            <a:ea typeface="+mn-ea"/>
          </a:endParaRPr>
        </a:p>
      </dgm:t>
    </dgm:pt>
    <dgm:pt modelId="{CE805D8A-1D5A-471D-82CD-05E711CACAC1}" type="parTrans" cxnId="{02EBC849-70E9-4220-B374-946D0077F56A}">
      <dgm:prSet/>
      <dgm:spPr/>
      <dgm:t>
        <a:bodyPr/>
        <a:lstStyle/>
        <a:p>
          <a:endParaRPr lang="zh-CN" altLang="en-US" sz="1200" b="0">
            <a:latin typeface="+mn-lt"/>
            <a:ea typeface="+mn-ea"/>
          </a:endParaRPr>
        </a:p>
      </dgm:t>
    </dgm:pt>
    <dgm:pt modelId="{FF729534-1886-4F64-A929-8A5ADE708FCE}">
      <dgm:prSet custT="1"/>
      <dgm:spPr>
        <a:solidFill>
          <a:srgbClr val="56C4D2"/>
        </a:solidFill>
      </dgm:spPr>
      <dgm:t>
        <a:bodyPr/>
        <a:lstStyle/>
        <a:p>
          <a:r>
            <a:rPr lang="en-US" altLang="zh-CN" sz="1200" b="1" dirty="0">
              <a:latin typeface="+mn-lt"/>
              <a:ea typeface="+mn-ea"/>
              <a:sym typeface="Huawei Sans" panose="020C0503030203020204" pitchFamily="34" charset="0"/>
            </a:rPr>
            <a:t>Fabric</a:t>
          </a:r>
          <a:r>
            <a:rPr lang="zh-CN" altLang="en-US" sz="1200" b="1" dirty="0">
              <a:latin typeface="+mn-lt"/>
              <a:ea typeface="+mn-ea"/>
              <a:sym typeface="Huawei Sans" panose="020C0503030203020204" pitchFamily="34" charset="0"/>
            </a:rPr>
            <a:t>设计</a:t>
          </a:r>
          <a:endParaRPr lang="en-US" sz="1200" b="1" dirty="0">
            <a:latin typeface="+mn-lt"/>
            <a:ea typeface="+mn-ea"/>
            <a:sym typeface="Huawei Sans" panose="020C0503030203020204" pitchFamily="34" charset="0"/>
          </a:endParaRPr>
        </a:p>
      </dgm:t>
    </dgm:pt>
    <dgm:pt modelId="{DAC79BB3-24EE-4EA3-99A5-09B86240F0C4}" type="parTrans" cxnId="{30C2CC51-0992-4C9F-B254-BBF753907325}">
      <dgm:prSet/>
      <dgm:spPr>
        <a:ln>
          <a:solidFill>
            <a:srgbClr val="30B5C5"/>
          </a:solidFill>
        </a:ln>
      </dgm:spPr>
      <dgm:t>
        <a:bodyPr/>
        <a:lstStyle/>
        <a:p>
          <a:endParaRPr lang="zh-CN" altLang="en-US" b="0"/>
        </a:p>
      </dgm:t>
    </dgm:pt>
    <dgm:pt modelId="{3A2BC83A-8278-47B4-91D5-0E8718AB4AA5}" type="sibTrans" cxnId="{30C2CC51-0992-4C9F-B254-BBF753907325}">
      <dgm:prSet/>
      <dgm:spPr/>
      <dgm:t>
        <a:bodyPr/>
        <a:lstStyle/>
        <a:p>
          <a:endParaRPr lang="zh-CN" altLang="en-US" b="0"/>
        </a:p>
      </dgm:t>
    </dgm:pt>
    <dgm:pt modelId="{A6398C27-84A5-4E91-803C-45D9CDA495B9}">
      <dgm:prSet custT="1"/>
      <dgm:spPr/>
      <dgm:t>
        <a:bodyPr/>
        <a:lstStyle/>
        <a:p>
          <a:pPr>
            <a:lnSpc>
              <a:spcPct val="100000"/>
            </a:lnSpc>
            <a:spcAft>
              <a:spcPts val="0"/>
            </a:spcAft>
          </a:pPr>
          <a:r>
            <a:rPr lang="zh-CN" altLang="en-US" sz="1200" b="0" dirty="0">
              <a:latin typeface="+mn-lt"/>
              <a:ea typeface="+mn-ea"/>
              <a:sym typeface="Huawei Sans" panose="020C0503030203020204" pitchFamily="34" charset="0"/>
            </a:rPr>
            <a:t>组网及节点</a:t>
          </a:r>
          <a:endParaRPr lang="en-US" altLang="zh-CN" sz="1200" b="0" dirty="0">
            <a:latin typeface="+mn-lt"/>
            <a:ea typeface="+mn-ea"/>
            <a:sym typeface="Huawei Sans" panose="020C0503030203020204" pitchFamily="34" charset="0"/>
          </a:endParaRPr>
        </a:p>
        <a:p>
          <a:pPr>
            <a:lnSpc>
              <a:spcPct val="100000"/>
            </a:lnSpc>
            <a:spcAft>
              <a:spcPts val="0"/>
            </a:spcAft>
          </a:pPr>
          <a:r>
            <a:rPr lang="zh-CN" altLang="en-US" sz="1200" b="0" dirty="0">
              <a:latin typeface="+mn-lt"/>
              <a:ea typeface="+mn-ea"/>
              <a:sym typeface="Huawei Sans" panose="020C0503030203020204" pitchFamily="34" charset="0"/>
            </a:rPr>
            <a:t>设计</a:t>
          </a:r>
          <a:endParaRPr lang="en-US" sz="1200" b="0" dirty="0">
            <a:latin typeface="+mn-lt"/>
            <a:ea typeface="+mn-ea"/>
            <a:sym typeface="Huawei Sans" panose="020C0503030203020204" pitchFamily="34" charset="0"/>
          </a:endParaRPr>
        </a:p>
      </dgm:t>
    </dgm:pt>
    <dgm:pt modelId="{B5506663-9BEB-43DF-9F8C-8A9EC5EC0A78}" type="parTrans" cxnId="{F08B0B95-85B9-4B41-AEFF-B68E020CCB70}">
      <dgm:prSet/>
      <dgm:spPr/>
      <dgm:t>
        <a:bodyPr/>
        <a:lstStyle/>
        <a:p>
          <a:endParaRPr lang="zh-CN" altLang="en-US" b="0"/>
        </a:p>
      </dgm:t>
    </dgm:pt>
    <dgm:pt modelId="{53D8216B-5DE8-4AC0-9CF6-39DF4FCAFD05}" type="sibTrans" cxnId="{F08B0B95-85B9-4B41-AEFF-B68E020CCB70}">
      <dgm:prSet/>
      <dgm:spPr/>
      <dgm:t>
        <a:bodyPr/>
        <a:lstStyle/>
        <a:p>
          <a:endParaRPr lang="zh-CN" altLang="en-US" b="0"/>
        </a:p>
      </dgm:t>
    </dgm:pt>
    <dgm:pt modelId="{B8A807B8-C2D0-4E36-838E-2DC804EA7273}">
      <dgm:prSet custT="1"/>
      <dgm:spPr/>
      <dgm:t>
        <a:bodyPr/>
        <a:lstStyle/>
        <a:p>
          <a:pPr>
            <a:lnSpc>
              <a:spcPct val="100000"/>
            </a:lnSpc>
            <a:spcAft>
              <a:spcPts val="0"/>
            </a:spcAft>
          </a:pPr>
          <a:r>
            <a:rPr lang="zh-CN" altLang="en-US" sz="1200" b="0" dirty="0">
              <a:latin typeface="+mn-lt"/>
              <a:ea typeface="+mn-ea"/>
              <a:sym typeface="Huawei Sans" panose="020C0503030203020204" pitchFamily="34" charset="0"/>
            </a:rPr>
            <a:t>外部网络</a:t>
          </a:r>
          <a:endParaRPr lang="en-US" altLang="zh-CN" sz="1200" b="0" dirty="0">
            <a:latin typeface="+mn-lt"/>
            <a:ea typeface="+mn-ea"/>
            <a:sym typeface="Huawei Sans" panose="020C0503030203020204" pitchFamily="34" charset="0"/>
          </a:endParaRPr>
        </a:p>
        <a:p>
          <a:pPr>
            <a:lnSpc>
              <a:spcPct val="100000"/>
            </a:lnSpc>
            <a:spcAft>
              <a:spcPts val="0"/>
            </a:spcAft>
          </a:pPr>
          <a:r>
            <a:rPr lang="zh-CN" altLang="en-US" sz="1200" b="0" dirty="0">
              <a:latin typeface="+mn-lt"/>
              <a:ea typeface="+mn-ea"/>
              <a:sym typeface="Huawei Sans" panose="020C0503030203020204" pitchFamily="34" charset="0"/>
            </a:rPr>
            <a:t>互联设计</a:t>
          </a:r>
          <a:endParaRPr lang="en-US" sz="1200" b="0" dirty="0">
            <a:latin typeface="+mn-lt"/>
            <a:ea typeface="+mn-ea"/>
            <a:sym typeface="Huawei Sans" panose="020C0503030203020204" pitchFamily="34" charset="0"/>
          </a:endParaRPr>
        </a:p>
      </dgm:t>
    </dgm:pt>
    <dgm:pt modelId="{B2A034E9-5BB7-4FE3-8FD3-FCDD4995AF4A}" type="parTrans" cxnId="{5451C839-0A5D-400F-90EC-AA0F6D26E2CF}">
      <dgm:prSet/>
      <dgm:spPr/>
      <dgm:t>
        <a:bodyPr/>
        <a:lstStyle/>
        <a:p>
          <a:endParaRPr lang="zh-CN" altLang="en-US" b="0"/>
        </a:p>
      </dgm:t>
    </dgm:pt>
    <dgm:pt modelId="{14B3C4A1-50E7-48AA-BC30-D7A58733D23F}" type="sibTrans" cxnId="{5451C839-0A5D-400F-90EC-AA0F6D26E2CF}">
      <dgm:prSet/>
      <dgm:spPr/>
      <dgm:t>
        <a:bodyPr/>
        <a:lstStyle/>
        <a:p>
          <a:endParaRPr lang="zh-CN" altLang="en-US" b="0"/>
        </a:p>
      </dgm:t>
    </dgm:pt>
    <dgm:pt modelId="{9BC776CC-AB87-42A0-8E25-ADBBFB5F2787}">
      <dgm:prSet custT="1"/>
      <dgm:spPr/>
      <dgm:t>
        <a:bodyPr/>
        <a:lstStyle/>
        <a:p>
          <a:pPr>
            <a:lnSpc>
              <a:spcPct val="100000"/>
            </a:lnSpc>
            <a:spcAft>
              <a:spcPts val="0"/>
            </a:spcAft>
          </a:pPr>
          <a:r>
            <a:rPr lang="zh-CN" altLang="en-US" sz="1200" b="0" dirty="0">
              <a:latin typeface="+mn-lt"/>
              <a:ea typeface="+mn-ea"/>
              <a:sym typeface="Huawei Sans" panose="020C0503030203020204" pitchFamily="34" charset="0"/>
            </a:rPr>
            <a:t>网络服务</a:t>
          </a:r>
          <a:endParaRPr lang="en-US" altLang="zh-CN" sz="1200" b="0" dirty="0">
            <a:latin typeface="+mn-lt"/>
            <a:ea typeface="+mn-ea"/>
            <a:sym typeface="Huawei Sans" panose="020C0503030203020204" pitchFamily="34" charset="0"/>
          </a:endParaRPr>
        </a:p>
        <a:p>
          <a:pPr>
            <a:lnSpc>
              <a:spcPct val="100000"/>
            </a:lnSpc>
            <a:spcAft>
              <a:spcPts val="0"/>
            </a:spcAft>
          </a:pPr>
          <a:r>
            <a:rPr lang="zh-CN" altLang="en-US" sz="1200" b="0" dirty="0">
              <a:latin typeface="+mn-lt"/>
              <a:ea typeface="+mn-ea"/>
              <a:sym typeface="Huawei Sans" panose="020C0503030203020204" pitchFamily="34" charset="0"/>
            </a:rPr>
            <a:t>资源规划</a:t>
          </a:r>
          <a:endParaRPr lang="en-US" sz="1200" b="0" dirty="0">
            <a:latin typeface="+mn-lt"/>
            <a:ea typeface="+mn-ea"/>
            <a:sym typeface="Huawei Sans" panose="020C0503030203020204" pitchFamily="34" charset="0"/>
          </a:endParaRPr>
        </a:p>
      </dgm:t>
    </dgm:pt>
    <dgm:pt modelId="{334E3E89-5F1C-40E4-AA8C-C770D0D4EC0B}" type="parTrans" cxnId="{B077E099-B517-4E70-9D55-51A0EADA5AC3}">
      <dgm:prSet/>
      <dgm:spPr/>
      <dgm:t>
        <a:bodyPr/>
        <a:lstStyle/>
        <a:p>
          <a:endParaRPr lang="zh-CN" altLang="en-US" b="0"/>
        </a:p>
      </dgm:t>
    </dgm:pt>
    <dgm:pt modelId="{B0AB8360-181C-4996-9FDF-12B223ADAE6B}" type="sibTrans" cxnId="{B077E099-B517-4E70-9D55-51A0EADA5AC3}">
      <dgm:prSet/>
      <dgm:spPr/>
      <dgm:t>
        <a:bodyPr/>
        <a:lstStyle/>
        <a:p>
          <a:endParaRPr lang="zh-CN" altLang="en-US" b="0"/>
        </a:p>
      </dgm:t>
    </dgm:pt>
    <dgm:pt modelId="{25FAB315-387D-4484-9128-40EC84067B82}">
      <dgm:prSet custT="1"/>
      <dgm:spPr/>
      <dgm:t>
        <a:bodyPr/>
        <a:lstStyle/>
        <a:p>
          <a:r>
            <a:rPr lang="zh-CN" altLang="en-US" sz="1200" b="0" dirty="0">
              <a:latin typeface="+mn-lt"/>
              <a:ea typeface="+mn-ea"/>
              <a:sym typeface="Huawei Sans" panose="020C0503030203020204" pitchFamily="34" charset="0"/>
            </a:rPr>
            <a:t>接入管理设计</a:t>
          </a:r>
          <a:endParaRPr lang="en-US" sz="1200" b="0" dirty="0">
            <a:latin typeface="+mn-lt"/>
            <a:ea typeface="+mn-ea"/>
            <a:sym typeface="Huawei Sans" panose="020C0503030203020204" pitchFamily="34" charset="0"/>
          </a:endParaRPr>
        </a:p>
      </dgm:t>
    </dgm:pt>
    <dgm:pt modelId="{6F0C1CA7-961F-48EB-9A9C-8C0C70543D66}" type="parTrans" cxnId="{0840A1E5-88D9-4F75-9F73-BEED135CE0CE}">
      <dgm:prSet/>
      <dgm:spPr/>
      <dgm:t>
        <a:bodyPr/>
        <a:lstStyle/>
        <a:p>
          <a:endParaRPr lang="zh-CN" altLang="en-US" b="0"/>
        </a:p>
      </dgm:t>
    </dgm:pt>
    <dgm:pt modelId="{5B27F575-B38A-467C-9A3D-634A0EA80DE1}" type="sibTrans" cxnId="{0840A1E5-88D9-4F75-9F73-BEED135CE0CE}">
      <dgm:prSet/>
      <dgm:spPr/>
      <dgm:t>
        <a:bodyPr/>
        <a:lstStyle/>
        <a:p>
          <a:endParaRPr lang="zh-CN" altLang="en-US" b="0"/>
        </a:p>
      </dgm:t>
    </dgm:pt>
    <dgm:pt modelId="{A3DB62F2-9813-476C-97E8-7B2ABDA3CA54}">
      <dgm:prSet custT="1"/>
      <dgm:spPr>
        <a:solidFill>
          <a:srgbClr val="56C4D2"/>
        </a:solidFill>
      </dgm:spPr>
      <dgm:t>
        <a:bodyPr/>
        <a:lstStyle/>
        <a:p>
          <a:pPr>
            <a:lnSpc>
              <a:spcPct val="100000"/>
            </a:lnSpc>
            <a:spcAft>
              <a:spcPts val="0"/>
            </a:spcAft>
          </a:pPr>
          <a:r>
            <a:rPr lang="zh-CN" altLang="en-US" sz="1200" b="1" dirty="0">
              <a:latin typeface="+mn-lt"/>
              <a:ea typeface="+mn-ea"/>
              <a:sym typeface="Huawei Sans" panose="020C0503030203020204" pitchFamily="34" charset="0"/>
            </a:rPr>
            <a:t>准入控制及</a:t>
          </a:r>
          <a:endParaRPr lang="en-US" altLang="zh-CN" sz="1200" b="1" dirty="0">
            <a:latin typeface="+mn-lt"/>
            <a:ea typeface="+mn-ea"/>
            <a:sym typeface="Huawei Sans" panose="020C0503030203020204" pitchFamily="34" charset="0"/>
          </a:endParaRPr>
        </a:p>
        <a:p>
          <a:pPr>
            <a:lnSpc>
              <a:spcPct val="100000"/>
            </a:lnSpc>
            <a:spcAft>
              <a:spcPts val="0"/>
            </a:spcAft>
          </a:pPr>
          <a:r>
            <a:rPr lang="zh-CN" altLang="en-US" sz="1200" b="1" dirty="0">
              <a:latin typeface="+mn-lt"/>
              <a:ea typeface="+mn-ea"/>
              <a:sym typeface="Huawei Sans" panose="020C0503030203020204" pitchFamily="34" charset="0"/>
            </a:rPr>
            <a:t>业务随行设计</a:t>
          </a:r>
        </a:p>
      </dgm:t>
    </dgm:pt>
    <dgm:pt modelId="{712E2512-70B1-4EF4-8867-8E122F16D629}" type="parTrans" cxnId="{69E80638-EA1C-455A-BDB9-BF5B2E649206}">
      <dgm:prSet/>
      <dgm:spPr>
        <a:ln>
          <a:solidFill>
            <a:srgbClr val="30B5C5"/>
          </a:solidFill>
        </a:ln>
      </dgm:spPr>
      <dgm:t>
        <a:bodyPr/>
        <a:lstStyle/>
        <a:p>
          <a:endParaRPr lang="zh-CN" altLang="en-US" b="0"/>
        </a:p>
      </dgm:t>
    </dgm:pt>
    <dgm:pt modelId="{AAE430A0-0E96-4460-A8E9-97A707EC0D54}" type="sibTrans" cxnId="{69E80638-EA1C-455A-BDB9-BF5B2E649206}">
      <dgm:prSet/>
      <dgm:spPr/>
      <dgm:t>
        <a:bodyPr/>
        <a:lstStyle/>
        <a:p>
          <a:endParaRPr lang="zh-CN" altLang="en-US" b="0"/>
        </a:p>
      </dgm:t>
    </dgm:pt>
    <dgm:pt modelId="{412784EE-F535-4F77-A1DC-FF495A323EC6}">
      <dgm:prSet custT="1"/>
      <dgm:spPr/>
      <dgm:t>
        <a:bodyPr/>
        <a:lstStyle/>
        <a:p>
          <a:r>
            <a:rPr lang="zh-CN" altLang="en-US" sz="1200" b="0" dirty="0">
              <a:latin typeface="+mn-lt"/>
              <a:ea typeface="+mn-ea"/>
              <a:sym typeface="Huawei Sans" panose="020C0503030203020204" pitchFamily="34" charset="0"/>
            </a:rPr>
            <a:t>用户管理设计</a:t>
          </a:r>
        </a:p>
      </dgm:t>
    </dgm:pt>
    <dgm:pt modelId="{67B5C9B5-8E14-415D-9E99-8A5E6720A7A2}" type="parTrans" cxnId="{6867F764-79D8-463E-B99B-D55A53487CEE}">
      <dgm:prSet/>
      <dgm:spPr/>
      <dgm:t>
        <a:bodyPr/>
        <a:lstStyle/>
        <a:p>
          <a:endParaRPr lang="zh-CN" altLang="en-US" b="0"/>
        </a:p>
      </dgm:t>
    </dgm:pt>
    <dgm:pt modelId="{1B97CD8F-53FD-42DA-AFEC-FDFD925EDA2D}" type="sibTrans" cxnId="{6867F764-79D8-463E-B99B-D55A53487CEE}">
      <dgm:prSet/>
      <dgm:spPr/>
      <dgm:t>
        <a:bodyPr/>
        <a:lstStyle/>
        <a:p>
          <a:endParaRPr lang="zh-CN" altLang="en-US" b="0"/>
        </a:p>
      </dgm:t>
    </dgm:pt>
    <dgm:pt modelId="{F89261D8-EAB2-4B29-BE1C-8A7BF359CCE7}">
      <dgm:prSet custT="1"/>
      <dgm:spPr/>
      <dgm:t>
        <a:bodyPr/>
        <a:lstStyle/>
        <a:p>
          <a:r>
            <a:rPr lang="zh-CN" altLang="en-US" sz="1200" b="0" dirty="0">
              <a:latin typeface="+mn-lt"/>
              <a:ea typeface="+mn-ea"/>
              <a:sym typeface="Huawei Sans" panose="020C0503030203020204" pitchFamily="34" charset="0"/>
            </a:rPr>
            <a:t>准入控制设计</a:t>
          </a:r>
        </a:p>
      </dgm:t>
    </dgm:pt>
    <dgm:pt modelId="{A81119F6-BAF0-4694-B2CA-B07E78C0D888}" type="parTrans" cxnId="{EA7B3DC5-9F68-426A-87A0-57F9F169E0E6}">
      <dgm:prSet/>
      <dgm:spPr/>
      <dgm:t>
        <a:bodyPr/>
        <a:lstStyle/>
        <a:p>
          <a:endParaRPr lang="zh-CN" altLang="en-US" b="0"/>
        </a:p>
      </dgm:t>
    </dgm:pt>
    <dgm:pt modelId="{37EF77D3-23E4-4B9D-98A4-4C4B9A055DCB}" type="sibTrans" cxnId="{EA7B3DC5-9F68-426A-87A0-57F9F169E0E6}">
      <dgm:prSet/>
      <dgm:spPr/>
      <dgm:t>
        <a:bodyPr/>
        <a:lstStyle/>
        <a:p>
          <a:endParaRPr lang="zh-CN" altLang="en-US" b="0"/>
        </a:p>
      </dgm:t>
    </dgm:pt>
    <dgm:pt modelId="{BA5113C5-6926-4A6C-9800-C9A06DAA9400}">
      <dgm:prSet custT="1"/>
      <dgm:spPr/>
      <dgm:t>
        <a:bodyPr/>
        <a:lstStyle/>
        <a:p>
          <a:r>
            <a:rPr lang="zh-CN" altLang="en-US" sz="1200" b="0" dirty="0">
              <a:latin typeface="+mn-lt"/>
              <a:ea typeface="+mn-ea"/>
              <a:sym typeface="Huawei Sans" panose="020C0503030203020204" pitchFamily="34" charset="0"/>
            </a:rPr>
            <a:t>业务随行设计</a:t>
          </a:r>
        </a:p>
      </dgm:t>
    </dgm:pt>
    <dgm:pt modelId="{3C7E1877-40CD-4EAD-90EB-D575D215F2F0}" type="parTrans" cxnId="{290D771C-620B-4504-B4E7-D3DFAE839F11}">
      <dgm:prSet/>
      <dgm:spPr/>
      <dgm:t>
        <a:bodyPr/>
        <a:lstStyle/>
        <a:p>
          <a:endParaRPr lang="zh-CN" altLang="en-US" b="0"/>
        </a:p>
      </dgm:t>
    </dgm:pt>
    <dgm:pt modelId="{CAE416A5-54FC-4991-9568-3D57EC30C655}" type="sibTrans" cxnId="{290D771C-620B-4504-B4E7-D3DFAE839F11}">
      <dgm:prSet/>
      <dgm:spPr/>
      <dgm:t>
        <a:bodyPr/>
        <a:lstStyle/>
        <a:p>
          <a:endParaRPr lang="zh-CN" altLang="en-US" b="0"/>
        </a:p>
      </dgm:t>
    </dgm:pt>
    <dgm:pt modelId="{A2EC6236-D6BF-4E34-B4E1-71A2B17A7A5D}">
      <dgm:prSet custT="1"/>
      <dgm:spPr/>
      <dgm:t>
        <a:bodyPr/>
        <a:lstStyle/>
        <a:p>
          <a:r>
            <a:rPr lang="zh-CN" altLang="en-US" sz="1200" b="0" dirty="0">
              <a:latin typeface="+mn-lt"/>
              <a:ea typeface="+mn-ea"/>
              <a:sym typeface="Huawei Sans" panose="020C0503030203020204" pitchFamily="34" charset="0"/>
            </a:rPr>
            <a:t>终端识别设计</a:t>
          </a:r>
        </a:p>
      </dgm:t>
    </dgm:pt>
    <dgm:pt modelId="{FA3210CA-CBC1-483E-A269-FFD86B8AFEF1}" type="parTrans" cxnId="{63A9C384-E27D-4F2A-A333-CF2C4BD515DB}">
      <dgm:prSet/>
      <dgm:spPr/>
      <dgm:t>
        <a:bodyPr/>
        <a:lstStyle/>
        <a:p>
          <a:endParaRPr lang="zh-CN" altLang="en-US"/>
        </a:p>
      </dgm:t>
    </dgm:pt>
    <dgm:pt modelId="{6D9FDF5D-CF3A-4D8F-8AD3-7AFBA7831D75}" type="sibTrans" cxnId="{63A9C384-E27D-4F2A-A333-CF2C4BD515DB}">
      <dgm:prSet/>
      <dgm:spPr/>
      <dgm:t>
        <a:bodyPr/>
        <a:lstStyle/>
        <a:p>
          <a:endParaRPr lang="zh-CN" altLang="en-US"/>
        </a:p>
      </dgm:t>
    </dgm:pt>
    <dgm:pt modelId="{6852AB1C-5913-4331-BA11-D65B43F5F47F}">
      <dgm:prSet phldrT="[文本]" custT="1"/>
      <dgm:spPr>
        <a:solidFill>
          <a:srgbClr val="56C4D2"/>
        </a:solidFill>
      </dgm:spPr>
      <dgm:t>
        <a:bodyPr/>
        <a:lstStyle/>
        <a:p>
          <a:pPr>
            <a:lnSpc>
              <a:spcPct val="100000"/>
            </a:lnSpc>
            <a:spcAft>
              <a:spcPts val="0"/>
            </a:spcAft>
          </a:pPr>
          <a:r>
            <a:rPr lang="zh-CN" altLang="en-US" sz="1200" b="1" dirty="0">
              <a:latin typeface="+mn-lt"/>
              <a:ea typeface="+mn-ea"/>
              <a:sym typeface="Huawei Sans" panose="020C0503030203020204" pitchFamily="34" charset="0"/>
            </a:rPr>
            <a:t>网络架构设计</a:t>
          </a:r>
        </a:p>
      </dgm:t>
    </dgm:pt>
    <dgm:pt modelId="{B2940C88-44FB-4508-9932-95B047C374E0}" type="parTrans" cxnId="{F8BAA960-D725-4B34-A06F-049FF2A66510}">
      <dgm:prSet/>
      <dgm:spPr>
        <a:ln>
          <a:solidFill>
            <a:srgbClr val="30B5C5"/>
          </a:solidFill>
        </a:ln>
      </dgm:spPr>
      <dgm:t>
        <a:bodyPr/>
        <a:lstStyle/>
        <a:p>
          <a:endParaRPr lang="zh-CN" altLang="en-US"/>
        </a:p>
      </dgm:t>
    </dgm:pt>
    <dgm:pt modelId="{600833AE-AA22-491E-9BDA-B5D37D335CDA}" type="sibTrans" cxnId="{F8BAA960-D725-4B34-A06F-049FF2A66510}">
      <dgm:prSet/>
      <dgm:spPr/>
      <dgm:t>
        <a:bodyPr/>
        <a:lstStyle/>
        <a:p>
          <a:endParaRPr lang="zh-CN" altLang="en-US"/>
        </a:p>
      </dgm:t>
    </dgm:pt>
    <dgm:pt modelId="{7B44E0EB-867C-4591-B62F-3845C3F48078}">
      <dgm:prSet phldrT="[文本]" custT="1"/>
      <dgm:spPr>
        <a:solidFill>
          <a:srgbClr val="56C4D2"/>
        </a:solidFill>
      </dgm:spPr>
      <dgm:t>
        <a:bodyPr/>
        <a:lstStyle/>
        <a:p>
          <a:pPr>
            <a:lnSpc>
              <a:spcPct val="100000"/>
            </a:lnSpc>
            <a:spcAft>
              <a:spcPts val="0"/>
            </a:spcAft>
          </a:pPr>
          <a:r>
            <a:rPr lang="zh-CN" altLang="en-US" sz="1200" b="1" dirty="0">
              <a:latin typeface="+mn-lt"/>
              <a:ea typeface="+mn-ea"/>
              <a:sym typeface="Huawei Sans" panose="020C0503030203020204" pitchFamily="34" charset="0"/>
            </a:rPr>
            <a:t>出口网络设计</a:t>
          </a:r>
        </a:p>
      </dgm:t>
    </dgm:pt>
    <dgm:pt modelId="{1EC114AF-0C2C-4CF0-8370-25641EFC99B0}" type="parTrans" cxnId="{101FB5E1-391B-48EB-AEE0-CD699F755A47}">
      <dgm:prSet/>
      <dgm:spPr>
        <a:ln>
          <a:solidFill>
            <a:srgbClr val="30B5C5"/>
          </a:solidFill>
        </a:ln>
      </dgm:spPr>
      <dgm:t>
        <a:bodyPr/>
        <a:lstStyle/>
        <a:p>
          <a:endParaRPr lang="zh-CN" altLang="en-US"/>
        </a:p>
      </dgm:t>
    </dgm:pt>
    <dgm:pt modelId="{FBEAFA2F-A4AE-412A-9710-A2E8595EF3D9}" type="sibTrans" cxnId="{101FB5E1-391B-48EB-AEE0-CD699F755A47}">
      <dgm:prSet/>
      <dgm:spPr/>
      <dgm:t>
        <a:bodyPr/>
        <a:lstStyle/>
        <a:p>
          <a:endParaRPr lang="zh-CN" altLang="en-US"/>
        </a:p>
      </dgm:t>
    </dgm:pt>
    <dgm:pt modelId="{E3AAC849-A8DC-4A79-8256-C474B9DE8F53}">
      <dgm:prSet phldrT="[文本]" custT="1"/>
      <dgm:spPr/>
      <dgm:t>
        <a:bodyPr/>
        <a:lstStyle/>
        <a:p>
          <a:pPr marL="0" algn="ctr" defTabSz="914034" rtl="0" eaLnBrk="1" latinLnBrk="0" hangingPunct="1">
            <a:lnSpc>
              <a:spcPct val="100000"/>
            </a:lnSpc>
            <a:spcAft>
              <a:spcPts val="0"/>
            </a:spcAft>
          </a:pPr>
          <a:r>
            <a:rPr lang="zh-CN" altLang="en-US" sz="1200" kern="1200">
              <a:effectLst/>
              <a:latin typeface="+mn-lt"/>
              <a:ea typeface="+mn-ea"/>
              <a:cs typeface="+mn-cs"/>
              <a:sym typeface="Huawei Sans" panose="020C0503030203020204" pitchFamily="34" charset="0"/>
            </a:rPr>
            <a:t>出口组网设计</a:t>
          </a:r>
          <a:endParaRPr lang="zh-CN" altLang="en-US" sz="1200" kern="1200" dirty="0">
            <a:effectLst/>
            <a:latin typeface="+mn-lt"/>
            <a:ea typeface="+mn-ea"/>
            <a:cs typeface="+mn-cs"/>
            <a:sym typeface="Huawei Sans" panose="020C0503030203020204" pitchFamily="34" charset="0"/>
          </a:endParaRPr>
        </a:p>
      </dgm:t>
    </dgm:pt>
    <dgm:pt modelId="{7A4DD0D4-B57C-4E13-9857-A4851474BFD3}" type="parTrans" cxnId="{141BE706-4097-4282-9672-0E8CB48B22D7}">
      <dgm:prSet/>
      <dgm:spPr/>
      <dgm:t>
        <a:bodyPr/>
        <a:lstStyle/>
        <a:p>
          <a:endParaRPr lang="zh-CN" altLang="en-US"/>
        </a:p>
      </dgm:t>
    </dgm:pt>
    <dgm:pt modelId="{049BCC13-3B35-4826-BD02-8835F9451356}" type="sibTrans" cxnId="{141BE706-4097-4282-9672-0E8CB48B22D7}">
      <dgm:prSet/>
      <dgm:spPr/>
      <dgm:t>
        <a:bodyPr/>
        <a:lstStyle/>
        <a:p>
          <a:endParaRPr lang="zh-CN" altLang="en-US"/>
        </a:p>
      </dgm:t>
    </dgm:pt>
    <dgm:pt modelId="{E20476D2-5C90-4D5E-83D7-2A20CF8B1814}">
      <dgm:prSet phldrT="[文本]" custT="1"/>
      <dgm:spPr/>
      <dgm:t>
        <a:bodyPr/>
        <a:lstStyle/>
        <a:p>
          <a:pPr marL="0" algn="ctr" defTabSz="914034" rtl="0" eaLnBrk="1" latinLnBrk="0" hangingPunct="1">
            <a:lnSpc>
              <a:spcPct val="100000"/>
            </a:lnSpc>
            <a:spcAft>
              <a:spcPts val="0"/>
            </a:spcAft>
          </a:pPr>
          <a:r>
            <a:rPr lang="zh-CN" altLang="en-US" sz="1200" kern="1200">
              <a:effectLst/>
              <a:latin typeface="+mn-lt"/>
              <a:ea typeface="+mn-ea"/>
              <a:cs typeface="+mn-cs"/>
              <a:sym typeface="Huawei Sans" panose="020C0503030203020204" pitchFamily="34" charset="0"/>
            </a:rPr>
            <a:t>双机热备设计</a:t>
          </a:r>
          <a:endParaRPr lang="zh-CN" altLang="en-US" sz="1200" kern="1200" dirty="0">
            <a:effectLst/>
            <a:latin typeface="+mn-lt"/>
            <a:ea typeface="+mn-ea"/>
            <a:cs typeface="+mn-cs"/>
            <a:sym typeface="Huawei Sans" panose="020C0503030203020204" pitchFamily="34" charset="0"/>
          </a:endParaRPr>
        </a:p>
      </dgm:t>
    </dgm:pt>
    <dgm:pt modelId="{AEEC9DD9-AC7E-4695-B6AF-E85D402EA91C}" type="parTrans" cxnId="{0D5C7043-45E7-49C7-95A5-C7719FC290E5}">
      <dgm:prSet/>
      <dgm:spPr/>
      <dgm:t>
        <a:bodyPr/>
        <a:lstStyle/>
        <a:p>
          <a:endParaRPr lang="zh-CN" altLang="en-US"/>
        </a:p>
      </dgm:t>
    </dgm:pt>
    <dgm:pt modelId="{CC61A180-3C3F-4BF6-8B38-87A2902DBA10}" type="sibTrans" cxnId="{0D5C7043-45E7-49C7-95A5-C7719FC290E5}">
      <dgm:prSet/>
      <dgm:spPr/>
      <dgm:t>
        <a:bodyPr/>
        <a:lstStyle/>
        <a:p>
          <a:endParaRPr lang="zh-CN" altLang="en-US"/>
        </a:p>
      </dgm:t>
    </dgm:pt>
    <dgm:pt modelId="{1D6A2FFA-313D-4C1C-869D-2E28B4AF8665}">
      <dgm:prSet phldrT="[文本]" custT="1"/>
      <dgm:spPr/>
      <dgm:t>
        <a:bodyPr/>
        <a:lstStyle/>
        <a:p>
          <a:pPr marL="0" algn="ctr" defTabSz="914034" rtl="0" eaLnBrk="1" latinLnBrk="0" hangingPunct="1">
            <a:lnSpc>
              <a:spcPct val="100000"/>
            </a:lnSpc>
            <a:spcAft>
              <a:spcPts val="0"/>
            </a:spcAft>
          </a:pPr>
          <a:r>
            <a:rPr lang="zh-CN" altLang="en-US" sz="1200" kern="1200">
              <a:effectLst/>
              <a:latin typeface="+mn-lt"/>
              <a:ea typeface="+mn-ea"/>
              <a:cs typeface="+mn-cs"/>
              <a:sym typeface="Huawei Sans" panose="020C0503030203020204" pitchFamily="34" charset="0"/>
            </a:rPr>
            <a:t>出口路由设计</a:t>
          </a:r>
          <a:endParaRPr lang="zh-CN" altLang="en-US" sz="1200" kern="1200" dirty="0">
            <a:effectLst/>
            <a:latin typeface="+mn-lt"/>
            <a:ea typeface="+mn-ea"/>
            <a:cs typeface="+mn-cs"/>
            <a:sym typeface="Huawei Sans" panose="020C0503030203020204" pitchFamily="34" charset="0"/>
          </a:endParaRPr>
        </a:p>
      </dgm:t>
    </dgm:pt>
    <dgm:pt modelId="{BF87E38B-4176-4CC9-8047-383199751F99}" type="parTrans" cxnId="{31A2E4E5-C217-483E-B03F-5A939BC58360}">
      <dgm:prSet/>
      <dgm:spPr/>
      <dgm:t>
        <a:bodyPr/>
        <a:lstStyle/>
        <a:p>
          <a:endParaRPr lang="zh-CN" altLang="en-US"/>
        </a:p>
      </dgm:t>
    </dgm:pt>
    <dgm:pt modelId="{918DC063-C125-4815-AF88-C9CD19B3E879}" type="sibTrans" cxnId="{31A2E4E5-C217-483E-B03F-5A939BC58360}">
      <dgm:prSet/>
      <dgm:spPr/>
      <dgm:t>
        <a:bodyPr/>
        <a:lstStyle/>
        <a:p>
          <a:endParaRPr lang="zh-CN" altLang="en-US"/>
        </a:p>
      </dgm:t>
    </dgm:pt>
    <dgm:pt modelId="{578948A4-974B-413C-89D3-29826CA4FEEC}">
      <dgm:prSet phldrT="[文本]" custT="1"/>
      <dgm:spPr/>
      <dgm:t>
        <a:bodyPr/>
        <a:lstStyle/>
        <a:p>
          <a:pPr marL="0" algn="ctr" defTabSz="914034" rtl="0" eaLnBrk="1" latinLnBrk="0" hangingPunct="1">
            <a:lnSpc>
              <a:spcPct val="100000"/>
            </a:lnSpc>
            <a:spcAft>
              <a:spcPts val="0"/>
            </a:spcAft>
          </a:pPr>
          <a:r>
            <a:rPr lang="zh-CN" altLang="en-US" sz="1200" kern="1200">
              <a:effectLst/>
              <a:latin typeface="+mn-lt"/>
              <a:ea typeface="+mn-ea"/>
              <a:cs typeface="+mn-cs"/>
              <a:sym typeface="Huawei Sans" panose="020C0503030203020204" pitchFamily="34" charset="0"/>
            </a:rPr>
            <a:t>安全区域设计</a:t>
          </a:r>
          <a:endParaRPr lang="zh-CN" altLang="en-US" sz="1200" kern="1200" dirty="0">
            <a:effectLst/>
            <a:latin typeface="+mn-lt"/>
            <a:ea typeface="+mn-ea"/>
            <a:cs typeface="+mn-cs"/>
            <a:sym typeface="Huawei Sans" panose="020C0503030203020204" pitchFamily="34" charset="0"/>
          </a:endParaRPr>
        </a:p>
      </dgm:t>
    </dgm:pt>
    <dgm:pt modelId="{29729800-B1B0-4AA5-8BB7-74A6065FA700}" type="parTrans" cxnId="{51AAEB3A-0BDB-4F88-9FEF-6CE05B35E77A}">
      <dgm:prSet/>
      <dgm:spPr/>
      <dgm:t>
        <a:bodyPr/>
        <a:lstStyle/>
        <a:p>
          <a:endParaRPr lang="zh-CN" altLang="en-US"/>
        </a:p>
      </dgm:t>
    </dgm:pt>
    <dgm:pt modelId="{219294A2-F843-4294-83B4-442D201CEB9B}" type="sibTrans" cxnId="{51AAEB3A-0BDB-4F88-9FEF-6CE05B35E77A}">
      <dgm:prSet/>
      <dgm:spPr/>
      <dgm:t>
        <a:bodyPr/>
        <a:lstStyle/>
        <a:p>
          <a:endParaRPr lang="zh-CN" altLang="en-US"/>
        </a:p>
      </dgm:t>
    </dgm:pt>
    <dgm:pt modelId="{E1967430-38B8-4639-B752-E0B21D934277}">
      <dgm:prSet phldrT="[文本]" custT="1"/>
      <dgm:spPr/>
      <dgm:t>
        <a:bodyPr/>
        <a:lstStyle/>
        <a:p>
          <a:pPr marL="0" algn="ctr" defTabSz="914034" rtl="0" eaLnBrk="1" latinLnBrk="0" hangingPunct="1">
            <a:lnSpc>
              <a:spcPct val="100000"/>
            </a:lnSpc>
            <a:spcAft>
              <a:spcPts val="0"/>
            </a:spcAft>
          </a:pPr>
          <a:r>
            <a:rPr lang="zh-CN" altLang="en-US" sz="1200" kern="1200" dirty="0">
              <a:effectLst/>
              <a:latin typeface="+mn-lt"/>
              <a:ea typeface="+mn-ea"/>
              <a:cs typeface="+mn-cs"/>
              <a:sym typeface="Huawei Sans" panose="020C0503030203020204" pitchFamily="34" charset="0"/>
            </a:rPr>
            <a:t>安全策略设计</a:t>
          </a:r>
        </a:p>
      </dgm:t>
    </dgm:pt>
    <dgm:pt modelId="{4076B9B1-2046-4E3A-A0F7-B9EBF4122920}" type="parTrans" cxnId="{B68AD0E9-790C-412D-81DB-5D8145E8D782}">
      <dgm:prSet/>
      <dgm:spPr/>
      <dgm:t>
        <a:bodyPr/>
        <a:lstStyle/>
        <a:p>
          <a:endParaRPr lang="zh-CN" altLang="en-US"/>
        </a:p>
      </dgm:t>
    </dgm:pt>
    <dgm:pt modelId="{4FF0D760-A7CC-485B-9161-C19D8E2E5CB1}" type="sibTrans" cxnId="{B68AD0E9-790C-412D-81DB-5D8145E8D782}">
      <dgm:prSet/>
      <dgm:spPr/>
      <dgm:t>
        <a:bodyPr/>
        <a:lstStyle/>
        <a:p>
          <a:endParaRPr lang="zh-CN" altLang="en-US"/>
        </a:p>
      </dgm:t>
    </dgm:pt>
    <dgm:pt modelId="{69D3E39E-8DBB-4A63-B911-06F489FC0F68}">
      <dgm:prSet phldrT="[文本]" custT="1"/>
      <dgm:spPr/>
      <dgm:t>
        <a:bodyPr/>
        <a:lstStyle/>
        <a:p>
          <a:r>
            <a:rPr lang="en-US" altLang="zh-CN" sz="1200" b="0" dirty="0">
              <a:latin typeface="+mn-lt"/>
              <a:ea typeface="+mn-ea"/>
              <a:sym typeface="Huawei Sans" panose="020C0503030203020204" pitchFamily="34" charset="0"/>
            </a:rPr>
            <a:t>QoS</a:t>
          </a:r>
          <a:r>
            <a:rPr lang="zh-CN" altLang="en-US" sz="1200" b="0" dirty="0">
              <a:latin typeface="+mn-lt"/>
              <a:ea typeface="+mn-ea"/>
              <a:sym typeface="Huawei Sans" panose="020C0503030203020204" pitchFamily="34" charset="0"/>
            </a:rPr>
            <a:t>设计</a:t>
          </a:r>
        </a:p>
      </dgm:t>
    </dgm:pt>
    <dgm:pt modelId="{1ED65983-15A8-41F5-B534-7EE254E5CE99}" type="parTrans" cxnId="{C4A5A9DA-40FF-4F5D-9ECE-8FEE55FE1EB7}">
      <dgm:prSet/>
      <dgm:spPr/>
      <dgm:t>
        <a:bodyPr/>
        <a:lstStyle/>
        <a:p>
          <a:endParaRPr lang="zh-CN" altLang="en-US"/>
        </a:p>
      </dgm:t>
    </dgm:pt>
    <dgm:pt modelId="{8B7A566A-F030-4027-AC71-68D134F25FA3}" type="sibTrans" cxnId="{C4A5A9DA-40FF-4F5D-9ECE-8FEE55FE1EB7}">
      <dgm:prSet/>
      <dgm:spPr/>
      <dgm:t>
        <a:bodyPr/>
        <a:lstStyle/>
        <a:p>
          <a:endParaRPr lang="zh-CN" altLang="en-US"/>
        </a:p>
      </dgm:t>
    </dgm:pt>
    <dgm:pt modelId="{ED1F7940-DCEA-4C74-8F88-247314E30520}" type="pres">
      <dgm:prSet presAssocID="{20412CDC-CA2F-4AC0-997B-4F9A32367F3C}" presName="hierChild1" presStyleCnt="0">
        <dgm:presLayoutVars>
          <dgm:orgChart val="1"/>
          <dgm:chPref val="1"/>
          <dgm:dir/>
          <dgm:animOne val="branch"/>
          <dgm:animLvl val="lvl"/>
          <dgm:resizeHandles/>
        </dgm:presLayoutVars>
      </dgm:prSet>
      <dgm:spPr/>
    </dgm:pt>
    <dgm:pt modelId="{259F2C66-3785-43B2-93DC-CA01D301FF0E}" type="pres">
      <dgm:prSet presAssocID="{64352500-A724-4934-9B87-263D04CEFB0D}" presName="hierRoot1" presStyleCnt="0">
        <dgm:presLayoutVars>
          <dgm:hierBranch val="init"/>
        </dgm:presLayoutVars>
      </dgm:prSet>
      <dgm:spPr/>
    </dgm:pt>
    <dgm:pt modelId="{4D6710B9-1099-444D-81A1-F2D78F78148F}" type="pres">
      <dgm:prSet presAssocID="{64352500-A724-4934-9B87-263D04CEFB0D}" presName="rootComposite1" presStyleCnt="0"/>
      <dgm:spPr/>
    </dgm:pt>
    <dgm:pt modelId="{02CB0E22-E0B0-4FEB-8CAC-B216717189B1}" type="pres">
      <dgm:prSet presAssocID="{64352500-A724-4934-9B87-263D04CEFB0D}" presName="rootText1" presStyleLbl="node0" presStyleIdx="0" presStyleCnt="1" custScaleX="213675">
        <dgm:presLayoutVars>
          <dgm:chPref val="3"/>
        </dgm:presLayoutVars>
      </dgm:prSet>
      <dgm:spPr/>
    </dgm:pt>
    <dgm:pt modelId="{10F90959-2226-4E18-9EC1-73B60560CE38}" type="pres">
      <dgm:prSet presAssocID="{64352500-A724-4934-9B87-263D04CEFB0D}" presName="rootConnector1" presStyleLbl="node1" presStyleIdx="0" presStyleCnt="0"/>
      <dgm:spPr/>
    </dgm:pt>
    <dgm:pt modelId="{593CADEC-F89C-4F78-973C-1CBF0B192A17}" type="pres">
      <dgm:prSet presAssocID="{64352500-A724-4934-9B87-263D04CEFB0D}" presName="hierChild2" presStyleCnt="0"/>
      <dgm:spPr/>
    </dgm:pt>
    <dgm:pt modelId="{BA50D3D5-41D2-4283-A6B0-4888E1337E63}" type="pres">
      <dgm:prSet presAssocID="{B2940C88-44FB-4508-9932-95B047C374E0}" presName="Name37" presStyleLbl="parChTrans1D2" presStyleIdx="0" presStyleCnt="9"/>
      <dgm:spPr/>
    </dgm:pt>
    <dgm:pt modelId="{6367DBAA-424E-4D42-B93B-4AAD73295465}" type="pres">
      <dgm:prSet presAssocID="{6852AB1C-5913-4331-BA11-D65B43F5F47F}" presName="hierRoot2" presStyleCnt="0">
        <dgm:presLayoutVars>
          <dgm:hierBranch val="init"/>
        </dgm:presLayoutVars>
      </dgm:prSet>
      <dgm:spPr/>
    </dgm:pt>
    <dgm:pt modelId="{288A0F73-7274-46BB-93BA-C9F14E63367E}" type="pres">
      <dgm:prSet presAssocID="{6852AB1C-5913-4331-BA11-D65B43F5F47F}" presName="rootComposite" presStyleCnt="0"/>
      <dgm:spPr/>
    </dgm:pt>
    <dgm:pt modelId="{C8CD31D6-8470-4A2A-96E6-510D045BE6C5}" type="pres">
      <dgm:prSet presAssocID="{6852AB1C-5913-4331-BA11-D65B43F5F47F}" presName="rootText" presStyleLbl="node2" presStyleIdx="0" presStyleCnt="9">
        <dgm:presLayoutVars>
          <dgm:chPref val="3"/>
        </dgm:presLayoutVars>
      </dgm:prSet>
      <dgm:spPr/>
    </dgm:pt>
    <dgm:pt modelId="{EB17B224-DD12-45D1-8EA8-B81546580DA5}" type="pres">
      <dgm:prSet presAssocID="{6852AB1C-5913-4331-BA11-D65B43F5F47F}" presName="rootConnector" presStyleLbl="node2" presStyleIdx="0" presStyleCnt="9"/>
      <dgm:spPr/>
    </dgm:pt>
    <dgm:pt modelId="{0AD18F47-0AEE-4F25-9472-73A3A703AA16}" type="pres">
      <dgm:prSet presAssocID="{6852AB1C-5913-4331-BA11-D65B43F5F47F}" presName="hierChild4" presStyleCnt="0"/>
      <dgm:spPr/>
    </dgm:pt>
    <dgm:pt modelId="{B73A6CE9-5DB6-4A7E-BFA2-7F5F0BBE2A90}" type="pres">
      <dgm:prSet presAssocID="{6852AB1C-5913-4331-BA11-D65B43F5F47F}" presName="hierChild5" presStyleCnt="0"/>
      <dgm:spPr/>
    </dgm:pt>
    <dgm:pt modelId="{EB416A33-9B76-433C-A6F2-2FFEF3B2FC20}" type="pres">
      <dgm:prSet presAssocID="{824A3C02-AFC7-4503-95E3-5180C182D4D6}" presName="Name37" presStyleLbl="parChTrans1D2" presStyleIdx="1" presStyleCnt="9"/>
      <dgm:spPr/>
    </dgm:pt>
    <dgm:pt modelId="{81BBBDD1-2DE6-4180-B5CB-6D5D7EFB0CF8}" type="pres">
      <dgm:prSet presAssocID="{E8EB4253-4965-4F02-AC5E-4B60784CC9DE}" presName="hierRoot2" presStyleCnt="0">
        <dgm:presLayoutVars>
          <dgm:hierBranch val="init"/>
        </dgm:presLayoutVars>
      </dgm:prSet>
      <dgm:spPr/>
    </dgm:pt>
    <dgm:pt modelId="{1DCDDD9B-6E3B-433E-A9F4-8EA55975259E}" type="pres">
      <dgm:prSet presAssocID="{E8EB4253-4965-4F02-AC5E-4B60784CC9DE}" presName="rootComposite" presStyleCnt="0"/>
      <dgm:spPr/>
    </dgm:pt>
    <dgm:pt modelId="{B9483C5E-EAAB-4329-BDAE-5179ABF4F0AB}" type="pres">
      <dgm:prSet presAssocID="{E8EB4253-4965-4F02-AC5E-4B60784CC9DE}" presName="rootText" presStyleLbl="node2" presStyleIdx="1" presStyleCnt="9">
        <dgm:presLayoutVars>
          <dgm:chPref val="3"/>
        </dgm:presLayoutVars>
      </dgm:prSet>
      <dgm:spPr/>
    </dgm:pt>
    <dgm:pt modelId="{01CEF6A7-5AFE-4A24-ACD5-050C3C2D75EB}" type="pres">
      <dgm:prSet presAssocID="{E8EB4253-4965-4F02-AC5E-4B60784CC9DE}" presName="rootConnector" presStyleLbl="node2" presStyleIdx="1" presStyleCnt="9"/>
      <dgm:spPr/>
    </dgm:pt>
    <dgm:pt modelId="{C038B19F-A009-4AC0-AFA8-93ECB9D93EAF}" type="pres">
      <dgm:prSet presAssocID="{E8EB4253-4965-4F02-AC5E-4B60784CC9DE}" presName="hierChild4" presStyleCnt="0"/>
      <dgm:spPr/>
    </dgm:pt>
    <dgm:pt modelId="{97099A3E-21F0-4EB6-90BA-A57A3C29B976}" type="pres">
      <dgm:prSet presAssocID="{EAC2C7C5-BB95-48CE-8394-70DBCAC256CC}" presName="Name37" presStyleLbl="parChTrans1D3" presStyleIdx="0" presStyleCnt="24"/>
      <dgm:spPr/>
    </dgm:pt>
    <dgm:pt modelId="{EAE9BA01-7F90-4C75-A0F3-248A86F83279}" type="pres">
      <dgm:prSet presAssocID="{658AFCF7-1AE2-4289-BA12-2E650ED21D7A}" presName="hierRoot2" presStyleCnt="0">
        <dgm:presLayoutVars>
          <dgm:hierBranch val="init"/>
        </dgm:presLayoutVars>
      </dgm:prSet>
      <dgm:spPr/>
    </dgm:pt>
    <dgm:pt modelId="{947663D9-622B-409B-ABF5-E8EB246A99A2}" type="pres">
      <dgm:prSet presAssocID="{658AFCF7-1AE2-4289-BA12-2E650ED21D7A}" presName="rootComposite" presStyleCnt="0"/>
      <dgm:spPr/>
    </dgm:pt>
    <dgm:pt modelId="{19159046-1C53-4E35-9EA6-DCB9B93EA7E0}" type="pres">
      <dgm:prSet presAssocID="{658AFCF7-1AE2-4289-BA12-2E650ED21D7A}" presName="rootText" presStyleLbl="node3" presStyleIdx="0" presStyleCnt="24">
        <dgm:presLayoutVars>
          <dgm:chPref val="3"/>
        </dgm:presLayoutVars>
      </dgm:prSet>
      <dgm:spPr/>
    </dgm:pt>
    <dgm:pt modelId="{550D9814-73F2-416E-B0EB-2A888BEBF323}" type="pres">
      <dgm:prSet presAssocID="{658AFCF7-1AE2-4289-BA12-2E650ED21D7A}" presName="rootConnector" presStyleLbl="node3" presStyleIdx="0" presStyleCnt="24"/>
      <dgm:spPr/>
    </dgm:pt>
    <dgm:pt modelId="{200FB7EF-217F-42B5-9636-20CE4918A482}" type="pres">
      <dgm:prSet presAssocID="{658AFCF7-1AE2-4289-BA12-2E650ED21D7A}" presName="hierChild4" presStyleCnt="0"/>
      <dgm:spPr/>
    </dgm:pt>
    <dgm:pt modelId="{35E444C9-7871-4225-8288-14E8555EC226}" type="pres">
      <dgm:prSet presAssocID="{658AFCF7-1AE2-4289-BA12-2E650ED21D7A}" presName="hierChild5" presStyleCnt="0"/>
      <dgm:spPr/>
    </dgm:pt>
    <dgm:pt modelId="{788E6BB0-5D8F-4099-8BD5-D91387559642}" type="pres">
      <dgm:prSet presAssocID="{D2F6210F-FCA3-474C-B21C-D299B0892F89}" presName="Name37" presStyleLbl="parChTrans1D3" presStyleIdx="1" presStyleCnt="24"/>
      <dgm:spPr/>
    </dgm:pt>
    <dgm:pt modelId="{09790516-0458-41C0-8183-186DE9FB2BE3}" type="pres">
      <dgm:prSet presAssocID="{C7146351-3963-44C4-859D-DB6D2AC38CF0}" presName="hierRoot2" presStyleCnt="0">
        <dgm:presLayoutVars>
          <dgm:hierBranch val="init"/>
        </dgm:presLayoutVars>
      </dgm:prSet>
      <dgm:spPr/>
    </dgm:pt>
    <dgm:pt modelId="{2BC56BA4-B542-4993-81BB-CD2EB8171F66}" type="pres">
      <dgm:prSet presAssocID="{C7146351-3963-44C4-859D-DB6D2AC38CF0}" presName="rootComposite" presStyleCnt="0"/>
      <dgm:spPr/>
    </dgm:pt>
    <dgm:pt modelId="{339F31B9-6D09-4F92-8CB9-5ECE9952079F}" type="pres">
      <dgm:prSet presAssocID="{C7146351-3963-44C4-859D-DB6D2AC38CF0}" presName="rootText" presStyleLbl="node3" presStyleIdx="1" presStyleCnt="24">
        <dgm:presLayoutVars>
          <dgm:chPref val="3"/>
        </dgm:presLayoutVars>
      </dgm:prSet>
      <dgm:spPr/>
    </dgm:pt>
    <dgm:pt modelId="{FE2D1640-3BEA-474F-BE37-389F5F74F56C}" type="pres">
      <dgm:prSet presAssocID="{C7146351-3963-44C4-859D-DB6D2AC38CF0}" presName="rootConnector" presStyleLbl="node3" presStyleIdx="1" presStyleCnt="24"/>
      <dgm:spPr/>
    </dgm:pt>
    <dgm:pt modelId="{66B6020F-0E71-4214-A023-FFE808CF8FCA}" type="pres">
      <dgm:prSet presAssocID="{C7146351-3963-44C4-859D-DB6D2AC38CF0}" presName="hierChild4" presStyleCnt="0"/>
      <dgm:spPr/>
    </dgm:pt>
    <dgm:pt modelId="{68EAC98E-040E-4C0A-B452-736D2B8505A0}" type="pres">
      <dgm:prSet presAssocID="{C7146351-3963-44C4-859D-DB6D2AC38CF0}" presName="hierChild5" presStyleCnt="0"/>
      <dgm:spPr/>
    </dgm:pt>
    <dgm:pt modelId="{73264E71-D652-4C5B-87E4-39DDBF72F076}" type="pres">
      <dgm:prSet presAssocID="{E8EB4253-4965-4F02-AC5E-4B60784CC9DE}" presName="hierChild5" presStyleCnt="0"/>
      <dgm:spPr/>
    </dgm:pt>
    <dgm:pt modelId="{1A2C0DD8-F395-46EB-8303-91B66D383C13}" type="pres">
      <dgm:prSet presAssocID="{DAC79BB3-24EE-4EA3-99A5-09B86240F0C4}" presName="Name37" presStyleLbl="parChTrans1D2" presStyleIdx="2" presStyleCnt="9"/>
      <dgm:spPr/>
    </dgm:pt>
    <dgm:pt modelId="{C49F4178-3B36-4B8C-AAD3-CC2A9194DD43}" type="pres">
      <dgm:prSet presAssocID="{FF729534-1886-4F64-A929-8A5ADE708FCE}" presName="hierRoot2" presStyleCnt="0">
        <dgm:presLayoutVars>
          <dgm:hierBranch val="init"/>
        </dgm:presLayoutVars>
      </dgm:prSet>
      <dgm:spPr/>
    </dgm:pt>
    <dgm:pt modelId="{682316B7-ABE3-42AC-9457-1DAD4A106C4C}" type="pres">
      <dgm:prSet presAssocID="{FF729534-1886-4F64-A929-8A5ADE708FCE}" presName="rootComposite" presStyleCnt="0"/>
      <dgm:spPr/>
    </dgm:pt>
    <dgm:pt modelId="{23BC3E4A-6CB7-4B3D-B253-366AA96281DD}" type="pres">
      <dgm:prSet presAssocID="{FF729534-1886-4F64-A929-8A5ADE708FCE}" presName="rootText" presStyleLbl="node2" presStyleIdx="2" presStyleCnt="9">
        <dgm:presLayoutVars>
          <dgm:chPref val="3"/>
        </dgm:presLayoutVars>
      </dgm:prSet>
      <dgm:spPr/>
    </dgm:pt>
    <dgm:pt modelId="{5404466B-21F9-4900-ACF7-527B2500C1D0}" type="pres">
      <dgm:prSet presAssocID="{FF729534-1886-4F64-A929-8A5ADE708FCE}" presName="rootConnector" presStyleLbl="node2" presStyleIdx="2" presStyleCnt="9"/>
      <dgm:spPr/>
    </dgm:pt>
    <dgm:pt modelId="{E859D923-DB80-46E7-BE2B-77164119318C}" type="pres">
      <dgm:prSet presAssocID="{FF729534-1886-4F64-A929-8A5ADE708FCE}" presName="hierChild4" presStyleCnt="0"/>
      <dgm:spPr/>
    </dgm:pt>
    <dgm:pt modelId="{C501BC25-2E2D-4B73-9A8A-DB8693F915DE}" type="pres">
      <dgm:prSet presAssocID="{B5506663-9BEB-43DF-9F8C-8A9EC5EC0A78}" presName="Name37" presStyleLbl="parChTrans1D3" presStyleIdx="2" presStyleCnt="24"/>
      <dgm:spPr/>
    </dgm:pt>
    <dgm:pt modelId="{D7ABBEFC-22C9-4C6C-B394-6FEACD838F9D}" type="pres">
      <dgm:prSet presAssocID="{A6398C27-84A5-4E91-803C-45D9CDA495B9}" presName="hierRoot2" presStyleCnt="0">
        <dgm:presLayoutVars>
          <dgm:hierBranch val="init"/>
        </dgm:presLayoutVars>
      </dgm:prSet>
      <dgm:spPr/>
    </dgm:pt>
    <dgm:pt modelId="{53960159-A772-472F-BBCC-E371E86F4AFC}" type="pres">
      <dgm:prSet presAssocID="{A6398C27-84A5-4E91-803C-45D9CDA495B9}" presName="rootComposite" presStyleCnt="0"/>
      <dgm:spPr/>
    </dgm:pt>
    <dgm:pt modelId="{AAAE8CF0-99F5-42E1-BC6C-455B3481E8D3}" type="pres">
      <dgm:prSet presAssocID="{A6398C27-84A5-4E91-803C-45D9CDA495B9}" presName="rootText" presStyleLbl="node3" presStyleIdx="2" presStyleCnt="24">
        <dgm:presLayoutVars>
          <dgm:chPref val="3"/>
        </dgm:presLayoutVars>
      </dgm:prSet>
      <dgm:spPr/>
    </dgm:pt>
    <dgm:pt modelId="{509CF353-75EF-441A-A80A-16D26652478B}" type="pres">
      <dgm:prSet presAssocID="{A6398C27-84A5-4E91-803C-45D9CDA495B9}" presName="rootConnector" presStyleLbl="node3" presStyleIdx="2" presStyleCnt="24"/>
      <dgm:spPr/>
    </dgm:pt>
    <dgm:pt modelId="{C3B701A3-FFA3-4C94-AE3B-306B8D42F574}" type="pres">
      <dgm:prSet presAssocID="{A6398C27-84A5-4E91-803C-45D9CDA495B9}" presName="hierChild4" presStyleCnt="0"/>
      <dgm:spPr/>
    </dgm:pt>
    <dgm:pt modelId="{A841C21B-5136-4446-95D9-FC5F9CE948F5}" type="pres">
      <dgm:prSet presAssocID="{A6398C27-84A5-4E91-803C-45D9CDA495B9}" presName="hierChild5" presStyleCnt="0"/>
      <dgm:spPr/>
    </dgm:pt>
    <dgm:pt modelId="{BF76692A-DE5D-45D2-BF54-6F1977663E9B}" type="pres">
      <dgm:prSet presAssocID="{B2A034E9-5BB7-4FE3-8FD3-FCDD4995AF4A}" presName="Name37" presStyleLbl="parChTrans1D3" presStyleIdx="3" presStyleCnt="24"/>
      <dgm:spPr/>
    </dgm:pt>
    <dgm:pt modelId="{F95D0C41-0CA5-46F4-87AF-EC16A71B0425}" type="pres">
      <dgm:prSet presAssocID="{B8A807B8-C2D0-4E36-838E-2DC804EA7273}" presName="hierRoot2" presStyleCnt="0">
        <dgm:presLayoutVars>
          <dgm:hierBranch val="init"/>
        </dgm:presLayoutVars>
      </dgm:prSet>
      <dgm:spPr/>
    </dgm:pt>
    <dgm:pt modelId="{39ABF075-4CE5-4687-92AF-30D66BD53E81}" type="pres">
      <dgm:prSet presAssocID="{B8A807B8-C2D0-4E36-838E-2DC804EA7273}" presName="rootComposite" presStyleCnt="0"/>
      <dgm:spPr/>
    </dgm:pt>
    <dgm:pt modelId="{1F656787-D00A-4178-A744-4956B0914B9A}" type="pres">
      <dgm:prSet presAssocID="{B8A807B8-C2D0-4E36-838E-2DC804EA7273}" presName="rootText" presStyleLbl="node3" presStyleIdx="3" presStyleCnt="24">
        <dgm:presLayoutVars>
          <dgm:chPref val="3"/>
        </dgm:presLayoutVars>
      </dgm:prSet>
      <dgm:spPr/>
    </dgm:pt>
    <dgm:pt modelId="{897A60B8-6853-4BE9-83F7-B0772324F770}" type="pres">
      <dgm:prSet presAssocID="{B8A807B8-C2D0-4E36-838E-2DC804EA7273}" presName="rootConnector" presStyleLbl="node3" presStyleIdx="3" presStyleCnt="24"/>
      <dgm:spPr/>
    </dgm:pt>
    <dgm:pt modelId="{55AC62A6-EB42-4A6D-90CD-8A9575E923CE}" type="pres">
      <dgm:prSet presAssocID="{B8A807B8-C2D0-4E36-838E-2DC804EA7273}" presName="hierChild4" presStyleCnt="0"/>
      <dgm:spPr/>
    </dgm:pt>
    <dgm:pt modelId="{A6804369-11B0-4724-B28E-8404CD0E5E3A}" type="pres">
      <dgm:prSet presAssocID="{B8A807B8-C2D0-4E36-838E-2DC804EA7273}" presName="hierChild5" presStyleCnt="0"/>
      <dgm:spPr/>
    </dgm:pt>
    <dgm:pt modelId="{B8846EAA-ABA9-404D-9000-F95065119D0E}" type="pres">
      <dgm:prSet presAssocID="{334E3E89-5F1C-40E4-AA8C-C770D0D4EC0B}" presName="Name37" presStyleLbl="parChTrans1D3" presStyleIdx="4" presStyleCnt="24"/>
      <dgm:spPr/>
    </dgm:pt>
    <dgm:pt modelId="{979D0F69-048F-4FD7-8D84-579617BAA209}" type="pres">
      <dgm:prSet presAssocID="{9BC776CC-AB87-42A0-8E25-ADBBFB5F2787}" presName="hierRoot2" presStyleCnt="0">
        <dgm:presLayoutVars>
          <dgm:hierBranch val="init"/>
        </dgm:presLayoutVars>
      </dgm:prSet>
      <dgm:spPr/>
    </dgm:pt>
    <dgm:pt modelId="{D2559A1B-C67D-40C0-9240-F9C150DD271E}" type="pres">
      <dgm:prSet presAssocID="{9BC776CC-AB87-42A0-8E25-ADBBFB5F2787}" presName="rootComposite" presStyleCnt="0"/>
      <dgm:spPr/>
    </dgm:pt>
    <dgm:pt modelId="{9E9BFEBE-23AB-429E-8C81-8D6493D22D50}" type="pres">
      <dgm:prSet presAssocID="{9BC776CC-AB87-42A0-8E25-ADBBFB5F2787}" presName="rootText" presStyleLbl="node3" presStyleIdx="4" presStyleCnt="24">
        <dgm:presLayoutVars>
          <dgm:chPref val="3"/>
        </dgm:presLayoutVars>
      </dgm:prSet>
      <dgm:spPr/>
    </dgm:pt>
    <dgm:pt modelId="{A1FD422C-D95F-4138-97DD-817F59934CE2}" type="pres">
      <dgm:prSet presAssocID="{9BC776CC-AB87-42A0-8E25-ADBBFB5F2787}" presName="rootConnector" presStyleLbl="node3" presStyleIdx="4" presStyleCnt="24"/>
      <dgm:spPr/>
    </dgm:pt>
    <dgm:pt modelId="{AD69893D-195D-4032-B559-EF3FCD209623}" type="pres">
      <dgm:prSet presAssocID="{9BC776CC-AB87-42A0-8E25-ADBBFB5F2787}" presName="hierChild4" presStyleCnt="0"/>
      <dgm:spPr/>
    </dgm:pt>
    <dgm:pt modelId="{42ED0920-D295-4100-8871-269E4CF9E521}" type="pres">
      <dgm:prSet presAssocID="{9BC776CC-AB87-42A0-8E25-ADBBFB5F2787}" presName="hierChild5" presStyleCnt="0"/>
      <dgm:spPr/>
    </dgm:pt>
    <dgm:pt modelId="{E6795F6F-5D4D-46D5-ADD7-3D0D44776128}" type="pres">
      <dgm:prSet presAssocID="{6F0C1CA7-961F-48EB-9A9C-8C0C70543D66}" presName="Name37" presStyleLbl="parChTrans1D3" presStyleIdx="5" presStyleCnt="24"/>
      <dgm:spPr/>
    </dgm:pt>
    <dgm:pt modelId="{A6890348-ED87-48E4-A777-1A4BA416D785}" type="pres">
      <dgm:prSet presAssocID="{25FAB315-387D-4484-9128-40EC84067B82}" presName="hierRoot2" presStyleCnt="0">
        <dgm:presLayoutVars>
          <dgm:hierBranch val="init"/>
        </dgm:presLayoutVars>
      </dgm:prSet>
      <dgm:spPr/>
    </dgm:pt>
    <dgm:pt modelId="{34F3D865-DC68-46E7-B76F-0A832638A40F}" type="pres">
      <dgm:prSet presAssocID="{25FAB315-387D-4484-9128-40EC84067B82}" presName="rootComposite" presStyleCnt="0"/>
      <dgm:spPr/>
    </dgm:pt>
    <dgm:pt modelId="{2EC15357-35F3-4BD0-A049-4F622B56EB47}" type="pres">
      <dgm:prSet presAssocID="{25FAB315-387D-4484-9128-40EC84067B82}" presName="rootText" presStyleLbl="node3" presStyleIdx="5" presStyleCnt="24">
        <dgm:presLayoutVars>
          <dgm:chPref val="3"/>
        </dgm:presLayoutVars>
      </dgm:prSet>
      <dgm:spPr/>
    </dgm:pt>
    <dgm:pt modelId="{04456141-915C-4E53-B02A-B5417B2DE2CF}" type="pres">
      <dgm:prSet presAssocID="{25FAB315-387D-4484-9128-40EC84067B82}" presName="rootConnector" presStyleLbl="node3" presStyleIdx="5" presStyleCnt="24"/>
      <dgm:spPr/>
    </dgm:pt>
    <dgm:pt modelId="{491279D2-99D5-4B5F-8911-CB4E27F66D70}" type="pres">
      <dgm:prSet presAssocID="{25FAB315-387D-4484-9128-40EC84067B82}" presName="hierChild4" presStyleCnt="0"/>
      <dgm:spPr/>
    </dgm:pt>
    <dgm:pt modelId="{2F43953A-63AB-4A08-B342-F58C2D8E57AA}" type="pres">
      <dgm:prSet presAssocID="{25FAB315-387D-4484-9128-40EC84067B82}" presName="hierChild5" presStyleCnt="0"/>
      <dgm:spPr/>
    </dgm:pt>
    <dgm:pt modelId="{65CC15BF-39D5-4E6C-8426-640004B4960A}" type="pres">
      <dgm:prSet presAssocID="{FF729534-1886-4F64-A929-8A5ADE708FCE}" presName="hierChild5" presStyleCnt="0"/>
      <dgm:spPr/>
    </dgm:pt>
    <dgm:pt modelId="{B1BF024B-EA5A-442F-AEA5-2733E14018A0}" type="pres">
      <dgm:prSet presAssocID="{D5C4AEF2-C4E7-4BE9-9BC3-4EEB2B4FFCB4}" presName="Name37" presStyleLbl="parChTrans1D2" presStyleIdx="3" presStyleCnt="9"/>
      <dgm:spPr/>
    </dgm:pt>
    <dgm:pt modelId="{4F19EC3F-70D6-4BEA-AC2A-7E3C81D732D0}" type="pres">
      <dgm:prSet presAssocID="{CEB5D414-BD56-49FE-95CD-D08C7C923DCB}" presName="hierRoot2" presStyleCnt="0">
        <dgm:presLayoutVars>
          <dgm:hierBranch val="init"/>
        </dgm:presLayoutVars>
      </dgm:prSet>
      <dgm:spPr/>
    </dgm:pt>
    <dgm:pt modelId="{74977400-462F-4FBC-9E56-55B33639472B}" type="pres">
      <dgm:prSet presAssocID="{CEB5D414-BD56-49FE-95CD-D08C7C923DCB}" presName="rootComposite" presStyleCnt="0"/>
      <dgm:spPr/>
    </dgm:pt>
    <dgm:pt modelId="{ACFD3F8D-39CB-4CFC-BFE0-2A96209F07EA}" type="pres">
      <dgm:prSet presAssocID="{CEB5D414-BD56-49FE-95CD-D08C7C923DCB}" presName="rootText" presStyleLbl="node2" presStyleIdx="3" presStyleCnt="9">
        <dgm:presLayoutVars>
          <dgm:chPref val="3"/>
        </dgm:presLayoutVars>
      </dgm:prSet>
      <dgm:spPr/>
    </dgm:pt>
    <dgm:pt modelId="{9B3DF806-B6B3-4230-B0D7-552C169BBE56}" type="pres">
      <dgm:prSet presAssocID="{CEB5D414-BD56-49FE-95CD-D08C7C923DCB}" presName="rootConnector" presStyleLbl="node2" presStyleIdx="3" presStyleCnt="9"/>
      <dgm:spPr/>
    </dgm:pt>
    <dgm:pt modelId="{822FBE6F-3E38-4640-8FCA-182E1FA30744}" type="pres">
      <dgm:prSet presAssocID="{CEB5D414-BD56-49FE-95CD-D08C7C923DCB}" presName="hierChild4" presStyleCnt="0"/>
      <dgm:spPr/>
    </dgm:pt>
    <dgm:pt modelId="{BAF683CB-429F-4A31-A42E-5903D785894F}" type="pres">
      <dgm:prSet presAssocID="{2EEFA0A1-976F-4C56-934F-B1FC9CEFC9EE}" presName="Name37" presStyleLbl="parChTrans1D3" presStyleIdx="6" presStyleCnt="24"/>
      <dgm:spPr/>
    </dgm:pt>
    <dgm:pt modelId="{6DAC5B66-07A9-493D-9D9E-6EBCA4A8EFFF}" type="pres">
      <dgm:prSet presAssocID="{60B4DF0C-C877-4E37-AB0F-016DBDC3D2A6}" presName="hierRoot2" presStyleCnt="0">
        <dgm:presLayoutVars>
          <dgm:hierBranch val="init"/>
        </dgm:presLayoutVars>
      </dgm:prSet>
      <dgm:spPr/>
    </dgm:pt>
    <dgm:pt modelId="{9D4BFC0D-2A28-44F8-9FE6-4886F42B1C8E}" type="pres">
      <dgm:prSet presAssocID="{60B4DF0C-C877-4E37-AB0F-016DBDC3D2A6}" presName="rootComposite" presStyleCnt="0"/>
      <dgm:spPr/>
    </dgm:pt>
    <dgm:pt modelId="{191EF088-D890-4A19-AA53-35FB04A5FB58}" type="pres">
      <dgm:prSet presAssocID="{60B4DF0C-C877-4E37-AB0F-016DBDC3D2A6}" presName="rootText" presStyleLbl="node3" presStyleIdx="6" presStyleCnt="24">
        <dgm:presLayoutVars>
          <dgm:chPref val="3"/>
        </dgm:presLayoutVars>
      </dgm:prSet>
      <dgm:spPr/>
    </dgm:pt>
    <dgm:pt modelId="{40372FF0-F74F-428F-A27A-B2D38C53D1E2}" type="pres">
      <dgm:prSet presAssocID="{60B4DF0C-C877-4E37-AB0F-016DBDC3D2A6}" presName="rootConnector" presStyleLbl="node3" presStyleIdx="6" presStyleCnt="24"/>
      <dgm:spPr/>
    </dgm:pt>
    <dgm:pt modelId="{3E152B27-0DCE-49AD-B468-995B22F140AB}" type="pres">
      <dgm:prSet presAssocID="{60B4DF0C-C877-4E37-AB0F-016DBDC3D2A6}" presName="hierChild4" presStyleCnt="0"/>
      <dgm:spPr/>
    </dgm:pt>
    <dgm:pt modelId="{458AB4BD-C0D1-4136-85DD-B2F2A70392F4}" type="pres">
      <dgm:prSet presAssocID="{60B4DF0C-C877-4E37-AB0F-016DBDC3D2A6}" presName="hierChild5" presStyleCnt="0"/>
      <dgm:spPr/>
    </dgm:pt>
    <dgm:pt modelId="{E0BF04FB-8BAD-4562-883B-9329CDCEBB9F}" type="pres">
      <dgm:prSet presAssocID="{BCDDF0C5-3D39-4789-B5E4-EB908C53D7DA}" presName="Name37" presStyleLbl="parChTrans1D3" presStyleIdx="7" presStyleCnt="24"/>
      <dgm:spPr/>
    </dgm:pt>
    <dgm:pt modelId="{3185C20B-CA30-4511-B15B-03293975E084}" type="pres">
      <dgm:prSet presAssocID="{2B9F6DFA-F00E-4EC5-AD3E-27E5816EEA8E}" presName="hierRoot2" presStyleCnt="0">
        <dgm:presLayoutVars>
          <dgm:hierBranch val="init"/>
        </dgm:presLayoutVars>
      </dgm:prSet>
      <dgm:spPr/>
    </dgm:pt>
    <dgm:pt modelId="{1F60C90F-D68F-4DF9-AE82-2B297BD179D5}" type="pres">
      <dgm:prSet presAssocID="{2B9F6DFA-F00E-4EC5-AD3E-27E5816EEA8E}" presName="rootComposite" presStyleCnt="0"/>
      <dgm:spPr/>
    </dgm:pt>
    <dgm:pt modelId="{CFBD1D01-F075-4382-BEE0-68186F685F4A}" type="pres">
      <dgm:prSet presAssocID="{2B9F6DFA-F00E-4EC5-AD3E-27E5816EEA8E}" presName="rootText" presStyleLbl="node3" presStyleIdx="7" presStyleCnt="24">
        <dgm:presLayoutVars>
          <dgm:chPref val="3"/>
        </dgm:presLayoutVars>
      </dgm:prSet>
      <dgm:spPr/>
    </dgm:pt>
    <dgm:pt modelId="{D58A00FA-3720-44B5-B88F-6857B6FB368F}" type="pres">
      <dgm:prSet presAssocID="{2B9F6DFA-F00E-4EC5-AD3E-27E5816EEA8E}" presName="rootConnector" presStyleLbl="node3" presStyleIdx="7" presStyleCnt="24"/>
      <dgm:spPr/>
    </dgm:pt>
    <dgm:pt modelId="{8FC2F248-0795-4B42-A073-7F17D8E4898F}" type="pres">
      <dgm:prSet presAssocID="{2B9F6DFA-F00E-4EC5-AD3E-27E5816EEA8E}" presName="hierChild4" presStyleCnt="0"/>
      <dgm:spPr/>
    </dgm:pt>
    <dgm:pt modelId="{66A7CB1C-76BF-4D5A-BB3E-8CDCC24DDC6F}" type="pres">
      <dgm:prSet presAssocID="{2B9F6DFA-F00E-4EC5-AD3E-27E5816EEA8E}" presName="hierChild5" presStyleCnt="0"/>
      <dgm:spPr/>
    </dgm:pt>
    <dgm:pt modelId="{22A89140-BC30-48A4-95BF-35EEB54E49AA}" type="pres">
      <dgm:prSet presAssocID="{FA1DA8D2-3F9A-4E4E-A9A4-2173D09F6EBD}" presName="Name37" presStyleLbl="parChTrans1D3" presStyleIdx="8" presStyleCnt="24"/>
      <dgm:spPr/>
    </dgm:pt>
    <dgm:pt modelId="{B7FA660E-E048-4E9C-B9CD-C954D96581E5}" type="pres">
      <dgm:prSet presAssocID="{F4E374AF-D540-48E7-941E-F1DAD6307ABA}" presName="hierRoot2" presStyleCnt="0">
        <dgm:presLayoutVars>
          <dgm:hierBranch val="init"/>
        </dgm:presLayoutVars>
      </dgm:prSet>
      <dgm:spPr/>
    </dgm:pt>
    <dgm:pt modelId="{5DC9443D-28A1-48B7-A9F1-6EC71EF09F65}" type="pres">
      <dgm:prSet presAssocID="{F4E374AF-D540-48E7-941E-F1DAD6307ABA}" presName="rootComposite" presStyleCnt="0"/>
      <dgm:spPr/>
    </dgm:pt>
    <dgm:pt modelId="{66ED2E77-2CCD-4656-9188-7BB5DD746C5C}" type="pres">
      <dgm:prSet presAssocID="{F4E374AF-D540-48E7-941E-F1DAD6307ABA}" presName="rootText" presStyleLbl="node3" presStyleIdx="8" presStyleCnt="24">
        <dgm:presLayoutVars>
          <dgm:chPref val="3"/>
        </dgm:presLayoutVars>
      </dgm:prSet>
      <dgm:spPr/>
    </dgm:pt>
    <dgm:pt modelId="{DD5B6FA5-E66C-41AA-BB01-7661B4A39B13}" type="pres">
      <dgm:prSet presAssocID="{F4E374AF-D540-48E7-941E-F1DAD6307ABA}" presName="rootConnector" presStyleLbl="node3" presStyleIdx="8" presStyleCnt="24"/>
      <dgm:spPr/>
    </dgm:pt>
    <dgm:pt modelId="{66CE9F65-7AA7-4967-AE82-F2AB219533D6}" type="pres">
      <dgm:prSet presAssocID="{F4E374AF-D540-48E7-941E-F1DAD6307ABA}" presName="hierChild4" presStyleCnt="0"/>
      <dgm:spPr/>
    </dgm:pt>
    <dgm:pt modelId="{504DA99C-D2F8-48C9-A011-B19433E1D4C9}" type="pres">
      <dgm:prSet presAssocID="{F4E374AF-D540-48E7-941E-F1DAD6307ABA}" presName="hierChild5" presStyleCnt="0"/>
      <dgm:spPr/>
    </dgm:pt>
    <dgm:pt modelId="{EB15420E-A397-42EF-B5BB-DA81D71F5AE2}" type="pres">
      <dgm:prSet presAssocID="{CEB5D414-BD56-49FE-95CD-D08C7C923DCB}" presName="hierChild5" presStyleCnt="0"/>
      <dgm:spPr/>
    </dgm:pt>
    <dgm:pt modelId="{4B2D3861-D796-46EC-9AB9-5C6DF11B5468}" type="pres">
      <dgm:prSet presAssocID="{712E2512-70B1-4EF4-8867-8E122F16D629}" presName="Name37" presStyleLbl="parChTrans1D2" presStyleIdx="4" presStyleCnt="9"/>
      <dgm:spPr/>
    </dgm:pt>
    <dgm:pt modelId="{FA93FBAA-CB0E-40FB-85C9-DFC04090EF11}" type="pres">
      <dgm:prSet presAssocID="{A3DB62F2-9813-476C-97E8-7B2ABDA3CA54}" presName="hierRoot2" presStyleCnt="0">
        <dgm:presLayoutVars>
          <dgm:hierBranch val="init"/>
        </dgm:presLayoutVars>
      </dgm:prSet>
      <dgm:spPr/>
    </dgm:pt>
    <dgm:pt modelId="{1BD31237-C732-4B03-B9D9-EE21B1CEBD97}" type="pres">
      <dgm:prSet presAssocID="{A3DB62F2-9813-476C-97E8-7B2ABDA3CA54}" presName="rootComposite" presStyleCnt="0"/>
      <dgm:spPr/>
    </dgm:pt>
    <dgm:pt modelId="{68FDCE8A-74BA-4242-A5E1-62DF02479D81}" type="pres">
      <dgm:prSet presAssocID="{A3DB62F2-9813-476C-97E8-7B2ABDA3CA54}" presName="rootText" presStyleLbl="node2" presStyleIdx="4" presStyleCnt="9">
        <dgm:presLayoutVars>
          <dgm:chPref val="3"/>
        </dgm:presLayoutVars>
      </dgm:prSet>
      <dgm:spPr/>
    </dgm:pt>
    <dgm:pt modelId="{3AD060C3-24F3-446E-9D3D-17BC48AAE0CD}" type="pres">
      <dgm:prSet presAssocID="{A3DB62F2-9813-476C-97E8-7B2ABDA3CA54}" presName="rootConnector" presStyleLbl="node2" presStyleIdx="4" presStyleCnt="9"/>
      <dgm:spPr/>
    </dgm:pt>
    <dgm:pt modelId="{2AB5EDC7-EB8A-493B-9017-D61FD415E6F9}" type="pres">
      <dgm:prSet presAssocID="{A3DB62F2-9813-476C-97E8-7B2ABDA3CA54}" presName="hierChild4" presStyleCnt="0"/>
      <dgm:spPr/>
    </dgm:pt>
    <dgm:pt modelId="{F979419F-BBBE-4939-A361-D2BC40131155}" type="pres">
      <dgm:prSet presAssocID="{67B5C9B5-8E14-415D-9E99-8A5E6720A7A2}" presName="Name37" presStyleLbl="parChTrans1D3" presStyleIdx="9" presStyleCnt="24"/>
      <dgm:spPr/>
    </dgm:pt>
    <dgm:pt modelId="{BE0F26D5-03F2-41E7-B2D6-0C308F353880}" type="pres">
      <dgm:prSet presAssocID="{412784EE-F535-4F77-A1DC-FF495A323EC6}" presName="hierRoot2" presStyleCnt="0">
        <dgm:presLayoutVars>
          <dgm:hierBranch val="init"/>
        </dgm:presLayoutVars>
      </dgm:prSet>
      <dgm:spPr/>
    </dgm:pt>
    <dgm:pt modelId="{6C44D25D-AF3D-431A-98D5-F1B993BA24A3}" type="pres">
      <dgm:prSet presAssocID="{412784EE-F535-4F77-A1DC-FF495A323EC6}" presName="rootComposite" presStyleCnt="0"/>
      <dgm:spPr/>
    </dgm:pt>
    <dgm:pt modelId="{E552414D-09AB-43E3-AA9F-5686EF22A9F6}" type="pres">
      <dgm:prSet presAssocID="{412784EE-F535-4F77-A1DC-FF495A323EC6}" presName="rootText" presStyleLbl="node3" presStyleIdx="9" presStyleCnt="24">
        <dgm:presLayoutVars>
          <dgm:chPref val="3"/>
        </dgm:presLayoutVars>
      </dgm:prSet>
      <dgm:spPr/>
    </dgm:pt>
    <dgm:pt modelId="{FFD65671-79B2-4EF0-B5DD-A7B9D437E823}" type="pres">
      <dgm:prSet presAssocID="{412784EE-F535-4F77-A1DC-FF495A323EC6}" presName="rootConnector" presStyleLbl="node3" presStyleIdx="9" presStyleCnt="24"/>
      <dgm:spPr/>
    </dgm:pt>
    <dgm:pt modelId="{C36A256F-A4B3-4AFA-BA8F-B87BBD17C210}" type="pres">
      <dgm:prSet presAssocID="{412784EE-F535-4F77-A1DC-FF495A323EC6}" presName="hierChild4" presStyleCnt="0"/>
      <dgm:spPr/>
    </dgm:pt>
    <dgm:pt modelId="{E2D0D636-F934-45BC-8F8B-BB0CB01FD2A4}" type="pres">
      <dgm:prSet presAssocID="{412784EE-F535-4F77-A1DC-FF495A323EC6}" presName="hierChild5" presStyleCnt="0"/>
      <dgm:spPr/>
    </dgm:pt>
    <dgm:pt modelId="{C9C4C1A7-A55D-4394-94ED-1905B40AE921}" type="pres">
      <dgm:prSet presAssocID="{A81119F6-BAF0-4694-B2CA-B07E78C0D888}" presName="Name37" presStyleLbl="parChTrans1D3" presStyleIdx="10" presStyleCnt="24"/>
      <dgm:spPr/>
    </dgm:pt>
    <dgm:pt modelId="{97C4B190-E6BC-4CB0-BC9A-17CFFB44CAFE}" type="pres">
      <dgm:prSet presAssocID="{F89261D8-EAB2-4B29-BE1C-8A7BF359CCE7}" presName="hierRoot2" presStyleCnt="0">
        <dgm:presLayoutVars>
          <dgm:hierBranch val="init"/>
        </dgm:presLayoutVars>
      </dgm:prSet>
      <dgm:spPr/>
    </dgm:pt>
    <dgm:pt modelId="{9D0176E7-338F-4724-A42B-B955DBF9FDAD}" type="pres">
      <dgm:prSet presAssocID="{F89261D8-EAB2-4B29-BE1C-8A7BF359CCE7}" presName="rootComposite" presStyleCnt="0"/>
      <dgm:spPr/>
    </dgm:pt>
    <dgm:pt modelId="{4F841898-D09A-47EC-BF3D-8108C84A1C78}" type="pres">
      <dgm:prSet presAssocID="{F89261D8-EAB2-4B29-BE1C-8A7BF359CCE7}" presName="rootText" presStyleLbl="node3" presStyleIdx="10" presStyleCnt="24">
        <dgm:presLayoutVars>
          <dgm:chPref val="3"/>
        </dgm:presLayoutVars>
      </dgm:prSet>
      <dgm:spPr/>
    </dgm:pt>
    <dgm:pt modelId="{DE8A3D40-A3AA-474D-96BB-EA45C260B70C}" type="pres">
      <dgm:prSet presAssocID="{F89261D8-EAB2-4B29-BE1C-8A7BF359CCE7}" presName="rootConnector" presStyleLbl="node3" presStyleIdx="10" presStyleCnt="24"/>
      <dgm:spPr/>
    </dgm:pt>
    <dgm:pt modelId="{A7F94900-B273-42A9-B6B3-DC586CE7B944}" type="pres">
      <dgm:prSet presAssocID="{F89261D8-EAB2-4B29-BE1C-8A7BF359CCE7}" presName="hierChild4" presStyleCnt="0"/>
      <dgm:spPr/>
    </dgm:pt>
    <dgm:pt modelId="{096F3C7D-1745-4CBC-B229-62FC79B1C4A2}" type="pres">
      <dgm:prSet presAssocID="{F89261D8-EAB2-4B29-BE1C-8A7BF359CCE7}" presName="hierChild5" presStyleCnt="0"/>
      <dgm:spPr/>
    </dgm:pt>
    <dgm:pt modelId="{409B3DCC-AC84-4F09-A3A4-B632A6DF2532}" type="pres">
      <dgm:prSet presAssocID="{3C7E1877-40CD-4EAD-90EB-D575D215F2F0}" presName="Name37" presStyleLbl="parChTrans1D3" presStyleIdx="11" presStyleCnt="24"/>
      <dgm:spPr/>
    </dgm:pt>
    <dgm:pt modelId="{8F4D80AA-4A87-466A-8F8D-EC78206E473E}" type="pres">
      <dgm:prSet presAssocID="{BA5113C5-6926-4A6C-9800-C9A06DAA9400}" presName="hierRoot2" presStyleCnt="0">
        <dgm:presLayoutVars>
          <dgm:hierBranch val="init"/>
        </dgm:presLayoutVars>
      </dgm:prSet>
      <dgm:spPr/>
    </dgm:pt>
    <dgm:pt modelId="{74A86B4A-2086-4E16-872A-0E93E5BA2F0F}" type="pres">
      <dgm:prSet presAssocID="{BA5113C5-6926-4A6C-9800-C9A06DAA9400}" presName="rootComposite" presStyleCnt="0"/>
      <dgm:spPr/>
    </dgm:pt>
    <dgm:pt modelId="{B9D7B0F5-0796-43C1-A1BE-8F5BCFF9A160}" type="pres">
      <dgm:prSet presAssocID="{BA5113C5-6926-4A6C-9800-C9A06DAA9400}" presName="rootText" presStyleLbl="node3" presStyleIdx="11" presStyleCnt="24">
        <dgm:presLayoutVars>
          <dgm:chPref val="3"/>
        </dgm:presLayoutVars>
      </dgm:prSet>
      <dgm:spPr/>
    </dgm:pt>
    <dgm:pt modelId="{4519071D-2828-42AB-AF88-4254A8D39F29}" type="pres">
      <dgm:prSet presAssocID="{BA5113C5-6926-4A6C-9800-C9A06DAA9400}" presName="rootConnector" presStyleLbl="node3" presStyleIdx="11" presStyleCnt="24"/>
      <dgm:spPr/>
    </dgm:pt>
    <dgm:pt modelId="{431707F3-2E39-4093-8D9A-91EA515D2655}" type="pres">
      <dgm:prSet presAssocID="{BA5113C5-6926-4A6C-9800-C9A06DAA9400}" presName="hierChild4" presStyleCnt="0"/>
      <dgm:spPr/>
    </dgm:pt>
    <dgm:pt modelId="{35E4D13F-039D-480F-B2DB-DD38697A4488}" type="pres">
      <dgm:prSet presAssocID="{BA5113C5-6926-4A6C-9800-C9A06DAA9400}" presName="hierChild5" presStyleCnt="0"/>
      <dgm:spPr/>
    </dgm:pt>
    <dgm:pt modelId="{AE358B96-0E6A-4166-8A95-07F3165684AB}" type="pres">
      <dgm:prSet presAssocID="{FA3210CA-CBC1-483E-A269-FFD86B8AFEF1}" presName="Name37" presStyleLbl="parChTrans1D3" presStyleIdx="12" presStyleCnt="24"/>
      <dgm:spPr/>
    </dgm:pt>
    <dgm:pt modelId="{5917A00B-4D8E-421A-B87B-4E3044B4A140}" type="pres">
      <dgm:prSet presAssocID="{A2EC6236-D6BF-4E34-B4E1-71A2B17A7A5D}" presName="hierRoot2" presStyleCnt="0">
        <dgm:presLayoutVars>
          <dgm:hierBranch val="init"/>
        </dgm:presLayoutVars>
      </dgm:prSet>
      <dgm:spPr/>
    </dgm:pt>
    <dgm:pt modelId="{59719AD2-CF75-453F-9A65-AAD8143CDF26}" type="pres">
      <dgm:prSet presAssocID="{A2EC6236-D6BF-4E34-B4E1-71A2B17A7A5D}" presName="rootComposite" presStyleCnt="0"/>
      <dgm:spPr/>
    </dgm:pt>
    <dgm:pt modelId="{F42873CF-C6CB-42E0-BCCC-474F4EC3BE61}" type="pres">
      <dgm:prSet presAssocID="{A2EC6236-D6BF-4E34-B4E1-71A2B17A7A5D}" presName="rootText" presStyleLbl="node3" presStyleIdx="12" presStyleCnt="24">
        <dgm:presLayoutVars>
          <dgm:chPref val="3"/>
        </dgm:presLayoutVars>
      </dgm:prSet>
      <dgm:spPr/>
    </dgm:pt>
    <dgm:pt modelId="{9A6212AE-B718-4B5B-B22A-5A42544F2E0A}" type="pres">
      <dgm:prSet presAssocID="{A2EC6236-D6BF-4E34-B4E1-71A2B17A7A5D}" presName="rootConnector" presStyleLbl="node3" presStyleIdx="12" presStyleCnt="24"/>
      <dgm:spPr/>
    </dgm:pt>
    <dgm:pt modelId="{3D7F1533-58E5-4651-AABA-278036E867A8}" type="pres">
      <dgm:prSet presAssocID="{A2EC6236-D6BF-4E34-B4E1-71A2B17A7A5D}" presName="hierChild4" presStyleCnt="0"/>
      <dgm:spPr/>
    </dgm:pt>
    <dgm:pt modelId="{E5EAA330-733C-41E6-A4C5-F4F6A6EECCF7}" type="pres">
      <dgm:prSet presAssocID="{A2EC6236-D6BF-4E34-B4E1-71A2B17A7A5D}" presName="hierChild5" presStyleCnt="0"/>
      <dgm:spPr/>
    </dgm:pt>
    <dgm:pt modelId="{660A1036-0E5F-487C-B108-F6D4DCECA214}" type="pres">
      <dgm:prSet presAssocID="{A3DB62F2-9813-476C-97E8-7B2ABDA3CA54}" presName="hierChild5" presStyleCnt="0"/>
      <dgm:spPr/>
    </dgm:pt>
    <dgm:pt modelId="{378DE9DB-7EF7-4A00-BEA3-426BC6E8E958}" type="pres">
      <dgm:prSet presAssocID="{B313CDA0-D7A2-475B-8B30-85AE879D61B4}" presName="Name37" presStyleLbl="parChTrans1D2" presStyleIdx="5" presStyleCnt="9"/>
      <dgm:spPr/>
    </dgm:pt>
    <dgm:pt modelId="{1C23B115-D24C-4A02-8B00-1A137F711985}" type="pres">
      <dgm:prSet presAssocID="{CF93F3A8-A199-4DCB-8C9B-ED123C32F761}" presName="hierRoot2" presStyleCnt="0">
        <dgm:presLayoutVars>
          <dgm:hierBranch val="init"/>
        </dgm:presLayoutVars>
      </dgm:prSet>
      <dgm:spPr/>
    </dgm:pt>
    <dgm:pt modelId="{AC776C1D-6421-403F-AAF5-7449EE1A43F6}" type="pres">
      <dgm:prSet presAssocID="{CF93F3A8-A199-4DCB-8C9B-ED123C32F761}" presName="rootComposite" presStyleCnt="0"/>
      <dgm:spPr/>
    </dgm:pt>
    <dgm:pt modelId="{BBC10E2B-9419-45E5-9F53-55705D0E1437}" type="pres">
      <dgm:prSet presAssocID="{CF93F3A8-A199-4DCB-8C9B-ED123C32F761}" presName="rootText" presStyleLbl="node2" presStyleIdx="5" presStyleCnt="9">
        <dgm:presLayoutVars>
          <dgm:chPref val="3"/>
        </dgm:presLayoutVars>
      </dgm:prSet>
      <dgm:spPr/>
    </dgm:pt>
    <dgm:pt modelId="{4C17A7A1-B0CC-4F1D-86F8-5891FCCC4DA6}" type="pres">
      <dgm:prSet presAssocID="{CF93F3A8-A199-4DCB-8C9B-ED123C32F761}" presName="rootConnector" presStyleLbl="node2" presStyleIdx="5" presStyleCnt="9"/>
      <dgm:spPr/>
    </dgm:pt>
    <dgm:pt modelId="{7714C6AE-3515-4968-A8E2-DD46C1994A86}" type="pres">
      <dgm:prSet presAssocID="{CF93F3A8-A199-4DCB-8C9B-ED123C32F761}" presName="hierChild4" presStyleCnt="0"/>
      <dgm:spPr/>
    </dgm:pt>
    <dgm:pt modelId="{4F3CB06F-B2BB-49AF-B073-18697E555B53}" type="pres">
      <dgm:prSet presAssocID="{6B01E1E4-D5B1-4EA5-BA6B-132A76B8B839}" presName="Name37" presStyleLbl="parChTrans1D3" presStyleIdx="13" presStyleCnt="24"/>
      <dgm:spPr/>
    </dgm:pt>
    <dgm:pt modelId="{A4E9B1C1-A337-48DF-9467-B807AB9258A1}" type="pres">
      <dgm:prSet presAssocID="{FFA89972-E794-4C6D-B1AE-4D51D6B210EB}" presName="hierRoot2" presStyleCnt="0">
        <dgm:presLayoutVars>
          <dgm:hierBranch val="init"/>
        </dgm:presLayoutVars>
      </dgm:prSet>
      <dgm:spPr/>
    </dgm:pt>
    <dgm:pt modelId="{29E59F4A-6E49-4B4D-85BD-1DA53E4D3D0F}" type="pres">
      <dgm:prSet presAssocID="{FFA89972-E794-4C6D-B1AE-4D51D6B210EB}" presName="rootComposite" presStyleCnt="0"/>
      <dgm:spPr/>
    </dgm:pt>
    <dgm:pt modelId="{ADA03ACF-7B48-433C-B4A7-4E97F67420A7}" type="pres">
      <dgm:prSet presAssocID="{FFA89972-E794-4C6D-B1AE-4D51D6B210EB}" presName="rootText" presStyleLbl="node3" presStyleIdx="13" presStyleCnt="24">
        <dgm:presLayoutVars>
          <dgm:chPref val="3"/>
        </dgm:presLayoutVars>
      </dgm:prSet>
      <dgm:spPr/>
    </dgm:pt>
    <dgm:pt modelId="{7A94F51F-20FB-4837-B421-CE64737F478C}" type="pres">
      <dgm:prSet presAssocID="{FFA89972-E794-4C6D-B1AE-4D51D6B210EB}" presName="rootConnector" presStyleLbl="node3" presStyleIdx="13" presStyleCnt="24"/>
      <dgm:spPr/>
    </dgm:pt>
    <dgm:pt modelId="{390CFF60-64F5-41F5-9026-8E6B42887289}" type="pres">
      <dgm:prSet presAssocID="{FFA89972-E794-4C6D-B1AE-4D51D6B210EB}" presName="hierChild4" presStyleCnt="0"/>
      <dgm:spPr/>
    </dgm:pt>
    <dgm:pt modelId="{65B6DFE7-AE51-4EFB-9D49-28EA6E41DE57}" type="pres">
      <dgm:prSet presAssocID="{FFA89972-E794-4C6D-B1AE-4D51D6B210EB}" presName="hierChild5" presStyleCnt="0"/>
      <dgm:spPr/>
    </dgm:pt>
    <dgm:pt modelId="{E1D9ECE0-21BC-467A-9023-8A07E8468D11}" type="pres">
      <dgm:prSet presAssocID="{CF93F3A8-A199-4DCB-8C9B-ED123C32F761}" presName="hierChild5" presStyleCnt="0"/>
      <dgm:spPr/>
    </dgm:pt>
    <dgm:pt modelId="{05A22666-D5A3-429F-886F-6906E280CED9}" type="pres">
      <dgm:prSet presAssocID="{1EC114AF-0C2C-4CF0-8370-25641EFC99B0}" presName="Name37" presStyleLbl="parChTrans1D2" presStyleIdx="6" presStyleCnt="9"/>
      <dgm:spPr/>
    </dgm:pt>
    <dgm:pt modelId="{4287BFA2-DBA3-469E-9AB4-22CB07C1CA02}" type="pres">
      <dgm:prSet presAssocID="{7B44E0EB-867C-4591-B62F-3845C3F48078}" presName="hierRoot2" presStyleCnt="0">
        <dgm:presLayoutVars>
          <dgm:hierBranch val="init"/>
        </dgm:presLayoutVars>
      </dgm:prSet>
      <dgm:spPr/>
    </dgm:pt>
    <dgm:pt modelId="{1A4BDE07-B7F6-4575-9155-B51E9544C083}" type="pres">
      <dgm:prSet presAssocID="{7B44E0EB-867C-4591-B62F-3845C3F48078}" presName="rootComposite" presStyleCnt="0"/>
      <dgm:spPr/>
    </dgm:pt>
    <dgm:pt modelId="{62DF4774-53BE-4613-95D0-E552EE1105FD}" type="pres">
      <dgm:prSet presAssocID="{7B44E0EB-867C-4591-B62F-3845C3F48078}" presName="rootText" presStyleLbl="node2" presStyleIdx="6" presStyleCnt="9">
        <dgm:presLayoutVars>
          <dgm:chPref val="3"/>
        </dgm:presLayoutVars>
      </dgm:prSet>
      <dgm:spPr/>
    </dgm:pt>
    <dgm:pt modelId="{411AB05C-2210-4B78-BD59-70E13E871936}" type="pres">
      <dgm:prSet presAssocID="{7B44E0EB-867C-4591-B62F-3845C3F48078}" presName="rootConnector" presStyleLbl="node2" presStyleIdx="6" presStyleCnt="9"/>
      <dgm:spPr/>
    </dgm:pt>
    <dgm:pt modelId="{81FA0B0A-85CC-4113-9165-48A285D0762B}" type="pres">
      <dgm:prSet presAssocID="{7B44E0EB-867C-4591-B62F-3845C3F48078}" presName="hierChild4" presStyleCnt="0"/>
      <dgm:spPr/>
    </dgm:pt>
    <dgm:pt modelId="{9CFC0F5E-0F11-4B8C-8A6D-81BF843D9A09}" type="pres">
      <dgm:prSet presAssocID="{7A4DD0D4-B57C-4E13-9857-A4851474BFD3}" presName="Name37" presStyleLbl="parChTrans1D3" presStyleIdx="14" presStyleCnt="24"/>
      <dgm:spPr/>
    </dgm:pt>
    <dgm:pt modelId="{1180DA8F-947A-41B8-B9FE-07419025E297}" type="pres">
      <dgm:prSet presAssocID="{E3AAC849-A8DC-4A79-8256-C474B9DE8F53}" presName="hierRoot2" presStyleCnt="0">
        <dgm:presLayoutVars>
          <dgm:hierBranch val="init"/>
        </dgm:presLayoutVars>
      </dgm:prSet>
      <dgm:spPr/>
    </dgm:pt>
    <dgm:pt modelId="{DB30642C-375B-4470-913B-74841B141809}" type="pres">
      <dgm:prSet presAssocID="{E3AAC849-A8DC-4A79-8256-C474B9DE8F53}" presName="rootComposite" presStyleCnt="0"/>
      <dgm:spPr/>
    </dgm:pt>
    <dgm:pt modelId="{E9CD9785-8AB5-45CD-9E35-189CB562206C}" type="pres">
      <dgm:prSet presAssocID="{E3AAC849-A8DC-4A79-8256-C474B9DE8F53}" presName="rootText" presStyleLbl="node3" presStyleIdx="14" presStyleCnt="24">
        <dgm:presLayoutVars>
          <dgm:chPref val="3"/>
        </dgm:presLayoutVars>
      </dgm:prSet>
      <dgm:spPr/>
    </dgm:pt>
    <dgm:pt modelId="{FC4FCA74-3720-4AEC-9206-9E2F1BCFCEC4}" type="pres">
      <dgm:prSet presAssocID="{E3AAC849-A8DC-4A79-8256-C474B9DE8F53}" presName="rootConnector" presStyleLbl="node3" presStyleIdx="14" presStyleCnt="24"/>
      <dgm:spPr/>
    </dgm:pt>
    <dgm:pt modelId="{582E6BB2-120C-4FEE-BC44-491091360F86}" type="pres">
      <dgm:prSet presAssocID="{E3AAC849-A8DC-4A79-8256-C474B9DE8F53}" presName="hierChild4" presStyleCnt="0"/>
      <dgm:spPr/>
    </dgm:pt>
    <dgm:pt modelId="{EB2FDDB5-14EC-40A4-9D56-D8920DB8DEA5}" type="pres">
      <dgm:prSet presAssocID="{E3AAC849-A8DC-4A79-8256-C474B9DE8F53}" presName="hierChild5" presStyleCnt="0"/>
      <dgm:spPr/>
    </dgm:pt>
    <dgm:pt modelId="{3A7C0F19-0634-4BA3-9EC8-CD82F6DF7D67}" type="pres">
      <dgm:prSet presAssocID="{AEEC9DD9-AC7E-4695-B6AF-E85D402EA91C}" presName="Name37" presStyleLbl="parChTrans1D3" presStyleIdx="15" presStyleCnt="24"/>
      <dgm:spPr/>
    </dgm:pt>
    <dgm:pt modelId="{5E1D11FC-3288-4390-99BD-1ADB5BE6AC39}" type="pres">
      <dgm:prSet presAssocID="{E20476D2-5C90-4D5E-83D7-2A20CF8B1814}" presName="hierRoot2" presStyleCnt="0">
        <dgm:presLayoutVars>
          <dgm:hierBranch val="init"/>
        </dgm:presLayoutVars>
      </dgm:prSet>
      <dgm:spPr/>
    </dgm:pt>
    <dgm:pt modelId="{8C64372C-7738-4CFB-9AD5-06EB606F4E6E}" type="pres">
      <dgm:prSet presAssocID="{E20476D2-5C90-4D5E-83D7-2A20CF8B1814}" presName="rootComposite" presStyleCnt="0"/>
      <dgm:spPr/>
    </dgm:pt>
    <dgm:pt modelId="{2F93381F-BF45-4540-974B-126C8679ED43}" type="pres">
      <dgm:prSet presAssocID="{E20476D2-5C90-4D5E-83D7-2A20CF8B1814}" presName="rootText" presStyleLbl="node3" presStyleIdx="15" presStyleCnt="24">
        <dgm:presLayoutVars>
          <dgm:chPref val="3"/>
        </dgm:presLayoutVars>
      </dgm:prSet>
      <dgm:spPr/>
    </dgm:pt>
    <dgm:pt modelId="{FF4F2705-6765-4AD1-B9C3-B3BE37F332A2}" type="pres">
      <dgm:prSet presAssocID="{E20476D2-5C90-4D5E-83D7-2A20CF8B1814}" presName="rootConnector" presStyleLbl="node3" presStyleIdx="15" presStyleCnt="24"/>
      <dgm:spPr/>
    </dgm:pt>
    <dgm:pt modelId="{F3BE9EAF-333D-44BB-A3A0-958B4D29041E}" type="pres">
      <dgm:prSet presAssocID="{E20476D2-5C90-4D5E-83D7-2A20CF8B1814}" presName="hierChild4" presStyleCnt="0"/>
      <dgm:spPr/>
    </dgm:pt>
    <dgm:pt modelId="{595431AE-1F23-4EF0-A70E-F001C3824D90}" type="pres">
      <dgm:prSet presAssocID="{E20476D2-5C90-4D5E-83D7-2A20CF8B1814}" presName="hierChild5" presStyleCnt="0"/>
      <dgm:spPr/>
    </dgm:pt>
    <dgm:pt modelId="{A6D249A7-F6B6-47CB-99D2-0E9F843D4B1F}" type="pres">
      <dgm:prSet presAssocID="{BF87E38B-4176-4CC9-8047-383199751F99}" presName="Name37" presStyleLbl="parChTrans1D3" presStyleIdx="16" presStyleCnt="24"/>
      <dgm:spPr/>
    </dgm:pt>
    <dgm:pt modelId="{F64E9A68-DD89-48E8-9E1B-016792B48C0E}" type="pres">
      <dgm:prSet presAssocID="{1D6A2FFA-313D-4C1C-869D-2E28B4AF8665}" presName="hierRoot2" presStyleCnt="0">
        <dgm:presLayoutVars>
          <dgm:hierBranch val="init"/>
        </dgm:presLayoutVars>
      </dgm:prSet>
      <dgm:spPr/>
    </dgm:pt>
    <dgm:pt modelId="{334DD116-0E51-45C6-810C-04701210B404}" type="pres">
      <dgm:prSet presAssocID="{1D6A2FFA-313D-4C1C-869D-2E28B4AF8665}" presName="rootComposite" presStyleCnt="0"/>
      <dgm:spPr/>
    </dgm:pt>
    <dgm:pt modelId="{08F9D492-6622-4F4B-A85A-6C0A1499FA59}" type="pres">
      <dgm:prSet presAssocID="{1D6A2FFA-313D-4C1C-869D-2E28B4AF8665}" presName="rootText" presStyleLbl="node3" presStyleIdx="16" presStyleCnt="24">
        <dgm:presLayoutVars>
          <dgm:chPref val="3"/>
        </dgm:presLayoutVars>
      </dgm:prSet>
      <dgm:spPr/>
    </dgm:pt>
    <dgm:pt modelId="{01222746-F883-4FB8-9057-6F82DF5F29FC}" type="pres">
      <dgm:prSet presAssocID="{1D6A2FFA-313D-4C1C-869D-2E28B4AF8665}" presName="rootConnector" presStyleLbl="node3" presStyleIdx="16" presStyleCnt="24"/>
      <dgm:spPr/>
    </dgm:pt>
    <dgm:pt modelId="{21E3C456-93A8-4849-83D5-9776994EF758}" type="pres">
      <dgm:prSet presAssocID="{1D6A2FFA-313D-4C1C-869D-2E28B4AF8665}" presName="hierChild4" presStyleCnt="0"/>
      <dgm:spPr/>
    </dgm:pt>
    <dgm:pt modelId="{4E61C1B2-FE54-4D13-9760-7B097F86B3C8}" type="pres">
      <dgm:prSet presAssocID="{1D6A2FFA-313D-4C1C-869D-2E28B4AF8665}" presName="hierChild5" presStyleCnt="0"/>
      <dgm:spPr/>
    </dgm:pt>
    <dgm:pt modelId="{63CAB242-172A-43EE-9991-F4B9E385AD13}" type="pres">
      <dgm:prSet presAssocID="{29729800-B1B0-4AA5-8BB7-74A6065FA700}" presName="Name37" presStyleLbl="parChTrans1D3" presStyleIdx="17" presStyleCnt="24"/>
      <dgm:spPr/>
    </dgm:pt>
    <dgm:pt modelId="{5B06C197-E4BB-4442-9165-5124475189EA}" type="pres">
      <dgm:prSet presAssocID="{578948A4-974B-413C-89D3-29826CA4FEEC}" presName="hierRoot2" presStyleCnt="0">
        <dgm:presLayoutVars>
          <dgm:hierBranch val="init"/>
        </dgm:presLayoutVars>
      </dgm:prSet>
      <dgm:spPr/>
    </dgm:pt>
    <dgm:pt modelId="{ABC44581-14DB-424B-8DD6-77D6DE0E068A}" type="pres">
      <dgm:prSet presAssocID="{578948A4-974B-413C-89D3-29826CA4FEEC}" presName="rootComposite" presStyleCnt="0"/>
      <dgm:spPr/>
    </dgm:pt>
    <dgm:pt modelId="{AA52191D-008B-4C7F-8946-F924E3BDD826}" type="pres">
      <dgm:prSet presAssocID="{578948A4-974B-413C-89D3-29826CA4FEEC}" presName="rootText" presStyleLbl="node3" presStyleIdx="17" presStyleCnt="24">
        <dgm:presLayoutVars>
          <dgm:chPref val="3"/>
        </dgm:presLayoutVars>
      </dgm:prSet>
      <dgm:spPr/>
    </dgm:pt>
    <dgm:pt modelId="{008E7FCF-3324-4C62-8FAA-24EE64D16405}" type="pres">
      <dgm:prSet presAssocID="{578948A4-974B-413C-89D3-29826CA4FEEC}" presName="rootConnector" presStyleLbl="node3" presStyleIdx="17" presStyleCnt="24"/>
      <dgm:spPr/>
    </dgm:pt>
    <dgm:pt modelId="{BBCDE315-ABD8-4D3A-B720-A2D178330826}" type="pres">
      <dgm:prSet presAssocID="{578948A4-974B-413C-89D3-29826CA4FEEC}" presName="hierChild4" presStyleCnt="0"/>
      <dgm:spPr/>
    </dgm:pt>
    <dgm:pt modelId="{D05E6453-0257-452C-A5EE-2826EA414B33}" type="pres">
      <dgm:prSet presAssocID="{578948A4-974B-413C-89D3-29826CA4FEEC}" presName="hierChild5" presStyleCnt="0"/>
      <dgm:spPr/>
    </dgm:pt>
    <dgm:pt modelId="{60BB5A03-0998-46DC-BC03-622E24A68BC6}" type="pres">
      <dgm:prSet presAssocID="{4076B9B1-2046-4E3A-A0F7-B9EBF4122920}" presName="Name37" presStyleLbl="parChTrans1D3" presStyleIdx="18" presStyleCnt="24"/>
      <dgm:spPr/>
    </dgm:pt>
    <dgm:pt modelId="{6E682AAC-157A-4F4A-9D6B-94A3510B49D6}" type="pres">
      <dgm:prSet presAssocID="{E1967430-38B8-4639-B752-E0B21D934277}" presName="hierRoot2" presStyleCnt="0">
        <dgm:presLayoutVars>
          <dgm:hierBranch val="init"/>
        </dgm:presLayoutVars>
      </dgm:prSet>
      <dgm:spPr/>
    </dgm:pt>
    <dgm:pt modelId="{090C6B4D-F180-4C71-A9C4-0D0D9463229C}" type="pres">
      <dgm:prSet presAssocID="{E1967430-38B8-4639-B752-E0B21D934277}" presName="rootComposite" presStyleCnt="0"/>
      <dgm:spPr/>
    </dgm:pt>
    <dgm:pt modelId="{07A094C7-952C-4E3B-8925-C07622C8D78F}" type="pres">
      <dgm:prSet presAssocID="{E1967430-38B8-4639-B752-E0B21D934277}" presName="rootText" presStyleLbl="node3" presStyleIdx="18" presStyleCnt="24">
        <dgm:presLayoutVars>
          <dgm:chPref val="3"/>
        </dgm:presLayoutVars>
      </dgm:prSet>
      <dgm:spPr/>
    </dgm:pt>
    <dgm:pt modelId="{45238670-E506-4D4C-9061-5BDF1580D9C8}" type="pres">
      <dgm:prSet presAssocID="{E1967430-38B8-4639-B752-E0B21D934277}" presName="rootConnector" presStyleLbl="node3" presStyleIdx="18" presStyleCnt="24"/>
      <dgm:spPr/>
    </dgm:pt>
    <dgm:pt modelId="{C7273981-89F8-4B3D-8014-174DF002DA1F}" type="pres">
      <dgm:prSet presAssocID="{E1967430-38B8-4639-B752-E0B21D934277}" presName="hierChild4" presStyleCnt="0"/>
      <dgm:spPr/>
    </dgm:pt>
    <dgm:pt modelId="{CD7A1B2D-E528-455C-8FE1-C2C8F37F0AE4}" type="pres">
      <dgm:prSet presAssocID="{E1967430-38B8-4639-B752-E0B21D934277}" presName="hierChild5" presStyleCnt="0"/>
      <dgm:spPr/>
    </dgm:pt>
    <dgm:pt modelId="{3762BF0C-569A-4D06-A3F0-190C7427B8A1}" type="pres">
      <dgm:prSet presAssocID="{7B44E0EB-867C-4591-B62F-3845C3F48078}" presName="hierChild5" presStyleCnt="0"/>
      <dgm:spPr/>
    </dgm:pt>
    <dgm:pt modelId="{4DC2FF48-506B-4ECB-A79A-F1573CA90CAB}" type="pres">
      <dgm:prSet presAssocID="{5C5C6EA0-A542-4C3C-AA1C-D647C369D5D3}" presName="Name37" presStyleLbl="parChTrans1D2" presStyleIdx="7" presStyleCnt="9"/>
      <dgm:spPr/>
    </dgm:pt>
    <dgm:pt modelId="{41DA0159-B5E7-4DD1-925E-02D0016D0633}" type="pres">
      <dgm:prSet presAssocID="{0E0CFCBF-A051-4032-8F3D-0F53736B7176}" presName="hierRoot2" presStyleCnt="0">
        <dgm:presLayoutVars>
          <dgm:hierBranch val="init"/>
        </dgm:presLayoutVars>
      </dgm:prSet>
      <dgm:spPr/>
    </dgm:pt>
    <dgm:pt modelId="{BA4FC7A6-A16E-4209-9FC8-386C52623320}" type="pres">
      <dgm:prSet presAssocID="{0E0CFCBF-A051-4032-8F3D-0F53736B7176}" presName="rootComposite" presStyleCnt="0"/>
      <dgm:spPr/>
    </dgm:pt>
    <dgm:pt modelId="{5ED673C7-3EAB-40F8-B0E4-C4C717837A83}" type="pres">
      <dgm:prSet presAssocID="{0E0CFCBF-A051-4032-8F3D-0F53736B7176}" presName="rootText" presStyleLbl="node2" presStyleIdx="7" presStyleCnt="9">
        <dgm:presLayoutVars>
          <dgm:chPref val="3"/>
        </dgm:presLayoutVars>
      </dgm:prSet>
      <dgm:spPr/>
    </dgm:pt>
    <dgm:pt modelId="{EF96ECC0-54E3-4D76-9EBE-11859F39CA3C}" type="pres">
      <dgm:prSet presAssocID="{0E0CFCBF-A051-4032-8F3D-0F53736B7176}" presName="rootConnector" presStyleLbl="node2" presStyleIdx="7" presStyleCnt="9"/>
      <dgm:spPr/>
    </dgm:pt>
    <dgm:pt modelId="{2B63F608-0BAF-4C6F-8B59-F7EF07AB5588}" type="pres">
      <dgm:prSet presAssocID="{0E0CFCBF-A051-4032-8F3D-0F53736B7176}" presName="hierChild4" presStyleCnt="0"/>
      <dgm:spPr/>
    </dgm:pt>
    <dgm:pt modelId="{C09E2291-8BB7-450F-B198-0E3D2D18CEFF}" type="pres">
      <dgm:prSet presAssocID="{EBFAA74F-4A19-43CB-8E13-E9FABA444A1E}" presName="Name37" presStyleLbl="parChTrans1D3" presStyleIdx="19" presStyleCnt="24"/>
      <dgm:spPr/>
    </dgm:pt>
    <dgm:pt modelId="{1A69CF58-615B-409F-A173-8FD7358973C9}" type="pres">
      <dgm:prSet presAssocID="{5601CF4D-C770-4FCC-A3CC-19DB33AF3638}" presName="hierRoot2" presStyleCnt="0">
        <dgm:presLayoutVars>
          <dgm:hierBranch val="init"/>
        </dgm:presLayoutVars>
      </dgm:prSet>
      <dgm:spPr/>
    </dgm:pt>
    <dgm:pt modelId="{B802C9D4-8E3D-4FFB-A6BE-1A38EFAD8817}" type="pres">
      <dgm:prSet presAssocID="{5601CF4D-C770-4FCC-A3CC-19DB33AF3638}" presName="rootComposite" presStyleCnt="0"/>
      <dgm:spPr/>
    </dgm:pt>
    <dgm:pt modelId="{5F8A4440-7524-4A45-88BA-CE285825BB0C}" type="pres">
      <dgm:prSet presAssocID="{5601CF4D-C770-4FCC-A3CC-19DB33AF3638}" presName="rootText" presStyleLbl="node3" presStyleIdx="19" presStyleCnt="24">
        <dgm:presLayoutVars>
          <dgm:chPref val="3"/>
        </dgm:presLayoutVars>
      </dgm:prSet>
      <dgm:spPr/>
    </dgm:pt>
    <dgm:pt modelId="{1D4C3A26-2AB4-4862-83CA-930B84CA12C7}" type="pres">
      <dgm:prSet presAssocID="{5601CF4D-C770-4FCC-A3CC-19DB33AF3638}" presName="rootConnector" presStyleLbl="node3" presStyleIdx="19" presStyleCnt="24"/>
      <dgm:spPr/>
    </dgm:pt>
    <dgm:pt modelId="{C8DB9C17-7667-475C-B68C-52059BB37295}" type="pres">
      <dgm:prSet presAssocID="{5601CF4D-C770-4FCC-A3CC-19DB33AF3638}" presName="hierChild4" presStyleCnt="0"/>
      <dgm:spPr/>
    </dgm:pt>
    <dgm:pt modelId="{0D03AACC-6E73-44C5-8BDE-28ACD0DC81EC}" type="pres">
      <dgm:prSet presAssocID="{5601CF4D-C770-4FCC-A3CC-19DB33AF3638}" presName="hierChild5" presStyleCnt="0"/>
      <dgm:spPr/>
    </dgm:pt>
    <dgm:pt modelId="{966B6455-2990-42E6-9591-2900AA56106D}" type="pres">
      <dgm:prSet presAssocID="{EA22B02C-68C8-484B-928F-75338D1E6FD7}" presName="Name37" presStyleLbl="parChTrans1D3" presStyleIdx="20" presStyleCnt="24"/>
      <dgm:spPr/>
    </dgm:pt>
    <dgm:pt modelId="{3A1CEF15-87C6-4E1C-B8D6-485367257548}" type="pres">
      <dgm:prSet presAssocID="{1E4E2CCE-31CD-4A1D-81B3-53FF368FEE38}" presName="hierRoot2" presStyleCnt="0">
        <dgm:presLayoutVars>
          <dgm:hierBranch val="init"/>
        </dgm:presLayoutVars>
      </dgm:prSet>
      <dgm:spPr/>
    </dgm:pt>
    <dgm:pt modelId="{E2B8089C-F908-4A05-8F41-1270DE94A83C}" type="pres">
      <dgm:prSet presAssocID="{1E4E2CCE-31CD-4A1D-81B3-53FF368FEE38}" presName="rootComposite" presStyleCnt="0"/>
      <dgm:spPr/>
    </dgm:pt>
    <dgm:pt modelId="{29177E28-1A5C-46BC-8A56-F0AD4176C2A5}" type="pres">
      <dgm:prSet presAssocID="{1E4E2CCE-31CD-4A1D-81B3-53FF368FEE38}" presName="rootText" presStyleLbl="node3" presStyleIdx="20" presStyleCnt="24">
        <dgm:presLayoutVars>
          <dgm:chPref val="3"/>
        </dgm:presLayoutVars>
      </dgm:prSet>
      <dgm:spPr/>
    </dgm:pt>
    <dgm:pt modelId="{FBD08FB5-0482-49F4-B914-5687F9514E83}" type="pres">
      <dgm:prSet presAssocID="{1E4E2CCE-31CD-4A1D-81B3-53FF368FEE38}" presName="rootConnector" presStyleLbl="node3" presStyleIdx="20" presStyleCnt="24"/>
      <dgm:spPr/>
    </dgm:pt>
    <dgm:pt modelId="{0D56EFDE-3CE6-41E1-96A2-67522A66DF7C}" type="pres">
      <dgm:prSet presAssocID="{1E4E2CCE-31CD-4A1D-81B3-53FF368FEE38}" presName="hierChild4" presStyleCnt="0"/>
      <dgm:spPr/>
    </dgm:pt>
    <dgm:pt modelId="{64C1F357-2E24-4D4D-8D99-A2BA6C64C335}" type="pres">
      <dgm:prSet presAssocID="{1E4E2CCE-31CD-4A1D-81B3-53FF368FEE38}" presName="hierChild5" presStyleCnt="0"/>
      <dgm:spPr/>
    </dgm:pt>
    <dgm:pt modelId="{4F184DCB-1FF0-4A18-9B9F-0963B0C02AF0}" type="pres">
      <dgm:prSet presAssocID="{1ED65983-15A8-41F5-B534-7EE254E5CE99}" presName="Name37" presStyleLbl="parChTrans1D3" presStyleIdx="21" presStyleCnt="24"/>
      <dgm:spPr/>
    </dgm:pt>
    <dgm:pt modelId="{981DC703-52DE-49FE-9156-FABFCAA3D2DE}" type="pres">
      <dgm:prSet presAssocID="{69D3E39E-8DBB-4A63-B911-06F489FC0F68}" presName="hierRoot2" presStyleCnt="0">
        <dgm:presLayoutVars>
          <dgm:hierBranch val="init"/>
        </dgm:presLayoutVars>
      </dgm:prSet>
      <dgm:spPr/>
    </dgm:pt>
    <dgm:pt modelId="{E3CE73BD-7F90-40F6-B628-AFCA590514E9}" type="pres">
      <dgm:prSet presAssocID="{69D3E39E-8DBB-4A63-B911-06F489FC0F68}" presName="rootComposite" presStyleCnt="0"/>
      <dgm:spPr/>
    </dgm:pt>
    <dgm:pt modelId="{A5073B12-9A4B-42C5-AC1C-07CAFCC5C3B5}" type="pres">
      <dgm:prSet presAssocID="{69D3E39E-8DBB-4A63-B911-06F489FC0F68}" presName="rootText" presStyleLbl="node3" presStyleIdx="21" presStyleCnt="24">
        <dgm:presLayoutVars>
          <dgm:chPref val="3"/>
        </dgm:presLayoutVars>
      </dgm:prSet>
      <dgm:spPr/>
    </dgm:pt>
    <dgm:pt modelId="{12D224F5-ECBE-4EFA-812E-9D35B27B0480}" type="pres">
      <dgm:prSet presAssocID="{69D3E39E-8DBB-4A63-B911-06F489FC0F68}" presName="rootConnector" presStyleLbl="node3" presStyleIdx="21" presStyleCnt="24"/>
      <dgm:spPr/>
    </dgm:pt>
    <dgm:pt modelId="{E01657E5-084D-4426-BAA9-7F9729B74012}" type="pres">
      <dgm:prSet presAssocID="{69D3E39E-8DBB-4A63-B911-06F489FC0F68}" presName="hierChild4" presStyleCnt="0"/>
      <dgm:spPr/>
    </dgm:pt>
    <dgm:pt modelId="{60E48B19-2FE2-489B-81D4-A29F0F34B39A}" type="pres">
      <dgm:prSet presAssocID="{69D3E39E-8DBB-4A63-B911-06F489FC0F68}" presName="hierChild5" presStyleCnt="0"/>
      <dgm:spPr/>
    </dgm:pt>
    <dgm:pt modelId="{D81239E6-ADFB-4DD0-A7D2-8BB132E5ECB3}" type="pres">
      <dgm:prSet presAssocID="{0E0CFCBF-A051-4032-8F3D-0F53736B7176}" presName="hierChild5" presStyleCnt="0"/>
      <dgm:spPr/>
    </dgm:pt>
    <dgm:pt modelId="{D72CE293-D64D-40C0-9214-4B26B1F7A8E5}" type="pres">
      <dgm:prSet presAssocID="{8ACCD391-0AF9-403D-AE24-6FC2F38A6317}" presName="Name37" presStyleLbl="parChTrans1D2" presStyleIdx="8" presStyleCnt="9"/>
      <dgm:spPr/>
    </dgm:pt>
    <dgm:pt modelId="{6CCB0006-93B6-46E0-9C16-31D8AFFE10B4}" type="pres">
      <dgm:prSet presAssocID="{D6E896B7-7AA5-400F-BC01-631A9F7E5D1A}" presName="hierRoot2" presStyleCnt="0">
        <dgm:presLayoutVars>
          <dgm:hierBranch val="init"/>
        </dgm:presLayoutVars>
      </dgm:prSet>
      <dgm:spPr/>
    </dgm:pt>
    <dgm:pt modelId="{4E27B7F6-B166-4186-8EC5-E13CEFED360C}" type="pres">
      <dgm:prSet presAssocID="{D6E896B7-7AA5-400F-BC01-631A9F7E5D1A}" presName="rootComposite" presStyleCnt="0"/>
      <dgm:spPr/>
    </dgm:pt>
    <dgm:pt modelId="{E181C44F-29A1-40A8-9D6C-197404E30D2A}" type="pres">
      <dgm:prSet presAssocID="{D6E896B7-7AA5-400F-BC01-631A9F7E5D1A}" presName="rootText" presStyleLbl="node2" presStyleIdx="8" presStyleCnt="9">
        <dgm:presLayoutVars>
          <dgm:chPref val="3"/>
        </dgm:presLayoutVars>
      </dgm:prSet>
      <dgm:spPr/>
    </dgm:pt>
    <dgm:pt modelId="{37E232BB-4704-45D9-B2EB-2DE049B581B7}" type="pres">
      <dgm:prSet presAssocID="{D6E896B7-7AA5-400F-BC01-631A9F7E5D1A}" presName="rootConnector" presStyleLbl="node2" presStyleIdx="8" presStyleCnt="9"/>
      <dgm:spPr/>
    </dgm:pt>
    <dgm:pt modelId="{E072C0F1-B213-4A24-8EEE-45E5C37F3E43}" type="pres">
      <dgm:prSet presAssocID="{D6E896B7-7AA5-400F-BC01-631A9F7E5D1A}" presName="hierChild4" presStyleCnt="0"/>
      <dgm:spPr/>
    </dgm:pt>
    <dgm:pt modelId="{A743A055-46F7-48C9-872F-23419620955B}" type="pres">
      <dgm:prSet presAssocID="{CE805D8A-1D5A-471D-82CD-05E711CACAC1}" presName="Name37" presStyleLbl="parChTrans1D3" presStyleIdx="22" presStyleCnt="24"/>
      <dgm:spPr/>
    </dgm:pt>
    <dgm:pt modelId="{FBEFE54B-B902-4EFC-B950-7243FC5A2FB9}" type="pres">
      <dgm:prSet presAssocID="{3F63E84F-7637-4809-B791-FF61EFF2F082}" presName="hierRoot2" presStyleCnt="0">
        <dgm:presLayoutVars>
          <dgm:hierBranch val="init"/>
        </dgm:presLayoutVars>
      </dgm:prSet>
      <dgm:spPr/>
    </dgm:pt>
    <dgm:pt modelId="{AA241583-847A-448E-815D-476832CFB2DF}" type="pres">
      <dgm:prSet presAssocID="{3F63E84F-7637-4809-B791-FF61EFF2F082}" presName="rootComposite" presStyleCnt="0"/>
      <dgm:spPr/>
    </dgm:pt>
    <dgm:pt modelId="{A02A18C1-18A3-46CF-B4FD-6B5E0B9B8C85}" type="pres">
      <dgm:prSet presAssocID="{3F63E84F-7637-4809-B791-FF61EFF2F082}" presName="rootText" presStyleLbl="node3" presStyleIdx="22" presStyleCnt="24">
        <dgm:presLayoutVars>
          <dgm:chPref val="3"/>
        </dgm:presLayoutVars>
      </dgm:prSet>
      <dgm:spPr/>
    </dgm:pt>
    <dgm:pt modelId="{6E47D314-B255-4024-9B06-319522F59BCB}" type="pres">
      <dgm:prSet presAssocID="{3F63E84F-7637-4809-B791-FF61EFF2F082}" presName="rootConnector" presStyleLbl="node3" presStyleIdx="22" presStyleCnt="24"/>
      <dgm:spPr/>
    </dgm:pt>
    <dgm:pt modelId="{DD3A1803-7030-4276-BF34-99470BA6CDEE}" type="pres">
      <dgm:prSet presAssocID="{3F63E84F-7637-4809-B791-FF61EFF2F082}" presName="hierChild4" presStyleCnt="0"/>
      <dgm:spPr/>
    </dgm:pt>
    <dgm:pt modelId="{9AAE572A-3919-45CD-93CD-9BC95D96A971}" type="pres">
      <dgm:prSet presAssocID="{3F63E84F-7637-4809-B791-FF61EFF2F082}" presName="hierChild5" presStyleCnt="0"/>
      <dgm:spPr/>
    </dgm:pt>
    <dgm:pt modelId="{8F6B3C21-23F7-45A7-A847-D19856FFE1BA}" type="pres">
      <dgm:prSet presAssocID="{70775DB6-B6A2-4962-82DD-6A99F7262D58}" presName="Name37" presStyleLbl="parChTrans1D3" presStyleIdx="23" presStyleCnt="24"/>
      <dgm:spPr/>
    </dgm:pt>
    <dgm:pt modelId="{B5EB1CD2-90C5-4B96-B208-E3021006B7DB}" type="pres">
      <dgm:prSet presAssocID="{9708A317-8EB0-4380-AA1D-6844209E1E6D}" presName="hierRoot2" presStyleCnt="0">
        <dgm:presLayoutVars>
          <dgm:hierBranch val="init"/>
        </dgm:presLayoutVars>
      </dgm:prSet>
      <dgm:spPr/>
    </dgm:pt>
    <dgm:pt modelId="{F1BE1A6F-250B-438C-A535-9A39E5B72C75}" type="pres">
      <dgm:prSet presAssocID="{9708A317-8EB0-4380-AA1D-6844209E1E6D}" presName="rootComposite" presStyleCnt="0"/>
      <dgm:spPr/>
    </dgm:pt>
    <dgm:pt modelId="{B8E952CA-CEC1-4AD6-8718-1007E0E9ABFB}" type="pres">
      <dgm:prSet presAssocID="{9708A317-8EB0-4380-AA1D-6844209E1E6D}" presName="rootText" presStyleLbl="node3" presStyleIdx="23" presStyleCnt="24">
        <dgm:presLayoutVars>
          <dgm:chPref val="3"/>
        </dgm:presLayoutVars>
      </dgm:prSet>
      <dgm:spPr/>
    </dgm:pt>
    <dgm:pt modelId="{86C99E92-AF77-455C-A8E9-4300CD01553C}" type="pres">
      <dgm:prSet presAssocID="{9708A317-8EB0-4380-AA1D-6844209E1E6D}" presName="rootConnector" presStyleLbl="node3" presStyleIdx="23" presStyleCnt="24"/>
      <dgm:spPr/>
    </dgm:pt>
    <dgm:pt modelId="{63169C1A-1487-45DC-8E60-13F25AE3BEA8}" type="pres">
      <dgm:prSet presAssocID="{9708A317-8EB0-4380-AA1D-6844209E1E6D}" presName="hierChild4" presStyleCnt="0"/>
      <dgm:spPr/>
    </dgm:pt>
    <dgm:pt modelId="{319E476A-712C-4E01-A603-70243FC82BDF}" type="pres">
      <dgm:prSet presAssocID="{9708A317-8EB0-4380-AA1D-6844209E1E6D}" presName="hierChild5" presStyleCnt="0"/>
      <dgm:spPr/>
    </dgm:pt>
    <dgm:pt modelId="{FCBD1DD5-8BFB-471F-AF6C-ED671A3E5107}" type="pres">
      <dgm:prSet presAssocID="{D6E896B7-7AA5-400F-BC01-631A9F7E5D1A}" presName="hierChild5" presStyleCnt="0"/>
      <dgm:spPr/>
    </dgm:pt>
    <dgm:pt modelId="{2B2D225E-97A2-498A-8859-03671F047C9D}" type="pres">
      <dgm:prSet presAssocID="{64352500-A724-4934-9B87-263D04CEFB0D}" presName="hierChild3" presStyleCnt="0"/>
      <dgm:spPr/>
    </dgm:pt>
  </dgm:ptLst>
  <dgm:cxnLst>
    <dgm:cxn modelId="{9A592F03-30DB-48E0-AB7A-639F283C6CE1}" type="presOf" srcId="{B8A807B8-C2D0-4E36-838E-2DC804EA7273}" destId="{897A60B8-6853-4BE9-83F7-B0772324F770}" srcOrd="1" destOrd="0" presId="urn:microsoft.com/office/officeart/2005/8/layout/orgChart1"/>
    <dgm:cxn modelId="{B81A2504-FE1F-4750-AAD5-0C7A4304D638}" type="presOf" srcId="{3C7E1877-40CD-4EAD-90EB-D575D215F2F0}" destId="{409B3DCC-AC84-4F09-A3A4-B632A6DF2532}" srcOrd="0" destOrd="0" presId="urn:microsoft.com/office/officeart/2005/8/layout/orgChart1"/>
    <dgm:cxn modelId="{F3B41005-84C4-4579-BDE1-D61D70D69DC2}" type="presOf" srcId="{BCDDF0C5-3D39-4789-B5E4-EB908C53D7DA}" destId="{E0BF04FB-8BAD-4562-883B-9329CDCEBB9F}" srcOrd="0" destOrd="0" presId="urn:microsoft.com/office/officeart/2005/8/layout/orgChart1"/>
    <dgm:cxn modelId="{57A31205-56DB-44F0-975A-946E9A775539}" type="presOf" srcId="{B2A034E9-5BB7-4FE3-8FD3-FCDD4995AF4A}" destId="{BF76692A-DE5D-45D2-BF54-6F1977663E9B}" srcOrd="0" destOrd="0" presId="urn:microsoft.com/office/officeart/2005/8/layout/orgChart1"/>
    <dgm:cxn modelId="{1CF1DF05-4915-4129-A5F6-0D72B88A2294}" srcId="{0E0CFCBF-A051-4032-8F3D-0F53736B7176}" destId="{1E4E2CCE-31CD-4A1D-81B3-53FF368FEE38}" srcOrd="1" destOrd="0" parTransId="{EA22B02C-68C8-484B-928F-75338D1E6FD7}" sibTransId="{448C93B2-4757-454A-9D06-6A3718D25432}"/>
    <dgm:cxn modelId="{EAD2DF06-0452-462A-A438-2C746C9F571E}" type="presOf" srcId="{60B4DF0C-C877-4E37-AB0F-016DBDC3D2A6}" destId="{40372FF0-F74F-428F-A27A-B2D38C53D1E2}" srcOrd="1" destOrd="0" presId="urn:microsoft.com/office/officeart/2005/8/layout/orgChart1"/>
    <dgm:cxn modelId="{141BE706-4097-4282-9672-0E8CB48B22D7}" srcId="{7B44E0EB-867C-4591-B62F-3845C3F48078}" destId="{E3AAC849-A8DC-4A79-8256-C474B9DE8F53}" srcOrd="0" destOrd="0" parTransId="{7A4DD0D4-B57C-4E13-9857-A4851474BFD3}" sibTransId="{049BCC13-3B35-4826-BD02-8835F9451356}"/>
    <dgm:cxn modelId="{111E240A-81B7-496A-99DA-A530F4C39F5A}" srcId="{CEB5D414-BD56-49FE-95CD-D08C7C923DCB}" destId="{2B9F6DFA-F00E-4EC5-AD3E-27E5816EEA8E}" srcOrd="1" destOrd="0" parTransId="{BCDDF0C5-3D39-4789-B5E4-EB908C53D7DA}" sibTransId="{23784DC8-F321-4C0F-B116-323C4E42066A}"/>
    <dgm:cxn modelId="{5231340A-27E0-4CF7-A67E-CC4443C3EE29}" srcId="{64352500-A724-4934-9B87-263D04CEFB0D}" destId="{D6E896B7-7AA5-400F-BC01-631A9F7E5D1A}" srcOrd="8" destOrd="0" parTransId="{8ACCD391-0AF9-403D-AE24-6FC2F38A6317}" sibTransId="{865EF881-613A-4329-A086-EC12C0B9C266}"/>
    <dgm:cxn modelId="{855AA50A-71B9-4DCD-ACC5-E5C421F0C474}" type="presOf" srcId="{EA22B02C-68C8-484B-928F-75338D1E6FD7}" destId="{966B6455-2990-42E6-9591-2900AA56106D}" srcOrd="0" destOrd="0" presId="urn:microsoft.com/office/officeart/2005/8/layout/orgChart1"/>
    <dgm:cxn modelId="{93A97D11-9980-4288-9100-47222E3C76BE}" type="presOf" srcId="{BA5113C5-6926-4A6C-9800-C9A06DAA9400}" destId="{4519071D-2828-42AB-AF88-4254A8D39F29}" srcOrd="1" destOrd="0" presId="urn:microsoft.com/office/officeart/2005/8/layout/orgChart1"/>
    <dgm:cxn modelId="{17DED312-9401-48FF-B9EB-223AA8B6F2CF}" type="presOf" srcId="{7B44E0EB-867C-4591-B62F-3845C3F48078}" destId="{62DF4774-53BE-4613-95D0-E552EE1105FD}" srcOrd="0" destOrd="0" presId="urn:microsoft.com/office/officeart/2005/8/layout/orgChart1"/>
    <dgm:cxn modelId="{891A7C13-3B63-4D0E-8991-96F7B43BB10B}" type="presOf" srcId="{0E0CFCBF-A051-4032-8F3D-0F53736B7176}" destId="{5ED673C7-3EAB-40F8-B0E4-C4C717837A83}" srcOrd="0" destOrd="0" presId="urn:microsoft.com/office/officeart/2005/8/layout/orgChart1"/>
    <dgm:cxn modelId="{3AC76E14-C570-45A1-888F-03BFBD8F0AA0}" type="presOf" srcId="{25FAB315-387D-4484-9128-40EC84067B82}" destId="{2EC15357-35F3-4BD0-A049-4F622B56EB47}" srcOrd="0" destOrd="0" presId="urn:microsoft.com/office/officeart/2005/8/layout/orgChart1"/>
    <dgm:cxn modelId="{EC5D561B-E99C-4A76-86BF-37E17AF8FF5F}" type="presOf" srcId="{70775DB6-B6A2-4962-82DD-6A99F7262D58}" destId="{8F6B3C21-23F7-45A7-A847-D19856FFE1BA}" srcOrd="0" destOrd="0" presId="urn:microsoft.com/office/officeart/2005/8/layout/orgChart1"/>
    <dgm:cxn modelId="{F38A411C-411E-406B-9F9E-8EB31F979CD4}" type="presOf" srcId="{FF729534-1886-4F64-A929-8A5ADE708FCE}" destId="{5404466B-21F9-4900-ACF7-527B2500C1D0}" srcOrd="1" destOrd="0" presId="urn:microsoft.com/office/officeart/2005/8/layout/orgChart1"/>
    <dgm:cxn modelId="{290D771C-620B-4504-B4E7-D3DFAE839F11}" srcId="{A3DB62F2-9813-476C-97E8-7B2ABDA3CA54}" destId="{BA5113C5-6926-4A6C-9800-C9A06DAA9400}" srcOrd="2" destOrd="0" parTransId="{3C7E1877-40CD-4EAD-90EB-D575D215F2F0}" sibTransId="{CAE416A5-54FC-4991-9568-3D57EC30C655}"/>
    <dgm:cxn modelId="{8F8CFC1E-BE40-4C2C-8428-71940A0674F1}" srcId="{64352500-A724-4934-9B87-263D04CEFB0D}" destId="{CEB5D414-BD56-49FE-95CD-D08C7C923DCB}" srcOrd="3" destOrd="0" parTransId="{D5C4AEF2-C4E7-4BE9-9BC3-4EEB2B4FFCB4}" sibTransId="{616705CB-3FB3-4CC7-A965-AFB6279669B5}"/>
    <dgm:cxn modelId="{3F2BBF1F-73D0-4A71-962D-1255E660E9A6}" type="presOf" srcId="{E20476D2-5C90-4D5E-83D7-2A20CF8B1814}" destId="{2F93381F-BF45-4540-974B-126C8679ED43}" srcOrd="0" destOrd="0" presId="urn:microsoft.com/office/officeart/2005/8/layout/orgChart1"/>
    <dgm:cxn modelId="{9B1DB825-0665-46B0-89C2-26CED049639F}" type="presOf" srcId="{2B9F6DFA-F00E-4EC5-AD3E-27E5816EEA8E}" destId="{CFBD1D01-F075-4382-BEE0-68186F685F4A}" srcOrd="0" destOrd="0" presId="urn:microsoft.com/office/officeart/2005/8/layout/orgChart1"/>
    <dgm:cxn modelId="{9A24AE29-6152-4F91-AD22-581F3CA1D3CE}" type="presOf" srcId="{FA3210CA-CBC1-483E-A269-FFD86B8AFEF1}" destId="{AE358B96-0E6A-4166-8A95-07F3165684AB}" srcOrd="0" destOrd="0" presId="urn:microsoft.com/office/officeart/2005/8/layout/orgChart1"/>
    <dgm:cxn modelId="{B8E6972A-89BD-490B-A4FD-1C97677B0E8A}" type="presOf" srcId="{1D6A2FFA-313D-4C1C-869D-2E28B4AF8665}" destId="{01222746-F883-4FB8-9057-6F82DF5F29FC}" srcOrd="1" destOrd="0" presId="urn:microsoft.com/office/officeart/2005/8/layout/orgChart1"/>
    <dgm:cxn modelId="{CD69142B-82FA-4B53-B00A-B0D6BD528B28}" srcId="{64352500-A724-4934-9B87-263D04CEFB0D}" destId="{0E0CFCBF-A051-4032-8F3D-0F53736B7176}" srcOrd="7" destOrd="0" parTransId="{5C5C6EA0-A542-4C3C-AA1C-D647C369D5D3}" sibTransId="{BFA9DFC8-E91D-4E57-B32F-8EF7882F1316}"/>
    <dgm:cxn modelId="{8B6D582B-BFF2-42E0-ADD2-214FC57CD3A3}" type="presOf" srcId="{6F0C1CA7-961F-48EB-9A9C-8C0C70543D66}" destId="{E6795F6F-5D4D-46D5-ADD7-3D0D44776128}" srcOrd="0" destOrd="0" presId="urn:microsoft.com/office/officeart/2005/8/layout/orgChart1"/>
    <dgm:cxn modelId="{800C872B-7F0D-492A-B5F0-3DB4697A8C6A}" type="presOf" srcId="{1ED65983-15A8-41F5-B534-7EE254E5CE99}" destId="{4F184DCB-1FF0-4A18-9B9F-0963B0C02AF0}" srcOrd="0" destOrd="0" presId="urn:microsoft.com/office/officeart/2005/8/layout/orgChart1"/>
    <dgm:cxn modelId="{CF0B952B-5373-4058-89FB-0B946EB6243B}" type="presOf" srcId="{F4E374AF-D540-48E7-941E-F1DAD6307ABA}" destId="{DD5B6FA5-E66C-41AA-BB01-7661B4A39B13}" srcOrd="1" destOrd="0" presId="urn:microsoft.com/office/officeart/2005/8/layout/orgChart1"/>
    <dgm:cxn modelId="{96A5CB2D-820E-45AF-885A-257FD3A5B60D}" type="presOf" srcId="{F89261D8-EAB2-4B29-BE1C-8A7BF359CCE7}" destId="{DE8A3D40-A3AA-474D-96BB-EA45C260B70C}" srcOrd="1" destOrd="0" presId="urn:microsoft.com/office/officeart/2005/8/layout/orgChart1"/>
    <dgm:cxn modelId="{0B98FB2D-0AA4-4181-B127-137C2D954F0E}" type="presOf" srcId="{C7146351-3963-44C4-859D-DB6D2AC38CF0}" destId="{FE2D1640-3BEA-474F-BE37-389F5F74F56C}" srcOrd="1" destOrd="0" presId="urn:microsoft.com/office/officeart/2005/8/layout/orgChart1"/>
    <dgm:cxn modelId="{035D4831-72B7-4112-85CB-7E13935C07F8}" type="presOf" srcId="{1EC114AF-0C2C-4CF0-8370-25641EFC99B0}" destId="{05A22666-D5A3-429F-886F-6906E280CED9}" srcOrd="0" destOrd="0" presId="urn:microsoft.com/office/officeart/2005/8/layout/orgChart1"/>
    <dgm:cxn modelId="{CB0D0033-BE73-4424-83A0-9AAE5C8801E1}" type="presOf" srcId="{578948A4-974B-413C-89D3-29826CA4FEEC}" destId="{008E7FCF-3324-4C62-8FAA-24EE64D16405}" srcOrd="1" destOrd="0" presId="urn:microsoft.com/office/officeart/2005/8/layout/orgChart1"/>
    <dgm:cxn modelId="{69E80638-EA1C-455A-BDB9-BF5B2E649206}" srcId="{64352500-A724-4934-9B87-263D04CEFB0D}" destId="{A3DB62F2-9813-476C-97E8-7B2ABDA3CA54}" srcOrd="4" destOrd="0" parTransId="{712E2512-70B1-4EF4-8867-8E122F16D629}" sibTransId="{AAE430A0-0E96-4460-A8E9-97A707EC0D54}"/>
    <dgm:cxn modelId="{30119238-4DA4-4829-B279-DF7A233823A2}" type="presOf" srcId="{4076B9B1-2046-4E3A-A0F7-B9EBF4122920}" destId="{60BB5A03-0998-46DC-BC03-622E24A68BC6}" srcOrd="0" destOrd="0" presId="urn:microsoft.com/office/officeart/2005/8/layout/orgChart1"/>
    <dgm:cxn modelId="{E0AF9438-E5C7-42E4-A911-FA9A598D59C2}" type="presOf" srcId="{9708A317-8EB0-4380-AA1D-6844209E1E6D}" destId="{B8E952CA-CEC1-4AD6-8718-1007E0E9ABFB}" srcOrd="0" destOrd="0" presId="urn:microsoft.com/office/officeart/2005/8/layout/orgChart1"/>
    <dgm:cxn modelId="{5451C839-0A5D-400F-90EC-AA0F6D26E2CF}" srcId="{FF729534-1886-4F64-A929-8A5ADE708FCE}" destId="{B8A807B8-C2D0-4E36-838E-2DC804EA7273}" srcOrd="1" destOrd="0" parTransId="{B2A034E9-5BB7-4FE3-8FD3-FCDD4995AF4A}" sibTransId="{14B3C4A1-50E7-48AA-BC30-D7A58733D23F}"/>
    <dgm:cxn modelId="{2539A23A-E2D6-4AF9-AD25-27464E993E16}" type="presOf" srcId="{E8EB4253-4965-4F02-AC5E-4B60784CC9DE}" destId="{01CEF6A7-5AFE-4A24-ACD5-050C3C2D75EB}" srcOrd="1" destOrd="0" presId="urn:microsoft.com/office/officeart/2005/8/layout/orgChart1"/>
    <dgm:cxn modelId="{51AAEB3A-0BDB-4F88-9FEF-6CE05B35E77A}" srcId="{7B44E0EB-867C-4591-B62F-3845C3F48078}" destId="{578948A4-974B-413C-89D3-29826CA4FEEC}" srcOrd="3" destOrd="0" parTransId="{29729800-B1B0-4AA5-8BB7-74A6065FA700}" sibTransId="{219294A2-F843-4294-83B4-442D201CEB9B}"/>
    <dgm:cxn modelId="{AAEF723D-75F7-4766-9645-E22DBCD3B217}" type="presOf" srcId="{CEB5D414-BD56-49FE-95CD-D08C7C923DCB}" destId="{ACFD3F8D-39CB-4CFC-BFE0-2A96209F07EA}" srcOrd="0" destOrd="0" presId="urn:microsoft.com/office/officeart/2005/8/layout/orgChart1"/>
    <dgm:cxn modelId="{3B9F383E-BD57-4FD9-A8B0-56FA7EE9A6C3}" type="presOf" srcId="{2EEFA0A1-976F-4C56-934F-B1FC9CEFC9EE}" destId="{BAF683CB-429F-4A31-A42E-5903D785894F}" srcOrd="0" destOrd="0" presId="urn:microsoft.com/office/officeart/2005/8/layout/orgChart1"/>
    <dgm:cxn modelId="{DE61FA3F-7319-4F83-ACD6-0F4C2667BC59}" type="presOf" srcId="{7B44E0EB-867C-4591-B62F-3845C3F48078}" destId="{411AB05C-2210-4B78-BD59-70E13E871936}" srcOrd="1" destOrd="0" presId="urn:microsoft.com/office/officeart/2005/8/layout/orgChart1"/>
    <dgm:cxn modelId="{AF212740-E283-4375-BB09-96140138E773}" srcId="{CF93F3A8-A199-4DCB-8C9B-ED123C32F761}" destId="{FFA89972-E794-4C6D-B1AE-4D51D6B210EB}" srcOrd="0" destOrd="0" parTransId="{6B01E1E4-D5B1-4EA5-BA6B-132A76B8B839}" sibTransId="{B5F8ED9F-03A7-4A1A-9350-934EF2227220}"/>
    <dgm:cxn modelId="{01E03340-AB05-4F96-943B-126F4CF99C6D}" type="presOf" srcId="{6B01E1E4-D5B1-4EA5-BA6B-132A76B8B839}" destId="{4F3CB06F-B2BB-49AF-B073-18697E555B53}" srcOrd="0" destOrd="0" presId="urn:microsoft.com/office/officeart/2005/8/layout/orgChart1"/>
    <dgm:cxn modelId="{BE534A5F-BC35-4E03-8BBF-E6E76668341D}" type="presOf" srcId="{E1967430-38B8-4639-B752-E0B21D934277}" destId="{45238670-E506-4D4C-9061-5BDF1580D9C8}" srcOrd="1" destOrd="0" presId="urn:microsoft.com/office/officeart/2005/8/layout/orgChart1"/>
    <dgm:cxn modelId="{E30E725F-84D5-4364-9656-7359285BF327}" type="presOf" srcId="{67B5C9B5-8E14-415D-9E99-8A5E6720A7A2}" destId="{F979419F-BBBE-4939-A361-D2BC40131155}" srcOrd="0" destOrd="0" presId="urn:microsoft.com/office/officeart/2005/8/layout/orgChart1"/>
    <dgm:cxn modelId="{66133560-3B4D-4909-943E-DC82CB80FFA5}" type="presOf" srcId="{0E0CFCBF-A051-4032-8F3D-0F53736B7176}" destId="{EF96ECC0-54E3-4D76-9EBE-11859F39CA3C}" srcOrd="1" destOrd="0" presId="urn:microsoft.com/office/officeart/2005/8/layout/orgChart1"/>
    <dgm:cxn modelId="{46BC6260-975C-4027-A99C-20F8DA2CFE3F}" type="presOf" srcId="{B2940C88-44FB-4508-9932-95B047C374E0}" destId="{BA50D3D5-41D2-4283-A6B0-4888E1337E63}" srcOrd="0" destOrd="0" presId="urn:microsoft.com/office/officeart/2005/8/layout/orgChart1"/>
    <dgm:cxn modelId="{F8BAA960-D725-4B34-A06F-049FF2A66510}" srcId="{64352500-A724-4934-9B87-263D04CEFB0D}" destId="{6852AB1C-5913-4331-BA11-D65B43F5F47F}" srcOrd="0" destOrd="0" parTransId="{B2940C88-44FB-4508-9932-95B047C374E0}" sibTransId="{600833AE-AA22-491E-9BDA-B5D37D335CDA}"/>
    <dgm:cxn modelId="{C8FB8661-4212-41FF-909A-A17331371070}" type="presOf" srcId="{3F63E84F-7637-4809-B791-FF61EFF2F082}" destId="{A02A18C1-18A3-46CF-B4FD-6B5E0B9B8C85}" srcOrd="0" destOrd="0" presId="urn:microsoft.com/office/officeart/2005/8/layout/orgChart1"/>
    <dgm:cxn modelId="{0D96E761-4B8B-4C4E-86DC-0B4202678550}" type="presOf" srcId="{2B9F6DFA-F00E-4EC5-AD3E-27E5816EEA8E}" destId="{D58A00FA-3720-44B5-B88F-6857B6FB368F}" srcOrd="1" destOrd="0" presId="urn:microsoft.com/office/officeart/2005/8/layout/orgChart1"/>
    <dgm:cxn modelId="{91BAD662-BAB7-4E8A-9899-3D52F4ECB043}" type="presOf" srcId="{CF93F3A8-A199-4DCB-8C9B-ED123C32F761}" destId="{4C17A7A1-B0CC-4F1D-86F8-5891FCCC4DA6}" srcOrd="1" destOrd="0" presId="urn:microsoft.com/office/officeart/2005/8/layout/orgChart1"/>
    <dgm:cxn modelId="{0D5C7043-45E7-49C7-95A5-C7719FC290E5}" srcId="{7B44E0EB-867C-4591-B62F-3845C3F48078}" destId="{E20476D2-5C90-4D5E-83D7-2A20CF8B1814}" srcOrd="1" destOrd="0" parTransId="{AEEC9DD9-AC7E-4695-B6AF-E85D402EA91C}" sibTransId="{CC61A180-3C3F-4BF6-8B38-87A2902DBA10}"/>
    <dgm:cxn modelId="{4D27D944-10B6-4A43-8A01-BB322D4208CF}" type="presOf" srcId="{A3DB62F2-9813-476C-97E8-7B2ABDA3CA54}" destId="{3AD060C3-24F3-446E-9D3D-17BC48AAE0CD}" srcOrd="1" destOrd="0" presId="urn:microsoft.com/office/officeart/2005/8/layout/orgChart1"/>
    <dgm:cxn modelId="{6867F764-79D8-463E-B99B-D55A53487CEE}" srcId="{A3DB62F2-9813-476C-97E8-7B2ABDA3CA54}" destId="{412784EE-F535-4F77-A1DC-FF495A323EC6}" srcOrd="0" destOrd="0" parTransId="{67B5C9B5-8E14-415D-9E99-8A5E6720A7A2}" sibTransId="{1B97CD8F-53FD-42DA-AFEC-FDFD925EDA2D}"/>
    <dgm:cxn modelId="{DA211E65-316F-4450-9912-6C43012BD8A3}" type="presOf" srcId="{5C5C6EA0-A542-4C3C-AA1C-D647C369D5D3}" destId="{4DC2FF48-506B-4ECB-A79A-F1573CA90CAB}" srcOrd="0" destOrd="0" presId="urn:microsoft.com/office/officeart/2005/8/layout/orgChart1"/>
    <dgm:cxn modelId="{F96AE946-8B18-4A78-BC8D-F8B805174FD0}" type="presOf" srcId="{A6398C27-84A5-4E91-803C-45D9CDA495B9}" destId="{AAAE8CF0-99F5-42E1-BC6C-455B3481E8D3}" srcOrd="0" destOrd="0" presId="urn:microsoft.com/office/officeart/2005/8/layout/orgChart1"/>
    <dgm:cxn modelId="{7912AD47-0D6A-4CB5-B52E-667E15E5BEE5}" type="presOf" srcId="{D6E896B7-7AA5-400F-BC01-631A9F7E5D1A}" destId="{37E232BB-4704-45D9-B2EB-2DE049B581B7}" srcOrd="1" destOrd="0" presId="urn:microsoft.com/office/officeart/2005/8/layout/orgChart1"/>
    <dgm:cxn modelId="{77D4B867-E79C-4726-A354-893D80BFF064}" srcId="{20412CDC-CA2F-4AC0-997B-4F9A32367F3C}" destId="{64352500-A724-4934-9B87-263D04CEFB0D}" srcOrd="0" destOrd="0" parTransId="{35BB533F-58D4-4E1E-9BDB-0394B9CF1C6B}" sibTransId="{4F36EF18-2676-45B6-88BB-4A028FFDE13A}"/>
    <dgm:cxn modelId="{801F5749-2D1A-486B-B941-B5134B71BB54}" type="presOf" srcId="{824A3C02-AFC7-4503-95E3-5180C182D4D6}" destId="{EB416A33-9B76-433C-A6F2-2FFEF3B2FC20}" srcOrd="0" destOrd="0" presId="urn:microsoft.com/office/officeart/2005/8/layout/orgChart1"/>
    <dgm:cxn modelId="{02EBC849-70E9-4220-B374-946D0077F56A}" srcId="{D6E896B7-7AA5-400F-BC01-631A9F7E5D1A}" destId="{3F63E84F-7637-4809-B791-FF61EFF2F082}" srcOrd="0" destOrd="0" parTransId="{CE805D8A-1D5A-471D-82CD-05E711CACAC1}" sibTransId="{0210CCD9-3DBC-400C-988A-F992F849104F}"/>
    <dgm:cxn modelId="{64D9EE49-F234-4F5C-8572-F9071739DB3C}" type="presOf" srcId="{CEB5D414-BD56-49FE-95CD-D08C7C923DCB}" destId="{9B3DF806-B6B3-4230-B0D7-552C169BBE56}" srcOrd="1" destOrd="0" presId="urn:microsoft.com/office/officeart/2005/8/layout/orgChart1"/>
    <dgm:cxn modelId="{D3BB284B-4F49-4FA9-8749-222C3EEF8445}" type="presOf" srcId="{DAC79BB3-24EE-4EA3-99A5-09B86240F0C4}" destId="{1A2C0DD8-F395-46EB-8303-91B66D383C13}" srcOrd="0" destOrd="0" presId="urn:microsoft.com/office/officeart/2005/8/layout/orgChart1"/>
    <dgm:cxn modelId="{ADFEDD4B-361E-4AAF-A2EB-4BC2EE43BA0D}" type="presOf" srcId="{FA1DA8D2-3F9A-4E4E-A9A4-2173D09F6EBD}" destId="{22A89140-BC30-48A4-95BF-35EEB54E49AA}" srcOrd="0" destOrd="0" presId="urn:microsoft.com/office/officeart/2005/8/layout/orgChart1"/>
    <dgm:cxn modelId="{DFCA574D-5322-4556-BFCF-1AA7E1C1E221}" type="presOf" srcId="{5601CF4D-C770-4FCC-A3CC-19DB33AF3638}" destId="{5F8A4440-7524-4A45-88BA-CE285825BB0C}" srcOrd="0" destOrd="0" presId="urn:microsoft.com/office/officeart/2005/8/layout/orgChart1"/>
    <dgm:cxn modelId="{9173136E-27A8-4187-AA07-146ABD9CAF89}" type="presOf" srcId="{1E4E2CCE-31CD-4A1D-81B3-53FF368FEE38}" destId="{29177E28-1A5C-46BC-8A56-F0AD4176C2A5}" srcOrd="0" destOrd="0" presId="urn:microsoft.com/office/officeart/2005/8/layout/orgChart1"/>
    <dgm:cxn modelId="{97FC7F4E-25BF-495B-BC41-F437130B5858}" type="presOf" srcId="{B5506663-9BEB-43DF-9F8C-8A9EC5EC0A78}" destId="{C501BC25-2E2D-4B73-9A8A-DB8693F915DE}" srcOrd="0" destOrd="0" presId="urn:microsoft.com/office/officeart/2005/8/layout/orgChart1"/>
    <dgm:cxn modelId="{EA66E16E-48AE-4385-85F6-49FA011903D0}" type="presOf" srcId="{A81119F6-BAF0-4694-B2CA-B07E78C0D888}" destId="{C9C4C1A7-A55D-4394-94ED-1905B40AE921}" srcOrd="0" destOrd="0" presId="urn:microsoft.com/office/officeart/2005/8/layout/orgChart1"/>
    <dgm:cxn modelId="{9B2D2D70-383C-47FE-9A86-23DFDC43BF8F}" srcId="{64352500-A724-4934-9B87-263D04CEFB0D}" destId="{E8EB4253-4965-4F02-AC5E-4B60784CC9DE}" srcOrd="1" destOrd="0" parTransId="{824A3C02-AFC7-4503-95E3-5180C182D4D6}" sibTransId="{4BEB1ACB-C4AF-45CA-8E80-F473D96F1253}"/>
    <dgm:cxn modelId="{12486070-28D0-45D1-86ED-4FE6FB079956}" type="presOf" srcId="{3F63E84F-7637-4809-B791-FF61EFF2F082}" destId="{6E47D314-B255-4024-9B06-319522F59BCB}" srcOrd="1" destOrd="0" presId="urn:microsoft.com/office/officeart/2005/8/layout/orgChart1"/>
    <dgm:cxn modelId="{8B2AE970-B3AA-4CB7-8182-A3130D1BF2ED}" type="presOf" srcId="{E1967430-38B8-4639-B752-E0B21D934277}" destId="{07A094C7-952C-4E3B-8925-C07622C8D78F}" srcOrd="0" destOrd="0" presId="urn:microsoft.com/office/officeart/2005/8/layout/orgChart1"/>
    <dgm:cxn modelId="{69CFAF71-733B-47B6-9640-76E3FBC6BCFF}" type="presOf" srcId="{C7146351-3963-44C4-859D-DB6D2AC38CF0}" destId="{339F31B9-6D09-4F92-8CB9-5ECE9952079F}" srcOrd="0" destOrd="0" presId="urn:microsoft.com/office/officeart/2005/8/layout/orgChart1"/>
    <dgm:cxn modelId="{30C2CC51-0992-4C9F-B254-BBF753907325}" srcId="{64352500-A724-4934-9B87-263D04CEFB0D}" destId="{FF729534-1886-4F64-A929-8A5ADE708FCE}" srcOrd="2" destOrd="0" parTransId="{DAC79BB3-24EE-4EA3-99A5-09B86240F0C4}" sibTransId="{3A2BC83A-8278-47B4-91D5-0E8718AB4AA5}"/>
    <dgm:cxn modelId="{6FFFE651-5CD9-4F2E-84C4-9E6B2803C5DE}" type="presOf" srcId="{FFA89972-E794-4C6D-B1AE-4D51D6B210EB}" destId="{ADA03ACF-7B48-433C-B4A7-4E97F67420A7}" srcOrd="0" destOrd="0" presId="urn:microsoft.com/office/officeart/2005/8/layout/orgChart1"/>
    <dgm:cxn modelId="{4B348172-69F7-4A9D-BB47-13717FA120A1}" type="presOf" srcId="{BF87E38B-4176-4CC9-8047-383199751F99}" destId="{A6D249A7-F6B6-47CB-99D2-0E9F843D4B1F}" srcOrd="0" destOrd="0" presId="urn:microsoft.com/office/officeart/2005/8/layout/orgChart1"/>
    <dgm:cxn modelId="{B7F51855-69EF-4DDF-9970-B69F8BF45668}" type="presOf" srcId="{25FAB315-387D-4484-9128-40EC84067B82}" destId="{04456141-915C-4E53-B02A-B5417B2DE2CF}" srcOrd="1" destOrd="0" presId="urn:microsoft.com/office/officeart/2005/8/layout/orgChart1"/>
    <dgm:cxn modelId="{FCB5A67A-47BA-4D0A-A5D8-CC5E4F749BE3}" type="presOf" srcId="{E3AAC849-A8DC-4A79-8256-C474B9DE8F53}" destId="{E9CD9785-8AB5-45CD-9E35-189CB562206C}" srcOrd="0" destOrd="0" presId="urn:microsoft.com/office/officeart/2005/8/layout/orgChart1"/>
    <dgm:cxn modelId="{E4E53B7B-FF0B-48D5-8A4A-13686937EDBA}" srcId="{0E0CFCBF-A051-4032-8F3D-0F53736B7176}" destId="{5601CF4D-C770-4FCC-A3CC-19DB33AF3638}" srcOrd="0" destOrd="0" parTransId="{EBFAA74F-4A19-43CB-8E13-E9FABA444A1E}" sibTransId="{C3C7902D-22E1-4688-A51F-B8C9E1BDD2B6}"/>
    <dgm:cxn modelId="{39EA9C7F-5321-476B-BEC9-0A0E8066B8B1}" type="presOf" srcId="{E3AAC849-A8DC-4A79-8256-C474B9DE8F53}" destId="{FC4FCA74-3720-4AEC-9206-9E2F1BCFCEC4}" srcOrd="1" destOrd="0" presId="urn:microsoft.com/office/officeart/2005/8/layout/orgChart1"/>
    <dgm:cxn modelId="{63A9C384-E27D-4F2A-A333-CF2C4BD515DB}" srcId="{A3DB62F2-9813-476C-97E8-7B2ABDA3CA54}" destId="{A2EC6236-D6BF-4E34-B4E1-71A2B17A7A5D}" srcOrd="3" destOrd="0" parTransId="{FA3210CA-CBC1-483E-A269-FFD86B8AFEF1}" sibTransId="{6D9FDF5D-CF3A-4D8F-8AD3-7AFBA7831D75}"/>
    <dgm:cxn modelId="{CD835D89-A8E3-4993-A849-DD9E1235C9E8}" type="presOf" srcId="{9BC776CC-AB87-42A0-8E25-ADBBFB5F2787}" destId="{A1FD422C-D95F-4138-97DD-817F59934CE2}" srcOrd="1" destOrd="0" presId="urn:microsoft.com/office/officeart/2005/8/layout/orgChart1"/>
    <dgm:cxn modelId="{F240A889-9DED-4B19-A73C-A6A9FF7527D5}" type="presOf" srcId="{A2EC6236-D6BF-4E34-B4E1-71A2B17A7A5D}" destId="{9A6212AE-B718-4B5B-B22A-5A42544F2E0A}" srcOrd="1" destOrd="0" presId="urn:microsoft.com/office/officeart/2005/8/layout/orgChart1"/>
    <dgm:cxn modelId="{AB013C8C-3F38-4283-BCB7-030F9041ADBF}" srcId="{CEB5D414-BD56-49FE-95CD-D08C7C923DCB}" destId="{F4E374AF-D540-48E7-941E-F1DAD6307ABA}" srcOrd="2" destOrd="0" parTransId="{FA1DA8D2-3F9A-4E4E-A9A4-2173D09F6EBD}" sibTransId="{F74992B3-09E9-4372-B269-FCC0891743E6}"/>
    <dgm:cxn modelId="{1D6D588E-B4EC-4441-B2AB-68754C6CF116}" type="presOf" srcId="{A3DB62F2-9813-476C-97E8-7B2ABDA3CA54}" destId="{68FDCE8A-74BA-4242-A5E1-62DF02479D81}" srcOrd="0" destOrd="0" presId="urn:microsoft.com/office/officeart/2005/8/layout/orgChart1"/>
    <dgm:cxn modelId="{5712EB8E-259B-42A4-933A-95C3FE86CA76}" type="presOf" srcId="{EAC2C7C5-BB95-48CE-8394-70DBCAC256CC}" destId="{97099A3E-21F0-4EB6-90BA-A57A3C29B976}" srcOrd="0" destOrd="0" presId="urn:microsoft.com/office/officeart/2005/8/layout/orgChart1"/>
    <dgm:cxn modelId="{521BA38F-BD42-4900-A7EA-E1AD004DD173}" type="presOf" srcId="{412784EE-F535-4F77-A1DC-FF495A323EC6}" destId="{FFD65671-79B2-4EF0-B5DD-A7B9D437E823}" srcOrd="1" destOrd="0" presId="urn:microsoft.com/office/officeart/2005/8/layout/orgChart1"/>
    <dgm:cxn modelId="{F08B0B95-85B9-4B41-AEFF-B68E020CCB70}" srcId="{FF729534-1886-4F64-A929-8A5ADE708FCE}" destId="{A6398C27-84A5-4E91-803C-45D9CDA495B9}" srcOrd="0" destOrd="0" parTransId="{B5506663-9BEB-43DF-9F8C-8A9EC5EC0A78}" sibTransId="{53D8216B-5DE8-4AC0-9CF6-39DF4FCAFD05}"/>
    <dgm:cxn modelId="{494C1595-5374-430C-B920-785E824D0D4F}" type="presOf" srcId="{64352500-A724-4934-9B87-263D04CEFB0D}" destId="{10F90959-2226-4E18-9EC1-73B60560CE38}" srcOrd="1" destOrd="0" presId="urn:microsoft.com/office/officeart/2005/8/layout/orgChart1"/>
    <dgm:cxn modelId="{49BC7695-6513-497C-81DA-DD3610A16A9A}" type="presOf" srcId="{658AFCF7-1AE2-4289-BA12-2E650ED21D7A}" destId="{19159046-1C53-4E35-9EA6-DCB9B93EA7E0}" srcOrd="0" destOrd="0" presId="urn:microsoft.com/office/officeart/2005/8/layout/orgChart1"/>
    <dgm:cxn modelId="{396FA696-994D-4D88-A9A7-BAB138ACBF1E}" type="presOf" srcId="{A2EC6236-D6BF-4E34-B4E1-71A2B17A7A5D}" destId="{F42873CF-C6CB-42E0-BCCC-474F4EC3BE61}" srcOrd="0" destOrd="0" presId="urn:microsoft.com/office/officeart/2005/8/layout/orgChart1"/>
    <dgm:cxn modelId="{3A37F897-E620-4493-8737-0A53CE89CBED}" type="presOf" srcId="{334E3E89-5F1C-40E4-AA8C-C770D0D4EC0B}" destId="{B8846EAA-ABA9-404D-9000-F95065119D0E}" srcOrd="0" destOrd="0" presId="urn:microsoft.com/office/officeart/2005/8/layout/orgChart1"/>
    <dgm:cxn modelId="{5801DE99-F382-454E-BDD6-EB755549ED20}" type="presOf" srcId="{FF729534-1886-4F64-A929-8A5ADE708FCE}" destId="{23BC3E4A-6CB7-4B3D-B253-366AA96281DD}" srcOrd="0" destOrd="0" presId="urn:microsoft.com/office/officeart/2005/8/layout/orgChart1"/>
    <dgm:cxn modelId="{B077E099-B517-4E70-9D55-51A0EADA5AC3}" srcId="{FF729534-1886-4F64-A929-8A5ADE708FCE}" destId="{9BC776CC-AB87-42A0-8E25-ADBBFB5F2787}" srcOrd="2" destOrd="0" parTransId="{334E3E89-5F1C-40E4-AA8C-C770D0D4EC0B}" sibTransId="{B0AB8360-181C-4996-9FDF-12B223ADAE6B}"/>
    <dgm:cxn modelId="{DB62149B-D152-4D4D-B2E2-E48DBC765FC5}" type="presOf" srcId="{64352500-A724-4934-9B87-263D04CEFB0D}" destId="{02CB0E22-E0B0-4FEB-8CAC-B216717189B1}" srcOrd="0" destOrd="0" presId="urn:microsoft.com/office/officeart/2005/8/layout/orgChart1"/>
    <dgm:cxn modelId="{7A1C029F-EB03-4D72-AE1B-03ABDE67356B}" srcId="{E8EB4253-4965-4F02-AC5E-4B60784CC9DE}" destId="{658AFCF7-1AE2-4289-BA12-2E650ED21D7A}" srcOrd="0" destOrd="0" parTransId="{EAC2C7C5-BB95-48CE-8394-70DBCAC256CC}" sibTransId="{3D4F14C5-8272-428B-82BF-718A89A0C3A5}"/>
    <dgm:cxn modelId="{DA4B429F-EE87-4400-AF44-3194AF878590}" type="presOf" srcId="{EBFAA74F-4A19-43CB-8E13-E9FABA444A1E}" destId="{C09E2291-8BB7-450F-B198-0E3D2D18CEFF}" srcOrd="0" destOrd="0" presId="urn:microsoft.com/office/officeart/2005/8/layout/orgChart1"/>
    <dgm:cxn modelId="{5BB647A3-7377-40EB-B2BA-6192406BCBCE}" type="presOf" srcId="{CF93F3A8-A199-4DCB-8C9B-ED123C32F761}" destId="{BBC10E2B-9419-45E5-9F53-55705D0E1437}" srcOrd="0" destOrd="0" presId="urn:microsoft.com/office/officeart/2005/8/layout/orgChart1"/>
    <dgm:cxn modelId="{135AAAA5-A58C-457B-A557-EE5B2F4301A1}" type="presOf" srcId="{CE805D8A-1D5A-471D-82CD-05E711CACAC1}" destId="{A743A055-46F7-48C9-872F-23419620955B}" srcOrd="0" destOrd="0" presId="urn:microsoft.com/office/officeart/2005/8/layout/orgChart1"/>
    <dgm:cxn modelId="{3F8901A8-F322-4ADC-9E60-70F6EDF6B286}" type="presOf" srcId="{D6E896B7-7AA5-400F-BC01-631A9F7E5D1A}" destId="{E181C44F-29A1-40A8-9D6C-197404E30D2A}" srcOrd="0" destOrd="0" presId="urn:microsoft.com/office/officeart/2005/8/layout/orgChart1"/>
    <dgm:cxn modelId="{C550D3AC-B596-4816-8604-82903218E508}" type="presOf" srcId="{1E4E2CCE-31CD-4A1D-81B3-53FF368FEE38}" destId="{FBD08FB5-0482-49F4-B914-5687F9514E83}" srcOrd="1" destOrd="0" presId="urn:microsoft.com/office/officeart/2005/8/layout/orgChart1"/>
    <dgm:cxn modelId="{B38066AD-77E9-41DD-86E8-9B75261BE865}" type="presOf" srcId="{1D6A2FFA-313D-4C1C-869D-2E28B4AF8665}" destId="{08F9D492-6622-4F4B-A85A-6C0A1499FA59}" srcOrd="0" destOrd="0" presId="urn:microsoft.com/office/officeart/2005/8/layout/orgChart1"/>
    <dgm:cxn modelId="{E95BACAE-FED4-48B7-AE0E-2C639A212D6D}" type="presOf" srcId="{60B4DF0C-C877-4E37-AB0F-016DBDC3D2A6}" destId="{191EF088-D890-4A19-AA53-35FB04A5FB58}" srcOrd="0" destOrd="0" presId="urn:microsoft.com/office/officeart/2005/8/layout/orgChart1"/>
    <dgm:cxn modelId="{C09373AF-0C6F-450B-AFD4-B1D284200F6C}" type="presOf" srcId="{F89261D8-EAB2-4B29-BE1C-8A7BF359CCE7}" destId="{4F841898-D09A-47EC-BF3D-8108C84A1C78}" srcOrd="0" destOrd="0" presId="urn:microsoft.com/office/officeart/2005/8/layout/orgChart1"/>
    <dgm:cxn modelId="{71F48EB0-13D8-4658-8BF3-FF62DDE117D0}" type="presOf" srcId="{69D3E39E-8DBB-4A63-B911-06F489FC0F68}" destId="{A5073B12-9A4B-42C5-AC1C-07CAFCC5C3B5}" srcOrd="0" destOrd="0" presId="urn:microsoft.com/office/officeart/2005/8/layout/orgChart1"/>
    <dgm:cxn modelId="{54D6DAB0-881D-4CE2-9F07-4A0BE6DE857D}" type="presOf" srcId="{69D3E39E-8DBB-4A63-B911-06F489FC0F68}" destId="{12D224F5-ECBE-4EFA-812E-9D35B27B0480}" srcOrd="1" destOrd="0" presId="urn:microsoft.com/office/officeart/2005/8/layout/orgChart1"/>
    <dgm:cxn modelId="{C9DE83B3-F633-4328-B6DD-F12E7FFF39ED}" type="presOf" srcId="{5601CF4D-C770-4FCC-A3CC-19DB33AF3638}" destId="{1D4C3A26-2AB4-4862-83CA-930B84CA12C7}" srcOrd="1" destOrd="0" presId="urn:microsoft.com/office/officeart/2005/8/layout/orgChart1"/>
    <dgm:cxn modelId="{7D1DCBB6-E792-4FBF-BA53-ECDD0E355512}" type="presOf" srcId="{658AFCF7-1AE2-4289-BA12-2E650ED21D7A}" destId="{550D9814-73F2-416E-B0EB-2A888BEBF323}" srcOrd="1" destOrd="0" presId="urn:microsoft.com/office/officeart/2005/8/layout/orgChart1"/>
    <dgm:cxn modelId="{5CE2ACB7-BC00-4A13-B735-8A30CA7A873E}" type="presOf" srcId="{9BC776CC-AB87-42A0-8E25-ADBBFB5F2787}" destId="{9E9BFEBE-23AB-429E-8C81-8D6493D22D50}" srcOrd="0" destOrd="0" presId="urn:microsoft.com/office/officeart/2005/8/layout/orgChart1"/>
    <dgm:cxn modelId="{42703CB8-17B8-4D60-927E-43A327FFC5A1}" type="presOf" srcId="{9708A317-8EB0-4380-AA1D-6844209E1E6D}" destId="{86C99E92-AF77-455C-A8E9-4300CD01553C}" srcOrd="1" destOrd="0" presId="urn:microsoft.com/office/officeart/2005/8/layout/orgChart1"/>
    <dgm:cxn modelId="{CEE232BA-9FAF-4295-B004-FBB6E134ABEB}" type="presOf" srcId="{29729800-B1B0-4AA5-8BB7-74A6065FA700}" destId="{63CAB242-172A-43EE-9991-F4B9E385AD13}" srcOrd="0" destOrd="0" presId="urn:microsoft.com/office/officeart/2005/8/layout/orgChart1"/>
    <dgm:cxn modelId="{4DB9A6BB-A0E8-4C63-B7D4-7570EAA8AC9F}" type="presOf" srcId="{7A4DD0D4-B57C-4E13-9857-A4851474BFD3}" destId="{9CFC0F5E-0F11-4B8C-8A6D-81BF843D9A09}" srcOrd="0" destOrd="0" presId="urn:microsoft.com/office/officeart/2005/8/layout/orgChart1"/>
    <dgm:cxn modelId="{F50E46BF-6C50-4828-8A7A-7AF1C7DE4B04}" type="presOf" srcId="{BA5113C5-6926-4A6C-9800-C9A06DAA9400}" destId="{B9D7B0F5-0796-43C1-A1BE-8F5BCFF9A160}" srcOrd="0" destOrd="0" presId="urn:microsoft.com/office/officeart/2005/8/layout/orgChart1"/>
    <dgm:cxn modelId="{32D2B8C1-0D01-42D1-ADC3-F81772C6EBAD}" type="presOf" srcId="{712E2512-70B1-4EF4-8867-8E122F16D629}" destId="{4B2D3861-D796-46EC-9AB9-5C6DF11B5468}" srcOrd="0" destOrd="0" presId="urn:microsoft.com/office/officeart/2005/8/layout/orgChart1"/>
    <dgm:cxn modelId="{A42E33C5-7C2B-4390-A3A2-70EA556B0A94}" type="presOf" srcId="{D5C4AEF2-C4E7-4BE9-9BC3-4EEB2B4FFCB4}" destId="{B1BF024B-EA5A-442F-AEA5-2733E14018A0}" srcOrd="0" destOrd="0" presId="urn:microsoft.com/office/officeart/2005/8/layout/orgChart1"/>
    <dgm:cxn modelId="{EA7B3DC5-9F68-426A-87A0-57F9F169E0E6}" srcId="{A3DB62F2-9813-476C-97E8-7B2ABDA3CA54}" destId="{F89261D8-EAB2-4B29-BE1C-8A7BF359CCE7}" srcOrd="1" destOrd="0" parTransId="{A81119F6-BAF0-4694-B2CA-B07E78C0D888}" sibTransId="{37EF77D3-23E4-4B9D-98A4-4C4B9A055DCB}"/>
    <dgm:cxn modelId="{ECC944CA-158F-4181-91A0-6AE158B3F6AD}" type="presOf" srcId="{F4E374AF-D540-48E7-941E-F1DAD6307ABA}" destId="{66ED2E77-2CCD-4656-9188-7BB5DD746C5C}" srcOrd="0" destOrd="0" presId="urn:microsoft.com/office/officeart/2005/8/layout/orgChart1"/>
    <dgm:cxn modelId="{7036E2CB-421B-4DB1-9092-801052F32CBE}" type="presOf" srcId="{B8A807B8-C2D0-4E36-838E-2DC804EA7273}" destId="{1F656787-D00A-4178-A744-4956B0914B9A}" srcOrd="0" destOrd="0" presId="urn:microsoft.com/office/officeart/2005/8/layout/orgChart1"/>
    <dgm:cxn modelId="{6B30C6D1-5E74-4C92-AA32-C57B4046A1D5}" type="presOf" srcId="{578948A4-974B-413C-89D3-29826CA4FEEC}" destId="{AA52191D-008B-4C7F-8946-F924E3BDD826}" srcOrd="0" destOrd="0" presId="urn:microsoft.com/office/officeart/2005/8/layout/orgChart1"/>
    <dgm:cxn modelId="{A040E5D1-B113-45DE-9725-55EB2DCDDE71}" type="presOf" srcId="{20412CDC-CA2F-4AC0-997B-4F9A32367F3C}" destId="{ED1F7940-DCEA-4C74-8F88-247314E30520}" srcOrd="0" destOrd="0" presId="urn:microsoft.com/office/officeart/2005/8/layout/orgChart1"/>
    <dgm:cxn modelId="{15E972D7-45D1-4B8B-8DD3-965DC85BE0DF}" srcId="{CEB5D414-BD56-49FE-95CD-D08C7C923DCB}" destId="{60B4DF0C-C877-4E37-AB0F-016DBDC3D2A6}" srcOrd="0" destOrd="0" parTransId="{2EEFA0A1-976F-4C56-934F-B1FC9CEFC9EE}" sibTransId="{08144643-8A57-4F91-9643-236DC61D06D7}"/>
    <dgm:cxn modelId="{C4A5A9DA-40FF-4F5D-9ECE-8FEE55FE1EB7}" srcId="{0E0CFCBF-A051-4032-8F3D-0F53736B7176}" destId="{69D3E39E-8DBB-4A63-B911-06F489FC0F68}" srcOrd="2" destOrd="0" parTransId="{1ED65983-15A8-41F5-B534-7EE254E5CE99}" sibTransId="{8B7A566A-F030-4027-AC71-68D134F25FA3}"/>
    <dgm:cxn modelId="{1A5056DB-E6FE-4AFC-A32C-06A2C5C129D4}" type="presOf" srcId="{E8EB4253-4965-4F02-AC5E-4B60784CC9DE}" destId="{B9483C5E-EAAB-4329-BDAE-5179ABF4F0AB}" srcOrd="0" destOrd="0" presId="urn:microsoft.com/office/officeart/2005/8/layout/orgChart1"/>
    <dgm:cxn modelId="{101FB5E1-391B-48EB-AEE0-CD699F755A47}" srcId="{64352500-A724-4934-9B87-263D04CEFB0D}" destId="{7B44E0EB-867C-4591-B62F-3845C3F48078}" srcOrd="6" destOrd="0" parTransId="{1EC114AF-0C2C-4CF0-8370-25641EFC99B0}" sibTransId="{FBEAFA2F-A4AE-412A-9710-A2E8595EF3D9}"/>
    <dgm:cxn modelId="{0840A1E5-88D9-4F75-9F73-BEED135CE0CE}" srcId="{FF729534-1886-4F64-A929-8A5ADE708FCE}" destId="{25FAB315-387D-4484-9128-40EC84067B82}" srcOrd="3" destOrd="0" parTransId="{6F0C1CA7-961F-48EB-9A9C-8C0C70543D66}" sibTransId="{5B27F575-B38A-467C-9A3D-634A0EA80DE1}"/>
    <dgm:cxn modelId="{6547A6E5-D243-457B-A916-8B5726F3D0E0}" type="presOf" srcId="{FFA89972-E794-4C6D-B1AE-4D51D6B210EB}" destId="{7A94F51F-20FB-4837-B421-CE64737F478C}" srcOrd="1" destOrd="0" presId="urn:microsoft.com/office/officeart/2005/8/layout/orgChart1"/>
    <dgm:cxn modelId="{31A2E4E5-C217-483E-B03F-5A939BC58360}" srcId="{7B44E0EB-867C-4591-B62F-3845C3F48078}" destId="{1D6A2FFA-313D-4C1C-869D-2E28B4AF8665}" srcOrd="2" destOrd="0" parTransId="{BF87E38B-4176-4CC9-8047-383199751F99}" sibTransId="{918DC063-C125-4815-AF88-C9CD19B3E879}"/>
    <dgm:cxn modelId="{B68AD0E9-790C-412D-81DB-5D8145E8D782}" srcId="{7B44E0EB-867C-4591-B62F-3845C3F48078}" destId="{E1967430-38B8-4639-B752-E0B21D934277}" srcOrd="4" destOrd="0" parTransId="{4076B9B1-2046-4E3A-A0F7-B9EBF4122920}" sibTransId="{4FF0D760-A7CC-485B-9161-C19D8E2E5CB1}"/>
    <dgm:cxn modelId="{F9700FEA-1EC7-43D4-A8A1-3E59C1DBB9F6}" type="presOf" srcId="{D2F6210F-FCA3-474C-B21C-D299B0892F89}" destId="{788E6BB0-5D8F-4099-8BD5-D91387559642}" srcOrd="0" destOrd="0" presId="urn:microsoft.com/office/officeart/2005/8/layout/orgChart1"/>
    <dgm:cxn modelId="{59536AEC-DDEF-4B5A-B865-32188F1E4808}" type="presOf" srcId="{E20476D2-5C90-4D5E-83D7-2A20CF8B1814}" destId="{FF4F2705-6765-4AD1-B9C3-B3BE37F332A2}" srcOrd="1" destOrd="0" presId="urn:microsoft.com/office/officeart/2005/8/layout/orgChart1"/>
    <dgm:cxn modelId="{6D7869EE-555B-4A6C-A9EE-695C8FAFCA8B}" type="presOf" srcId="{6852AB1C-5913-4331-BA11-D65B43F5F47F}" destId="{EB17B224-DD12-45D1-8EA8-B81546580DA5}" srcOrd="1" destOrd="0" presId="urn:microsoft.com/office/officeart/2005/8/layout/orgChart1"/>
    <dgm:cxn modelId="{14A809EF-56DB-4B9A-B7FD-104F3DB03D92}" type="presOf" srcId="{A6398C27-84A5-4E91-803C-45D9CDA495B9}" destId="{509CF353-75EF-441A-A80A-16D26652478B}" srcOrd="1" destOrd="0" presId="urn:microsoft.com/office/officeart/2005/8/layout/orgChart1"/>
    <dgm:cxn modelId="{87D041F0-B809-4D18-9766-71C80C99AA67}" type="presOf" srcId="{AEEC9DD9-AC7E-4695-B6AF-E85D402EA91C}" destId="{3A7C0F19-0634-4BA3-9EC8-CD82F6DF7D67}" srcOrd="0" destOrd="0" presId="urn:microsoft.com/office/officeart/2005/8/layout/orgChart1"/>
    <dgm:cxn modelId="{336DA9F0-F07B-45A1-AF1B-14E2D6CFA3EF}" srcId="{D6E896B7-7AA5-400F-BC01-631A9F7E5D1A}" destId="{9708A317-8EB0-4380-AA1D-6844209E1E6D}" srcOrd="1" destOrd="0" parTransId="{70775DB6-B6A2-4962-82DD-6A99F7262D58}" sibTransId="{B3DB4858-7C81-477C-87F7-02F9DE33C539}"/>
    <dgm:cxn modelId="{E4D8C2F4-16C7-49EE-9778-B53D2D42D856}" srcId="{64352500-A724-4934-9B87-263D04CEFB0D}" destId="{CF93F3A8-A199-4DCB-8C9B-ED123C32F761}" srcOrd="5" destOrd="0" parTransId="{B313CDA0-D7A2-475B-8B30-85AE879D61B4}" sibTransId="{4CC6BFE9-E5E7-43D0-A3FD-053E5A07924C}"/>
    <dgm:cxn modelId="{D089D5F5-53FB-44CB-9AF4-2D0EA030F03C}" type="presOf" srcId="{6852AB1C-5913-4331-BA11-D65B43F5F47F}" destId="{C8CD31D6-8470-4A2A-96E6-510D045BE6C5}" srcOrd="0" destOrd="0" presId="urn:microsoft.com/office/officeart/2005/8/layout/orgChart1"/>
    <dgm:cxn modelId="{7ADF39F8-B0F7-4988-A91C-BE46B0D48FFA}" srcId="{E8EB4253-4965-4F02-AC5E-4B60784CC9DE}" destId="{C7146351-3963-44C4-859D-DB6D2AC38CF0}" srcOrd="1" destOrd="0" parTransId="{D2F6210F-FCA3-474C-B21C-D299B0892F89}" sibTransId="{2A3521EC-38B8-412B-957D-CDDFCEE11C51}"/>
    <dgm:cxn modelId="{F82B90FA-2C14-4364-9835-D3534E71E042}" type="presOf" srcId="{412784EE-F535-4F77-A1DC-FF495A323EC6}" destId="{E552414D-09AB-43E3-AA9F-5686EF22A9F6}" srcOrd="0" destOrd="0" presId="urn:microsoft.com/office/officeart/2005/8/layout/orgChart1"/>
    <dgm:cxn modelId="{A43B1BFD-3B4C-4897-83EB-782B2F3F1872}" type="presOf" srcId="{B313CDA0-D7A2-475B-8B30-85AE879D61B4}" destId="{378DE9DB-7EF7-4A00-BEA3-426BC6E8E958}" srcOrd="0" destOrd="0" presId="urn:microsoft.com/office/officeart/2005/8/layout/orgChart1"/>
    <dgm:cxn modelId="{06BA45FD-FB73-4609-9051-B17DF06A1D6F}" type="presOf" srcId="{8ACCD391-0AF9-403D-AE24-6FC2F38A6317}" destId="{D72CE293-D64D-40C0-9214-4B26B1F7A8E5}" srcOrd="0" destOrd="0" presId="urn:microsoft.com/office/officeart/2005/8/layout/orgChart1"/>
    <dgm:cxn modelId="{88F971EB-10C7-4B5A-9596-6BCD099CAF21}" type="presParOf" srcId="{ED1F7940-DCEA-4C74-8F88-247314E30520}" destId="{259F2C66-3785-43B2-93DC-CA01D301FF0E}" srcOrd="0" destOrd="0" presId="urn:microsoft.com/office/officeart/2005/8/layout/orgChart1"/>
    <dgm:cxn modelId="{823E5641-8508-4C2E-88A8-4021D028A825}" type="presParOf" srcId="{259F2C66-3785-43B2-93DC-CA01D301FF0E}" destId="{4D6710B9-1099-444D-81A1-F2D78F78148F}" srcOrd="0" destOrd="0" presId="urn:microsoft.com/office/officeart/2005/8/layout/orgChart1"/>
    <dgm:cxn modelId="{E4470B3E-283B-4992-B207-90B8D75DECF4}" type="presParOf" srcId="{4D6710B9-1099-444D-81A1-F2D78F78148F}" destId="{02CB0E22-E0B0-4FEB-8CAC-B216717189B1}" srcOrd="0" destOrd="0" presId="urn:microsoft.com/office/officeart/2005/8/layout/orgChart1"/>
    <dgm:cxn modelId="{3A126870-B89E-41ED-B151-95E2169ACFB8}" type="presParOf" srcId="{4D6710B9-1099-444D-81A1-F2D78F78148F}" destId="{10F90959-2226-4E18-9EC1-73B60560CE38}" srcOrd="1" destOrd="0" presId="urn:microsoft.com/office/officeart/2005/8/layout/orgChart1"/>
    <dgm:cxn modelId="{6FF4CA4A-4F64-44D9-A26C-740D4E195F32}" type="presParOf" srcId="{259F2C66-3785-43B2-93DC-CA01D301FF0E}" destId="{593CADEC-F89C-4F78-973C-1CBF0B192A17}" srcOrd="1" destOrd="0" presId="urn:microsoft.com/office/officeart/2005/8/layout/orgChart1"/>
    <dgm:cxn modelId="{459793AA-B7C5-401F-982B-8F7CA812D7CE}" type="presParOf" srcId="{593CADEC-F89C-4F78-973C-1CBF0B192A17}" destId="{BA50D3D5-41D2-4283-A6B0-4888E1337E63}" srcOrd="0" destOrd="0" presId="urn:microsoft.com/office/officeart/2005/8/layout/orgChart1"/>
    <dgm:cxn modelId="{1AE25210-2275-4095-AE27-DC8A14817B34}" type="presParOf" srcId="{593CADEC-F89C-4F78-973C-1CBF0B192A17}" destId="{6367DBAA-424E-4D42-B93B-4AAD73295465}" srcOrd="1" destOrd="0" presId="urn:microsoft.com/office/officeart/2005/8/layout/orgChart1"/>
    <dgm:cxn modelId="{91588B75-771A-4476-A41E-40B5BADDE531}" type="presParOf" srcId="{6367DBAA-424E-4D42-B93B-4AAD73295465}" destId="{288A0F73-7274-46BB-93BA-C9F14E63367E}" srcOrd="0" destOrd="0" presId="urn:microsoft.com/office/officeart/2005/8/layout/orgChart1"/>
    <dgm:cxn modelId="{837AB771-4D33-43CA-BE93-7F53C5496378}" type="presParOf" srcId="{288A0F73-7274-46BB-93BA-C9F14E63367E}" destId="{C8CD31D6-8470-4A2A-96E6-510D045BE6C5}" srcOrd="0" destOrd="0" presId="urn:microsoft.com/office/officeart/2005/8/layout/orgChart1"/>
    <dgm:cxn modelId="{02A37B1C-393B-487C-9945-CF8E020E8198}" type="presParOf" srcId="{288A0F73-7274-46BB-93BA-C9F14E63367E}" destId="{EB17B224-DD12-45D1-8EA8-B81546580DA5}" srcOrd="1" destOrd="0" presId="urn:microsoft.com/office/officeart/2005/8/layout/orgChart1"/>
    <dgm:cxn modelId="{D30EAC3C-F210-45F5-BD77-7F0E7E37D904}" type="presParOf" srcId="{6367DBAA-424E-4D42-B93B-4AAD73295465}" destId="{0AD18F47-0AEE-4F25-9472-73A3A703AA16}" srcOrd="1" destOrd="0" presId="urn:microsoft.com/office/officeart/2005/8/layout/orgChart1"/>
    <dgm:cxn modelId="{765C8F4A-EA25-4BD3-A567-22141B277CD6}" type="presParOf" srcId="{6367DBAA-424E-4D42-B93B-4AAD73295465}" destId="{B73A6CE9-5DB6-4A7E-BFA2-7F5F0BBE2A90}" srcOrd="2" destOrd="0" presId="urn:microsoft.com/office/officeart/2005/8/layout/orgChart1"/>
    <dgm:cxn modelId="{73078A3D-BE30-400C-BCC2-488EDB85CBE6}" type="presParOf" srcId="{593CADEC-F89C-4F78-973C-1CBF0B192A17}" destId="{EB416A33-9B76-433C-A6F2-2FFEF3B2FC20}" srcOrd="2" destOrd="0" presId="urn:microsoft.com/office/officeart/2005/8/layout/orgChart1"/>
    <dgm:cxn modelId="{A104181B-5D56-48B8-9D5D-D26C4E7A13BA}" type="presParOf" srcId="{593CADEC-F89C-4F78-973C-1CBF0B192A17}" destId="{81BBBDD1-2DE6-4180-B5CB-6D5D7EFB0CF8}" srcOrd="3" destOrd="0" presId="urn:microsoft.com/office/officeart/2005/8/layout/orgChart1"/>
    <dgm:cxn modelId="{7426F05B-5291-4757-9661-BC0F951897E5}" type="presParOf" srcId="{81BBBDD1-2DE6-4180-B5CB-6D5D7EFB0CF8}" destId="{1DCDDD9B-6E3B-433E-A9F4-8EA55975259E}" srcOrd="0" destOrd="0" presId="urn:microsoft.com/office/officeart/2005/8/layout/orgChart1"/>
    <dgm:cxn modelId="{0B9D25B9-0ADB-4D6E-B9B2-7BE4B720F917}" type="presParOf" srcId="{1DCDDD9B-6E3B-433E-A9F4-8EA55975259E}" destId="{B9483C5E-EAAB-4329-BDAE-5179ABF4F0AB}" srcOrd="0" destOrd="0" presId="urn:microsoft.com/office/officeart/2005/8/layout/orgChart1"/>
    <dgm:cxn modelId="{2797857A-337D-473D-B5C9-67977663CE4F}" type="presParOf" srcId="{1DCDDD9B-6E3B-433E-A9F4-8EA55975259E}" destId="{01CEF6A7-5AFE-4A24-ACD5-050C3C2D75EB}" srcOrd="1" destOrd="0" presId="urn:microsoft.com/office/officeart/2005/8/layout/orgChart1"/>
    <dgm:cxn modelId="{CC22F270-4532-4440-B0DD-E895ED55D237}" type="presParOf" srcId="{81BBBDD1-2DE6-4180-B5CB-6D5D7EFB0CF8}" destId="{C038B19F-A009-4AC0-AFA8-93ECB9D93EAF}" srcOrd="1" destOrd="0" presId="urn:microsoft.com/office/officeart/2005/8/layout/orgChart1"/>
    <dgm:cxn modelId="{ABBA4CD5-3358-4CAF-AE11-432426AF566F}" type="presParOf" srcId="{C038B19F-A009-4AC0-AFA8-93ECB9D93EAF}" destId="{97099A3E-21F0-4EB6-90BA-A57A3C29B976}" srcOrd="0" destOrd="0" presId="urn:microsoft.com/office/officeart/2005/8/layout/orgChart1"/>
    <dgm:cxn modelId="{34A8A6E1-1354-4FAF-9536-C4AC08D568AA}" type="presParOf" srcId="{C038B19F-A009-4AC0-AFA8-93ECB9D93EAF}" destId="{EAE9BA01-7F90-4C75-A0F3-248A86F83279}" srcOrd="1" destOrd="0" presId="urn:microsoft.com/office/officeart/2005/8/layout/orgChart1"/>
    <dgm:cxn modelId="{37123969-3CE6-4177-AF9B-79D2C187013C}" type="presParOf" srcId="{EAE9BA01-7F90-4C75-A0F3-248A86F83279}" destId="{947663D9-622B-409B-ABF5-E8EB246A99A2}" srcOrd="0" destOrd="0" presId="urn:microsoft.com/office/officeart/2005/8/layout/orgChart1"/>
    <dgm:cxn modelId="{B3C8BF67-CC5C-4356-AA73-0413E8C1F904}" type="presParOf" srcId="{947663D9-622B-409B-ABF5-E8EB246A99A2}" destId="{19159046-1C53-4E35-9EA6-DCB9B93EA7E0}" srcOrd="0" destOrd="0" presId="urn:microsoft.com/office/officeart/2005/8/layout/orgChart1"/>
    <dgm:cxn modelId="{5624D517-87B9-4EE1-B490-8E0D7B24FE33}" type="presParOf" srcId="{947663D9-622B-409B-ABF5-E8EB246A99A2}" destId="{550D9814-73F2-416E-B0EB-2A888BEBF323}" srcOrd="1" destOrd="0" presId="urn:microsoft.com/office/officeart/2005/8/layout/orgChart1"/>
    <dgm:cxn modelId="{E4FE2843-2B88-46CD-A583-F90309C3C5C7}" type="presParOf" srcId="{EAE9BA01-7F90-4C75-A0F3-248A86F83279}" destId="{200FB7EF-217F-42B5-9636-20CE4918A482}" srcOrd="1" destOrd="0" presId="urn:microsoft.com/office/officeart/2005/8/layout/orgChart1"/>
    <dgm:cxn modelId="{5B1DDEF8-F039-4AE8-A466-C74DDF495266}" type="presParOf" srcId="{EAE9BA01-7F90-4C75-A0F3-248A86F83279}" destId="{35E444C9-7871-4225-8288-14E8555EC226}" srcOrd="2" destOrd="0" presId="urn:microsoft.com/office/officeart/2005/8/layout/orgChart1"/>
    <dgm:cxn modelId="{A37DA4D2-99B1-488A-BB4E-0982FCC4B7BD}" type="presParOf" srcId="{C038B19F-A009-4AC0-AFA8-93ECB9D93EAF}" destId="{788E6BB0-5D8F-4099-8BD5-D91387559642}" srcOrd="2" destOrd="0" presId="urn:microsoft.com/office/officeart/2005/8/layout/orgChart1"/>
    <dgm:cxn modelId="{C81CA30B-44BB-4627-A25E-59ECB4B73AAF}" type="presParOf" srcId="{C038B19F-A009-4AC0-AFA8-93ECB9D93EAF}" destId="{09790516-0458-41C0-8183-186DE9FB2BE3}" srcOrd="3" destOrd="0" presId="urn:microsoft.com/office/officeart/2005/8/layout/orgChart1"/>
    <dgm:cxn modelId="{4776E8F5-5435-4767-A90D-B95CB0F7671B}" type="presParOf" srcId="{09790516-0458-41C0-8183-186DE9FB2BE3}" destId="{2BC56BA4-B542-4993-81BB-CD2EB8171F66}" srcOrd="0" destOrd="0" presId="urn:microsoft.com/office/officeart/2005/8/layout/orgChart1"/>
    <dgm:cxn modelId="{20C1ADBB-1373-4C5B-A71F-B8E9D7DADA9A}" type="presParOf" srcId="{2BC56BA4-B542-4993-81BB-CD2EB8171F66}" destId="{339F31B9-6D09-4F92-8CB9-5ECE9952079F}" srcOrd="0" destOrd="0" presId="urn:microsoft.com/office/officeart/2005/8/layout/orgChart1"/>
    <dgm:cxn modelId="{01CFD273-CC6D-4F75-A11E-E9334F3427BD}" type="presParOf" srcId="{2BC56BA4-B542-4993-81BB-CD2EB8171F66}" destId="{FE2D1640-3BEA-474F-BE37-389F5F74F56C}" srcOrd="1" destOrd="0" presId="urn:microsoft.com/office/officeart/2005/8/layout/orgChart1"/>
    <dgm:cxn modelId="{2CEFED5D-945C-4CC7-9B28-47E5E93A689C}" type="presParOf" srcId="{09790516-0458-41C0-8183-186DE9FB2BE3}" destId="{66B6020F-0E71-4214-A023-FFE808CF8FCA}" srcOrd="1" destOrd="0" presId="urn:microsoft.com/office/officeart/2005/8/layout/orgChart1"/>
    <dgm:cxn modelId="{3D8713EC-D485-4BEC-A220-A3D93E9C0E3F}" type="presParOf" srcId="{09790516-0458-41C0-8183-186DE9FB2BE3}" destId="{68EAC98E-040E-4C0A-B452-736D2B8505A0}" srcOrd="2" destOrd="0" presId="urn:microsoft.com/office/officeart/2005/8/layout/orgChart1"/>
    <dgm:cxn modelId="{51F335A3-3A6B-4C91-B410-22738C9099A8}" type="presParOf" srcId="{81BBBDD1-2DE6-4180-B5CB-6D5D7EFB0CF8}" destId="{73264E71-D652-4C5B-87E4-39DDBF72F076}" srcOrd="2" destOrd="0" presId="urn:microsoft.com/office/officeart/2005/8/layout/orgChart1"/>
    <dgm:cxn modelId="{9737D226-408E-488A-9B0F-60C7AF8CDAF5}" type="presParOf" srcId="{593CADEC-F89C-4F78-973C-1CBF0B192A17}" destId="{1A2C0DD8-F395-46EB-8303-91B66D383C13}" srcOrd="4" destOrd="0" presId="urn:microsoft.com/office/officeart/2005/8/layout/orgChart1"/>
    <dgm:cxn modelId="{16B77A49-171F-4F02-978D-602A59CCC853}" type="presParOf" srcId="{593CADEC-F89C-4F78-973C-1CBF0B192A17}" destId="{C49F4178-3B36-4B8C-AAD3-CC2A9194DD43}" srcOrd="5" destOrd="0" presId="urn:microsoft.com/office/officeart/2005/8/layout/orgChart1"/>
    <dgm:cxn modelId="{6E016469-56C6-433E-81B1-18A884BC0E60}" type="presParOf" srcId="{C49F4178-3B36-4B8C-AAD3-CC2A9194DD43}" destId="{682316B7-ABE3-42AC-9457-1DAD4A106C4C}" srcOrd="0" destOrd="0" presId="urn:microsoft.com/office/officeart/2005/8/layout/orgChart1"/>
    <dgm:cxn modelId="{E526383F-A061-4E07-B784-981B5259E081}" type="presParOf" srcId="{682316B7-ABE3-42AC-9457-1DAD4A106C4C}" destId="{23BC3E4A-6CB7-4B3D-B253-366AA96281DD}" srcOrd="0" destOrd="0" presId="urn:microsoft.com/office/officeart/2005/8/layout/orgChart1"/>
    <dgm:cxn modelId="{714453EC-0A6F-491D-B41B-D6172F87E35A}" type="presParOf" srcId="{682316B7-ABE3-42AC-9457-1DAD4A106C4C}" destId="{5404466B-21F9-4900-ACF7-527B2500C1D0}" srcOrd="1" destOrd="0" presId="urn:microsoft.com/office/officeart/2005/8/layout/orgChart1"/>
    <dgm:cxn modelId="{029E2896-EB94-4823-806C-1D6A5C4FEF3A}" type="presParOf" srcId="{C49F4178-3B36-4B8C-AAD3-CC2A9194DD43}" destId="{E859D923-DB80-46E7-BE2B-77164119318C}" srcOrd="1" destOrd="0" presId="urn:microsoft.com/office/officeart/2005/8/layout/orgChart1"/>
    <dgm:cxn modelId="{47C66C5A-3D17-47A8-BA3E-ADE4AA382F69}" type="presParOf" srcId="{E859D923-DB80-46E7-BE2B-77164119318C}" destId="{C501BC25-2E2D-4B73-9A8A-DB8693F915DE}" srcOrd="0" destOrd="0" presId="urn:microsoft.com/office/officeart/2005/8/layout/orgChart1"/>
    <dgm:cxn modelId="{3B6828E9-BBBB-437D-8B47-66583FDB91AF}" type="presParOf" srcId="{E859D923-DB80-46E7-BE2B-77164119318C}" destId="{D7ABBEFC-22C9-4C6C-B394-6FEACD838F9D}" srcOrd="1" destOrd="0" presId="urn:microsoft.com/office/officeart/2005/8/layout/orgChart1"/>
    <dgm:cxn modelId="{A56A65E4-F7EB-4390-8218-8521F27B367E}" type="presParOf" srcId="{D7ABBEFC-22C9-4C6C-B394-6FEACD838F9D}" destId="{53960159-A772-472F-BBCC-E371E86F4AFC}" srcOrd="0" destOrd="0" presId="urn:microsoft.com/office/officeart/2005/8/layout/orgChart1"/>
    <dgm:cxn modelId="{FC1DC624-182E-4D06-8155-47C6BB187076}" type="presParOf" srcId="{53960159-A772-472F-BBCC-E371E86F4AFC}" destId="{AAAE8CF0-99F5-42E1-BC6C-455B3481E8D3}" srcOrd="0" destOrd="0" presId="urn:microsoft.com/office/officeart/2005/8/layout/orgChart1"/>
    <dgm:cxn modelId="{88196AB5-1B46-42F0-9232-0DAB4FF442CE}" type="presParOf" srcId="{53960159-A772-472F-BBCC-E371E86F4AFC}" destId="{509CF353-75EF-441A-A80A-16D26652478B}" srcOrd="1" destOrd="0" presId="urn:microsoft.com/office/officeart/2005/8/layout/orgChart1"/>
    <dgm:cxn modelId="{E72F922D-DC4A-40BA-AB33-6A5DBAF3679D}" type="presParOf" srcId="{D7ABBEFC-22C9-4C6C-B394-6FEACD838F9D}" destId="{C3B701A3-FFA3-4C94-AE3B-306B8D42F574}" srcOrd="1" destOrd="0" presId="urn:microsoft.com/office/officeart/2005/8/layout/orgChart1"/>
    <dgm:cxn modelId="{0B24D7B8-9EC0-4239-BFD6-E18B892E7ED4}" type="presParOf" srcId="{D7ABBEFC-22C9-4C6C-B394-6FEACD838F9D}" destId="{A841C21B-5136-4446-95D9-FC5F9CE948F5}" srcOrd="2" destOrd="0" presId="urn:microsoft.com/office/officeart/2005/8/layout/orgChart1"/>
    <dgm:cxn modelId="{33E8DCA0-194E-43C3-B104-83DC97273CB6}" type="presParOf" srcId="{E859D923-DB80-46E7-BE2B-77164119318C}" destId="{BF76692A-DE5D-45D2-BF54-6F1977663E9B}" srcOrd="2" destOrd="0" presId="urn:microsoft.com/office/officeart/2005/8/layout/orgChart1"/>
    <dgm:cxn modelId="{3A6A2D90-0EE7-48F6-9E3D-1D3EB6515ACF}" type="presParOf" srcId="{E859D923-DB80-46E7-BE2B-77164119318C}" destId="{F95D0C41-0CA5-46F4-87AF-EC16A71B0425}" srcOrd="3" destOrd="0" presId="urn:microsoft.com/office/officeart/2005/8/layout/orgChart1"/>
    <dgm:cxn modelId="{A6569BE1-49F6-462A-A8F9-C1548A609128}" type="presParOf" srcId="{F95D0C41-0CA5-46F4-87AF-EC16A71B0425}" destId="{39ABF075-4CE5-4687-92AF-30D66BD53E81}" srcOrd="0" destOrd="0" presId="urn:microsoft.com/office/officeart/2005/8/layout/orgChart1"/>
    <dgm:cxn modelId="{D68F5DC8-905F-4E9F-A90B-AF62BA90BEC9}" type="presParOf" srcId="{39ABF075-4CE5-4687-92AF-30D66BD53E81}" destId="{1F656787-D00A-4178-A744-4956B0914B9A}" srcOrd="0" destOrd="0" presId="urn:microsoft.com/office/officeart/2005/8/layout/orgChart1"/>
    <dgm:cxn modelId="{CB63D593-6C9A-4975-8ED2-D1F3AFA80FBF}" type="presParOf" srcId="{39ABF075-4CE5-4687-92AF-30D66BD53E81}" destId="{897A60B8-6853-4BE9-83F7-B0772324F770}" srcOrd="1" destOrd="0" presId="urn:microsoft.com/office/officeart/2005/8/layout/orgChart1"/>
    <dgm:cxn modelId="{E6CE3D85-61E7-4B3E-9BC8-AE6E1127BB3D}" type="presParOf" srcId="{F95D0C41-0CA5-46F4-87AF-EC16A71B0425}" destId="{55AC62A6-EB42-4A6D-90CD-8A9575E923CE}" srcOrd="1" destOrd="0" presId="urn:microsoft.com/office/officeart/2005/8/layout/orgChart1"/>
    <dgm:cxn modelId="{ED5473BA-E5DA-4B58-85CC-66150BAF5E29}" type="presParOf" srcId="{F95D0C41-0CA5-46F4-87AF-EC16A71B0425}" destId="{A6804369-11B0-4724-B28E-8404CD0E5E3A}" srcOrd="2" destOrd="0" presId="urn:microsoft.com/office/officeart/2005/8/layout/orgChart1"/>
    <dgm:cxn modelId="{6741EE63-03C0-4474-B747-1F4F4D362AA7}" type="presParOf" srcId="{E859D923-DB80-46E7-BE2B-77164119318C}" destId="{B8846EAA-ABA9-404D-9000-F95065119D0E}" srcOrd="4" destOrd="0" presId="urn:microsoft.com/office/officeart/2005/8/layout/orgChart1"/>
    <dgm:cxn modelId="{FB50449D-B384-4402-B1E4-A3FFF9B8A059}" type="presParOf" srcId="{E859D923-DB80-46E7-BE2B-77164119318C}" destId="{979D0F69-048F-4FD7-8D84-579617BAA209}" srcOrd="5" destOrd="0" presId="urn:microsoft.com/office/officeart/2005/8/layout/orgChart1"/>
    <dgm:cxn modelId="{1DA41558-2908-446E-A3C0-39AB5FF2DC2E}" type="presParOf" srcId="{979D0F69-048F-4FD7-8D84-579617BAA209}" destId="{D2559A1B-C67D-40C0-9240-F9C150DD271E}" srcOrd="0" destOrd="0" presId="urn:microsoft.com/office/officeart/2005/8/layout/orgChart1"/>
    <dgm:cxn modelId="{28ECABB3-B08F-4A81-8A39-4BB8E487C73B}" type="presParOf" srcId="{D2559A1B-C67D-40C0-9240-F9C150DD271E}" destId="{9E9BFEBE-23AB-429E-8C81-8D6493D22D50}" srcOrd="0" destOrd="0" presId="urn:microsoft.com/office/officeart/2005/8/layout/orgChart1"/>
    <dgm:cxn modelId="{899489C8-3116-4B81-BCF0-F8F2BF9B1021}" type="presParOf" srcId="{D2559A1B-C67D-40C0-9240-F9C150DD271E}" destId="{A1FD422C-D95F-4138-97DD-817F59934CE2}" srcOrd="1" destOrd="0" presId="urn:microsoft.com/office/officeart/2005/8/layout/orgChart1"/>
    <dgm:cxn modelId="{02BC857C-BBB5-42E8-B056-446779D9642A}" type="presParOf" srcId="{979D0F69-048F-4FD7-8D84-579617BAA209}" destId="{AD69893D-195D-4032-B559-EF3FCD209623}" srcOrd="1" destOrd="0" presId="urn:microsoft.com/office/officeart/2005/8/layout/orgChart1"/>
    <dgm:cxn modelId="{54F7765D-70A4-49F6-8534-16248B70D47E}" type="presParOf" srcId="{979D0F69-048F-4FD7-8D84-579617BAA209}" destId="{42ED0920-D295-4100-8871-269E4CF9E521}" srcOrd="2" destOrd="0" presId="urn:microsoft.com/office/officeart/2005/8/layout/orgChart1"/>
    <dgm:cxn modelId="{885E6C66-CA57-4930-9739-83810F46925D}" type="presParOf" srcId="{E859D923-DB80-46E7-BE2B-77164119318C}" destId="{E6795F6F-5D4D-46D5-ADD7-3D0D44776128}" srcOrd="6" destOrd="0" presId="urn:microsoft.com/office/officeart/2005/8/layout/orgChart1"/>
    <dgm:cxn modelId="{F8B0104D-A72F-49FD-91A6-585F548212E9}" type="presParOf" srcId="{E859D923-DB80-46E7-BE2B-77164119318C}" destId="{A6890348-ED87-48E4-A777-1A4BA416D785}" srcOrd="7" destOrd="0" presId="urn:microsoft.com/office/officeart/2005/8/layout/orgChart1"/>
    <dgm:cxn modelId="{C1EE6B4A-F567-4302-BE8B-82409C50B4C7}" type="presParOf" srcId="{A6890348-ED87-48E4-A777-1A4BA416D785}" destId="{34F3D865-DC68-46E7-B76F-0A832638A40F}" srcOrd="0" destOrd="0" presId="urn:microsoft.com/office/officeart/2005/8/layout/orgChart1"/>
    <dgm:cxn modelId="{384FED8B-FE21-4F80-BD7C-050E9E9A42A4}" type="presParOf" srcId="{34F3D865-DC68-46E7-B76F-0A832638A40F}" destId="{2EC15357-35F3-4BD0-A049-4F622B56EB47}" srcOrd="0" destOrd="0" presId="urn:microsoft.com/office/officeart/2005/8/layout/orgChart1"/>
    <dgm:cxn modelId="{8709B685-29DE-4F7B-B919-0B8D1CB6B63D}" type="presParOf" srcId="{34F3D865-DC68-46E7-B76F-0A832638A40F}" destId="{04456141-915C-4E53-B02A-B5417B2DE2CF}" srcOrd="1" destOrd="0" presId="urn:microsoft.com/office/officeart/2005/8/layout/orgChart1"/>
    <dgm:cxn modelId="{A5908FE5-7A5E-4A22-97A3-121380D976BF}" type="presParOf" srcId="{A6890348-ED87-48E4-A777-1A4BA416D785}" destId="{491279D2-99D5-4B5F-8911-CB4E27F66D70}" srcOrd="1" destOrd="0" presId="urn:microsoft.com/office/officeart/2005/8/layout/orgChart1"/>
    <dgm:cxn modelId="{23055189-C3C8-416F-92CA-711125873742}" type="presParOf" srcId="{A6890348-ED87-48E4-A777-1A4BA416D785}" destId="{2F43953A-63AB-4A08-B342-F58C2D8E57AA}" srcOrd="2" destOrd="0" presId="urn:microsoft.com/office/officeart/2005/8/layout/orgChart1"/>
    <dgm:cxn modelId="{FCBA7EA8-51C6-4E54-9A58-3FABE02466B5}" type="presParOf" srcId="{C49F4178-3B36-4B8C-AAD3-CC2A9194DD43}" destId="{65CC15BF-39D5-4E6C-8426-640004B4960A}" srcOrd="2" destOrd="0" presId="urn:microsoft.com/office/officeart/2005/8/layout/orgChart1"/>
    <dgm:cxn modelId="{1E5CDC75-EB46-40B1-A357-D7FC588DFBEB}" type="presParOf" srcId="{593CADEC-F89C-4F78-973C-1CBF0B192A17}" destId="{B1BF024B-EA5A-442F-AEA5-2733E14018A0}" srcOrd="6" destOrd="0" presId="urn:microsoft.com/office/officeart/2005/8/layout/orgChart1"/>
    <dgm:cxn modelId="{0C805AFF-CDEA-488E-BD41-4A411F3F6045}" type="presParOf" srcId="{593CADEC-F89C-4F78-973C-1CBF0B192A17}" destId="{4F19EC3F-70D6-4BEA-AC2A-7E3C81D732D0}" srcOrd="7" destOrd="0" presId="urn:microsoft.com/office/officeart/2005/8/layout/orgChart1"/>
    <dgm:cxn modelId="{060523C0-E415-407E-B093-8C8695B9BE3D}" type="presParOf" srcId="{4F19EC3F-70D6-4BEA-AC2A-7E3C81D732D0}" destId="{74977400-462F-4FBC-9E56-55B33639472B}" srcOrd="0" destOrd="0" presId="urn:microsoft.com/office/officeart/2005/8/layout/orgChart1"/>
    <dgm:cxn modelId="{A6D29044-598E-4186-B16A-8B3205FCBB2A}" type="presParOf" srcId="{74977400-462F-4FBC-9E56-55B33639472B}" destId="{ACFD3F8D-39CB-4CFC-BFE0-2A96209F07EA}" srcOrd="0" destOrd="0" presId="urn:microsoft.com/office/officeart/2005/8/layout/orgChart1"/>
    <dgm:cxn modelId="{81C1AF13-7D9F-45DB-9269-BF8F7EBAE53F}" type="presParOf" srcId="{74977400-462F-4FBC-9E56-55B33639472B}" destId="{9B3DF806-B6B3-4230-B0D7-552C169BBE56}" srcOrd="1" destOrd="0" presId="urn:microsoft.com/office/officeart/2005/8/layout/orgChart1"/>
    <dgm:cxn modelId="{2A43117D-746E-4541-8F7C-F12EB2677881}" type="presParOf" srcId="{4F19EC3F-70D6-4BEA-AC2A-7E3C81D732D0}" destId="{822FBE6F-3E38-4640-8FCA-182E1FA30744}" srcOrd="1" destOrd="0" presId="urn:microsoft.com/office/officeart/2005/8/layout/orgChart1"/>
    <dgm:cxn modelId="{83FDD0FC-F43B-4F0E-96B9-14E337D04CB3}" type="presParOf" srcId="{822FBE6F-3E38-4640-8FCA-182E1FA30744}" destId="{BAF683CB-429F-4A31-A42E-5903D785894F}" srcOrd="0" destOrd="0" presId="urn:microsoft.com/office/officeart/2005/8/layout/orgChart1"/>
    <dgm:cxn modelId="{69B0C52C-D13C-4603-AED6-8E74205EF3F6}" type="presParOf" srcId="{822FBE6F-3E38-4640-8FCA-182E1FA30744}" destId="{6DAC5B66-07A9-493D-9D9E-6EBCA4A8EFFF}" srcOrd="1" destOrd="0" presId="urn:microsoft.com/office/officeart/2005/8/layout/orgChart1"/>
    <dgm:cxn modelId="{699256E9-2E46-4C8B-8036-E8382012E059}" type="presParOf" srcId="{6DAC5B66-07A9-493D-9D9E-6EBCA4A8EFFF}" destId="{9D4BFC0D-2A28-44F8-9FE6-4886F42B1C8E}" srcOrd="0" destOrd="0" presId="urn:microsoft.com/office/officeart/2005/8/layout/orgChart1"/>
    <dgm:cxn modelId="{E6980CFD-4D35-47F0-A8C1-A8FBC086761C}" type="presParOf" srcId="{9D4BFC0D-2A28-44F8-9FE6-4886F42B1C8E}" destId="{191EF088-D890-4A19-AA53-35FB04A5FB58}" srcOrd="0" destOrd="0" presId="urn:microsoft.com/office/officeart/2005/8/layout/orgChart1"/>
    <dgm:cxn modelId="{21300376-FFC0-46DC-907E-3D7BCADA9EC7}" type="presParOf" srcId="{9D4BFC0D-2A28-44F8-9FE6-4886F42B1C8E}" destId="{40372FF0-F74F-428F-A27A-B2D38C53D1E2}" srcOrd="1" destOrd="0" presId="urn:microsoft.com/office/officeart/2005/8/layout/orgChart1"/>
    <dgm:cxn modelId="{6537A784-FF93-4A53-8B5B-11D41B0CFFAC}" type="presParOf" srcId="{6DAC5B66-07A9-493D-9D9E-6EBCA4A8EFFF}" destId="{3E152B27-0DCE-49AD-B468-995B22F140AB}" srcOrd="1" destOrd="0" presId="urn:microsoft.com/office/officeart/2005/8/layout/orgChart1"/>
    <dgm:cxn modelId="{6A645A69-16B4-41E6-A458-5793EFA660B0}" type="presParOf" srcId="{6DAC5B66-07A9-493D-9D9E-6EBCA4A8EFFF}" destId="{458AB4BD-C0D1-4136-85DD-B2F2A70392F4}" srcOrd="2" destOrd="0" presId="urn:microsoft.com/office/officeart/2005/8/layout/orgChart1"/>
    <dgm:cxn modelId="{91C37475-DBE8-43BE-9D05-039A41269226}" type="presParOf" srcId="{822FBE6F-3E38-4640-8FCA-182E1FA30744}" destId="{E0BF04FB-8BAD-4562-883B-9329CDCEBB9F}" srcOrd="2" destOrd="0" presId="urn:microsoft.com/office/officeart/2005/8/layout/orgChart1"/>
    <dgm:cxn modelId="{94FFEBC8-9DCA-4FF0-A07C-EB3927AEC6E4}" type="presParOf" srcId="{822FBE6F-3E38-4640-8FCA-182E1FA30744}" destId="{3185C20B-CA30-4511-B15B-03293975E084}" srcOrd="3" destOrd="0" presId="urn:microsoft.com/office/officeart/2005/8/layout/orgChart1"/>
    <dgm:cxn modelId="{049B5C66-EAC0-461C-B980-1BF6187F1B4D}" type="presParOf" srcId="{3185C20B-CA30-4511-B15B-03293975E084}" destId="{1F60C90F-D68F-4DF9-AE82-2B297BD179D5}" srcOrd="0" destOrd="0" presId="urn:microsoft.com/office/officeart/2005/8/layout/orgChart1"/>
    <dgm:cxn modelId="{470B2055-A46B-4EFA-8571-7E2C1DE8DDF2}" type="presParOf" srcId="{1F60C90F-D68F-4DF9-AE82-2B297BD179D5}" destId="{CFBD1D01-F075-4382-BEE0-68186F685F4A}" srcOrd="0" destOrd="0" presId="urn:microsoft.com/office/officeart/2005/8/layout/orgChart1"/>
    <dgm:cxn modelId="{90D4EAC7-38C2-4495-8E62-5D8E643B75F6}" type="presParOf" srcId="{1F60C90F-D68F-4DF9-AE82-2B297BD179D5}" destId="{D58A00FA-3720-44B5-B88F-6857B6FB368F}" srcOrd="1" destOrd="0" presId="urn:microsoft.com/office/officeart/2005/8/layout/orgChart1"/>
    <dgm:cxn modelId="{28E5E22A-7D86-4276-8FB8-B4B27AE297E3}" type="presParOf" srcId="{3185C20B-CA30-4511-B15B-03293975E084}" destId="{8FC2F248-0795-4B42-A073-7F17D8E4898F}" srcOrd="1" destOrd="0" presId="urn:microsoft.com/office/officeart/2005/8/layout/orgChart1"/>
    <dgm:cxn modelId="{69A5ACDA-6BB6-4793-A522-9A119BB5B86C}" type="presParOf" srcId="{3185C20B-CA30-4511-B15B-03293975E084}" destId="{66A7CB1C-76BF-4D5A-BB3E-8CDCC24DDC6F}" srcOrd="2" destOrd="0" presId="urn:microsoft.com/office/officeart/2005/8/layout/orgChart1"/>
    <dgm:cxn modelId="{D74554E2-7BDC-4333-B946-70CBCF32F0B1}" type="presParOf" srcId="{822FBE6F-3E38-4640-8FCA-182E1FA30744}" destId="{22A89140-BC30-48A4-95BF-35EEB54E49AA}" srcOrd="4" destOrd="0" presId="urn:microsoft.com/office/officeart/2005/8/layout/orgChart1"/>
    <dgm:cxn modelId="{829374D3-1D16-42D4-B63B-2DB102A0D6FD}" type="presParOf" srcId="{822FBE6F-3E38-4640-8FCA-182E1FA30744}" destId="{B7FA660E-E048-4E9C-B9CD-C954D96581E5}" srcOrd="5" destOrd="0" presId="urn:microsoft.com/office/officeart/2005/8/layout/orgChart1"/>
    <dgm:cxn modelId="{9F4C30A1-6026-4089-80F1-F762FDF13AA1}" type="presParOf" srcId="{B7FA660E-E048-4E9C-B9CD-C954D96581E5}" destId="{5DC9443D-28A1-48B7-A9F1-6EC71EF09F65}" srcOrd="0" destOrd="0" presId="urn:microsoft.com/office/officeart/2005/8/layout/orgChart1"/>
    <dgm:cxn modelId="{F13C1B95-15B7-49A5-A38E-E9F6C84422F3}" type="presParOf" srcId="{5DC9443D-28A1-48B7-A9F1-6EC71EF09F65}" destId="{66ED2E77-2CCD-4656-9188-7BB5DD746C5C}" srcOrd="0" destOrd="0" presId="urn:microsoft.com/office/officeart/2005/8/layout/orgChart1"/>
    <dgm:cxn modelId="{70779DDD-5EB7-4032-8442-0279CA2BE514}" type="presParOf" srcId="{5DC9443D-28A1-48B7-A9F1-6EC71EF09F65}" destId="{DD5B6FA5-E66C-41AA-BB01-7661B4A39B13}" srcOrd="1" destOrd="0" presId="urn:microsoft.com/office/officeart/2005/8/layout/orgChart1"/>
    <dgm:cxn modelId="{C4AE5B69-EE58-4E3E-BFC5-1F27A3918A60}" type="presParOf" srcId="{B7FA660E-E048-4E9C-B9CD-C954D96581E5}" destId="{66CE9F65-7AA7-4967-AE82-F2AB219533D6}" srcOrd="1" destOrd="0" presId="urn:microsoft.com/office/officeart/2005/8/layout/orgChart1"/>
    <dgm:cxn modelId="{F5AC7042-9A13-4F40-B0E5-5ED5C368EE0F}" type="presParOf" srcId="{B7FA660E-E048-4E9C-B9CD-C954D96581E5}" destId="{504DA99C-D2F8-48C9-A011-B19433E1D4C9}" srcOrd="2" destOrd="0" presId="urn:microsoft.com/office/officeart/2005/8/layout/orgChart1"/>
    <dgm:cxn modelId="{5046D4E6-74F1-48CD-B540-F7BAA05DC763}" type="presParOf" srcId="{4F19EC3F-70D6-4BEA-AC2A-7E3C81D732D0}" destId="{EB15420E-A397-42EF-B5BB-DA81D71F5AE2}" srcOrd="2" destOrd="0" presId="urn:microsoft.com/office/officeart/2005/8/layout/orgChart1"/>
    <dgm:cxn modelId="{48A74E6D-7B91-4710-A45F-0DE782C06311}" type="presParOf" srcId="{593CADEC-F89C-4F78-973C-1CBF0B192A17}" destId="{4B2D3861-D796-46EC-9AB9-5C6DF11B5468}" srcOrd="8" destOrd="0" presId="urn:microsoft.com/office/officeart/2005/8/layout/orgChart1"/>
    <dgm:cxn modelId="{4348ECFB-527E-4CAB-8AD5-3DC2AFF39D27}" type="presParOf" srcId="{593CADEC-F89C-4F78-973C-1CBF0B192A17}" destId="{FA93FBAA-CB0E-40FB-85C9-DFC04090EF11}" srcOrd="9" destOrd="0" presId="urn:microsoft.com/office/officeart/2005/8/layout/orgChart1"/>
    <dgm:cxn modelId="{425B29BB-AFFF-4A43-8D44-A43D7054E213}" type="presParOf" srcId="{FA93FBAA-CB0E-40FB-85C9-DFC04090EF11}" destId="{1BD31237-C732-4B03-B9D9-EE21B1CEBD97}" srcOrd="0" destOrd="0" presId="urn:microsoft.com/office/officeart/2005/8/layout/orgChart1"/>
    <dgm:cxn modelId="{F29C14C8-833A-4145-A557-6CE8A6981D61}" type="presParOf" srcId="{1BD31237-C732-4B03-B9D9-EE21B1CEBD97}" destId="{68FDCE8A-74BA-4242-A5E1-62DF02479D81}" srcOrd="0" destOrd="0" presId="urn:microsoft.com/office/officeart/2005/8/layout/orgChart1"/>
    <dgm:cxn modelId="{32A855EE-E9A7-48C1-99DC-A7749CC8F603}" type="presParOf" srcId="{1BD31237-C732-4B03-B9D9-EE21B1CEBD97}" destId="{3AD060C3-24F3-446E-9D3D-17BC48AAE0CD}" srcOrd="1" destOrd="0" presId="urn:microsoft.com/office/officeart/2005/8/layout/orgChart1"/>
    <dgm:cxn modelId="{F524BF21-0D2F-419C-B428-6790B71AE6B8}" type="presParOf" srcId="{FA93FBAA-CB0E-40FB-85C9-DFC04090EF11}" destId="{2AB5EDC7-EB8A-493B-9017-D61FD415E6F9}" srcOrd="1" destOrd="0" presId="urn:microsoft.com/office/officeart/2005/8/layout/orgChart1"/>
    <dgm:cxn modelId="{F838C32A-427E-44A6-B7EA-89A4B1652444}" type="presParOf" srcId="{2AB5EDC7-EB8A-493B-9017-D61FD415E6F9}" destId="{F979419F-BBBE-4939-A361-D2BC40131155}" srcOrd="0" destOrd="0" presId="urn:microsoft.com/office/officeart/2005/8/layout/orgChart1"/>
    <dgm:cxn modelId="{F9D03835-DCF8-4C5E-97CE-28293BB03E1D}" type="presParOf" srcId="{2AB5EDC7-EB8A-493B-9017-D61FD415E6F9}" destId="{BE0F26D5-03F2-41E7-B2D6-0C308F353880}" srcOrd="1" destOrd="0" presId="urn:microsoft.com/office/officeart/2005/8/layout/orgChart1"/>
    <dgm:cxn modelId="{0C569056-497C-4324-A439-DCB33685B7EF}" type="presParOf" srcId="{BE0F26D5-03F2-41E7-B2D6-0C308F353880}" destId="{6C44D25D-AF3D-431A-98D5-F1B993BA24A3}" srcOrd="0" destOrd="0" presId="urn:microsoft.com/office/officeart/2005/8/layout/orgChart1"/>
    <dgm:cxn modelId="{7E21C28C-51B1-404B-973B-8169DE512685}" type="presParOf" srcId="{6C44D25D-AF3D-431A-98D5-F1B993BA24A3}" destId="{E552414D-09AB-43E3-AA9F-5686EF22A9F6}" srcOrd="0" destOrd="0" presId="urn:microsoft.com/office/officeart/2005/8/layout/orgChart1"/>
    <dgm:cxn modelId="{E0B71698-DF1A-45AD-9107-FA288144E8B7}" type="presParOf" srcId="{6C44D25D-AF3D-431A-98D5-F1B993BA24A3}" destId="{FFD65671-79B2-4EF0-B5DD-A7B9D437E823}" srcOrd="1" destOrd="0" presId="urn:microsoft.com/office/officeart/2005/8/layout/orgChart1"/>
    <dgm:cxn modelId="{171A571B-375D-4315-85E6-CDD210CBEF2C}" type="presParOf" srcId="{BE0F26D5-03F2-41E7-B2D6-0C308F353880}" destId="{C36A256F-A4B3-4AFA-BA8F-B87BBD17C210}" srcOrd="1" destOrd="0" presId="urn:microsoft.com/office/officeart/2005/8/layout/orgChart1"/>
    <dgm:cxn modelId="{64485858-393E-483E-B9FE-6D4D69BAD9C5}" type="presParOf" srcId="{BE0F26D5-03F2-41E7-B2D6-0C308F353880}" destId="{E2D0D636-F934-45BC-8F8B-BB0CB01FD2A4}" srcOrd="2" destOrd="0" presId="urn:microsoft.com/office/officeart/2005/8/layout/orgChart1"/>
    <dgm:cxn modelId="{2C556A99-9013-45EC-851E-5156707118C8}" type="presParOf" srcId="{2AB5EDC7-EB8A-493B-9017-D61FD415E6F9}" destId="{C9C4C1A7-A55D-4394-94ED-1905B40AE921}" srcOrd="2" destOrd="0" presId="urn:microsoft.com/office/officeart/2005/8/layout/orgChart1"/>
    <dgm:cxn modelId="{38AA9CF1-E982-45F6-B5F3-CCE9C8059AA6}" type="presParOf" srcId="{2AB5EDC7-EB8A-493B-9017-D61FD415E6F9}" destId="{97C4B190-E6BC-4CB0-BC9A-17CFFB44CAFE}" srcOrd="3" destOrd="0" presId="urn:microsoft.com/office/officeart/2005/8/layout/orgChart1"/>
    <dgm:cxn modelId="{1F7D98BB-D11A-4D53-B3A4-88047FE1D013}" type="presParOf" srcId="{97C4B190-E6BC-4CB0-BC9A-17CFFB44CAFE}" destId="{9D0176E7-338F-4724-A42B-B955DBF9FDAD}" srcOrd="0" destOrd="0" presId="urn:microsoft.com/office/officeart/2005/8/layout/orgChart1"/>
    <dgm:cxn modelId="{4555348F-FC54-4BF9-9EC1-8442104354E6}" type="presParOf" srcId="{9D0176E7-338F-4724-A42B-B955DBF9FDAD}" destId="{4F841898-D09A-47EC-BF3D-8108C84A1C78}" srcOrd="0" destOrd="0" presId="urn:microsoft.com/office/officeart/2005/8/layout/orgChart1"/>
    <dgm:cxn modelId="{F4E6DF6E-64E8-4C36-85F3-9D4FEBA3B5C6}" type="presParOf" srcId="{9D0176E7-338F-4724-A42B-B955DBF9FDAD}" destId="{DE8A3D40-A3AA-474D-96BB-EA45C260B70C}" srcOrd="1" destOrd="0" presId="urn:microsoft.com/office/officeart/2005/8/layout/orgChart1"/>
    <dgm:cxn modelId="{523A5B24-247F-4217-8DC6-3A5500DBF7C9}" type="presParOf" srcId="{97C4B190-E6BC-4CB0-BC9A-17CFFB44CAFE}" destId="{A7F94900-B273-42A9-B6B3-DC586CE7B944}" srcOrd="1" destOrd="0" presId="urn:microsoft.com/office/officeart/2005/8/layout/orgChart1"/>
    <dgm:cxn modelId="{DF006010-1249-44DB-A169-FBA3ED035FC5}" type="presParOf" srcId="{97C4B190-E6BC-4CB0-BC9A-17CFFB44CAFE}" destId="{096F3C7D-1745-4CBC-B229-62FC79B1C4A2}" srcOrd="2" destOrd="0" presId="urn:microsoft.com/office/officeart/2005/8/layout/orgChart1"/>
    <dgm:cxn modelId="{86A443D6-21A6-4D2B-AEF8-38ECF72D0248}" type="presParOf" srcId="{2AB5EDC7-EB8A-493B-9017-D61FD415E6F9}" destId="{409B3DCC-AC84-4F09-A3A4-B632A6DF2532}" srcOrd="4" destOrd="0" presId="urn:microsoft.com/office/officeart/2005/8/layout/orgChart1"/>
    <dgm:cxn modelId="{87EA586D-FBD6-489F-8ED7-27D5D6A545AA}" type="presParOf" srcId="{2AB5EDC7-EB8A-493B-9017-D61FD415E6F9}" destId="{8F4D80AA-4A87-466A-8F8D-EC78206E473E}" srcOrd="5" destOrd="0" presId="urn:microsoft.com/office/officeart/2005/8/layout/orgChart1"/>
    <dgm:cxn modelId="{FFD4EB15-DFB3-4C40-9E0D-B30A6C7A5A8E}" type="presParOf" srcId="{8F4D80AA-4A87-466A-8F8D-EC78206E473E}" destId="{74A86B4A-2086-4E16-872A-0E93E5BA2F0F}" srcOrd="0" destOrd="0" presId="urn:microsoft.com/office/officeart/2005/8/layout/orgChart1"/>
    <dgm:cxn modelId="{143E1B39-607B-4F9A-8568-D48A4169E844}" type="presParOf" srcId="{74A86B4A-2086-4E16-872A-0E93E5BA2F0F}" destId="{B9D7B0F5-0796-43C1-A1BE-8F5BCFF9A160}" srcOrd="0" destOrd="0" presId="urn:microsoft.com/office/officeart/2005/8/layout/orgChart1"/>
    <dgm:cxn modelId="{21B3D997-21D8-452C-9F8F-E68DFD22220D}" type="presParOf" srcId="{74A86B4A-2086-4E16-872A-0E93E5BA2F0F}" destId="{4519071D-2828-42AB-AF88-4254A8D39F29}" srcOrd="1" destOrd="0" presId="urn:microsoft.com/office/officeart/2005/8/layout/orgChart1"/>
    <dgm:cxn modelId="{A8549A87-E9EB-4CF9-9873-AAE71F4C7B7E}" type="presParOf" srcId="{8F4D80AA-4A87-466A-8F8D-EC78206E473E}" destId="{431707F3-2E39-4093-8D9A-91EA515D2655}" srcOrd="1" destOrd="0" presId="urn:microsoft.com/office/officeart/2005/8/layout/orgChart1"/>
    <dgm:cxn modelId="{4A9BFAE5-E86C-4038-957A-55EADEF87C12}" type="presParOf" srcId="{8F4D80AA-4A87-466A-8F8D-EC78206E473E}" destId="{35E4D13F-039D-480F-B2DB-DD38697A4488}" srcOrd="2" destOrd="0" presId="urn:microsoft.com/office/officeart/2005/8/layout/orgChart1"/>
    <dgm:cxn modelId="{215B5A8C-6E65-41A0-A7CA-1BC4816F1BD5}" type="presParOf" srcId="{2AB5EDC7-EB8A-493B-9017-D61FD415E6F9}" destId="{AE358B96-0E6A-4166-8A95-07F3165684AB}" srcOrd="6" destOrd="0" presId="urn:microsoft.com/office/officeart/2005/8/layout/orgChart1"/>
    <dgm:cxn modelId="{9988CDBC-DB04-48FC-991B-A4642CF44F15}" type="presParOf" srcId="{2AB5EDC7-EB8A-493B-9017-D61FD415E6F9}" destId="{5917A00B-4D8E-421A-B87B-4E3044B4A140}" srcOrd="7" destOrd="0" presId="urn:microsoft.com/office/officeart/2005/8/layout/orgChart1"/>
    <dgm:cxn modelId="{AD506244-D6F6-43C7-B078-7CEEBEF59EB6}" type="presParOf" srcId="{5917A00B-4D8E-421A-B87B-4E3044B4A140}" destId="{59719AD2-CF75-453F-9A65-AAD8143CDF26}" srcOrd="0" destOrd="0" presId="urn:microsoft.com/office/officeart/2005/8/layout/orgChart1"/>
    <dgm:cxn modelId="{676E3ADF-DED4-42CD-B008-C3DEA1122DD5}" type="presParOf" srcId="{59719AD2-CF75-453F-9A65-AAD8143CDF26}" destId="{F42873CF-C6CB-42E0-BCCC-474F4EC3BE61}" srcOrd="0" destOrd="0" presId="urn:microsoft.com/office/officeart/2005/8/layout/orgChart1"/>
    <dgm:cxn modelId="{CB8FACD3-9F0E-46E5-B552-AFDC1CCD45C5}" type="presParOf" srcId="{59719AD2-CF75-453F-9A65-AAD8143CDF26}" destId="{9A6212AE-B718-4B5B-B22A-5A42544F2E0A}" srcOrd="1" destOrd="0" presId="urn:microsoft.com/office/officeart/2005/8/layout/orgChart1"/>
    <dgm:cxn modelId="{8CE47135-ED6D-495F-96B1-BB9FA646BA1E}" type="presParOf" srcId="{5917A00B-4D8E-421A-B87B-4E3044B4A140}" destId="{3D7F1533-58E5-4651-AABA-278036E867A8}" srcOrd="1" destOrd="0" presId="urn:microsoft.com/office/officeart/2005/8/layout/orgChart1"/>
    <dgm:cxn modelId="{D642559C-61ED-4A9F-973B-5E66D7C82314}" type="presParOf" srcId="{5917A00B-4D8E-421A-B87B-4E3044B4A140}" destId="{E5EAA330-733C-41E6-A4C5-F4F6A6EECCF7}" srcOrd="2" destOrd="0" presId="urn:microsoft.com/office/officeart/2005/8/layout/orgChart1"/>
    <dgm:cxn modelId="{53B3FE5A-937D-459C-A430-C735DF7C1081}" type="presParOf" srcId="{FA93FBAA-CB0E-40FB-85C9-DFC04090EF11}" destId="{660A1036-0E5F-487C-B108-F6D4DCECA214}" srcOrd="2" destOrd="0" presId="urn:microsoft.com/office/officeart/2005/8/layout/orgChart1"/>
    <dgm:cxn modelId="{A7FD20EB-860F-4636-A948-36653194C47B}" type="presParOf" srcId="{593CADEC-F89C-4F78-973C-1CBF0B192A17}" destId="{378DE9DB-7EF7-4A00-BEA3-426BC6E8E958}" srcOrd="10" destOrd="0" presId="urn:microsoft.com/office/officeart/2005/8/layout/orgChart1"/>
    <dgm:cxn modelId="{57F4A7A7-6C4A-4A72-A3B0-6E6542C42AAD}" type="presParOf" srcId="{593CADEC-F89C-4F78-973C-1CBF0B192A17}" destId="{1C23B115-D24C-4A02-8B00-1A137F711985}" srcOrd="11" destOrd="0" presId="urn:microsoft.com/office/officeart/2005/8/layout/orgChart1"/>
    <dgm:cxn modelId="{6CBE80BA-3FF1-48E1-ADAE-4A1D49F89B83}" type="presParOf" srcId="{1C23B115-D24C-4A02-8B00-1A137F711985}" destId="{AC776C1D-6421-403F-AAF5-7449EE1A43F6}" srcOrd="0" destOrd="0" presId="urn:microsoft.com/office/officeart/2005/8/layout/orgChart1"/>
    <dgm:cxn modelId="{327A8175-A4E5-4828-B355-CCCC8CAD33F5}" type="presParOf" srcId="{AC776C1D-6421-403F-AAF5-7449EE1A43F6}" destId="{BBC10E2B-9419-45E5-9F53-55705D0E1437}" srcOrd="0" destOrd="0" presId="urn:microsoft.com/office/officeart/2005/8/layout/orgChart1"/>
    <dgm:cxn modelId="{7EA732E7-53B9-4374-946B-C299BB6298F0}" type="presParOf" srcId="{AC776C1D-6421-403F-AAF5-7449EE1A43F6}" destId="{4C17A7A1-B0CC-4F1D-86F8-5891FCCC4DA6}" srcOrd="1" destOrd="0" presId="urn:microsoft.com/office/officeart/2005/8/layout/orgChart1"/>
    <dgm:cxn modelId="{3702AC7F-BA32-4C86-964A-C57B967756EE}" type="presParOf" srcId="{1C23B115-D24C-4A02-8B00-1A137F711985}" destId="{7714C6AE-3515-4968-A8E2-DD46C1994A86}" srcOrd="1" destOrd="0" presId="urn:microsoft.com/office/officeart/2005/8/layout/orgChart1"/>
    <dgm:cxn modelId="{5A6581E8-22C1-4A74-B4BD-ABCD9D535C44}" type="presParOf" srcId="{7714C6AE-3515-4968-A8E2-DD46C1994A86}" destId="{4F3CB06F-B2BB-49AF-B073-18697E555B53}" srcOrd="0" destOrd="0" presId="urn:microsoft.com/office/officeart/2005/8/layout/orgChart1"/>
    <dgm:cxn modelId="{C3FBE8BB-6DAE-4FAA-85DA-7C8AFEFD87FA}" type="presParOf" srcId="{7714C6AE-3515-4968-A8E2-DD46C1994A86}" destId="{A4E9B1C1-A337-48DF-9467-B807AB9258A1}" srcOrd="1" destOrd="0" presId="urn:microsoft.com/office/officeart/2005/8/layout/orgChart1"/>
    <dgm:cxn modelId="{EEEBFCE9-E399-4ADB-A044-EBDA718F755F}" type="presParOf" srcId="{A4E9B1C1-A337-48DF-9467-B807AB9258A1}" destId="{29E59F4A-6E49-4B4D-85BD-1DA53E4D3D0F}" srcOrd="0" destOrd="0" presId="urn:microsoft.com/office/officeart/2005/8/layout/orgChart1"/>
    <dgm:cxn modelId="{E5FBD270-9455-4BFA-A55F-0DC3B5DBBB34}" type="presParOf" srcId="{29E59F4A-6E49-4B4D-85BD-1DA53E4D3D0F}" destId="{ADA03ACF-7B48-433C-B4A7-4E97F67420A7}" srcOrd="0" destOrd="0" presId="urn:microsoft.com/office/officeart/2005/8/layout/orgChart1"/>
    <dgm:cxn modelId="{CC018B19-530A-4BC9-A9EC-D0ED70D6B6A4}" type="presParOf" srcId="{29E59F4A-6E49-4B4D-85BD-1DA53E4D3D0F}" destId="{7A94F51F-20FB-4837-B421-CE64737F478C}" srcOrd="1" destOrd="0" presId="urn:microsoft.com/office/officeart/2005/8/layout/orgChart1"/>
    <dgm:cxn modelId="{BE3267A9-9E2C-4608-AC43-5F30CDA58F79}" type="presParOf" srcId="{A4E9B1C1-A337-48DF-9467-B807AB9258A1}" destId="{390CFF60-64F5-41F5-9026-8E6B42887289}" srcOrd="1" destOrd="0" presId="urn:microsoft.com/office/officeart/2005/8/layout/orgChart1"/>
    <dgm:cxn modelId="{7F8EA07B-9ACD-4F49-8A47-722BB95F5CF5}" type="presParOf" srcId="{A4E9B1C1-A337-48DF-9467-B807AB9258A1}" destId="{65B6DFE7-AE51-4EFB-9D49-28EA6E41DE57}" srcOrd="2" destOrd="0" presId="urn:microsoft.com/office/officeart/2005/8/layout/orgChart1"/>
    <dgm:cxn modelId="{75E2A6D6-C392-4456-B1B9-3B27CB0D3B4D}" type="presParOf" srcId="{1C23B115-D24C-4A02-8B00-1A137F711985}" destId="{E1D9ECE0-21BC-467A-9023-8A07E8468D11}" srcOrd="2" destOrd="0" presId="urn:microsoft.com/office/officeart/2005/8/layout/orgChart1"/>
    <dgm:cxn modelId="{CA3AD865-6369-463C-AE8D-312F811CF75B}" type="presParOf" srcId="{593CADEC-F89C-4F78-973C-1CBF0B192A17}" destId="{05A22666-D5A3-429F-886F-6906E280CED9}" srcOrd="12" destOrd="0" presId="urn:microsoft.com/office/officeart/2005/8/layout/orgChart1"/>
    <dgm:cxn modelId="{677E6A26-AC91-470F-A4E6-E68A867B51A3}" type="presParOf" srcId="{593CADEC-F89C-4F78-973C-1CBF0B192A17}" destId="{4287BFA2-DBA3-469E-9AB4-22CB07C1CA02}" srcOrd="13" destOrd="0" presId="urn:microsoft.com/office/officeart/2005/8/layout/orgChart1"/>
    <dgm:cxn modelId="{089159D1-916A-4CB5-B238-62FC1AFFC571}" type="presParOf" srcId="{4287BFA2-DBA3-469E-9AB4-22CB07C1CA02}" destId="{1A4BDE07-B7F6-4575-9155-B51E9544C083}" srcOrd="0" destOrd="0" presId="urn:microsoft.com/office/officeart/2005/8/layout/orgChart1"/>
    <dgm:cxn modelId="{1FACA824-2C82-4BCF-8BDA-5D0521000D98}" type="presParOf" srcId="{1A4BDE07-B7F6-4575-9155-B51E9544C083}" destId="{62DF4774-53BE-4613-95D0-E552EE1105FD}" srcOrd="0" destOrd="0" presId="urn:microsoft.com/office/officeart/2005/8/layout/orgChart1"/>
    <dgm:cxn modelId="{29E767D5-A0B1-436C-B8F9-53FACC2A1C24}" type="presParOf" srcId="{1A4BDE07-B7F6-4575-9155-B51E9544C083}" destId="{411AB05C-2210-4B78-BD59-70E13E871936}" srcOrd="1" destOrd="0" presId="urn:microsoft.com/office/officeart/2005/8/layout/orgChart1"/>
    <dgm:cxn modelId="{0FE05904-AB8D-4B73-9B22-705C6C15E5A2}" type="presParOf" srcId="{4287BFA2-DBA3-469E-9AB4-22CB07C1CA02}" destId="{81FA0B0A-85CC-4113-9165-48A285D0762B}" srcOrd="1" destOrd="0" presId="urn:microsoft.com/office/officeart/2005/8/layout/orgChart1"/>
    <dgm:cxn modelId="{C05F10A3-5A9F-4F7E-9FD4-D273AF4F166B}" type="presParOf" srcId="{81FA0B0A-85CC-4113-9165-48A285D0762B}" destId="{9CFC0F5E-0F11-4B8C-8A6D-81BF843D9A09}" srcOrd="0" destOrd="0" presId="urn:microsoft.com/office/officeart/2005/8/layout/orgChart1"/>
    <dgm:cxn modelId="{98BB55C0-B73E-4C96-A4AE-FDB36278D503}" type="presParOf" srcId="{81FA0B0A-85CC-4113-9165-48A285D0762B}" destId="{1180DA8F-947A-41B8-B9FE-07419025E297}" srcOrd="1" destOrd="0" presId="urn:microsoft.com/office/officeart/2005/8/layout/orgChart1"/>
    <dgm:cxn modelId="{780AF343-D680-4C0B-878F-D43E45F3AEDB}" type="presParOf" srcId="{1180DA8F-947A-41B8-B9FE-07419025E297}" destId="{DB30642C-375B-4470-913B-74841B141809}" srcOrd="0" destOrd="0" presId="urn:microsoft.com/office/officeart/2005/8/layout/orgChart1"/>
    <dgm:cxn modelId="{08F46C9F-CACA-409E-8EAE-705E8CB2BAE8}" type="presParOf" srcId="{DB30642C-375B-4470-913B-74841B141809}" destId="{E9CD9785-8AB5-45CD-9E35-189CB562206C}" srcOrd="0" destOrd="0" presId="urn:microsoft.com/office/officeart/2005/8/layout/orgChart1"/>
    <dgm:cxn modelId="{1F7152C0-8703-4000-BC45-FD8A99E1EAB9}" type="presParOf" srcId="{DB30642C-375B-4470-913B-74841B141809}" destId="{FC4FCA74-3720-4AEC-9206-9E2F1BCFCEC4}" srcOrd="1" destOrd="0" presId="urn:microsoft.com/office/officeart/2005/8/layout/orgChart1"/>
    <dgm:cxn modelId="{32EDFFF8-CCFA-4198-95EC-A9AD29E74E30}" type="presParOf" srcId="{1180DA8F-947A-41B8-B9FE-07419025E297}" destId="{582E6BB2-120C-4FEE-BC44-491091360F86}" srcOrd="1" destOrd="0" presId="urn:microsoft.com/office/officeart/2005/8/layout/orgChart1"/>
    <dgm:cxn modelId="{05240E06-C23A-47FD-9C91-BC67A6B39794}" type="presParOf" srcId="{1180DA8F-947A-41B8-B9FE-07419025E297}" destId="{EB2FDDB5-14EC-40A4-9D56-D8920DB8DEA5}" srcOrd="2" destOrd="0" presId="urn:microsoft.com/office/officeart/2005/8/layout/orgChart1"/>
    <dgm:cxn modelId="{3C18E369-80C5-4EDE-8994-4F1306DDF7CA}" type="presParOf" srcId="{81FA0B0A-85CC-4113-9165-48A285D0762B}" destId="{3A7C0F19-0634-4BA3-9EC8-CD82F6DF7D67}" srcOrd="2" destOrd="0" presId="urn:microsoft.com/office/officeart/2005/8/layout/orgChart1"/>
    <dgm:cxn modelId="{90F438F7-6A83-444C-8C37-54BA9BDF9145}" type="presParOf" srcId="{81FA0B0A-85CC-4113-9165-48A285D0762B}" destId="{5E1D11FC-3288-4390-99BD-1ADB5BE6AC39}" srcOrd="3" destOrd="0" presId="urn:microsoft.com/office/officeart/2005/8/layout/orgChart1"/>
    <dgm:cxn modelId="{1A0CC464-684A-4548-A71A-C7CD4AF61A7E}" type="presParOf" srcId="{5E1D11FC-3288-4390-99BD-1ADB5BE6AC39}" destId="{8C64372C-7738-4CFB-9AD5-06EB606F4E6E}" srcOrd="0" destOrd="0" presId="urn:microsoft.com/office/officeart/2005/8/layout/orgChart1"/>
    <dgm:cxn modelId="{1C52BC61-6DEA-40E4-B006-5D73F7681B5F}" type="presParOf" srcId="{8C64372C-7738-4CFB-9AD5-06EB606F4E6E}" destId="{2F93381F-BF45-4540-974B-126C8679ED43}" srcOrd="0" destOrd="0" presId="urn:microsoft.com/office/officeart/2005/8/layout/orgChart1"/>
    <dgm:cxn modelId="{D43782A2-6C24-4D2D-93AC-2BF67F8A839D}" type="presParOf" srcId="{8C64372C-7738-4CFB-9AD5-06EB606F4E6E}" destId="{FF4F2705-6765-4AD1-B9C3-B3BE37F332A2}" srcOrd="1" destOrd="0" presId="urn:microsoft.com/office/officeart/2005/8/layout/orgChart1"/>
    <dgm:cxn modelId="{D83D4DFE-1D8A-44FA-AFBC-B47913DBF9FD}" type="presParOf" srcId="{5E1D11FC-3288-4390-99BD-1ADB5BE6AC39}" destId="{F3BE9EAF-333D-44BB-A3A0-958B4D29041E}" srcOrd="1" destOrd="0" presId="urn:microsoft.com/office/officeart/2005/8/layout/orgChart1"/>
    <dgm:cxn modelId="{6536D726-EFAF-45FA-8AEA-60DE743CA0B1}" type="presParOf" srcId="{5E1D11FC-3288-4390-99BD-1ADB5BE6AC39}" destId="{595431AE-1F23-4EF0-A70E-F001C3824D90}" srcOrd="2" destOrd="0" presId="urn:microsoft.com/office/officeart/2005/8/layout/orgChart1"/>
    <dgm:cxn modelId="{C7902CEC-CC1F-4CFB-A843-7D3081B374EA}" type="presParOf" srcId="{81FA0B0A-85CC-4113-9165-48A285D0762B}" destId="{A6D249A7-F6B6-47CB-99D2-0E9F843D4B1F}" srcOrd="4" destOrd="0" presId="urn:microsoft.com/office/officeart/2005/8/layout/orgChart1"/>
    <dgm:cxn modelId="{A489EE3D-D5E2-4EB3-BBB4-2A993425E25F}" type="presParOf" srcId="{81FA0B0A-85CC-4113-9165-48A285D0762B}" destId="{F64E9A68-DD89-48E8-9E1B-016792B48C0E}" srcOrd="5" destOrd="0" presId="urn:microsoft.com/office/officeart/2005/8/layout/orgChart1"/>
    <dgm:cxn modelId="{48833673-A14C-4DEC-9BFF-1C896D7E8823}" type="presParOf" srcId="{F64E9A68-DD89-48E8-9E1B-016792B48C0E}" destId="{334DD116-0E51-45C6-810C-04701210B404}" srcOrd="0" destOrd="0" presId="urn:microsoft.com/office/officeart/2005/8/layout/orgChart1"/>
    <dgm:cxn modelId="{7A2E86B6-7D45-4C3B-9D1C-0FEF6DA0C2A9}" type="presParOf" srcId="{334DD116-0E51-45C6-810C-04701210B404}" destId="{08F9D492-6622-4F4B-A85A-6C0A1499FA59}" srcOrd="0" destOrd="0" presId="urn:microsoft.com/office/officeart/2005/8/layout/orgChart1"/>
    <dgm:cxn modelId="{EB6D7C75-DD4D-4680-9BBD-F4F3244BA8BD}" type="presParOf" srcId="{334DD116-0E51-45C6-810C-04701210B404}" destId="{01222746-F883-4FB8-9057-6F82DF5F29FC}" srcOrd="1" destOrd="0" presId="urn:microsoft.com/office/officeart/2005/8/layout/orgChart1"/>
    <dgm:cxn modelId="{E5C02B62-B121-497E-8072-E863908132EF}" type="presParOf" srcId="{F64E9A68-DD89-48E8-9E1B-016792B48C0E}" destId="{21E3C456-93A8-4849-83D5-9776994EF758}" srcOrd="1" destOrd="0" presId="urn:microsoft.com/office/officeart/2005/8/layout/orgChart1"/>
    <dgm:cxn modelId="{9A961414-4CEF-42E8-A086-D144A697E52D}" type="presParOf" srcId="{F64E9A68-DD89-48E8-9E1B-016792B48C0E}" destId="{4E61C1B2-FE54-4D13-9760-7B097F86B3C8}" srcOrd="2" destOrd="0" presId="urn:microsoft.com/office/officeart/2005/8/layout/orgChart1"/>
    <dgm:cxn modelId="{8D637705-0565-4D36-BF2A-B86D85164D8C}" type="presParOf" srcId="{81FA0B0A-85CC-4113-9165-48A285D0762B}" destId="{63CAB242-172A-43EE-9991-F4B9E385AD13}" srcOrd="6" destOrd="0" presId="urn:microsoft.com/office/officeart/2005/8/layout/orgChart1"/>
    <dgm:cxn modelId="{529E55DF-A5F7-4556-A4B9-462F7A2A5911}" type="presParOf" srcId="{81FA0B0A-85CC-4113-9165-48A285D0762B}" destId="{5B06C197-E4BB-4442-9165-5124475189EA}" srcOrd="7" destOrd="0" presId="urn:microsoft.com/office/officeart/2005/8/layout/orgChart1"/>
    <dgm:cxn modelId="{95872A74-3495-4FD2-B768-9473C11E4257}" type="presParOf" srcId="{5B06C197-E4BB-4442-9165-5124475189EA}" destId="{ABC44581-14DB-424B-8DD6-77D6DE0E068A}" srcOrd="0" destOrd="0" presId="urn:microsoft.com/office/officeart/2005/8/layout/orgChart1"/>
    <dgm:cxn modelId="{550C70B7-B86F-465B-82D5-CD18B1E5C2D7}" type="presParOf" srcId="{ABC44581-14DB-424B-8DD6-77D6DE0E068A}" destId="{AA52191D-008B-4C7F-8946-F924E3BDD826}" srcOrd="0" destOrd="0" presId="urn:microsoft.com/office/officeart/2005/8/layout/orgChart1"/>
    <dgm:cxn modelId="{3FD12FC6-E382-4039-9509-977A603381C1}" type="presParOf" srcId="{ABC44581-14DB-424B-8DD6-77D6DE0E068A}" destId="{008E7FCF-3324-4C62-8FAA-24EE64D16405}" srcOrd="1" destOrd="0" presId="urn:microsoft.com/office/officeart/2005/8/layout/orgChart1"/>
    <dgm:cxn modelId="{8EF2852F-866F-4207-B41F-71018F5131A8}" type="presParOf" srcId="{5B06C197-E4BB-4442-9165-5124475189EA}" destId="{BBCDE315-ABD8-4D3A-B720-A2D178330826}" srcOrd="1" destOrd="0" presId="urn:microsoft.com/office/officeart/2005/8/layout/orgChart1"/>
    <dgm:cxn modelId="{C1532920-27D4-4BFA-B46B-E24025D8ECC9}" type="presParOf" srcId="{5B06C197-E4BB-4442-9165-5124475189EA}" destId="{D05E6453-0257-452C-A5EE-2826EA414B33}" srcOrd="2" destOrd="0" presId="urn:microsoft.com/office/officeart/2005/8/layout/orgChart1"/>
    <dgm:cxn modelId="{83728283-10DB-4035-961C-5FBD58BF736E}" type="presParOf" srcId="{81FA0B0A-85CC-4113-9165-48A285D0762B}" destId="{60BB5A03-0998-46DC-BC03-622E24A68BC6}" srcOrd="8" destOrd="0" presId="urn:microsoft.com/office/officeart/2005/8/layout/orgChart1"/>
    <dgm:cxn modelId="{70091BA5-9F78-4835-A342-CE7D356C179E}" type="presParOf" srcId="{81FA0B0A-85CC-4113-9165-48A285D0762B}" destId="{6E682AAC-157A-4F4A-9D6B-94A3510B49D6}" srcOrd="9" destOrd="0" presId="urn:microsoft.com/office/officeart/2005/8/layout/orgChart1"/>
    <dgm:cxn modelId="{E8527A99-518C-4AA8-8D20-226DF1FCAD59}" type="presParOf" srcId="{6E682AAC-157A-4F4A-9D6B-94A3510B49D6}" destId="{090C6B4D-F180-4C71-A9C4-0D0D9463229C}" srcOrd="0" destOrd="0" presId="urn:microsoft.com/office/officeart/2005/8/layout/orgChart1"/>
    <dgm:cxn modelId="{6638C428-29A0-4044-B8D8-8809D2CBE5C5}" type="presParOf" srcId="{090C6B4D-F180-4C71-A9C4-0D0D9463229C}" destId="{07A094C7-952C-4E3B-8925-C07622C8D78F}" srcOrd="0" destOrd="0" presId="urn:microsoft.com/office/officeart/2005/8/layout/orgChart1"/>
    <dgm:cxn modelId="{322FF070-C683-4135-B921-CC246D1A6E69}" type="presParOf" srcId="{090C6B4D-F180-4C71-A9C4-0D0D9463229C}" destId="{45238670-E506-4D4C-9061-5BDF1580D9C8}" srcOrd="1" destOrd="0" presId="urn:microsoft.com/office/officeart/2005/8/layout/orgChart1"/>
    <dgm:cxn modelId="{5A7C916C-9179-40E2-9180-EE141747063F}" type="presParOf" srcId="{6E682AAC-157A-4F4A-9D6B-94A3510B49D6}" destId="{C7273981-89F8-4B3D-8014-174DF002DA1F}" srcOrd="1" destOrd="0" presId="urn:microsoft.com/office/officeart/2005/8/layout/orgChart1"/>
    <dgm:cxn modelId="{0EFCB12B-DE7D-4251-A979-38C8FE8A153E}" type="presParOf" srcId="{6E682AAC-157A-4F4A-9D6B-94A3510B49D6}" destId="{CD7A1B2D-E528-455C-8FE1-C2C8F37F0AE4}" srcOrd="2" destOrd="0" presId="urn:microsoft.com/office/officeart/2005/8/layout/orgChart1"/>
    <dgm:cxn modelId="{28EF9510-ED35-4A80-BE1D-2B19E508FCB8}" type="presParOf" srcId="{4287BFA2-DBA3-469E-9AB4-22CB07C1CA02}" destId="{3762BF0C-569A-4D06-A3F0-190C7427B8A1}" srcOrd="2" destOrd="0" presId="urn:microsoft.com/office/officeart/2005/8/layout/orgChart1"/>
    <dgm:cxn modelId="{819BE42E-0E08-4A6D-94ED-111E41864677}" type="presParOf" srcId="{593CADEC-F89C-4F78-973C-1CBF0B192A17}" destId="{4DC2FF48-506B-4ECB-A79A-F1573CA90CAB}" srcOrd="14" destOrd="0" presId="urn:microsoft.com/office/officeart/2005/8/layout/orgChart1"/>
    <dgm:cxn modelId="{2CED0B2C-ABF2-40EB-A1E1-88561E0A22A8}" type="presParOf" srcId="{593CADEC-F89C-4F78-973C-1CBF0B192A17}" destId="{41DA0159-B5E7-4DD1-925E-02D0016D0633}" srcOrd="15" destOrd="0" presId="urn:microsoft.com/office/officeart/2005/8/layout/orgChart1"/>
    <dgm:cxn modelId="{BBB13107-A10B-45D9-9414-6B27F098A2F4}" type="presParOf" srcId="{41DA0159-B5E7-4DD1-925E-02D0016D0633}" destId="{BA4FC7A6-A16E-4209-9FC8-386C52623320}" srcOrd="0" destOrd="0" presId="urn:microsoft.com/office/officeart/2005/8/layout/orgChart1"/>
    <dgm:cxn modelId="{6DAF50FF-7ECD-4539-AB5A-CA1CF515E8FE}" type="presParOf" srcId="{BA4FC7A6-A16E-4209-9FC8-386C52623320}" destId="{5ED673C7-3EAB-40F8-B0E4-C4C717837A83}" srcOrd="0" destOrd="0" presId="urn:microsoft.com/office/officeart/2005/8/layout/orgChart1"/>
    <dgm:cxn modelId="{049B3FBA-C348-4BCF-9B42-140EBF00DE64}" type="presParOf" srcId="{BA4FC7A6-A16E-4209-9FC8-386C52623320}" destId="{EF96ECC0-54E3-4D76-9EBE-11859F39CA3C}" srcOrd="1" destOrd="0" presId="urn:microsoft.com/office/officeart/2005/8/layout/orgChart1"/>
    <dgm:cxn modelId="{9657AF24-7C88-4C9C-A995-0E65F22ED3CA}" type="presParOf" srcId="{41DA0159-B5E7-4DD1-925E-02D0016D0633}" destId="{2B63F608-0BAF-4C6F-8B59-F7EF07AB5588}" srcOrd="1" destOrd="0" presId="urn:microsoft.com/office/officeart/2005/8/layout/orgChart1"/>
    <dgm:cxn modelId="{FFA91C66-398F-4154-BCFA-10586AC77C05}" type="presParOf" srcId="{2B63F608-0BAF-4C6F-8B59-F7EF07AB5588}" destId="{C09E2291-8BB7-450F-B198-0E3D2D18CEFF}" srcOrd="0" destOrd="0" presId="urn:microsoft.com/office/officeart/2005/8/layout/orgChart1"/>
    <dgm:cxn modelId="{3D06CBB7-CF73-482A-98C8-1861EDC07157}" type="presParOf" srcId="{2B63F608-0BAF-4C6F-8B59-F7EF07AB5588}" destId="{1A69CF58-615B-409F-A173-8FD7358973C9}" srcOrd="1" destOrd="0" presId="urn:microsoft.com/office/officeart/2005/8/layout/orgChart1"/>
    <dgm:cxn modelId="{E9651D2D-15AB-4164-BD84-4E3C54C55CEA}" type="presParOf" srcId="{1A69CF58-615B-409F-A173-8FD7358973C9}" destId="{B802C9D4-8E3D-4FFB-A6BE-1A38EFAD8817}" srcOrd="0" destOrd="0" presId="urn:microsoft.com/office/officeart/2005/8/layout/orgChart1"/>
    <dgm:cxn modelId="{1E897385-EAB9-4F6B-BEB0-24A24F71AF92}" type="presParOf" srcId="{B802C9D4-8E3D-4FFB-A6BE-1A38EFAD8817}" destId="{5F8A4440-7524-4A45-88BA-CE285825BB0C}" srcOrd="0" destOrd="0" presId="urn:microsoft.com/office/officeart/2005/8/layout/orgChart1"/>
    <dgm:cxn modelId="{DDF163C1-B4A9-40CD-A4DE-D5C9D56079D7}" type="presParOf" srcId="{B802C9D4-8E3D-4FFB-A6BE-1A38EFAD8817}" destId="{1D4C3A26-2AB4-4862-83CA-930B84CA12C7}" srcOrd="1" destOrd="0" presId="urn:microsoft.com/office/officeart/2005/8/layout/orgChart1"/>
    <dgm:cxn modelId="{F225DEF0-99BC-4D4F-B8D0-FA8EC54D01AE}" type="presParOf" srcId="{1A69CF58-615B-409F-A173-8FD7358973C9}" destId="{C8DB9C17-7667-475C-B68C-52059BB37295}" srcOrd="1" destOrd="0" presId="urn:microsoft.com/office/officeart/2005/8/layout/orgChart1"/>
    <dgm:cxn modelId="{F04737F8-3BB7-496B-B0B0-DBD6EEEA2D2A}" type="presParOf" srcId="{1A69CF58-615B-409F-A173-8FD7358973C9}" destId="{0D03AACC-6E73-44C5-8BDE-28ACD0DC81EC}" srcOrd="2" destOrd="0" presId="urn:microsoft.com/office/officeart/2005/8/layout/orgChart1"/>
    <dgm:cxn modelId="{4D23F798-C88E-4980-B7EB-E14CDB3EA201}" type="presParOf" srcId="{2B63F608-0BAF-4C6F-8B59-F7EF07AB5588}" destId="{966B6455-2990-42E6-9591-2900AA56106D}" srcOrd="2" destOrd="0" presId="urn:microsoft.com/office/officeart/2005/8/layout/orgChart1"/>
    <dgm:cxn modelId="{F6A7E1D4-BA07-4219-A3F2-CC0F7AAA702E}" type="presParOf" srcId="{2B63F608-0BAF-4C6F-8B59-F7EF07AB5588}" destId="{3A1CEF15-87C6-4E1C-B8D6-485367257548}" srcOrd="3" destOrd="0" presId="urn:microsoft.com/office/officeart/2005/8/layout/orgChart1"/>
    <dgm:cxn modelId="{5ED05FCC-002F-45F7-8041-BD1FB2759072}" type="presParOf" srcId="{3A1CEF15-87C6-4E1C-B8D6-485367257548}" destId="{E2B8089C-F908-4A05-8F41-1270DE94A83C}" srcOrd="0" destOrd="0" presId="urn:microsoft.com/office/officeart/2005/8/layout/orgChart1"/>
    <dgm:cxn modelId="{C1F2AEF6-ACD8-4498-9878-1BECD7C764AB}" type="presParOf" srcId="{E2B8089C-F908-4A05-8F41-1270DE94A83C}" destId="{29177E28-1A5C-46BC-8A56-F0AD4176C2A5}" srcOrd="0" destOrd="0" presId="urn:microsoft.com/office/officeart/2005/8/layout/orgChart1"/>
    <dgm:cxn modelId="{D35F0C31-C3C5-46D1-B3A9-47C53213780A}" type="presParOf" srcId="{E2B8089C-F908-4A05-8F41-1270DE94A83C}" destId="{FBD08FB5-0482-49F4-B914-5687F9514E83}" srcOrd="1" destOrd="0" presId="urn:microsoft.com/office/officeart/2005/8/layout/orgChart1"/>
    <dgm:cxn modelId="{ED4BFC97-C199-4646-A61D-4AEEA3E1092D}" type="presParOf" srcId="{3A1CEF15-87C6-4E1C-B8D6-485367257548}" destId="{0D56EFDE-3CE6-41E1-96A2-67522A66DF7C}" srcOrd="1" destOrd="0" presId="urn:microsoft.com/office/officeart/2005/8/layout/orgChart1"/>
    <dgm:cxn modelId="{AB9C3196-93EE-4DF0-95B0-6A9E1C6AEF8D}" type="presParOf" srcId="{3A1CEF15-87C6-4E1C-B8D6-485367257548}" destId="{64C1F357-2E24-4D4D-8D99-A2BA6C64C335}" srcOrd="2" destOrd="0" presId="urn:microsoft.com/office/officeart/2005/8/layout/orgChart1"/>
    <dgm:cxn modelId="{155AAEC3-0BB9-4E4A-8EA8-6592FF553AB0}" type="presParOf" srcId="{2B63F608-0BAF-4C6F-8B59-F7EF07AB5588}" destId="{4F184DCB-1FF0-4A18-9B9F-0963B0C02AF0}" srcOrd="4" destOrd="0" presId="urn:microsoft.com/office/officeart/2005/8/layout/orgChart1"/>
    <dgm:cxn modelId="{C4D78ACA-18DC-449A-AFC0-275A714D5308}" type="presParOf" srcId="{2B63F608-0BAF-4C6F-8B59-F7EF07AB5588}" destId="{981DC703-52DE-49FE-9156-FABFCAA3D2DE}" srcOrd="5" destOrd="0" presId="urn:microsoft.com/office/officeart/2005/8/layout/orgChart1"/>
    <dgm:cxn modelId="{C81E4A42-8209-4F0B-875C-8A372EFFBE4D}" type="presParOf" srcId="{981DC703-52DE-49FE-9156-FABFCAA3D2DE}" destId="{E3CE73BD-7F90-40F6-B628-AFCA590514E9}" srcOrd="0" destOrd="0" presId="urn:microsoft.com/office/officeart/2005/8/layout/orgChart1"/>
    <dgm:cxn modelId="{4C2C5E9B-D35D-4259-B385-B3D44DF27013}" type="presParOf" srcId="{E3CE73BD-7F90-40F6-B628-AFCA590514E9}" destId="{A5073B12-9A4B-42C5-AC1C-07CAFCC5C3B5}" srcOrd="0" destOrd="0" presId="urn:microsoft.com/office/officeart/2005/8/layout/orgChart1"/>
    <dgm:cxn modelId="{49D84438-9F0C-46DD-A834-C321BA70E1FD}" type="presParOf" srcId="{E3CE73BD-7F90-40F6-B628-AFCA590514E9}" destId="{12D224F5-ECBE-4EFA-812E-9D35B27B0480}" srcOrd="1" destOrd="0" presId="urn:microsoft.com/office/officeart/2005/8/layout/orgChart1"/>
    <dgm:cxn modelId="{44631C45-2752-4FCD-B961-F71C136FE73B}" type="presParOf" srcId="{981DC703-52DE-49FE-9156-FABFCAA3D2DE}" destId="{E01657E5-084D-4426-BAA9-7F9729B74012}" srcOrd="1" destOrd="0" presId="urn:microsoft.com/office/officeart/2005/8/layout/orgChart1"/>
    <dgm:cxn modelId="{0B1B86A9-BBCD-4B18-BCFC-9D37BBA9B975}" type="presParOf" srcId="{981DC703-52DE-49FE-9156-FABFCAA3D2DE}" destId="{60E48B19-2FE2-489B-81D4-A29F0F34B39A}" srcOrd="2" destOrd="0" presId="urn:microsoft.com/office/officeart/2005/8/layout/orgChart1"/>
    <dgm:cxn modelId="{AE402D94-5CA3-4CC3-A146-B09EA389DACF}" type="presParOf" srcId="{41DA0159-B5E7-4DD1-925E-02D0016D0633}" destId="{D81239E6-ADFB-4DD0-A7D2-8BB132E5ECB3}" srcOrd="2" destOrd="0" presId="urn:microsoft.com/office/officeart/2005/8/layout/orgChart1"/>
    <dgm:cxn modelId="{CA756CEF-2F16-48B9-A9E0-E8474B28D0D9}" type="presParOf" srcId="{593CADEC-F89C-4F78-973C-1CBF0B192A17}" destId="{D72CE293-D64D-40C0-9214-4B26B1F7A8E5}" srcOrd="16" destOrd="0" presId="urn:microsoft.com/office/officeart/2005/8/layout/orgChart1"/>
    <dgm:cxn modelId="{AE7A87AB-49FA-4D2B-9987-B148875859E4}" type="presParOf" srcId="{593CADEC-F89C-4F78-973C-1CBF0B192A17}" destId="{6CCB0006-93B6-46E0-9C16-31D8AFFE10B4}" srcOrd="17" destOrd="0" presId="urn:microsoft.com/office/officeart/2005/8/layout/orgChart1"/>
    <dgm:cxn modelId="{20D2C6BE-CD52-4B1C-BB92-66C2FFBBADEB}" type="presParOf" srcId="{6CCB0006-93B6-46E0-9C16-31D8AFFE10B4}" destId="{4E27B7F6-B166-4186-8EC5-E13CEFED360C}" srcOrd="0" destOrd="0" presId="urn:microsoft.com/office/officeart/2005/8/layout/orgChart1"/>
    <dgm:cxn modelId="{2BDB1733-D26C-43B9-95C9-CDE8F2666B61}" type="presParOf" srcId="{4E27B7F6-B166-4186-8EC5-E13CEFED360C}" destId="{E181C44F-29A1-40A8-9D6C-197404E30D2A}" srcOrd="0" destOrd="0" presId="urn:microsoft.com/office/officeart/2005/8/layout/orgChart1"/>
    <dgm:cxn modelId="{E311B28E-A1F5-4619-AC64-38BCC2F2B5AB}" type="presParOf" srcId="{4E27B7F6-B166-4186-8EC5-E13CEFED360C}" destId="{37E232BB-4704-45D9-B2EB-2DE049B581B7}" srcOrd="1" destOrd="0" presId="urn:microsoft.com/office/officeart/2005/8/layout/orgChart1"/>
    <dgm:cxn modelId="{462A69D6-BD2F-48B2-BC14-A2B2E1CAAEB1}" type="presParOf" srcId="{6CCB0006-93B6-46E0-9C16-31D8AFFE10B4}" destId="{E072C0F1-B213-4A24-8EEE-45E5C37F3E43}" srcOrd="1" destOrd="0" presId="urn:microsoft.com/office/officeart/2005/8/layout/orgChart1"/>
    <dgm:cxn modelId="{F13FD821-AE24-47DF-8476-2D031EA2964E}" type="presParOf" srcId="{E072C0F1-B213-4A24-8EEE-45E5C37F3E43}" destId="{A743A055-46F7-48C9-872F-23419620955B}" srcOrd="0" destOrd="0" presId="urn:microsoft.com/office/officeart/2005/8/layout/orgChart1"/>
    <dgm:cxn modelId="{34E70B41-BD91-4C39-8B27-FFA4C895F72E}" type="presParOf" srcId="{E072C0F1-B213-4A24-8EEE-45E5C37F3E43}" destId="{FBEFE54B-B902-4EFC-B950-7243FC5A2FB9}" srcOrd="1" destOrd="0" presId="urn:microsoft.com/office/officeart/2005/8/layout/orgChart1"/>
    <dgm:cxn modelId="{25F4CF90-1E09-4D7A-840B-840947243AD4}" type="presParOf" srcId="{FBEFE54B-B902-4EFC-B950-7243FC5A2FB9}" destId="{AA241583-847A-448E-815D-476832CFB2DF}" srcOrd="0" destOrd="0" presId="urn:microsoft.com/office/officeart/2005/8/layout/orgChart1"/>
    <dgm:cxn modelId="{41853375-3C67-4DCF-B2E1-BC5905EB3A3D}" type="presParOf" srcId="{AA241583-847A-448E-815D-476832CFB2DF}" destId="{A02A18C1-18A3-46CF-B4FD-6B5E0B9B8C85}" srcOrd="0" destOrd="0" presId="urn:microsoft.com/office/officeart/2005/8/layout/orgChart1"/>
    <dgm:cxn modelId="{9A9BAACC-C47F-4244-B27B-FF09728062C0}" type="presParOf" srcId="{AA241583-847A-448E-815D-476832CFB2DF}" destId="{6E47D314-B255-4024-9B06-319522F59BCB}" srcOrd="1" destOrd="0" presId="urn:microsoft.com/office/officeart/2005/8/layout/orgChart1"/>
    <dgm:cxn modelId="{ED29369F-1991-4AC4-891E-0694FD9E7177}" type="presParOf" srcId="{FBEFE54B-B902-4EFC-B950-7243FC5A2FB9}" destId="{DD3A1803-7030-4276-BF34-99470BA6CDEE}" srcOrd="1" destOrd="0" presId="urn:microsoft.com/office/officeart/2005/8/layout/orgChart1"/>
    <dgm:cxn modelId="{05490560-14A3-48BE-BD2F-F93B52CC76D8}" type="presParOf" srcId="{FBEFE54B-B902-4EFC-B950-7243FC5A2FB9}" destId="{9AAE572A-3919-45CD-93CD-9BC95D96A971}" srcOrd="2" destOrd="0" presId="urn:microsoft.com/office/officeart/2005/8/layout/orgChart1"/>
    <dgm:cxn modelId="{F0DBCA76-8017-4003-AFF6-5F4DA56E435A}" type="presParOf" srcId="{E072C0F1-B213-4A24-8EEE-45E5C37F3E43}" destId="{8F6B3C21-23F7-45A7-A847-D19856FFE1BA}" srcOrd="2" destOrd="0" presId="urn:microsoft.com/office/officeart/2005/8/layout/orgChart1"/>
    <dgm:cxn modelId="{8FBFF8C9-B108-422D-B4FB-87D0FC20FC5D}" type="presParOf" srcId="{E072C0F1-B213-4A24-8EEE-45E5C37F3E43}" destId="{B5EB1CD2-90C5-4B96-B208-E3021006B7DB}" srcOrd="3" destOrd="0" presId="urn:microsoft.com/office/officeart/2005/8/layout/orgChart1"/>
    <dgm:cxn modelId="{71E772AB-2317-4B5D-BCB6-F2ACD6456467}" type="presParOf" srcId="{B5EB1CD2-90C5-4B96-B208-E3021006B7DB}" destId="{F1BE1A6F-250B-438C-A535-9A39E5B72C75}" srcOrd="0" destOrd="0" presId="urn:microsoft.com/office/officeart/2005/8/layout/orgChart1"/>
    <dgm:cxn modelId="{F6FD78FB-8DDE-4B35-9819-7D0D6E3CC512}" type="presParOf" srcId="{F1BE1A6F-250B-438C-A535-9A39E5B72C75}" destId="{B8E952CA-CEC1-4AD6-8718-1007E0E9ABFB}" srcOrd="0" destOrd="0" presId="urn:microsoft.com/office/officeart/2005/8/layout/orgChart1"/>
    <dgm:cxn modelId="{E386D551-A3E1-4709-9835-4E8CFEE54661}" type="presParOf" srcId="{F1BE1A6F-250B-438C-A535-9A39E5B72C75}" destId="{86C99E92-AF77-455C-A8E9-4300CD01553C}" srcOrd="1" destOrd="0" presId="urn:microsoft.com/office/officeart/2005/8/layout/orgChart1"/>
    <dgm:cxn modelId="{5B33582F-9EEC-4610-99E6-D423D23D7033}" type="presParOf" srcId="{B5EB1CD2-90C5-4B96-B208-E3021006B7DB}" destId="{63169C1A-1487-45DC-8E60-13F25AE3BEA8}" srcOrd="1" destOrd="0" presId="urn:microsoft.com/office/officeart/2005/8/layout/orgChart1"/>
    <dgm:cxn modelId="{3BD8B962-04F0-441B-B5BE-72A27F767F19}" type="presParOf" srcId="{B5EB1CD2-90C5-4B96-B208-E3021006B7DB}" destId="{319E476A-712C-4E01-A603-70243FC82BDF}" srcOrd="2" destOrd="0" presId="urn:microsoft.com/office/officeart/2005/8/layout/orgChart1"/>
    <dgm:cxn modelId="{A3312E1A-D2A4-4DF6-AEBD-A96E7B5FFE5A}" type="presParOf" srcId="{6CCB0006-93B6-46E0-9C16-31D8AFFE10B4}" destId="{FCBD1DD5-8BFB-471F-AF6C-ED671A3E5107}" srcOrd="2" destOrd="0" presId="urn:microsoft.com/office/officeart/2005/8/layout/orgChart1"/>
    <dgm:cxn modelId="{FD282C33-5B0E-4D40-A9C3-3AEA7B9D8063}" type="presParOf" srcId="{259F2C66-3785-43B2-93DC-CA01D301FF0E}" destId="{2B2D225E-97A2-498A-8859-03671F047C9D}" srcOrd="2" destOrd="0" presId="urn:microsoft.com/office/officeart/2005/8/layout/orgChart1"/>
  </dgm:cxnLst>
  <dgm:bg>
    <a:noFill/>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6B3C21-23F7-45A7-A847-D19856FFE1BA}">
      <dsp:nvSpPr>
        <dsp:cNvPr id="0" name=""/>
        <dsp:cNvSpPr/>
      </dsp:nvSpPr>
      <dsp:spPr>
        <a:xfrm>
          <a:off x="9554820" y="1157207"/>
          <a:ext cx="143407" cy="1118581"/>
        </a:xfrm>
        <a:custGeom>
          <a:avLst/>
          <a:gdLst/>
          <a:ahLst/>
          <a:cxnLst/>
          <a:rect l="0" t="0" r="0" b="0"/>
          <a:pathLst>
            <a:path>
              <a:moveTo>
                <a:pt x="0" y="0"/>
              </a:moveTo>
              <a:lnTo>
                <a:pt x="0" y="1118581"/>
              </a:lnTo>
              <a:lnTo>
                <a:pt x="143407" y="111858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43A055-46F7-48C9-872F-23419620955B}">
      <dsp:nvSpPr>
        <dsp:cNvPr id="0" name=""/>
        <dsp:cNvSpPr/>
      </dsp:nvSpPr>
      <dsp:spPr>
        <a:xfrm>
          <a:off x="9554820" y="1157207"/>
          <a:ext cx="143407" cy="439784"/>
        </a:xfrm>
        <a:custGeom>
          <a:avLst/>
          <a:gdLst/>
          <a:ahLst/>
          <a:cxnLst/>
          <a:rect l="0" t="0" r="0" b="0"/>
          <a:pathLst>
            <a:path>
              <a:moveTo>
                <a:pt x="0" y="0"/>
              </a:moveTo>
              <a:lnTo>
                <a:pt x="0" y="439784"/>
              </a:lnTo>
              <a:lnTo>
                <a:pt x="143407" y="4397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2CE293-D64D-40C0-9214-4B26B1F7A8E5}">
      <dsp:nvSpPr>
        <dsp:cNvPr id="0" name=""/>
        <dsp:cNvSpPr/>
      </dsp:nvSpPr>
      <dsp:spPr>
        <a:xfrm>
          <a:off x="5309945" y="478410"/>
          <a:ext cx="4627295" cy="200771"/>
        </a:xfrm>
        <a:custGeom>
          <a:avLst/>
          <a:gdLst/>
          <a:ahLst/>
          <a:cxnLst/>
          <a:rect l="0" t="0" r="0" b="0"/>
          <a:pathLst>
            <a:path>
              <a:moveTo>
                <a:pt x="0" y="0"/>
              </a:moveTo>
              <a:lnTo>
                <a:pt x="0" y="100385"/>
              </a:lnTo>
              <a:lnTo>
                <a:pt x="4627295" y="100385"/>
              </a:lnTo>
              <a:lnTo>
                <a:pt x="4627295"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4F184DCB-1FF0-4A18-9B9F-0963B0C02AF0}">
      <dsp:nvSpPr>
        <dsp:cNvPr id="0" name=""/>
        <dsp:cNvSpPr/>
      </dsp:nvSpPr>
      <dsp:spPr>
        <a:xfrm>
          <a:off x="8397996" y="1157207"/>
          <a:ext cx="143407" cy="1797379"/>
        </a:xfrm>
        <a:custGeom>
          <a:avLst/>
          <a:gdLst/>
          <a:ahLst/>
          <a:cxnLst/>
          <a:rect l="0" t="0" r="0" b="0"/>
          <a:pathLst>
            <a:path>
              <a:moveTo>
                <a:pt x="0" y="0"/>
              </a:moveTo>
              <a:lnTo>
                <a:pt x="0" y="1797379"/>
              </a:lnTo>
              <a:lnTo>
                <a:pt x="143407" y="179737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6B6455-2990-42E6-9591-2900AA56106D}">
      <dsp:nvSpPr>
        <dsp:cNvPr id="0" name=""/>
        <dsp:cNvSpPr/>
      </dsp:nvSpPr>
      <dsp:spPr>
        <a:xfrm>
          <a:off x="8397996" y="1157207"/>
          <a:ext cx="143407" cy="1118581"/>
        </a:xfrm>
        <a:custGeom>
          <a:avLst/>
          <a:gdLst/>
          <a:ahLst/>
          <a:cxnLst/>
          <a:rect l="0" t="0" r="0" b="0"/>
          <a:pathLst>
            <a:path>
              <a:moveTo>
                <a:pt x="0" y="0"/>
              </a:moveTo>
              <a:lnTo>
                <a:pt x="0" y="1118581"/>
              </a:lnTo>
              <a:lnTo>
                <a:pt x="143407" y="111858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9E2291-8BB7-450F-B198-0E3D2D18CEFF}">
      <dsp:nvSpPr>
        <dsp:cNvPr id="0" name=""/>
        <dsp:cNvSpPr/>
      </dsp:nvSpPr>
      <dsp:spPr>
        <a:xfrm>
          <a:off x="8397996" y="1157207"/>
          <a:ext cx="143407" cy="439784"/>
        </a:xfrm>
        <a:custGeom>
          <a:avLst/>
          <a:gdLst/>
          <a:ahLst/>
          <a:cxnLst/>
          <a:rect l="0" t="0" r="0" b="0"/>
          <a:pathLst>
            <a:path>
              <a:moveTo>
                <a:pt x="0" y="0"/>
              </a:moveTo>
              <a:lnTo>
                <a:pt x="0" y="439784"/>
              </a:lnTo>
              <a:lnTo>
                <a:pt x="143407" y="4397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C2FF48-506B-4ECB-A79A-F1573CA90CAB}">
      <dsp:nvSpPr>
        <dsp:cNvPr id="0" name=""/>
        <dsp:cNvSpPr/>
      </dsp:nvSpPr>
      <dsp:spPr>
        <a:xfrm>
          <a:off x="5309945" y="478410"/>
          <a:ext cx="3470471" cy="200771"/>
        </a:xfrm>
        <a:custGeom>
          <a:avLst/>
          <a:gdLst/>
          <a:ahLst/>
          <a:cxnLst/>
          <a:rect l="0" t="0" r="0" b="0"/>
          <a:pathLst>
            <a:path>
              <a:moveTo>
                <a:pt x="0" y="0"/>
              </a:moveTo>
              <a:lnTo>
                <a:pt x="0" y="100385"/>
              </a:lnTo>
              <a:lnTo>
                <a:pt x="3470471" y="100385"/>
              </a:lnTo>
              <a:lnTo>
                <a:pt x="3470471"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60BB5A03-0998-46DC-BC03-622E24A68BC6}">
      <dsp:nvSpPr>
        <dsp:cNvPr id="0" name=""/>
        <dsp:cNvSpPr/>
      </dsp:nvSpPr>
      <dsp:spPr>
        <a:xfrm>
          <a:off x="7241172" y="1157207"/>
          <a:ext cx="143407" cy="3154974"/>
        </a:xfrm>
        <a:custGeom>
          <a:avLst/>
          <a:gdLst/>
          <a:ahLst/>
          <a:cxnLst/>
          <a:rect l="0" t="0" r="0" b="0"/>
          <a:pathLst>
            <a:path>
              <a:moveTo>
                <a:pt x="0" y="0"/>
              </a:moveTo>
              <a:lnTo>
                <a:pt x="0" y="3154974"/>
              </a:lnTo>
              <a:lnTo>
                <a:pt x="143407" y="315497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CAB242-172A-43EE-9991-F4B9E385AD13}">
      <dsp:nvSpPr>
        <dsp:cNvPr id="0" name=""/>
        <dsp:cNvSpPr/>
      </dsp:nvSpPr>
      <dsp:spPr>
        <a:xfrm>
          <a:off x="7241172" y="1157207"/>
          <a:ext cx="143407" cy="2476176"/>
        </a:xfrm>
        <a:custGeom>
          <a:avLst/>
          <a:gdLst/>
          <a:ahLst/>
          <a:cxnLst/>
          <a:rect l="0" t="0" r="0" b="0"/>
          <a:pathLst>
            <a:path>
              <a:moveTo>
                <a:pt x="0" y="0"/>
              </a:moveTo>
              <a:lnTo>
                <a:pt x="0" y="2476176"/>
              </a:lnTo>
              <a:lnTo>
                <a:pt x="143407" y="247617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D249A7-F6B6-47CB-99D2-0E9F843D4B1F}">
      <dsp:nvSpPr>
        <dsp:cNvPr id="0" name=""/>
        <dsp:cNvSpPr/>
      </dsp:nvSpPr>
      <dsp:spPr>
        <a:xfrm>
          <a:off x="7241172" y="1157207"/>
          <a:ext cx="143407" cy="1797379"/>
        </a:xfrm>
        <a:custGeom>
          <a:avLst/>
          <a:gdLst/>
          <a:ahLst/>
          <a:cxnLst/>
          <a:rect l="0" t="0" r="0" b="0"/>
          <a:pathLst>
            <a:path>
              <a:moveTo>
                <a:pt x="0" y="0"/>
              </a:moveTo>
              <a:lnTo>
                <a:pt x="0" y="1797379"/>
              </a:lnTo>
              <a:lnTo>
                <a:pt x="143407" y="179737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7C0F19-0634-4BA3-9EC8-CD82F6DF7D67}">
      <dsp:nvSpPr>
        <dsp:cNvPr id="0" name=""/>
        <dsp:cNvSpPr/>
      </dsp:nvSpPr>
      <dsp:spPr>
        <a:xfrm>
          <a:off x="7241172" y="1157207"/>
          <a:ext cx="143407" cy="1118581"/>
        </a:xfrm>
        <a:custGeom>
          <a:avLst/>
          <a:gdLst/>
          <a:ahLst/>
          <a:cxnLst/>
          <a:rect l="0" t="0" r="0" b="0"/>
          <a:pathLst>
            <a:path>
              <a:moveTo>
                <a:pt x="0" y="0"/>
              </a:moveTo>
              <a:lnTo>
                <a:pt x="0" y="1118581"/>
              </a:lnTo>
              <a:lnTo>
                <a:pt x="143407" y="111858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FC0F5E-0F11-4B8C-8A6D-81BF843D9A09}">
      <dsp:nvSpPr>
        <dsp:cNvPr id="0" name=""/>
        <dsp:cNvSpPr/>
      </dsp:nvSpPr>
      <dsp:spPr>
        <a:xfrm>
          <a:off x="7241172" y="1157207"/>
          <a:ext cx="143407" cy="439784"/>
        </a:xfrm>
        <a:custGeom>
          <a:avLst/>
          <a:gdLst/>
          <a:ahLst/>
          <a:cxnLst/>
          <a:rect l="0" t="0" r="0" b="0"/>
          <a:pathLst>
            <a:path>
              <a:moveTo>
                <a:pt x="0" y="0"/>
              </a:moveTo>
              <a:lnTo>
                <a:pt x="0" y="439784"/>
              </a:lnTo>
              <a:lnTo>
                <a:pt x="143407" y="4397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A22666-D5A3-429F-886F-6906E280CED9}">
      <dsp:nvSpPr>
        <dsp:cNvPr id="0" name=""/>
        <dsp:cNvSpPr/>
      </dsp:nvSpPr>
      <dsp:spPr>
        <a:xfrm>
          <a:off x="5309945" y="478410"/>
          <a:ext cx="2313647" cy="200771"/>
        </a:xfrm>
        <a:custGeom>
          <a:avLst/>
          <a:gdLst/>
          <a:ahLst/>
          <a:cxnLst/>
          <a:rect l="0" t="0" r="0" b="0"/>
          <a:pathLst>
            <a:path>
              <a:moveTo>
                <a:pt x="0" y="0"/>
              </a:moveTo>
              <a:lnTo>
                <a:pt x="0" y="100385"/>
              </a:lnTo>
              <a:lnTo>
                <a:pt x="2313647" y="100385"/>
              </a:lnTo>
              <a:lnTo>
                <a:pt x="2313647"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4F3CB06F-B2BB-49AF-B073-18697E555B53}">
      <dsp:nvSpPr>
        <dsp:cNvPr id="0" name=""/>
        <dsp:cNvSpPr/>
      </dsp:nvSpPr>
      <dsp:spPr>
        <a:xfrm>
          <a:off x="6084348" y="1157207"/>
          <a:ext cx="143407" cy="439784"/>
        </a:xfrm>
        <a:custGeom>
          <a:avLst/>
          <a:gdLst/>
          <a:ahLst/>
          <a:cxnLst/>
          <a:rect l="0" t="0" r="0" b="0"/>
          <a:pathLst>
            <a:path>
              <a:moveTo>
                <a:pt x="0" y="0"/>
              </a:moveTo>
              <a:lnTo>
                <a:pt x="0" y="439784"/>
              </a:lnTo>
              <a:lnTo>
                <a:pt x="143407" y="4397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8DE9DB-7EF7-4A00-BEA3-426BC6E8E958}">
      <dsp:nvSpPr>
        <dsp:cNvPr id="0" name=""/>
        <dsp:cNvSpPr/>
      </dsp:nvSpPr>
      <dsp:spPr>
        <a:xfrm>
          <a:off x="5309945" y="478410"/>
          <a:ext cx="1156823" cy="200771"/>
        </a:xfrm>
        <a:custGeom>
          <a:avLst/>
          <a:gdLst/>
          <a:ahLst/>
          <a:cxnLst/>
          <a:rect l="0" t="0" r="0" b="0"/>
          <a:pathLst>
            <a:path>
              <a:moveTo>
                <a:pt x="0" y="0"/>
              </a:moveTo>
              <a:lnTo>
                <a:pt x="0" y="100385"/>
              </a:lnTo>
              <a:lnTo>
                <a:pt x="1156823" y="100385"/>
              </a:lnTo>
              <a:lnTo>
                <a:pt x="1156823"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AE358B96-0E6A-4166-8A95-07F3165684AB}">
      <dsp:nvSpPr>
        <dsp:cNvPr id="0" name=""/>
        <dsp:cNvSpPr/>
      </dsp:nvSpPr>
      <dsp:spPr>
        <a:xfrm>
          <a:off x="4927524" y="1157207"/>
          <a:ext cx="143407" cy="2476176"/>
        </a:xfrm>
        <a:custGeom>
          <a:avLst/>
          <a:gdLst/>
          <a:ahLst/>
          <a:cxnLst/>
          <a:rect l="0" t="0" r="0" b="0"/>
          <a:pathLst>
            <a:path>
              <a:moveTo>
                <a:pt x="0" y="0"/>
              </a:moveTo>
              <a:lnTo>
                <a:pt x="0" y="2476176"/>
              </a:lnTo>
              <a:lnTo>
                <a:pt x="143407" y="247617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9B3DCC-AC84-4F09-A3A4-B632A6DF2532}">
      <dsp:nvSpPr>
        <dsp:cNvPr id="0" name=""/>
        <dsp:cNvSpPr/>
      </dsp:nvSpPr>
      <dsp:spPr>
        <a:xfrm>
          <a:off x="4927524" y="1157207"/>
          <a:ext cx="143407" cy="1797379"/>
        </a:xfrm>
        <a:custGeom>
          <a:avLst/>
          <a:gdLst/>
          <a:ahLst/>
          <a:cxnLst/>
          <a:rect l="0" t="0" r="0" b="0"/>
          <a:pathLst>
            <a:path>
              <a:moveTo>
                <a:pt x="0" y="0"/>
              </a:moveTo>
              <a:lnTo>
                <a:pt x="0" y="1797379"/>
              </a:lnTo>
              <a:lnTo>
                <a:pt x="143407" y="179737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C4C1A7-A55D-4394-94ED-1905B40AE921}">
      <dsp:nvSpPr>
        <dsp:cNvPr id="0" name=""/>
        <dsp:cNvSpPr/>
      </dsp:nvSpPr>
      <dsp:spPr>
        <a:xfrm>
          <a:off x="4927524" y="1157207"/>
          <a:ext cx="143407" cy="1118581"/>
        </a:xfrm>
        <a:custGeom>
          <a:avLst/>
          <a:gdLst/>
          <a:ahLst/>
          <a:cxnLst/>
          <a:rect l="0" t="0" r="0" b="0"/>
          <a:pathLst>
            <a:path>
              <a:moveTo>
                <a:pt x="0" y="0"/>
              </a:moveTo>
              <a:lnTo>
                <a:pt x="0" y="1118581"/>
              </a:lnTo>
              <a:lnTo>
                <a:pt x="143407" y="111858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79419F-BBBE-4939-A361-D2BC40131155}">
      <dsp:nvSpPr>
        <dsp:cNvPr id="0" name=""/>
        <dsp:cNvSpPr/>
      </dsp:nvSpPr>
      <dsp:spPr>
        <a:xfrm>
          <a:off x="4927524" y="1157207"/>
          <a:ext cx="143407" cy="439784"/>
        </a:xfrm>
        <a:custGeom>
          <a:avLst/>
          <a:gdLst/>
          <a:ahLst/>
          <a:cxnLst/>
          <a:rect l="0" t="0" r="0" b="0"/>
          <a:pathLst>
            <a:path>
              <a:moveTo>
                <a:pt x="0" y="0"/>
              </a:moveTo>
              <a:lnTo>
                <a:pt x="0" y="439784"/>
              </a:lnTo>
              <a:lnTo>
                <a:pt x="143407" y="4397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2D3861-D796-46EC-9AB9-5C6DF11B5468}">
      <dsp:nvSpPr>
        <dsp:cNvPr id="0" name=""/>
        <dsp:cNvSpPr/>
      </dsp:nvSpPr>
      <dsp:spPr>
        <a:xfrm>
          <a:off x="5264225" y="478410"/>
          <a:ext cx="91440" cy="200771"/>
        </a:xfrm>
        <a:custGeom>
          <a:avLst/>
          <a:gdLst/>
          <a:ahLst/>
          <a:cxnLst/>
          <a:rect l="0" t="0" r="0" b="0"/>
          <a:pathLst>
            <a:path>
              <a:moveTo>
                <a:pt x="45720" y="0"/>
              </a:moveTo>
              <a:lnTo>
                <a:pt x="45720"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22A89140-BC30-48A4-95BF-35EEB54E49AA}">
      <dsp:nvSpPr>
        <dsp:cNvPr id="0" name=""/>
        <dsp:cNvSpPr/>
      </dsp:nvSpPr>
      <dsp:spPr>
        <a:xfrm>
          <a:off x="3770700" y="1157207"/>
          <a:ext cx="143407" cy="1797379"/>
        </a:xfrm>
        <a:custGeom>
          <a:avLst/>
          <a:gdLst/>
          <a:ahLst/>
          <a:cxnLst/>
          <a:rect l="0" t="0" r="0" b="0"/>
          <a:pathLst>
            <a:path>
              <a:moveTo>
                <a:pt x="0" y="0"/>
              </a:moveTo>
              <a:lnTo>
                <a:pt x="0" y="1797379"/>
              </a:lnTo>
              <a:lnTo>
                <a:pt x="143407" y="179737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BF04FB-8BAD-4562-883B-9329CDCEBB9F}">
      <dsp:nvSpPr>
        <dsp:cNvPr id="0" name=""/>
        <dsp:cNvSpPr/>
      </dsp:nvSpPr>
      <dsp:spPr>
        <a:xfrm>
          <a:off x="3770700" y="1157207"/>
          <a:ext cx="143407" cy="1118581"/>
        </a:xfrm>
        <a:custGeom>
          <a:avLst/>
          <a:gdLst/>
          <a:ahLst/>
          <a:cxnLst/>
          <a:rect l="0" t="0" r="0" b="0"/>
          <a:pathLst>
            <a:path>
              <a:moveTo>
                <a:pt x="0" y="0"/>
              </a:moveTo>
              <a:lnTo>
                <a:pt x="0" y="1118581"/>
              </a:lnTo>
              <a:lnTo>
                <a:pt x="143407" y="111858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F683CB-429F-4A31-A42E-5903D785894F}">
      <dsp:nvSpPr>
        <dsp:cNvPr id="0" name=""/>
        <dsp:cNvSpPr/>
      </dsp:nvSpPr>
      <dsp:spPr>
        <a:xfrm>
          <a:off x="3770700" y="1157207"/>
          <a:ext cx="143407" cy="439784"/>
        </a:xfrm>
        <a:custGeom>
          <a:avLst/>
          <a:gdLst/>
          <a:ahLst/>
          <a:cxnLst/>
          <a:rect l="0" t="0" r="0" b="0"/>
          <a:pathLst>
            <a:path>
              <a:moveTo>
                <a:pt x="0" y="0"/>
              </a:moveTo>
              <a:lnTo>
                <a:pt x="0" y="439784"/>
              </a:lnTo>
              <a:lnTo>
                <a:pt x="143407" y="4397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BF024B-EA5A-442F-AEA5-2733E14018A0}">
      <dsp:nvSpPr>
        <dsp:cNvPr id="0" name=""/>
        <dsp:cNvSpPr/>
      </dsp:nvSpPr>
      <dsp:spPr>
        <a:xfrm>
          <a:off x="4153121" y="478410"/>
          <a:ext cx="1156823" cy="200771"/>
        </a:xfrm>
        <a:custGeom>
          <a:avLst/>
          <a:gdLst/>
          <a:ahLst/>
          <a:cxnLst/>
          <a:rect l="0" t="0" r="0" b="0"/>
          <a:pathLst>
            <a:path>
              <a:moveTo>
                <a:pt x="1156823" y="0"/>
              </a:moveTo>
              <a:lnTo>
                <a:pt x="1156823" y="100385"/>
              </a:lnTo>
              <a:lnTo>
                <a:pt x="0" y="100385"/>
              </a:lnTo>
              <a:lnTo>
                <a:pt x="0"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E6795F6F-5D4D-46D5-ADD7-3D0D44776128}">
      <dsp:nvSpPr>
        <dsp:cNvPr id="0" name=""/>
        <dsp:cNvSpPr/>
      </dsp:nvSpPr>
      <dsp:spPr>
        <a:xfrm>
          <a:off x="2613876" y="1157207"/>
          <a:ext cx="143407" cy="2476176"/>
        </a:xfrm>
        <a:custGeom>
          <a:avLst/>
          <a:gdLst/>
          <a:ahLst/>
          <a:cxnLst/>
          <a:rect l="0" t="0" r="0" b="0"/>
          <a:pathLst>
            <a:path>
              <a:moveTo>
                <a:pt x="0" y="0"/>
              </a:moveTo>
              <a:lnTo>
                <a:pt x="0" y="2476176"/>
              </a:lnTo>
              <a:lnTo>
                <a:pt x="143407" y="247617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846EAA-ABA9-404D-9000-F95065119D0E}">
      <dsp:nvSpPr>
        <dsp:cNvPr id="0" name=""/>
        <dsp:cNvSpPr/>
      </dsp:nvSpPr>
      <dsp:spPr>
        <a:xfrm>
          <a:off x="2613876" y="1157207"/>
          <a:ext cx="143407" cy="1797379"/>
        </a:xfrm>
        <a:custGeom>
          <a:avLst/>
          <a:gdLst/>
          <a:ahLst/>
          <a:cxnLst/>
          <a:rect l="0" t="0" r="0" b="0"/>
          <a:pathLst>
            <a:path>
              <a:moveTo>
                <a:pt x="0" y="0"/>
              </a:moveTo>
              <a:lnTo>
                <a:pt x="0" y="1797379"/>
              </a:lnTo>
              <a:lnTo>
                <a:pt x="143407" y="179737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76692A-DE5D-45D2-BF54-6F1977663E9B}">
      <dsp:nvSpPr>
        <dsp:cNvPr id="0" name=""/>
        <dsp:cNvSpPr/>
      </dsp:nvSpPr>
      <dsp:spPr>
        <a:xfrm>
          <a:off x="2613876" y="1157207"/>
          <a:ext cx="143407" cy="1118581"/>
        </a:xfrm>
        <a:custGeom>
          <a:avLst/>
          <a:gdLst/>
          <a:ahLst/>
          <a:cxnLst/>
          <a:rect l="0" t="0" r="0" b="0"/>
          <a:pathLst>
            <a:path>
              <a:moveTo>
                <a:pt x="0" y="0"/>
              </a:moveTo>
              <a:lnTo>
                <a:pt x="0" y="1118581"/>
              </a:lnTo>
              <a:lnTo>
                <a:pt x="143407" y="111858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01BC25-2E2D-4B73-9A8A-DB8693F915DE}">
      <dsp:nvSpPr>
        <dsp:cNvPr id="0" name=""/>
        <dsp:cNvSpPr/>
      </dsp:nvSpPr>
      <dsp:spPr>
        <a:xfrm>
          <a:off x="2613876" y="1157207"/>
          <a:ext cx="143407" cy="439784"/>
        </a:xfrm>
        <a:custGeom>
          <a:avLst/>
          <a:gdLst/>
          <a:ahLst/>
          <a:cxnLst/>
          <a:rect l="0" t="0" r="0" b="0"/>
          <a:pathLst>
            <a:path>
              <a:moveTo>
                <a:pt x="0" y="0"/>
              </a:moveTo>
              <a:lnTo>
                <a:pt x="0" y="439784"/>
              </a:lnTo>
              <a:lnTo>
                <a:pt x="143407" y="4397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2C0DD8-F395-46EB-8303-91B66D383C13}">
      <dsp:nvSpPr>
        <dsp:cNvPr id="0" name=""/>
        <dsp:cNvSpPr/>
      </dsp:nvSpPr>
      <dsp:spPr>
        <a:xfrm>
          <a:off x="2996297" y="478410"/>
          <a:ext cx="2313647" cy="200771"/>
        </a:xfrm>
        <a:custGeom>
          <a:avLst/>
          <a:gdLst/>
          <a:ahLst/>
          <a:cxnLst/>
          <a:rect l="0" t="0" r="0" b="0"/>
          <a:pathLst>
            <a:path>
              <a:moveTo>
                <a:pt x="2313647" y="0"/>
              </a:moveTo>
              <a:lnTo>
                <a:pt x="2313647" y="100385"/>
              </a:lnTo>
              <a:lnTo>
                <a:pt x="0" y="100385"/>
              </a:lnTo>
              <a:lnTo>
                <a:pt x="0"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788E6BB0-5D8F-4099-8BD5-D91387559642}">
      <dsp:nvSpPr>
        <dsp:cNvPr id="0" name=""/>
        <dsp:cNvSpPr/>
      </dsp:nvSpPr>
      <dsp:spPr>
        <a:xfrm>
          <a:off x="1457052" y="1157207"/>
          <a:ext cx="143407" cy="1118581"/>
        </a:xfrm>
        <a:custGeom>
          <a:avLst/>
          <a:gdLst/>
          <a:ahLst/>
          <a:cxnLst/>
          <a:rect l="0" t="0" r="0" b="0"/>
          <a:pathLst>
            <a:path>
              <a:moveTo>
                <a:pt x="0" y="0"/>
              </a:moveTo>
              <a:lnTo>
                <a:pt x="0" y="1118581"/>
              </a:lnTo>
              <a:lnTo>
                <a:pt x="143407" y="111858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099A3E-21F0-4EB6-90BA-A57A3C29B976}">
      <dsp:nvSpPr>
        <dsp:cNvPr id="0" name=""/>
        <dsp:cNvSpPr/>
      </dsp:nvSpPr>
      <dsp:spPr>
        <a:xfrm>
          <a:off x="1457052" y="1157207"/>
          <a:ext cx="143407" cy="439784"/>
        </a:xfrm>
        <a:custGeom>
          <a:avLst/>
          <a:gdLst/>
          <a:ahLst/>
          <a:cxnLst/>
          <a:rect l="0" t="0" r="0" b="0"/>
          <a:pathLst>
            <a:path>
              <a:moveTo>
                <a:pt x="0" y="0"/>
              </a:moveTo>
              <a:lnTo>
                <a:pt x="0" y="439784"/>
              </a:lnTo>
              <a:lnTo>
                <a:pt x="143407" y="4397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416A33-9B76-433C-A6F2-2FFEF3B2FC20}">
      <dsp:nvSpPr>
        <dsp:cNvPr id="0" name=""/>
        <dsp:cNvSpPr/>
      </dsp:nvSpPr>
      <dsp:spPr>
        <a:xfrm>
          <a:off x="1839473" y="478410"/>
          <a:ext cx="3470471" cy="200771"/>
        </a:xfrm>
        <a:custGeom>
          <a:avLst/>
          <a:gdLst/>
          <a:ahLst/>
          <a:cxnLst/>
          <a:rect l="0" t="0" r="0" b="0"/>
          <a:pathLst>
            <a:path>
              <a:moveTo>
                <a:pt x="3470471" y="0"/>
              </a:moveTo>
              <a:lnTo>
                <a:pt x="3470471" y="100385"/>
              </a:lnTo>
              <a:lnTo>
                <a:pt x="0" y="100385"/>
              </a:lnTo>
              <a:lnTo>
                <a:pt x="0"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BA50D3D5-41D2-4283-A6B0-4888E1337E63}">
      <dsp:nvSpPr>
        <dsp:cNvPr id="0" name=""/>
        <dsp:cNvSpPr/>
      </dsp:nvSpPr>
      <dsp:spPr>
        <a:xfrm>
          <a:off x="682649" y="478410"/>
          <a:ext cx="4627295" cy="200771"/>
        </a:xfrm>
        <a:custGeom>
          <a:avLst/>
          <a:gdLst/>
          <a:ahLst/>
          <a:cxnLst/>
          <a:rect l="0" t="0" r="0" b="0"/>
          <a:pathLst>
            <a:path>
              <a:moveTo>
                <a:pt x="4627295" y="0"/>
              </a:moveTo>
              <a:lnTo>
                <a:pt x="4627295" y="100385"/>
              </a:lnTo>
              <a:lnTo>
                <a:pt x="0" y="100385"/>
              </a:lnTo>
              <a:lnTo>
                <a:pt x="0" y="200771"/>
              </a:lnTo>
            </a:path>
          </a:pathLst>
        </a:custGeom>
        <a:noFill/>
        <a:ln w="12700" cap="flat" cmpd="sng" algn="ctr">
          <a:solidFill>
            <a:srgbClr val="30B5C5"/>
          </a:solidFill>
          <a:prstDash val="solid"/>
          <a:miter lim="800000"/>
        </a:ln>
        <a:effectLst/>
      </dsp:spPr>
      <dsp:style>
        <a:lnRef idx="2">
          <a:scrgbClr r="0" g="0" b="0"/>
        </a:lnRef>
        <a:fillRef idx="0">
          <a:scrgbClr r="0" g="0" b="0"/>
        </a:fillRef>
        <a:effectRef idx="0">
          <a:scrgbClr r="0" g="0" b="0"/>
        </a:effectRef>
        <a:fontRef idx="minor"/>
      </dsp:style>
    </dsp:sp>
    <dsp:sp modelId="{02CB0E22-E0B0-4FEB-8CAC-B216717189B1}">
      <dsp:nvSpPr>
        <dsp:cNvPr id="0" name=""/>
        <dsp:cNvSpPr/>
      </dsp:nvSpPr>
      <dsp:spPr>
        <a:xfrm>
          <a:off x="4288522" y="383"/>
          <a:ext cx="2042846" cy="478026"/>
        </a:xfrm>
        <a:prstGeom prst="rect">
          <a:avLst/>
        </a:prstGeom>
        <a:solidFill>
          <a:srgbClr val="30B5C5"/>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zh-CN" altLang="en-US" sz="1600" b="1" kern="1200" dirty="0">
              <a:latin typeface="+mn-lt"/>
              <a:ea typeface="+mn-ea"/>
              <a:sym typeface="Huawei Sans" panose="020C0503030203020204" pitchFamily="34" charset="0"/>
            </a:rPr>
            <a:t>虚拟化园区网络设计</a:t>
          </a:r>
        </a:p>
      </dsp:txBody>
      <dsp:txXfrm>
        <a:off x="4288522" y="383"/>
        <a:ext cx="2042846" cy="478026"/>
      </dsp:txXfrm>
    </dsp:sp>
    <dsp:sp modelId="{C8CD31D6-8470-4A2A-96E6-510D045BE6C5}">
      <dsp:nvSpPr>
        <dsp:cNvPr id="0" name=""/>
        <dsp:cNvSpPr/>
      </dsp:nvSpPr>
      <dsp:spPr>
        <a:xfrm>
          <a:off x="204623"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zh-CN" altLang="en-US" sz="1200" b="1" kern="1200" dirty="0">
              <a:latin typeface="+mn-lt"/>
              <a:ea typeface="+mn-ea"/>
              <a:sym typeface="Huawei Sans" panose="020C0503030203020204" pitchFamily="34" charset="0"/>
            </a:rPr>
            <a:t>网络架构设计</a:t>
          </a:r>
        </a:p>
      </dsp:txBody>
      <dsp:txXfrm>
        <a:off x="204623" y="679181"/>
        <a:ext cx="956052" cy="478026"/>
      </dsp:txXfrm>
    </dsp:sp>
    <dsp:sp modelId="{B9483C5E-EAAB-4329-BDAE-5179ABF4F0AB}">
      <dsp:nvSpPr>
        <dsp:cNvPr id="0" name=""/>
        <dsp:cNvSpPr/>
      </dsp:nvSpPr>
      <dsp:spPr>
        <a:xfrm>
          <a:off x="1361447"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en-US" altLang="zh-CN" sz="1200" b="1" kern="1200" dirty="0">
              <a:latin typeface="+mn-lt"/>
              <a:ea typeface="+mn-ea"/>
              <a:sym typeface="Huawei Sans" panose="020C0503030203020204" pitchFamily="34" charset="0"/>
            </a:rPr>
            <a:t>Underlay</a:t>
          </a:r>
        </a:p>
        <a:p>
          <a:pPr marL="0" lvl="0" indent="0" algn="ctr" defTabSz="533400">
            <a:lnSpc>
              <a:spcPct val="100000"/>
            </a:lnSpc>
            <a:spcBef>
              <a:spcPct val="0"/>
            </a:spcBef>
            <a:spcAft>
              <a:spcPts val="0"/>
            </a:spcAft>
            <a:buNone/>
          </a:pPr>
          <a:r>
            <a:rPr lang="zh-CN" altLang="en-US" sz="1200" b="1" kern="1200" dirty="0">
              <a:latin typeface="+mn-lt"/>
              <a:ea typeface="+mn-ea"/>
              <a:sym typeface="Huawei Sans" panose="020C0503030203020204" pitchFamily="34" charset="0"/>
            </a:rPr>
            <a:t>网络设计</a:t>
          </a:r>
        </a:p>
      </dsp:txBody>
      <dsp:txXfrm>
        <a:off x="1361447" y="679181"/>
        <a:ext cx="956052" cy="478026"/>
      </dsp:txXfrm>
    </dsp:sp>
    <dsp:sp modelId="{19159046-1C53-4E35-9EA6-DCB9B93EA7E0}">
      <dsp:nvSpPr>
        <dsp:cNvPr id="0" name=""/>
        <dsp:cNvSpPr/>
      </dsp:nvSpPr>
      <dsp:spPr>
        <a:xfrm>
          <a:off x="1600460" y="135797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基础业务设计</a:t>
          </a:r>
          <a:endParaRPr lang="en-US" sz="1200" b="0" kern="1200" dirty="0">
            <a:latin typeface="+mn-lt"/>
            <a:ea typeface="+mn-ea"/>
            <a:sym typeface="Huawei Sans" panose="020C0503030203020204" pitchFamily="34" charset="0"/>
          </a:endParaRPr>
        </a:p>
      </dsp:txBody>
      <dsp:txXfrm>
        <a:off x="1600460" y="1357978"/>
        <a:ext cx="956052" cy="478026"/>
      </dsp:txXfrm>
    </dsp:sp>
    <dsp:sp modelId="{339F31B9-6D09-4F92-8CB9-5ECE9952079F}">
      <dsp:nvSpPr>
        <dsp:cNvPr id="0" name=""/>
        <dsp:cNvSpPr/>
      </dsp:nvSpPr>
      <dsp:spPr>
        <a:xfrm>
          <a:off x="1600460" y="2036776"/>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en-US" altLang="zh-CN" sz="1200" b="0" kern="1200" dirty="0">
              <a:latin typeface="+mn-lt"/>
              <a:ea typeface="+mn-ea"/>
              <a:sym typeface="Huawei Sans" panose="020C0503030203020204" pitchFamily="34" charset="0"/>
            </a:rPr>
            <a:t>LAN</a:t>
          </a:r>
          <a:r>
            <a:rPr lang="zh-CN" altLang="en-US" sz="1200" b="0" kern="1200" dirty="0">
              <a:latin typeface="+mn-lt"/>
              <a:ea typeface="+mn-ea"/>
              <a:sym typeface="Huawei Sans" panose="020C0503030203020204" pitchFamily="34" charset="0"/>
            </a:rPr>
            <a:t>自动化</a:t>
          </a:r>
          <a:endParaRPr lang="en-US" altLang="zh-CN" sz="1200" b="0" kern="1200" dirty="0">
            <a:latin typeface="+mn-lt"/>
            <a:ea typeface="+mn-ea"/>
            <a:sym typeface="Huawei Sans" panose="020C0503030203020204" pitchFamily="34" charset="0"/>
          </a:endParaRPr>
        </a:p>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设计</a:t>
          </a:r>
          <a:endParaRPr lang="en-US" sz="1200" b="0" kern="1200" dirty="0">
            <a:latin typeface="+mn-lt"/>
            <a:ea typeface="+mn-ea"/>
            <a:sym typeface="Huawei Sans" panose="020C0503030203020204" pitchFamily="34" charset="0"/>
          </a:endParaRPr>
        </a:p>
      </dsp:txBody>
      <dsp:txXfrm>
        <a:off x="1600460" y="2036776"/>
        <a:ext cx="956052" cy="478026"/>
      </dsp:txXfrm>
    </dsp:sp>
    <dsp:sp modelId="{23BC3E4A-6CB7-4B3D-B253-366AA96281DD}">
      <dsp:nvSpPr>
        <dsp:cNvPr id="0" name=""/>
        <dsp:cNvSpPr/>
      </dsp:nvSpPr>
      <dsp:spPr>
        <a:xfrm>
          <a:off x="2518271"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b="1" kern="1200" dirty="0">
              <a:latin typeface="+mn-lt"/>
              <a:ea typeface="+mn-ea"/>
              <a:sym typeface="Huawei Sans" panose="020C0503030203020204" pitchFamily="34" charset="0"/>
            </a:rPr>
            <a:t>Fabric</a:t>
          </a:r>
          <a:r>
            <a:rPr lang="zh-CN" altLang="en-US" sz="1200" b="1" kern="1200" dirty="0">
              <a:latin typeface="+mn-lt"/>
              <a:ea typeface="+mn-ea"/>
              <a:sym typeface="Huawei Sans" panose="020C0503030203020204" pitchFamily="34" charset="0"/>
            </a:rPr>
            <a:t>设计</a:t>
          </a:r>
          <a:endParaRPr lang="en-US" sz="1200" b="1" kern="1200" dirty="0">
            <a:latin typeface="+mn-lt"/>
            <a:ea typeface="+mn-ea"/>
            <a:sym typeface="Huawei Sans" panose="020C0503030203020204" pitchFamily="34" charset="0"/>
          </a:endParaRPr>
        </a:p>
      </dsp:txBody>
      <dsp:txXfrm>
        <a:off x="2518271" y="679181"/>
        <a:ext cx="956052" cy="478026"/>
      </dsp:txXfrm>
    </dsp:sp>
    <dsp:sp modelId="{AAAE8CF0-99F5-42E1-BC6C-455B3481E8D3}">
      <dsp:nvSpPr>
        <dsp:cNvPr id="0" name=""/>
        <dsp:cNvSpPr/>
      </dsp:nvSpPr>
      <dsp:spPr>
        <a:xfrm>
          <a:off x="2757284" y="135797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组网及节点</a:t>
          </a:r>
          <a:endParaRPr lang="en-US" altLang="zh-CN" sz="1200" b="0" kern="1200" dirty="0">
            <a:latin typeface="+mn-lt"/>
            <a:ea typeface="+mn-ea"/>
            <a:sym typeface="Huawei Sans" panose="020C0503030203020204" pitchFamily="34" charset="0"/>
          </a:endParaRPr>
        </a:p>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设计</a:t>
          </a:r>
          <a:endParaRPr lang="en-US" sz="1200" b="0" kern="1200" dirty="0">
            <a:latin typeface="+mn-lt"/>
            <a:ea typeface="+mn-ea"/>
            <a:sym typeface="Huawei Sans" panose="020C0503030203020204" pitchFamily="34" charset="0"/>
          </a:endParaRPr>
        </a:p>
      </dsp:txBody>
      <dsp:txXfrm>
        <a:off x="2757284" y="1357978"/>
        <a:ext cx="956052" cy="478026"/>
      </dsp:txXfrm>
    </dsp:sp>
    <dsp:sp modelId="{1F656787-D00A-4178-A744-4956B0914B9A}">
      <dsp:nvSpPr>
        <dsp:cNvPr id="0" name=""/>
        <dsp:cNvSpPr/>
      </dsp:nvSpPr>
      <dsp:spPr>
        <a:xfrm>
          <a:off x="2757284" y="2036776"/>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外部网络</a:t>
          </a:r>
          <a:endParaRPr lang="en-US" altLang="zh-CN" sz="1200" b="0" kern="1200" dirty="0">
            <a:latin typeface="+mn-lt"/>
            <a:ea typeface="+mn-ea"/>
            <a:sym typeface="Huawei Sans" panose="020C0503030203020204" pitchFamily="34" charset="0"/>
          </a:endParaRPr>
        </a:p>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互联设计</a:t>
          </a:r>
          <a:endParaRPr lang="en-US" sz="1200" b="0" kern="1200" dirty="0">
            <a:latin typeface="+mn-lt"/>
            <a:ea typeface="+mn-ea"/>
            <a:sym typeface="Huawei Sans" panose="020C0503030203020204" pitchFamily="34" charset="0"/>
          </a:endParaRPr>
        </a:p>
      </dsp:txBody>
      <dsp:txXfrm>
        <a:off x="2757284" y="2036776"/>
        <a:ext cx="956052" cy="478026"/>
      </dsp:txXfrm>
    </dsp:sp>
    <dsp:sp modelId="{9E9BFEBE-23AB-429E-8C81-8D6493D22D50}">
      <dsp:nvSpPr>
        <dsp:cNvPr id="0" name=""/>
        <dsp:cNvSpPr/>
      </dsp:nvSpPr>
      <dsp:spPr>
        <a:xfrm>
          <a:off x="2757284" y="2715573"/>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网络服务</a:t>
          </a:r>
          <a:endParaRPr lang="en-US" altLang="zh-CN" sz="1200" b="0" kern="1200" dirty="0">
            <a:latin typeface="+mn-lt"/>
            <a:ea typeface="+mn-ea"/>
            <a:sym typeface="Huawei Sans" panose="020C0503030203020204" pitchFamily="34" charset="0"/>
          </a:endParaRPr>
        </a:p>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资源规划</a:t>
          </a:r>
          <a:endParaRPr lang="en-US" sz="1200" b="0" kern="1200" dirty="0">
            <a:latin typeface="+mn-lt"/>
            <a:ea typeface="+mn-ea"/>
            <a:sym typeface="Huawei Sans" panose="020C0503030203020204" pitchFamily="34" charset="0"/>
          </a:endParaRPr>
        </a:p>
      </dsp:txBody>
      <dsp:txXfrm>
        <a:off x="2757284" y="2715573"/>
        <a:ext cx="956052" cy="478026"/>
      </dsp:txXfrm>
    </dsp:sp>
    <dsp:sp modelId="{2EC15357-35F3-4BD0-A049-4F622B56EB47}">
      <dsp:nvSpPr>
        <dsp:cNvPr id="0" name=""/>
        <dsp:cNvSpPr/>
      </dsp:nvSpPr>
      <dsp:spPr>
        <a:xfrm>
          <a:off x="2757284" y="3394371"/>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接入管理设计</a:t>
          </a:r>
          <a:endParaRPr lang="en-US" sz="1200" b="0" kern="1200" dirty="0">
            <a:latin typeface="+mn-lt"/>
            <a:ea typeface="+mn-ea"/>
            <a:sym typeface="Huawei Sans" panose="020C0503030203020204" pitchFamily="34" charset="0"/>
          </a:endParaRPr>
        </a:p>
      </dsp:txBody>
      <dsp:txXfrm>
        <a:off x="2757284" y="3394371"/>
        <a:ext cx="956052" cy="478026"/>
      </dsp:txXfrm>
    </dsp:sp>
    <dsp:sp modelId="{ACFD3F8D-39CB-4CFC-BFE0-2A96209F07EA}">
      <dsp:nvSpPr>
        <dsp:cNvPr id="0" name=""/>
        <dsp:cNvSpPr/>
      </dsp:nvSpPr>
      <dsp:spPr>
        <a:xfrm>
          <a:off x="3675095"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en-US" altLang="zh-CN" sz="1200" b="1" kern="1200" dirty="0">
              <a:latin typeface="+mn-lt"/>
              <a:ea typeface="+mn-ea"/>
              <a:sym typeface="Huawei Sans" panose="020C0503030203020204" pitchFamily="34" charset="0"/>
            </a:rPr>
            <a:t>Overlay</a:t>
          </a:r>
        </a:p>
        <a:p>
          <a:pPr marL="0" lvl="0" indent="0" algn="ctr" defTabSz="533400">
            <a:lnSpc>
              <a:spcPct val="100000"/>
            </a:lnSpc>
            <a:spcBef>
              <a:spcPct val="0"/>
            </a:spcBef>
            <a:spcAft>
              <a:spcPts val="0"/>
            </a:spcAft>
            <a:buNone/>
          </a:pPr>
          <a:r>
            <a:rPr lang="zh-CN" altLang="en-US" sz="1200" b="1" kern="1200" dirty="0">
              <a:latin typeface="+mn-lt"/>
              <a:ea typeface="+mn-ea"/>
              <a:sym typeface="Huawei Sans" panose="020C0503030203020204" pitchFamily="34" charset="0"/>
            </a:rPr>
            <a:t>网络设计</a:t>
          </a:r>
        </a:p>
      </dsp:txBody>
      <dsp:txXfrm>
        <a:off x="3675095" y="679181"/>
        <a:ext cx="956052" cy="478026"/>
      </dsp:txXfrm>
    </dsp:sp>
    <dsp:sp modelId="{191EF088-D890-4A19-AA53-35FB04A5FB58}">
      <dsp:nvSpPr>
        <dsp:cNvPr id="0" name=""/>
        <dsp:cNvSpPr/>
      </dsp:nvSpPr>
      <dsp:spPr>
        <a:xfrm>
          <a:off x="3914108" y="135797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b="0" kern="1200" dirty="0">
              <a:latin typeface="+mn-lt"/>
              <a:ea typeface="+mn-ea"/>
              <a:sym typeface="Huawei Sans" panose="020C0503030203020204" pitchFamily="34" charset="0"/>
            </a:rPr>
            <a:t>VN</a:t>
          </a:r>
          <a:r>
            <a:rPr lang="zh-CN" altLang="en-US" sz="1200" b="0" kern="1200" dirty="0">
              <a:latin typeface="+mn-lt"/>
              <a:ea typeface="+mn-ea"/>
              <a:sym typeface="Huawei Sans" panose="020C0503030203020204" pitchFamily="34" charset="0"/>
            </a:rPr>
            <a:t>设计</a:t>
          </a:r>
        </a:p>
      </dsp:txBody>
      <dsp:txXfrm>
        <a:off x="3914108" y="1357978"/>
        <a:ext cx="956052" cy="478026"/>
      </dsp:txXfrm>
    </dsp:sp>
    <dsp:sp modelId="{CFBD1D01-F075-4382-BEE0-68186F685F4A}">
      <dsp:nvSpPr>
        <dsp:cNvPr id="0" name=""/>
        <dsp:cNvSpPr/>
      </dsp:nvSpPr>
      <dsp:spPr>
        <a:xfrm>
          <a:off x="3914108" y="2036776"/>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策略设计</a:t>
          </a:r>
        </a:p>
      </dsp:txBody>
      <dsp:txXfrm>
        <a:off x="3914108" y="2036776"/>
        <a:ext cx="956052" cy="478026"/>
      </dsp:txXfrm>
    </dsp:sp>
    <dsp:sp modelId="{66ED2E77-2CCD-4656-9188-7BB5DD746C5C}">
      <dsp:nvSpPr>
        <dsp:cNvPr id="0" name=""/>
        <dsp:cNvSpPr/>
      </dsp:nvSpPr>
      <dsp:spPr>
        <a:xfrm>
          <a:off x="3914108" y="2715573"/>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b="0" kern="1200" dirty="0">
              <a:latin typeface="+mn-lt"/>
              <a:ea typeface="+mn-ea"/>
              <a:sym typeface="Huawei Sans" panose="020C0503030203020204" pitchFamily="34" charset="0"/>
            </a:rPr>
            <a:t>VN</a:t>
          </a:r>
          <a:r>
            <a:rPr lang="zh-CN" altLang="en-US" sz="1200" b="0" kern="1200" dirty="0">
              <a:latin typeface="+mn-lt"/>
              <a:ea typeface="+mn-ea"/>
              <a:sym typeface="Huawei Sans" panose="020C0503030203020204" pitchFamily="34" charset="0"/>
            </a:rPr>
            <a:t>接入设计</a:t>
          </a:r>
        </a:p>
      </dsp:txBody>
      <dsp:txXfrm>
        <a:off x="3914108" y="2715573"/>
        <a:ext cx="956052" cy="478026"/>
      </dsp:txXfrm>
    </dsp:sp>
    <dsp:sp modelId="{68FDCE8A-74BA-4242-A5E1-62DF02479D81}">
      <dsp:nvSpPr>
        <dsp:cNvPr id="0" name=""/>
        <dsp:cNvSpPr/>
      </dsp:nvSpPr>
      <dsp:spPr>
        <a:xfrm>
          <a:off x="4831919"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zh-CN" altLang="en-US" sz="1200" b="1" kern="1200" dirty="0">
              <a:latin typeface="+mn-lt"/>
              <a:ea typeface="+mn-ea"/>
              <a:sym typeface="Huawei Sans" panose="020C0503030203020204" pitchFamily="34" charset="0"/>
            </a:rPr>
            <a:t>准入控制及</a:t>
          </a:r>
          <a:endParaRPr lang="en-US" altLang="zh-CN" sz="1200" b="1" kern="1200" dirty="0">
            <a:latin typeface="+mn-lt"/>
            <a:ea typeface="+mn-ea"/>
            <a:sym typeface="Huawei Sans" panose="020C0503030203020204" pitchFamily="34" charset="0"/>
          </a:endParaRPr>
        </a:p>
        <a:p>
          <a:pPr marL="0" lvl="0" indent="0" algn="ctr" defTabSz="533400">
            <a:lnSpc>
              <a:spcPct val="100000"/>
            </a:lnSpc>
            <a:spcBef>
              <a:spcPct val="0"/>
            </a:spcBef>
            <a:spcAft>
              <a:spcPts val="0"/>
            </a:spcAft>
            <a:buNone/>
          </a:pPr>
          <a:r>
            <a:rPr lang="zh-CN" altLang="en-US" sz="1200" b="1" kern="1200" dirty="0">
              <a:latin typeface="+mn-lt"/>
              <a:ea typeface="+mn-ea"/>
              <a:sym typeface="Huawei Sans" panose="020C0503030203020204" pitchFamily="34" charset="0"/>
            </a:rPr>
            <a:t>业务随行设计</a:t>
          </a:r>
        </a:p>
      </dsp:txBody>
      <dsp:txXfrm>
        <a:off x="4831919" y="679181"/>
        <a:ext cx="956052" cy="478026"/>
      </dsp:txXfrm>
    </dsp:sp>
    <dsp:sp modelId="{E552414D-09AB-43E3-AA9F-5686EF22A9F6}">
      <dsp:nvSpPr>
        <dsp:cNvPr id="0" name=""/>
        <dsp:cNvSpPr/>
      </dsp:nvSpPr>
      <dsp:spPr>
        <a:xfrm>
          <a:off x="5070932" y="135797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用户管理设计</a:t>
          </a:r>
        </a:p>
      </dsp:txBody>
      <dsp:txXfrm>
        <a:off x="5070932" y="1357978"/>
        <a:ext cx="956052" cy="478026"/>
      </dsp:txXfrm>
    </dsp:sp>
    <dsp:sp modelId="{4F841898-D09A-47EC-BF3D-8108C84A1C78}">
      <dsp:nvSpPr>
        <dsp:cNvPr id="0" name=""/>
        <dsp:cNvSpPr/>
      </dsp:nvSpPr>
      <dsp:spPr>
        <a:xfrm>
          <a:off x="5070932" y="2036776"/>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准入控制设计</a:t>
          </a:r>
        </a:p>
      </dsp:txBody>
      <dsp:txXfrm>
        <a:off x="5070932" y="2036776"/>
        <a:ext cx="956052" cy="478026"/>
      </dsp:txXfrm>
    </dsp:sp>
    <dsp:sp modelId="{B9D7B0F5-0796-43C1-A1BE-8F5BCFF9A160}">
      <dsp:nvSpPr>
        <dsp:cNvPr id="0" name=""/>
        <dsp:cNvSpPr/>
      </dsp:nvSpPr>
      <dsp:spPr>
        <a:xfrm>
          <a:off x="5070932" y="2715573"/>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业务随行设计</a:t>
          </a:r>
        </a:p>
      </dsp:txBody>
      <dsp:txXfrm>
        <a:off x="5070932" y="2715573"/>
        <a:ext cx="956052" cy="478026"/>
      </dsp:txXfrm>
    </dsp:sp>
    <dsp:sp modelId="{F42873CF-C6CB-42E0-BCCC-474F4EC3BE61}">
      <dsp:nvSpPr>
        <dsp:cNvPr id="0" name=""/>
        <dsp:cNvSpPr/>
      </dsp:nvSpPr>
      <dsp:spPr>
        <a:xfrm>
          <a:off x="5070932" y="3394371"/>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终端识别设计</a:t>
          </a:r>
        </a:p>
      </dsp:txBody>
      <dsp:txXfrm>
        <a:off x="5070932" y="3394371"/>
        <a:ext cx="956052" cy="478026"/>
      </dsp:txXfrm>
    </dsp:sp>
    <dsp:sp modelId="{BBC10E2B-9419-45E5-9F53-55705D0E1437}">
      <dsp:nvSpPr>
        <dsp:cNvPr id="0" name=""/>
        <dsp:cNvSpPr/>
      </dsp:nvSpPr>
      <dsp:spPr>
        <a:xfrm>
          <a:off x="5988743"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b="1" kern="1200" dirty="0">
              <a:latin typeface="+mn-lt"/>
              <a:ea typeface="+mn-ea"/>
              <a:sym typeface="Huawei Sans" panose="020C0503030203020204" pitchFamily="34" charset="0"/>
            </a:rPr>
            <a:t>WLAN</a:t>
          </a:r>
          <a:r>
            <a:rPr lang="zh-CN" altLang="en-US" sz="1200" b="1" kern="1200" dirty="0">
              <a:latin typeface="+mn-lt"/>
              <a:ea typeface="+mn-ea"/>
              <a:sym typeface="Huawei Sans" panose="020C0503030203020204" pitchFamily="34" charset="0"/>
            </a:rPr>
            <a:t>设计</a:t>
          </a:r>
        </a:p>
      </dsp:txBody>
      <dsp:txXfrm>
        <a:off x="5988743" y="679181"/>
        <a:ext cx="956052" cy="478026"/>
      </dsp:txXfrm>
    </dsp:sp>
    <dsp:sp modelId="{ADA03ACF-7B48-433C-B4A7-4E97F67420A7}">
      <dsp:nvSpPr>
        <dsp:cNvPr id="0" name=""/>
        <dsp:cNvSpPr/>
      </dsp:nvSpPr>
      <dsp:spPr>
        <a:xfrm>
          <a:off x="6227756" y="135797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组网方案</a:t>
          </a:r>
        </a:p>
      </dsp:txBody>
      <dsp:txXfrm>
        <a:off x="6227756" y="1357978"/>
        <a:ext cx="956052" cy="478026"/>
      </dsp:txXfrm>
    </dsp:sp>
    <dsp:sp modelId="{62DF4774-53BE-4613-95D0-E552EE1105FD}">
      <dsp:nvSpPr>
        <dsp:cNvPr id="0" name=""/>
        <dsp:cNvSpPr/>
      </dsp:nvSpPr>
      <dsp:spPr>
        <a:xfrm>
          <a:off x="7145567"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zh-CN" altLang="en-US" sz="1200" b="1" kern="1200" dirty="0">
              <a:latin typeface="+mn-lt"/>
              <a:ea typeface="+mn-ea"/>
              <a:sym typeface="Huawei Sans" panose="020C0503030203020204" pitchFamily="34" charset="0"/>
            </a:rPr>
            <a:t>出口网络设计</a:t>
          </a:r>
        </a:p>
      </dsp:txBody>
      <dsp:txXfrm>
        <a:off x="7145567" y="679181"/>
        <a:ext cx="956052" cy="478026"/>
      </dsp:txXfrm>
    </dsp:sp>
    <dsp:sp modelId="{E9CD9785-8AB5-45CD-9E35-189CB562206C}">
      <dsp:nvSpPr>
        <dsp:cNvPr id="0" name=""/>
        <dsp:cNvSpPr/>
      </dsp:nvSpPr>
      <dsp:spPr>
        <a:xfrm>
          <a:off x="7384580" y="135797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914034" rtl="0" eaLnBrk="1" latinLnBrk="0" hangingPunct="1">
            <a:lnSpc>
              <a:spcPct val="100000"/>
            </a:lnSpc>
            <a:spcBef>
              <a:spcPct val="0"/>
            </a:spcBef>
            <a:spcAft>
              <a:spcPts val="0"/>
            </a:spcAft>
            <a:buNone/>
          </a:pPr>
          <a:r>
            <a:rPr lang="zh-CN" altLang="en-US" sz="1200" kern="1200">
              <a:effectLst/>
              <a:latin typeface="+mn-lt"/>
              <a:ea typeface="+mn-ea"/>
              <a:cs typeface="+mn-cs"/>
              <a:sym typeface="Huawei Sans" panose="020C0503030203020204" pitchFamily="34" charset="0"/>
            </a:rPr>
            <a:t>出口组网设计</a:t>
          </a:r>
          <a:endParaRPr lang="zh-CN" altLang="en-US" sz="1200" kern="1200" dirty="0">
            <a:effectLst/>
            <a:latin typeface="+mn-lt"/>
            <a:ea typeface="+mn-ea"/>
            <a:cs typeface="+mn-cs"/>
            <a:sym typeface="Huawei Sans" panose="020C0503030203020204" pitchFamily="34" charset="0"/>
          </a:endParaRPr>
        </a:p>
      </dsp:txBody>
      <dsp:txXfrm>
        <a:off x="7384580" y="1357978"/>
        <a:ext cx="956052" cy="478026"/>
      </dsp:txXfrm>
    </dsp:sp>
    <dsp:sp modelId="{2F93381F-BF45-4540-974B-126C8679ED43}">
      <dsp:nvSpPr>
        <dsp:cNvPr id="0" name=""/>
        <dsp:cNvSpPr/>
      </dsp:nvSpPr>
      <dsp:spPr>
        <a:xfrm>
          <a:off x="7384580" y="2036776"/>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914034" rtl="0" eaLnBrk="1" latinLnBrk="0" hangingPunct="1">
            <a:lnSpc>
              <a:spcPct val="100000"/>
            </a:lnSpc>
            <a:spcBef>
              <a:spcPct val="0"/>
            </a:spcBef>
            <a:spcAft>
              <a:spcPts val="0"/>
            </a:spcAft>
            <a:buNone/>
          </a:pPr>
          <a:r>
            <a:rPr lang="zh-CN" altLang="en-US" sz="1200" kern="1200">
              <a:effectLst/>
              <a:latin typeface="+mn-lt"/>
              <a:ea typeface="+mn-ea"/>
              <a:cs typeface="+mn-cs"/>
              <a:sym typeface="Huawei Sans" panose="020C0503030203020204" pitchFamily="34" charset="0"/>
            </a:rPr>
            <a:t>双机热备设计</a:t>
          </a:r>
          <a:endParaRPr lang="zh-CN" altLang="en-US" sz="1200" kern="1200" dirty="0">
            <a:effectLst/>
            <a:latin typeface="+mn-lt"/>
            <a:ea typeface="+mn-ea"/>
            <a:cs typeface="+mn-cs"/>
            <a:sym typeface="Huawei Sans" panose="020C0503030203020204" pitchFamily="34" charset="0"/>
          </a:endParaRPr>
        </a:p>
      </dsp:txBody>
      <dsp:txXfrm>
        <a:off x="7384580" y="2036776"/>
        <a:ext cx="956052" cy="478026"/>
      </dsp:txXfrm>
    </dsp:sp>
    <dsp:sp modelId="{08F9D492-6622-4F4B-A85A-6C0A1499FA59}">
      <dsp:nvSpPr>
        <dsp:cNvPr id="0" name=""/>
        <dsp:cNvSpPr/>
      </dsp:nvSpPr>
      <dsp:spPr>
        <a:xfrm>
          <a:off x="7384580" y="2715573"/>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914034" rtl="0" eaLnBrk="1" latinLnBrk="0" hangingPunct="1">
            <a:lnSpc>
              <a:spcPct val="100000"/>
            </a:lnSpc>
            <a:spcBef>
              <a:spcPct val="0"/>
            </a:spcBef>
            <a:spcAft>
              <a:spcPts val="0"/>
            </a:spcAft>
            <a:buNone/>
          </a:pPr>
          <a:r>
            <a:rPr lang="zh-CN" altLang="en-US" sz="1200" kern="1200">
              <a:effectLst/>
              <a:latin typeface="+mn-lt"/>
              <a:ea typeface="+mn-ea"/>
              <a:cs typeface="+mn-cs"/>
              <a:sym typeface="Huawei Sans" panose="020C0503030203020204" pitchFamily="34" charset="0"/>
            </a:rPr>
            <a:t>出口路由设计</a:t>
          </a:r>
          <a:endParaRPr lang="zh-CN" altLang="en-US" sz="1200" kern="1200" dirty="0">
            <a:effectLst/>
            <a:latin typeface="+mn-lt"/>
            <a:ea typeface="+mn-ea"/>
            <a:cs typeface="+mn-cs"/>
            <a:sym typeface="Huawei Sans" panose="020C0503030203020204" pitchFamily="34" charset="0"/>
          </a:endParaRPr>
        </a:p>
      </dsp:txBody>
      <dsp:txXfrm>
        <a:off x="7384580" y="2715573"/>
        <a:ext cx="956052" cy="478026"/>
      </dsp:txXfrm>
    </dsp:sp>
    <dsp:sp modelId="{AA52191D-008B-4C7F-8946-F924E3BDD826}">
      <dsp:nvSpPr>
        <dsp:cNvPr id="0" name=""/>
        <dsp:cNvSpPr/>
      </dsp:nvSpPr>
      <dsp:spPr>
        <a:xfrm>
          <a:off x="7384580" y="3394371"/>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914034" rtl="0" eaLnBrk="1" latinLnBrk="0" hangingPunct="1">
            <a:lnSpc>
              <a:spcPct val="100000"/>
            </a:lnSpc>
            <a:spcBef>
              <a:spcPct val="0"/>
            </a:spcBef>
            <a:spcAft>
              <a:spcPts val="0"/>
            </a:spcAft>
            <a:buNone/>
          </a:pPr>
          <a:r>
            <a:rPr lang="zh-CN" altLang="en-US" sz="1200" kern="1200">
              <a:effectLst/>
              <a:latin typeface="+mn-lt"/>
              <a:ea typeface="+mn-ea"/>
              <a:cs typeface="+mn-cs"/>
              <a:sym typeface="Huawei Sans" panose="020C0503030203020204" pitchFamily="34" charset="0"/>
            </a:rPr>
            <a:t>安全区域设计</a:t>
          </a:r>
          <a:endParaRPr lang="zh-CN" altLang="en-US" sz="1200" kern="1200" dirty="0">
            <a:effectLst/>
            <a:latin typeface="+mn-lt"/>
            <a:ea typeface="+mn-ea"/>
            <a:cs typeface="+mn-cs"/>
            <a:sym typeface="Huawei Sans" panose="020C0503030203020204" pitchFamily="34" charset="0"/>
          </a:endParaRPr>
        </a:p>
      </dsp:txBody>
      <dsp:txXfrm>
        <a:off x="7384580" y="3394371"/>
        <a:ext cx="956052" cy="478026"/>
      </dsp:txXfrm>
    </dsp:sp>
    <dsp:sp modelId="{07A094C7-952C-4E3B-8925-C07622C8D78F}">
      <dsp:nvSpPr>
        <dsp:cNvPr id="0" name=""/>
        <dsp:cNvSpPr/>
      </dsp:nvSpPr>
      <dsp:spPr>
        <a:xfrm>
          <a:off x="7384580" y="407316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914034" rtl="0" eaLnBrk="1" latinLnBrk="0" hangingPunct="1">
            <a:lnSpc>
              <a:spcPct val="100000"/>
            </a:lnSpc>
            <a:spcBef>
              <a:spcPct val="0"/>
            </a:spcBef>
            <a:spcAft>
              <a:spcPts val="0"/>
            </a:spcAft>
            <a:buNone/>
          </a:pPr>
          <a:r>
            <a:rPr lang="zh-CN" altLang="en-US" sz="1200" kern="1200" dirty="0">
              <a:effectLst/>
              <a:latin typeface="+mn-lt"/>
              <a:ea typeface="+mn-ea"/>
              <a:cs typeface="+mn-cs"/>
              <a:sym typeface="Huawei Sans" panose="020C0503030203020204" pitchFamily="34" charset="0"/>
            </a:rPr>
            <a:t>安全策略设计</a:t>
          </a:r>
        </a:p>
      </dsp:txBody>
      <dsp:txXfrm>
        <a:off x="7384580" y="4073168"/>
        <a:ext cx="956052" cy="478026"/>
      </dsp:txXfrm>
    </dsp:sp>
    <dsp:sp modelId="{5ED673C7-3EAB-40F8-B0E4-C4C717837A83}">
      <dsp:nvSpPr>
        <dsp:cNvPr id="0" name=""/>
        <dsp:cNvSpPr/>
      </dsp:nvSpPr>
      <dsp:spPr>
        <a:xfrm>
          <a:off x="8302391"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zh-CN" altLang="en-US" sz="1200" b="1" kern="1200" dirty="0">
              <a:latin typeface="+mn-lt"/>
              <a:ea typeface="+mn-ea"/>
              <a:sym typeface="Huawei Sans" panose="020C0503030203020204" pitchFamily="34" charset="0"/>
            </a:rPr>
            <a:t>网络安全与</a:t>
          </a:r>
          <a:endParaRPr lang="en-US" altLang="zh-CN" sz="1200" b="1" kern="1200" dirty="0">
            <a:latin typeface="+mn-lt"/>
            <a:ea typeface="+mn-ea"/>
            <a:sym typeface="Huawei Sans" panose="020C0503030203020204" pitchFamily="34" charset="0"/>
          </a:endParaRPr>
        </a:p>
        <a:p>
          <a:pPr marL="0" lvl="0" indent="0" algn="ctr" defTabSz="533400">
            <a:lnSpc>
              <a:spcPct val="100000"/>
            </a:lnSpc>
            <a:spcBef>
              <a:spcPct val="0"/>
            </a:spcBef>
            <a:spcAft>
              <a:spcPts val="0"/>
            </a:spcAft>
            <a:buNone/>
          </a:pPr>
          <a:r>
            <a:rPr lang="zh-CN" altLang="en-US" sz="1200" b="1" kern="1200" dirty="0">
              <a:latin typeface="+mn-lt"/>
              <a:ea typeface="+mn-ea"/>
              <a:sym typeface="Huawei Sans" panose="020C0503030203020204" pitchFamily="34" charset="0"/>
            </a:rPr>
            <a:t>服务质量设计</a:t>
          </a:r>
        </a:p>
      </dsp:txBody>
      <dsp:txXfrm>
        <a:off x="8302391" y="679181"/>
        <a:ext cx="956052" cy="478026"/>
      </dsp:txXfrm>
    </dsp:sp>
    <dsp:sp modelId="{5F8A4440-7524-4A45-88BA-CE285825BB0C}">
      <dsp:nvSpPr>
        <dsp:cNvPr id="0" name=""/>
        <dsp:cNvSpPr/>
      </dsp:nvSpPr>
      <dsp:spPr>
        <a:xfrm>
          <a:off x="8541404" y="135797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出口安全</a:t>
          </a:r>
        </a:p>
      </dsp:txBody>
      <dsp:txXfrm>
        <a:off x="8541404" y="1357978"/>
        <a:ext cx="956052" cy="478026"/>
      </dsp:txXfrm>
    </dsp:sp>
    <dsp:sp modelId="{29177E28-1A5C-46BC-8A56-F0AD4176C2A5}">
      <dsp:nvSpPr>
        <dsp:cNvPr id="0" name=""/>
        <dsp:cNvSpPr/>
      </dsp:nvSpPr>
      <dsp:spPr>
        <a:xfrm>
          <a:off x="8541404" y="2036776"/>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内网安全</a:t>
          </a:r>
        </a:p>
      </dsp:txBody>
      <dsp:txXfrm>
        <a:off x="8541404" y="2036776"/>
        <a:ext cx="956052" cy="478026"/>
      </dsp:txXfrm>
    </dsp:sp>
    <dsp:sp modelId="{A5073B12-9A4B-42C5-AC1C-07CAFCC5C3B5}">
      <dsp:nvSpPr>
        <dsp:cNvPr id="0" name=""/>
        <dsp:cNvSpPr/>
      </dsp:nvSpPr>
      <dsp:spPr>
        <a:xfrm>
          <a:off x="8541404" y="2715573"/>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b="0" kern="1200" dirty="0">
              <a:latin typeface="+mn-lt"/>
              <a:ea typeface="+mn-ea"/>
              <a:sym typeface="Huawei Sans" panose="020C0503030203020204" pitchFamily="34" charset="0"/>
            </a:rPr>
            <a:t>QoS</a:t>
          </a:r>
          <a:r>
            <a:rPr lang="zh-CN" altLang="en-US" sz="1200" b="0" kern="1200" dirty="0">
              <a:latin typeface="+mn-lt"/>
              <a:ea typeface="+mn-ea"/>
              <a:sym typeface="Huawei Sans" panose="020C0503030203020204" pitchFamily="34" charset="0"/>
            </a:rPr>
            <a:t>设计</a:t>
          </a:r>
        </a:p>
      </dsp:txBody>
      <dsp:txXfrm>
        <a:off x="8541404" y="2715573"/>
        <a:ext cx="956052" cy="478026"/>
      </dsp:txXfrm>
    </dsp:sp>
    <dsp:sp modelId="{E181C44F-29A1-40A8-9D6C-197404E30D2A}">
      <dsp:nvSpPr>
        <dsp:cNvPr id="0" name=""/>
        <dsp:cNvSpPr/>
      </dsp:nvSpPr>
      <dsp:spPr>
        <a:xfrm>
          <a:off x="9459215" y="679181"/>
          <a:ext cx="956052" cy="478026"/>
        </a:xfrm>
        <a:prstGeom prst="rect">
          <a:avLst/>
        </a:prstGeom>
        <a:solidFill>
          <a:srgbClr val="56C4D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latin typeface="+mn-lt"/>
              <a:ea typeface="+mn-ea"/>
              <a:sym typeface="Huawei Sans" panose="020C0503030203020204" pitchFamily="34" charset="0"/>
            </a:rPr>
            <a:t>运维管理设计</a:t>
          </a:r>
        </a:p>
      </dsp:txBody>
      <dsp:txXfrm>
        <a:off x="9459215" y="679181"/>
        <a:ext cx="956052" cy="478026"/>
      </dsp:txXfrm>
    </dsp:sp>
    <dsp:sp modelId="{A02A18C1-18A3-46CF-B4FD-6B5E0B9B8C85}">
      <dsp:nvSpPr>
        <dsp:cNvPr id="0" name=""/>
        <dsp:cNvSpPr/>
      </dsp:nvSpPr>
      <dsp:spPr>
        <a:xfrm>
          <a:off x="9698228" y="1357978"/>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基础网络</a:t>
          </a:r>
          <a:endParaRPr lang="en-US" altLang="zh-CN" sz="1200" b="0" kern="1200" dirty="0">
            <a:latin typeface="+mn-lt"/>
            <a:ea typeface="+mn-ea"/>
            <a:sym typeface="Huawei Sans" panose="020C0503030203020204" pitchFamily="34" charset="0"/>
          </a:endParaRPr>
        </a:p>
        <a:p>
          <a:pPr marL="0" lvl="0" indent="0" algn="ctr" defTabSz="533400">
            <a:lnSpc>
              <a:spcPct val="100000"/>
            </a:lnSpc>
            <a:spcBef>
              <a:spcPct val="0"/>
            </a:spcBef>
            <a:spcAft>
              <a:spcPts val="0"/>
            </a:spcAft>
            <a:buNone/>
          </a:pPr>
          <a:r>
            <a:rPr lang="zh-CN" altLang="en-US" sz="1200" b="0" kern="1200" dirty="0">
              <a:latin typeface="+mn-lt"/>
              <a:ea typeface="+mn-ea"/>
              <a:sym typeface="Huawei Sans" panose="020C0503030203020204" pitchFamily="34" charset="0"/>
            </a:rPr>
            <a:t>运维设计</a:t>
          </a:r>
        </a:p>
      </dsp:txBody>
      <dsp:txXfrm>
        <a:off x="9698228" y="1357978"/>
        <a:ext cx="956052" cy="478026"/>
      </dsp:txXfrm>
    </dsp:sp>
    <dsp:sp modelId="{B8E952CA-CEC1-4AD6-8718-1007E0E9ABFB}">
      <dsp:nvSpPr>
        <dsp:cNvPr id="0" name=""/>
        <dsp:cNvSpPr/>
      </dsp:nvSpPr>
      <dsp:spPr>
        <a:xfrm>
          <a:off x="9698228" y="2036776"/>
          <a:ext cx="956052" cy="4780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mn-lt"/>
              <a:ea typeface="+mn-ea"/>
              <a:sym typeface="Huawei Sans" panose="020C0503030203020204" pitchFamily="34" charset="0"/>
            </a:rPr>
            <a:t>智能运维设计</a:t>
          </a:r>
        </a:p>
      </dsp:txBody>
      <dsp:txXfrm>
        <a:off x="9698228" y="2036776"/>
        <a:ext cx="956052" cy="47802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1"/>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1"/>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4/16/2023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2950" y="717550"/>
            <a:ext cx="5557838"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4538" y="717550"/>
            <a:ext cx="5556250"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21001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80936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60483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58289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96440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57513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71573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527542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16598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通过融合用户认证和管理功能及策略联动功能，为有线无线用户提供统一认证和接入策略控制，管理员可以获得一致的用户管理体验，简化有线无线网络的运维管理。</a:t>
            </a:r>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286424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76235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CPE</a:t>
            </a:r>
            <a:r>
              <a:rPr lang="zh-CN" altLang="en-US" dirty="0"/>
              <a:t>：</a:t>
            </a:r>
            <a:r>
              <a:rPr lang="en-US" altLang="zh-CN" dirty="0"/>
              <a:t>Customer-Premises Equipment</a:t>
            </a:r>
            <a:r>
              <a:rPr lang="zh-CN" altLang="en-US" dirty="0"/>
              <a:t>，客户终端设备</a:t>
            </a:r>
            <a:endParaRPr lang="en-US" altLang="zh-CN" dirty="0"/>
          </a:p>
          <a:p>
            <a:r>
              <a:rPr lang="en-US" altLang="zh-CN" dirty="0"/>
              <a:t>GUI</a:t>
            </a:r>
            <a:r>
              <a:rPr lang="zh-CN" altLang="en-US" dirty="0"/>
              <a:t>：</a:t>
            </a:r>
            <a:r>
              <a:rPr lang="en-US" altLang="zh-CN" dirty="0"/>
              <a:t>Graphical User Interface</a:t>
            </a:r>
            <a:r>
              <a:rPr lang="zh-CN" altLang="en-US" dirty="0"/>
              <a:t>，图形用户界面</a:t>
            </a:r>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1916605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应用识别：</a:t>
            </a:r>
            <a:endParaRPr lang="en-US" altLang="zh-CN" dirty="0"/>
          </a:p>
          <a:p>
            <a:pPr lvl="1"/>
            <a:r>
              <a:rPr lang="zh-CN" altLang="en-US" dirty="0"/>
              <a:t>对网络中的应用进行精确的识别是智能选路、</a:t>
            </a:r>
            <a:r>
              <a:rPr lang="en-US" altLang="zh-CN" dirty="0" err="1"/>
              <a:t>QoS</a:t>
            </a:r>
            <a:r>
              <a:rPr lang="zh-CN" altLang="en-US" dirty="0"/>
              <a:t>、应用优化、安全等网络业务的前提和基础，只有识别了具体的应用，才能在后续的业务流程中应用相关的业务策略。</a:t>
            </a:r>
          </a:p>
          <a:p>
            <a:pPr lvl="1"/>
            <a:r>
              <a:rPr lang="en-US" altLang="zh-CN" dirty="0"/>
              <a:t>SD-WAN EVPN</a:t>
            </a:r>
            <a:r>
              <a:rPr lang="zh-CN" altLang="en-US" dirty="0"/>
              <a:t>互联方案的应用识别有两种实现方式，</a:t>
            </a:r>
            <a:r>
              <a:rPr lang="en-US" altLang="zh-CN" dirty="0"/>
              <a:t>FPI</a:t>
            </a:r>
            <a:r>
              <a:rPr lang="zh-CN" altLang="en-US" dirty="0"/>
              <a:t>（</a:t>
            </a:r>
            <a:r>
              <a:rPr lang="en-US" altLang="zh-CN" dirty="0"/>
              <a:t>First Packet Inspection</a:t>
            </a:r>
            <a:r>
              <a:rPr lang="zh-CN" altLang="en-US" dirty="0"/>
              <a:t>，首包识别）和</a:t>
            </a:r>
            <a:r>
              <a:rPr lang="en-US" altLang="zh-CN" dirty="0"/>
              <a:t>SA</a:t>
            </a:r>
            <a:r>
              <a:rPr lang="zh-CN" altLang="en-US" dirty="0"/>
              <a:t>（</a:t>
            </a:r>
            <a:r>
              <a:rPr lang="en-US" altLang="zh-CN" dirty="0"/>
              <a:t>Service Awareness</a:t>
            </a:r>
            <a:r>
              <a:rPr lang="zh-CN" altLang="en-US" dirty="0"/>
              <a:t>，业务感知）特征识别。</a:t>
            </a:r>
            <a:endParaRPr lang="en-US" altLang="zh-CN" dirty="0"/>
          </a:p>
          <a:p>
            <a:r>
              <a:rPr lang="zh-CN" altLang="en-US" dirty="0"/>
              <a:t>智能选路：</a:t>
            </a:r>
            <a:endParaRPr lang="en-US" altLang="zh-CN" dirty="0"/>
          </a:p>
          <a:p>
            <a:pPr lvl="1"/>
            <a:r>
              <a:rPr lang="en-US" altLang="zh-CN" dirty="0"/>
              <a:t>SD-WAN EVPN</a:t>
            </a:r>
            <a:r>
              <a:rPr lang="zh-CN" altLang="en-US" dirty="0"/>
              <a:t>互联方案支持的智能选路有应用质量选路、负载均衡选路、应用优先级选路、带宽选路。</a:t>
            </a:r>
            <a:endParaRPr lang="en-US" altLang="zh-CN" dirty="0"/>
          </a:p>
          <a:p>
            <a:r>
              <a:rPr lang="en-US" altLang="zh-CN" dirty="0" err="1"/>
              <a:t>QoS</a:t>
            </a:r>
            <a:r>
              <a:rPr lang="zh-CN" altLang="en-US" dirty="0"/>
              <a:t>：</a:t>
            </a:r>
            <a:endParaRPr lang="en-US" altLang="zh-CN" dirty="0"/>
          </a:p>
          <a:p>
            <a:pPr lvl="1"/>
            <a:r>
              <a:rPr lang="en-US" altLang="zh-CN" dirty="0" err="1"/>
              <a:t>QoS</a:t>
            </a:r>
            <a:r>
              <a:rPr lang="zh-CN" altLang="en-US" dirty="0"/>
              <a:t>是实现多业务差分服务的主流功能，通过流量分类将数据报文划分成不同的优先级或多个服务类，这些优先级和服务类是区分服务模型的前提和基础。根据分类结果可以设置不同的流量策略，从而提供不同的服务。</a:t>
            </a:r>
          </a:p>
          <a:p>
            <a:pPr lvl="1"/>
            <a:r>
              <a:rPr lang="en-US" altLang="zh-CN" dirty="0"/>
              <a:t>SD-WAN EVPN</a:t>
            </a:r>
            <a:r>
              <a:rPr lang="zh-CN" altLang="en-US" dirty="0"/>
              <a:t>互联方案支持基于</a:t>
            </a:r>
            <a:r>
              <a:rPr lang="en-US" altLang="zh-CN" dirty="0"/>
              <a:t>IP</a:t>
            </a:r>
            <a:r>
              <a:rPr lang="zh-CN" altLang="en-US" dirty="0"/>
              <a:t>五元组、基于应用组、基于</a:t>
            </a:r>
            <a:r>
              <a:rPr lang="en-US" altLang="zh-CN" dirty="0"/>
              <a:t>DSCP</a:t>
            </a:r>
            <a:r>
              <a:rPr lang="zh-CN" altLang="en-US" dirty="0"/>
              <a:t>进行流量分类，支持队列优先级调度、流量监管、流量整形三种</a:t>
            </a:r>
            <a:r>
              <a:rPr lang="en-US" altLang="zh-CN" dirty="0" err="1"/>
              <a:t>QoS</a:t>
            </a:r>
            <a:r>
              <a:rPr lang="zh-CN" altLang="en-US" dirty="0"/>
              <a:t>策略，支持通过</a:t>
            </a:r>
            <a:r>
              <a:rPr lang="en-US" altLang="zh-CN" dirty="0" err="1"/>
              <a:t>HQoS</a:t>
            </a:r>
            <a:r>
              <a:rPr lang="zh-CN" altLang="en-US" dirty="0"/>
              <a:t>实现多维度带宽比例分配、</a:t>
            </a:r>
            <a:r>
              <a:rPr lang="en-US" altLang="zh-CN" dirty="0"/>
              <a:t>DSCP</a:t>
            </a:r>
            <a:r>
              <a:rPr lang="zh-CN" altLang="en-US" dirty="0"/>
              <a:t>重标记等</a:t>
            </a:r>
            <a:r>
              <a:rPr lang="en-US" altLang="zh-CN" dirty="0" err="1"/>
              <a:t>QoS</a:t>
            </a:r>
            <a:r>
              <a:rPr lang="zh-CN" altLang="en-US" dirty="0"/>
              <a:t>功能。</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2664557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4"/>
            <a:ext cx="5580062" cy="8366172"/>
          </a:xfrm>
        </p:spPr>
        <p:txBody>
          <a:bodyPr/>
          <a:lstStyle/>
          <a:p>
            <a:r>
              <a:rPr lang="en-US" altLang="zh-CN" dirty="0"/>
              <a:t>NAT</a:t>
            </a:r>
            <a:r>
              <a:rPr lang="zh-CN" altLang="en-US" dirty="0"/>
              <a:t>策略：</a:t>
            </a:r>
            <a:endParaRPr lang="en-US" altLang="zh-CN" dirty="0"/>
          </a:p>
          <a:p>
            <a:pPr lvl="1"/>
            <a:r>
              <a:rPr lang="zh-CN" altLang="en-US" dirty="0"/>
              <a:t>网络地址转换（</a:t>
            </a:r>
            <a:r>
              <a:rPr lang="en-US" altLang="zh-CN" dirty="0"/>
              <a:t>Network Address Translation</a:t>
            </a:r>
            <a:r>
              <a:rPr lang="zh-CN" altLang="en-US" dirty="0"/>
              <a:t>，</a:t>
            </a:r>
            <a:r>
              <a:rPr lang="en-US" altLang="zh-CN" dirty="0"/>
              <a:t>NAT</a:t>
            </a:r>
            <a:r>
              <a:rPr lang="zh-CN" altLang="en-US" dirty="0"/>
              <a:t>）是将</a:t>
            </a:r>
            <a:r>
              <a:rPr lang="en-US" altLang="zh-CN" dirty="0"/>
              <a:t>IP</a:t>
            </a:r>
            <a:r>
              <a:rPr lang="zh-CN" altLang="en-US" dirty="0"/>
              <a:t>数据报文头中的</a:t>
            </a:r>
            <a:r>
              <a:rPr lang="en-US" altLang="zh-CN" dirty="0"/>
              <a:t>IP</a:t>
            </a:r>
            <a:r>
              <a:rPr lang="zh-CN" altLang="en-US" dirty="0"/>
              <a:t>地址转换为另一个</a:t>
            </a:r>
            <a:r>
              <a:rPr lang="en-US" altLang="zh-CN" dirty="0"/>
              <a:t>IP</a:t>
            </a:r>
            <a:r>
              <a:rPr lang="zh-CN" altLang="en-US" dirty="0"/>
              <a:t>地址的过程。</a:t>
            </a:r>
          </a:p>
          <a:p>
            <a:pPr lvl="1"/>
            <a:r>
              <a:rPr lang="zh-CN" altLang="en-US" dirty="0"/>
              <a:t>华为</a:t>
            </a:r>
            <a:r>
              <a:rPr lang="en-US" altLang="zh-CN" dirty="0"/>
              <a:t>SD-WAN EVPN</a:t>
            </a:r>
            <a:r>
              <a:rPr lang="zh-CN" altLang="en-US" dirty="0"/>
              <a:t>互联方案支持动态</a:t>
            </a:r>
            <a:r>
              <a:rPr lang="en-US" altLang="zh-CN" dirty="0"/>
              <a:t>NAT</a:t>
            </a:r>
            <a:r>
              <a:rPr lang="zh-CN" altLang="en-US" dirty="0"/>
              <a:t>和静态</a:t>
            </a:r>
            <a:r>
              <a:rPr lang="en-US" altLang="zh-CN" dirty="0"/>
              <a:t>NAT</a:t>
            </a:r>
            <a:r>
              <a:rPr lang="zh-CN" altLang="en-US" dirty="0"/>
              <a:t>两种类型的</a:t>
            </a:r>
            <a:r>
              <a:rPr lang="en-US" altLang="zh-CN" dirty="0"/>
              <a:t>NAT</a:t>
            </a:r>
            <a:r>
              <a:rPr lang="zh-CN" altLang="en-US" dirty="0"/>
              <a:t>策略。</a:t>
            </a:r>
            <a:endParaRPr lang="en-US" altLang="zh-CN" dirty="0"/>
          </a:p>
          <a:p>
            <a:r>
              <a:rPr lang="zh-CN" altLang="en-US" dirty="0"/>
              <a:t>应用优化：</a:t>
            </a:r>
            <a:endParaRPr lang="en-US" altLang="zh-CN" dirty="0"/>
          </a:p>
          <a:p>
            <a:pPr lvl="1"/>
            <a:r>
              <a:rPr lang="zh-CN" altLang="en-US" dirty="0"/>
              <a:t>华为</a:t>
            </a:r>
            <a:r>
              <a:rPr lang="en-US" altLang="zh-CN" dirty="0"/>
              <a:t>SD-WAN EVPN</a:t>
            </a:r>
            <a:r>
              <a:rPr lang="zh-CN" altLang="en-US" dirty="0"/>
              <a:t>互联方案采用前向纠错（</a:t>
            </a:r>
            <a:r>
              <a:rPr lang="en-US" altLang="zh-CN" dirty="0"/>
              <a:t>Forward Error Correction</a:t>
            </a:r>
            <a:r>
              <a:rPr lang="zh-CN" altLang="en-US" dirty="0"/>
              <a:t>，</a:t>
            </a:r>
            <a:r>
              <a:rPr lang="en-US" altLang="zh-CN" dirty="0"/>
              <a:t>FEC</a:t>
            </a:r>
            <a:r>
              <a:rPr lang="zh-CN" altLang="en-US" dirty="0"/>
              <a:t>）优化技术对音视频报文丢包进行优化。</a:t>
            </a:r>
            <a:r>
              <a:rPr lang="en-US" altLang="zh-CN" dirty="0"/>
              <a:t>FEC</a:t>
            </a:r>
            <a:r>
              <a:rPr lang="zh-CN" altLang="en-US" dirty="0"/>
              <a:t>通过代理拦截指定五元组数据流，在报文中增加校验信息，并在接收端进行校验。如果网络中出现了丢包或者报文损伤，则通过校验信息尝试恢复丢弃的报文，从而还原报文。</a:t>
            </a:r>
          </a:p>
          <a:p>
            <a:endParaRPr lang="zh-CN" altLang="en-US" dirty="0"/>
          </a:p>
        </p:txBody>
      </p:sp>
    </p:spTree>
    <p:extLst>
      <p:ext uri="{BB962C8B-B14F-4D97-AF65-F5344CB8AC3E}">
        <p14:creationId xmlns:p14="http://schemas.microsoft.com/office/powerpoint/2010/main" val="2082720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MSP</a:t>
            </a:r>
            <a:r>
              <a:rPr lang="zh-CN" altLang="en-US"/>
              <a:t>（</a:t>
            </a:r>
            <a:r>
              <a:rPr lang="en-US" altLang="zh-CN"/>
              <a:t>Managed Service Provider</a:t>
            </a:r>
            <a:r>
              <a:rPr lang="zh-CN" altLang="en-US"/>
              <a:t>，管理服务提供商）：交付和管理基于网络的服务、应用及设备。服务对象包括企业、住宅区或其他服务供应商。</a:t>
            </a:r>
            <a:endParaRPr lang="en-US" altLang="zh-CN"/>
          </a:p>
          <a:p>
            <a:r>
              <a:rPr lang="zh-CN" altLang="en-US"/>
              <a:t>永久</a:t>
            </a:r>
            <a:r>
              <a:rPr lang="en-US" altLang="zh-CN"/>
              <a:t>License+SnS</a:t>
            </a:r>
            <a:r>
              <a:rPr lang="zh-CN" altLang="en-US"/>
              <a:t>：在</a:t>
            </a:r>
            <a:r>
              <a:rPr lang="en-US" altLang="zh-CN"/>
              <a:t>License</a:t>
            </a:r>
            <a:r>
              <a:rPr lang="zh-CN" altLang="en-US"/>
              <a:t>销售的基础上，将软件补丁、软件升级（含升级版本的新特性）、远程支持等打包在一起组成</a:t>
            </a:r>
            <a:r>
              <a:rPr lang="en-US" altLang="zh-CN"/>
              <a:t>SnS</a:t>
            </a:r>
            <a:r>
              <a:rPr lang="zh-CN" altLang="en-US"/>
              <a:t>年费，周期性付费的一种购买模式。在首次销售时，客户除了要购买</a:t>
            </a:r>
            <a:r>
              <a:rPr lang="en-US" altLang="zh-CN"/>
              <a:t>License</a:t>
            </a:r>
            <a:r>
              <a:rPr lang="zh-CN" altLang="en-US"/>
              <a:t>之外，需要绑定购买一定期限的</a:t>
            </a:r>
            <a:r>
              <a:rPr lang="en-US" altLang="zh-CN"/>
              <a:t>SnS</a:t>
            </a:r>
            <a:r>
              <a:rPr lang="zh-CN" altLang="en-US"/>
              <a:t>年费。在</a:t>
            </a:r>
            <a:r>
              <a:rPr lang="en-US" altLang="zh-CN"/>
              <a:t>SnS</a:t>
            </a:r>
            <a:r>
              <a:rPr lang="zh-CN" altLang="en-US"/>
              <a:t>年费到期后，如果客户不续签</a:t>
            </a:r>
            <a:r>
              <a:rPr lang="en-US" altLang="zh-CN"/>
              <a:t>SnS</a:t>
            </a:r>
            <a:r>
              <a:rPr lang="zh-CN" altLang="en-US"/>
              <a:t>年费，客户只能维持使用当前版本所提供的</a:t>
            </a:r>
            <a:r>
              <a:rPr lang="en-US" altLang="zh-CN"/>
              <a:t>License</a:t>
            </a:r>
            <a:r>
              <a:rPr lang="zh-CN" altLang="en-US"/>
              <a:t>功能，不能再享用</a:t>
            </a:r>
            <a:r>
              <a:rPr lang="en-US" altLang="zh-CN"/>
              <a:t>SnS</a:t>
            </a:r>
            <a:r>
              <a:rPr lang="zh-CN" altLang="en-US"/>
              <a:t>年费提供的业务功能。</a:t>
            </a:r>
            <a:endParaRPr lang="en-US" altLang="zh-CN"/>
          </a:p>
          <a:p>
            <a:r>
              <a:rPr lang="en-US" altLang="zh-CN"/>
              <a:t>SaaS</a:t>
            </a:r>
            <a:r>
              <a:rPr lang="zh-CN" altLang="en-US"/>
              <a:t>模式：基于</a:t>
            </a:r>
            <a:r>
              <a:rPr lang="en-US" altLang="zh-CN"/>
              <a:t>SaaS</a:t>
            </a:r>
            <a:r>
              <a:rPr lang="zh-CN" altLang="en-US"/>
              <a:t>模式时，</a:t>
            </a:r>
            <a:r>
              <a:rPr lang="en-US" altLang="zh-CN"/>
              <a:t>MSP</a:t>
            </a:r>
            <a:r>
              <a:rPr lang="zh-CN" altLang="en-US"/>
              <a:t>承担硬件基础设施的部署或者租赁、硬件和软件的运维和管理，客户只需以云服务的方式使用软件，并按使用量周期性付费。</a:t>
            </a:r>
            <a:endParaRPr lang="en-US" altLang="zh-CN"/>
          </a:p>
          <a:p>
            <a:r>
              <a:rPr lang="en-US" altLang="zh-CN"/>
              <a:t>TBL</a:t>
            </a:r>
            <a:r>
              <a:rPr lang="zh-CN" altLang="en-US"/>
              <a:t>（</a:t>
            </a:r>
            <a:r>
              <a:rPr lang="en-US" altLang="zh-CN"/>
              <a:t>Term Based License</a:t>
            </a:r>
            <a:r>
              <a:rPr lang="zh-CN" altLang="en-US"/>
              <a:t>，订阅</a:t>
            </a:r>
            <a:r>
              <a:rPr lang="en-US" altLang="zh-CN"/>
              <a:t>)</a:t>
            </a:r>
            <a:r>
              <a:rPr lang="zh-CN" altLang="en-US"/>
              <a:t>： 订阅模式与永久</a:t>
            </a:r>
            <a:r>
              <a:rPr lang="en-US" altLang="zh-CN"/>
              <a:t>License+SnS</a:t>
            </a:r>
            <a:r>
              <a:rPr lang="zh-CN" altLang="en-US"/>
              <a:t>年费模式的区别是，在订阅模式下客户购买的</a:t>
            </a:r>
            <a:r>
              <a:rPr lang="en-US" altLang="zh-CN"/>
              <a:t>License</a:t>
            </a:r>
            <a:r>
              <a:rPr lang="zh-CN" altLang="en-US"/>
              <a:t>受使用期限约束，如果到期后不再续订，客户就不再拥有对该软件产品的一切使用权。</a:t>
            </a:r>
            <a:endParaRPr lang="en-US" altLang="zh-CN"/>
          </a:p>
          <a:p>
            <a:r>
              <a:rPr lang="en-US" altLang="zh-CN"/>
              <a:t>SnS</a:t>
            </a:r>
            <a:r>
              <a:rPr lang="zh-CN" altLang="en-US"/>
              <a:t>（</a:t>
            </a:r>
            <a:r>
              <a:rPr lang="en-US" altLang="zh-CN"/>
              <a:t>Subscription and Support</a:t>
            </a:r>
            <a:r>
              <a:rPr lang="zh-CN" altLang="en-US"/>
              <a:t>，软件订保年费）：软件年费</a:t>
            </a:r>
            <a:r>
              <a:rPr lang="en-US" altLang="zh-CN"/>
              <a:t>SnS</a:t>
            </a:r>
            <a:r>
              <a:rPr lang="zh-CN" altLang="en-US"/>
              <a:t>的商业模式主要包括“软件支持”和“软件订阅”两部分，软件年费</a:t>
            </a:r>
            <a:r>
              <a:rPr lang="en-US" altLang="zh-CN"/>
              <a:t>SnS</a:t>
            </a:r>
            <a:r>
              <a:rPr lang="zh-CN" altLang="en-US"/>
              <a:t>与软件</a:t>
            </a:r>
            <a:r>
              <a:rPr lang="en-US" altLang="zh-CN"/>
              <a:t>License</a:t>
            </a:r>
            <a:r>
              <a:rPr lang="zh-CN" altLang="en-US"/>
              <a:t>一起构成了完整的软件收费模式。 </a:t>
            </a:r>
            <a:endParaRPr lang="en-US" altLang="zh-CN"/>
          </a:p>
          <a:p>
            <a:r>
              <a:rPr lang="zh-CN" altLang="en-US"/>
              <a:t>说明：本课程以本地部署场景为例。</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66658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95720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AS-IS</a:t>
            </a:r>
            <a:r>
              <a:rPr lang="zh-CN" altLang="en-US"/>
              <a:t>：当前现状。</a:t>
            </a:r>
            <a:endParaRPr lang="en-US" altLang="zh-CN"/>
          </a:p>
          <a:p>
            <a:r>
              <a:rPr lang="en-US" altLang="zh-CN"/>
              <a:t>TO-BE</a:t>
            </a:r>
            <a:r>
              <a:rPr lang="zh-CN" altLang="en-US"/>
              <a:t>：未来的理想状态。</a:t>
            </a:r>
            <a:endParaRPr lang="zh-CN" altLang="en-US"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478028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WLAN</a:t>
            </a:r>
            <a:r>
              <a:rPr lang="zh-CN" altLang="en-US" dirty="0"/>
              <a:t>的其他内容，如无线规划、</a:t>
            </a:r>
            <a:r>
              <a:rPr lang="en-US" altLang="zh-CN" dirty="0"/>
              <a:t>SSID</a:t>
            </a:r>
            <a:r>
              <a:rPr lang="zh-CN" altLang="en-US" dirty="0"/>
              <a:t>规划、射频调优等内容，请参考</a:t>
            </a:r>
            <a:r>
              <a:rPr lang="en-US" altLang="zh-CN" dirty="0"/>
              <a:t>《</a:t>
            </a:r>
            <a:r>
              <a:rPr lang="zh-CN" altLang="en-US" dirty="0"/>
              <a:t>中小型云管理园区网络设计</a:t>
            </a:r>
            <a:r>
              <a:rPr lang="en-US" altLang="zh-CN" dirty="0"/>
              <a:t>》</a:t>
            </a:r>
            <a:r>
              <a:rPr lang="zh-CN" altLang="en-US" dirty="0"/>
              <a:t>或</a:t>
            </a:r>
            <a:r>
              <a:rPr lang="en-US" altLang="zh-CN" dirty="0"/>
              <a:t>HCIX-WLAN</a:t>
            </a:r>
            <a:r>
              <a:rPr lang="zh-CN" altLang="en-US" dirty="0"/>
              <a:t>系列课程。</a:t>
            </a:r>
          </a:p>
        </p:txBody>
      </p:sp>
    </p:spTree>
    <p:extLst>
      <p:ext uri="{BB962C8B-B14F-4D97-AF65-F5344CB8AC3E}">
        <p14:creationId xmlns:p14="http://schemas.microsoft.com/office/powerpoint/2010/main" val="958540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905669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网络层</a:t>
            </a:r>
          </a:p>
          <a:p>
            <a:pPr lvl="1"/>
            <a:r>
              <a:rPr lang="zh-CN" altLang="en-US" dirty="0"/>
              <a:t>引入虚拟化技术，把网络层分为物理网络和虚拟网络。</a:t>
            </a:r>
          </a:p>
          <a:p>
            <a:pPr lvl="2"/>
            <a:r>
              <a:rPr lang="zh-CN" altLang="en-US" dirty="0"/>
              <a:t>物理网络：又称为</a:t>
            </a:r>
            <a:r>
              <a:rPr lang="en-US" altLang="zh-CN" dirty="0"/>
              <a:t>Underlay</a:t>
            </a:r>
            <a:r>
              <a:rPr lang="zh-CN" altLang="en-US" dirty="0"/>
              <a:t>网络，为园区网络提供基础连接服务。为了适应多类型终端的接入需求，物理网络提供统一的三网融合接入能力，可以同时接入有线终端、无线终端和</a:t>
            </a:r>
            <a:r>
              <a:rPr lang="en-US" altLang="zh-CN" dirty="0" err="1"/>
              <a:t>IoT</a:t>
            </a:r>
            <a:r>
              <a:rPr lang="zh-CN" altLang="en-US" dirty="0"/>
              <a:t>终端。</a:t>
            </a:r>
          </a:p>
          <a:p>
            <a:pPr lvl="2"/>
            <a:r>
              <a:rPr lang="zh-CN" altLang="en-US" dirty="0"/>
              <a:t>虚拟网络：又称为</a:t>
            </a:r>
            <a:r>
              <a:rPr lang="en-US" altLang="zh-CN" dirty="0"/>
              <a:t>Overlay</a:t>
            </a:r>
            <a:r>
              <a:rPr lang="zh-CN" altLang="en-US" dirty="0"/>
              <a:t>网络，通过虚拟化技术，在物理网络上构建出一张或者多张虚拟的</a:t>
            </a:r>
            <a:r>
              <a:rPr lang="en-US" altLang="zh-CN" dirty="0"/>
              <a:t>Overlay</a:t>
            </a:r>
            <a:r>
              <a:rPr lang="zh-CN" altLang="en-US" dirty="0"/>
              <a:t>网络，业务策略被部署在虚拟化网络上，与物理网络脱离，从而将业务的复杂度和网络的复杂度相互解耦。虚拟网络可以有多张，服务于不同的业务，或者服务于不同的客户群。</a:t>
            </a:r>
          </a:p>
          <a:p>
            <a:r>
              <a:rPr lang="zh-CN" altLang="en-US" dirty="0"/>
              <a:t>管理层</a:t>
            </a:r>
          </a:p>
          <a:p>
            <a:pPr lvl="1"/>
            <a:r>
              <a:rPr lang="zh-CN" altLang="en-US" dirty="0"/>
              <a:t>管理层为网络提供配置管理，业务管理，维护和故障检测、安全威胁分析等管理能力。传统园区网络中，使用网管系统进行网络管理，网管系统虽然能够呈现网络状态，但是缺乏灵活性和自动化能力。如果业务需求发生变动，需要管理员对业务进行规划，然后手工重新修改相应网络设备（路由器、交换机、防火墙）上的配置。这种手工调整的方式效率低且容易出错。在快速变化的业务环境下，网络的灵活性非常关键，需要有自动化的工具来协助管理网络和业务。</a:t>
            </a:r>
            <a:r>
              <a:rPr lang="en-US" altLang="zh-CN" dirty="0"/>
              <a:t>CloudCampus</a:t>
            </a:r>
            <a:r>
              <a:rPr lang="zh-CN" altLang="en-US" dirty="0"/>
              <a:t>采用</a:t>
            </a:r>
            <a:r>
              <a:rPr lang="en-US" altLang="zh-CN" dirty="0"/>
              <a:t>iMaster NCE-Campus</a:t>
            </a:r>
            <a:r>
              <a:rPr lang="zh-CN" altLang="en-US" dirty="0"/>
              <a:t>实现网络和业务的自动发放。</a:t>
            </a:r>
          </a:p>
        </p:txBody>
      </p:sp>
      <p:sp>
        <p:nvSpPr>
          <p:cNvPr id="4" name="幻灯片图像占位符 3"/>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572723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1"/>
            <a:r>
              <a:rPr lang="en-US" altLang="zh-CN" dirty="0"/>
              <a:t>iMaster NCE-Campus</a:t>
            </a:r>
            <a:r>
              <a:rPr lang="zh-CN" altLang="en-US" dirty="0"/>
              <a:t>实现了对设备、应用的抽象，允许应用通过编排、调用抽象模型，快速实现应用的开发和自动部署。通过</a:t>
            </a:r>
            <a:r>
              <a:rPr lang="en-US" altLang="zh-CN" dirty="0"/>
              <a:t>iMaster NCE-Campus</a:t>
            </a:r>
            <a:r>
              <a:rPr lang="zh-CN" altLang="en-US" dirty="0"/>
              <a:t>，我们面对的不再是独立的若干个设备（例如：交换机、路由器、</a:t>
            </a:r>
            <a:r>
              <a:rPr lang="en-US" altLang="zh-CN" dirty="0"/>
              <a:t>AP</a:t>
            </a:r>
            <a:r>
              <a:rPr lang="zh-CN" altLang="en-US" dirty="0"/>
              <a:t>等）和设备上的离散的配置（例如访问控制策略、</a:t>
            </a:r>
            <a:r>
              <a:rPr lang="en-US" altLang="zh-CN" dirty="0" err="1"/>
              <a:t>QoS</a:t>
            </a:r>
            <a:r>
              <a:rPr lang="zh-CN" altLang="en-US" dirty="0"/>
              <a:t>策略、路由策略），而是对外呈现出完整的网络概念。</a:t>
            </a:r>
          </a:p>
          <a:p>
            <a:r>
              <a:rPr lang="zh-CN" altLang="en-US" dirty="0"/>
              <a:t>应用层</a:t>
            </a:r>
          </a:p>
          <a:p>
            <a:pPr lvl="1"/>
            <a:r>
              <a:rPr lang="en-US" altLang="zh-CN" dirty="0"/>
              <a:t>CloudCampus</a:t>
            </a:r>
            <a:r>
              <a:rPr lang="zh-CN" altLang="en-US" dirty="0"/>
              <a:t>解决方案基于</a:t>
            </a:r>
            <a:r>
              <a:rPr lang="en-US" altLang="zh-CN" dirty="0"/>
              <a:t>iMaster NCE-Campus</a:t>
            </a:r>
            <a:r>
              <a:rPr lang="zh-CN" altLang="en-US" dirty="0"/>
              <a:t>提供了标准化接口，通过开放</a:t>
            </a:r>
            <a:r>
              <a:rPr lang="en-US" altLang="zh-CN" dirty="0"/>
              <a:t>API</a:t>
            </a:r>
            <a:r>
              <a:rPr lang="zh-CN" altLang="en-US" dirty="0"/>
              <a:t>接口将网络识别的用户身份、网络资源、业务质量、网络中的位置信息、网络拓扑等多种信息，对上层业务开放，通过这些标准化的开放接口，第三方可以根据自身业务需求量身定制业务创新应用，满足在教育、商业、企业、政府等多个领域的业务需求。</a:t>
            </a:r>
          </a:p>
          <a:p>
            <a:endParaRPr lang="zh-CN" altLang="en-US" dirty="0"/>
          </a:p>
          <a:p>
            <a:endParaRPr lang="zh-CN" altLang="en-US" dirty="0"/>
          </a:p>
        </p:txBody>
      </p:sp>
    </p:spTree>
    <p:extLst>
      <p:ext uri="{BB962C8B-B14F-4D97-AF65-F5344CB8AC3E}">
        <p14:creationId xmlns:p14="http://schemas.microsoft.com/office/powerpoint/2010/main" val="2660984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4538" y="717550"/>
            <a:ext cx="5556250" cy="3125788"/>
          </a:xfrm>
        </p:spPr>
      </p:sp>
      <p:sp>
        <p:nvSpPr>
          <p:cNvPr id="5" name="备注占位符 4"/>
          <p:cNvSpPr>
            <a:spLocks noGrp="1"/>
          </p:cNvSpPr>
          <p:nvPr>
            <p:ph type="body" idx="1"/>
          </p:nvPr>
        </p:nvSpPr>
        <p:spPr/>
        <p:txBody>
          <a:bodyPr/>
          <a:lstStyle/>
          <a:p>
            <a:r>
              <a:rPr lang="zh-CN" altLang="en-US" dirty="0"/>
              <a:t>在大中型园区网络场景中，如果需要通过虚拟化方案做到业务和网络解耦，在不改变基础网络的情况下，实现一网多用和业务的灵活、快速部署，这就对园区的虚拟网络架构提出了异于传统网络的要求。</a:t>
            </a:r>
            <a:endParaRPr lang="en-US" altLang="zh-CN" dirty="0"/>
          </a:p>
          <a:p>
            <a:r>
              <a:rPr lang="zh-CN" altLang="en-US" dirty="0"/>
              <a:t>本页展示虚拟化园区网络架构，</a:t>
            </a:r>
            <a:r>
              <a:rPr lang="en-US" altLang="zh-CN" dirty="0"/>
              <a:t>Underlay</a:t>
            </a:r>
            <a:r>
              <a:rPr lang="zh-CN" altLang="en-US" dirty="0"/>
              <a:t>即为物理网络层，</a:t>
            </a:r>
            <a:r>
              <a:rPr lang="en-US" altLang="zh-CN" dirty="0"/>
              <a:t>Overlay</a:t>
            </a:r>
            <a:r>
              <a:rPr lang="zh-CN" altLang="en-US" dirty="0"/>
              <a:t>为基于</a:t>
            </a:r>
            <a:r>
              <a:rPr lang="en-US" altLang="zh-CN" dirty="0"/>
              <a:t>VXLAN</a:t>
            </a:r>
            <a:r>
              <a:rPr lang="zh-CN" altLang="en-US" dirty="0"/>
              <a:t>技术构建在</a:t>
            </a:r>
            <a:r>
              <a:rPr lang="en-US" altLang="zh-CN" dirty="0"/>
              <a:t>Underlay</a:t>
            </a:r>
            <a:r>
              <a:rPr lang="zh-CN" altLang="en-US" dirty="0"/>
              <a:t>之上的虚拟网络层。</a:t>
            </a:r>
          </a:p>
        </p:txBody>
      </p:sp>
    </p:spTree>
    <p:extLst>
      <p:ext uri="{BB962C8B-B14F-4D97-AF65-F5344CB8AC3E}">
        <p14:creationId xmlns:p14="http://schemas.microsoft.com/office/powerpoint/2010/main" val="6862878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Fabric</a:t>
            </a:r>
            <a:r>
              <a:rPr lang="zh-CN" altLang="en-US" dirty="0"/>
              <a:t>组网中，对</a:t>
            </a:r>
            <a:r>
              <a:rPr lang="en-US" altLang="zh-CN" dirty="0"/>
              <a:t>VXLAN</a:t>
            </a:r>
            <a:r>
              <a:rPr lang="zh-CN" altLang="en-US" dirty="0"/>
              <a:t>隧道端点</a:t>
            </a:r>
            <a:r>
              <a:rPr lang="en-US" altLang="zh-CN" dirty="0"/>
              <a:t>VTEP</a:t>
            </a:r>
            <a:r>
              <a:rPr lang="zh-CN" altLang="en-US" dirty="0"/>
              <a:t>（</a:t>
            </a:r>
            <a:r>
              <a:rPr lang="en-US" altLang="zh-CN" dirty="0"/>
              <a:t>VXLAN Tunnel Endpoints</a:t>
            </a:r>
            <a:r>
              <a:rPr lang="zh-CN" altLang="en-US" dirty="0"/>
              <a:t>）做了进一步的角色划分：</a:t>
            </a:r>
          </a:p>
          <a:p>
            <a:pPr lvl="1"/>
            <a:r>
              <a:rPr lang="en-US" altLang="zh-CN" dirty="0"/>
              <a:t>Border</a:t>
            </a:r>
            <a:r>
              <a:rPr lang="zh-CN" altLang="en-US" dirty="0"/>
              <a:t>：</a:t>
            </a:r>
            <a:r>
              <a:rPr lang="en-US" altLang="zh-CN" dirty="0"/>
              <a:t>Fabric</a:t>
            </a:r>
            <a:r>
              <a:rPr lang="zh-CN" altLang="en-US" dirty="0"/>
              <a:t>网络的边界网关节点，对应实体为物理网络设备，提供</a:t>
            </a:r>
            <a:r>
              <a:rPr lang="en-US" altLang="zh-CN" dirty="0"/>
              <a:t>Fabric</a:t>
            </a:r>
            <a:r>
              <a:rPr lang="zh-CN" altLang="en-US" dirty="0"/>
              <a:t>网络与外部网络间的数据转发。一般将支持</a:t>
            </a:r>
            <a:r>
              <a:rPr lang="en-US" altLang="zh-CN" dirty="0"/>
              <a:t>VXLAN</a:t>
            </a:r>
            <a:r>
              <a:rPr lang="zh-CN" altLang="en-US" dirty="0"/>
              <a:t>的核心交换机作为</a:t>
            </a:r>
            <a:r>
              <a:rPr lang="en-US" altLang="zh-CN" dirty="0"/>
              <a:t>Border</a:t>
            </a:r>
            <a:r>
              <a:rPr lang="zh-CN" altLang="en-US" dirty="0"/>
              <a:t>。</a:t>
            </a:r>
          </a:p>
          <a:p>
            <a:pPr lvl="1"/>
            <a:r>
              <a:rPr lang="en-US" altLang="zh-CN" dirty="0"/>
              <a:t>Edge</a:t>
            </a:r>
            <a:r>
              <a:rPr lang="zh-CN" altLang="en-US" dirty="0"/>
              <a:t>：</a:t>
            </a:r>
            <a:r>
              <a:rPr lang="en-US" altLang="zh-CN" dirty="0"/>
              <a:t>Fabric</a:t>
            </a:r>
            <a:r>
              <a:rPr lang="zh-CN" altLang="en-US" dirty="0"/>
              <a:t>网络的边缘节点，对应实体为物理网络设备，接入用户的流量从这里进入</a:t>
            </a:r>
            <a:r>
              <a:rPr lang="en-US" altLang="zh-CN" dirty="0"/>
              <a:t>Fabric</a:t>
            </a:r>
            <a:r>
              <a:rPr lang="zh-CN" altLang="en-US" dirty="0"/>
              <a:t>网络。一般将支持</a:t>
            </a:r>
            <a:r>
              <a:rPr lang="en-US" altLang="zh-CN" dirty="0"/>
              <a:t>VXLAN</a:t>
            </a:r>
            <a:r>
              <a:rPr lang="zh-CN" altLang="en-US" dirty="0"/>
              <a:t>的接入交换机或汇聚交换机作为</a:t>
            </a:r>
            <a:r>
              <a:rPr lang="en-US" altLang="zh-CN" dirty="0"/>
              <a:t>Edge</a:t>
            </a:r>
            <a:r>
              <a:rPr lang="zh-CN" altLang="en-US" dirty="0"/>
              <a:t>。</a:t>
            </a:r>
            <a:endParaRPr lang="en-US" altLang="zh-CN" dirty="0"/>
          </a:p>
          <a:p>
            <a:pPr lvl="0"/>
            <a:r>
              <a:rPr lang="zh-CN" altLang="en-US" dirty="0"/>
              <a:t>策略联动：</a:t>
            </a:r>
            <a:endParaRPr lang="en-US" altLang="zh-CN" dirty="0"/>
          </a:p>
          <a:p>
            <a:pPr lvl="1"/>
            <a:r>
              <a:rPr lang="zh-CN" altLang="en-US" dirty="0"/>
              <a:t>策略联动是通过在网关设备上统一管理用户的访问策略并且在网关设备和认证接入设备执行用户的访问策略，来解决大型园区策略强度与复杂度之间矛盾的一种解决方案。</a:t>
            </a:r>
          </a:p>
          <a:p>
            <a:pPr lvl="1"/>
            <a:r>
              <a:rPr lang="zh-CN" altLang="en-US" dirty="0"/>
              <a:t>部署策略联动后，认证接入设备可以自动透传</a:t>
            </a:r>
            <a:r>
              <a:rPr lang="en-US" altLang="zh-CN" dirty="0"/>
              <a:t>BPDU</a:t>
            </a:r>
            <a:r>
              <a:rPr lang="zh-CN" altLang="en-US" dirty="0"/>
              <a:t>报文、实时上报用户下线和用户接入位置，同时认证控制设备联动认证接入设备，使其执行用户的访问策略，从而实现了对用户访问网络的控制。</a:t>
            </a:r>
          </a:p>
          <a:p>
            <a:pPr lvl="1"/>
            <a:endParaRPr lang="zh-CN" altLang="en-US" dirty="0"/>
          </a:p>
          <a:p>
            <a:endParaRPr lang="zh-CN" altLang="en-US" dirty="0"/>
          </a:p>
        </p:txBody>
      </p:sp>
      <p:sp>
        <p:nvSpPr>
          <p:cNvPr id="7" name="幻灯片图像占位符 6"/>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379476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4" name="幻灯片图像占位符 3"/>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2531332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pPr marL="228600" indent="-228600">
              <a:buFont typeface="+mj-lt"/>
              <a:buAutoNum type="arabicPeriod"/>
            </a:pPr>
            <a:r>
              <a:rPr lang="zh-CN" altLang="en-US" dirty="0"/>
              <a:t>用户身份认证请求：终端发送自己的身份凭证给准入设备。</a:t>
            </a:r>
          </a:p>
          <a:p>
            <a:pPr marL="228600" indent="-228600">
              <a:buFont typeface="+mj-lt"/>
              <a:buAutoNum type="arabicPeriod"/>
            </a:pPr>
            <a:r>
              <a:rPr lang="zh-CN" altLang="en-US" dirty="0"/>
              <a:t>用户身份认证：准入设备将身份凭证发送给准入服务器进行身份认证。</a:t>
            </a:r>
          </a:p>
          <a:p>
            <a:pPr marL="228600" indent="-228600">
              <a:buFont typeface="+mj-lt"/>
              <a:buAutoNum type="arabicPeriod"/>
            </a:pPr>
            <a:r>
              <a:rPr lang="zh-CN" altLang="en-US" dirty="0"/>
              <a:t>用户身份校验：准入服务器存储用户的身份信息，提供用户管理功能。准入服务器收到终端的身份凭证后，进行身份校验，确定终端身份是否合法，并将校验结果及策略下发给准入设备。</a:t>
            </a:r>
          </a:p>
          <a:p>
            <a:pPr marL="228600" indent="-228600">
              <a:buFont typeface="+mj-lt"/>
              <a:buAutoNum type="arabicPeriod"/>
            </a:pPr>
            <a:r>
              <a:rPr lang="zh-CN" altLang="en-US" dirty="0"/>
              <a:t>用户策略授权：准入设备作为策略的实施者，根据准入服务器的授权结果对终端实施策略的控制，比如允许或者禁止终端访问网络；或者对终端进行更加复杂的策略管控，如提高或降低终端转发优先级、限制用户的网络访问速率。</a:t>
            </a:r>
          </a:p>
        </p:txBody>
      </p:sp>
    </p:spTree>
    <p:extLst>
      <p:ext uri="{BB962C8B-B14F-4D97-AF65-F5344CB8AC3E}">
        <p14:creationId xmlns:p14="http://schemas.microsoft.com/office/powerpoint/2010/main" val="23108452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en-US" altLang="zh-CN" dirty="0"/>
              <a:t>CAPWAP</a:t>
            </a:r>
            <a:r>
              <a:rPr lang="zh-CN" altLang="en-US" dirty="0"/>
              <a:t>：</a:t>
            </a:r>
            <a:r>
              <a:rPr lang="en-US" altLang="zh-CN" dirty="0"/>
              <a:t>Control and Provisioning of Wireless Access Points</a:t>
            </a:r>
            <a:r>
              <a:rPr lang="zh-CN" altLang="en-US" dirty="0"/>
              <a:t>，无线接入点控制协议</a:t>
            </a:r>
          </a:p>
        </p:txBody>
      </p:sp>
    </p:spTree>
    <p:extLst>
      <p:ext uri="{BB962C8B-B14F-4D97-AF65-F5344CB8AC3E}">
        <p14:creationId xmlns:p14="http://schemas.microsoft.com/office/powerpoint/2010/main" val="260118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业务随行提出了安全组的概念，安全组仅与用户身份有关，与用户</a:t>
            </a:r>
            <a:r>
              <a:rPr lang="en-US" altLang="zh-CN" dirty="0"/>
              <a:t>VLAN</a:t>
            </a:r>
            <a:r>
              <a:rPr lang="zh-CN" altLang="en-US" dirty="0"/>
              <a:t>、</a:t>
            </a:r>
            <a:r>
              <a:rPr lang="en-US" altLang="zh-CN" dirty="0"/>
              <a:t>IP</a:t>
            </a:r>
            <a:r>
              <a:rPr lang="zh-CN" altLang="en-US" dirty="0"/>
              <a:t>等网络信息完全解耦。</a:t>
            </a:r>
            <a:endParaRPr lang="en-US" altLang="zh-CN" dirty="0"/>
          </a:p>
          <a:p>
            <a:r>
              <a:rPr lang="zh-CN" altLang="en-US" dirty="0"/>
              <a:t>用户策略管理与权限控制都基于安全组执行。</a:t>
            </a:r>
            <a:endParaRPr lang="en-US" altLang="zh-CN"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0846832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大中型园区网络中，接入终端除了智能终端（</a:t>
            </a:r>
            <a:r>
              <a:rPr lang="en-US" altLang="zh-CN" dirty="0"/>
              <a:t>PC</a:t>
            </a:r>
            <a:r>
              <a:rPr lang="zh-CN" altLang="en-US" dirty="0"/>
              <a:t>、手机），还有</a:t>
            </a:r>
            <a:r>
              <a:rPr lang="en-US" altLang="zh-CN" dirty="0"/>
              <a:t>IP</a:t>
            </a:r>
            <a:r>
              <a:rPr lang="zh-CN" altLang="en-US" dirty="0"/>
              <a:t>话机、打印机、</a:t>
            </a:r>
            <a:r>
              <a:rPr lang="en-US" altLang="zh-CN" dirty="0"/>
              <a:t>IP</a:t>
            </a:r>
            <a:r>
              <a:rPr lang="zh-CN" altLang="en-US" dirty="0"/>
              <a:t>摄像头等哑终端。当前园区网络终端管理主要面临以下两个问题：</a:t>
            </a:r>
          </a:p>
          <a:p>
            <a:pPr lvl="1"/>
            <a:r>
              <a:rPr lang="zh-CN" altLang="en-US" dirty="0"/>
              <a:t>当前网络管理系统只能查看接入终端的</a:t>
            </a:r>
            <a:r>
              <a:rPr lang="en-US" altLang="zh-CN" dirty="0"/>
              <a:t>IP</a:t>
            </a:r>
            <a:r>
              <a:rPr lang="zh-CN" altLang="en-US" dirty="0"/>
              <a:t>和</a:t>
            </a:r>
            <a:r>
              <a:rPr lang="en-US" altLang="zh-CN" dirty="0"/>
              <a:t>MAC</a:t>
            </a:r>
            <a:r>
              <a:rPr lang="zh-CN" altLang="en-US" dirty="0"/>
              <a:t>，并不知道终端具体是什么设备，无法对网络终端做更精细的管理。</a:t>
            </a:r>
          </a:p>
          <a:p>
            <a:pPr lvl="1"/>
            <a:r>
              <a:rPr lang="zh-CN" altLang="en-US" dirty="0"/>
              <a:t>不同类型的终端，需部署的网络业务配置和策略也不同，管理员需要手动为每种类型的业务终端配置不同的业务配置和策略，业务部署复杂且操作繁琐。</a:t>
            </a:r>
            <a:endParaRPr lang="en-US" altLang="zh-CN" dirty="0"/>
          </a:p>
          <a:p>
            <a:pPr lvl="0"/>
            <a:r>
              <a:rPr lang="zh-CN" altLang="en-US" dirty="0"/>
              <a:t>为了解决如上两个场景问题，华为推出了终端识别与策略自动下发方案，可支持如下功能：</a:t>
            </a:r>
          </a:p>
          <a:p>
            <a:pPr lvl="1"/>
            <a:r>
              <a:rPr lang="zh-CN" altLang="en-US" dirty="0"/>
              <a:t>通过</a:t>
            </a:r>
            <a:r>
              <a:rPr lang="en-US" altLang="zh-CN" dirty="0" err="1"/>
              <a:t>iMaster</a:t>
            </a:r>
            <a:r>
              <a:rPr lang="en-US" altLang="zh-CN" dirty="0"/>
              <a:t> NCE-Campus</a:t>
            </a:r>
            <a:r>
              <a:rPr lang="zh-CN" altLang="en-US" dirty="0"/>
              <a:t>可查看全网终端类型、系统等分类，比如哑终端：打印机、</a:t>
            </a:r>
            <a:r>
              <a:rPr lang="en-US" altLang="zh-CN" dirty="0"/>
              <a:t>IP</a:t>
            </a:r>
            <a:r>
              <a:rPr lang="zh-CN" altLang="en-US" dirty="0"/>
              <a:t>摄像头、一卡通、门禁等，并基于终端的类型进行分类统计和流量呈现。</a:t>
            </a:r>
          </a:p>
          <a:p>
            <a:pPr lvl="1"/>
            <a:r>
              <a:rPr lang="zh-CN" altLang="en-US" dirty="0"/>
              <a:t>针对园区</a:t>
            </a:r>
            <a:r>
              <a:rPr lang="en-US" altLang="zh-CN" dirty="0"/>
              <a:t>IP</a:t>
            </a:r>
            <a:r>
              <a:rPr lang="zh-CN" altLang="en-US" dirty="0"/>
              <a:t>话机、打印机、</a:t>
            </a:r>
            <a:r>
              <a:rPr lang="en-US" altLang="zh-CN" dirty="0"/>
              <a:t>IP</a:t>
            </a:r>
            <a:r>
              <a:rPr lang="zh-CN" altLang="en-US" dirty="0"/>
              <a:t>摄像头等哑终端设备，无需管理员手动为每种类型的业务终端配置不同的业务配置和策略。</a:t>
            </a:r>
            <a:r>
              <a:rPr lang="en-US" altLang="zh-CN" dirty="0" err="1"/>
              <a:t>iMaster</a:t>
            </a:r>
            <a:r>
              <a:rPr lang="en-US" altLang="zh-CN" dirty="0"/>
              <a:t> NCE-Campus</a:t>
            </a:r>
            <a:r>
              <a:rPr lang="zh-CN" altLang="en-US" dirty="0"/>
              <a:t>能够自动的识别终端，并为终端设备下发对应的准入策略和业务配置。</a:t>
            </a:r>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4024999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被动指纹采集：通过网络设备采集终端报文的特征指纹，上报给</a:t>
            </a:r>
            <a:r>
              <a:rPr lang="en-US" altLang="zh-CN" dirty="0"/>
              <a:t>iMaster NCE-Campus</a:t>
            </a:r>
            <a:r>
              <a:rPr lang="zh-CN" altLang="en-US" dirty="0"/>
              <a:t>，然后通过匹配</a:t>
            </a:r>
            <a:r>
              <a:rPr lang="en-US" altLang="zh-CN" dirty="0"/>
              <a:t>iMaster NCE-Campus</a:t>
            </a:r>
            <a:r>
              <a:rPr lang="zh-CN" altLang="en-US" dirty="0"/>
              <a:t>自带的指纹库进行终端类型识别。这类终端识别方法包含</a:t>
            </a:r>
            <a:r>
              <a:rPr lang="en-US" altLang="zh-CN" dirty="0"/>
              <a:t>MAC OUI</a:t>
            </a:r>
            <a:r>
              <a:rPr lang="zh-CN" altLang="en-US" dirty="0"/>
              <a:t>、</a:t>
            </a:r>
            <a:r>
              <a:rPr lang="en-US" altLang="zh-CN" dirty="0"/>
              <a:t>HTTP </a:t>
            </a:r>
            <a:r>
              <a:rPr lang="en-US" altLang="zh-CN" dirty="0" err="1"/>
              <a:t>UserAgent</a:t>
            </a:r>
            <a:r>
              <a:rPr lang="zh-CN" altLang="en-US" dirty="0"/>
              <a:t>、</a:t>
            </a:r>
            <a:r>
              <a:rPr lang="en-US" altLang="zh-CN" dirty="0"/>
              <a:t>DHCP Option</a:t>
            </a:r>
            <a:r>
              <a:rPr lang="zh-CN" altLang="en-US" dirty="0"/>
              <a:t>、</a:t>
            </a:r>
            <a:r>
              <a:rPr lang="en-US" altLang="zh-CN" dirty="0"/>
              <a:t>LLDP</a:t>
            </a:r>
            <a:r>
              <a:rPr lang="zh-CN" altLang="en-US" dirty="0"/>
              <a:t>、</a:t>
            </a:r>
            <a:r>
              <a:rPr lang="en-US" altLang="zh-CN" dirty="0" err="1"/>
              <a:t>mDNS</a:t>
            </a:r>
            <a:r>
              <a:rPr lang="zh-CN" altLang="en-US" dirty="0"/>
              <a:t>。</a:t>
            </a:r>
          </a:p>
          <a:p>
            <a:r>
              <a:rPr lang="zh-CN" altLang="en-US" dirty="0"/>
              <a:t>主动扫描：通过</a:t>
            </a:r>
            <a:r>
              <a:rPr lang="en-US" altLang="zh-CN" dirty="0"/>
              <a:t>iMaster NCE-Campus</a:t>
            </a:r>
            <a:r>
              <a:rPr lang="zh-CN" altLang="en-US" dirty="0"/>
              <a:t>主动探测或扫描终端，根据终端设备的反馈信息做终端类型识别。这类终端识别方法包含</a:t>
            </a:r>
            <a:r>
              <a:rPr lang="en-US" altLang="zh-CN" dirty="0"/>
              <a:t>SNMP Query</a:t>
            </a:r>
            <a:r>
              <a:rPr lang="zh-CN" altLang="en-US" dirty="0"/>
              <a:t>、</a:t>
            </a:r>
            <a:r>
              <a:rPr lang="en-US" altLang="zh-CN" dirty="0" err="1"/>
              <a:t>Nmap</a:t>
            </a:r>
            <a:r>
              <a:rPr lang="zh-CN" altLang="en-US" dirty="0"/>
              <a:t>方法。</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87888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zh-CN" dirty="0"/>
              <a:t>终端接入网络时，网络设备可以采集终端的信息，上报给</a:t>
            </a:r>
            <a:r>
              <a:rPr lang="en-US" altLang="zh-CN" dirty="0"/>
              <a:t>iMaster NCE-Campus</a:t>
            </a:r>
            <a:r>
              <a:rPr lang="zh-CN" altLang="zh-CN" dirty="0"/>
              <a:t>或</a:t>
            </a:r>
            <a:r>
              <a:rPr lang="en-US" altLang="zh-CN" dirty="0"/>
              <a:t>iMaster NCE-Campus</a:t>
            </a:r>
            <a:r>
              <a:rPr lang="zh-CN" altLang="zh-CN" dirty="0"/>
              <a:t>主动扫描终端信息，</a:t>
            </a:r>
            <a:r>
              <a:rPr lang="en-US" altLang="zh-CN" dirty="0"/>
              <a:t>iMaster NCE-Campus</a:t>
            </a:r>
            <a:r>
              <a:rPr lang="zh-CN" altLang="zh-CN" dirty="0"/>
              <a:t>自动识别终端的类型、操作系统和厂商。</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386812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819267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通过引入虚拟化技术，在园区网络中基于一张物理网络创建多张虚拟网络。不同的虚拟网络应用于不同的业务，例如办公、视讯、安防等。</a:t>
            </a:r>
            <a:endParaRPr lang="en-US" altLang="zh-CN" dirty="0"/>
          </a:p>
          <a:p>
            <a:r>
              <a:rPr lang="en-US" altLang="zh-CN" dirty="0"/>
              <a:t>VXLAN</a:t>
            </a:r>
            <a:r>
              <a:rPr lang="zh-CN" altLang="en-US" dirty="0"/>
              <a:t>在本质上属于一种隧道技术，能够在任意路由可达的网络上叠加二层虚拟网络，通过</a:t>
            </a:r>
            <a:r>
              <a:rPr lang="en-US" altLang="zh-CN" dirty="0"/>
              <a:t>VXLAN</a:t>
            </a:r>
            <a:r>
              <a:rPr lang="zh-CN" altLang="en-US" dirty="0"/>
              <a:t>网关实现</a:t>
            </a:r>
            <a:r>
              <a:rPr lang="en-US" altLang="zh-CN" dirty="0"/>
              <a:t>VXLAN</a:t>
            </a:r>
            <a:r>
              <a:rPr lang="zh-CN" altLang="en-US" dirty="0"/>
              <a:t>网络内部的互通，同时，也可以实现与传统非</a:t>
            </a:r>
            <a:r>
              <a:rPr lang="en-US" altLang="zh-CN" dirty="0"/>
              <a:t>VXLAN</a:t>
            </a:r>
            <a:r>
              <a:rPr lang="zh-CN" altLang="en-US" dirty="0"/>
              <a:t>网络的互通。</a:t>
            </a:r>
          </a:p>
          <a:p>
            <a:r>
              <a:rPr lang="en-US" altLang="zh-CN" dirty="0"/>
              <a:t>VXLAN</a:t>
            </a:r>
            <a:r>
              <a:rPr lang="zh-CN" altLang="en-US" dirty="0"/>
              <a:t>的控制面可以使用</a:t>
            </a:r>
            <a:r>
              <a:rPr lang="en-US" altLang="zh-CN" dirty="0"/>
              <a:t>BGP EVPN</a:t>
            </a:r>
            <a:r>
              <a:rPr lang="zh-CN" altLang="en-US" dirty="0"/>
              <a:t>协议，其简要工作过程为：</a:t>
            </a:r>
            <a:endParaRPr lang="en-US" altLang="zh-CN" dirty="0"/>
          </a:p>
          <a:p>
            <a:pPr lvl="1"/>
            <a:r>
              <a:rPr lang="zh-CN" altLang="en-US" dirty="0"/>
              <a:t>控制器通过</a:t>
            </a:r>
            <a:r>
              <a:rPr lang="en-US" altLang="zh-CN" dirty="0"/>
              <a:t>NETCONF</a:t>
            </a:r>
            <a:r>
              <a:rPr lang="zh-CN" altLang="en-US" dirty="0"/>
              <a:t>下发</a:t>
            </a:r>
            <a:r>
              <a:rPr lang="en-US" altLang="zh-CN" dirty="0"/>
              <a:t>BGP EVPN</a:t>
            </a:r>
            <a:r>
              <a:rPr lang="zh-CN" altLang="en-US" dirty="0"/>
              <a:t>等配置信息到</a:t>
            </a:r>
            <a:r>
              <a:rPr lang="en-US" altLang="zh-CN" dirty="0"/>
              <a:t>NVE</a:t>
            </a:r>
            <a:r>
              <a:rPr lang="zh-CN" altLang="en-US" dirty="0"/>
              <a:t>设备；</a:t>
            </a:r>
          </a:p>
          <a:p>
            <a:pPr lvl="1"/>
            <a:r>
              <a:rPr lang="zh-CN" altLang="en-US" dirty="0"/>
              <a:t>设备通过</a:t>
            </a:r>
            <a:r>
              <a:rPr lang="en-US" altLang="zh-CN" dirty="0"/>
              <a:t>BGP EVPN</a:t>
            </a:r>
            <a:r>
              <a:rPr lang="zh-CN" altLang="en-US" dirty="0"/>
              <a:t>协议动态建立</a:t>
            </a:r>
            <a:r>
              <a:rPr lang="en-US" altLang="zh-CN" dirty="0"/>
              <a:t>VXLAN</a:t>
            </a:r>
            <a:r>
              <a:rPr lang="zh-CN" altLang="en-US" dirty="0"/>
              <a:t>隧道；</a:t>
            </a:r>
          </a:p>
          <a:p>
            <a:pPr lvl="1"/>
            <a:r>
              <a:rPr lang="zh-CN" altLang="en-US" dirty="0"/>
              <a:t>设备局部学习的表项（</a:t>
            </a:r>
            <a:r>
              <a:rPr lang="en-US" altLang="zh-CN" dirty="0"/>
              <a:t>MAC</a:t>
            </a:r>
            <a:r>
              <a:rPr lang="zh-CN" altLang="en-US" dirty="0"/>
              <a:t>、主机路由、子网路由）通过</a:t>
            </a:r>
            <a:r>
              <a:rPr lang="en-US" altLang="zh-CN" dirty="0"/>
              <a:t>BGP EVPN</a:t>
            </a:r>
            <a:r>
              <a:rPr lang="zh-CN" altLang="en-US" dirty="0"/>
              <a:t>进行全局同步。</a:t>
            </a:r>
          </a:p>
        </p:txBody>
      </p:sp>
      <p:sp>
        <p:nvSpPr>
          <p:cNvPr id="4" name="幻灯片图像占位符 3"/>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892939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17074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54021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大中型园区网络通常采用核心层为“根”的树形网络架构，如图所示，拓扑稳定，易于扩展和维护。园区网络可划分为多个层次：接入层、汇聚层、核心层，以及多个分区：出口区、数据中心区、管理运维区等，各功能分区模块清晰，模块内部调整涉及范围小，易于进行问题定位。</a:t>
            </a:r>
            <a:endParaRPr lang="en-US" altLang="zh-CN" dirty="0"/>
          </a:p>
          <a:p>
            <a:r>
              <a:rPr lang="zh-CN" altLang="en-US" dirty="0"/>
              <a:t>终端层</a:t>
            </a:r>
            <a:endParaRPr lang="en-US" altLang="zh-CN" dirty="0"/>
          </a:p>
          <a:p>
            <a:pPr lvl="1"/>
            <a:r>
              <a:rPr lang="zh-CN" altLang="en-US" dirty="0"/>
              <a:t>终端层是指接入园区网络的各种终端设备，例如电脑、打印机、</a:t>
            </a:r>
            <a:r>
              <a:rPr lang="en-US" altLang="zh-CN" dirty="0"/>
              <a:t>IP</a:t>
            </a:r>
            <a:r>
              <a:rPr lang="zh-CN" altLang="en-US" dirty="0"/>
              <a:t>话机、手机、摄像头等。</a:t>
            </a:r>
            <a:endParaRPr lang="en-US" altLang="zh-CN" dirty="0"/>
          </a:p>
          <a:p>
            <a:r>
              <a:rPr lang="zh-CN" altLang="en-US" dirty="0"/>
              <a:t>接入层</a:t>
            </a:r>
          </a:p>
          <a:p>
            <a:pPr lvl="1"/>
            <a:r>
              <a:rPr lang="zh-CN" altLang="en-US" dirty="0"/>
              <a:t>接入层为用户提供各种接入方式，是终端接入网络的第一层。接入层通常由接入交换机组成，接入层交换机在网络中数量众多，安装位置分散，通常是简单的二层交换机。如果终端层存在无线终端设备，接入层需要无线接入点</a:t>
            </a:r>
            <a:r>
              <a:rPr lang="en-US" altLang="zh-CN" dirty="0"/>
              <a:t>AP</a:t>
            </a:r>
            <a:r>
              <a:rPr lang="zh-CN" altLang="en-US" dirty="0"/>
              <a:t>设备，</a:t>
            </a:r>
            <a:r>
              <a:rPr lang="en-US" altLang="zh-CN" dirty="0"/>
              <a:t>AP</a:t>
            </a:r>
            <a:r>
              <a:rPr lang="zh-CN" altLang="en-US" dirty="0"/>
              <a:t>设备通过接入交换机接入网络。</a:t>
            </a:r>
          </a:p>
          <a:p>
            <a:r>
              <a:rPr lang="zh-CN" altLang="en-US" dirty="0"/>
              <a:t>汇聚层</a:t>
            </a:r>
          </a:p>
          <a:p>
            <a:pPr lvl="1"/>
            <a:r>
              <a:rPr lang="zh-CN" altLang="en-US" dirty="0"/>
              <a:t>汇聚层是接入层与园区核心骨干网之间的网络分界线，主要用于转发用户间的“横向”流量，同时转发到核心层的“纵向”流量。汇聚层可作为部门或区域内部的交换核心，实现与区域或部门专用服务器区的连接。另外汇聚层还可以扩展接入终端的数量。</a:t>
            </a:r>
          </a:p>
          <a:p>
            <a:endParaRPr lang="zh-CN" altLang="en-US" dirty="0"/>
          </a:p>
        </p:txBody>
      </p:sp>
    </p:spTree>
    <p:extLst>
      <p:ext uri="{BB962C8B-B14F-4D97-AF65-F5344CB8AC3E}">
        <p14:creationId xmlns:p14="http://schemas.microsoft.com/office/powerpoint/2010/main" val="16775761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r>
              <a:rPr lang="zh-CN" altLang="en-US" dirty="0"/>
              <a:t>核心层</a:t>
            </a:r>
          </a:p>
          <a:p>
            <a:pPr lvl="1"/>
            <a:r>
              <a:rPr lang="zh-CN" altLang="en-US" dirty="0"/>
              <a:t>核心层是园区数据交换的核心，连接园区网的各个组成部分，如数据中心区、汇聚层、出口区等，核心层负责整个园区网络的高速互联。网络需要实现带宽的高利用率和网络故障的快速收敛，通常需要部署高性能的核心交换机，通常三个以上部门规模的园区网建议规划核心层。针对无线网络，核心层包括</a:t>
            </a:r>
            <a:r>
              <a:rPr lang="en-US" altLang="zh-CN" dirty="0"/>
              <a:t>AC</a:t>
            </a:r>
            <a:r>
              <a:rPr lang="zh-CN" altLang="en-US" dirty="0"/>
              <a:t>，无线终端通过</a:t>
            </a:r>
            <a:r>
              <a:rPr lang="en-US" altLang="zh-CN" dirty="0"/>
              <a:t>AP</a:t>
            </a:r>
            <a:r>
              <a:rPr lang="zh-CN" altLang="en-US" dirty="0"/>
              <a:t>接入网络后，</a:t>
            </a:r>
            <a:r>
              <a:rPr lang="en-US" altLang="zh-CN" dirty="0"/>
              <a:t>AP</a:t>
            </a:r>
            <a:r>
              <a:rPr lang="zh-CN" altLang="en-US" dirty="0"/>
              <a:t>通过</a:t>
            </a:r>
            <a:r>
              <a:rPr lang="en-US" altLang="zh-CN" dirty="0"/>
              <a:t>CAPWAP</a:t>
            </a:r>
            <a:r>
              <a:rPr lang="zh-CN" altLang="en-US" dirty="0"/>
              <a:t>隧道和</a:t>
            </a:r>
            <a:r>
              <a:rPr lang="en-US" altLang="zh-CN" dirty="0"/>
              <a:t>AC</a:t>
            </a:r>
            <a:r>
              <a:rPr lang="zh-CN" altLang="en-US" dirty="0"/>
              <a:t>建立通信机制。</a:t>
            </a:r>
          </a:p>
          <a:p>
            <a:r>
              <a:rPr lang="zh-CN" altLang="en-US" dirty="0"/>
              <a:t>出口区</a:t>
            </a:r>
          </a:p>
          <a:p>
            <a:pPr lvl="1"/>
            <a:r>
              <a:rPr lang="zh-CN" altLang="en-US" dirty="0"/>
              <a:t>园区出口是园区内部网络到外部网络的边界，内部用户通过出口区接入到外部网络，外部网络的用户通过出口区接入到内部网络。出口区一般需要部署出口路由器和防火墙。路由器解决内外网互通的问题，防火墙提供边界安全防护能力。</a:t>
            </a:r>
          </a:p>
          <a:p>
            <a:r>
              <a:rPr lang="zh-CN" altLang="en-US" dirty="0"/>
              <a:t>数据中心区</a:t>
            </a:r>
          </a:p>
          <a:p>
            <a:pPr lvl="1"/>
            <a:r>
              <a:rPr lang="zh-CN" altLang="en-US" dirty="0"/>
              <a:t>数据中心区是管理业务服务器（例如文件服务器、邮件服务器等）的区域，为企业内部和外部用户提供业务服务。</a:t>
            </a:r>
          </a:p>
          <a:p>
            <a:r>
              <a:rPr lang="zh-CN" altLang="en-US" dirty="0"/>
              <a:t>管理运维区</a:t>
            </a:r>
          </a:p>
          <a:p>
            <a:pPr lvl="1"/>
            <a:r>
              <a:rPr lang="zh-CN" altLang="en-US" dirty="0"/>
              <a:t>管理运维区是管理网络服务器（例如网管系统、认证服务器等）的区域。传统的网管系统通过</a:t>
            </a:r>
            <a:r>
              <a:rPr lang="en-US" altLang="zh-CN" dirty="0"/>
              <a:t>SNMP</a:t>
            </a:r>
            <a:r>
              <a:rPr lang="zh-CN" altLang="en-US" dirty="0"/>
              <a:t>（</a:t>
            </a:r>
            <a:r>
              <a:rPr lang="en-US" altLang="zh-CN" dirty="0"/>
              <a:t>Simple Network Management Protocol</a:t>
            </a:r>
            <a:r>
              <a:rPr lang="zh-CN" altLang="en-US" dirty="0"/>
              <a:t>，简单网络管理协议）和网络设备交互，能够提供配置、管理和维护功能，例如网络拓扑和端口的显示管理、网络设备的配置管理、网络故障诊断和告警、网络性能和状态分析等。</a:t>
            </a:r>
            <a:r>
              <a:rPr lang="en-US" altLang="zh-CN" dirty="0"/>
              <a:t>CloudCampus</a:t>
            </a:r>
            <a:r>
              <a:rPr lang="zh-CN" altLang="en-US" dirty="0"/>
              <a:t>解决方案，基于</a:t>
            </a:r>
            <a:r>
              <a:rPr lang="en-US" altLang="zh-CN" dirty="0"/>
              <a:t>NETCONF</a:t>
            </a:r>
            <a:r>
              <a:rPr lang="zh-CN" altLang="en-US" dirty="0"/>
              <a:t>和</a:t>
            </a:r>
            <a:r>
              <a:rPr lang="en-US" altLang="zh-CN" dirty="0"/>
              <a:t>Telemetry</a:t>
            </a:r>
            <a:r>
              <a:rPr lang="zh-CN" altLang="en-US" dirty="0"/>
              <a:t>协议对网络进行智能运维。</a:t>
            </a:r>
          </a:p>
          <a:p>
            <a:r>
              <a:rPr lang="zh-CN" altLang="en-US" dirty="0"/>
              <a:t>此外，园区中可能还会有</a:t>
            </a:r>
            <a:r>
              <a:rPr lang="en-US" altLang="zh-CN" dirty="0"/>
              <a:t>DMZ</a:t>
            </a:r>
            <a:r>
              <a:rPr lang="zh-CN" altLang="en-US" dirty="0"/>
              <a:t>（</a:t>
            </a:r>
            <a:r>
              <a:rPr lang="en-US" altLang="zh-CN" dirty="0"/>
              <a:t>Demilitarized Zone</a:t>
            </a:r>
            <a:r>
              <a:rPr lang="zh-CN" altLang="en-US" dirty="0"/>
              <a:t>，半信任区），</a:t>
            </a:r>
            <a:r>
              <a:rPr lang="en-US" altLang="zh-CN" dirty="0"/>
              <a:t>DMZ</a:t>
            </a:r>
            <a:r>
              <a:rPr lang="zh-CN" altLang="en-US" dirty="0"/>
              <a:t>为外部访客（非企业员工）提供访问业务，通常将公用服务器部署在该区域，其安全性受到严格控制。</a:t>
            </a:r>
          </a:p>
          <a:p>
            <a:endParaRPr lang="zh-CN" altLang="en-US" dirty="0"/>
          </a:p>
        </p:txBody>
      </p:sp>
    </p:spTree>
    <p:extLst>
      <p:ext uri="{BB962C8B-B14F-4D97-AF65-F5344CB8AC3E}">
        <p14:creationId xmlns:p14="http://schemas.microsoft.com/office/powerpoint/2010/main" val="33453716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层次化设计：</a:t>
            </a:r>
            <a:endParaRPr lang="en-US" altLang="zh-CN" dirty="0"/>
          </a:p>
          <a:p>
            <a:pPr lvl="1"/>
            <a:r>
              <a:rPr lang="zh-CN" altLang="en-US" dirty="0"/>
              <a:t>每层可以看作为是园区网内一个具有特定角色和功能的、结构定义良好的模块，层次化的设计结构，易于扩展和维护，降低了设计的复杂度和难度。</a:t>
            </a:r>
          </a:p>
          <a:p>
            <a:r>
              <a:rPr lang="zh-CN" altLang="en-US" dirty="0"/>
              <a:t>模块化设计：</a:t>
            </a:r>
            <a:endParaRPr lang="en-US" altLang="zh-CN" dirty="0"/>
          </a:p>
          <a:p>
            <a:pPr lvl="1"/>
            <a:r>
              <a:rPr lang="zh-CN" altLang="en-US" dirty="0"/>
              <a:t>每个模块对应一个部门、功能或业务区域，可根据网络规模灵活扩展，部门或区域内部调整涉及范围小，容易进行问题定位。</a:t>
            </a:r>
          </a:p>
          <a:p>
            <a:r>
              <a:rPr lang="zh-CN" altLang="en-US" dirty="0"/>
              <a:t>冗余设计：</a:t>
            </a:r>
            <a:endParaRPr lang="en-US" altLang="zh-CN" dirty="0"/>
          </a:p>
          <a:p>
            <a:pPr lvl="1"/>
            <a:r>
              <a:rPr lang="zh-CN" altLang="en-US" dirty="0"/>
              <a:t>双节点冗余性设计可以保证设备级可靠，适当的冗余提高可靠性，但过度的冗余也不便于运行维护。如果无法实现双节点冗余设计，对框式的核心交换机或者出口路由器，可以考虑单板级的冗余，如双主控板，双交换网板。另外，关键链路可以采用</a:t>
            </a:r>
            <a:r>
              <a:rPr lang="en-US" altLang="zh-CN" dirty="0"/>
              <a:t>Eth-Trunk</a:t>
            </a:r>
            <a:r>
              <a:rPr lang="zh-CN" altLang="en-US" dirty="0"/>
              <a:t>链路实现链路级可靠性。</a:t>
            </a:r>
          </a:p>
          <a:p>
            <a:r>
              <a:rPr lang="zh-CN" altLang="en-US" dirty="0"/>
              <a:t>对称性设计：</a:t>
            </a:r>
            <a:endParaRPr lang="en-US" altLang="zh-CN" dirty="0"/>
          </a:p>
          <a:p>
            <a:pPr lvl="1"/>
            <a:r>
              <a:rPr lang="zh-CN" altLang="en-US" dirty="0"/>
              <a:t>网络的对称性便于业务部署，拓扑直观，便于协议设计和分析。</a:t>
            </a:r>
          </a:p>
          <a:p>
            <a:endParaRPr lang="zh-CN" altLang="en-US" dirty="0"/>
          </a:p>
        </p:txBody>
      </p:sp>
    </p:spTree>
    <p:extLst>
      <p:ext uri="{BB962C8B-B14F-4D97-AF65-F5344CB8AC3E}">
        <p14:creationId xmlns:p14="http://schemas.microsoft.com/office/powerpoint/2010/main" val="4508576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通用基层架构分层模型设计方法：</a:t>
            </a:r>
            <a:endParaRPr lang="en-US" altLang="zh-CN" dirty="0"/>
          </a:p>
          <a:p>
            <a:pPr marL="588600" lvl="1" indent="-228600">
              <a:buFont typeface="+mj-lt"/>
              <a:buAutoNum type="arabicPeriod"/>
            </a:pPr>
            <a:r>
              <a:rPr lang="zh-CN" altLang="zh-CN" dirty="0"/>
              <a:t>根据网络规模确定接入交换机的</a:t>
            </a:r>
            <a:r>
              <a:rPr lang="zh-CN" altLang="en-US" dirty="0"/>
              <a:t>接</a:t>
            </a:r>
            <a:r>
              <a:rPr lang="zh-CN" altLang="zh-CN" dirty="0"/>
              <a:t>口数量，一般情况下，假设一个</a:t>
            </a:r>
            <a:r>
              <a:rPr lang="zh-CN" altLang="en-US" dirty="0"/>
              <a:t>接</a:t>
            </a:r>
            <a:r>
              <a:rPr lang="zh-CN" altLang="zh-CN" dirty="0"/>
              <a:t>口对应一个终端或一个网络接入点（如无线</a:t>
            </a:r>
            <a:r>
              <a:rPr lang="en-US" altLang="zh-CN" dirty="0"/>
              <a:t>AP</a:t>
            </a:r>
            <a:r>
              <a:rPr lang="zh-CN" altLang="zh-CN" dirty="0"/>
              <a:t>）。</a:t>
            </a:r>
          </a:p>
          <a:p>
            <a:pPr marL="588600" lvl="1" indent="-228600">
              <a:buFont typeface="+mj-lt"/>
              <a:buAutoNum type="arabicPeriod"/>
            </a:pPr>
            <a:r>
              <a:rPr lang="zh-CN" altLang="zh-CN" dirty="0"/>
              <a:t>根据终端网卡的接口速率初步确定交换机。</a:t>
            </a:r>
          </a:p>
          <a:p>
            <a:pPr marL="588600" lvl="1" indent="-228600">
              <a:buFont typeface="+mj-lt"/>
              <a:buAutoNum type="arabicPeriod"/>
            </a:pPr>
            <a:r>
              <a:rPr lang="zh-CN" altLang="zh-CN" dirty="0"/>
              <a:t>计算接入交换机数量，接入交换机数量</a:t>
            </a:r>
            <a:r>
              <a:rPr lang="en-US" altLang="zh-CN" dirty="0"/>
              <a:t>=</a:t>
            </a:r>
            <a:r>
              <a:rPr lang="zh-CN" altLang="zh-CN" dirty="0"/>
              <a:t>【接入</a:t>
            </a:r>
            <a:r>
              <a:rPr lang="zh-CN" altLang="en-US" dirty="0"/>
              <a:t>接</a:t>
            </a:r>
            <a:r>
              <a:rPr lang="zh-CN" altLang="zh-CN" dirty="0"/>
              <a:t>口数量÷接入交换机的下行</a:t>
            </a:r>
            <a:r>
              <a:rPr lang="zh-CN" altLang="en-US" dirty="0"/>
              <a:t>接口数量</a:t>
            </a:r>
            <a:r>
              <a:rPr lang="zh-CN" altLang="zh-CN" dirty="0"/>
              <a:t>】。如果数量大于</a:t>
            </a:r>
            <a:r>
              <a:rPr lang="en-US" altLang="zh-CN" dirty="0"/>
              <a:t>1</a:t>
            </a:r>
            <a:r>
              <a:rPr lang="zh-CN" altLang="zh-CN" dirty="0"/>
              <a:t>，继续选择汇聚交换机；否则就可以采用</a:t>
            </a:r>
            <a:r>
              <a:rPr lang="zh-CN" altLang="en-US" dirty="0"/>
              <a:t>一</a:t>
            </a:r>
            <a:r>
              <a:rPr lang="zh-CN" altLang="zh-CN" dirty="0"/>
              <a:t>层架构。</a:t>
            </a:r>
          </a:p>
          <a:p>
            <a:pPr marL="588600" lvl="1" indent="-228600">
              <a:buFont typeface="+mj-lt"/>
              <a:buAutoNum type="arabicPeriod"/>
            </a:pPr>
            <a:r>
              <a:rPr lang="zh-CN" altLang="zh-CN" dirty="0"/>
              <a:t>根据接入交换机的上行</a:t>
            </a:r>
            <a:r>
              <a:rPr lang="zh-CN" altLang="en-US" dirty="0"/>
              <a:t>接</a:t>
            </a:r>
            <a:r>
              <a:rPr lang="zh-CN" altLang="zh-CN" dirty="0"/>
              <a:t>口速率选择汇聚交换机。</a:t>
            </a:r>
          </a:p>
          <a:p>
            <a:pPr marL="588600" lvl="1" indent="-228600">
              <a:buFont typeface="+mj-lt"/>
              <a:buAutoNum type="arabicPeriod"/>
            </a:pPr>
            <a:r>
              <a:rPr lang="zh-CN" altLang="zh-CN" dirty="0"/>
              <a:t>计算接入交换机的上行</a:t>
            </a:r>
            <a:r>
              <a:rPr lang="zh-CN" altLang="en-US" dirty="0"/>
              <a:t>链</a:t>
            </a:r>
            <a:r>
              <a:rPr lang="zh-CN" altLang="zh-CN" dirty="0"/>
              <a:t>路数量，有如下两种计算方法：</a:t>
            </a:r>
          </a:p>
          <a:p>
            <a:pPr lvl="2"/>
            <a:r>
              <a:rPr lang="zh-CN" altLang="zh-CN" dirty="0"/>
              <a:t>根据网络带宽计算：上行</a:t>
            </a:r>
            <a:r>
              <a:rPr lang="zh-CN" altLang="en-US" dirty="0"/>
              <a:t>链路</a:t>
            </a:r>
            <a:r>
              <a:rPr lang="zh-CN" altLang="zh-CN" dirty="0"/>
              <a:t>数量</a:t>
            </a:r>
            <a:r>
              <a:rPr lang="en-US" altLang="zh-CN" dirty="0"/>
              <a:t>=</a:t>
            </a:r>
            <a:r>
              <a:rPr lang="zh-CN" altLang="zh-CN" dirty="0"/>
              <a:t>【网络带宽÷接入交换机的上行</a:t>
            </a:r>
            <a:r>
              <a:rPr lang="zh-CN" altLang="en-US" dirty="0"/>
              <a:t>接</a:t>
            </a:r>
            <a:r>
              <a:rPr lang="zh-CN" altLang="zh-CN" dirty="0"/>
              <a:t>口速率】</a:t>
            </a:r>
          </a:p>
          <a:p>
            <a:pPr lvl="2"/>
            <a:r>
              <a:rPr lang="zh-CN" altLang="zh-CN" dirty="0"/>
              <a:t>根据网络规模计算：上行</a:t>
            </a:r>
            <a:r>
              <a:rPr lang="zh-CN" altLang="en-US" dirty="0"/>
              <a:t>链路</a:t>
            </a:r>
            <a:r>
              <a:rPr lang="zh-CN" altLang="zh-CN" dirty="0"/>
              <a:t>数量</a:t>
            </a:r>
            <a:r>
              <a:rPr lang="en-US" altLang="zh-CN" dirty="0"/>
              <a:t>=</a:t>
            </a:r>
            <a:r>
              <a:rPr lang="zh-CN" altLang="zh-CN" dirty="0"/>
              <a:t>【接入</a:t>
            </a:r>
            <a:r>
              <a:rPr lang="zh-CN" altLang="en-US" dirty="0"/>
              <a:t>接</a:t>
            </a:r>
            <a:r>
              <a:rPr lang="zh-CN" altLang="zh-CN" dirty="0"/>
              <a:t>口数量</a:t>
            </a:r>
            <a:r>
              <a:rPr lang="zh-CN" altLang="en-US" dirty="0">
                <a:sym typeface="Huawei Sans" panose="020C0503030203020204" pitchFamily="34" charset="0"/>
              </a:rPr>
              <a:t>（终端数量）</a:t>
            </a:r>
            <a:r>
              <a:rPr lang="en-US" altLang="zh-CN" dirty="0"/>
              <a:t>x</a:t>
            </a:r>
            <a:r>
              <a:rPr lang="zh-CN" altLang="zh-CN" dirty="0"/>
              <a:t>接入</a:t>
            </a:r>
            <a:r>
              <a:rPr lang="zh-CN" altLang="en-US" dirty="0"/>
              <a:t>接</a:t>
            </a:r>
            <a:r>
              <a:rPr lang="zh-CN" altLang="zh-CN" dirty="0"/>
              <a:t>口速率</a:t>
            </a:r>
            <a:r>
              <a:rPr lang="en-US" altLang="zh-CN" dirty="0"/>
              <a:t>x</a:t>
            </a:r>
            <a:r>
              <a:rPr lang="zh-CN" altLang="zh-CN" dirty="0"/>
              <a:t>带宽收敛比÷接入交换机的上行</a:t>
            </a:r>
            <a:r>
              <a:rPr lang="zh-CN" altLang="en-US" dirty="0"/>
              <a:t>接</a:t>
            </a:r>
            <a:r>
              <a:rPr lang="zh-CN" altLang="zh-CN" dirty="0"/>
              <a:t>口速率】</a:t>
            </a:r>
          </a:p>
          <a:p>
            <a:pPr marL="588600" lvl="1" indent="-228600">
              <a:buFont typeface="+mj-lt"/>
              <a:buAutoNum type="arabicPeriod"/>
            </a:pPr>
            <a:r>
              <a:rPr lang="zh-CN" altLang="zh-CN" dirty="0"/>
              <a:t>计算汇聚交换机数量，汇聚交换机数量</a:t>
            </a:r>
            <a:r>
              <a:rPr lang="en-US" altLang="zh-CN" dirty="0"/>
              <a:t>=</a:t>
            </a:r>
            <a:r>
              <a:rPr lang="zh-CN" altLang="zh-CN" dirty="0"/>
              <a:t>【接入交换机的上行</a:t>
            </a:r>
            <a:r>
              <a:rPr lang="zh-CN" altLang="en-US" dirty="0"/>
              <a:t>链路</a:t>
            </a:r>
            <a:r>
              <a:rPr lang="zh-CN" altLang="zh-CN" dirty="0"/>
              <a:t>数量÷汇聚交换机的下行</a:t>
            </a:r>
            <a:r>
              <a:rPr lang="zh-CN" altLang="en-US" dirty="0"/>
              <a:t>接</a:t>
            </a:r>
            <a:r>
              <a:rPr lang="zh-CN" altLang="zh-CN" dirty="0"/>
              <a:t>口</a:t>
            </a:r>
            <a:r>
              <a:rPr lang="zh-CN" altLang="en-US" dirty="0"/>
              <a:t>数量</a:t>
            </a:r>
            <a:r>
              <a:rPr lang="zh-CN" altLang="zh-CN" dirty="0"/>
              <a:t>】。如果数量大于</a:t>
            </a:r>
            <a:r>
              <a:rPr lang="en-US" altLang="zh-CN" dirty="0"/>
              <a:t>1</a:t>
            </a:r>
            <a:r>
              <a:rPr lang="zh-CN" altLang="zh-CN" dirty="0"/>
              <a:t>，采用三层架构；否则可以采用两层架构。</a:t>
            </a:r>
          </a:p>
        </p:txBody>
      </p:sp>
      <p:sp>
        <p:nvSpPr>
          <p:cNvPr id="4" name="幻灯片图像占位符 3"/>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2574113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0"/>
            <a:r>
              <a:rPr lang="zh-CN" altLang="en-US" dirty="0"/>
              <a:t>说明：</a:t>
            </a:r>
            <a:endParaRPr lang="en-US" altLang="zh-CN" dirty="0"/>
          </a:p>
          <a:p>
            <a:pPr lvl="1"/>
            <a:r>
              <a:rPr lang="zh-CN" altLang="zh-CN" dirty="0"/>
              <a:t>上面计算方法中的“【】”表示计算结果</a:t>
            </a:r>
            <a:r>
              <a:rPr lang="zh-CN" altLang="en-US" dirty="0"/>
              <a:t>向上取整。</a:t>
            </a:r>
            <a:endParaRPr lang="en-US" altLang="zh-CN" dirty="0"/>
          </a:p>
          <a:p>
            <a:pPr lvl="1"/>
            <a:r>
              <a:rPr lang="zh-CN" altLang="en-US" dirty="0"/>
              <a:t>带宽收敛比</a:t>
            </a:r>
            <a:r>
              <a:rPr lang="en-US" altLang="zh-CN" dirty="0"/>
              <a:t>=</a:t>
            </a:r>
            <a:r>
              <a:rPr lang="zh-CN" altLang="en-US" dirty="0"/>
              <a:t>某一业务的下行实际可能带宽</a:t>
            </a:r>
            <a:r>
              <a:rPr lang="en-US" altLang="zh-CN" dirty="0"/>
              <a:t>/</a:t>
            </a:r>
            <a:r>
              <a:rPr lang="zh-CN" altLang="en-US" dirty="0"/>
              <a:t>单台交换机提供的物理最大带宽</a:t>
            </a:r>
            <a:endParaRPr lang="en-US" altLang="zh-CN" dirty="0"/>
          </a:p>
          <a:p>
            <a:pPr lvl="2"/>
            <a:r>
              <a:rPr lang="zh-CN" altLang="en-US" dirty="0"/>
              <a:t>理论上该业务的流量存在将物理最大带宽耗尽的可能，但是一般情况下，这种概率较低。通常在网络规划时，聚焦的是日常情况下的业务体验，即在满足实际可能带宽的情况下，设计一定的带宽冗余量。</a:t>
            </a:r>
            <a:endParaRPr lang="en-US" altLang="zh-CN" dirty="0"/>
          </a:p>
          <a:p>
            <a:pPr lvl="2"/>
            <a:r>
              <a:rPr lang="zh-CN" altLang="en-US" dirty="0"/>
              <a:t>在进行网络流量收敛设计之前，我们需要了解网络中需要部署的业务应用及其特性，明确网络业务和流量模型。综合考虑流量的大小、比例，来制定合适的收敛比和选择相应的设备。</a:t>
            </a:r>
            <a:endParaRPr lang="en-US" altLang="zh-CN" dirty="0"/>
          </a:p>
        </p:txBody>
      </p:sp>
    </p:spTree>
    <p:extLst>
      <p:ext uri="{BB962C8B-B14F-4D97-AF65-F5344CB8AC3E}">
        <p14:creationId xmlns:p14="http://schemas.microsoft.com/office/powerpoint/2010/main" val="20086383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006677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730947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业务</a:t>
            </a:r>
            <a:r>
              <a:rPr lang="en-US" altLang="zh-CN" dirty="0"/>
              <a:t>VLAN</a:t>
            </a:r>
            <a:r>
              <a:rPr lang="zh-CN" altLang="en-US" dirty="0"/>
              <a:t>：</a:t>
            </a:r>
            <a:endParaRPr lang="en-US" altLang="zh-CN" dirty="0"/>
          </a:p>
          <a:p>
            <a:pPr lvl="1"/>
            <a:r>
              <a:rPr lang="zh-CN" altLang="en-US" dirty="0"/>
              <a:t>通常可以按照逻辑区域、地理区域、人员结构和业务类型分层规划</a:t>
            </a:r>
            <a:r>
              <a:rPr lang="en-US" altLang="zh-CN" dirty="0"/>
              <a:t>VLAN</a:t>
            </a:r>
            <a:r>
              <a:rPr lang="zh-CN" altLang="en-US" dirty="0"/>
              <a:t>。</a:t>
            </a:r>
          </a:p>
          <a:p>
            <a:pPr lvl="2"/>
            <a:r>
              <a:rPr lang="zh-CN" altLang="en-US" dirty="0"/>
              <a:t>按照逻辑区域划分</a:t>
            </a:r>
            <a:r>
              <a:rPr lang="en-US" altLang="zh-CN" dirty="0"/>
              <a:t>VLAN</a:t>
            </a:r>
            <a:r>
              <a:rPr lang="zh-CN" altLang="en-US" dirty="0"/>
              <a:t>，如核心网络区使用</a:t>
            </a:r>
            <a:r>
              <a:rPr lang="en-US" altLang="zh-CN" dirty="0"/>
              <a:t>VLAN100</a:t>
            </a:r>
            <a:r>
              <a:rPr lang="zh-CN" altLang="en-US" dirty="0"/>
              <a:t>～</a:t>
            </a:r>
            <a:r>
              <a:rPr lang="en-US" altLang="zh-CN" dirty="0"/>
              <a:t>VLAN199</a:t>
            </a:r>
            <a:r>
              <a:rPr lang="zh-CN" altLang="en-US" dirty="0"/>
              <a:t>，服务器区使用</a:t>
            </a:r>
            <a:r>
              <a:rPr lang="en-US" altLang="zh-CN" dirty="0"/>
              <a:t>VLAN200</a:t>
            </a:r>
            <a:r>
              <a:rPr lang="zh-CN" altLang="en-US" dirty="0"/>
              <a:t>～</a:t>
            </a:r>
            <a:r>
              <a:rPr lang="en-US" altLang="zh-CN" dirty="0"/>
              <a:t>VLAN999</a:t>
            </a:r>
            <a:r>
              <a:rPr lang="zh-CN" altLang="en-US" dirty="0"/>
              <a:t>，接入网络使用</a:t>
            </a:r>
            <a:r>
              <a:rPr lang="en-US" altLang="zh-CN" dirty="0"/>
              <a:t>VLAN2000</a:t>
            </a:r>
            <a:r>
              <a:rPr lang="zh-CN" altLang="en-US" dirty="0"/>
              <a:t>～</a:t>
            </a:r>
            <a:r>
              <a:rPr lang="en-US" altLang="zh-CN" dirty="0"/>
              <a:t>VLAN3499</a:t>
            </a:r>
            <a:r>
              <a:rPr lang="zh-CN" altLang="en-US" dirty="0"/>
              <a:t>。</a:t>
            </a:r>
          </a:p>
          <a:p>
            <a:pPr lvl="2"/>
            <a:r>
              <a:rPr lang="zh-CN" altLang="en-US" dirty="0"/>
              <a:t>按照地理区域划分</a:t>
            </a:r>
            <a:r>
              <a:rPr lang="en-US" altLang="zh-CN" dirty="0"/>
              <a:t>VLAN</a:t>
            </a:r>
            <a:r>
              <a:rPr lang="zh-CN" altLang="en-US" dirty="0"/>
              <a:t>，如区域</a:t>
            </a:r>
            <a:r>
              <a:rPr lang="en-US" altLang="zh-CN" dirty="0"/>
              <a:t>A</a:t>
            </a:r>
            <a:r>
              <a:rPr lang="zh-CN" altLang="en-US" dirty="0"/>
              <a:t>使用</a:t>
            </a:r>
            <a:r>
              <a:rPr lang="en-US" altLang="zh-CN" dirty="0"/>
              <a:t>VLAN2000</a:t>
            </a:r>
            <a:r>
              <a:rPr lang="zh-CN" altLang="en-US" dirty="0"/>
              <a:t>～</a:t>
            </a:r>
            <a:r>
              <a:rPr lang="en-US" altLang="zh-CN" dirty="0"/>
              <a:t>VLAN2199</a:t>
            </a:r>
            <a:r>
              <a:rPr lang="zh-CN" altLang="en-US" dirty="0"/>
              <a:t>，区域</a:t>
            </a:r>
            <a:r>
              <a:rPr lang="en-US" altLang="zh-CN" dirty="0"/>
              <a:t>B</a:t>
            </a:r>
            <a:r>
              <a:rPr lang="zh-CN" altLang="en-US" dirty="0"/>
              <a:t>使用</a:t>
            </a:r>
            <a:r>
              <a:rPr lang="en-US" altLang="zh-CN" dirty="0"/>
              <a:t>VLAN2200</a:t>
            </a:r>
            <a:r>
              <a:rPr lang="zh-CN" altLang="en-US" dirty="0"/>
              <a:t>～</a:t>
            </a:r>
            <a:r>
              <a:rPr lang="en-US" altLang="zh-CN" dirty="0"/>
              <a:t>VLAN2399</a:t>
            </a:r>
            <a:r>
              <a:rPr lang="zh-CN" altLang="en-US" dirty="0"/>
              <a:t>。</a:t>
            </a:r>
          </a:p>
          <a:p>
            <a:pPr lvl="2"/>
            <a:r>
              <a:rPr lang="zh-CN" altLang="en-US" dirty="0"/>
              <a:t>按照人员结构划分</a:t>
            </a:r>
            <a:r>
              <a:rPr lang="en-US" altLang="zh-CN" dirty="0"/>
              <a:t>VLAN</a:t>
            </a:r>
            <a:r>
              <a:rPr lang="zh-CN" altLang="en-US" dirty="0"/>
              <a:t>，如</a:t>
            </a:r>
            <a:r>
              <a:rPr lang="en-US" altLang="zh-CN" dirty="0"/>
              <a:t>A</a:t>
            </a:r>
            <a:r>
              <a:rPr lang="zh-CN" altLang="en-US" dirty="0"/>
              <a:t>部门使用</a:t>
            </a:r>
            <a:r>
              <a:rPr lang="en-US" altLang="zh-CN" dirty="0"/>
              <a:t>VLAN2000</a:t>
            </a:r>
            <a:r>
              <a:rPr lang="zh-CN" altLang="en-US" dirty="0"/>
              <a:t>～</a:t>
            </a:r>
            <a:r>
              <a:rPr lang="en-US" altLang="zh-CN" dirty="0"/>
              <a:t>VLAN2009</a:t>
            </a:r>
            <a:r>
              <a:rPr lang="zh-CN" altLang="en-US" dirty="0"/>
              <a:t>，</a:t>
            </a:r>
            <a:r>
              <a:rPr lang="en-US" altLang="zh-CN" dirty="0"/>
              <a:t>B</a:t>
            </a:r>
            <a:r>
              <a:rPr lang="zh-CN" altLang="en-US" dirty="0"/>
              <a:t>部门使用</a:t>
            </a:r>
            <a:r>
              <a:rPr lang="en-US" altLang="zh-CN" dirty="0"/>
              <a:t>VLAN2010</a:t>
            </a:r>
            <a:r>
              <a:rPr lang="zh-CN" altLang="en-US" dirty="0"/>
              <a:t>～</a:t>
            </a:r>
            <a:r>
              <a:rPr lang="en-US" altLang="zh-CN" dirty="0"/>
              <a:t>VLAN2019</a:t>
            </a:r>
            <a:r>
              <a:rPr lang="zh-CN" altLang="en-US" dirty="0"/>
              <a:t>。</a:t>
            </a:r>
          </a:p>
          <a:p>
            <a:pPr lvl="2"/>
            <a:r>
              <a:rPr lang="zh-CN" altLang="en-US" dirty="0"/>
              <a:t>按照业务类型划分</a:t>
            </a:r>
            <a:r>
              <a:rPr lang="en-US" altLang="zh-CN" dirty="0"/>
              <a:t>VLAN</a:t>
            </a:r>
            <a:r>
              <a:rPr lang="zh-CN" altLang="en-US" dirty="0"/>
              <a:t>，如</a:t>
            </a:r>
            <a:r>
              <a:rPr lang="en-US" altLang="zh-CN" dirty="0"/>
              <a:t>Web</a:t>
            </a:r>
            <a:r>
              <a:rPr lang="zh-CN" altLang="en-US" dirty="0"/>
              <a:t>服务器区域使用</a:t>
            </a:r>
            <a:r>
              <a:rPr lang="en-US" altLang="zh-CN" dirty="0"/>
              <a:t>VLAN200</a:t>
            </a:r>
            <a:r>
              <a:rPr lang="zh-CN" altLang="en-US" dirty="0"/>
              <a:t>～</a:t>
            </a:r>
            <a:r>
              <a:rPr lang="en-US" altLang="zh-CN" dirty="0"/>
              <a:t>VLAN299</a:t>
            </a:r>
            <a:r>
              <a:rPr lang="zh-CN" altLang="en-US" dirty="0"/>
              <a:t>，</a:t>
            </a:r>
            <a:r>
              <a:rPr lang="en-US" altLang="zh-CN" dirty="0"/>
              <a:t>APP</a:t>
            </a:r>
            <a:r>
              <a:rPr lang="zh-CN" altLang="en-US" dirty="0"/>
              <a:t>服务器区域使用 </a:t>
            </a:r>
            <a:r>
              <a:rPr lang="en-US" altLang="zh-CN" dirty="0"/>
              <a:t>VLAN300</a:t>
            </a:r>
            <a:r>
              <a:rPr lang="zh-CN" altLang="en-US" dirty="0"/>
              <a:t>～</a:t>
            </a:r>
            <a:r>
              <a:rPr lang="en-US" altLang="zh-CN" dirty="0"/>
              <a:t>VLAN399</a:t>
            </a:r>
            <a:r>
              <a:rPr lang="zh-CN" altLang="en-US" dirty="0"/>
              <a:t>，</a:t>
            </a:r>
            <a:r>
              <a:rPr lang="en-US" altLang="zh-CN" dirty="0"/>
              <a:t>DB</a:t>
            </a:r>
            <a:r>
              <a:rPr lang="zh-CN" altLang="en-US" dirty="0"/>
              <a:t>服务器区域使用</a:t>
            </a:r>
            <a:r>
              <a:rPr lang="en-US" altLang="zh-CN" dirty="0"/>
              <a:t>VLAN400</a:t>
            </a:r>
            <a:r>
              <a:rPr lang="zh-CN" altLang="en-US" dirty="0"/>
              <a:t>～</a:t>
            </a:r>
            <a:r>
              <a:rPr lang="en-US" altLang="zh-CN" dirty="0"/>
              <a:t>VLAN499</a:t>
            </a:r>
            <a:r>
              <a:rPr lang="zh-CN" altLang="en-US" dirty="0"/>
              <a:t>。</a:t>
            </a:r>
          </a:p>
          <a:p>
            <a:pPr lvl="1"/>
            <a:r>
              <a:rPr lang="zh-CN" altLang="en-US" dirty="0"/>
              <a:t>如用户对语音的时延比较敏感，需要优先保证语音，建议针对语音业务规划</a:t>
            </a:r>
            <a:r>
              <a:rPr lang="en-US" altLang="zh-CN" dirty="0"/>
              <a:t>Voice VLAN</a:t>
            </a:r>
            <a:r>
              <a:rPr lang="zh-CN" altLang="en-US" dirty="0"/>
              <a:t>功能，华为交换机可以自动识别语音流，将语音流加入到</a:t>
            </a:r>
            <a:r>
              <a:rPr lang="en-US" altLang="zh-CN" dirty="0"/>
              <a:t>Voice VLAN</a:t>
            </a:r>
            <a:r>
              <a:rPr lang="zh-CN" altLang="en-US" dirty="0"/>
              <a:t>中传输，并进行有针对性的</a:t>
            </a:r>
            <a:r>
              <a:rPr lang="en-US" altLang="zh-CN" dirty="0" err="1"/>
              <a:t>QoS</a:t>
            </a:r>
            <a:r>
              <a:rPr lang="zh-CN" altLang="en-US" dirty="0"/>
              <a:t>保障，当网络发生拥塞时可以优先保证语音流的传输。</a:t>
            </a:r>
          </a:p>
          <a:p>
            <a:pPr lvl="1"/>
            <a:r>
              <a:rPr lang="zh-CN" altLang="en-US" dirty="0"/>
              <a:t>如果不同的用户有相同的组播数据业务，建议规划组播</a:t>
            </a:r>
            <a:r>
              <a:rPr lang="en-US" altLang="zh-CN" dirty="0"/>
              <a:t>VLAN</a:t>
            </a:r>
            <a:r>
              <a:rPr lang="zh-CN" altLang="en-US" dirty="0"/>
              <a:t>，将用户</a:t>
            </a:r>
            <a:r>
              <a:rPr lang="en-US" altLang="zh-CN" dirty="0"/>
              <a:t>VLAN</a:t>
            </a:r>
            <a:r>
              <a:rPr lang="zh-CN" altLang="en-US" dirty="0"/>
              <a:t>和组播</a:t>
            </a:r>
            <a:r>
              <a:rPr lang="en-US" altLang="zh-CN" dirty="0"/>
              <a:t>VLAN</a:t>
            </a:r>
            <a:r>
              <a:rPr lang="zh-CN" altLang="en-US" dirty="0"/>
              <a:t>绑定，这样可以避免上游网关在多个用户</a:t>
            </a:r>
            <a:r>
              <a:rPr lang="en-US" altLang="zh-CN" dirty="0"/>
              <a:t>VLAN</a:t>
            </a:r>
            <a:r>
              <a:rPr lang="zh-CN" altLang="en-US" dirty="0"/>
              <a:t>复制组播数据流。</a:t>
            </a:r>
            <a:endParaRPr lang="en-US" altLang="zh-CN" dirty="0"/>
          </a:p>
          <a:p>
            <a:pPr lvl="1"/>
            <a:r>
              <a:rPr lang="zh-CN" altLang="en-US" dirty="0"/>
              <a:t>业务</a:t>
            </a:r>
            <a:r>
              <a:rPr lang="en-US" altLang="zh-CN" dirty="0"/>
              <a:t>VLAN</a:t>
            </a:r>
            <a:r>
              <a:rPr lang="zh-CN" altLang="en-US" dirty="0"/>
              <a:t>不建议采用</a:t>
            </a:r>
            <a:r>
              <a:rPr lang="en-US" altLang="zh-CN" dirty="0"/>
              <a:t>VLAN1</a:t>
            </a:r>
            <a:r>
              <a:rPr lang="zh-CN" altLang="en-US" dirty="0"/>
              <a:t>。</a:t>
            </a:r>
            <a:endParaRPr lang="en-US" altLang="zh-CN"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8066691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r>
              <a:rPr lang="zh-CN" altLang="en-US" dirty="0"/>
              <a:t>管理</a:t>
            </a:r>
            <a:r>
              <a:rPr lang="en-US" altLang="zh-CN" dirty="0"/>
              <a:t>VLAN</a:t>
            </a:r>
            <a:r>
              <a:rPr lang="zh-CN" altLang="en-US" dirty="0"/>
              <a:t>：</a:t>
            </a:r>
            <a:endParaRPr lang="en-US" altLang="zh-CN" dirty="0"/>
          </a:p>
          <a:p>
            <a:pPr lvl="1"/>
            <a:r>
              <a:rPr lang="zh-CN" altLang="en-US" dirty="0"/>
              <a:t>二层交换机建议规划管理</a:t>
            </a:r>
            <a:r>
              <a:rPr lang="en-US" altLang="zh-CN" dirty="0"/>
              <a:t>VLAN</a:t>
            </a:r>
            <a:r>
              <a:rPr lang="zh-CN" altLang="en-US" dirty="0"/>
              <a:t>，并将管理</a:t>
            </a:r>
            <a:r>
              <a:rPr lang="en-US" altLang="zh-CN" dirty="0"/>
              <a:t>VLAN</a:t>
            </a:r>
            <a:r>
              <a:rPr lang="zh-CN" altLang="en-US" dirty="0"/>
              <a:t>的</a:t>
            </a:r>
            <a:r>
              <a:rPr lang="en-US" altLang="zh-CN" dirty="0"/>
              <a:t>VLANIF</a:t>
            </a:r>
            <a:r>
              <a:rPr lang="zh-CN" altLang="en-US" dirty="0"/>
              <a:t>接口作为管理接口，网管设备通过该接口来管理交换机；建议所有二层交换机使用同一个管理</a:t>
            </a:r>
            <a:r>
              <a:rPr lang="en-US" altLang="zh-CN" dirty="0"/>
              <a:t>VLAN</a:t>
            </a:r>
            <a:r>
              <a:rPr lang="zh-CN" altLang="en-US" dirty="0"/>
              <a:t>。</a:t>
            </a:r>
          </a:p>
          <a:p>
            <a:pPr lvl="1"/>
            <a:r>
              <a:rPr lang="zh-CN" altLang="en-US" dirty="0"/>
              <a:t>三层设备（网关及以上设备）建议使用业务口作为管理接口，不需要专门规划管理</a:t>
            </a:r>
            <a:r>
              <a:rPr lang="en-US" altLang="zh-CN" dirty="0"/>
              <a:t>VLAN</a:t>
            </a:r>
            <a:r>
              <a:rPr lang="zh-CN" altLang="en-US" dirty="0"/>
              <a:t>。</a:t>
            </a:r>
            <a:endParaRPr lang="en-US" altLang="zh-CN" dirty="0"/>
          </a:p>
          <a:p>
            <a:r>
              <a:rPr lang="zh-CN" altLang="en-US" dirty="0"/>
              <a:t>互联</a:t>
            </a:r>
            <a:r>
              <a:rPr lang="en-US" altLang="zh-CN" dirty="0"/>
              <a:t>VLAN</a:t>
            </a:r>
            <a:r>
              <a:rPr lang="zh-CN" altLang="en-US" dirty="0"/>
              <a:t>：</a:t>
            </a:r>
            <a:endParaRPr lang="en-US" altLang="zh-CN" dirty="0"/>
          </a:p>
          <a:p>
            <a:pPr lvl="1"/>
            <a:r>
              <a:rPr lang="zh-CN" altLang="en-US" dirty="0"/>
              <a:t>互联</a:t>
            </a:r>
            <a:r>
              <a:rPr lang="en-US" altLang="zh-CN" dirty="0"/>
              <a:t>VLAN</a:t>
            </a:r>
            <a:r>
              <a:rPr lang="zh-CN" altLang="en-US" dirty="0"/>
              <a:t>一般用在两台三层交换机之间或三层交换机与路由器之间，创建</a:t>
            </a:r>
            <a:r>
              <a:rPr lang="en-US" altLang="zh-CN" dirty="0"/>
              <a:t>VLANIF</a:t>
            </a:r>
            <a:r>
              <a:rPr lang="zh-CN" altLang="en-US" dirty="0"/>
              <a:t>接口进行三层互联。</a:t>
            </a:r>
            <a:endParaRPr lang="en-US" altLang="zh-CN" dirty="0"/>
          </a:p>
          <a:p>
            <a:endParaRPr lang="zh-CN" altLang="en-US" dirty="0"/>
          </a:p>
        </p:txBody>
      </p:sp>
    </p:spTree>
    <p:extLst>
      <p:ext uri="{BB962C8B-B14F-4D97-AF65-F5344CB8AC3E}">
        <p14:creationId xmlns:p14="http://schemas.microsoft.com/office/powerpoint/2010/main" val="4172926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IP</a:t>
            </a:r>
            <a:r>
              <a:rPr lang="zh-CN" altLang="en-US" dirty="0"/>
              <a:t>地址的规划建议遵循如下原则：</a:t>
            </a:r>
            <a:endParaRPr lang="en-US" altLang="zh-CN" dirty="0"/>
          </a:p>
          <a:p>
            <a:pPr lvl="1"/>
            <a:r>
              <a:rPr lang="zh-CN" altLang="en-US" dirty="0"/>
              <a:t>唯一性：一个</a:t>
            </a:r>
            <a:r>
              <a:rPr lang="en-US" altLang="zh-CN" dirty="0"/>
              <a:t>IP</a:t>
            </a:r>
            <a:r>
              <a:rPr lang="zh-CN" altLang="en-US" dirty="0"/>
              <a:t>网络中不能有两个主机采用相同的</a:t>
            </a:r>
            <a:r>
              <a:rPr lang="en-US" altLang="zh-CN" dirty="0"/>
              <a:t>IP</a:t>
            </a:r>
            <a:r>
              <a:rPr lang="zh-CN" altLang="en-US" dirty="0"/>
              <a:t>地址。</a:t>
            </a:r>
            <a:endParaRPr lang="en-US" altLang="zh-CN" dirty="0"/>
          </a:p>
          <a:p>
            <a:pPr lvl="1"/>
            <a:r>
              <a:rPr lang="zh-CN" altLang="en-US" dirty="0"/>
              <a:t>连续性：同一业务的节点地址要连续，便于路由规划和汇总。连续的地址便于路由聚合，可以减小路由表的大小，加快路由计算和收敛速度。</a:t>
            </a:r>
            <a:endParaRPr lang="en-US" altLang="zh-CN" dirty="0"/>
          </a:p>
          <a:p>
            <a:pPr lvl="1"/>
            <a:r>
              <a:rPr lang="zh-CN" altLang="en-US" dirty="0"/>
              <a:t>扩展性：地址分配在每一层次上都要留有余量，在网络规模扩展时无需新增地址段及路由条目。</a:t>
            </a:r>
            <a:endParaRPr lang="en-US" altLang="zh-CN" dirty="0"/>
          </a:p>
          <a:p>
            <a:pPr lvl="1"/>
            <a:r>
              <a:rPr lang="zh-CN" altLang="en-US" dirty="0"/>
              <a:t>易维护：设备地址段、各业务地址段清晰区分，易于后续基于地址段实施统计监控、安全防护等策略。</a:t>
            </a:r>
            <a:r>
              <a:rPr lang="en-US" altLang="zh-CN" dirty="0"/>
              <a:t>IP</a:t>
            </a:r>
            <a:r>
              <a:rPr lang="zh-CN" altLang="en-US" dirty="0"/>
              <a:t>地址的规划也可以与</a:t>
            </a:r>
            <a:r>
              <a:rPr lang="en-US" altLang="zh-CN" dirty="0"/>
              <a:t>VLAN</a:t>
            </a:r>
            <a:r>
              <a:rPr lang="zh-CN" altLang="en-US" dirty="0"/>
              <a:t>的规划对应起来。</a:t>
            </a:r>
            <a:endParaRPr lang="en-US" altLang="zh-CN" dirty="0"/>
          </a:p>
          <a:p>
            <a:r>
              <a:rPr lang="zh-CN" altLang="en-US" dirty="0"/>
              <a:t>三类</a:t>
            </a:r>
            <a:r>
              <a:rPr lang="en-US" altLang="zh-CN" dirty="0"/>
              <a:t>IP</a:t>
            </a:r>
            <a:r>
              <a:rPr lang="zh-CN" altLang="en-US" dirty="0"/>
              <a:t>地址设计中其他注意点：</a:t>
            </a:r>
            <a:endParaRPr lang="en-US" altLang="zh-CN" dirty="0"/>
          </a:p>
          <a:p>
            <a:pPr lvl="1"/>
            <a:r>
              <a:rPr lang="zh-CN" altLang="zh-CN" dirty="0"/>
              <a:t>业务</a:t>
            </a:r>
            <a:r>
              <a:rPr lang="en-US" altLang="zh-CN" dirty="0"/>
              <a:t>IP</a:t>
            </a:r>
            <a:r>
              <a:rPr lang="zh-CN" altLang="zh-CN" dirty="0"/>
              <a:t>地址</a:t>
            </a:r>
            <a:r>
              <a:rPr lang="zh-CN" altLang="en-US" dirty="0"/>
              <a:t>：</a:t>
            </a:r>
            <a:r>
              <a:rPr lang="zh-CN" altLang="zh-CN" dirty="0"/>
              <a:t>考虑到广播域范围及规划的简易程度，建议为每个业务地址段预留掩码为</a:t>
            </a:r>
            <a:r>
              <a:rPr lang="en-US" altLang="zh-CN" dirty="0"/>
              <a:t>24</a:t>
            </a:r>
            <a:r>
              <a:rPr lang="zh-CN" altLang="zh-CN" dirty="0"/>
              <a:t>位的</a:t>
            </a:r>
            <a:r>
              <a:rPr lang="en-US" altLang="zh-CN" dirty="0"/>
              <a:t>IP</a:t>
            </a:r>
            <a:r>
              <a:rPr lang="zh-CN" altLang="zh-CN" dirty="0"/>
              <a:t>地址段，如果业务终端超出</a:t>
            </a:r>
            <a:r>
              <a:rPr lang="en-US" altLang="zh-CN" dirty="0"/>
              <a:t>200</a:t>
            </a:r>
            <a:r>
              <a:rPr lang="zh-CN" altLang="zh-CN" dirty="0"/>
              <a:t>个，再为其顺延一个掩码为</a:t>
            </a:r>
            <a:r>
              <a:rPr lang="en-US" altLang="zh-CN" dirty="0"/>
              <a:t>24</a:t>
            </a:r>
            <a:r>
              <a:rPr lang="zh-CN" altLang="zh-CN" dirty="0"/>
              <a:t>位的</a:t>
            </a:r>
            <a:r>
              <a:rPr lang="en-US" altLang="zh-CN" dirty="0"/>
              <a:t>IP</a:t>
            </a:r>
            <a:r>
              <a:rPr lang="zh-CN" altLang="zh-CN" dirty="0"/>
              <a:t>地址段。</a:t>
            </a:r>
            <a:endParaRPr lang="en-US" altLang="zh-CN" dirty="0"/>
          </a:p>
          <a:p>
            <a:pPr lvl="1"/>
            <a:r>
              <a:rPr lang="zh-CN" altLang="en-US" dirty="0"/>
              <a:t>管理</a:t>
            </a:r>
            <a:r>
              <a:rPr lang="en-US" altLang="zh-CN" dirty="0"/>
              <a:t>IP</a:t>
            </a:r>
            <a:r>
              <a:rPr lang="zh-CN" altLang="en-US" dirty="0"/>
              <a:t>地址：三层设备建议规划三层接口用于管理和开局，接口地址作为管理</a:t>
            </a:r>
            <a:r>
              <a:rPr lang="en-US" altLang="zh-CN" dirty="0"/>
              <a:t>IP</a:t>
            </a:r>
            <a:r>
              <a:rPr lang="zh-CN" altLang="en-US" dirty="0"/>
              <a:t>地址用于和控制器互通或者本地登录。</a:t>
            </a:r>
            <a:endParaRPr lang="en-US" altLang="zh-CN" dirty="0"/>
          </a:p>
          <a:p>
            <a:pPr lvl="1"/>
            <a:r>
              <a:rPr lang="zh-CN" altLang="en-US" dirty="0"/>
              <a:t>互联</a:t>
            </a:r>
            <a:r>
              <a:rPr lang="en-US" altLang="zh-CN" dirty="0"/>
              <a:t>IP</a:t>
            </a:r>
            <a:r>
              <a:rPr lang="zh-CN" altLang="en-US" dirty="0"/>
              <a:t>地址：互联地址通常要聚合后发布，在规划时要充分考虑使用连续的可聚合地址。</a:t>
            </a:r>
            <a:endParaRPr lang="en-US" altLang="zh-CN" dirty="0"/>
          </a:p>
          <a:p>
            <a:pPr lvl="0"/>
            <a:r>
              <a:rPr lang="zh-CN" altLang="en-US" dirty="0"/>
              <a:t>另外，如果是汇聚层和接入层设备互联场景，某些情况下需要规划策略联动</a:t>
            </a:r>
            <a:r>
              <a:rPr lang="en-US" altLang="zh-CN" dirty="0"/>
              <a:t>IP</a:t>
            </a:r>
            <a:r>
              <a:rPr lang="zh-CN" altLang="en-US" dirty="0"/>
              <a:t>地址，该</a:t>
            </a:r>
            <a:r>
              <a:rPr lang="en-US" altLang="zh-CN" dirty="0"/>
              <a:t>IP</a:t>
            </a:r>
            <a:r>
              <a:rPr lang="zh-CN" altLang="en-US" dirty="0"/>
              <a:t>地址要根据</a:t>
            </a:r>
            <a:r>
              <a:rPr lang="en-US" altLang="zh-CN" dirty="0"/>
              <a:t>CloudCampus</a:t>
            </a:r>
            <a:r>
              <a:rPr lang="zh-CN" altLang="en-US" dirty="0"/>
              <a:t>整网规划，不能与其他业务</a:t>
            </a:r>
            <a:r>
              <a:rPr lang="en-US" altLang="zh-CN" dirty="0"/>
              <a:t>IP</a:t>
            </a:r>
            <a:r>
              <a:rPr lang="zh-CN" altLang="en-US" dirty="0"/>
              <a:t>地址冲突。</a:t>
            </a:r>
            <a:endParaRPr lang="zh-CN"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4124922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6325243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4"/>
            <a:ext cx="5580062" cy="4985635"/>
          </a:xfrm>
        </p:spPr>
        <p:txBody>
          <a:bodyPr/>
          <a:lstStyle/>
          <a:p>
            <a:pPr>
              <a:lnSpc>
                <a:spcPct val="100000"/>
              </a:lnSpc>
            </a:pPr>
            <a:r>
              <a:rPr lang="zh-CN" altLang="en-US" dirty="0"/>
              <a:t>路由设计包括园区内部路由和园区出口路由设计。</a:t>
            </a:r>
            <a:endParaRPr lang="en-US" altLang="zh-CN" dirty="0"/>
          </a:p>
          <a:p>
            <a:pPr lvl="1">
              <a:lnSpc>
                <a:spcPct val="100000"/>
              </a:lnSpc>
            </a:pPr>
            <a:r>
              <a:rPr lang="zh-CN" altLang="en-US" dirty="0"/>
              <a:t>内部路由设计：</a:t>
            </a:r>
            <a:endParaRPr lang="en-US" altLang="zh-CN" dirty="0"/>
          </a:p>
          <a:p>
            <a:pPr lvl="2">
              <a:lnSpc>
                <a:spcPct val="100000"/>
              </a:lnSpc>
            </a:pPr>
            <a:r>
              <a:rPr lang="zh-CN" altLang="en-US" dirty="0"/>
              <a:t>主要满足园区内部设备、终端的互通需求并且与外部路由交互。</a:t>
            </a:r>
            <a:endParaRPr lang="en-US" altLang="zh-CN" dirty="0"/>
          </a:p>
          <a:p>
            <a:pPr lvl="2">
              <a:lnSpc>
                <a:spcPct val="100000"/>
              </a:lnSpc>
            </a:pPr>
            <a:r>
              <a:rPr lang="zh-CN" altLang="en-US" dirty="0"/>
              <a:t>根据网关位置，建议按照如下两种场景设计内部路由：</a:t>
            </a:r>
            <a:endParaRPr lang="en-US" altLang="zh-CN" dirty="0"/>
          </a:p>
          <a:p>
            <a:pPr lvl="3">
              <a:lnSpc>
                <a:spcPct val="100000"/>
              </a:lnSpc>
            </a:pPr>
            <a:r>
              <a:rPr lang="zh-CN" altLang="en-US" dirty="0"/>
              <a:t>网关在汇聚层：核心层、汇聚层都需要部署路由，考虑路由表能够根据网络拓扑变化而动态刷新，推荐规划</a:t>
            </a:r>
            <a:r>
              <a:rPr lang="en-US" altLang="zh-CN" dirty="0"/>
              <a:t>IGP</a:t>
            </a:r>
            <a:r>
              <a:rPr lang="zh-CN" altLang="en-US" dirty="0"/>
              <a:t>动态路由协议，如</a:t>
            </a:r>
            <a:r>
              <a:rPr lang="en-US" altLang="zh-CN" dirty="0"/>
              <a:t>OSPF</a:t>
            </a:r>
            <a:r>
              <a:rPr lang="zh-CN" altLang="en-US" dirty="0"/>
              <a:t>。</a:t>
            </a:r>
            <a:endParaRPr lang="en-US" altLang="zh-CN" dirty="0"/>
          </a:p>
          <a:p>
            <a:pPr lvl="3">
              <a:lnSpc>
                <a:spcPct val="100000"/>
              </a:lnSpc>
            </a:pPr>
            <a:r>
              <a:rPr lang="zh-CN" altLang="en-US" dirty="0"/>
              <a:t>网关在核心层：只需要在核心层配置路由，建议优先采用静态路由。</a:t>
            </a:r>
            <a:endParaRPr lang="en-US" altLang="zh-CN" dirty="0"/>
          </a:p>
          <a:p>
            <a:pPr lvl="1">
              <a:lnSpc>
                <a:spcPct val="100000"/>
              </a:lnSpc>
            </a:pPr>
            <a:r>
              <a:rPr lang="zh-CN" altLang="en-US" dirty="0"/>
              <a:t>出口路由设计：</a:t>
            </a:r>
            <a:endParaRPr lang="en-US" altLang="zh-CN" dirty="0"/>
          </a:p>
          <a:p>
            <a:pPr lvl="2">
              <a:lnSpc>
                <a:spcPct val="100000"/>
              </a:lnSpc>
            </a:pPr>
            <a:r>
              <a:rPr lang="zh-CN" altLang="en-US" dirty="0"/>
              <a:t>主要满足内部终端访问</a:t>
            </a:r>
            <a:r>
              <a:rPr lang="en-US" altLang="zh-CN" dirty="0"/>
              <a:t>Internet</a:t>
            </a:r>
            <a:r>
              <a:rPr lang="zh-CN" altLang="en-US" dirty="0"/>
              <a:t>、广域网的需求。</a:t>
            </a:r>
            <a:endParaRPr lang="en-US" altLang="zh-CN" dirty="0"/>
          </a:p>
          <a:p>
            <a:pPr lvl="2">
              <a:lnSpc>
                <a:spcPct val="100000"/>
              </a:lnSpc>
            </a:pPr>
            <a:r>
              <a:rPr lang="zh-CN" altLang="en-US" dirty="0"/>
              <a:t>大中型园区一般企业分支机构众多，出口需要支持多种链路用于</a:t>
            </a:r>
            <a:r>
              <a:rPr lang="en-US" altLang="zh-CN" dirty="0"/>
              <a:t>Internet</a:t>
            </a:r>
            <a:r>
              <a:rPr lang="zh-CN" altLang="en-US" dirty="0"/>
              <a:t>访问和企业内部互访，需要大量路由引入园区内部，因此建议规划动态路由协议，如</a:t>
            </a:r>
            <a:r>
              <a:rPr lang="en-US" altLang="zh-CN" dirty="0"/>
              <a:t>OSPF</a:t>
            </a:r>
            <a:r>
              <a:rPr lang="zh-CN" altLang="en-US" dirty="0"/>
              <a:t>。</a:t>
            </a:r>
            <a:endParaRPr lang="en-US" altLang="zh-CN" dirty="0"/>
          </a:p>
          <a:p>
            <a:pPr lvl="0">
              <a:lnSpc>
                <a:spcPct val="100000"/>
              </a:lnSpc>
            </a:pPr>
            <a:r>
              <a:rPr lang="zh-CN" altLang="en-US" dirty="0"/>
              <a:t>园区动态路由协议建议规划</a:t>
            </a:r>
            <a:r>
              <a:rPr lang="en-US" altLang="zh-CN" dirty="0"/>
              <a:t>OSPF</a:t>
            </a:r>
            <a:r>
              <a:rPr lang="zh-CN" altLang="en-US" dirty="0"/>
              <a:t>，以下为</a:t>
            </a:r>
            <a:r>
              <a:rPr lang="en-US" altLang="zh-CN" dirty="0"/>
              <a:t>OSPF</a:t>
            </a:r>
            <a:r>
              <a:rPr lang="zh-CN" altLang="en-US" dirty="0"/>
              <a:t>设计注意点：</a:t>
            </a:r>
            <a:endParaRPr lang="en-US" altLang="zh-CN" dirty="0"/>
          </a:p>
          <a:p>
            <a:pPr lvl="1">
              <a:lnSpc>
                <a:spcPct val="100000"/>
              </a:lnSpc>
            </a:pPr>
            <a:r>
              <a:rPr lang="en-US" altLang="zh-CN" dirty="0"/>
              <a:t>Router ID</a:t>
            </a:r>
            <a:r>
              <a:rPr lang="zh-CN" altLang="en-US" dirty="0"/>
              <a:t>建议采用</a:t>
            </a:r>
            <a:r>
              <a:rPr lang="en-US" altLang="zh-CN" dirty="0"/>
              <a:t>Loopback</a:t>
            </a:r>
            <a:r>
              <a:rPr lang="zh-CN" altLang="en-US" dirty="0"/>
              <a:t>接口</a:t>
            </a:r>
            <a:r>
              <a:rPr lang="en-US" altLang="zh-CN" dirty="0"/>
              <a:t>IP</a:t>
            </a:r>
            <a:r>
              <a:rPr lang="zh-CN" altLang="en-US" dirty="0"/>
              <a:t>地址。</a:t>
            </a:r>
            <a:endParaRPr lang="en-US" altLang="zh-CN" dirty="0"/>
          </a:p>
          <a:p>
            <a:pPr lvl="1">
              <a:lnSpc>
                <a:spcPct val="100000"/>
              </a:lnSpc>
            </a:pPr>
            <a:r>
              <a:rPr lang="zh-CN" altLang="en-US" dirty="0"/>
              <a:t>区域（</a:t>
            </a:r>
            <a:r>
              <a:rPr lang="en-US" altLang="zh-CN" dirty="0"/>
              <a:t>Area</a:t>
            </a:r>
            <a:r>
              <a:rPr lang="zh-CN" altLang="en-US" dirty="0"/>
              <a:t>）划分遵循核心、汇聚、接入的分层原则，骨干区域建议包含出口路由器和核心交换机，非骨干区域的设计则是根据地理位置和设备性能而定。</a:t>
            </a:r>
            <a:endParaRPr lang="en-US" altLang="zh-CN" dirty="0"/>
          </a:p>
          <a:p>
            <a:pPr lvl="0">
              <a:lnSpc>
                <a:spcPct val="100000"/>
              </a:lnSpc>
            </a:pPr>
            <a:r>
              <a:rPr lang="zh-CN" altLang="en-US" dirty="0"/>
              <a:t>说明：</a:t>
            </a:r>
            <a:endParaRPr lang="en-US" altLang="zh-CN" dirty="0"/>
          </a:p>
          <a:p>
            <a:pPr lvl="1">
              <a:lnSpc>
                <a:spcPct val="100000"/>
              </a:lnSpc>
            </a:pPr>
            <a:r>
              <a:rPr lang="zh-CN" altLang="en-US" dirty="0"/>
              <a:t>本页内容体现的是</a:t>
            </a:r>
            <a:r>
              <a:rPr lang="en-US" altLang="zh-CN" dirty="0"/>
              <a:t>VXLAN</a:t>
            </a:r>
            <a:r>
              <a:rPr lang="zh-CN" altLang="en-US" dirty="0"/>
              <a:t>到接入组网场景下的路由设计。</a:t>
            </a:r>
            <a:endParaRPr lang="en-US" altLang="zh-CN" dirty="0"/>
          </a:p>
          <a:p>
            <a:pPr lvl="1">
              <a:lnSpc>
                <a:spcPct val="100000"/>
              </a:lnSpc>
            </a:pPr>
            <a:r>
              <a:rPr lang="zh-CN" altLang="en-US" dirty="0"/>
              <a:t>若场景为</a:t>
            </a:r>
            <a:r>
              <a:rPr lang="en-US" altLang="zh-CN" dirty="0"/>
              <a:t>VXLAN</a:t>
            </a:r>
            <a:r>
              <a:rPr lang="zh-CN" altLang="en-US" dirty="0"/>
              <a:t>到汇聚的组网，路由设计（如：</a:t>
            </a:r>
            <a:r>
              <a:rPr lang="en-US" altLang="zh-CN" dirty="0"/>
              <a:t>OSPF</a:t>
            </a:r>
            <a:r>
              <a:rPr lang="zh-CN" altLang="en-US" dirty="0"/>
              <a:t>区域的划分设计）与</a:t>
            </a:r>
            <a:r>
              <a:rPr lang="en-US" altLang="zh-CN" dirty="0"/>
              <a:t>VXLAN</a:t>
            </a:r>
            <a:r>
              <a:rPr lang="zh-CN" altLang="en-US" dirty="0"/>
              <a:t>到接入组网场景一致，而路由域的边界是汇聚层设备。</a:t>
            </a:r>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7842280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dirty="0"/>
              <a:t>大中型园区出口和核心设备通常部署在核心机房，地理位置集中，业务复杂，开局通常需要网络工程师进站调测。因此核心层及核心以上的设备（包含核心层设备，旁挂独立</a:t>
            </a:r>
            <a:r>
              <a:rPr lang="en-US" altLang="zh-CN" dirty="0"/>
              <a:t>AC</a:t>
            </a:r>
            <a:r>
              <a:rPr lang="zh-CN" altLang="zh-CN" dirty="0"/>
              <a:t>设备和出口设备）推荐采用</a:t>
            </a:r>
            <a:r>
              <a:rPr lang="en-US" altLang="zh-CN" dirty="0"/>
              <a:t>WEB</a:t>
            </a:r>
            <a:r>
              <a:rPr lang="zh-CN" altLang="en-US" dirty="0"/>
              <a:t>网管开局方式或</a:t>
            </a:r>
            <a:r>
              <a:rPr lang="zh-CN" altLang="zh-CN" dirty="0"/>
              <a:t>命令行开局</a:t>
            </a:r>
            <a:r>
              <a:rPr lang="zh-CN" altLang="en-US" dirty="0"/>
              <a:t>方式</a:t>
            </a:r>
            <a:r>
              <a:rPr lang="zh-CN" altLang="zh-CN" dirty="0"/>
              <a:t>。</a:t>
            </a:r>
          </a:p>
          <a:p>
            <a:r>
              <a:rPr lang="zh-CN" altLang="zh-CN" dirty="0"/>
              <a:t>核心以下的设备（包含汇聚层设备、接入层设备和</a:t>
            </a:r>
            <a:r>
              <a:rPr lang="en-US" altLang="zh-CN" dirty="0"/>
              <a:t>AP</a:t>
            </a:r>
            <a:r>
              <a:rPr lang="zh-CN" altLang="zh-CN" dirty="0"/>
              <a:t>）由于数量众多，业务配置相似，从简化部署考虑，推荐</a:t>
            </a:r>
            <a:r>
              <a:rPr lang="zh-CN" altLang="en-US" dirty="0"/>
              <a:t>采用</a:t>
            </a:r>
            <a:r>
              <a:rPr lang="en-US" altLang="zh-CN" dirty="0"/>
              <a:t>DHCP Option</a:t>
            </a:r>
            <a:r>
              <a:rPr lang="zh-CN" altLang="en-US" dirty="0"/>
              <a:t>方式</a:t>
            </a:r>
            <a:r>
              <a:rPr lang="zh-CN" altLang="zh-CN" dirty="0"/>
              <a:t>即插即用开局。</a:t>
            </a:r>
            <a:endParaRPr lang="en-US" altLang="zh-CN" dirty="0"/>
          </a:p>
          <a:p>
            <a:r>
              <a:rPr lang="zh-CN" altLang="en-US" dirty="0"/>
              <a:t>说明：核心层交换机通过本地命令行（</a:t>
            </a:r>
            <a:r>
              <a:rPr lang="en-US" altLang="zh-CN" dirty="0"/>
              <a:t>CLI</a:t>
            </a:r>
            <a:r>
              <a:rPr lang="zh-CN" altLang="en-US" dirty="0"/>
              <a:t>）获取基础配置（如</a:t>
            </a:r>
            <a:r>
              <a:rPr lang="en-US" altLang="zh-CN" dirty="0"/>
              <a:t>IP</a:t>
            </a:r>
            <a:r>
              <a:rPr lang="zh-CN" altLang="en-US" dirty="0"/>
              <a:t>地址），完成网络开局。一旦和控制器建立管理通道后，后期业务都是通过控制器自动下发的。</a:t>
            </a:r>
          </a:p>
          <a:p>
            <a:endParaRPr lang="zh-CN" altLang="en-US"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42374224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914467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DHCP</a:t>
            </a:r>
            <a:r>
              <a:rPr lang="zh-CN" altLang="en-US"/>
              <a:t>服务器通过</a:t>
            </a:r>
            <a:r>
              <a:rPr lang="en-US" altLang="zh-CN"/>
              <a:t>LLDP</a:t>
            </a:r>
            <a:r>
              <a:rPr lang="zh-CN" altLang="en-US"/>
              <a:t>向下游推送</a:t>
            </a:r>
            <a:r>
              <a:rPr lang="en-US" altLang="zh-CN"/>
              <a:t>PnP VLAN</a:t>
            </a:r>
            <a:r>
              <a:rPr lang="zh-CN" altLang="en-US"/>
              <a:t>补充说明：</a:t>
            </a:r>
            <a:endParaRPr lang="en-US" altLang="zh-CN"/>
          </a:p>
          <a:p>
            <a:pPr lvl="1"/>
            <a:r>
              <a:rPr lang="zh-CN" altLang="en-US"/>
              <a:t>若</a:t>
            </a:r>
            <a:r>
              <a:rPr lang="en-US" altLang="zh-CN"/>
              <a:t>Core</a:t>
            </a:r>
            <a:r>
              <a:rPr lang="zh-CN" altLang="en-US"/>
              <a:t>（</a:t>
            </a:r>
            <a:r>
              <a:rPr lang="en-US" altLang="zh-CN"/>
              <a:t>DHCP</a:t>
            </a:r>
            <a:r>
              <a:rPr lang="zh-CN" altLang="en-US"/>
              <a:t>服务器）未使能</a:t>
            </a:r>
            <a:r>
              <a:rPr lang="en-US" altLang="zh-CN"/>
              <a:t>NETCONF</a:t>
            </a:r>
            <a:r>
              <a:rPr lang="zh-CN" altLang="en-US"/>
              <a:t>，</a:t>
            </a:r>
            <a:r>
              <a:rPr lang="en-US" altLang="zh-CN"/>
              <a:t>Core</a:t>
            </a:r>
            <a:r>
              <a:rPr lang="zh-CN" altLang="en-US"/>
              <a:t>不能在控制器上线，则需要在</a:t>
            </a:r>
            <a:r>
              <a:rPr lang="en-US" altLang="zh-CN"/>
              <a:t>Core</a:t>
            </a:r>
            <a:r>
              <a:rPr lang="zh-CN" altLang="en-US"/>
              <a:t>上通过命令手工配置</a:t>
            </a:r>
            <a:r>
              <a:rPr lang="en-US" altLang="zh-CN"/>
              <a:t>PnP VLAN</a:t>
            </a:r>
            <a:r>
              <a:rPr lang="zh-CN" altLang="en-US"/>
              <a:t>，待开局交换机可以通过</a:t>
            </a:r>
            <a:r>
              <a:rPr lang="en-US" altLang="zh-CN"/>
              <a:t>LLDP</a:t>
            </a:r>
            <a:r>
              <a:rPr lang="zh-CN" altLang="en-US"/>
              <a:t>向</a:t>
            </a:r>
            <a:r>
              <a:rPr lang="en-US" altLang="zh-CN"/>
              <a:t>Core</a:t>
            </a:r>
            <a:r>
              <a:rPr lang="zh-CN" altLang="en-US"/>
              <a:t>协商获取设置的</a:t>
            </a:r>
            <a:r>
              <a:rPr lang="en-US" altLang="zh-CN"/>
              <a:t>PnP VLAN</a:t>
            </a:r>
            <a:r>
              <a:rPr lang="zh-CN" altLang="en-US"/>
              <a:t>。</a:t>
            </a:r>
            <a:endParaRPr lang="en-US" altLang="zh-CN"/>
          </a:p>
          <a:p>
            <a:r>
              <a:rPr lang="zh-CN" altLang="en-US"/>
              <a:t>说明：交换机的</a:t>
            </a:r>
            <a:r>
              <a:rPr lang="en-US" altLang="zh-CN"/>
              <a:t>PnP VLAN</a:t>
            </a:r>
            <a:r>
              <a:rPr lang="zh-CN" altLang="en-US"/>
              <a:t>和管理</a:t>
            </a:r>
            <a:r>
              <a:rPr lang="en-US" altLang="zh-CN"/>
              <a:t>VLAN</a:t>
            </a:r>
            <a:r>
              <a:rPr lang="zh-CN" altLang="en-US"/>
              <a:t>可以相同，也可以不同。</a:t>
            </a:r>
            <a:endParaRPr lang="en-US" altLang="zh-CN"/>
          </a:p>
          <a:p>
            <a:r>
              <a:rPr lang="en-US" altLang="zh-CN"/>
              <a:t>LLDP</a:t>
            </a:r>
            <a:r>
              <a:rPr lang="zh-CN" altLang="en-US"/>
              <a:t>：</a:t>
            </a:r>
            <a:r>
              <a:rPr lang="en-US" altLang="zh-CN"/>
              <a:t>Link Layer Discovery Protocol</a:t>
            </a:r>
            <a:r>
              <a:rPr lang="zh-CN" altLang="en-US"/>
              <a:t>，链路层发现协议</a:t>
            </a:r>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5879179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该开局流程适用于安装时间段要求分散的场景。</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1311452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该开局流程适用于安装时间段要求集中的场景。优先推荐管理员采用先规划网络，再部署设备上线的方式开局部署。当管理员不具备预先规划网络的条件时，可采用先部署设备上线、再确定网络拓扑的开局部署方式。</a:t>
            </a:r>
          </a:p>
          <a:p>
            <a:r>
              <a:rPr lang="zh-CN" altLang="zh-CN"/>
              <a:t>先规划网络，再部署设备上线。</a:t>
            </a:r>
            <a:endParaRPr lang="en-US" altLang="zh-CN"/>
          </a:p>
          <a:p>
            <a:pPr lvl="1"/>
            <a:r>
              <a:rPr lang="zh-CN" altLang="zh-CN"/>
              <a:t>开局部署时，管理员先在控制器上录入设备</a:t>
            </a:r>
            <a:r>
              <a:rPr lang="en-US" altLang="zh-CN"/>
              <a:t>ESN</a:t>
            </a:r>
            <a:r>
              <a:rPr lang="zh-CN" altLang="zh-CN"/>
              <a:t>信息，指定堆叠设备，指定聚合链路，完成网络拓扑的规划。</a:t>
            </a:r>
            <a:endParaRPr lang="en-US" altLang="zh-CN"/>
          </a:p>
          <a:p>
            <a:pPr lvl="1"/>
            <a:r>
              <a:rPr lang="zh-CN" altLang="zh-CN"/>
              <a:t>管理员也可以通过模板批量导入上述规划信息，完成网络拓扑的规划。推荐采用模板批量导入，简化操作。</a:t>
            </a:r>
            <a:endParaRPr lang="en-US" altLang="zh-CN"/>
          </a:p>
          <a:p>
            <a:pPr lvl="1"/>
            <a:r>
              <a:rPr lang="zh-CN" altLang="zh-CN"/>
              <a:t>然后再通过推荐的开局注册上线的方法，部署设备上线。</a:t>
            </a:r>
            <a:endParaRPr lang="en-US" altLang="zh-CN"/>
          </a:p>
          <a:p>
            <a:pPr lvl="1"/>
            <a:r>
              <a:rPr lang="zh-CN" altLang="zh-CN"/>
              <a:t>设备上线注册到控制器，控制器会自动检查设备实际拓扑和规划拓扑是否一致。安装施工过程中如果连线错误，控制器会第一时间通知管理员。</a:t>
            </a:r>
            <a:endParaRPr lang="en-US" altLang="zh-CN"/>
          </a:p>
          <a:p>
            <a:pPr lvl="0"/>
            <a:r>
              <a:rPr lang="zh-CN" altLang="en-US"/>
              <a:t>说明：</a:t>
            </a:r>
            <a:r>
              <a:rPr lang="en-US" altLang="zh-CN"/>
              <a:t>Eth-Trunk</a:t>
            </a:r>
            <a:r>
              <a:rPr lang="zh-CN" altLang="en-US"/>
              <a:t>支持先规划各项参数，设备上线后，自动协商</a:t>
            </a:r>
            <a:r>
              <a:rPr lang="en-US" altLang="zh-CN"/>
              <a:t>Eth-Trunk</a:t>
            </a:r>
            <a:r>
              <a:rPr lang="zh-CN" altLang="en-US"/>
              <a:t>端口（即自动获得</a:t>
            </a:r>
            <a:r>
              <a:rPr lang="en-US" altLang="zh-CN"/>
              <a:t>Eth-Trunk</a:t>
            </a:r>
            <a:r>
              <a:rPr lang="zh-CN" altLang="en-US"/>
              <a:t>相应配置）。</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3630334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自动配置路由域：开启该功能后，自动配置</a:t>
            </a:r>
            <a:r>
              <a:rPr lang="en-US" altLang="zh-CN" dirty="0"/>
              <a:t>Underlay</a:t>
            </a:r>
            <a:r>
              <a:rPr lang="zh-CN" altLang="en-US" dirty="0"/>
              <a:t>网络。用户可以指定自动配置路由域的站点，并指定</a:t>
            </a:r>
            <a:r>
              <a:rPr lang="en-US" altLang="zh-CN" dirty="0"/>
              <a:t>OSPF</a:t>
            </a:r>
            <a:r>
              <a:rPr lang="zh-CN" altLang="en-US" dirty="0"/>
              <a:t>路由参数，当前支持的参数如下：</a:t>
            </a:r>
          </a:p>
          <a:p>
            <a:pPr lvl="1"/>
            <a:r>
              <a:rPr lang="zh-CN" altLang="en-US" dirty="0"/>
              <a:t>域：单域为所有设备均属于</a:t>
            </a:r>
            <a:r>
              <a:rPr lang="en-US" altLang="zh-CN" dirty="0"/>
              <a:t>Area 0</a:t>
            </a:r>
            <a:r>
              <a:rPr lang="zh-CN" altLang="en-US" dirty="0"/>
              <a:t>；多域为边界网关节点属于</a:t>
            </a:r>
            <a:r>
              <a:rPr lang="en-US" altLang="zh-CN" dirty="0"/>
              <a:t>Area 0</a:t>
            </a:r>
            <a:r>
              <a:rPr lang="zh-CN" altLang="en-US" dirty="0"/>
              <a:t>，其余每个边缘节点与边界网关节点为一个</a:t>
            </a:r>
            <a:r>
              <a:rPr lang="en-US" altLang="zh-CN" dirty="0"/>
              <a:t>Area</a:t>
            </a:r>
            <a:r>
              <a:rPr lang="zh-CN" altLang="en-US" dirty="0"/>
              <a:t>。</a:t>
            </a:r>
          </a:p>
          <a:p>
            <a:pPr lvl="1"/>
            <a:r>
              <a:rPr lang="zh-CN" altLang="en-US" dirty="0"/>
              <a:t>网络类型：指定</a:t>
            </a:r>
            <a:r>
              <a:rPr lang="en-US" altLang="zh-CN" dirty="0"/>
              <a:t>OSPF</a:t>
            </a:r>
            <a:r>
              <a:rPr lang="zh-CN" altLang="en-US" dirty="0"/>
              <a:t>的网络类型，可以选择</a:t>
            </a:r>
            <a:r>
              <a:rPr lang="en-US" altLang="zh-CN" dirty="0"/>
              <a:t>broadcast</a:t>
            </a:r>
            <a:r>
              <a:rPr lang="zh-CN" altLang="en-US" dirty="0"/>
              <a:t>、</a:t>
            </a:r>
            <a:r>
              <a:rPr lang="en-US" altLang="zh-CN" dirty="0"/>
              <a:t>P2MP</a:t>
            </a:r>
            <a:r>
              <a:rPr lang="zh-CN" altLang="en-US" dirty="0"/>
              <a:t>或者</a:t>
            </a:r>
            <a:r>
              <a:rPr lang="en-US" altLang="zh-CN" dirty="0"/>
              <a:t>P2P</a:t>
            </a:r>
            <a:r>
              <a:rPr lang="zh-CN" altLang="en-US" dirty="0"/>
              <a:t>。</a:t>
            </a:r>
          </a:p>
          <a:p>
            <a:pPr lvl="1"/>
            <a:r>
              <a:rPr lang="zh-CN" altLang="en-US" dirty="0"/>
              <a:t>加密：设置相邻设备之间的加密方式，可以选择</a:t>
            </a:r>
            <a:r>
              <a:rPr lang="en-US" altLang="zh-CN" dirty="0"/>
              <a:t>HMAC-SHA256</a:t>
            </a:r>
            <a:r>
              <a:rPr lang="zh-CN" altLang="en-US" dirty="0"/>
              <a:t>、</a:t>
            </a:r>
            <a:r>
              <a:rPr lang="en-US" altLang="zh-CN" dirty="0"/>
              <a:t>MD5</a:t>
            </a:r>
            <a:r>
              <a:rPr lang="zh-CN" altLang="en-US" dirty="0"/>
              <a:t>或者无。</a:t>
            </a:r>
          </a:p>
          <a:p>
            <a:pPr lvl="1"/>
            <a:r>
              <a:rPr lang="en-US" altLang="zh-CN" dirty="0"/>
              <a:t>OSPF</a:t>
            </a:r>
            <a:r>
              <a:rPr lang="zh-CN" altLang="en-US" dirty="0"/>
              <a:t>平滑启动：开启</a:t>
            </a:r>
            <a:r>
              <a:rPr lang="en-US" altLang="zh-CN" dirty="0"/>
              <a:t>OSPF GR</a:t>
            </a:r>
            <a:r>
              <a:rPr lang="zh-CN" altLang="en-US" dirty="0"/>
              <a:t>功能。</a:t>
            </a:r>
            <a:endParaRPr lang="en-US" altLang="zh-CN" dirty="0"/>
          </a:p>
          <a:p>
            <a:pPr lvl="0"/>
            <a:r>
              <a:rPr lang="zh-CN" altLang="en-US" dirty="0"/>
              <a:t>开启“自动配置路由域”前，需提前规划</a:t>
            </a:r>
            <a:r>
              <a:rPr lang="en-US" altLang="zh-CN" dirty="0"/>
              <a:t>Underlay</a:t>
            </a:r>
            <a:r>
              <a:rPr lang="zh-CN" altLang="en-US" dirty="0"/>
              <a:t>网络自动化所需的网络资源：</a:t>
            </a:r>
          </a:p>
          <a:p>
            <a:pPr lvl="1"/>
            <a:r>
              <a:rPr lang="en-US" altLang="zh-CN" dirty="0"/>
              <a:t>Underlay</a:t>
            </a:r>
            <a:r>
              <a:rPr lang="zh-CN" altLang="en-US" dirty="0"/>
              <a:t>网络设备（</a:t>
            </a:r>
            <a:r>
              <a:rPr lang="en-US" altLang="zh-CN" dirty="0"/>
              <a:t>Fabric</a:t>
            </a:r>
            <a:r>
              <a:rPr lang="zh-CN" altLang="en-US" dirty="0"/>
              <a:t>对应的网络范围）之间通过</a:t>
            </a:r>
            <a:r>
              <a:rPr lang="en-US" altLang="zh-CN" dirty="0"/>
              <a:t>VLANIF</a:t>
            </a:r>
            <a:r>
              <a:rPr lang="zh-CN" altLang="en-US" dirty="0"/>
              <a:t>三层互联：每一条互联链路分配</a:t>
            </a:r>
            <a:r>
              <a:rPr lang="en-US" altLang="zh-CN" dirty="0"/>
              <a:t>1</a:t>
            </a:r>
            <a:r>
              <a:rPr lang="zh-CN" altLang="en-US" dirty="0"/>
              <a:t>个</a:t>
            </a:r>
            <a:r>
              <a:rPr lang="en-US" altLang="zh-CN" dirty="0"/>
              <a:t>VLAN</a:t>
            </a:r>
            <a:r>
              <a:rPr lang="zh-CN" altLang="en-US" dirty="0"/>
              <a:t>。</a:t>
            </a:r>
          </a:p>
          <a:p>
            <a:pPr lvl="1"/>
            <a:r>
              <a:rPr lang="zh-CN" altLang="en-US" dirty="0"/>
              <a:t>设备互联</a:t>
            </a:r>
            <a:r>
              <a:rPr lang="en-US" altLang="zh-CN" dirty="0"/>
              <a:t>VLANIF</a:t>
            </a:r>
            <a:r>
              <a:rPr lang="zh-CN" altLang="en-US" dirty="0"/>
              <a:t>接口</a:t>
            </a:r>
            <a:r>
              <a:rPr lang="en-US" altLang="zh-CN" dirty="0"/>
              <a:t>IP</a:t>
            </a:r>
            <a:r>
              <a:rPr lang="zh-CN" altLang="en-US" dirty="0"/>
              <a:t>地址：自动分配</a:t>
            </a:r>
            <a:r>
              <a:rPr lang="en-US" altLang="zh-CN" dirty="0"/>
              <a:t>30</a:t>
            </a:r>
            <a:r>
              <a:rPr lang="zh-CN" altLang="en-US" dirty="0"/>
              <a:t>位掩码长度的互联地址。</a:t>
            </a:r>
          </a:p>
          <a:p>
            <a:pPr lvl="0"/>
            <a:endParaRPr lang="zh-CN" altLang="en-US"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9684236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229564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b="1" dirty="0"/>
              <a:t>Fabric</a:t>
            </a:r>
            <a:r>
              <a:rPr lang="zh-CN" altLang="en-US" b="1" dirty="0"/>
              <a:t>网络资源规划：</a:t>
            </a:r>
            <a:endParaRPr lang="en-US" altLang="zh-CN" b="1" dirty="0"/>
          </a:p>
          <a:p>
            <a:r>
              <a:rPr lang="zh-CN" altLang="en-US" dirty="0"/>
              <a:t>在创建</a:t>
            </a:r>
            <a:r>
              <a:rPr lang="en-US" altLang="zh-CN" dirty="0"/>
              <a:t>VN</a:t>
            </a:r>
            <a:r>
              <a:rPr lang="zh-CN" altLang="en-US" dirty="0"/>
              <a:t>之前，需要提前进行全局资源配置，包括</a:t>
            </a:r>
            <a:r>
              <a:rPr lang="en-US" altLang="zh-CN" dirty="0"/>
              <a:t>VLAN</a:t>
            </a:r>
            <a:r>
              <a:rPr lang="zh-CN" altLang="en-US" dirty="0"/>
              <a:t>、</a:t>
            </a:r>
            <a:r>
              <a:rPr lang="en-US" altLang="zh-CN" dirty="0"/>
              <a:t>VXLAN</a:t>
            </a:r>
            <a:r>
              <a:rPr lang="zh-CN" altLang="en-US" dirty="0"/>
              <a:t>网络标示（</a:t>
            </a:r>
            <a:r>
              <a:rPr lang="en-US" altLang="zh-CN" dirty="0"/>
              <a:t>VNI</a:t>
            </a:r>
            <a:r>
              <a:rPr lang="zh-CN" altLang="en-US" dirty="0"/>
              <a:t>）和桥接广播域（</a:t>
            </a:r>
            <a:r>
              <a:rPr lang="en-US" altLang="zh-CN" dirty="0"/>
              <a:t>BD</a:t>
            </a:r>
            <a:r>
              <a:rPr lang="zh-CN" altLang="en-US" dirty="0"/>
              <a:t>）三类资源池的设置。创建</a:t>
            </a:r>
            <a:r>
              <a:rPr lang="en-US" altLang="zh-CN" dirty="0"/>
              <a:t>VN</a:t>
            </a:r>
            <a:r>
              <a:rPr lang="zh-CN" altLang="en-US" dirty="0"/>
              <a:t>时，</a:t>
            </a:r>
            <a:r>
              <a:rPr lang="en-US" altLang="zh-CN" dirty="0" err="1"/>
              <a:t>iMaster</a:t>
            </a:r>
            <a:r>
              <a:rPr lang="en-US" altLang="zh-CN" dirty="0"/>
              <a:t> NCE-Campus</a:t>
            </a:r>
            <a:r>
              <a:rPr lang="zh-CN" altLang="en-US" dirty="0"/>
              <a:t>会从该资源池内自动分配相关资源。</a:t>
            </a:r>
            <a:endParaRPr lang="en-US" altLang="zh-CN" dirty="0"/>
          </a:p>
          <a:p>
            <a:pPr lvl="1"/>
            <a:r>
              <a:rPr lang="zh-CN" altLang="en-US" dirty="0"/>
              <a:t>互联</a:t>
            </a:r>
            <a:r>
              <a:rPr lang="en-US" altLang="zh-CN" dirty="0"/>
              <a:t>VLAN</a:t>
            </a:r>
            <a:r>
              <a:rPr lang="zh-CN" altLang="en-US" dirty="0"/>
              <a:t>：</a:t>
            </a:r>
            <a:r>
              <a:rPr lang="en-US" altLang="zh-CN" dirty="0"/>
              <a:t>Fabric</a:t>
            </a:r>
            <a:r>
              <a:rPr lang="zh-CN" altLang="en-US" dirty="0"/>
              <a:t>在创建外部网络资源时，需要互联</a:t>
            </a:r>
            <a:r>
              <a:rPr lang="en-US" altLang="zh-CN" dirty="0"/>
              <a:t>VLAN</a:t>
            </a:r>
            <a:r>
              <a:rPr lang="zh-CN" altLang="en-US" dirty="0"/>
              <a:t>，与出口网络对接。</a:t>
            </a:r>
            <a:r>
              <a:rPr lang="en-US" altLang="zh-CN" dirty="0"/>
              <a:t>Fabric</a:t>
            </a:r>
            <a:r>
              <a:rPr lang="zh-CN" altLang="en-US" dirty="0"/>
              <a:t>在创建网络服务资源时，需要互联</a:t>
            </a:r>
            <a:r>
              <a:rPr lang="en-US" altLang="zh-CN" dirty="0"/>
              <a:t>VLAN</a:t>
            </a:r>
            <a:r>
              <a:rPr lang="zh-CN" altLang="en-US" dirty="0"/>
              <a:t>，与网络管理区对接。</a:t>
            </a:r>
            <a:endParaRPr lang="en-US" altLang="zh-CN" dirty="0"/>
          </a:p>
          <a:p>
            <a:pPr lvl="1"/>
            <a:r>
              <a:rPr lang="en-US" altLang="zh-CN" dirty="0"/>
              <a:t>BD</a:t>
            </a:r>
            <a:r>
              <a:rPr lang="zh-CN" altLang="en-US" dirty="0"/>
              <a:t>：在</a:t>
            </a:r>
            <a:r>
              <a:rPr lang="en-US" altLang="zh-CN" dirty="0"/>
              <a:t>VN</a:t>
            </a:r>
            <a:r>
              <a:rPr lang="zh-CN" altLang="en-US" dirty="0"/>
              <a:t>中隔离二层广播域，一般与用户接入的业务</a:t>
            </a:r>
            <a:r>
              <a:rPr lang="en-US" altLang="zh-CN" dirty="0"/>
              <a:t>VLAN</a:t>
            </a:r>
            <a:r>
              <a:rPr lang="zh-CN" altLang="en-US" dirty="0"/>
              <a:t>是</a:t>
            </a:r>
            <a:r>
              <a:rPr lang="en-US" altLang="zh-CN" dirty="0"/>
              <a:t>1:1</a:t>
            </a:r>
            <a:r>
              <a:rPr lang="zh-CN" altLang="en-US" dirty="0"/>
              <a:t>的对应关系。</a:t>
            </a:r>
            <a:r>
              <a:rPr lang="en-US" altLang="zh-CN" dirty="0"/>
              <a:t>BD</a:t>
            </a:r>
            <a:r>
              <a:rPr lang="zh-CN" altLang="en-US" dirty="0"/>
              <a:t>规划的资源范围要满足用户的业务</a:t>
            </a:r>
            <a:r>
              <a:rPr lang="en-US" altLang="zh-CN" dirty="0"/>
              <a:t>VLAN</a:t>
            </a:r>
            <a:r>
              <a:rPr lang="zh-CN" altLang="en-US" dirty="0"/>
              <a:t>数量，默认范围</a:t>
            </a:r>
            <a:r>
              <a:rPr lang="en-US" altLang="zh-CN" dirty="0"/>
              <a:t>1~4095</a:t>
            </a:r>
            <a:r>
              <a:rPr lang="zh-CN" altLang="en-US" dirty="0"/>
              <a:t>。</a:t>
            </a:r>
            <a:endParaRPr lang="en-US" altLang="zh-CN" dirty="0"/>
          </a:p>
          <a:p>
            <a:pPr lvl="1"/>
            <a:r>
              <a:rPr lang="en-US" altLang="zh-CN" dirty="0"/>
              <a:t>VNI</a:t>
            </a:r>
            <a:r>
              <a:rPr lang="zh-CN" altLang="en-US" dirty="0"/>
              <a:t>：类似于</a:t>
            </a:r>
            <a:r>
              <a:rPr lang="en-US" altLang="zh-CN" dirty="0"/>
              <a:t>VLAN ID</a:t>
            </a:r>
            <a:r>
              <a:rPr lang="zh-CN" altLang="en-US" dirty="0"/>
              <a:t>，用于区分</a:t>
            </a:r>
            <a:r>
              <a:rPr lang="en-US" altLang="zh-CN" dirty="0"/>
              <a:t>VXLAN</a:t>
            </a:r>
            <a:r>
              <a:rPr lang="zh-CN" altLang="en-US" dirty="0"/>
              <a:t>段，默认范围</a:t>
            </a:r>
            <a:r>
              <a:rPr lang="en-US" altLang="zh-CN" dirty="0"/>
              <a:t>1~4095</a:t>
            </a:r>
            <a:r>
              <a:rPr lang="zh-CN" altLang="en-US" dirty="0"/>
              <a:t>。</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3009359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977933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722664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sz="1100" dirty="0"/>
              <a:t>大中型园区场景中，云园区网络虚拟化方案基于用户网关的位置，主要分为集中式网关和分布式网关两种，</a:t>
            </a:r>
            <a:r>
              <a:rPr lang="en-US" altLang="zh-CN" sz="1100" dirty="0"/>
              <a:t>iMaster NCE-Campus</a:t>
            </a:r>
            <a:r>
              <a:rPr lang="zh-CN" altLang="en-US" sz="1100" dirty="0"/>
              <a:t>在创建</a:t>
            </a:r>
            <a:r>
              <a:rPr lang="en-US" altLang="zh-CN" sz="1100" dirty="0"/>
              <a:t>Fabric</a:t>
            </a:r>
            <a:r>
              <a:rPr lang="zh-CN" altLang="en-US" sz="1100" dirty="0"/>
              <a:t>时，可以选择采用哪种网关方案。</a:t>
            </a:r>
          </a:p>
          <a:p>
            <a:r>
              <a:rPr lang="zh-CN" altLang="en-US" sz="1100" dirty="0"/>
              <a:t>集中式网关方案中，用户网关集中部署在</a:t>
            </a:r>
            <a:r>
              <a:rPr lang="en-US" altLang="zh-CN" sz="1100" dirty="0"/>
              <a:t>Border</a:t>
            </a:r>
            <a:r>
              <a:rPr lang="zh-CN" altLang="en-US" sz="1100" dirty="0"/>
              <a:t>节点，所有跨子网的流量都经过</a:t>
            </a:r>
            <a:r>
              <a:rPr lang="en-US" altLang="zh-CN" sz="1100" dirty="0"/>
              <a:t>Border</a:t>
            </a:r>
            <a:r>
              <a:rPr lang="zh-CN" altLang="en-US" sz="1100" dirty="0"/>
              <a:t>节点进行转发；分布式网关方案中，用户网关部署在多个</a:t>
            </a:r>
            <a:r>
              <a:rPr lang="en-US" altLang="zh-CN" sz="1100" dirty="0"/>
              <a:t>Edge</a:t>
            </a:r>
            <a:r>
              <a:rPr lang="zh-CN" altLang="en-US" sz="1100" dirty="0"/>
              <a:t>节点上，跨子网的流量通过</a:t>
            </a:r>
            <a:r>
              <a:rPr lang="en-US" altLang="zh-CN" sz="1100" dirty="0"/>
              <a:t>Edge</a:t>
            </a:r>
            <a:r>
              <a:rPr lang="zh-CN" altLang="en-US" sz="1100" dirty="0"/>
              <a:t>节点转发。</a:t>
            </a:r>
            <a:endParaRPr lang="zh-CN" altLang="en-US" dirty="0"/>
          </a:p>
        </p:txBody>
      </p:sp>
    </p:spTree>
    <p:extLst>
      <p:ext uri="{BB962C8B-B14F-4D97-AF65-F5344CB8AC3E}">
        <p14:creationId xmlns:p14="http://schemas.microsoft.com/office/powerpoint/2010/main" val="1945134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sz="1100" dirty="0"/>
              <a:t>在云园区网络虚拟化方案设计中，首先需要确定采用哪种网关方案。网关方案确定后，就可以基于已选择的网关方案，对园区整体网络进行端到端的设计。</a:t>
            </a:r>
          </a:p>
          <a:p>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集中式网关方案仅支持一个</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Border</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节点，分布式网关方案支持多个</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Border</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节点。</a:t>
            </a:r>
          </a:p>
        </p:txBody>
      </p:sp>
    </p:spTree>
    <p:extLst>
      <p:ext uri="{BB962C8B-B14F-4D97-AF65-F5344CB8AC3E}">
        <p14:creationId xmlns:p14="http://schemas.microsoft.com/office/powerpoint/2010/main" val="811880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en-US" altLang="zh-CN" dirty="0"/>
              <a:t>ENP</a:t>
            </a:r>
            <a:r>
              <a:rPr lang="zh-CN" altLang="en-US" dirty="0"/>
              <a:t>单板：</a:t>
            </a:r>
            <a:r>
              <a:rPr lang="en-US" altLang="zh-CN" dirty="0"/>
              <a:t>ENP</a:t>
            </a:r>
            <a:r>
              <a:rPr lang="zh-CN" altLang="en-US" dirty="0"/>
              <a:t>单板内置华为公司自研以太网络处理器（</a:t>
            </a:r>
            <a:r>
              <a:rPr lang="en-US" altLang="zh-CN" dirty="0"/>
              <a:t>Ethernet Network Processor</a:t>
            </a:r>
            <a:r>
              <a:rPr lang="zh-CN" altLang="en-US" dirty="0"/>
              <a:t>，</a:t>
            </a:r>
            <a:r>
              <a:rPr lang="en-US" altLang="zh-CN" dirty="0"/>
              <a:t>ENP</a:t>
            </a:r>
            <a:r>
              <a:rPr lang="zh-CN" altLang="en-US" dirty="0"/>
              <a:t>），作为普通接口板提供数据接入和交换的同时，随板实现无线接入控制器（</a:t>
            </a:r>
            <a:r>
              <a:rPr lang="en-US" altLang="zh-CN" dirty="0"/>
              <a:t>WLAN AC</a:t>
            </a:r>
            <a:r>
              <a:rPr lang="zh-CN" altLang="en-US" dirty="0"/>
              <a:t>）功能，实现有线无线真正融合。</a:t>
            </a:r>
          </a:p>
        </p:txBody>
      </p:sp>
    </p:spTree>
    <p:extLst>
      <p:ext uri="{BB962C8B-B14F-4D97-AF65-F5344CB8AC3E}">
        <p14:creationId xmlns:p14="http://schemas.microsoft.com/office/powerpoint/2010/main" val="15384875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18678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364740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dirty="0"/>
              <a:t>当园区内部需要与外部网络互访时须经过</a:t>
            </a:r>
            <a:r>
              <a:rPr lang="en-US" altLang="zh-CN" dirty="0"/>
              <a:t>Border</a:t>
            </a:r>
            <a:r>
              <a:rPr lang="zh-CN" altLang="zh-CN" dirty="0"/>
              <a:t>节点，如访问</a:t>
            </a:r>
            <a:r>
              <a:rPr lang="en-US" altLang="zh-CN" dirty="0"/>
              <a:t>Internet</a:t>
            </a:r>
            <a:r>
              <a:rPr lang="zh-CN" altLang="zh-CN" dirty="0"/>
              <a:t>、数据中心或其它分支。</a:t>
            </a:r>
          </a:p>
          <a:p>
            <a:r>
              <a:rPr lang="en-US" altLang="zh-CN" dirty="0"/>
              <a:t>Fabric</a:t>
            </a:r>
            <a:r>
              <a:rPr lang="zh-CN" altLang="zh-CN" dirty="0"/>
              <a:t>网络与出口的互联分为三种方式：</a:t>
            </a:r>
            <a:endParaRPr lang="en-US" altLang="zh-CN" dirty="0"/>
          </a:p>
          <a:p>
            <a:pPr lvl="1"/>
            <a:r>
              <a:rPr lang="en-US" altLang="zh-CN" dirty="0"/>
              <a:t>L3</a:t>
            </a:r>
            <a:r>
              <a:rPr lang="zh-CN" altLang="zh-CN" dirty="0"/>
              <a:t>共享出口方式</a:t>
            </a:r>
            <a:r>
              <a:rPr lang="zh-CN" altLang="en-US" dirty="0"/>
              <a:t>：</a:t>
            </a:r>
            <a:endParaRPr lang="en-US" altLang="zh-CN" dirty="0"/>
          </a:p>
          <a:p>
            <a:pPr lvl="2"/>
            <a:r>
              <a:rPr lang="zh-CN" altLang="en-US" dirty="0"/>
              <a:t>外部网关以</a:t>
            </a:r>
            <a:r>
              <a:rPr lang="en-US" altLang="zh-CN" dirty="0"/>
              <a:t>VLANIF</a:t>
            </a:r>
            <a:r>
              <a:rPr lang="zh-CN" altLang="en-US" dirty="0"/>
              <a:t>和</a:t>
            </a:r>
            <a:r>
              <a:rPr lang="en-US" altLang="zh-CN" dirty="0"/>
              <a:t>VBDIF</a:t>
            </a:r>
            <a:r>
              <a:rPr lang="zh-CN" altLang="en-US" dirty="0"/>
              <a:t>逻辑口和外部连接、并访问外部网络。通过共享</a:t>
            </a:r>
            <a:r>
              <a:rPr lang="en-US" altLang="zh-CN" dirty="0"/>
              <a:t>VRF</a:t>
            </a:r>
            <a:r>
              <a:rPr lang="zh-CN" altLang="en-US" dirty="0"/>
              <a:t>出口可以访问公共网络或其他站点指定的私有网络，或将业务流量通过共享</a:t>
            </a:r>
            <a:r>
              <a:rPr lang="en-US" altLang="zh-CN" dirty="0"/>
              <a:t>VRF</a:t>
            </a:r>
            <a:r>
              <a:rPr lang="zh-CN" altLang="en-US" dirty="0"/>
              <a:t>出口引流到防火墙。多</a:t>
            </a:r>
            <a:r>
              <a:rPr lang="en-US" altLang="zh-CN" dirty="0"/>
              <a:t>Border</a:t>
            </a:r>
            <a:r>
              <a:rPr lang="zh-CN" altLang="en-US" dirty="0"/>
              <a:t>组网时，可以在一个外部网络中配置多个核心设备。</a:t>
            </a:r>
            <a:endParaRPr lang="en-US" altLang="zh-CN" dirty="0"/>
          </a:p>
          <a:p>
            <a:pPr lvl="2"/>
            <a:r>
              <a:rPr lang="en-US" altLang="zh-CN" dirty="0"/>
              <a:t>L3</a:t>
            </a:r>
            <a:r>
              <a:rPr lang="zh-CN" altLang="zh-CN" dirty="0"/>
              <a:t>共享出口适用于防火墙无需对虚拟网络（</a:t>
            </a:r>
            <a:r>
              <a:rPr lang="en-US" altLang="zh-CN" dirty="0"/>
              <a:t>VN</a:t>
            </a:r>
            <a:r>
              <a:rPr lang="zh-CN" altLang="zh-CN" dirty="0"/>
              <a:t>）进行安全检测，</a:t>
            </a:r>
            <a:r>
              <a:rPr lang="zh-CN" altLang="en-US" dirty="0"/>
              <a:t>不同</a:t>
            </a:r>
            <a:r>
              <a:rPr lang="en-US" altLang="zh-CN" dirty="0"/>
              <a:t>VN</a:t>
            </a:r>
            <a:r>
              <a:rPr lang="zh-CN" altLang="en-US" dirty="0"/>
              <a:t>间安全控制策略要求较低，</a:t>
            </a:r>
            <a:r>
              <a:rPr lang="zh-CN" altLang="zh-CN" dirty="0"/>
              <a:t>所有</a:t>
            </a:r>
            <a:r>
              <a:rPr lang="en-US" altLang="zh-CN" dirty="0"/>
              <a:t>VN</a:t>
            </a:r>
            <a:r>
              <a:rPr lang="zh-CN" altLang="zh-CN" dirty="0"/>
              <a:t>流量划分在同一个安全区域</a:t>
            </a:r>
            <a:r>
              <a:rPr lang="zh-CN" altLang="en-US" dirty="0"/>
              <a:t>的场景。</a:t>
            </a:r>
            <a:endParaRPr lang="en-US" altLang="zh-CN" dirty="0"/>
          </a:p>
          <a:p>
            <a:pPr lvl="2"/>
            <a:r>
              <a:rPr lang="zh-CN" altLang="en-US" dirty="0"/>
              <a:t>由于</a:t>
            </a:r>
            <a:r>
              <a:rPr lang="en-US" altLang="zh-CN" dirty="0"/>
              <a:t>VN</a:t>
            </a:r>
            <a:r>
              <a:rPr lang="zh-CN" altLang="en-US" dirty="0"/>
              <a:t>与外部互访必须要在防火墙上配置到达业务子网的回程路由，这也间接导致不同</a:t>
            </a:r>
            <a:r>
              <a:rPr lang="en-US" altLang="zh-CN" dirty="0"/>
              <a:t>VN</a:t>
            </a:r>
            <a:r>
              <a:rPr lang="zh-CN" altLang="en-US" dirty="0"/>
              <a:t>间业务子网在防火墙上是可以互通的。如果不同</a:t>
            </a:r>
            <a:r>
              <a:rPr lang="en-US" altLang="zh-CN" dirty="0"/>
              <a:t>VN</a:t>
            </a:r>
            <a:r>
              <a:rPr lang="zh-CN" altLang="en-US" dirty="0"/>
              <a:t>间在防火墙仍需隔离，需基于</a:t>
            </a:r>
            <a:r>
              <a:rPr lang="en-US" altLang="zh-CN" dirty="0"/>
              <a:t>VN</a:t>
            </a:r>
            <a:r>
              <a:rPr lang="zh-CN" altLang="en-US" dirty="0"/>
              <a:t>内的业务网段配置策略。</a:t>
            </a:r>
            <a:endParaRPr lang="en-US" altLang="zh-CN" dirty="0"/>
          </a:p>
          <a:p>
            <a:pPr lvl="2"/>
            <a:r>
              <a:rPr lang="zh-CN" altLang="en-US" dirty="0"/>
              <a:t>如图，</a:t>
            </a:r>
            <a:r>
              <a:rPr lang="en-US" altLang="zh-CN" dirty="0"/>
              <a:t>Border</a:t>
            </a:r>
            <a:r>
              <a:rPr lang="zh-CN" altLang="en-US" dirty="0"/>
              <a:t>上会创建共享</a:t>
            </a:r>
            <a:r>
              <a:rPr lang="en-US" altLang="zh-CN" dirty="0"/>
              <a:t>VRF</a:t>
            </a:r>
            <a:r>
              <a:rPr lang="zh-CN" altLang="en-US" dirty="0"/>
              <a:t>，共享</a:t>
            </a:r>
            <a:r>
              <a:rPr lang="en-US" altLang="zh-CN" dirty="0"/>
              <a:t>L3</a:t>
            </a:r>
            <a:r>
              <a:rPr lang="zh-CN" altLang="en-US" dirty="0"/>
              <a:t>出口绑定该</a:t>
            </a:r>
            <a:r>
              <a:rPr lang="en-US" altLang="zh-CN" dirty="0"/>
              <a:t>VRF</a:t>
            </a:r>
            <a:r>
              <a:rPr lang="zh-CN" altLang="en-US" dirty="0"/>
              <a:t>，同时配置路由，与外部网络互访。</a:t>
            </a:r>
            <a:endParaRPr lang="zh-CN"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0434742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1"/>
            <a:r>
              <a:rPr lang="en-US" altLang="zh-CN" dirty="0"/>
              <a:t>L3</a:t>
            </a:r>
            <a:r>
              <a:rPr lang="zh-CN" altLang="zh-CN" dirty="0"/>
              <a:t>独占出口方式</a:t>
            </a:r>
            <a:r>
              <a:rPr lang="zh-CN" altLang="en-US" dirty="0"/>
              <a:t>：</a:t>
            </a:r>
            <a:endParaRPr lang="en-US" altLang="zh-CN" dirty="0"/>
          </a:p>
          <a:p>
            <a:pPr lvl="2"/>
            <a:r>
              <a:rPr lang="zh-CN" altLang="en-US" dirty="0"/>
              <a:t>外部网关以</a:t>
            </a:r>
            <a:r>
              <a:rPr lang="en-US" altLang="zh-CN" dirty="0"/>
              <a:t>VLANIF</a:t>
            </a:r>
            <a:r>
              <a:rPr lang="zh-CN" altLang="en-US" dirty="0"/>
              <a:t>和</a:t>
            </a:r>
            <a:r>
              <a:rPr lang="en-US" altLang="zh-CN" dirty="0"/>
              <a:t>VBDIF</a:t>
            </a:r>
            <a:r>
              <a:rPr lang="zh-CN" altLang="en-US" dirty="0"/>
              <a:t>逻辑口和外部连接、并访问外部网络。使用业务</a:t>
            </a:r>
            <a:r>
              <a:rPr lang="en-US" altLang="zh-CN" dirty="0"/>
              <a:t>VRF</a:t>
            </a:r>
            <a:r>
              <a:rPr lang="zh-CN" altLang="en-US" dirty="0"/>
              <a:t>（</a:t>
            </a:r>
            <a:r>
              <a:rPr lang="en-US" altLang="zh-CN" dirty="0"/>
              <a:t>VN</a:t>
            </a:r>
            <a:r>
              <a:rPr lang="zh-CN" altLang="en-US" dirty="0"/>
              <a:t>对应的</a:t>
            </a:r>
            <a:r>
              <a:rPr lang="en-US" altLang="zh-CN" dirty="0"/>
              <a:t>VRF</a:t>
            </a:r>
            <a:r>
              <a:rPr lang="zh-CN" altLang="en-US" dirty="0"/>
              <a:t>）作为外部网关出口</a:t>
            </a:r>
            <a:r>
              <a:rPr lang="en-US" altLang="zh-CN" dirty="0"/>
              <a:t>VRF</a:t>
            </a:r>
            <a:r>
              <a:rPr lang="zh-CN" altLang="en-US" dirty="0"/>
              <a:t>，租户流量经过业务</a:t>
            </a:r>
            <a:r>
              <a:rPr lang="en-US" altLang="zh-CN" dirty="0"/>
              <a:t>VRF</a:t>
            </a:r>
            <a:r>
              <a:rPr lang="zh-CN" altLang="en-US" dirty="0"/>
              <a:t>直接出口。多</a:t>
            </a:r>
            <a:r>
              <a:rPr lang="en-US" altLang="zh-CN" dirty="0"/>
              <a:t>Border</a:t>
            </a:r>
            <a:r>
              <a:rPr lang="zh-CN" altLang="en-US" dirty="0"/>
              <a:t>组网时，可以在一个外部网络中配置多个核心设备。</a:t>
            </a:r>
            <a:endParaRPr lang="en-US" altLang="zh-CN" dirty="0"/>
          </a:p>
          <a:p>
            <a:pPr lvl="2"/>
            <a:r>
              <a:rPr lang="en-US" altLang="zh-CN" dirty="0"/>
              <a:t>L3</a:t>
            </a:r>
            <a:r>
              <a:rPr lang="zh-CN" altLang="zh-CN" dirty="0"/>
              <a:t>独占出口方式适用于防火墙需要对</a:t>
            </a:r>
            <a:r>
              <a:rPr lang="en-US" altLang="zh-CN" dirty="0"/>
              <a:t>VN</a:t>
            </a:r>
            <a:r>
              <a:rPr lang="zh-CN" altLang="zh-CN" dirty="0"/>
              <a:t>进行安全检测，</a:t>
            </a:r>
            <a:r>
              <a:rPr lang="zh-CN" altLang="en-US" dirty="0"/>
              <a:t>不同</a:t>
            </a:r>
            <a:r>
              <a:rPr lang="en-US" altLang="zh-CN" dirty="0"/>
              <a:t>VN</a:t>
            </a:r>
            <a:r>
              <a:rPr lang="zh-CN" altLang="en-US" dirty="0"/>
              <a:t>间安全控制策略要求较高，</a:t>
            </a:r>
            <a:r>
              <a:rPr lang="en-US" altLang="zh-CN" dirty="0"/>
              <a:t>VN</a:t>
            </a:r>
            <a:r>
              <a:rPr lang="zh-CN" altLang="zh-CN" dirty="0"/>
              <a:t>流量划分成多个安全区域</a:t>
            </a:r>
            <a:r>
              <a:rPr lang="zh-CN" altLang="en-US" dirty="0"/>
              <a:t>的场景。</a:t>
            </a:r>
            <a:endParaRPr lang="en-US" altLang="zh-CN" dirty="0"/>
          </a:p>
          <a:p>
            <a:pPr lvl="2"/>
            <a:r>
              <a:rPr lang="zh-CN" altLang="en-US" dirty="0"/>
              <a:t>防火墙可以创建多个安全区域，安全区域与</a:t>
            </a:r>
            <a:r>
              <a:rPr lang="en-US" altLang="zh-CN" dirty="0"/>
              <a:t>L3</a:t>
            </a:r>
            <a:r>
              <a:rPr lang="zh-CN" altLang="en-US" dirty="0"/>
              <a:t>独占出口一一对应，到达防火墙的不同</a:t>
            </a:r>
            <a:r>
              <a:rPr lang="en-US" altLang="zh-CN" dirty="0"/>
              <a:t>VN</a:t>
            </a:r>
            <a:r>
              <a:rPr lang="zh-CN" altLang="en-US" dirty="0"/>
              <a:t>间业务子网流量是隔离的。如果不同</a:t>
            </a:r>
            <a:r>
              <a:rPr lang="en-US" altLang="zh-CN" dirty="0"/>
              <a:t>VN</a:t>
            </a:r>
            <a:r>
              <a:rPr lang="zh-CN" altLang="en-US" dirty="0"/>
              <a:t>间需要在防火墙实现互访，可以在不同安全区域间配置安全策略，配置的安全策略还能够控制互访的应用端口、限制带宽等</a:t>
            </a:r>
            <a:r>
              <a:rPr lang="zh-CN" altLang="zh-CN" dirty="0"/>
              <a:t>。</a:t>
            </a:r>
            <a:endParaRPr lang="en-US" altLang="zh-CN" dirty="0"/>
          </a:p>
          <a:p>
            <a:pPr lvl="2"/>
            <a:r>
              <a:rPr lang="zh-CN" altLang="en-US" dirty="0"/>
              <a:t>如图，</a:t>
            </a:r>
            <a:r>
              <a:rPr lang="en-US" altLang="zh-CN" dirty="0"/>
              <a:t>Border</a:t>
            </a:r>
            <a:r>
              <a:rPr lang="zh-CN" altLang="en-US" dirty="0"/>
              <a:t>会将每个需要访问外部网络的</a:t>
            </a:r>
            <a:r>
              <a:rPr lang="en-US" altLang="zh-CN" dirty="0"/>
              <a:t>VN</a:t>
            </a:r>
            <a:r>
              <a:rPr lang="zh-CN" altLang="en-US" dirty="0"/>
              <a:t>对应的</a:t>
            </a:r>
            <a:r>
              <a:rPr lang="en-US" altLang="zh-CN" dirty="0"/>
              <a:t>VRF</a:t>
            </a:r>
            <a:r>
              <a:rPr lang="zh-CN" altLang="en-US" dirty="0"/>
              <a:t>与一个</a:t>
            </a:r>
            <a:r>
              <a:rPr lang="en-US" altLang="zh-CN" dirty="0"/>
              <a:t>L3</a:t>
            </a:r>
            <a:r>
              <a:rPr lang="zh-CN" altLang="en-US" dirty="0"/>
              <a:t>出口绑定，并分别配置路由，与外部网络互访。</a:t>
            </a:r>
            <a:endParaRPr lang="zh-CN" altLang="zh-CN" dirty="0"/>
          </a:p>
          <a:p>
            <a:pPr lvl="1"/>
            <a:r>
              <a:rPr lang="en-US" altLang="zh-CN" dirty="0"/>
              <a:t>L2</a:t>
            </a:r>
            <a:r>
              <a:rPr lang="zh-CN" altLang="zh-CN" dirty="0"/>
              <a:t>共享出口方式</a:t>
            </a:r>
            <a:r>
              <a:rPr lang="zh-CN" altLang="en-US" dirty="0"/>
              <a:t>：</a:t>
            </a:r>
            <a:endParaRPr lang="en-US" altLang="zh-CN" dirty="0"/>
          </a:p>
          <a:p>
            <a:pPr lvl="2"/>
            <a:r>
              <a:rPr lang="zh-CN" altLang="en-US" dirty="0"/>
              <a:t>用户网关在</a:t>
            </a:r>
            <a:r>
              <a:rPr lang="en-US" altLang="zh-CN" dirty="0"/>
              <a:t>Fabric</a:t>
            </a:r>
            <a:r>
              <a:rPr lang="zh-CN" altLang="en-US" dirty="0"/>
              <a:t>网络外部，可以通过</a:t>
            </a:r>
            <a:r>
              <a:rPr lang="en-US" altLang="zh-CN" dirty="0"/>
              <a:t>L2</a:t>
            </a:r>
            <a:r>
              <a:rPr lang="zh-CN" altLang="en-US" dirty="0"/>
              <a:t>共享出口将业务流量从</a:t>
            </a:r>
            <a:r>
              <a:rPr lang="en-US" altLang="zh-CN" dirty="0"/>
              <a:t>Fabric</a:t>
            </a:r>
            <a:r>
              <a:rPr lang="zh-CN" altLang="en-US" dirty="0"/>
              <a:t>网络二层透传到外部网络。即</a:t>
            </a:r>
            <a:r>
              <a:rPr lang="en-US" altLang="zh-CN" dirty="0"/>
              <a:t>Border</a:t>
            </a:r>
            <a:r>
              <a:rPr lang="zh-CN" altLang="en-US" dirty="0"/>
              <a:t>通过二层接口连接出口设备，用户网关部署在出口设备来实现访问外部网络。</a:t>
            </a:r>
          </a:p>
          <a:p>
            <a:pPr lvl="2"/>
            <a:r>
              <a:rPr lang="en-US" altLang="zh-CN" dirty="0"/>
              <a:t>L2</a:t>
            </a:r>
            <a:r>
              <a:rPr lang="zh-CN" altLang="zh-CN" dirty="0"/>
              <a:t>共享出口方式适用于用户网关是</a:t>
            </a:r>
            <a:r>
              <a:rPr lang="en-US" altLang="zh-CN" dirty="0"/>
              <a:t>Fabric</a:t>
            </a:r>
            <a:r>
              <a:rPr lang="zh-CN" altLang="zh-CN" dirty="0"/>
              <a:t>外部设备</a:t>
            </a:r>
            <a:r>
              <a:rPr lang="zh-CN" altLang="en-US" dirty="0"/>
              <a:t>的场景。如在高教场景中，若网络中存在</a:t>
            </a:r>
            <a:r>
              <a:rPr lang="en-US" altLang="zh-CN" dirty="0"/>
              <a:t>BRAS</a:t>
            </a:r>
            <a:r>
              <a:rPr lang="zh-CN" altLang="en-US" dirty="0"/>
              <a:t>（</a:t>
            </a:r>
            <a:r>
              <a:rPr lang="en-US" altLang="zh-CN" dirty="0"/>
              <a:t>Broadband Remote Access Server</a:t>
            </a:r>
            <a:r>
              <a:rPr lang="zh-CN" altLang="en-US" dirty="0"/>
              <a:t>，宽带远程接入服务器）设备做用户的认证点，并且网络中需实施</a:t>
            </a:r>
            <a:r>
              <a:rPr lang="en-US" altLang="zh-CN" dirty="0" err="1"/>
              <a:t>PPPoE</a:t>
            </a:r>
            <a:r>
              <a:rPr lang="zh-CN" altLang="en-US" dirty="0"/>
              <a:t>拨号业务，那么可以使用该外部网络互联方案。</a:t>
            </a:r>
            <a:endParaRPr lang="en-US" altLang="zh-CN" dirty="0"/>
          </a:p>
          <a:p>
            <a:r>
              <a:rPr lang="en-US" altLang="zh-CN" dirty="0"/>
              <a:t>Fabric</a:t>
            </a:r>
            <a:r>
              <a:rPr lang="zh-CN" altLang="en-US" dirty="0"/>
              <a:t>与外部网络互通支持四类路由：静态路由、</a:t>
            </a:r>
            <a:r>
              <a:rPr lang="en-US" altLang="zh-CN" dirty="0"/>
              <a:t>BGP</a:t>
            </a:r>
            <a:r>
              <a:rPr lang="zh-CN" altLang="en-US" dirty="0"/>
              <a:t>动态路由、</a:t>
            </a:r>
            <a:r>
              <a:rPr lang="en-US" altLang="zh-CN" dirty="0"/>
              <a:t>BGP4+</a:t>
            </a:r>
            <a:r>
              <a:rPr lang="zh-CN" altLang="en-US" dirty="0"/>
              <a:t>动态路由、</a:t>
            </a:r>
            <a:r>
              <a:rPr lang="en-US" altLang="zh-CN" dirty="0"/>
              <a:t>OSPF</a:t>
            </a:r>
            <a:r>
              <a:rPr lang="zh-CN" altLang="en-US" dirty="0"/>
              <a:t>动态路由。</a:t>
            </a:r>
          </a:p>
        </p:txBody>
      </p:sp>
    </p:spTree>
    <p:extLst>
      <p:ext uri="{BB962C8B-B14F-4D97-AF65-F5344CB8AC3E}">
        <p14:creationId xmlns:p14="http://schemas.microsoft.com/office/powerpoint/2010/main" val="23776690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4"/>
            <a:ext cx="5580062" cy="4985635"/>
          </a:xfrm>
        </p:spPr>
        <p:txBody>
          <a:bodyPr/>
          <a:lstStyle/>
          <a:p>
            <a:pPr lvl="0">
              <a:lnSpc>
                <a:spcPct val="100000"/>
              </a:lnSpc>
            </a:pPr>
            <a:r>
              <a:rPr lang="zh-CN" altLang="en-US" dirty="0"/>
              <a:t>网络服务资源可以创建多个，也可以一个网络服务资源中包含多个服务资源的访问地址。</a:t>
            </a:r>
          </a:p>
          <a:p>
            <a:pPr>
              <a:lnSpc>
                <a:spcPct val="100000"/>
              </a:lnSpc>
            </a:pPr>
            <a:r>
              <a:rPr lang="zh-CN" altLang="en-US" dirty="0"/>
              <a:t>直连服务器场景：</a:t>
            </a:r>
            <a:endParaRPr lang="en-US" altLang="zh-CN" dirty="0"/>
          </a:p>
          <a:p>
            <a:pPr lvl="1">
              <a:lnSpc>
                <a:spcPct val="100000"/>
              </a:lnSpc>
            </a:pPr>
            <a:r>
              <a:rPr lang="zh-CN" altLang="en-US" dirty="0"/>
              <a:t>如图，在</a:t>
            </a:r>
            <a:r>
              <a:rPr lang="en-US" altLang="zh-CN" dirty="0"/>
              <a:t>Border</a:t>
            </a:r>
            <a:r>
              <a:rPr lang="zh-CN" altLang="en-US" dirty="0"/>
              <a:t>上为创建的每个网络服务资源分配一个</a:t>
            </a:r>
            <a:r>
              <a:rPr lang="en-US" altLang="zh-CN" dirty="0"/>
              <a:t>VRF</a:t>
            </a:r>
            <a:r>
              <a:rPr lang="zh-CN" altLang="en-US" dirty="0"/>
              <a:t>，创建</a:t>
            </a:r>
            <a:r>
              <a:rPr lang="en-US" altLang="zh-CN" dirty="0"/>
              <a:t>VN</a:t>
            </a:r>
            <a:r>
              <a:rPr lang="zh-CN" altLang="en-US" dirty="0"/>
              <a:t>过程中选取了一个网络服务资源后，在</a:t>
            </a:r>
            <a:r>
              <a:rPr lang="en-US" altLang="zh-CN" dirty="0"/>
              <a:t>Border</a:t>
            </a:r>
            <a:r>
              <a:rPr lang="zh-CN" altLang="en-US" dirty="0"/>
              <a:t>上会创建指向网络服务资源地址的静态路由，下一跳为网络服务资源地址。</a:t>
            </a:r>
          </a:p>
          <a:p>
            <a:pPr>
              <a:lnSpc>
                <a:spcPct val="100000"/>
              </a:lnSpc>
            </a:pPr>
            <a:r>
              <a:rPr lang="zh-CN" altLang="en-US" dirty="0"/>
              <a:t>直连交换机场景：</a:t>
            </a:r>
            <a:endParaRPr lang="en-US" altLang="zh-CN" dirty="0"/>
          </a:p>
          <a:p>
            <a:pPr lvl="1">
              <a:lnSpc>
                <a:spcPct val="100000"/>
              </a:lnSpc>
            </a:pPr>
            <a:r>
              <a:rPr lang="zh-CN" altLang="en-US" dirty="0"/>
              <a:t>如果</a:t>
            </a:r>
            <a:r>
              <a:rPr lang="en-US" altLang="zh-CN" dirty="0"/>
              <a:t>DHCP</a:t>
            </a:r>
            <a:r>
              <a:rPr lang="zh-CN" altLang="en-US" dirty="0"/>
              <a:t>服务器、</a:t>
            </a:r>
            <a:r>
              <a:rPr lang="en-US" altLang="zh-CN" dirty="0" err="1"/>
              <a:t>iMaster</a:t>
            </a:r>
            <a:r>
              <a:rPr lang="en-US" altLang="zh-CN" dirty="0"/>
              <a:t> NCE-Campus</a:t>
            </a:r>
            <a:r>
              <a:rPr lang="zh-CN" altLang="en-US" dirty="0"/>
              <a:t>等都部署在网络管理区，</a:t>
            </a:r>
            <a:r>
              <a:rPr lang="en-US" altLang="zh-CN" dirty="0"/>
              <a:t>Border</a:t>
            </a:r>
            <a:r>
              <a:rPr lang="zh-CN" altLang="en-US" dirty="0"/>
              <a:t>与网络管理区网关交换机直连，然后与这些网络服务资源互通。而且在网络服务资源较少的情况下，建议这些网络服务资源都规划在一个网络服务资源模型中。这样，可以节省互联的</a:t>
            </a:r>
            <a:r>
              <a:rPr lang="en-US" altLang="zh-CN" dirty="0"/>
              <a:t>VLAN</a:t>
            </a:r>
            <a:r>
              <a:rPr lang="zh-CN" altLang="en-US" dirty="0"/>
              <a:t>和</a:t>
            </a:r>
            <a:r>
              <a:rPr lang="en-US" altLang="zh-CN" dirty="0"/>
              <a:t>IP</a:t>
            </a:r>
            <a:r>
              <a:rPr lang="zh-CN" altLang="en-US" dirty="0"/>
              <a:t>资源，简化网络管理区侧的路由配置。</a:t>
            </a:r>
            <a:endParaRPr lang="en-US" altLang="zh-CN" dirty="0"/>
          </a:p>
          <a:p>
            <a:pPr lvl="1">
              <a:lnSpc>
                <a:spcPct val="100000"/>
              </a:lnSpc>
            </a:pPr>
            <a:r>
              <a:rPr lang="zh-CN" altLang="en-US" dirty="0"/>
              <a:t>如图，在</a:t>
            </a:r>
            <a:r>
              <a:rPr lang="en-US" altLang="zh-CN" dirty="0"/>
              <a:t>Border</a:t>
            </a:r>
            <a:r>
              <a:rPr lang="zh-CN" altLang="en-US" dirty="0"/>
              <a:t>上为创建的每个网络服务资源分配一个</a:t>
            </a:r>
            <a:r>
              <a:rPr lang="en-US" altLang="zh-CN" dirty="0"/>
              <a:t>VRF</a:t>
            </a:r>
            <a:r>
              <a:rPr lang="zh-CN" altLang="en-US" dirty="0"/>
              <a:t>，创建</a:t>
            </a:r>
            <a:r>
              <a:rPr lang="en-US" altLang="zh-CN" dirty="0"/>
              <a:t>VN</a:t>
            </a:r>
            <a:r>
              <a:rPr lang="zh-CN" altLang="en-US" dirty="0"/>
              <a:t>过程中选取了一个网络服务资源后，在</a:t>
            </a:r>
            <a:r>
              <a:rPr lang="en-US" altLang="zh-CN" dirty="0"/>
              <a:t>Border</a:t>
            </a:r>
            <a:r>
              <a:rPr lang="zh-CN" altLang="en-US" dirty="0"/>
              <a:t>上会创建指向网络服务资源地址的静态路由，下一跳为网络管理区网关地址。</a:t>
            </a:r>
            <a:endParaRPr lang="en-US" altLang="zh-CN" dirty="0"/>
          </a:p>
          <a:p>
            <a:pPr lvl="1">
              <a:lnSpc>
                <a:spcPct val="100000"/>
              </a:lnSpc>
            </a:pPr>
            <a:r>
              <a:rPr lang="zh-CN" altLang="en-US" dirty="0"/>
              <a:t>说明：</a:t>
            </a:r>
            <a:r>
              <a:rPr lang="en-US" altLang="zh-CN" dirty="0"/>
              <a:t>Border</a:t>
            </a:r>
            <a:r>
              <a:rPr lang="zh-CN" altLang="en-US" dirty="0"/>
              <a:t>侧路由是通过</a:t>
            </a:r>
            <a:r>
              <a:rPr lang="en-US" altLang="zh-CN" dirty="0" err="1"/>
              <a:t>iMaster</a:t>
            </a:r>
            <a:r>
              <a:rPr lang="en-US" altLang="zh-CN" dirty="0"/>
              <a:t> NCE-Campus</a:t>
            </a:r>
            <a:r>
              <a:rPr lang="zh-CN" altLang="en-US" dirty="0"/>
              <a:t>创建网络服务资源时自动下发，网络管理区网关侧路由需要登录其</a:t>
            </a:r>
            <a:r>
              <a:rPr lang="en-US" altLang="zh-CN" dirty="0"/>
              <a:t>Web</a:t>
            </a:r>
            <a:r>
              <a:rPr lang="zh-CN" altLang="en-US" dirty="0"/>
              <a:t>网管或者命令行界面配置。</a:t>
            </a:r>
            <a:endParaRPr lang="en-US" altLang="zh-CN" dirty="0"/>
          </a:p>
          <a:p>
            <a:pPr>
              <a:lnSpc>
                <a:spcPct val="100000"/>
              </a:lnSpc>
            </a:pPr>
            <a:r>
              <a:rPr lang="zh-CN" altLang="en-US" dirty="0"/>
              <a:t>服务器部署在远端场景：</a:t>
            </a:r>
            <a:endParaRPr lang="en-US" altLang="zh-CN" dirty="0"/>
          </a:p>
          <a:p>
            <a:pPr lvl="1">
              <a:lnSpc>
                <a:spcPct val="100000"/>
              </a:lnSpc>
            </a:pPr>
            <a:r>
              <a:rPr lang="zh-CN" altLang="en-US" dirty="0"/>
              <a:t>创建该场景下的网络服务资源模型主要为了获取</a:t>
            </a:r>
            <a:r>
              <a:rPr lang="en-US" altLang="zh-CN" dirty="0"/>
              <a:t>DHCP</a:t>
            </a:r>
            <a:r>
              <a:rPr lang="zh-CN" altLang="en-US" dirty="0"/>
              <a:t>服务器地址，以便后续创建</a:t>
            </a:r>
            <a:r>
              <a:rPr lang="en-US" altLang="zh-CN" dirty="0"/>
              <a:t>VN</a:t>
            </a:r>
            <a:r>
              <a:rPr lang="zh-CN" altLang="en-US" dirty="0"/>
              <a:t>子网网关时，作为</a:t>
            </a:r>
            <a:r>
              <a:rPr lang="en-US" altLang="zh-CN" dirty="0"/>
              <a:t>DHCP Relay</a:t>
            </a:r>
            <a:r>
              <a:rPr lang="zh-CN" altLang="en-US" dirty="0"/>
              <a:t>的网关设备可以自动配置</a:t>
            </a:r>
            <a:r>
              <a:rPr lang="en-US" altLang="zh-CN" dirty="0"/>
              <a:t>DHCP</a:t>
            </a:r>
            <a:r>
              <a:rPr lang="zh-CN" altLang="en-US" dirty="0"/>
              <a:t>服务器地址。</a:t>
            </a:r>
            <a:endParaRPr lang="en-US" altLang="zh-CN" dirty="0"/>
          </a:p>
          <a:p>
            <a:pPr lvl="1">
              <a:lnSpc>
                <a:spcPct val="100000"/>
              </a:lnSpc>
            </a:pPr>
            <a:r>
              <a:rPr lang="zh-CN" altLang="en-US" dirty="0"/>
              <a:t>如图，在创建</a:t>
            </a:r>
            <a:r>
              <a:rPr lang="en-US" altLang="zh-CN" dirty="0"/>
              <a:t>VN</a:t>
            </a:r>
            <a:r>
              <a:rPr lang="zh-CN" altLang="en-US" dirty="0"/>
              <a:t>过程中选取了外部网络和网络服务资源后，</a:t>
            </a:r>
            <a:r>
              <a:rPr lang="en-US" altLang="zh-CN" dirty="0"/>
              <a:t>Border</a:t>
            </a:r>
            <a:r>
              <a:rPr lang="zh-CN" altLang="en-US" dirty="0"/>
              <a:t>的</a:t>
            </a:r>
            <a:r>
              <a:rPr lang="en-US" altLang="zh-CN" dirty="0"/>
              <a:t>L3</a:t>
            </a:r>
            <a:r>
              <a:rPr lang="zh-CN" altLang="en-US" dirty="0"/>
              <a:t>出口绑定该</a:t>
            </a:r>
            <a:r>
              <a:rPr lang="en-US" altLang="zh-CN" dirty="0"/>
              <a:t>VN</a:t>
            </a:r>
            <a:r>
              <a:rPr lang="zh-CN" altLang="en-US" dirty="0"/>
              <a:t>的</a:t>
            </a:r>
            <a:r>
              <a:rPr lang="en-US" altLang="zh-CN" dirty="0"/>
              <a:t>VRF</a:t>
            </a:r>
            <a:r>
              <a:rPr lang="zh-CN" altLang="en-US" dirty="0"/>
              <a:t>，并创建指向外部网络的路由，最终实现访问网络服务资源。</a:t>
            </a:r>
            <a:endParaRPr lang="en-US" altLang="zh-CN" dirty="0"/>
          </a:p>
          <a:p>
            <a:pPr lvl="0">
              <a:lnSpc>
                <a:spcPct val="100000"/>
              </a:lnSpc>
            </a:pPr>
            <a:r>
              <a:rPr lang="zh-CN" altLang="en-US" dirty="0"/>
              <a:t>说明：本页展示的场景为逻辑示意图，实际连线请以实际组网为准。</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985211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a:t>
            </a:r>
            <a:r>
              <a:rPr lang="en-US" altLang="zh-CN"/>
              <a:t>Fabric</a:t>
            </a:r>
            <a:r>
              <a:rPr lang="zh-CN" altLang="en-US"/>
              <a:t>扩展</a:t>
            </a:r>
            <a:r>
              <a:rPr lang="en-US" altLang="zh-CN"/>
              <a:t>AP</a:t>
            </a:r>
            <a:r>
              <a:rPr lang="zh-CN" altLang="en-US"/>
              <a:t>”和“</a:t>
            </a:r>
            <a:r>
              <a:rPr lang="en-US" altLang="zh-CN"/>
              <a:t>Fabric</a:t>
            </a:r>
            <a:r>
              <a:rPr lang="zh-CN" altLang="en-US"/>
              <a:t>扩展交换机”：这两种连接类型主要是在配置策略联动时，实现认证控制点与认证执行点间的策略联动管理</a:t>
            </a:r>
            <a:r>
              <a:rPr lang="en-US" altLang="zh-CN"/>
              <a:t>VLAN</a:t>
            </a:r>
            <a:r>
              <a:rPr lang="zh-CN" altLang="en-US"/>
              <a:t>互通，而且</a:t>
            </a:r>
            <a:r>
              <a:rPr lang="en-US" altLang="zh-CN"/>
              <a:t>Fabric</a:t>
            </a:r>
            <a:r>
              <a:rPr lang="zh-CN" altLang="en-US"/>
              <a:t>扩展交换机作为认证执行点，还可以下挂</a:t>
            </a:r>
            <a:r>
              <a:rPr lang="en-US" altLang="zh-CN"/>
              <a:t>Fabric</a:t>
            </a:r>
            <a:r>
              <a:rPr lang="zh-CN" altLang="en-US"/>
              <a:t>扩展</a:t>
            </a:r>
            <a:r>
              <a:rPr lang="en-US" altLang="zh-CN"/>
              <a:t>AP</a:t>
            </a:r>
            <a:r>
              <a:rPr lang="zh-CN" altLang="en-US"/>
              <a:t>和终端。</a:t>
            </a:r>
            <a:endParaRPr lang="en-US" altLang="zh-CN"/>
          </a:p>
          <a:p>
            <a:r>
              <a:rPr lang="zh-CN" altLang="en-US"/>
              <a:t>“终端（</a:t>
            </a:r>
            <a:r>
              <a:rPr lang="en-US" altLang="zh-CN"/>
              <a:t>PC</a:t>
            </a:r>
            <a:r>
              <a:rPr lang="zh-CN" altLang="en-US"/>
              <a:t>、话机、哑终端、非</a:t>
            </a:r>
            <a:r>
              <a:rPr lang="en-US" altLang="zh-CN"/>
              <a:t>Fabric</a:t>
            </a:r>
            <a:r>
              <a:rPr lang="zh-CN" altLang="en-US"/>
              <a:t>扩展接入交换机</a:t>
            </a:r>
            <a:r>
              <a:rPr lang="en-US" altLang="zh-CN"/>
              <a:t>/AP</a:t>
            </a:r>
            <a:r>
              <a:rPr lang="zh-CN" altLang="en-US"/>
              <a:t>）”：如果下挂的设备是终端，可以按接入控制设计中的“用户认证方式设计”，根据终端类型，绑定相应的认证模板，对终端进行接入控制。</a:t>
            </a:r>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8367866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00000"/>
              </a:lnSpc>
            </a:pPr>
            <a:r>
              <a:rPr lang="en-US" altLang="zh-CN" dirty="0"/>
              <a:t>VN</a:t>
            </a:r>
            <a:r>
              <a:rPr lang="zh-CN" altLang="en-US" dirty="0"/>
              <a:t>设计：</a:t>
            </a:r>
            <a:endParaRPr lang="en-US" altLang="zh-CN" dirty="0"/>
          </a:p>
          <a:p>
            <a:pPr lvl="1">
              <a:lnSpc>
                <a:spcPct val="100000"/>
              </a:lnSpc>
            </a:pPr>
            <a:r>
              <a:rPr lang="zh-CN" altLang="en-US" dirty="0"/>
              <a:t>虚拟网络通常根据园区的业务来划分，独立的业务作为一个</a:t>
            </a:r>
            <a:r>
              <a:rPr lang="en-US" altLang="zh-CN" dirty="0"/>
              <a:t>VN</a:t>
            </a:r>
            <a:r>
              <a:rPr lang="zh-CN" altLang="en-US" dirty="0"/>
              <a:t>，</a:t>
            </a:r>
            <a:r>
              <a:rPr lang="en-US" altLang="zh-CN" dirty="0"/>
              <a:t>VN</a:t>
            </a:r>
            <a:r>
              <a:rPr lang="zh-CN" altLang="en-US" dirty="0"/>
              <a:t>之间默认是隔离的。例如在校园网中，访客业务、教学业务、物联网业务、视频监控业务等可以划分成独立的</a:t>
            </a:r>
            <a:r>
              <a:rPr lang="en-US" altLang="zh-CN" dirty="0"/>
              <a:t>VN</a:t>
            </a:r>
            <a:r>
              <a:rPr lang="zh-CN" altLang="en-US" dirty="0"/>
              <a:t>。例如在企业园区中，办公网络业务、生产网络业务、科研网络业务等可划分成独立的</a:t>
            </a:r>
            <a:r>
              <a:rPr lang="en-US" altLang="zh-CN" dirty="0"/>
              <a:t>VN</a:t>
            </a:r>
            <a:r>
              <a:rPr lang="zh-CN" altLang="en-US" dirty="0"/>
              <a:t>。</a:t>
            </a:r>
            <a:endParaRPr lang="en-US" altLang="zh-CN" dirty="0"/>
          </a:p>
          <a:p>
            <a:pPr lvl="0">
              <a:lnSpc>
                <a:spcPct val="100000"/>
              </a:lnSpc>
            </a:pPr>
            <a:r>
              <a:rPr lang="zh-CN" altLang="en-US" dirty="0"/>
              <a:t>策略设计：</a:t>
            </a:r>
          </a:p>
          <a:p>
            <a:pPr lvl="1">
              <a:lnSpc>
                <a:spcPct val="100000"/>
              </a:lnSpc>
            </a:pPr>
            <a:r>
              <a:rPr lang="zh-CN" altLang="en-US" dirty="0"/>
              <a:t>由于用户角色的差异而导致的部分隔离需求，可通过部署策略管控技术（如业务随行）实现。</a:t>
            </a:r>
            <a:endParaRPr lang="en-US" altLang="zh-CN" dirty="0"/>
          </a:p>
          <a:p>
            <a:pPr lvl="1">
              <a:lnSpc>
                <a:spcPct val="100000"/>
              </a:lnSpc>
            </a:pPr>
            <a:r>
              <a:rPr lang="en-US" altLang="zh-CN" dirty="0"/>
              <a:t>VN</a:t>
            </a:r>
            <a:r>
              <a:rPr lang="zh-CN" altLang="en-US" dirty="0"/>
              <a:t>间默认是隔离的，需考虑</a:t>
            </a:r>
            <a:r>
              <a:rPr lang="en-US" altLang="zh-CN" dirty="0"/>
              <a:t>VN</a:t>
            </a:r>
            <a:r>
              <a:rPr lang="zh-CN" altLang="en-US" dirty="0"/>
              <a:t>内用户组间的访问需求，做额外的</a:t>
            </a:r>
            <a:r>
              <a:rPr lang="en-US" altLang="zh-CN" dirty="0"/>
              <a:t>VN</a:t>
            </a:r>
            <a:r>
              <a:rPr lang="zh-CN" altLang="en-US" dirty="0"/>
              <a:t>互通配置。</a:t>
            </a:r>
            <a:endParaRPr lang="en-US" altLang="zh-CN" dirty="0"/>
          </a:p>
          <a:p>
            <a:pPr>
              <a:lnSpc>
                <a:spcPct val="100000"/>
              </a:lnSpc>
            </a:pPr>
            <a:r>
              <a:rPr lang="en-US" altLang="zh-CN" dirty="0"/>
              <a:t>VN</a:t>
            </a:r>
            <a:r>
              <a:rPr lang="zh-CN" altLang="en-US" dirty="0"/>
              <a:t>接入设计：</a:t>
            </a:r>
            <a:endParaRPr lang="en-US" altLang="zh-CN" dirty="0"/>
          </a:p>
          <a:p>
            <a:pPr lvl="1">
              <a:lnSpc>
                <a:spcPct val="100000"/>
              </a:lnSpc>
            </a:pPr>
            <a:r>
              <a:rPr lang="en-US" altLang="zh-CN" dirty="0"/>
              <a:t>Edge</a:t>
            </a:r>
            <a:r>
              <a:rPr lang="zh-CN" altLang="en-US" dirty="0"/>
              <a:t>节点是业务数据从物理网络进入</a:t>
            </a:r>
            <a:r>
              <a:rPr lang="en-US" altLang="zh-CN" dirty="0"/>
              <a:t>VN</a:t>
            </a:r>
            <a:r>
              <a:rPr lang="zh-CN" altLang="en-US" dirty="0"/>
              <a:t>的边界点，根据用户所属的</a:t>
            </a:r>
            <a:r>
              <a:rPr lang="en-US" altLang="zh-CN" dirty="0"/>
              <a:t>VLAN</a:t>
            </a:r>
            <a:r>
              <a:rPr lang="zh-CN" altLang="en-US" dirty="0"/>
              <a:t>进入不同的</a:t>
            </a:r>
            <a:r>
              <a:rPr lang="en-US" altLang="zh-CN" dirty="0"/>
              <a:t>VN</a:t>
            </a:r>
            <a:r>
              <a:rPr lang="zh-CN" altLang="en-US" dirty="0"/>
              <a:t>。因此在设计网络时，需要先规划好物理网络的</a:t>
            </a:r>
            <a:r>
              <a:rPr lang="en-US" altLang="zh-CN" dirty="0"/>
              <a:t>VLAN</a:t>
            </a:r>
            <a:r>
              <a:rPr lang="zh-CN" altLang="en-US" dirty="0"/>
              <a:t>和</a:t>
            </a:r>
            <a:r>
              <a:rPr lang="en-US" altLang="zh-CN" dirty="0"/>
              <a:t>VN</a:t>
            </a:r>
            <a:r>
              <a:rPr lang="zh-CN" altLang="en-US" dirty="0"/>
              <a:t>的</a:t>
            </a:r>
            <a:r>
              <a:rPr lang="en-US" altLang="zh-CN" dirty="0"/>
              <a:t>BD</a:t>
            </a:r>
            <a:r>
              <a:rPr lang="zh-CN" altLang="en-US" dirty="0"/>
              <a:t>的映射关系，同时配置有线用户和无线用户的</a:t>
            </a:r>
            <a:r>
              <a:rPr lang="en-US" altLang="zh-CN" dirty="0"/>
              <a:t>VLAN</a:t>
            </a:r>
            <a:r>
              <a:rPr lang="zh-CN" altLang="en-US" dirty="0"/>
              <a:t>。</a:t>
            </a:r>
            <a:endParaRPr lang="en-US" altLang="zh-CN" dirty="0"/>
          </a:p>
          <a:p>
            <a:pPr>
              <a:lnSpc>
                <a:spcPct val="100000"/>
              </a:lnSpc>
            </a:pPr>
            <a:r>
              <a:rPr lang="en-US" altLang="zh-CN" dirty="0"/>
              <a:t>5W1H</a:t>
            </a:r>
            <a:r>
              <a:rPr lang="zh-CN" altLang="en-US" dirty="0"/>
              <a:t>：</a:t>
            </a:r>
            <a:endParaRPr lang="en-US" altLang="zh-CN" dirty="0"/>
          </a:p>
          <a:p>
            <a:pPr lvl="1">
              <a:lnSpc>
                <a:spcPct val="100000"/>
              </a:lnSpc>
            </a:pPr>
            <a:r>
              <a:rPr lang="en-US" altLang="zh-CN" dirty="0"/>
              <a:t>Who</a:t>
            </a:r>
            <a:r>
              <a:rPr lang="zh-CN" altLang="en-US" dirty="0"/>
              <a:t>：接入用户的身份，例如公司的领导、普通员工、访客；</a:t>
            </a:r>
          </a:p>
          <a:p>
            <a:pPr lvl="1">
              <a:lnSpc>
                <a:spcPct val="100000"/>
              </a:lnSpc>
            </a:pPr>
            <a:r>
              <a:rPr lang="en-US" altLang="zh-CN" dirty="0"/>
              <a:t>Where</a:t>
            </a:r>
            <a:r>
              <a:rPr lang="zh-CN" altLang="en-US" dirty="0"/>
              <a:t>：接入用户的地点，例如园区内接入，或远程接入；</a:t>
            </a:r>
          </a:p>
          <a:p>
            <a:pPr lvl="1">
              <a:lnSpc>
                <a:spcPct val="100000"/>
              </a:lnSpc>
            </a:pPr>
            <a:r>
              <a:rPr lang="en-US" altLang="zh-CN" dirty="0"/>
              <a:t>What</a:t>
            </a:r>
            <a:r>
              <a:rPr lang="zh-CN" altLang="en-US" dirty="0"/>
              <a:t>：接入用户使用的终端类型，例如是手机接入，还是</a:t>
            </a:r>
            <a:r>
              <a:rPr lang="en-US" altLang="zh-CN" dirty="0"/>
              <a:t>PC/</a:t>
            </a:r>
            <a:r>
              <a:rPr lang="zh-CN" altLang="en-US" dirty="0"/>
              <a:t>便携机接入；</a:t>
            </a:r>
          </a:p>
          <a:p>
            <a:pPr lvl="1">
              <a:lnSpc>
                <a:spcPct val="100000"/>
              </a:lnSpc>
            </a:pPr>
            <a:r>
              <a:rPr lang="en-US" altLang="zh-CN" dirty="0"/>
              <a:t>When</a:t>
            </a:r>
            <a:r>
              <a:rPr lang="zh-CN" altLang="en-US" dirty="0"/>
              <a:t>：接入用户的时间，例如是白天接入，还是晚上接入；</a:t>
            </a:r>
          </a:p>
          <a:p>
            <a:pPr lvl="1">
              <a:lnSpc>
                <a:spcPct val="100000"/>
              </a:lnSpc>
            </a:pPr>
            <a:r>
              <a:rPr lang="en-US" altLang="zh-CN" dirty="0"/>
              <a:t>Whose</a:t>
            </a:r>
            <a:r>
              <a:rPr lang="zh-CN" altLang="en-US" dirty="0"/>
              <a:t>：设备归属，例如是公司终端的还是自带终端；</a:t>
            </a:r>
          </a:p>
          <a:p>
            <a:pPr lvl="1">
              <a:lnSpc>
                <a:spcPct val="100000"/>
              </a:lnSpc>
            </a:pPr>
            <a:r>
              <a:rPr lang="en-US" altLang="zh-CN" dirty="0"/>
              <a:t>How</a:t>
            </a:r>
            <a:r>
              <a:rPr lang="zh-CN" altLang="en-US" dirty="0"/>
              <a:t>：接入用户的方式，例如是有线接入，还是无线接入。</a:t>
            </a:r>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40765950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在大中型虚拟化园区网络方案中，每个</a:t>
            </a:r>
            <a:r>
              <a:rPr lang="en-US" altLang="zh-CN" dirty="0"/>
              <a:t>VN</a:t>
            </a:r>
            <a:r>
              <a:rPr lang="zh-CN" altLang="en-US" dirty="0"/>
              <a:t>为一个</a:t>
            </a:r>
            <a:r>
              <a:rPr lang="en-US" altLang="zh-CN" dirty="0"/>
              <a:t>VPN</a:t>
            </a:r>
            <a:r>
              <a:rPr lang="zh-CN" altLang="en-US" dirty="0"/>
              <a:t>实例（</a:t>
            </a:r>
            <a:r>
              <a:rPr lang="en-US" altLang="zh-CN" dirty="0"/>
              <a:t>VRF</a:t>
            </a:r>
            <a:r>
              <a:rPr lang="zh-CN" altLang="en-US" dirty="0"/>
              <a:t>），一个</a:t>
            </a:r>
            <a:r>
              <a:rPr lang="en-US" altLang="zh-CN" dirty="0"/>
              <a:t>VN</a:t>
            </a:r>
            <a:r>
              <a:rPr lang="zh-CN" altLang="en-US" dirty="0"/>
              <a:t>中可以包含多个子网，同一</a:t>
            </a:r>
            <a:r>
              <a:rPr lang="en-US" altLang="zh-CN" dirty="0"/>
              <a:t>VN</a:t>
            </a:r>
            <a:r>
              <a:rPr lang="zh-CN" altLang="en-US" dirty="0"/>
              <a:t>内的用户之间默认可以三层互通，</a:t>
            </a:r>
            <a:r>
              <a:rPr lang="en-US" altLang="zh-CN" dirty="0"/>
              <a:t>VN</a:t>
            </a:r>
            <a:r>
              <a:rPr lang="zh-CN" altLang="en-US" dirty="0"/>
              <a:t>之间的用户默认是隔离的。</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12841880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应用场景：</a:t>
            </a:r>
          </a:p>
          <a:p>
            <a:pPr lvl="1"/>
            <a:r>
              <a:rPr lang="zh-CN" altLang="en-US" dirty="0"/>
              <a:t>静态</a:t>
            </a:r>
            <a:r>
              <a:rPr lang="en-US" altLang="zh-CN" dirty="0"/>
              <a:t>VLAN</a:t>
            </a:r>
            <a:r>
              <a:rPr lang="zh-CN" altLang="en-US" dirty="0"/>
              <a:t>方式适用于终端接入位置固定、不认证的场景，这种接入方式更安全，但是缺乏灵活性，当终端位置发生变化时，需要重新配置。</a:t>
            </a:r>
          </a:p>
          <a:p>
            <a:pPr lvl="1"/>
            <a:r>
              <a:rPr lang="zh-CN" altLang="en-US" dirty="0"/>
              <a:t>动态授权</a:t>
            </a:r>
            <a:r>
              <a:rPr lang="en-US" altLang="zh-CN" dirty="0"/>
              <a:t>VLAN</a:t>
            </a:r>
            <a:r>
              <a:rPr lang="zh-CN" altLang="en-US" dirty="0"/>
              <a:t>的方式是结合用户认证流程下发</a:t>
            </a:r>
            <a:r>
              <a:rPr lang="en-US" altLang="zh-CN" dirty="0"/>
              <a:t>VLAN</a:t>
            </a:r>
            <a:r>
              <a:rPr lang="zh-CN" altLang="en-US" dirty="0"/>
              <a:t>信息的，适用于任意位置接入，且需要认证的场景，这种接入方式灵活性高，当终端位置变化时，不需要修改配置。动态接入的自动化程度更高，管理和使用更方便，建议采用动态接入方式。</a:t>
            </a:r>
            <a:endParaRPr lang="en-US" altLang="zh-CN" dirty="0"/>
          </a:p>
          <a:p>
            <a:r>
              <a:rPr lang="zh-CN" altLang="en-US" dirty="0"/>
              <a:t>无线用户的</a:t>
            </a:r>
            <a:r>
              <a:rPr lang="en-US" altLang="zh-CN" dirty="0"/>
              <a:t>VN</a:t>
            </a:r>
            <a:r>
              <a:rPr lang="zh-CN" altLang="en-US" dirty="0"/>
              <a:t>接入设计：</a:t>
            </a:r>
            <a:endParaRPr lang="en-US" altLang="zh-CN" dirty="0"/>
          </a:p>
          <a:p>
            <a:pPr lvl="1"/>
            <a:r>
              <a:rPr lang="zh-CN" altLang="en-US" dirty="0"/>
              <a:t>如果采用分布式网关，</a:t>
            </a:r>
            <a:r>
              <a:rPr lang="en-US" altLang="zh-CN" dirty="0"/>
              <a:t>Border</a:t>
            </a:r>
            <a:r>
              <a:rPr lang="zh-CN" altLang="en-US" dirty="0"/>
              <a:t>节点部署随板</a:t>
            </a:r>
            <a:r>
              <a:rPr lang="en-US" altLang="zh-CN" dirty="0"/>
              <a:t>AC</a:t>
            </a:r>
            <a:r>
              <a:rPr lang="zh-CN" altLang="en-US" dirty="0"/>
              <a:t>功能，无线用户流量经过</a:t>
            </a:r>
            <a:r>
              <a:rPr lang="en-US" altLang="zh-CN" dirty="0"/>
              <a:t>CAPWAP</a:t>
            </a:r>
            <a:r>
              <a:rPr lang="zh-CN" altLang="en-US" dirty="0"/>
              <a:t>隧道转发至随板</a:t>
            </a:r>
            <a:r>
              <a:rPr lang="en-US" altLang="zh-CN" dirty="0"/>
              <a:t>AC</a:t>
            </a:r>
            <a:r>
              <a:rPr lang="zh-CN" altLang="en-US" dirty="0"/>
              <a:t>，随板</a:t>
            </a:r>
            <a:r>
              <a:rPr lang="en-US" altLang="zh-CN" dirty="0"/>
              <a:t>AC</a:t>
            </a:r>
            <a:r>
              <a:rPr lang="zh-CN" altLang="en-US" dirty="0"/>
              <a:t>解封装</a:t>
            </a:r>
            <a:r>
              <a:rPr lang="en-US" altLang="zh-CN" dirty="0"/>
              <a:t>CAPWAP</a:t>
            </a:r>
            <a:r>
              <a:rPr lang="zh-CN" altLang="en-US" dirty="0"/>
              <a:t>报文后，再根据无线用户所属的</a:t>
            </a:r>
            <a:r>
              <a:rPr lang="en-US" altLang="zh-CN" dirty="0"/>
              <a:t>VLAN</a:t>
            </a:r>
            <a:r>
              <a:rPr lang="zh-CN" altLang="en-US" dirty="0"/>
              <a:t>进入对应的</a:t>
            </a:r>
            <a:r>
              <a:rPr lang="en-US" altLang="zh-CN" dirty="0"/>
              <a:t>VN</a:t>
            </a:r>
            <a:r>
              <a:rPr lang="zh-CN" altLang="en-US" dirty="0"/>
              <a:t>。</a:t>
            </a:r>
          </a:p>
          <a:p>
            <a:pPr lvl="1"/>
            <a:r>
              <a:rPr lang="zh-CN" altLang="en-US" dirty="0"/>
              <a:t>如果采用集中式网关，</a:t>
            </a:r>
            <a:r>
              <a:rPr lang="en-US" altLang="zh-CN" dirty="0"/>
              <a:t>Border</a:t>
            </a:r>
            <a:r>
              <a:rPr lang="zh-CN" altLang="en-US" dirty="0"/>
              <a:t>节点部署随板</a:t>
            </a:r>
            <a:r>
              <a:rPr lang="en-US" altLang="zh-CN" dirty="0"/>
              <a:t>AC</a:t>
            </a:r>
            <a:r>
              <a:rPr lang="zh-CN" altLang="en-US" dirty="0"/>
              <a:t>功能，建议规划无线用户流量直接通过</a:t>
            </a:r>
            <a:r>
              <a:rPr lang="en-US" altLang="zh-CN" dirty="0"/>
              <a:t>CAPWAP</a:t>
            </a:r>
            <a:r>
              <a:rPr lang="zh-CN" altLang="en-US" dirty="0"/>
              <a:t>隧道转发至随板</a:t>
            </a:r>
            <a:r>
              <a:rPr lang="en-US" altLang="zh-CN" dirty="0"/>
              <a:t>AC</a:t>
            </a:r>
            <a:r>
              <a:rPr lang="zh-CN" altLang="en-US" dirty="0"/>
              <a:t>，随板</a:t>
            </a:r>
            <a:r>
              <a:rPr lang="en-US" altLang="zh-CN" dirty="0"/>
              <a:t>AC</a:t>
            </a:r>
            <a:r>
              <a:rPr lang="zh-CN" altLang="en-US" dirty="0"/>
              <a:t>解封装</a:t>
            </a:r>
            <a:r>
              <a:rPr lang="en-US" altLang="zh-CN" dirty="0"/>
              <a:t>CAPWAP</a:t>
            </a:r>
            <a:r>
              <a:rPr lang="zh-CN" altLang="en-US" dirty="0"/>
              <a:t>报文后根据</a:t>
            </a:r>
            <a:r>
              <a:rPr lang="en-US" altLang="zh-CN" dirty="0"/>
              <a:t>VLAN</a:t>
            </a:r>
            <a:r>
              <a:rPr lang="zh-CN" altLang="en-US" dirty="0"/>
              <a:t>进入对应的</a:t>
            </a:r>
            <a:r>
              <a:rPr lang="en-US" altLang="zh-CN" dirty="0"/>
              <a:t>VN</a:t>
            </a:r>
            <a:r>
              <a:rPr lang="zh-CN" altLang="en-US" dirty="0"/>
              <a:t>。管理员需将有线终端和无线终端接入</a:t>
            </a:r>
            <a:r>
              <a:rPr lang="en-US" altLang="zh-CN" dirty="0"/>
              <a:t>VLAN</a:t>
            </a:r>
            <a:r>
              <a:rPr lang="zh-CN" altLang="en-US" dirty="0"/>
              <a:t>划分在不重叠范围，有线终端</a:t>
            </a:r>
            <a:r>
              <a:rPr lang="en-US" altLang="zh-CN" dirty="0"/>
              <a:t>VLAN</a:t>
            </a:r>
            <a:r>
              <a:rPr lang="zh-CN" altLang="en-US" dirty="0"/>
              <a:t>在</a:t>
            </a:r>
            <a:r>
              <a:rPr lang="en-US" altLang="zh-CN" dirty="0"/>
              <a:t>Edge</a:t>
            </a:r>
            <a:r>
              <a:rPr lang="zh-CN" altLang="en-US" dirty="0"/>
              <a:t>绑定</a:t>
            </a:r>
            <a:r>
              <a:rPr lang="en-US" altLang="zh-CN" dirty="0"/>
              <a:t>BD</a:t>
            </a:r>
            <a:r>
              <a:rPr lang="zh-CN" altLang="en-US" dirty="0"/>
              <a:t>，无线终端</a:t>
            </a:r>
            <a:r>
              <a:rPr lang="en-US" altLang="zh-CN" dirty="0"/>
              <a:t>VLAN</a:t>
            </a:r>
            <a:r>
              <a:rPr lang="zh-CN" altLang="en-US" dirty="0"/>
              <a:t>在</a:t>
            </a:r>
            <a:r>
              <a:rPr lang="en-US" altLang="zh-CN" dirty="0"/>
              <a:t>Border</a:t>
            </a:r>
            <a:r>
              <a:rPr lang="zh-CN" altLang="en-US" dirty="0"/>
              <a:t>绑定</a:t>
            </a:r>
            <a:r>
              <a:rPr lang="en-US" altLang="zh-CN" dirty="0"/>
              <a:t>BD</a:t>
            </a:r>
            <a:r>
              <a:rPr lang="zh-CN" altLang="en-US" dirty="0"/>
              <a:t>。</a:t>
            </a:r>
          </a:p>
          <a:p>
            <a:pPr lvl="0"/>
            <a:r>
              <a:rPr lang="zh-CN" altLang="en-US" dirty="0"/>
              <a:t>说明：</a:t>
            </a:r>
            <a:r>
              <a:rPr lang="en-US" altLang="zh-CN" dirty="0"/>
              <a:t>802.1X</a:t>
            </a:r>
            <a:r>
              <a:rPr lang="zh-CN" altLang="en-US" dirty="0"/>
              <a:t>及</a:t>
            </a:r>
            <a:r>
              <a:rPr lang="en-US" altLang="zh-CN" dirty="0"/>
              <a:t>MAC</a:t>
            </a:r>
            <a:r>
              <a:rPr lang="zh-CN" altLang="en-US" dirty="0"/>
              <a:t>认证都支持动态授权</a:t>
            </a:r>
            <a:r>
              <a:rPr lang="en-US" altLang="zh-CN" dirty="0"/>
              <a:t>VLAN</a:t>
            </a:r>
            <a:r>
              <a:rPr lang="zh-CN" altLang="en-US" dirty="0"/>
              <a:t>。</a:t>
            </a:r>
          </a:p>
          <a:p>
            <a:pPr lvl="0"/>
            <a:endParaRPr lang="zh-CN" altLang="en-US" dirty="0"/>
          </a:p>
        </p:txBody>
      </p:sp>
    </p:spTree>
    <p:extLst>
      <p:ext uri="{BB962C8B-B14F-4D97-AF65-F5344CB8AC3E}">
        <p14:creationId xmlns:p14="http://schemas.microsoft.com/office/powerpoint/2010/main" val="25447525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VN</a:t>
            </a:r>
            <a:r>
              <a:rPr lang="zh-CN" altLang="zh-CN" dirty="0"/>
              <a:t>之间的互访，可以通过</a:t>
            </a:r>
            <a:r>
              <a:rPr lang="en-US" altLang="zh-CN" dirty="0"/>
              <a:t>Border</a:t>
            </a:r>
            <a:r>
              <a:rPr lang="zh-CN" altLang="zh-CN" dirty="0"/>
              <a:t>或外部网关实现。</a:t>
            </a:r>
          </a:p>
          <a:p>
            <a:pPr lvl="1"/>
            <a:r>
              <a:rPr lang="zh-CN" altLang="zh-CN" dirty="0"/>
              <a:t>通过</a:t>
            </a:r>
            <a:r>
              <a:rPr lang="en-US" altLang="zh-CN" dirty="0"/>
              <a:t>Border</a:t>
            </a:r>
            <a:r>
              <a:rPr lang="zh-CN" altLang="zh-CN" dirty="0"/>
              <a:t>互通</a:t>
            </a:r>
          </a:p>
          <a:p>
            <a:pPr lvl="2"/>
            <a:r>
              <a:rPr lang="zh-CN" altLang="zh-CN" dirty="0"/>
              <a:t>两个</a:t>
            </a:r>
            <a:r>
              <a:rPr lang="en-US" altLang="zh-CN" dirty="0"/>
              <a:t>VN</a:t>
            </a:r>
            <a:r>
              <a:rPr lang="zh-CN" altLang="zh-CN" dirty="0"/>
              <a:t>如果属于相同的安全区域，安全控制需求比较低，可以直接在</a:t>
            </a:r>
            <a:r>
              <a:rPr lang="en-US" altLang="zh-CN" dirty="0"/>
              <a:t>Border</a:t>
            </a:r>
            <a:r>
              <a:rPr lang="zh-CN" altLang="zh-CN" dirty="0"/>
              <a:t>上互通，另外可以结合业务随行策略进行</a:t>
            </a:r>
            <a:r>
              <a:rPr lang="zh-CN" altLang="en-US" dirty="0"/>
              <a:t>更精细化的</a:t>
            </a:r>
            <a:r>
              <a:rPr lang="zh-CN" altLang="zh-CN" dirty="0"/>
              <a:t>权限控制。要实现不同</a:t>
            </a:r>
            <a:r>
              <a:rPr lang="en-US" altLang="zh-CN" dirty="0"/>
              <a:t>VN</a:t>
            </a:r>
            <a:r>
              <a:rPr lang="zh-CN" altLang="zh-CN" dirty="0"/>
              <a:t>的互通，需要在</a:t>
            </a:r>
            <a:r>
              <a:rPr lang="en-US" altLang="zh-CN" dirty="0"/>
              <a:t>Border</a:t>
            </a:r>
            <a:r>
              <a:rPr lang="zh-CN" altLang="zh-CN" dirty="0"/>
              <a:t>上互相引入对方可访问的网段路由。</a:t>
            </a:r>
          </a:p>
          <a:p>
            <a:pPr lvl="1"/>
            <a:r>
              <a:rPr lang="zh-CN" altLang="zh-CN" dirty="0"/>
              <a:t>通过外部网关互通</a:t>
            </a:r>
          </a:p>
          <a:p>
            <a:pPr lvl="2"/>
            <a:r>
              <a:rPr lang="zh-CN" altLang="zh-CN" dirty="0"/>
              <a:t>两个</a:t>
            </a:r>
            <a:r>
              <a:rPr lang="en-US" altLang="zh-CN" dirty="0"/>
              <a:t>VN</a:t>
            </a:r>
            <a:r>
              <a:rPr lang="zh-CN" altLang="zh-CN" dirty="0"/>
              <a:t>如果属于不同的安全区域，安全控制需求高，建议在外部网关防火墙上做互通，同时在防火墙上配置安全区域策略进行权限控制。</a:t>
            </a:r>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29679528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903965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486969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5973911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sym typeface="Huawei Sans" panose="020C0503030203020204" pitchFamily="34" charset="0"/>
              </a:rPr>
              <a:t>如果选择</a:t>
            </a:r>
            <a:r>
              <a:rPr lang="en-US" altLang="zh-CN" dirty="0">
                <a:sym typeface="Huawei Sans" panose="020C0503030203020204" pitchFamily="34" charset="0"/>
              </a:rPr>
              <a:t>802.1X</a:t>
            </a:r>
            <a:r>
              <a:rPr lang="zh-CN" altLang="en-US" dirty="0">
                <a:sym typeface="Huawei Sans" panose="020C0503030203020204" pitchFamily="34" charset="0"/>
              </a:rPr>
              <a:t>或</a:t>
            </a:r>
            <a:r>
              <a:rPr lang="en-US" altLang="zh-CN" dirty="0">
                <a:sym typeface="Huawei Sans" panose="020C0503030203020204" pitchFamily="34" charset="0"/>
              </a:rPr>
              <a:t>MAC</a:t>
            </a:r>
            <a:r>
              <a:rPr lang="zh-CN" altLang="en-US" dirty="0">
                <a:sym typeface="Huawei Sans" panose="020C0503030203020204" pitchFamily="34" charset="0"/>
              </a:rPr>
              <a:t>认证，属于二层认证技术，认证点必须与用户主机位于同一网段，建议接入层作为认证点。</a:t>
            </a:r>
            <a:endParaRPr lang="en-US" altLang="zh-CN" dirty="0">
              <a:sym typeface="Huawei Sans" panose="020C0503030203020204" pitchFamily="34" charset="0"/>
            </a:endParaRPr>
          </a:p>
          <a:p>
            <a:pPr lvl="1"/>
            <a:r>
              <a:rPr lang="zh-CN" altLang="en-US" dirty="0">
                <a:sym typeface="Huawei Sans" panose="020C0503030203020204" pitchFamily="34" charset="0"/>
              </a:rPr>
              <a:t>若接入层设备数量多，需要将认证点从接入层上移到汇聚层或核心层，可以部署策略联动。网关作为认证控制点，接入设备作为认证执行点，降低策略部署复杂度。</a:t>
            </a:r>
          </a:p>
          <a:p>
            <a:r>
              <a:rPr lang="zh-CN" altLang="en-US" dirty="0">
                <a:sym typeface="Huawei Sans" panose="020C0503030203020204" pitchFamily="34" charset="0"/>
              </a:rPr>
              <a:t>如果选择</a:t>
            </a:r>
            <a:r>
              <a:rPr lang="en-US" altLang="zh-CN" dirty="0">
                <a:sym typeface="Huawei Sans" panose="020C0503030203020204" pitchFamily="34" charset="0"/>
              </a:rPr>
              <a:t>Portal</a:t>
            </a:r>
            <a:r>
              <a:rPr lang="zh-CN" altLang="en-US" dirty="0">
                <a:sym typeface="Huawei Sans" panose="020C0503030203020204" pitchFamily="34" charset="0"/>
              </a:rPr>
              <a:t>认证，认证点位置与用户主机</a:t>
            </a:r>
            <a:r>
              <a:rPr lang="en-US" altLang="zh-CN" dirty="0">
                <a:sym typeface="Huawei Sans" panose="020C0503030203020204" pitchFamily="34" charset="0"/>
              </a:rPr>
              <a:t>IP</a:t>
            </a:r>
            <a:r>
              <a:rPr lang="zh-CN" altLang="en-US" dirty="0">
                <a:sym typeface="Huawei Sans" panose="020C0503030203020204" pitchFamily="34" charset="0"/>
              </a:rPr>
              <a:t>可达即可。建议部署二层</a:t>
            </a:r>
            <a:r>
              <a:rPr lang="en-US" altLang="zh-CN" dirty="0">
                <a:sym typeface="Huawei Sans" panose="020C0503030203020204" pitchFamily="34" charset="0"/>
              </a:rPr>
              <a:t>Portal</a:t>
            </a:r>
            <a:r>
              <a:rPr lang="zh-CN" altLang="en-US" dirty="0">
                <a:sym typeface="Huawei Sans" panose="020C0503030203020204" pitchFamily="34" charset="0"/>
              </a:rPr>
              <a:t>认证。</a:t>
            </a:r>
            <a:endParaRPr lang="en-US" altLang="zh-CN" dirty="0">
              <a:sym typeface="Huawei Sans" panose="020C0503030203020204" pitchFamily="34" charset="0"/>
            </a:endParaRPr>
          </a:p>
          <a:p>
            <a:endParaRPr lang="zh-CN" altLang="en-US"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60743571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4146981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8270846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417006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250400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安全组策略是安全组间互访关系的直观反映，规划安全组策略时通常只需要根据两个组是否可以互访，将两者之间的组间策略配置为允许或禁止。管理员在控制器上可以通过一个非常直观的“策略控制矩阵”来配置权限策略。未创建控制策略时，源安全组和目的组之间的缺省权限是允许。</a:t>
            </a:r>
          </a:p>
          <a:p>
            <a:r>
              <a:rPr lang="zh-CN" altLang="en-US" dirty="0"/>
              <a:t>在规划安全组策略时，还需要注意策略的方向。通常来说，两台终端之间的通信都有来回两个方向的报文传输。</a:t>
            </a:r>
          </a:p>
          <a:p>
            <a:pPr lvl="1"/>
            <a:r>
              <a:rPr lang="zh-CN" altLang="en-US" dirty="0"/>
              <a:t>对于华为交换机设备，</a:t>
            </a:r>
            <a:r>
              <a:rPr lang="en-US" altLang="zh-CN" dirty="0"/>
              <a:t>A</a:t>
            </a:r>
            <a:r>
              <a:rPr lang="zh-CN" altLang="en-US" dirty="0"/>
              <a:t>至</a:t>
            </a:r>
            <a:r>
              <a:rPr lang="en-US" altLang="zh-CN" dirty="0"/>
              <a:t>B</a:t>
            </a:r>
            <a:r>
              <a:rPr lang="zh-CN" altLang="en-US" dirty="0"/>
              <a:t>和</a:t>
            </a:r>
            <a:r>
              <a:rPr lang="en-US" altLang="zh-CN" dirty="0"/>
              <a:t>B</a:t>
            </a:r>
            <a:r>
              <a:rPr lang="zh-CN" altLang="en-US" dirty="0"/>
              <a:t>至</a:t>
            </a:r>
            <a:r>
              <a:rPr lang="en-US" altLang="zh-CN" dirty="0"/>
              <a:t>A</a:t>
            </a:r>
            <a:r>
              <a:rPr lang="zh-CN" altLang="en-US" dirty="0"/>
              <a:t>两个方向的流量并没有关联关系，它们会分别匹配对应“</a:t>
            </a:r>
            <a:r>
              <a:rPr lang="en-US" altLang="zh-CN" dirty="0"/>
              <a:t>A</a:t>
            </a:r>
            <a:r>
              <a:rPr lang="zh-CN" altLang="en-US" dirty="0"/>
              <a:t>至</a:t>
            </a:r>
            <a:r>
              <a:rPr lang="en-US" altLang="zh-CN" dirty="0"/>
              <a:t>B</a:t>
            </a:r>
            <a:r>
              <a:rPr lang="zh-CN" altLang="en-US" dirty="0"/>
              <a:t>”的策略和“</a:t>
            </a:r>
            <a:r>
              <a:rPr lang="en-US" altLang="zh-CN" dirty="0"/>
              <a:t>B</a:t>
            </a:r>
            <a:r>
              <a:rPr lang="zh-CN" altLang="en-US" dirty="0"/>
              <a:t>至</a:t>
            </a:r>
            <a:r>
              <a:rPr lang="en-US" altLang="zh-CN" dirty="0"/>
              <a:t>A</a:t>
            </a:r>
            <a:r>
              <a:rPr lang="zh-CN" altLang="en-US" dirty="0"/>
              <a:t>”的策略来决定是否允许转发，因此策略执行只看报文的源</a:t>
            </a:r>
            <a:r>
              <a:rPr lang="en-US" altLang="zh-CN" dirty="0"/>
              <a:t>/</a:t>
            </a:r>
            <a:r>
              <a:rPr lang="zh-CN" altLang="en-US" dirty="0"/>
              <a:t>目的安全组。“</a:t>
            </a:r>
            <a:r>
              <a:rPr lang="en-US" altLang="zh-CN" dirty="0"/>
              <a:t>A-&gt;B</a:t>
            </a:r>
            <a:r>
              <a:rPr lang="zh-CN" altLang="en-US" dirty="0"/>
              <a:t>允许， </a:t>
            </a:r>
            <a:r>
              <a:rPr lang="en-US" altLang="zh-CN" dirty="0"/>
              <a:t>B-&gt;A</a:t>
            </a:r>
            <a:r>
              <a:rPr lang="zh-CN" altLang="en-US" dirty="0"/>
              <a:t>禁止”，意味着所有</a:t>
            </a:r>
            <a:r>
              <a:rPr lang="en-US" altLang="zh-CN" dirty="0"/>
              <a:t>A</a:t>
            </a:r>
            <a:r>
              <a:rPr lang="zh-CN" altLang="en-US" dirty="0"/>
              <a:t>发送给</a:t>
            </a:r>
            <a:r>
              <a:rPr lang="en-US" altLang="zh-CN" dirty="0"/>
              <a:t>B</a:t>
            </a:r>
            <a:r>
              <a:rPr lang="zh-CN" altLang="en-US" dirty="0"/>
              <a:t>的报文都会放行，而所有</a:t>
            </a:r>
            <a:r>
              <a:rPr lang="en-US" altLang="zh-CN" dirty="0"/>
              <a:t>B</a:t>
            </a:r>
            <a:r>
              <a:rPr lang="zh-CN" altLang="en-US" dirty="0"/>
              <a:t>发送给</a:t>
            </a:r>
            <a:r>
              <a:rPr lang="en-US" altLang="zh-CN" dirty="0"/>
              <a:t>A</a:t>
            </a:r>
            <a:r>
              <a:rPr lang="zh-CN" altLang="en-US" dirty="0"/>
              <a:t>的报文都会丢弃，不管本次访问是由谁主动发起的。交换机的默认策略为允许。</a:t>
            </a:r>
          </a:p>
          <a:p>
            <a:endParaRPr lang="zh-CN" altLang="en-US" dirty="0"/>
          </a:p>
        </p:txBody>
      </p:sp>
    </p:spTree>
    <p:extLst>
      <p:ext uri="{BB962C8B-B14F-4D97-AF65-F5344CB8AC3E}">
        <p14:creationId xmlns:p14="http://schemas.microsoft.com/office/powerpoint/2010/main" val="25463508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对于认证点设备和策略执行点设备不属于同一设备的场景，需要将认证用户的</a:t>
            </a:r>
            <a:r>
              <a:rPr lang="en-US" altLang="zh-CN" dirty="0"/>
              <a:t>IP-Group</a:t>
            </a:r>
            <a:r>
              <a:rPr lang="zh-CN" altLang="en-US" dirty="0"/>
              <a:t>信息表项推送到指定的策略执行点上。这就需要管理员进行订阅配置，即配置哪些网段或者哪些安全组的表项需要推送到哪些策略执行点设备上。</a:t>
            </a:r>
            <a:endParaRPr lang="en-US" altLang="zh-CN"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8913619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9920393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327961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7695967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7467894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0831739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7506645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L2</a:t>
            </a:r>
            <a:r>
              <a:rPr lang="zh-CN" altLang="en-US" dirty="0"/>
              <a:t>共享出口方式：</a:t>
            </a:r>
            <a:r>
              <a:rPr lang="en-US" altLang="zh-CN" dirty="0"/>
              <a:t>Border</a:t>
            </a:r>
            <a:r>
              <a:rPr lang="zh-CN" altLang="en-US" dirty="0"/>
              <a:t>节点不是用户网关，用户网关是</a:t>
            </a:r>
            <a:r>
              <a:rPr lang="en-US" altLang="zh-CN" dirty="0"/>
              <a:t>Fabric</a:t>
            </a:r>
            <a:r>
              <a:rPr lang="zh-CN" altLang="en-US" dirty="0"/>
              <a:t>外设备设备。</a:t>
            </a:r>
            <a:r>
              <a:rPr lang="en-US" altLang="zh-CN" dirty="0"/>
              <a:t>Border</a:t>
            </a:r>
            <a:r>
              <a:rPr lang="zh-CN" altLang="en-US" dirty="0"/>
              <a:t>通过二层连接出口设备，用户网关部署在出口设备来实现访问外部网络。</a:t>
            </a:r>
          </a:p>
          <a:p>
            <a:endParaRPr lang="zh-CN" altLang="en-US" dirty="0"/>
          </a:p>
        </p:txBody>
      </p:sp>
    </p:spTree>
    <p:extLst>
      <p:ext uri="{BB962C8B-B14F-4D97-AF65-F5344CB8AC3E}">
        <p14:creationId xmlns:p14="http://schemas.microsoft.com/office/powerpoint/2010/main" val="10605068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在本页中，“通用场景”指的是</a:t>
            </a:r>
            <a:r>
              <a:rPr lang="zh-CN" altLang="zh-CN" dirty="0"/>
              <a:t>认证场景、非认证场景、动态</a:t>
            </a:r>
            <a:r>
              <a:rPr lang="en-US" altLang="zh-CN" dirty="0"/>
              <a:t>IP</a:t>
            </a:r>
            <a:r>
              <a:rPr lang="zh-CN" altLang="zh-CN" dirty="0"/>
              <a:t>场景、静态</a:t>
            </a:r>
            <a:r>
              <a:rPr lang="en-US" altLang="zh-CN" dirty="0"/>
              <a:t>IP</a:t>
            </a:r>
            <a:r>
              <a:rPr lang="zh-CN" altLang="zh-CN" dirty="0"/>
              <a:t>场景</a:t>
            </a:r>
            <a:r>
              <a:rPr lang="zh-CN" altLang="en-US" dirty="0"/>
              <a:t>。</a:t>
            </a:r>
            <a:endParaRPr lang="en-US" altLang="zh-CN" dirty="0"/>
          </a:p>
          <a:p>
            <a:pPr lvl="0"/>
            <a:r>
              <a:rPr lang="zh-CN" altLang="zh-CN" dirty="0"/>
              <a:t>不认证场景下，接入设备需开启</a:t>
            </a:r>
            <a:r>
              <a:rPr lang="en-US" altLang="zh-CN" dirty="0"/>
              <a:t>ARP Snooping</a:t>
            </a:r>
            <a:r>
              <a:rPr lang="zh-CN" altLang="zh-CN" dirty="0"/>
              <a:t>功能，控制器才能显示有线终端的信息。</a:t>
            </a:r>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228149712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4538" y="717550"/>
            <a:ext cx="5556250"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653179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zh-CN" dirty="0"/>
              <a:t>对于哑终端（打印机、</a:t>
            </a:r>
            <a:r>
              <a:rPr lang="en-US" altLang="zh-CN" dirty="0"/>
              <a:t>IP</a:t>
            </a:r>
            <a:r>
              <a:rPr lang="zh-CN" altLang="zh-CN" dirty="0"/>
              <a:t>话机、</a:t>
            </a:r>
            <a:r>
              <a:rPr lang="en-US" altLang="zh-CN" dirty="0"/>
              <a:t>IP</a:t>
            </a:r>
            <a:r>
              <a:rPr lang="zh-CN" altLang="zh-CN" dirty="0"/>
              <a:t>摄像头等）推荐采用基于终端的类型自动下发准入和授权策略，实现哑终端设备的业务自动发放，即插即用。</a:t>
            </a:r>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79038147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280688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AC</a:t>
            </a:r>
            <a:r>
              <a:rPr lang="zh-CN" altLang="en-US" dirty="0"/>
              <a:t>与</a:t>
            </a:r>
            <a:r>
              <a:rPr lang="en-US" altLang="zh-CN" dirty="0"/>
              <a:t>AP</a:t>
            </a:r>
            <a:r>
              <a:rPr lang="zh-CN" altLang="en-US" dirty="0"/>
              <a:t>间的控制报文通过</a:t>
            </a:r>
            <a:r>
              <a:rPr lang="en-US" altLang="zh-CN" dirty="0"/>
              <a:t>CAPWAP</a:t>
            </a:r>
            <a:r>
              <a:rPr lang="zh-CN" altLang="en-US" dirty="0"/>
              <a:t>隧道转发；对于无线用户的业务报文，</a:t>
            </a:r>
            <a:r>
              <a:rPr lang="en-US" altLang="zh-CN" dirty="0"/>
              <a:t>AP</a:t>
            </a:r>
            <a:r>
              <a:rPr lang="zh-CN" altLang="en-US" dirty="0"/>
              <a:t>向有线侧进行转发的方式主要包括隧道转发（又称为“集中转发”）方式和直接转发（又称为“本地转发”）方式。</a:t>
            </a:r>
            <a:endParaRPr lang="en-US" altLang="zh-CN" dirty="0"/>
          </a:p>
          <a:p>
            <a:pPr lvl="1"/>
            <a:r>
              <a:rPr lang="zh-CN" altLang="en-US" dirty="0"/>
              <a:t>隧道转发：</a:t>
            </a:r>
            <a:endParaRPr lang="en-US" altLang="zh-CN" dirty="0"/>
          </a:p>
          <a:p>
            <a:pPr lvl="2"/>
            <a:r>
              <a:rPr lang="zh-CN" altLang="en-US" dirty="0"/>
              <a:t>适用场景：无线用户业务流量需由</a:t>
            </a:r>
            <a:r>
              <a:rPr lang="en-US" altLang="zh-CN" dirty="0"/>
              <a:t>AC</a:t>
            </a:r>
            <a:r>
              <a:rPr lang="zh-CN" altLang="en-US" dirty="0"/>
              <a:t>集中处理与转发。</a:t>
            </a:r>
            <a:endParaRPr lang="en-US" altLang="zh-CN" dirty="0"/>
          </a:p>
          <a:p>
            <a:pPr lvl="2"/>
            <a:r>
              <a:rPr lang="zh-CN" altLang="en-US" dirty="0"/>
              <a:t>优点：</a:t>
            </a:r>
            <a:r>
              <a:rPr lang="en-US" altLang="zh-CN" dirty="0"/>
              <a:t>AC</a:t>
            </a:r>
            <a:r>
              <a:rPr lang="zh-CN" altLang="en-US" dirty="0"/>
              <a:t>集中转发业务流量，安全性好，方便流量集中管理和控制。</a:t>
            </a:r>
            <a:endParaRPr lang="en-US" altLang="zh-CN" dirty="0"/>
          </a:p>
          <a:p>
            <a:pPr lvl="2"/>
            <a:r>
              <a:rPr lang="zh-CN" altLang="en-US" dirty="0"/>
              <a:t>缺点：业务流量必须经过</a:t>
            </a:r>
            <a:r>
              <a:rPr lang="en-US" altLang="zh-CN" dirty="0"/>
              <a:t>AC</a:t>
            </a:r>
            <a:r>
              <a:rPr lang="zh-CN" altLang="en-US" dirty="0"/>
              <a:t>转发，报文转发效率低，</a:t>
            </a:r>
            <a:r>
              <a:rPr lang="en-US" altLang="zh-CN" dirty="0"/>
              <a:t>AC</a:t>
            </a:r>
            <a:r>
              <a:rPr lang="zh-CN" altLang="en-US" dirty="0"/>
              <a:t>所受压力大。</a:t>
            </a:r>
            <a:endParaRPr lang="en-US" altLang="zh-CN" dirty="0"/>
          </a:p>
          <a:p>
            <a:pPr lvl="1"/>
            <a:r>
              <a:rPr lang="zh-CN" altLang="en-US" dirty="0"/>
              <a:t>直接转发：</a:t>
            </a:r>
            <a:endParaRPr lang="en-US" altLang="zh-CN" dirty="0"/>
          </a:p>
          <a:p>
            <a:pPr lvl="2"/>
            <a:r>
              <a:rPr lang="zh-CN" altLang="en-US" dirty="0"/>
              <a:t>适用场景：无线用户业务流量不需要经过</a:t>
            </a:r>
            <a:r>
              <a:rPr lang="en-US" altLang="zh-CN" dirty="0"/>
              <a:t>AC</a:t>
            </a:r>
            <a:r>
              <a:rPr lang="zh-CN" altLang="en-US" dirty="0"/>
              <a:t>绕行而直接转发的场景，以节省</a:t>
            </a:r>
            <a:r>
              <a:rPr lang="en-US" altLang="zh-CN" dirty="0"/>
              <a:t>AP</a:t>
            </a:r>
            <a:r>
              <a:rPr lang="zh-CN" altLang="en-US" dirty="0"/>
              <a:t>与</a:t>
            </a:r>
            <a:r>
              <a:rPr lang="en-US" altLang="zh-CN" dirty="0"/>
              <a:t>AC</a:t>
            </a:r>
            <a:r>
              <a:rPr lang="zh-CN" altLang="en-US" dirty="0"/>
              <a:t>间的链路带宽。</a:t>
            </a:r>
            <a:endParaRPr lang="en-US" altLang="zh-CN" dirty="0"/>
          </a:p>
          <a:p>
            <a:pPr lvl="2"/>
            <a:r>
              <a:rPr lang="zh-CN" altLang="en-US" dirty="0"/>
              <a:t>优点：业务流量不需要经过</a:t>
            </a:r>
            <a:r>
              <a:rPr lang="en-US" altLang="zh-CN" dirty="0"/>
              <a:t>AC</a:t>
            </a:r>
            <a:r>
              <a:rPr lang="zh-CN" altLang="en-US" dirty="0"/>
              <a:t>转发，报文转发效率高，</a:t>
            </a:r>
            <a:r>
              <a:rPr lang="en-US" altLang="zh-CN" dirty="0"/>
              <a:t>AC</a:t>
            </a:r>
            <a:r>
              <a:rPr lang="zh-CN" altLang="en-US" dirty="0"/>
              <a:t>所受压力小。</a:t>
            </a:r>
            <a:endParaRPr lang="en-US" altLang="zh-CN" dirty="0"/>
          </a:p>
          <a:p>
            <a:pPr lvl="2"/>
            <a:r>
              <a:rPr lang="zh-CN" altLang="en-US" dirty="0"/>
              <a:t>缺点：业务流量不便于集中管理和控制。</a:t>
            </a:r>
            <a:endParaRPr lang="en-US" altLang="zh-CN" dirty="0"/>
          </a:p>
          <a:p>
            <a:pPr lvl="1"/>
            <a:r>
              <a:rPr lang="zh-CN" altLang="en-US" dirty="0"/>
              <a:t>其中，随板</a:t>
            </a:r>
            <a:r>
              <a:rPr lang="en-US" altLang="zh-CN" dirty="0"/>
              <a:t>AC</a:t>
            </a:r>
            <a:r>
              <a:rPr lang="zh-CN" altLang="en-US" dirty="0"/>
              <a:t>方案推荐采用隧道转发方式。</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99526913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场景</a:t>
            </a:r>
            <a:r>
              <a:rPr lang="en-US" altLang="zh-CN" dirty="0"/>
              <a:t>1</a:t>
            </a:r>
            <a:r>
              <a:rPr lang="zh-CN" altLang="en-US" dirty="0"/>
              <a:t>描述：</a:t>
            </a:r>
            <a:endParaRPr lang="en-US" altLang="zh-CN" dirty="0"/>
          </a:p>
          <a:p>
            <a:pPr lvl="1"/>
            <a:r>
              <a:rPr lang="zh-CN" altLang="en-US" dirty="0"/>
              <a:t>用户网关：</a:t>
            </a:r>
            <a:r>
              <a:rPr lang="en-US" altLang="zh-CN" dirty="0"/>
              <a:t>Border</a:t>
            </a:r>
            <a:r>
              <a:rPr lang="zh-CN" altLang="en-US" dirty="0"/>
              <a:t>。 </a:t>
            </a:r>
          </a:p>
          <a:p>
            <a:pPr lvl="1"/>
            <a:r>
              <a:rPr lang="zh-CN" altLang="en-US" dirty="0"/>
              <a:t>认证点：有线用户认证点为</a:t>
            </a:r>
            <a:r>
              <a:rPr lang="en-US" altLang="zh-CN" dirty="0"/>
              <a:t>Edge</a:t>
            </a:r>
            <a:r>
              <a:rPr lang="zh-CN" altLang="en-US" dirty="0"/>
              <a:t>；无线用户认证点为</a:t>
            </a:r>
            <a:r>
              <a:rPr lang="en-US" altLang="zh-CN" dirty="0"/>
              <a:t>Border</a:t>
            </a:r>
            <a:r>
              <a:rPr lang="zh-CN" altLang="en-US" dirty="0"/>
              <a:t>（随板</a:t>
            </a:r>
            <a:r>
              <a:rPr lang="en-US" altLang="zh-CN" dirty="0"/>
              <a:t>AC</a:t>
            </a:r>
            <a:r>
              <a:rPr lang="zh-CN" altLang="en-US" dirty="0"/>
              <a:t>）。</a:t>
            </a:r>
          </a:p>
          <a:p>
            <a:pPr lvl="1"/>
            <a:r>
              <a:rPr lang="zh-CN" altLang="en-US" dirty="0"/>
              <a:t>转发模型：</a:t>
            </a:r>
          </a:p>
          <a:p>
            <a:pPr lvl="2"/>
            <a:r>
              <a:rPr lang="zh-CN" altLang="en-US" dirty="0"/>
              <a:t>有线流量：从</a:t>
            </a:r>
            <a:r>
              <a:rPr lang="en-US" altLang="zh-CN" dirty="0"/>
              <a:t>Edge</a:t>
            </a:r>
            <a:r>
              <a:rPr lang="zh-CN" altLang="en-US" dirty="0"/>
              <a:t>入</a:t>
            </a:r>
            <a:r>
              <a:rPr lang="en-US" altLang="zh-CN" dirty="0"/>
              <a:t>VN</a:t>
            </a:r>
            <a:r>
              <a:rPr lang="zh-CN" altLang="en-US" dirty="0"/>
              <a:t>，业务随行策略在</a:t>
            </a:r>
            <a:r>
              <a:rPr lang="en-US" altLang="zh-CN" dirty="0"/>
              <a:t>Edge</a:t>
            </a:r>
            <a:r>
              <a:rPr lang="zh-CN" altLang="en-US" dirty="0"/>
              <a:t>执行。</a:t>
            </a:r>
          </a:p>
          <a:p>
            <a:pPr lvl="2"/>
            <a:r>
              <a:rPr lang="zh-CN" altLang="en-US" dirty="0"/>
              <a:t>无线流量：业务随行策略在</a:t>
            </a:r>
            <a:r>
              <a:rPr lang="en-US" altLang="zh-CN" dirty="0"/>
              <a:t>Border</a:t>
            </a:r>
            <a:r>
              <a:rPr lang="zh-CN" altLang="en-US" dirty="0"/>
              <a:t>执行，推荐隧道转发方式，流量从</a:t>
            </a:r>
            <a:r>
              <a:rPr lang="en-US" altLang="zh-CN" dirty="0"/>
              <a:t>Border</a:t>
            </a:r>
            <a:r>
              <a:rPr lang="zh-CN" altLang="en-US" dirty="0"/>
              <a:t>（随板</a:t>
            </a:r>
            <a:r>
              <a:rPr lang="en-US" altLang="zh-CN" dirty="0"/>
              <a:t>AC</a:t>
            </a:r>
            <a:r>
              <a:rPr lang="zh-CN" altLang="en-US" dirty="0"/>
              <a:t>）入</a:t>
            </a:r>
            <a:r>
              <a:rPr lang="en-US" altLang="zh-CN" dirty="0"/>
              <a:t>VN</a:t>
            </a:r>
            <a:r>
              <a:rPr lang="zh-CN" altLang="en-US" dirty="0"/>
              <a:t>。</a:t>
            </a:r>
          </a:p>
          <a:p>
            <a:r>
              <a:rPr lang="zh-CN" altLang="en-US" dirty="0"/>
              <a:t>场景</a:t>
            </a:r>
            <a:r>
              <a:rPr lang="en-US" altLang="zh-CN" dirty="0"/>
              <a:t>2</a:t>
            </a:r>
            <a:r>
              <a:rPr lang="zh-CN" altLang="en-US" dirty="0"/>
              <a:t>描述：</a:t>
            </a:r>
            <a:endParaRPr lang="en-US" altLang="zh-CN" dirty="0"/>
          </a:p>
          <a:p>
            <a:pPr lvl="1"/>
            <a:r>
              <a:rPr lang="zh-CN" altLang="en-US" dirty="0"/>
              <a:t>用户网关：有线：</a:t>
            </a:r>
            <a:r>
              <a:rPr lang="en-US" altLang="zh-CN" dirty="0"/>
              <a:t>Edge</a:t>
            </a:r>
            <a:r>
              <a:rPr lang="zh-CN" altLang="en-US" dirty="0"/>
              <a:t>；无线：</a:t>
            </a:r>
            <a:r>
              <a:rPr lang="en-US" altLang="zh-CN" dirty="0"/>
              <a:t>Border</a:t>
            </a:r>
            <a:r>
              <a:rPr lang="zh-CN" altLang="en-US" dirty="0"/>
              <a:t>。 </a:t>
            </a:r>
          </a:p>
          <a:p>
            <a:pPr lvl="1"/>
            <a:r>
              <a:rPr lang="zh-CN" altLang="en-US" dirty="0"/>
              <a:t>认证点：有线用户认证点为</a:t>
            </a:r>
            <a:r>
              <a:rPr lang="en-US" altLang="zh-CN" dirty="0"/>
              <a:t>Edge</a:t>
            </a:r>
            <a:r>
              <a:rPr lang="zh-CN" altLang="en-US" dirty="0"/>
              <a:t>；无线用户认证点为</a:t>
            </a:r>
            <a:r>
              <a:rPr lang="en-US" altLang="zh-CN" dirty="0"/>
              <a:t>Border</a:t>
            </a:r>
            <a:r>
              <a:rPr lang="zh-CN" altLang="en-US" dirty="0"/>
              <a:t>（随板</a:t>
            </a:r>
            <a:r>
              <a:rPr lang="en-US" altLang="zh-CN" dirty="0"/>
              <a:t>AC</a:t>
            </a:r>
            <a:r>
              <a:rPr lang="zh-CN" altLang="en-US" dirty="0"/>
              <a:t>）。</a:t>
            </a:r>
          </a:p>
          <a:p>
            <a:pPr lvl="1"/>
            <a:r>
              <a:rPr lang="zh-CN" altLang="en-US" dirty="0"/>
              <a:t>转发模型：</a:t>
            </a:r>
          </a:p>
          <a:p>
            <a:pPr lvl="2"/>
            <a:r>
              <a:rPr lang="zh-CN" altLang="en-US" dirty="0"/>
              <a:t>有线流量：从</a:t>
            </a:r>
            <a:r>
              <a:rPr lang="en-US" altLang="zh-CN" dirty="0"/>
              <a:t>Edge</a:t>
            </a:r>
            <a:r>
              <a:rPr lang="zh-CN" altLang="en-US" dirty="0"/>
              <a:t>入</a:t>
            </a:r>
            <a:r>
              <a:rPr lang="en-US" altLang="zh-CN" dirty="0"/>
              <a:t>VN</a:t>
            </a:r>
            <a:r>
              <a:rPr lang="zh-CN" altLang="en-US" dirty="0"/>
              <a:t>，业务随行策略在</a:t>
            </a:r>
            <a:r>
              <a:rPr lang="en-US" altLang="zh-CN" dirty="0"/>
              <a:t>Edge</a:t>
            </a:r>
            <a:r>
              <a:rPr lang="zh-CN" altLang="en-US" dirty="0"/>
              <a:t>执行。 </a:t>
            </a:r>
          </a:p>
          <a:p>
            <a:pPr lvl="2"/>
            <a:r>
              <a:rPr lang="zh-CN" altLang="en-US" dirty="0"/>
              <a:t>无线流量：业务随行策略在</a:t>
            </a:r>
            <a:r>
              <a:rPr lang="en-US" altLang="zh-CN" dirty="0"/>
              <a:t>Border</a:t>
            </a:r>
            <a:r>
              <a:rPr lang="zh-CN" altLang="en-US" dirty="0"/>
              <a:t>执行，推荐隧道转发方式，流量从</a:t>
            </a:r>
            <a:r>
              <a:rPr lang="en-US" altLang="zh-CN" dirty="0"/>
              <a:t>Border</a:t>
            </a:r>
            <a:r>
              <a:rPr lang="zh-CN" altLang="en-US" dirty="0"/>
              <a:t>（随板</a:t>
            </a:r>
            <a:r>
              <a:rPr lang="en-US" altLang="zh-CN" dirty="0"/>
              <a:t>AC</a:t>
            </a:r>
            <a:r>
              <a:rPr lang="zh-CN" altLang="en-US" dirty="0"/>
              <a:t>）入</a:t>
            </a:r>
            <a:r>
              <a:rPr lang="en-US" altLang="zh-CN" dirty="0"/>
              <a:t>VN</a:t>
            </a:r>
            <a:r>
              <a:rPr lang="zh-CN" altLang="en-US" dirty="0"/>
              <a:t>。</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64227627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4"/>
            <a:ext cx="5580062" cy="4985635"/>
          </a:xfrm>
        </p:spPr>
        <p:txBody>
          <a:bodyPr/>
          <a:lstStyle/>
          <a:p>
            <a:r>
              <a:rPr lang="zh-CN" altLang="en-US" dirty="0"/>
              <a:t>集中式网关场景描述：</a:t>
            </a:r>
            <a:endParaRPr lang="en-US" altLang="zh-CN" dirty="0"/>
          </a:p>
          <a:p>
            <a:pPr lvl="1"/>
            <a:r>
              <a:rPr lang="zh-CN" altLang="en-US" dirty="0"/>
              <a:t>用户网关：</a:t>
            </a:r>
            <a:r>
              <a:rPr lang="en-US" altLang="zh-CN" dirty="0"/>
              <a:t>Border</a:t>
            </a:r>
            <a:r>
              <a:rPr lang="zh-CN" altLang="en-US" dirty="0"/>
              <a:t>。 </a:t>
            </a:r>
          </a:p>
          <a:p>
            <a:pPr lvl="1"/>
            <a:r>
              <a:rPr lang="zh-CN" altLang="en-US" dirty="0"/>
              <a:t>认证点：有线用户认证点为</a:t>
            </a:r>
            <a:r>
              <a:rPr lang="en-US" altLang="zh-CN" dirty="0"/>
              <a:t>Edge</a:t>
            </a:r>
            <a:r>
              <a:rPr lang="zh-CN" altLang="en-US" dirty="0"/>
              <a:t>；无线用户认证点为独立</a:t>
            </a:r>
            <a:r>
              <a:rPr lang="en-US" altLang="zh-CN" dirty="0"/>
              <a:t>AC</a:t>
            </a:r>
            <a:r>
              <a:rPr lang="zh-CN" altLang="en-US" dirty="0"/>
              <a:t>。</a:t>
            </a:r>
          </a:p>
          <a:p>
            <a:pPr lvl="1"/>
            <a:r>
              <a:rPr lang="zh-CN" altLang="en-US" dirty="0"/>
              <a:t>转发模型：</a:t>
            </a:r>
          </a:p>
          <a:p>
            <a:pPr lvl="2"/>
            <a:r>
              <a:rPr lang="zh-CN" altLang="en-US" dirty="0"/>
              <a:t>有线流量：从</a:t>
            </a:r>
            <a:r>
              <a:rPr lang="en-US" altLang="zh-CN" dirty="0"/>
              <a:t>Edge</a:t>
            </a:r>
            <a:r>
              <a:rPr lang="zh-CN" altLang="en-US" dirty="0"/>
              <a:t>入</a:t>
            </a:r>
            <a:r>
              <a:rPr lang="en-US" altLang="zh-CN" dirty="0"/>
              <a:t>VN</a:t>
            </a:r>
            <a:r>
              <a:rPr lang="zh-CN" altLang="en-US" dirty="0"/>
              <a:t>，业务随行策略在</a:t>
            </a:r>
            <a:r>
              <a:rPr lang="en-US" altLang="zh-CN" dirty="0"/>
              <a:t>Edge</a:t>
            </a:r>
            <a:r>
              <a:rPr lang="zh-CN" altLang="en-US" dirty="0"/>
              <a:t>执行。</a:t>
            </a:r>
          </a:p>
          <a:p>
            <a:pPr lvl="2"/>
            <a:r>
              <a:rPr lang="zh-CN" altLang="en-US" dirty="0"/>
              <a:t>无线流量：业务随行策略在</a:t>
            </a:r>
            <a:r>
              <a:rPr lang="en-US" altLang="zh-CN" dirty="0"/>
              <a:t>Border</a:t>
            </a:r>
            <a:r>
              <a:rPr lang="zh-CN" altLang="en-US" dirty="0"/>
              <a:t>执行（</a:t>
            </a:r>
            <a:r>
              <a:rPr lang="en-US" altLang="zh-CN" dirty="0"/>
              <a:t>Border</a:t>
            </a:r>
            <a:r>
              <a:rPr lang="zh-CN" altLang="en-US" dirty="0"/>
              <a:t>需订阅</a:t>
            </a:r>
            <a:r>
              <a:rPr lang="en-US" altLang="zh-CN" dirty="0"/>
              <a:t>IP-Group</a:t>
            </a:r>
            <a:r>
              <a:rPr lang="zh-CN" altLang="en-US" dirty="0"/>
              <a:t>表项），推荐隧道转发方式，流量从</a:t>
            </a:r>
            <a:r>
              <a:rPr lang="en-US" altLang="zh-CN" dirty="0"/>
              <a:t>Border</a:t>
            </a:r>
            <a:r>
              <a:rPr lang="zh-CN" altLang="en-US" dirty="0"/>
              <a:t>入</a:t>
            </a:r>
            <a:r>
              <a:rPr lang="en-US" altLang="zh-CN" dirty="0"/>
              <a:t>VN</a:t>
            </a:r>
            <a:r>
              <a:rPr lang="zh-CN" altLang="en-US" dirty="0"/>
              <a:t>（从独立</a:t>
            </a:r>
            <a:r>
              <a:rPr lang="en-US" altLang="zh-CN" dirty="0"/>
              <a:t>AC</a:t>
            </a:r>
            <a:r>
              <a:rPr lang="zh-CN" altLang="en-US" dirty="0"/>
              <a:t>转发到</a:t>
            </a:r>
            <a:r>
              <a:rPr lang="en-US" altLang="zh-CN" dirty="0"/>
              <a:t>Border</a:t>
            </a:r>
            <a:r>
              <a:rPr lang="zh-CN" altLang="en-US" dirty="0"/>
              <a:t>，然后入</a:t>
            </a:r>
            <a:r>
              <a:rPr lang="en-US" altLang="zh-CN" dirty="0"/>
              <a:t>VN</a:t>
            </a:r>
            <a:r>
              <a:rPr lang="zh-CN" altLang="en-US" dirty="0"/>
              <a:t>）。</a:t>
            </a:r>
          </a:p>
          <a:p>
            <a:r>
              <a:rPr lang="zh-CN" altLang="en-US" dirty="0"/>
              <a:t>分布式网关场景描述：</a:t>
            </a:r>
            <a:endParaRPr lang="en-US" altLang="zh-CN" dirty="0"/>
          </a:p>
          <a:p>
            <a:pPr lvl="1"/>
            <a:r>
              <a:rPr lang="zh-CN" altLang="en-US" dirty="0"/>
              <a:t>用户网关：有线用户：</a:t>
            </a:r>
            <a:r>
              <a:rPr lang="en-US" altLang="zh-CN" dirty="0"/>
              <a:t>Edge</a:t>
            </a:r>
            <a:r>
              <a:rPr lang="zh-CN" altLang="en-US" dirty="0"/>
              <a:t>；无线用户：隧道转发时为</a:t>
            </a:r>
            <a:r>
              <a:rPr lang="en-US" altLang="zh-CN" dirty="0"/>
              <a:t>Border</a:t>
            </a:r>
            <a:r>
              <a:rPr lang="zh-CN" altLang="en-US" dirty="0"/>
              <a:t>。</a:t>
            </a:r>
          </a:p>
          <a:p>
            <a:pPr lvl="1"/>
            <a:r>
              <a:rPr lang="zh-CN" altLang="en-US" dirty="0"/>
              <a:t>认证点：有线用户认证点为</a:t>
            </a:r>
            <a:r>
              <a:rPr lang="en-US" altLang="zh-CN" dirty="0"/>
              <a:t>Edge</a:t>
            </a:r>
            <a:r>
              <a:rPr lang="zh-CN" altLang="en-US" dirty="0"/>
              <a:t>；无线用户认证点为</a:t>
            </a:r>
            <a:r>
              <a:rPr lang="en-US" altLang="zh-CN" dirty="0"/>
              <a:t>AC</a:t>
            </a:r>
            <a:r>
              <a:rPr lang="zh-CN" altLang="en-US" dirty="0"/>
              <a:t>。</a:t>
            </a:r>
          </a:p>
          <a:p>
            <a:pPr lvl="1"/>
            <a:r>
              <a:rPr lang="zh-CN" altLang="en-US" dirty="0"/>
              <a:t>转发模型：</a:t>
            </a:r>
          </a:p>
          <a:p>
            <a:pPr lvl="2"/>
            <a:r>
              <a:rPr lang="zh-CN" altLang="en-US" dirty="0"/>
              <a:t>有线流量：从</a:t>
            </a:r>
            <a:r>
              <a:rPr lang="en-US" altLang="zh-CN" dirty="0"/>
              <a:t>Edge</a:t>
            </a:r>
            <a:r>
              <a:rPr lang="zh-CN" altLang="en-US" dirty="0"/>
              <a:t>入</a:t>
            </a:r>
            <a:r>
              <a:rPr lang="en-US" altLang="zh-CN" dirty="0"/>
              <a:t>VN</a:t>
            </a:r>
            <a:r>
              <a:rPr lang="zh-CN" altLang="en-US" dirty="0"/>
              <a:t>，业务随行策略在</a:t>
            </a:r>
            <a:r>
              <a:rPr lang="en-US" altLang="zh-CN" dirty="0"/>
              <a:t>Edge</a:t>
            </a:r>
            <a:r>
              <a:rPr lang="zh-CN" altLang="en-US" dirty="0"/>
              <a:t>执行。</a:t>
            </a:r>
          </a:p>
          <a:p>
            <a:pPr lvl="2"/>
            <a:r>
              <a:rPr lang="zh-CN" altLang="en-US" dirty="0"/>
              <a:t>无线流量：推荐隧道转发方式，流量从</a:t>
            </a:r>
            <a:r>
              <a:rPr lang="en-US" altLang="zh-CN" dirty="0"/>
              <a:t>Border</a:t>
            </a:r>
            <a:r>
              <a:rPr lang="zh-CN" altLang="en-US" dirty="0"/>
              <a:t>入</a:t>
            </a:r>
            <a:r>
              <a:rPr lang="en-US" altLang="zh-CN" dirty="0"/>
              <a:t>VN</a:t>
            </a:r>
            <a:r>
              <a:rPr lang="zh-CN" altLang="en-US" dirty="0"/>
              <a:t>，并在</a:t>
            </a:r>
            <a:r>
              <a:rPr lang="en-US" altLang="zh-CN" dirty="0"/>
              <a:t>Border</a:t>
            </a:r>
            <a:r>
              <a:rPr lang="zh-CN" altLang="en-US" dirty="0"/>
              <a:t>执行业务随行策略（</a:t>
            </a:r>
            <a:r>
              <a:rPr lang="en-US" altLang="zh-CN" dirty="0"/>
              <a:t>Border</a:t>
            </a:r>
            <a:r>
              <a:rPr lang="zh-CN" altLang="en-US" dirty="0"/>
              <a:t>需订阅</a:t>
            </a:r>
            <a:r>
              <a:rPr lang="en-US" altLang="zh-CN" dirty="0"/>
              <a:t>IP-Group</a:t>
            </a:r>
            <a:r>
              <a:rPr lang="zh-CN" altLang="en-US" dirty="0"/>
              <a:t>表项）。</a:t>
            </a:r>
            <a:endParaRPr lang="en-US" altLang="zh-CN" dirty="0"/>
          </a:p>
          <a:p>
            <a:pPr lvl="0"/>
            <a:r>
              <a:rPr lang="zh-CN" altLang="en-US" dirty="0"/>
              <a:t>注意：由于</a:t>
            </a:r>
            <a:r>
              <a:rPr lang="en-US" altLang="zh-CN" dirty="0"/>
              <a:t>Border</a:t>
            </a:r>
            <a:r>
              <a:rPr lang="zh-CN" altLang="en-US" dirty="0"/>
              <a:t>与独立</a:t>
            </a:r>
            <a:r>
              <a:rPr lang="en-US" altLang="zh-CN" dirty="0"/>
              <a:t>AC</a:t>
            </a:r>
            <a:r>
              <a:rPr lang="zh-CN" altLang="en-US" dirty="0"/>
              <a:t>互联的端口默认会被控制器配置端口隔离，因此独立</a:t>
            </a:r>
            <a:r>
              <a:rPr lang="en-US" altLang="zh-CN" dirty="0"/>
              <a:t>AC</a:t>
            </a:r>
            <a:r>
              <a:rPr lang="zh-CN" altLang="en-US" dirty="0"/>
              <a:t>部署</a:t>
            </a:r>
            <a:r>
              <a:rPr lang="en-US" altLang="zh-CN" dirty="0"/>
              <a:t>VRRP</a:t>
            </a:r>
            <a:r>
              <a:rPr lang="zh-CN" altLang="en-US" dirty="0"/>
              <a:t>热备时，主备</a:t>
            </a:r>
            <a:r>
              <a:rPr lang="en-US" altLang="zh-CN" dirty="0"/>
              <a:t>AC</a:t>
            </a:r>
            <a:r>
              <a:rPr lang="zh-CN" altLang="en-US" dirty="0"/>
              <a:t>间需要部署心跳线作主备通道，且手动在交换机连接</a:t>
            </a:r>
            <a:r>
              <a:rPr lang="en-US" altLang="zh-CN" dirty="0"/>
              <a:t>AC</a:t>
            </a:r>
            <a:r>
              <a:rPr lang="zh-CN" altLang="en-US" dirty="0"/>
              <a:t>的端口上放通</a:t>
            </a:r>
            <a:r>
              <a:rPr lang="en-US" altLang="zh-CN" dirty="0"/>
              <a:t>AC</a:t>
            </a:r>
            <a:r>
              <a:rPr lang="zh-CN" altLang="en-US" dirty="0"/>
              <a:t>的管理</a:t>
            </a:r>
            <a:r>
              <a:rPr lang="en-US" altLang="zh-CN" dirty="0"/>
              <a:t>VLAN</a:t>
            </a:r>
            <a:r>
              <a:rPr lang="zh-CN" altLang="en-US" dirty="0"/>
              <a:t>。</a:t>
            </a:r>
          </a:p>
        </p:txBody>
      </p:sp>
      <p:sp>
        <p:nvSpPr>
          <p:cNvPr id="7" name="幻灯片图像占位符 6"/>
          <p:cNvSpPr>
            <a:spLocks noGrp="1" noRot="1" noChangeAspect="1"/>
          </p:cNvSpPr>
          <p:nvPr>
            <p:ph type="sldImg"/>
          </p:nvPr>
        </p:nvSpPr>
        <p:spPr/>
      </p:sp>
    </p:spTree>
    <p:extLst>
      <p:ext uri="{BB962C8B-B14F-4D97-AF65-F5344CB8AC3E}">
        <p14:creationId xmlns:p14="http://schemas.microsoft.com/office/powerpoint/2010/main" val="167565246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7997734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6244248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2493587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950813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为了保证可靠性，路由器和防火墙通常采用设备冗余部署，大中型园区推荐出口部署设备冗余备份。</a:t>
            </a:r>
            <a:endParaRPr lang="en-US" altLang="zh-CN" dirty="0"/>
          </a:p>
          <a:p>
            <a:r>
              <a:rPr lang="zh-CN" altLang="en-US" dirty="0"/>
              <a:t>连接</a:t>
            </a:r>
            <a:r>
              <a:rPr lang="en-US" altLang="zh-CN" dirty="0"/>
              <a:t>WAN</a:t>
            </a:r>
            <a:r>
              <a:rPr lang="zh-CN" altLang="en-US" dirty="0"/>
              <a:t>侧设计：</a:t>
            </a:r>
            <a:endParaRPr lang="en-US" altLang="zh-CN" dirty="0"/>
          </a:p>
          <a:p>
            <a:pPr lvl="1"/>
            <a:r>
              <a:rPr lang="zh-CN" altLang="en-US" dirty="0"/>
              <a:t>出口链路类型：</a:t>
            </a:r>
          </a:p>
          <a:p>
            <a:pPr lvl="2"/>
            <a:r>
              <a:rPr lang="en-US" altLang="zh-CN" dirty="0"/>
              <a:t>Ethernet</a:t>
            </a:r>
            <a:r>
              <a:rPr lang="zh-CN" altLang="en-US" dirty="0"/>
              <a:t>类型，可选择路由器（</a:t>
            </a:r>
            <a:r>
              <a:rPr lang="en-US" altLang="zh-CN" dirty="0"/>
              <a:t>NE</a:t>
            </a:r>
            <a:r>
              <a:rPr lang="zh-CN" altLang="en-US" dirty="0"/>
              <a:t>或</a:t>
            </a:r>
            <a:r>
              <a:rPr lang="en-US" altLang="zh-CN" dirty="0"/>
              <a:t>AR</a:t>
            </a:r>
            <a:r>
              <a:rPr lang="zh-CN" altLang="en-US" dirty="0"/>
              <a:t>路由器），或</a:t>
            </a:r>
            <a:r>
              <a:rPr lang="en-US" altLang="zh-CN" dirty="0"/>
              <a:t>FW</a:t>
            </a:r>
            <a:r>
              <a:rPr lang="zh-CN" altLang="en-US" dirty="0"/>
              <a:t>；</a:t>
            </a:r>
          </a:p>
          <a:p>
            <a:pPr lvl="2"/>
            <a:r>
              <a:rPr lang="en-US" altLang="zh-CN" dirty="0"/>
              <a:t>EI</a:t>
            </a:r>
            <a:r>
              <a:rPr lang="zh-CN" altLang="en-US" dirty="0"/>
              <a:t>、</a:t>
            </a:r>
            <a:r>
              <a:rPr lang="en-US" altLang="zh-CN" dirty="0"/>
              <a:t>CE1</a:t>
            </a:r>
            <a:r>
              <a:rPr lang="zh-CN" altLang="en-US" dirty="0"/>
              <a:t>、</a:t>
            </a:r>
            <a:r>
              <a:rPr lang="en-US" altLang="zh-CN" dirty="0"/>
              <a:t>CPOS</a:t>
            </a:r>
            <a:r>
              <a:rPr lang="zh-CN" altLang="en-US" dirty="0"/>
              <a:t>等非以太网的链路，选择路由器作为出口设备。</a:t>
            </a:r>
          </a:p>
          <a:p>
            <a:pPr lvl="1"/>
            <a:r>
              <a:rPr lang="en-US" altLang="zh-CN" dirty="0"/>
              <a:t>SD-WAN</a:t>
            </a:r>
            <a:r>
              <a:rPr lang="zh-CN" altLang="en-US" dirty="0"/>
              <a:t>需求：</a:t>
            </a:r>
          </a:p>
          <a:p>
            <a:pPr lvl="2"/>
            <a:r>
              <a:rPr lang="zh-CN" altLang="en-US" dirty="0"/>
              <a:t>有</a:t>
            </a:r>
            <a:r>
              <a:rPr lang="en-US" altLang="zh-CN" dirty="0"/>
              <a:t>SD-WAN</a:t>
            </a:r>
            <a:r>
              <a:rPr lang="zh-CN" altLang="en-US" dirty="0"/>
              <a:t>需求，选择</a:t>
            </a:r>
            <a:r>
              <a:rPr lang="en-US" altLang="zh-CN" dirty="0"/>
              <a:t>AR</a:t>
            </a:r>
            <a:r>
              <a:rPr lang="zh-CN" altLang="en-US" dirty="0"/>
              <a:t>作为出口设备；</a:t>
            </a:r>
          </a:p>
          <a:p>
            <a:pPr lvl="2"/>
            <a:r>
              <a:rPr lang="zh-CN" altLang="en-US" dirty="0"/>
              <a:t>无</a:t>
            </a:r>
            <a:r>
              <a:rPr lang="en-US" altLang="zh-CN" dirty="0"/>
              <a:t>SD-WAN</a:t>
            </a:r>
            <a:r>
              <a:rPr lang="zh-CN" altLang="en-US" dirty="0"/>
              <a:t>需求，选择</a:t>
            </a:r>
            <a:r>
              <a:rPr lang="en-US" altLang="zh-CN" dirty="0"/>
              <a:t>FW</a:t>
            </a:r>
            <a:r>
              <a:rPr lang="zh-CN" altLang="en-US" dirty="0"/>
              <a:t>或</a:t>
            </a:r>
            <a:r>
              <a:rPr lang="en-US" altLang="zh-CN" dirty="0"/>
              <a:t>NE</a:t>
            </a:r>
            <a:r>
              <a:rPr lang="zh-CN" altLang="en-US" dirty="0"/>
              <a:t>路由器作为出口设备。</a:t>
            </a:r>
          </a:p>
          <a:p>
            <a:pPr lvl="1"/>
            <a:r>
              <a:rPr lang="zh-CN" altLang="en-US" dirty="0"/>
              <a:t>协议对接需求：</a:t>
            </a:r>
          </a:p>
          <a:p>
            <a:pPr lvl="2"/>
            <a:r>
              <a:rPr lang="zh-CN" altLang="en-US" dirty="0"/>
              <a:t>如果出口设备与外部网络运行</a:t>
            </a:r>
            <a:r>
              <a:rPr lang="en-US" altLang="zh-CN" dirty="0"/>
              <a:t>BGP</a:t>
            </a:r>
            <a:r>
              <a:rPr lang="zh-CN" altLang="en-US" dirty="0"/>
              <a:t>，考虑到路由器的路由表规模和性能更强大，同时考虑到在出口设备上需要部署许多路由策略，建议选择路由器作为出口设备。</a:t>
            </a:r>
          </a:p>
        </p:txBody>
      </p:sp>
    </p:spTree>
    <p:extLst>
      <p:ext uri="{BB962C8B-B14F-4D97-AF65-F5344CB8AC3E}">
        <p14:creationId xmlns:p14="http://schemas.microsoft.com/office/powerpoint/2010/main" val="9023672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346930083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1796898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0588895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4"/>
            <a:ext cx="5580062" cy="4985635"/>
          </a:xfrm>
        </p:spPr>
        <p:txBody>
          <a:bodyPr/>
          <a:lstStyle/>
          <a:p>
            <a:pPr>
              <a:lnSpc>
                <a:spcPct val="100000"/>
              </a:lnSpc>
            </a:pPr>
            <a:r>
              <a:rPr lang="zh-CN" altLang="en-US" dirty="0"/>
              <a:t>内网员工访问</a:t>
            </a:r>
            <a:r>
              <a:rPr lang="en-US" altLang="zh-CN" dirty="0"/>
              <a:t>Internet</a:t>
            </a:r>
            <a:r>
              <a:rPr lang="zh-CN" altLang="en-US" dirty="0"/>
              <a:t>路由：</a:t>
            </a:r>
            <a:endParaRPr lang="en-US" altLang="zh-CN" dirty="0"/>
          </a:p>
          <a:p>
            <a:pPr lvl="1">
              <a:lnSpc>
                <a:spcPct val="100000"/>
              </a:lnSpc>
            </a:pPr>
            <a:r>
              <a:rPr lang="en-US" altLang="zh-CN" dirty="0"/>
              <a:t>[Border] ip route-static </a:t>
            </a:r>
            <a:r>
              <a:rPr lang="en-US" altLang="zh-CN" dirty="0" err="1"/>
              <a:t>vpn</a:t>
            </a:r>
            <a:r>
              <a:rPr lang="en-US" altLang="zh-CN" dirty="0"/>
              <a:t>-instance vpn1 0.0.0.0 0 10.11.0.1</a:t>
            </a:r>
          </a:p>
          <a:p>
            <a:pPr lvl="1">
              <a:lnSpc>
                <a:spcPct val="100000"/>
              </a:lnSpc>
            </a:pPr>
            <a:r>
              <a:rPr lang="en-US" altLang="zh-CN" dirty="0"/>
              <a:t>[vsys1] ip route-static 0.0.0.0 0 public</a:t>
            </a:r>
          </a:p>
          <a:p>
            <a:pPr lvl="1">
              <a:lnSpc>
                <a:spcPct val="100000"/>
              </a:lnSpc>
            </a:pPr>
            <a:r>
              <a:rPr lang="en-US" altLang="zh-CN" dirty="0"/>
              <a:t>[FW] ip route-static 0.0.0.0 0 1.2.3.4</a:t>
            </a:r>
          </a:p>
          <a:p>
            <a:pPr>
              <a:lnSpc>
                <a:spcPct val="100000"/>
              </a:lnSpc>
            </a:pPr>
            <a:r>
              <a:rPr lang="zh-CN" altLang="en-US" dirty="0"/>
              <a:t>回程路由：</a:t>
            </a:r>
            <a:endParaRPr lang="en-US" altLang="zh-CN" dirty="0"/>
          </a:p>
          <a:p>
            <a:pPr lvl="1">
              <a:lnSpc>
                <a:spcPct val="100000"/>
              </a:lnSpc>
            </a:pPr>
            <a:r>
              <a:rPr lang="en-US" altLang="zh-CN" dirty="0"/>
              <a:t>[vsys1] ip route-static 10.11.0.0 24 10.11.0.254</a:t>
            </a:r>
          </a:p>
          <a:p>
            <a:pPr lvl="1">
              <a:lnSpc>
                <a:spcPct val="100000"/>
              </a:lnSpc>
            </a:pPr>
            <a:r>
              <a:rPr lang="zh-CN" altLang="en-US" dirty="0"/>
              <a:t>说明：根系统中不需要针对回程报文配置回程路由。回程报文在根系统中匹配会话表后，直接发送到虚拟系统</a:t>
            </a:r>
            <a:r>
              <a:rPr lang="en-US" altLang="zh-CN" dirty="0"/>
              <a:t>vsys1</a:t>
            </a:r>
            <a:r>
              <a:rPr lang="zh-CN" altLang="en-US" dirty="0"/>
              <a:t>中处理。</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161569121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4"/>
            <a:ext cx="5580062" cy="4985635"/>
          </a:xfrm>
        </p:spPr>
        <p:txBody>
          <a:bodyPr/>
          <a:lstStyle/>
          <a:p>
            <a:pPr>
              <a:lnSpc>
                <a:spcPct val="100000"/>
              </a:lnSpc>
            </a:pPr>
            <a:r>
              <a:rPr lang="zh-CN" altLang="en-US" dirty="0"/>
              <a:t>内网员工访问</a:t>
            </a:r>
            <a:r>
              <a:rPr lang="en-US" altLang="zh-CN" dirty="0"/>
              <a:t>Internet</a:t>
            </a:r>
            <a:r>
              <a:rPr lang="zh-CN" altLang="en-US" dirty="0"/>
              <a:t>路由：</a:t>
            </a:r>
            <a:endParaRPr lang="en-US" altLang="zh-CN" dirty="0"/>
          </a:p>
          <a:p>
            <a:pPr lvl="1">
              <a:lnSpc>
                <a:spcPct val="100000"/>
              </a:lnSpc>
            </a:pPr>
            <a:r>
              <a:rPr lang="en-US" altLang="zh-CN" dirty="0"/>
              <a:t>[Border] ip route-static </a:t>
            </a:r>
            <a:r>
              <a:rPr lang="en-US" altLang="zh-CN" dirty="0" err="1"/>
              <a:t>vpn</a:t>
            </a:r>
            <a:r>
              <a:rPr lang="en-US" altLang="zh-CN" dirty="0"/>
              <a:t>-instance vpn1 0.0.0.0 0 10.11.0.1</a:t>
            </a:r>
          </a:p>
          <a:p>
            <a:pPr lvl="1">
              <a:lnSpc>
                <a:spcPct val="100000"/>
              </a:lnSpc>
            </a:pPr>
            <a:r>
              <a:rPr lang="en-US" altLang="zh-CN" dirty="0"/>
              <a:t>[vsys1] ip route-static 0.0.0.0 0 public</a:t>
            </a:r>
          </a:p>
          <a:p>
            <a:pPr lvl="1">
              <a:lnSpc>
                <a:spcPct val="100000"/>
              </a:lnSpc>
            </a:pPr>
            <a:r>
              <a:rPr lang="en-US" altLang="zh-CN" dirty="0"/>
              <a:t>[FW] ip route-static 0.0.0.0 0  10.10.0.254</a:t>
            </a:r>
          </a:p>
          <a:p>
            <a:pPr>
              <a:lnSpc>
                <a:spcPct val="100000"/>
              </a:lnSpc>
            </a:pPr>
            <a:r>
              <a:rPr lang="zh-CN" altLang="en-US" dirty="0"/>
              <a:t>回程路由：</a:t>
            </a:r>
            <a:endParaRPr lang="en-US" altLang="zh-CN" dirty="0"/>
          </a:p>
          <a:p>
            <a:pPr marL="540000" marR="0" lvl="1" indent="-180000" algn="l" defTabSz="1219304" rtl="0" eaLnBrk="1" fontAlgn="ctr" latinLnBrk="0" hangingPunct="1">
              <a:lnSpc>
                <a:spcPct val="100000"/>
              </a:lnSpc>
              <a:spcBef>
                <a:spcPts val="0"/>
              </a:spcBef>
              <a:spcAft>
                <a:spcPts val="600"/>
              </a:spcAft>
              <a:buClrTx/>
              <a:buSzTx/>
              <a:buFont typeface="Huawei Sans" panose="020C0503030203020204" pitchFamily="34" charset="0"/>
              <a:buChar char="▫"/>
              <a:tabLst/>
              <a:defRPr/>
            </a:pPr>
            <a:r>
              <a:rPr lang="en-US" altLang="zh-CN" dirty="0"/>
              <a:t>[Border] ip route-static 10.11.0.0 24 10.10.0.1</a:t>
            </a:r>
          </a:p>
          <a:p>
            <a:pPr lvl="1">
              <a:lnSpc>
                <a:spcPct val="100000"/>
              </a:lnSpc>
            </a:pPr>
            <a:r>
              <a:rPr lang="en-US" altLang="zh-CN" dirty="0"/>
              <a:t>[vsys1] ip route-static 10.11.0.0 24 10.11.0.254</a:t>
            </a:r>
          </a:p>
          <a:p>
            <a:pPr lvl="1">
              <a:lnSpc>
                <a:spcPct val="100000"/>
              </a:lnSpc>
            </a:pPr>
            <a:r>
              <a:rPr lang="zh-CN" altLang="en-US" dirty="0"/>
              <a:t>说明：根系统中不需要针对回程报文配置回程路由。回程报文在根系统中匹配会话表后，直接发送到虚拟系统</a:t>
            </a:r>
            <a:r>
              <a:rPr lang="en-US" altLang="zh-CN" dirty="0"/>
              <a:t>vsys1</a:t>
            </a:r>
            <a:r>
              <a:rPr lang="zh-CN" altLang="en-US" dirty="0"/>
              <a:t>中处理。</a:t>
            </a:r>
            <a:endParaRPr lang="en-US" altLang="zh-CN" dirty="0"/>
          </a:p>
          <a:p>
            <a:pPr>
              <a:lnSpc>
                <a:spcPct val="100000"/>
              </a:lnSpc>
            </a:pP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10903486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在虚拟化园区网络中，当用户网关位于</a:t>
            </a:r>
            <a:r>
              <a:rPr lang="en-US" altLang="zh-CN" dirty="0"/>
              <a:t>Fabric</a:t>
            </a:r>
            <a:r>
              <a:rPr lang="zh-CN" altLang="en-US" dirty="0"/>
              <a:t>内部时，</a:t>
            </a:r>
            <a:r>
              <a:rPr lang="en-US" altLang="zh-CN" dirty="0"/>
              <a:t>Fabric</a:t>
            </a:r>
            <a:r>
              <a:rPr lang="zh-CN" altLang="en-US" dirty="0"/>
              <a:t>的外部网络的每一个</a:t>
            </a:r>
            <a:r>
              <a:rPr lang="en-US" altLang="zh-CN" dirty="0"/>
              <a:t>L3</a:t>
            </a:r>
            <a:r>
              <a:rPr lang="zh-CN" altLang="en-US" dirty="0"/>
              <a:t>出口对应防火墙上的一个三层的逻辑接口，可以每一个逻辑接口绑定一个安全区域。对于用户网关位于</a:t>
            </a:r>
            <a:r>
              <a:rPr lang="en-US" altLang="zh-CN" dirty="0"/>
              <a:t>Fabric</a:t>
            </a:r>
            <a:r>
              <a:rPr lang="zh-CN" altLang="en-US" dirty="0"/>
              <a:t>外部时，需要根据网关对应的安全策略，将不同网关绑定相应的安全区域。</a:t>
            </a:r>
            <a:endParaRPr lang="en-US" altLang="zh-CN" dirty="0"/>
          </a:p>
          <a:p>
            <a:r>
              <a:rPr lang="zh-CN" altLang="en-US" dirty="0"/>
              <a:t>大部分的安全策略都基于安全区域实施。通过安全区域，防火墙上划分出了等级森严、关系明确的网络，防火墙成为连接各个网络的节点。防火墙通过安全区域来划分网络、标识报文流动的“路线”，当报文在不同的安全区域之间流动时，才会触发安全检查，并实施相应的安全策略。安全区域之间默认是隔离的。</a:t>
            </a:r>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67122695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如图所示，通过配置安全策略，园区内部不同</a:t>
            </a:r>
            <a:r>
              <a:rPr lang="en-US" altLang="zh-CN" dirty="0"/>
              <a:t>VN</a:t>
            </a:r>
            <a:r>
              <a:rPr lang="zh-CN" altLang="en-US" dirty="0"/>
              <a:t>间可以互访，外部网络也可以访问</a:t>
            </a:r>
            <a:r>
              <a:rPr lang="en-US" altLang="zh-CN" dirty="0"/>
              <a:t>DMZ</a:t>
            </a:r>
            <a:r>
              <a:rPr lang="zh-CN" altLang="en-US" dirty="0"/>
              <a:t>区的服务器；而且对于不同安全区域的流量，可以执行不同的安全防护策略。</a:t>
            </a:r>
          </a:p>
        </p:txBody>
      </p:sp>
    </p:spTree>
    <p:extLst>
      <p:ext uri="{BB962C8B-B14F-4D97-AF65-F5344CB8AC3E}">
        <p14:creationId xmlns:p14="http://schemas.microsoft.com/office/powerpoint/2010/main" val="315128168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4275989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传统的园区网络一般认为园区内部是安全的，威胁主要来自外界。在园区边界上，一般使用防火墙作为安全设备。随着安全挑战的不断升级，仅在出口区域进行边界防御已经远远不够了，安全防御模型需要由被动转向主动，安全防御范围由外网扩大到内网，从根源解决网络安全问题，提高整个企业的信息安全水平。</a:t>
            </a:r>
          </a:p>
        </p:txBody>
      </p:sp>
    </p:spTree>
    <p:extLst>
      <p:ext uri="{BB962C8B-B14F-4D97-AF65-F5344CB8AC3E}">
        <p14:creationId xmlns:p14="http://schemas.microsoft.com/office/powerpoint/2010/main" val="158490337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4286197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安全措施内容和作用：</a:t>
            </a:r>
            <a:endParaRPr lang="en-US" altLang="zh-CN" dirty="0"/>
          </a:p>
          <a:p>
            <a:pPr lvl="1"/>
            <a:r>
              <a:rPr lang="zh-CN" altLang="zh-CN" dirty="0"/>
              <a:t>开启流量抑制和风暴控制</a:t>
            </a:r>
            <a:r>
              <a:rPr lang="zh-CN" altLang="en-US" dirty="0"/>
              <a:t>：</a:t>
            </a:r>
            <a:endParaRPr lang="en-US" altLang="zh-CN" dirty="0"/>
          </a:p>
          <a:p>
            <a:pPr lvl="2"/>
            <a:r>
              <a:rPr lang="zh-CN" altLang="en-US" dirty="0"/>
              <a:t>控制广播、组播或者未知单播这三类报文流量，防范广播风暴。流量抑制主要通过配置阈值来限制流量，而风暴控制则主要通过关闭端口来阻断流量。</a:t>
            </a:r>
          </a:p>
          <a:p>
            <a:pPr lvl="1"/>
            <a:r>
              <a:rPr lang="zh-CN" altLang="zh-CN" dirty="0"/>
              <a:t>开启</a:t>
            </a:r>
            <a:r>
              <a:rPr lang="en-US" altLang="zh-CN" dirty="0"/>
              <a:t>DHCP Snooping</a:t>
            </a:r>
            <a:r>
              <a:rPr lang="zh-CN" altLang="zh-CN" dirty="0"/>
              <a:t>，上行口配置成</a:t>
            </a:r>
            <a:r>
              <a:rPr lang="en-US" altLang="zh-CN" dirty="0"/>
              <a:t>trust</a:t>
            </a:r>
            <a:r>
              <a:rPr lang="zh-CN" altLang="en-US" dirty="0"/>
              <a:t>：</a:t>
            </a:r>
            <a:endParaRPr lang="en-US" altLang="zh-CN" dirty="0"/>
          </a:p>
          <a:p>
            <a:pPr lvl="2"/>
            <a:r>
              <a:rPr lang="zh-CN" altLang="en-US" dirty="0"/>
              <a:t>配置</a:t>
            </a:r>
            <a:r>
              <a:rPr lang="en-US" altLang="zh-CN" dirty="0"/>
              <a:t>DHCP Snooping</a:t>
            </a:r>
            <a:r>
              <a:rPr lang="zh-CN" altLang="en-US" dirty="0"/>
              <a:t>功能，可有效防止</a:t>
            </a:r>
            <a:r>
              <a:rPr lang="en-US" altLang="zh-CN" dirty="0"/>
              <a:t>DHCP Server</a:t>
            </a:r>
            <a:r>
              <a:rPr lang="zh-CN" altLang="en-US" dirty="0"/>
              <a:t>仿冒者攻击、</a:t>
            </a:r>
            <a:r>
              <a:rPr lang="en-US" altLang="zh-CN" dirty="0"/>
              <a:t>DHCP Server</a:t>
            </a:r>
            <a:r>
              <a:rPr lang="zh-CN" altLang="en-US" dirty="0"/>
              <a:t>的拒绝服务攻击、仿冒</a:t>
            </a:r>
            <a:r>
              <a:rPr lang="en-US" altLang="zh-CN" dirty="0"/>
              <a:t>DHCP</a:t>
            </a:r>
            <a:r>
              <a:rPr lang="zh-CN" altLang="en-US" dirty="0"/>
              <a:t>报文攻击等。为了使</a:t>
            </a:r>
            <a:r>
              <a:rPr lang="en-US" altLang="zh-CN" dirty="0"/>
              <a:t>DHCP</a:t>
            </a:r>
            <a:r>
              <a:rPr lang="zh-CN" altLang="en-US" dirty="0"/>
              <a:t>客户端能通过合法的</a:t>
            </a:r>
            <a:r>
              <a:rPr lang="en-US" altLang="zh-CN" dirty="0"/>
              <a:t>DHCP</a:t>
            </a:r>
            <a:r>
              <a:rPr lang="zh-CN" altLang="en-US" dirty="0"/>
              <a:t>服务器获取</a:t>
            </a:r>
            <a:r>
              <a:rPr lang="en-US" altLang="zh-CN" dirty="0"/>
              <a:t>IP</a:t>
            </a:r>
            <a:r>
              <a:rPr lang="zh-CN" altLang="en-US" dirty="0"/>
              <a:t>地址，</a:t>
            </a:r>
            <a:r>
              <a:rPr lang="en-US" altLang="zh-CN" dirty="0"/>
              <a:t>DHCP Snooping</a:t>
            </a:r>
            <a:r>
              <a:rPr lang="zh-CN" altLang="en-US" dirty="0"/>
              <a:t>安全机制允许将接口设置为信任接口和非信任接口，信任接口正常转发接收到的</a:t>
            </a:r>
            <a:r>
              <a:rPr lang="en-US" altLang="zh-CN" dirty="0"/>
              <a:t>DHCP</a:t>
            </a:r>
            <a:r>
              <a:rPr lang="zh-CN" altLang="en-US" dirty="0"/>
              <a:t>报文，非信任接口接收到</a:t>
            </a:r>
            <a:r>
              <a:rPr lang="en-US" altLang="zh-CN" dirty="0"/>
              <a:t>DHCP</a:t>
            </a:r>
            <a:r>
              <a:rPr lang="zh-CN" altLang="en-US" dirty="0"/>
              <a:t>服务器响应的</a:t>
            </a:r>
            <a:r>
              <a:rPr lang="en-US" altLang="zh-CN" dirty="0"/>
              <a:t>DHCP ACK</a:t>
            </a:r>
            <a:r>
              <a:rPr lang="zh-CN" altLang="en-US" dirty="0"/>
              <a:t>和</a:t>
            </a:r>
            <a:r>
              <a:rPr lang="en-US" altLang="zh-CN" dirty="0"/>
              <a:t>DHCP OFFER</a:t>
            </a:r>
            <a:r>
              <a:rPr lang="zh-CN" altLang="en-US" dirty="0"/>
              <a:t>报文后，将丢弃该报文。</a:t>
            </a:r>
          </a:p>
          <a:p>
            <a:pPr lvl="2"/>
            <a:r>
              <a:rPr lang="zh-CN" altLang="en-US" dirty="0"/>
              <a:t>直接或者间接连接管理员信任的</a:t>
            </a:r>
            <a:r>
              <a:rPr lang="en-US" altLang="zh-CN" dirty="0"/>
              <a:t>DHCP</a:t>
            </a:r>
            <a:r>
              <a:rPr lang="zh-CN" altLang="en-US" dirty="0"/>
              <a:t>服务器的接口需要设置为信任接口，其他接口设置为非信任接口，从而保证</a:t>
            </a:r>
            <a:r>
              <a:rPr lang="en-US" altLang="zh-CN" dirty="0"/>
              <a:t>DHCP</a:t>
            </a:r>
            <a:r>
              <a:rPr lang="zh-CN" altLang="en-US" dirty="0"/>
              <a:t>客户端只能从合法的</a:t>
            </a:r>
            <a:r>
              <a:rPr lang="en-US" altLang="zh-CN" dirty="0"/>
              <a:t>DHCP</a:t>
            </a:r>
            <a:r>
              <a:rPr lang="zh-CN" altLang="en-US" dirty="0"/>
              <a:t>服务器获取</a:t>
            </a:r>
            <a:r>
              <a:rPr lang="en-US" altLang="zh-CN" dirty="0"/>
              <a:t>IP</a:t>
            </a:r>
            <a:r>
              <a:rPr lang="zh-CN" altLang="en-US" dirty="0"/>
              <a:t>地址，私自架设的</a:t>
            </a:r>
            <a:r>
              <a:rPr lang="en-US" altLang="zh-CN" dirty="0"/>
              <a:t>DHCP Server</a:t>
            </a:r>
            <a:r>
              <a:rPr lang="zh-CN" altLang="en-US" dirty="0"/>
              <a:t>仿冒者无法为</a:t>
            </a:r>
            <a:r>
              <a:rPr lang="en-US" altLang="zh-CN" dirty="0"/>
              <a:t>DHCP</a:t>
            </a:r>
            <a:r>
              <a:rPr lang="zh-CN" altLang="en-US" dirty="0"/>
              <a:t>客户端分配</a:t>
            </a:r>
            <a:r>
              <a:rPr lang="en-US" altLang="zh-CN" dirty="0"/>
              <a:t>IP</a:t>
            </a:r>
            <a:r>
              <a:rPr lang="zh-CN" altLang="en-US" dirty="0"/>
              <a:t>地址。</a:t>
            </a:r>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2443770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1">
              <a:lnSpc>
                <a:spcPct val="100000"/>
              </a:lnSpc>
            </a:pPr>
            <a:r>
              <a:rPr lang="zh-CN" altLang="zh-CN" dirty="0"/>
              <a:t>开启</a:t>
            </a:r>
            <a:r>
              <a:rPr lang="en-US" altLang="zh-CN" dirty="0"/>
              <a:t>IPSG</a:t>
            </a:r>
            <a:r>
              <a:rPr lang="zh-CN" altLang="zh-CN" dirty="0"/>
              <a:t>和</a:t>
            </a:r>
            <a:r>
              <a:rPr lang="en-US" altLang="zh-CN" dirty="0"/>
              <a:t>DAI</a:t>
            </a:r>
            <a:r>
              <a:rPr lang="zh-CN" altLang="en-US" dirty="0"/>
              <a:t>：</a:t>
            </a:r>
            <a:endParaRPr lang="en-US" altLang="zh-CN" dirty="0"/>
          </a:p>
          <a:p>
            <a:pPr lvl="2">
              <a:lnSpc>
                <a:spcPct val="100000"/>
              </a:lnSpc>
            </a:pPr>
            <a:r>
              <a:rPr lang="en-US" altLang="zh-CN" dirty="0"/>
              <a:t>IP</a:t>
            </a:r>
            <a:r>
              <a:rPr lang="zh-CN" altLang="en-US" dirty="0"/>
              <a:t>源防攻击（</a:t>
            </a:r>
            <a:r>
              <a:rPr lang="en-US" altLang="zh-CN" dirty="0"/>
              <a:t>IPSG</a:t>
            </a:r>
            <a:r>
              <a:rPr lang="zh-CN" altLang="en-US" dirty="0"/>
              <a:t>）可以防止恶意主机伪造合法主机的</a:t>
            </a:r>
            <a:r>
              <a:rPr lang="en-US" altLang="zh-CN" dirty="0"/>
              <a:t>IP</a:t>
            </a:r>
            <a:r>
              <a:rPr lang="zh-CN" altLang="en-US" dirty="0"/>
              <a:t>地址来仿冒合法主机，还能确保非授权主机不能通过自己指定</a:t>
            </a:r>
            <a:r>
              <a:rPr lang="en-US" altLang="zh-CN" dirty="0"/>
              <a:t>IP</a:t>
            </a:r>
            <a:r>
              <a:rPr lang="zh-CN" altLang="en-US" dirty="0"/>
              <a:t>地址的方式来访问网络或者攻击网络。</a:t>
            </a:r>
          </a:p>
          <a:p>
            <a:pPr lvl="2">
              <a:lnSpc>
                <a:spcPct val="100000"/>
              </a:lnSpc>
            </a:pPr>
            <a:r>
              <a:rPr lang="zh-CN" altLang="en-US" dirty="0"/>
              <a:t>为了防御中间人攻击，避免合法用户的数据被中间人窃取，可以使能动态</a:t>
            </a:r>
            <a:r>
              <a:rPr lang="en-US" altLang="zh-CN" dirty="0"/>
              <a:t>ARP</a:t>
            </a:r>
            <a:r>
              <a:rPr lang="zh-CN" altLang="en-US" dirty="0"/>
              <a:t>检测（</a:t>
            </a:r>
            <a:r>
              <a:rPr lang="en-US" altLang="zh-CN" dirty="0"/>
              <a:t>DAI</a:t>
            </a:r>
            <a:r>
              <a:rPr lang="zh-CN" altLang="en-US" dirty="0"/>
              <a:t>）功能。设备会将</a:t>
            </a:r>
            <a:r>
              <a:rPr lang="en-US" altLang="zh-CN" dirty="0"/>
              <a:t>ARP</a:t>
            </a:r>
            <a:r>
              <a:rPr lang="zh-CN" altLang="en-US" dirty="0"/>
              <a:t>报文对应的源</a:t>
            </a:r>
            <a:r>
              <a:rPr lang="en-US" altLang="zh-CN" dirty="0"/>
              <a:t>IP</a:t>
            </a:r>
            <a:r>
              <a:rPr lang="zh-CN" altLang="en-US" dirty="0"/>
              <a:t>、源</a:t>
            </a:r>
            <a:r>
              <a:rPr lang="en-US" altLang="zh-CN" dirty="0"/>
              <a:t>MAC</a:t>
            </a:r>
            <a:r>
              <a:rPr lang="zh-CN" altLang="en-US" dirty="0"/>
              <a:t>、接口、</a:t>
            </a:r>
            <a:r>
              <a:rPr lang="en-US" altLang="zh-CN" dirty="0"/>
              <a:t>VLAN</a:t>
            </a:r>
            <a:r>
              <a:rPr lang="zh-CN" altLang="en-US" dirty="0"/>
              <a:t>信息和绑定表中的信息进行比较，如果信息匹配，说明发送该</a:t>
            </a:r>
            <a:r>
              <a:rPr lang="en-US" altLang="zh-CN" dirty="0"/>
              <a:t>ARP</a:t>
            </a:r>
            <a:r>
              <a:rPr lang="zh-CN" altLang="en-US" dirty="0"/>
              <a:t>报文的用户是合法用户，允许此用户的</a:t>
            </a:r>
            <a:r>
              <a:rPr lang="en-US" altLang="zh-CN" dirty="0"/>
              <a:t>ARP</a:t>
            </a:r>
            <a:r>
              <a:rPr lang="zh-CN" altLang="en-US" dirty="0"/>
              <a:t>报文通过，否则就认为是攻击，丢弃该</a:t>
            </a:r>
            <a:r>
              <a:rPr lang="en-US" altLang="zh-CN" dirty="0"/>
              <a:t>ARP</a:t>
            </a:r>
            <a:r>
              <a:rPr lang="zh-CN" altLang="en-US" dirty="0"/>
              <a:t>报文。</a:t>
            </a:r>
            <a:endParaRPr lang="zh-CN" altLang="zh-CN" dirty="0"/>
          </a:p>
          <a:p>
            <a:pPr lvl="1">
              <a:lnSpc>
                <a:spcPct val="100000"/>
              </a:lnSpc>
            </a:pPr>
            <a:r>
              <a:rPr lang="zh-CN" altLang="zh-CN" dirty="0"/>
              <a:t>开启端口隔离</a:t>
            </a:r>
            <a:r>
              <a:rPr lang="zh-CN" altLang="en-US" dirty="0"/>
              <a:t>：</a:t>
            </a:r>
            <a:endParaRPr lang="en-US" altLang="zh-CN" dirty="0"/>
          </a:p>
          <a:p>
            <a:pPr lvl="2">
              <a:lnSpc>
                <a:spcPct val="100000"/>
              </a:lnSpc>
            </a:pPr>
            <a:r>
              <a:rPr lang="zh-CN" altLang="en-US" dirty="0"/>
              <a:t>建议在接入交换机连接终端的接口上配置端口隔离，加强用户通信安全，同时避免无效的广播报文影响用户业务。</a:t>
            </a:r>
          </a:p>
          <a:p>
            <a:pPr lvl="1">
              <a:lnSpc>
                <a:spcPct val="100000"/>
              </a:lnSpc>
            </a:pPr>
            <a:r>
              <a:rPr lang="zh-CN" altLang="zh-CN" dirty="0"/>
              <a:t>开启</a:t>
            </a:r>
            <a:r>
              <a:rPr lang="en-US" altLang="zh-CN" dirty="0"/>
              <a:t>CPU</a:t>
            </a:r>
            <a:r>
              <a:rPr lang="zh-CN" altLang="zh-CN" dirty="0"/>
              <a:t>防攻击</a:t>
            </a:r>
            <a:r>
              <a:rPr lang="zh-CN" altLang="en-US" dirty="0"/>
              <a:t>：</a:t>
            </a:r>
            <a:endParaRPr lang="en-US" altLang="zh-CN" dirty="0"/>
          </a:p>
          <a:p>
            <a:pPr lvl="2">
              <a:lnSpc>
                <a:spcPct val="100000"/>
              </a:lnSpc>
            </a:pPr>
            <a:r>
              <a:rPr lang="en-US" altLang="zh-CN" dirty="0"/>
              <a:t>CPU</a:t>
            </a:r>
            <a:r>
              <a:rPr lang="zh-CN" altLang="en-US" dirty="0"/>
              <a:t>防攻击可以针对上送</a:t>
            </a:r>
            <a:r>
              <a:rPr lang="en-US" altLang="zh-CN" dirty="0"/>
              <a:t>CPU</a:t>
            </a:r>
            <a:r>
              <a:rPr lang="zh-CN" altLang="en-US" dirty="0"/>
              <a:t>的报文进行限制和约束，使单位时间内上送</a:t>
            </a:r>
            <a:r>
              <a:rPr lang="en-US" altLang="zh-CN" dirty="0"/>
              <a:t>CPU</a:t>
            </a:r>
            <a:r>
              <a:rPr lang="zh-CN" altLang="en-US" dirty="0"/>
              <a:t>报文的数量限制在一定范围之内，从而保护</a:t>
            </a:r>
            <a:r>
              <a:rPr lang="en-US" altLang="zh-CN" dirty="0"/>
              <a:t>CPU</a:t>
            </a:r>
            <a:r>
              <a:rPr lang="zh-CN" altLang="en-US" dirty="0"/>
              <a:t>的安全，保证</a:t>
            </a:r>
            <a:r>
              <a:rPr lang="en-US" altLang="zh-CN" dirty="0"/>
              <a:t>CPU</a:t>
            </a:r>
            <a:r>
              <a:rPr lang="zh-CN" altLang="en-US" dirty="0"/>
              <a:t>对业务的正常处理。</a:t>
            </a:r>
          </a:p>
          <a:p>
            <a:pPr lvl="2">
              <a:lnSpc>
                <a:spcPct val="100000"/>
              </a:lnSpc>
            </a:pPr>
            <a:r>
              <a:rPr lang="en-US" altLang="zh-CN" dirty="0"/>
              <a:t>CPU</a:t>
            </a:r>
            <a:r>
              <a:rPr lang="zh-CN" altLang="en-US" dirty="0"/>
              <a:t>防攻击的核心部分是</a:t>
            </a:r>
            <a:r>
              <a:rPr lang="en-US" altLang="zh-CN" dirty="0"/>
              <a:t>CPCAR</a:t>
            </a:r>
            <a:r>
              <a:rPr lang="zh-CN" altLang="en-US" dirty="0"/>
              <a:t>（</a:t>
            </a:r>
            <a:r>
              <a:rPr lang="en-US" altLang="zh-CN" dirty="0"/>
              <a:t>Control Plane Committed Access Rate</a:t>
            </a:r>
            <a:r>
              <a:rPr lang="zh-CN" altLang="en-US" dirty="0"/>
              <a:t>）功能。</a:t>
            </a:r>
            <a:r>
              <a:rPr lang="en-US" altLang="zh-CN" dirty="0"/>
              <a:t>CPCAR</a:t>
            </a:r>
            <a:r>
              <a:rPr lang="zh-CN" altLang="en-US" dirty="0"/>
              <a:t>通过对上送控制平面的不同业务的协议报文分别进行限速，来保护控制平面的安全。</a:t>
            </a:r>
          </a:p>
          <a:p>
            <a:pPr lvl="1">
              <a:lnSpc>
                <a:spcPct val="100000"/>
              </a:lnSpc>
            </a:pPr>
            <a:r>
              <a:rPr lang="zh-CN" altLang="zh-CN" dirty="0"/>
              <a:t>开启攻击溯源</a:t>
            </a:r>
            <a:r>
              <a:rPr lang="zh-CN" altLang="en-US" dirty="0"/>
              <a:t>：</a:t>
            </a:r>
            <a:endParaRPr lang="en-US" altLang="zh-CN" dirty="0"/>
          </a:p>
          <a:p>
            <a:pPr lvl="2">
              <a:lnSpc>
                <a:spcPct val="100000"/>
              </a:lnSpc>
            </a:pPr>
            <a:r>
              <a:rPr lang="zh-CN" altLang="en-US" dirty="0"/>
              <a:t>攻击溯源可以针对</a:t>
            </a:r>
            <a:r>
              <a:rPr lang="en-US" altLang="zh-CN" dirty="0" err="1"/>
              <a:t>DoS</a:t>
            </a:r>
            <a:r>
              <a:rPr lang="zh-CN" altLang="en-US" dirty="0"/>
              <a:t>（</a:t>
            </a:r>
            <a:r>
              <a:rPr lang="en-US" altLang="zh-CN" dirty="0"/>
              <a:t>Denial of Service</a:t>
            </a:r>
            <a:r>
              <a:rPr lang="zh-CN" altLang="en-US" dirty="0"/>
              <a:t>）攻击进行防御。设备通过对上送</a:t>
            </a:r>
            <a:r>
              <a:rPr lang="en-US" altLang="zh-CN" dirty="0"/>
              <a:t>CPU</a:t>
            </a:r>
            <a:r>
              <a:rPr lang="zh-CN" altLang="en-US" dirty="0"/>
              <a:t>的报文进行分析统计，然后对统计的报文设置一定的阈值，将超过阈值的报文判定为攻击报文，再根据攻击报文信息找出攻击源用户或者攻击源接口，最后通过日志、告警等方式提醒管理员，以便管理员采用一定的措施来保护设备，或者直接丢弃攻击报文以对攻击源进行惩罚。</a:t>
            </a:r>
          </a:p>
          <a:p>
            <a:pPr lvl="1">
              <a:lnSpc>
                <a:spcPct val="100000"/>
              </a:lnSpc>
            </a:pPr>
            <a:r>
              <a:rPr lang="zh-CN" altLang="zh-CN" dirty="0"/>
              <a:t>开启端口防攻击</a:t>
            </a:r>
            <a:r>
              <a:rPr lang="zh-CN" altLang="en-US" dirty="0"/>
              <a:t>：</a:t>
            </a:r>
            <a:endParaRPr lang="en-US" altLang="zh-CN" dirty="0"/>
          </a:p>
          <a:p>
            <a:pPr lvl="2">
              <a:lnSpc>
                <a:spcPct val="100000"/>
              </a:lnSpc>
            </a:pPr>
            <a:r>
              <a:rPr lang="zh-CN" altLang="en-US" dirty="0"/>
              <a:t>端口防攻击是针对</a:t>
            </a:r>
            <a:r>
              <a:rPr lang="en-US" altLang="zh-CN" dirty="0" err="1"/>
              <a:t>DoS</a:t>
            </a:r>
            <a:r>
              <a:rPr lang="zh-CN" altLang="en-US" dirty="0"/>
              <a:t>攻击的另一种防御方式。它基于端口维度进行防御，可以避免攻击端口的协议报文挤占带宽，导致其他报文丢弃。</a:t>
            </a:r>
          </a:p>
          <a:p>
            <a:pPr lvl="2">
              <a:lnSpc>
                <a:spcPct val="100000"/>
              </a:lnSpc>
            </a:pPr>
            <a:r>
              <a:rPr lang="zh-CN" altLang="en-US" dirty="0"/>
              <a:t>设备默认开启常见用户协议如</a:t>
            </a:r>
            <a:r>
              <a:rPr lang="en-US" altLang="zh-CN" dirty="0"/>
              <a:t>ARP</a:t>
            </a:r>
            <a:r>
              <a:rPr lang="zh-CN" altLang="en-US" dirty="0"/>
              <a:t>、</a:t>
            </a:r>
            <a:r>
              <a:rPr lang="en-US" altLang="zh-CN" dirty="0"/>
              <a:t>ICMP</a:t>
            </a:r>
            <a:r>
              <a:rPr lang="zh-CN" altLang="en-US" dirty="0"/>
              <a:t>、</a:t>
            </a:r>
            <a:r>
              <a:rPr lang="en-US" altLang="zh-CN" dirty="0"/>
              <a:t>DHCP</a:t>
            </a:r>
            <a:r>
              <a:rPr lang="zh-CN" altLang="en-US" dirty="0"/>
              <a:t>、</a:t>
            </a:r>
            <a:r>
              <a:rPr lang="en-US" altLang="zh-CN" dirty="0"/>
              <a:t>IGMP</a:t>
            </a:r>
            <a:r>
              <a:rPr lang="zh-CN" altLang="en-US" dirty="0"/>
              <a:t>的端口防攻击功能，在用户攻击发生时可以自动将攻击影响隔离到端口范围内，减少对其它端口的影响。</a:t>
            </a:r>
          </a:p>
          <a:p>
            <a:pPr lvl="1">
              <a:lnSpc>
                <a:spcPct val="100000"/>
              </a:lnSpc>
            </a:pPr>
            <a:r>
              <a:rPr lang="zh-CN" altLang="zh-CN" dirty="0"/>
              <a:t>开启用户级限速</a:t>
            </a:r>
            <a:r>
              <a:rPr lang="zh-CN" altLang="en-US" dirty="0"/>
              <a:t>：</a:t>
            </a:r>
            <a:endParaRPr lang="zh-CN" altLang="zh-CN" dirty="0"/>
          </a:p>
          <a:p>
            <a:pPr lvl="2">
              <a:lnSpc>
                <a:spcPct val="100000"/>
              </a:lnSpc>
            </a:pPr>
            <a:r>
              <a:rPr lang="zh-CN" altLang="en-US" dirty="0"/>
              <a:t>用户级限速指的是基于用户</a:t>
            </a:r>
            <a:r>
              <a:rPr lang="en-US" altLang="zh-CN" dirty="0"/>
              <a:t>MAC</a:t>
            </a:r>
            <a:r>
              <a:rPr lang="zh-CN" altLang="en-US" dirty="0"/>
              <a:t>地址识别用户，然后对用户的特定协议报文（</a:t>
            </a:r>
            <a:r>
              <a:rPr lang="en-US" altLang="zh-CN" dirty="0"/>
              <a:t>ARP/ND/DHCP Request/DHCPV6 Request/IGMP/802.1x/HTTPS-SYN</a:t>
            </a:r>
            <a:r>
              <a:rPr lang="zh-CN" altLang="en-US" dirty="0"/>
              <a:t>）进行限速，使得单个用户在受到</a:t>
            </a:r>
            <a:r>
              <a:rPr lang="en-US" altLang="zh-CN" dirty="0" err="1"/>
              <a:t>DoS</a:t>
            </a:r>
            <a:r>
              <a:rPr lang="zh-CN" altLang="en-US" dirty="0"/>
              <a:t>攻击的情况下，只影响本用户，不对其他用户带来影响。</a:t>
            </a:r>
          </a:p>
          <a:p>
            <a:pPr lvl="2">
              <a:lnSpc>
                <a:spcPct val="100000"/>
              </a:lnSpc>
            </a:pPr>
            <a:r>
              <a:rPr lang="zh-CN" altLang="en-US" dirty="0"/>
              <a:t>用户级限速的核心部分是</a:t>
            </a:r>
            <a:r>
              <a:rPr lang="en-US" altLang="zh-CN" dirty="0"/>
              <a:t>HOST-CAR</a:t>
            </a:r>
            <a:r>
              <a:rPr lang="zh-CN" altLang="en-US" dirty="0"/>
              <a:t>功能。缺省情况下，已经使能用户级限速功能。</a:t>
            </a:r>
          </a:p>
          <a:p>
            <a:pPr>
              <a:lnSpc>
                <a:spcPct val="100000"/>
              </a:lnSpc>
            </a:pPr>
            <a:endParaRPr lang="zh-CN" altLang="en-US" dirty="0"/>
          </a:p>
        </p:txBody>
      </p:sp>
    </p:spTree>
    <p:extLst>
      <p:ext uri="{BB962C8B-B14F-4D97-AF65-F5344CB8AC3E}">
        <p14:creationId xmlns:p14="http://schemas.microsoft.com/office/powerpoint/2010/main" val="416227645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6798282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无线空口安全设计：</a:t>
            </a:r>
            <a:endParaRPr lang="en-US" altLang="zh-CN" dirty="0"/>
          </a:p>
          <a:p>
            <a:pPr lvl="1"/>
            <a:r>
              <a:rPr lang="en-US" altLang="zh-CN" dirty="0"/>
              <a:t>WIDS</a:t>
            </a:r>
            <a:r>
              <a:rPr lang="zh-CN" altLang="en-US" dirty="0"/>
              <a:t>：</a:t>
            </a:r>
            <a:r>
              <a:rPr lang="en-US" altLang="zh-CN" dirty="0"/>
              <a:t>Wireless Intrusion Detection System</a:t>
            </a:r>
            <a:r>
              <a:rPr lang="zh-CN" altLang="en-US" dirty="0"/>
              <a:t>，无线入侵检测系统，可以检测出非法</a:t>
            </a:r>
            <a:r>
              <a:rPr lang="en-US" altLang="zh-CN" dirty="0"/>
              <a:t>AP</a:t>
            </a:r>
            <a:r>
              <a:rPr lang="zh-CN" altLang="en-US" dirty="0"/>
              <a:t>、干扰网桥、非法</a:t>
            </a:r>
            <a:r>
              <a:rPr lang="en-US" altLang="zh-CN" dirty="0"/>
              <a:t>STA</a:t>
            </a:r>
            <a:r>
              <a:rPr lang="zh-CN" altLang="en-US" dirty="0"/>
              <a:t>、</a:t>
            </a:r>
            <a:r>
              <a:rPr lang="en-US" altLang="zh-CN" dirty="0"/>
              <a:t>Ad-Hoc</a:t>
            </a:r>
            <a:r>
              <a:rPr lang="zh-CN" altLang="en-US" dirty="0"/>
              <a:t>以及干扰</a:t>
            </a:r>
            <a:r>
              <a:rPr lang="en-US" altLang="zh-CN" dirty="0"/>
              <a:t>AP</a:t>
            </a:r>
            <a:r>
              <a:rPr lang="zh-CN" altLang="en-US" dirty="0"/>
              <a:t>、干扰网桥、干扰</a:t>
            </a:r>
            <a:r>
              <a:rPr lang="en-US" altLang="zh-CN" dirty="0"/>
              <a:t>STA</a:t>
            </a:r>
            <a:r>
              <a:rPr lang="zh-CN" altLang="en-US" dirty="0"/>
              <a:t>。</a:t>
            </a:r>
            <a:endParaRPr lang="zh-CN" altLang="zh-CN" dirty="0"/>
          </a:p>
          <a:p>
            <a:pPr lvl="1"/>
            <a:r>
              <a:rPr lang="en-US" altLang="zh-CN" dirty="0"/>
              <a:t>WIPS</a:t>
            </a:r>
            <a:r>
              <a:rPr lang="zh-CN" altLang="en-US" dirty="0"/>
              <a:t>：</a:t>
            </a:r>
            <a:r>
              <a:rPr lang="en-US" altLang="zh-CN" dirty="0"/>
              <a:t>Wireless Intrusion Prevention System</a:t>
            </a:r>
            <a:r>
              <a:rPr lang="zh-CN" altLang="en-US" dirty="0"/>
              <a:t>，无线干扰防御系统，可以断开合法用户与仿冒</a:t>
            </a:r>
            <a:r>
              <a:rPr lang="en-US" altLang="zh-CN" dirty="0"/>
              <a:t>AP</a:t>
            </a:r>
            <a:r>
              <a:rPr lang="zh-CN" altLang="en-US" dirty="0"/>
              <a:t>的</a:t>
            </a:r>
            <a:r>
              <a:rPr lang="en-US" altLang="zh-CN" dirty="0"/>
              <a:t>WLAN</a:t>
            </a:r>
            <a:r>
              <a:rPr lang="zh-CN" altLang="en-US" dirty="0"/>
              <a:t>连接，也可以断开非法设备和干扰设备的接入，实现对非法设备和干扰设备的反制。</a:t>
            </a:r>
            <a:endParaRPr lang="zh-CN" altLang="zh-CN" dirty="0"/>
          </a:p>
          <a:p>
            <a:pPr lvl="1"/>
            <a:r>
              <a:rPr lang="zh-CN" altLang="zh-CN" dirty="0"/>
              <a:t>攻击检测</a:t>
            </a:r>
            <a:r>
              <a:rPr lang="zh-CN" altLang="en-US" dirty="0"/>
              <a:t>：</a:t>
            </a:r>
            <a:r>
              <a:rPr lang="en-US" altLang="zh-CN" dirty="0"/>
              <a:t>WIDS/WIPS</a:t>
            </a:r>
            <a:r>
              <a:rPr lang="zh-CN" altLang="en-US" dirty="0"/>
              <a:t>还支持攻击检测功能，可以检测泛洪攻击，弱</a:t>
            </a:r>
            <a:r>
              <a:rPr lang="en-US" altLang="zh-CN" dirty="0"/>
              <a:t>IV</a:t>
            </a:r>
            <a:r>
              <a:rPr lang="zh-CN" altLang="en-US" dirty="0"/>
              <a:t>向量攻击、欺骗攻击、暴力破解</a:t>
            </a:r>
            <a:r>
              <a:rPr lang="en-US" altLang="zh-CN" dirty="0"/>
              <a:t>WPA/WPA2/WAPI</a:t>
            </a:r>
            <a:r>
              <a:rPr lang="zh-CN" altLang="en-US" dirty="0"/>
              <a:t>的预共享密钥和</a:t>
            </a:r>
            <a:r>
              <a:rPr lang="en-US" altLang="zh-CN" dirty="0"/>
              <a:t>WEP</a:t>
            </a:r>
            <a:r>
              <a:rPr lang="zh-CN" altLang="en-US" dirty="0"/>
              <a:t>的共享密钥，及时发现网络的不安全因素，通过日志，统计信息以及告警方式及时通知网络管理员。对于检测到的进行泛洪攻击和暴力破解密钥攻击的设备，设备可以将其加入黑名单，在动态黑名单老化时间内，拒绝接收其发送的报文。</a:t>
            </a:r>
          </a:p>
          <a:p>
            <a:pPr lvl="1"/>
            <a:r>
              <a:rPr lang="zh-CN" altLang="zh-CN" dirty="0"/>
              <a:t>管理帧保护功能</a:t>
            </a:r>
            <a:r>
              <a:rPr lang="en-US" altLang="zh-CN" dirty="0"/>
              <a:t>PMF</a:t>
            </a:r>
            <a:r>
              <a:rPr lang="zh-CN" altLang="en-US" dirty="0"/>
              <a:t>：</a:t>
            </a:r>
            <a:r>
              <a:rPr lang="en-US" altLang="zh-CN" dirty="0"/>
              <a:t>WLAN</a:t>
            </a:r>
            <a:r>
              <a:rPr lang="zh-CN" altLang="en-US" dirty="0"/>
              <a:t>网络的管理帧不加密，可能引发安全问题。管理帧保护功能（</a:t>
            </a:r>
            <a:r>
              <a:rPr lang="en-US" altLang="zh-CN" dirty="0"/>
              <a:t>Protected Management Frame</a:t>
            </a:r>
            <a:r>
              <a:rPr lang="zh-CN" altLang="en-US" dirty="0"/>
              <a:t>，</a:t>
            </a:r>
            <a:r>
              <a:rPr lang="en-US" altLang="zh-CN" dirty="0"/>
              <a:t>PMF</a:t>
            </a:r>
            <a:r>
              <a:rPr lang="zh-CN" altLang="en-US" dirty="0"/>
              <a:t>）是</a:t>
            </a:r>
            <a:r>
              <a:rPr lang="en-US" altLang="zh-CN" dirty="0"/>
              <a:t>WFA</a:t>
            </a:r>
            <a:r>
              <a:rPr lang="zh-CN" altLang="en-US" dirty="0"/>
              <a:t>发布的基于</a:t>
            </a:r>
            <a:r>
              <a:rPr lang="en-US" altLang="zh-CN" dirty="0"/>
              <a:t>IEEE 802.11w</a:t>
            </a:r>
            <a:r>
              <a:rPr lang="zh-CN" altLang="en-US" dirty="0"/>
              <a:t>标准的一项规范，目的是将</a:t>
            </a:r>
            <a:r>
              <a:rPr lang="en-US" altLang="zh-CN" dirty="0"/>
              <a:t>WPA2</a:t>
            </a:r>
            <a:r>
              <a:rPr lang="zh-CN" altLang="en-US" dirty="0"/>
              <a:t>中对数据帧的安全措施扩展至单播和多播管理</a:t>
            </a:r>
            <a:r>
              <a:rPr lang="en-US" altLang="zh-CN" dirty="0"/>
              <a:t>action</a:t>
            </a:r>
            <a:r>
              <a:rPr lang="zh-CN" altLang="en-US" dirty="0"/>
              <a:t>帧，以提升网络的可信度。</a:t>
            </a:r>
            <a:endParaRPr lang="zh-CN" altLang="zh-CN" dirty="0"/>
          </a:p>
          <a:p>
            <a:pPr lvl="1"/>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31587738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r>
              <a:rPr lang="zh-CN" altLang="en-US" dirty="0"/>
              <a:t>无线终端接入安全设计：</a:t>
            </a:r>
            <a:endParaRPr lang="en-US" altLang="zh-CN" dirty="0"/>
          </a:p>
          <a:p>
            <a:pPr lvl="1"/>
            <a:r>
              <a:rPr lang="en-US" altLang="zh-CN" dirty="0"/>
              <a:t>WLAN</a:t>
            </a:r>
            <a:r>
              <a:rPr lang="zh-CN" altLang="en-US" dirty="0"/>
              <a:t>安全提供了</a:t>
            </a:r>
            <a:r>
              <a:rPr lang="en-US" altLang="zh-CN" dirty="0"/>
              <a:t>WEP</a:t>
            </a:r>
            <a:r>
              <a:rPr lang="zh-CN" altLang="en-US" dirty="0"/>
              <a:t>、</a:t>
            </a:r>
            <a:r>
              <a:rPr lang="en-US" altLang="zh-CN" dirty="0"/>
              <a:t>WPA</a:t>
            </a:r>
            <a:r>
              <a:rPr lang="zh-CN" altLang="en-US" dirty="0"/>
              <a:t>、</a:t>
            </a:r>
            <a:r>
              <a:rPr lang="en-US" altLang="zh-CN" dirty="0"/>
              <a:t>WPA2</a:t>
            </a:r>
            <a:r>
              <a:rPr lang="zh-CN" altLang="en-US" dirty="0"/>
              <a:t>和</a:t>
            </a:r>
            <a:r>
              <a:rPr lang="en-US" altLang="zh-CN" dirty="0"/>
              <a:t>WAPI</a:t>
            </a:r>
            <a:r>
              <a:rPr lang="zh-CN" altLang="en-US" dirty="0"/>
              <a:t>四种安全策略机制。每种安全策略体现了一整套安全机制，包括无线链路建立时的链路认证方式，无线用户上线时的用户接入认证方式和无线用户传输业务时的数据加密方式。</a:t>
            </a:r>
            <a:endParaRPr lang="en-US" altLang="zh-CN" dirty="0"/>
          </a:p>
          <a:p>
            <a:pPr lvl="2"/>
            <a:r>
              <a:rPr lang="en-US" altLang="zh-CN" dirty="0"/>
              <a:t>WEP</a:t>
            </a:r>
            <a:r>
              <a:rPr lang="zh-CN" altLang="en-US" dirty="0"/>
              <a:t>使用共享密钥认证用户和加密业务报文，但易被破解，安全性低，不建议使用。</a:t>
            </a:r>
            <a:endParaRPr lang="en-US" altLang="zh-CN" dirty="0"/>
          </a:p>
          <a:p>
            <a:pPr lvl="2"/>
            <a:r>
              <a:rPr lang="en-US" altLang="zh-CN" dirty="0"/>
              <a:t>WLAN</a:t>
            </a:r>
            <a:r>
              <a:rPr lang="zh-CN" altLang="en-US" dirty="0"/>
              <a:t>设备支持</a:t>
            </a:r>
            <a:r>
              <a:rPr lang="en-US" altLang="zh-CN" dirty="0"/>
              <a:t>STA</a:t>
            </a:r>
            <a:r>
              <a:rPr lang="zh-CN" altLang="en-US" dirty="0"/>
              <a:t>黑白名单功能，通过黑白名单功能设定一定的规则过滤</a:t>
            </a:r>
            <a:r>
              <a:rPr lang="en-US" altLang="zh-CN" dirty="0"/>
              <a:t>STA</a:t>
            </a:r>
            <a:r>
              <a:rPr lang="zh-CN" altLang="en-US" dirty="0"/>
              <a:t>，实现对</a:t>
            </a:r>
            <a:r>
              <a:rPr lang="en-US" altLang="zh-CN" dirty="0"/>
              <a:t>STA</a:t>
            </a:r>
            <a:r>
              <a:rPr lang="zh-CN" altLang="en-US" dirty="0"/>
              <a:t>的接入控制，以保证合法</a:t>
            </a:r>
            <a:r>
              <a:rPr lang="en-US" altLang="zh-CN" dirty="0"/>
              <a:t>STA</a:t>
            </a:r>
            <a:r>
              <a:rPr lang="zh-CN" altLang="en-US" dirty="0"/>
              <a:t>能够正常接入</a:t>
            </a:r>
            <a:r>
              <a:rPr lang="en-US" altLang="zh-CN" dirty="0"/>
              <a:t>WLAN</a:t>
            </a:r>
            <a:r>
              <a:rPr lang="zh-CN" altLang="en-US" dirty="0"/>
              <a:t>网络，避免非法</a:t>
            </a:r>
            <a:r>
              <a:rPr lang="en-US" altLang="zh-CN" dirty="0"/>
              <a:t>STA</a:t>
            </a:r>
            <a:r>
              <a:rPr lang="zh-CN" altLang="en-US" dirty="0"/>
              <a:t>强行接入</a:t>
            </a:r>
            <a:r>
              <a:rPr lang="en-US" altLang="zh-CN" dirty="0"/>
              <a:t>WLAN</a:t>
            </a:r>
            <a:r>
              <a:rPr lang="zh-CN" altLang="en-US" dirty="0"/>
              <a:t>网络。</a:t>
            </a:r>
            <a:endParaRPr lang="en-US" altLang="zh-CN" dirty="0"/>
          </a:p>
          <a:p>
            <a:pPr lvl="2"/>
            <a:r>
              <a:rPr lang="en-US" altLang="zh-CN" dirty="0"/>
              <a:t>WLAN</a:t>
            </a:r>
            <a:r>
              <a:rPr lang="zh-CN" altLang="en-US" dirty="0"/>
              <a:t>设备支持防暴力破解和动态黑名单：当</a:t>
            </a:r>
            <a:r>
              <a:rPr lang="en-US" altLang="zh-CN" dirty="0"/>
              <a:t>WLAN</a:t>
            </a:r>
            <a:r>
              <a:rPr lang="zh-CN" altLang="en-US" dirty="0"/>
              <a:t>网络采用的安全策略为</a:t>
            </a:r>
            <a:r>
              <a:rPr lang="en-US" altLang="zh-CN" dirty="0"/>
              <a:t>WPA/WPA2-PSK</a:t>
            </a:r>
            <a:r>
              <a:rPr lang="zh-CN" altLang="en-US" dirty="0"/>
              <a:t>，</a:t>
            </a:r>
            <a:r>
              <a:rPr lang="en-US" altLang="zh-CN" dirty="0"/>
              <a:t>WAPI-PSK</a:t>
            </a:r>
            <a:r>
              <a:rPr lang="zh-CN" altLang="en-US" dirty="0"/>
              <a:t>，</a:t>
            </a:r>
            <a:r>
              <a:rPr lang="en-US" altLang="zh-CN" dirty="0"/>
              <a:t>WEP-Share-Key</a:t>
            </a:r>
            <a:r>
              <a:rPr lang="zh-CN" altLang="en-US" dirty="0"/>
              <a:t>时，攻击者即可利用暴力破解法来破解出密码。为了提高密码的安全性，可以通过防暴力破解密钥功能，延长用户破解密码的时间。</a:t>
            </a:r>
          </a:p>
          <a:p>
            <a:pPr lvl="1"/>
            <a:r>
              <a:rPr lang="zh-CN" altLang="en-US" dirty="0"/>
              <a:t>无线</a:t>
            </a:r>
            <a:r>
              <a:rPr lang="zh-CN" altLang="zh-CN" dirty="0"/>
              <a:t>终端接入的安全设计主要是对</a:t>
            </a:r>
            <a:r>
              <a:rPr lang="zh-CN" altLang="en-US" dirty="0"/>
              <a:t>无线</a:t>
            </a:r>
            <a:r>
              <a:rPr lang="zh-CN" altLang="zh-CN" dirty="0"/>
              <a:t>终端</a:t>
            </a:r>
            <a:r>
              <a:rPr lang="zh-CN" altLang="en-US" dirty="0"/>
              <a:t>的</a:t>
            </a:r>
            <a:r>
              <a:rPr lang="zh-CN" altLang="zh-CN" dirty="0"/>
              <a:t>接入策略进行合理规划</a:t>
            </a:r>
            <a:r>
              <a:rPr lang="zh-CN" altLang="en-US" dirty="0"/>
              <a:t>和设计</a:t>
            </a:r>
            <a:r>
              <a:rPr lang="zh-CN" altLang="zh-CN" dirty="0"/>
              <a:t>，在保证安全性的同时提供使用便利性</a:t>
            </a:r>
            <a:r>
              <a:rPr lang="zh-CN" altLang="en-US" dirty="0"/>
              <a:t>。</a:t>
            </a:r>
            <a:endParaRPr lang="en-US" altLang="zh-CN" dirty="0"/>
          </a:p>
          <a:p>
            <a:pPr lvl="1"/>
            <a:r>
              <a:rPr lang="zh-CN" altLang="en-US" dirty="0"/>
              <a:t>有关无线终端接入认证策略示例如下，在</a:t>
            </a:r>
            <a:r>
              <a:rPr lang="zh-CN" altLang="zh-CN" dirty="0"/>
              <a:t>企业</a:t>
            </a:r>
            <a:r>
              <a:rPr lang="zh-CN" altLang="en-US" dirty="0"/>
              <a:t>无线网络</a:t>
            </a:r>
            <a:r>
              <a:rPr lang="zh-CN" altLang="zh-CN" dirty="0"/>
              <a:t>中，</a:t>
            </a:r>
            <a:r>
              <a:rPr lang="zh-CN" altLang="en-US" dirty="0"/>
              <a:t>通常推荐</a:t>
            </a:r>
            <a:r>
              <a:rPr lang="zh-CN" altLang="zh-CN" dirty="0"/>
              <a:t>采用如下接入认证方式：</a:t>
            </a:r>
          </a:p>
          <a:p>
            <a:pPr lvl="2"/>
            <a:r>
              <a:rPr lang="zh-CN" altLang="zh-CN" dirty="0"/>
              <a:t>企业员工：采用</a:t>
            </a:r>
            <a:r>
              <a:rPr lang="en-US" altLang="zh-CN" dirty="0"/>
              <a:t>WPA/WPA2-802.1X</a:t>
            </a:r>
            <a:r>
              <a:rPr lang="zh-CN" altLang="zh-CN" dirty="0"/>
              <a:t>认证方式。</a:t>
            </a:r>
          </a:p>
          <a:p>
            <a:pPr lvl="2"/>
            <a:r>
              <a:rPr lang="zh-CN" altLang="zh-CN" dirty="0"/>
              <a:t>访客：采用</a:t>
            </a:r>
            <a:r>
              <a:rPr lang="en-US" altLang="zh-CN" dirty="0"/>
              <a:t>WPA/WPA2-PPSK</a:t>
            </a:r>
            <a:r>
              <a:rPr lang="zh-CN" altLang="zh-CN" dirty="0"/>
              <a:t>或者</a:t>
            </a:r>
            <a:r>
              <a:rPr lang="en-US" altLang="zh-CN" dirty="0"/>
              <a:t>Portal</a:t>
            </a:r>
            <a:r>
              <a:rPr lang="zh-CN" altLang="zh-CN" dirty="0"/>
              <a:t>认证方式。</a:t>
            </a:r>
          </a:p>
          <a:p>
            <a:pPr lvl="2"/>
            <a:r>
              <a:rPr lang="zh-CN" altLang="zh-CN" dirty="0"/>
              <a:t>哑终端：采用</a:t>
            </a:r>
            <a:r>
              <a:rPr lang="en-US" altLang="zh-CN" dirty="0"/>
              <a:t>MAC</a:t>
            </a:r>
            <a:r>
              <a:rPr lang="zh-CN" altLang="zh-CN" dirty="0"/>
              <a:t>认证方式。</a:t>
            </a:r>
          </a:p>
          <a:p>
            <a:pPr lvl="1"/>
            <a:r>
              <a:rPr lang="zh-CN" altLang="zh-CN" dirty="0"/>
              <a:t>同时，对于不需要用户间进行互访的场景，建议配置用户间隔离功能。</a:t>
            </a:r>
            <a:endParaRPr lang="zh-CN" altLang="en-US" dirty="0"/>
          </a:p>
          <a:p>
            <a:r>
              <a:rPr lang="zh-CN" altLang="en-US" dirty="0"/>
              <a:t>无线业务安全设计：</a:t>
            </a:r>
            <a:endParaRPr lang="en-US" altLang="zh-CN" dirty="0"/>
          </a:p>
          <a:p>
            <a:pPr lvl="1"/>
            <a:r>
              <a:rPr lang="zh-CN" altLang="en-US" dirty="0"/>
              <a:t>敏感信息加密：</a:t>
            </a:r>
            <a:r>
              <a:rPr lang="en-US" altLang="zh-CN" dirty="0"/>
              <a:t>AP</a:t>
            </a:r>
            <a:r>
              <a:rPr lang="zh-CN" altLang="en-US" dirty="0"/>
              <a:t>和</a:t>
            </a:r>
            <a:r>
              <a:rPr lang="en-US" altLang="zh-CN" dirty="0"/>
              <a:t>AC</a:t>
            </a:r>
            <a:r>
              <a:rPr lang="zh-CN" altLang="en-US" dirty="0"/>
              <a:t>之间涉及敏感信息传输时，如</a:t>
            </a:r>
            <a:r>
              <a:rPr lang="en-US" altLang="zh-CN" dirty="0"/>
              <a:t>FTP</a:t>
            </a:r>
            <a:r>
              <a:rPr lang="zh-CN" altLang="en-US" dirty="0"/>
              <a:t>用户名、</a:t>
            </a:r>
            <a:r>
              <a:rPr lang="en-US" altLang="zh-CN" dirty="0"/>
              <a:t>FTP</a:t>
            </a:r>
            <a:r>
              <a:rPr lang="zh-CN" altLang="en-US" dirty="0"/>
              <a:t>用户密码、</a:t>
            </a:r>
            <a:r>
              <a:rPr lang="en-US" altLang="zh-CN" dirty="0"/>
              <a:t>AP</a:t>
            </a:r>
            <a:r>
              <a:rPr lang="zh-CN" altLang="en-US" dirty="0"/>
              <a:t>登录用户名、</a:t>
            </a:r>
            <a:r>
              <a:rPr lang="en-US" altLang="zh-CN" dirty="0"/>
              <a:t>AP</a:t>
            </a:r>
            <a:r>
              <a:rPr lang="zh-CN" altLang="en-US" dirty="0"/>
              <a:t>登录密码以及业务配置相关的密钥等，可以配置敏感信息加密功能；在</a:t>
            </a:r>
            <a:r>
              <a:rPr lang="en-US" altLang="zh-CN" dirty="0"/>
              <a:t>AC</a:t>
            </a:r>
            <a:r>
              <a:rPr lang="zh-CN" altLang="en-US" dirty="0"/>
              <a:t>间漫游的组网中，</a:t>
            </a:r>
            <a:r>
              <a:rPr lang="en-US" altLang="zh-CN" dirty="0"/>
              <a:t>AC</a:t>
            </a:r>
            <a:r>
              <a:rPr lang="zh-CN" altLang="en-US" dirty="0"/>
              <a:t>之间需要传输一些敏感信息（如用户名、密码等），同样可以配置敏感信息加密功能来保护</a:t>
            </a:r>
            <a:r>
              <a:rPr lang="en-US" altLang="zh-CN" dirty="0"/>
              <a:t>AC</a:t>
            </a:r>
            <a:r>
              <a:rPr lang="zh-CN" altLang="en-US" dirty="0"/>
              <a:t>间传输的数据。</a:t>
            </a:r>
          </a:p>
          <a:p>
            <a:pPr lvl="1"/>
            <a:r>
              <a:rPr lang="zh-CN" altLang="en-US" dirty="0"/>
              <a:t>完整性校验：</a:t>
            </a:r>
            <a:r>
              <a:rPr lang="en-US" altLang="zh-CN" dirty="0"/>
              <a:t>CAPWAP</a:t>
            </a:r>
            <a:r>
              <a:rPr lang="zh-CN" altLang="en-US" dirty="0"/>
              <a:t>报文在</a:t>
            </a:r>
            <a:r>
              <a:rPr lang="en-US" altLang="zh-CN" dirty="0"/>
              <a:t>AC</a:t>
            </a:r>
            <a:r>
              <a:rPr lang="zh-CN" altLang="en-US" dirty="0"/>
              <a:t>和</a:t>
            </a:r>
            <a:r>
              <a:rPr lang="en-US" altLang="zh-CN" dirty="0"/>
              <a:t>AP</a:t>
            </a:r>
            <a:r>
              <a:rPr lang="zh-CN" altLang="en-US" dirty="0"/>
              <a:t>设备间进行传输时，有可能被仿真，篡改，或被攻击者恶意构造畸形报文发起攻击，通过完整性校验更好地保护</a:t>
            </a:r>
            <a:r>
              <a:rPr lang="en-US" altLang="zh-CN" dirty="0"/>
              <a:t>AC</a:t>
            </a:r>
            <a:r>
              <a:rPr lang="zh-CN" altLang="en-US" dirty="0"/>
              <a:t>和</a:t>
            </a:r>
            <a:r>
              <a:rPr lang="en-US" altLang="zh-CN" dirty="0"/>
              <a:t>AP</a:t>
            </a:r>
            <a:r>
              <a:rPr lang="zh-CN" altLang="en-US" dirty="0"/>
              <a:t>之间的</a:t>
            </a:r>
            <a:r>
              <a:rPr lang="en-US" altLang="zh-CN" dirty="0"/>
              <a:t>CAPWAP</a:t>
            </a:r>
            <a:r>
              <a:rPr lang="zh-CN" altLang="en-US" dirty="0"/>
              <a:t>报文。对于</a:t>
            </a:r>
            <a:r>
              <a:rPr lang="en-US" altLang="zh-CN" dirty="0"/>
              <a:t>AP</a:t>
            </a:r>
            <a:r>
              <a:rPr lang="zh-CN" altLang="en-US" dirty="0"/>
              <a:t>与</a:t>
            </a:r>
            <a:r>
              <a:rPr lang="en-US" altLang="zh-CN" dirty="0"/>
              <a:t>AC</a:t>
            </a:r>
            <a:r>
              <a:rPr lang="zh-CN" altLang="en-US" dirty="0"/>
              <a:t>都在内部网络的情况，不需要开启该安全功能；当</a:t>
            </a:r>
            <a:r>
              <a:rPr lang="en-US" altLang="zh-CN" dirty="0"/>
              <a:t>AP</a:t>
            </a:r>
            <a:r>
              <a:rPr lang="zh-CN" altLang="en-US" dirty="0"/>
              <a:t>与</a:t>
            </a:r>
            <a:r>
              <a:rPr lang="en-US" altLang="zh-CN" dirty="0"/>
              <a:t>AC</a:t>
            </a:r>
            <a:r>
              <a:rPr lang="zh-CN" altLang="en-US" dirty="0"/>
              <a:t>间或者</a:t>
            </a:r>
            <a:r>
              <a:rPr lang="en-US" altLang="zh-CN" dirty="0"/>
              <a:t>AC</a:t>
            </a:r>
            <a:r>
              <a:rPr lang="zh-CN" altLang="en-US" dirty="0"/>
              <a:t>间涉及跨</a:t>
            </a:r>
            <a:r>
              <a:rPr lang="en-US" altLang="zh-CN" dirty="0"/>
              <a:t>Internet</a:t>
            </a:r>
            <a:r>
              <a:rPr lang="zh-CN" altLang="en-US" dirty="0"/>
              <a:t>时建议开启该功能。</a:t>
            </a:r>
          </a:p>
          <a:p>
            <a:pPr lvl="1"/>
            <a:endParaRPr lang="en-US" altLang="zh-CN" dirty="0"/>
          </a:p>
          <a:p>
            <a:endParaRPr lang="zh-CN" altLang="en-US" dirty="0"/>
          </a:p>
        </p:txBody>
      </p:sp>
    </p:spTree>
    <p:extLst>
      <p:ext uri="{BB962C8B-B14F-4D97-AF65-F5344CB8AC3E}">
        <p14:creationId xmlns:p14="http://schemas.microsoft.com/office/powerpoint/2010/main" val="88741799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2504418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2927267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业务分类举例：</a:t>
            </a:r>
            <a:endParaRPr lang="en-US" altLang="zh-CN" dirty="0"/>
          </a:p>
          <a:p>
            <a:pPr lvl="1"/>
            <a:r>
              <a:rPr lang="zh-CN" altLang="zh-CN" dirty="0"/>
              <a:t>网络协议</a:t>
            </a:r>
            <a:r>
              <a:rPr lang="zh-CN" altLang="en-US" dirty="0"/>
              <a:t>：如</a:t>
            </a:r>
            <a:r>
              <a:rPr lang="en-US" altLang="zh-CN" dirty="0"/>
              <a:t>STP</a:t>
            </a:r>
            <a:r>
              <a:rPr lang="zh-CN" altLang="en-US" dirty="0"/>
              <a:t>、</a:t>
            </a:r>
            <a:r>
              <a:rPr lang="en-US" altLang="zh-CN" dirty="0"/>
              <a:t>OSPF</a:t>
            </a:r>
            <a:r>
              <a:rPr lang="zh-CN" altLang="en-US" dirty="0"/>
              <a:t>、</a:t>
            </a:r>
            <a:r>
              <a:rPr lang="en-US" altLang="zh-CN" dirty="0"/>
              <a:t>IGMP</a:t>
            </a:r>
            <a:r>
              <a:rPr lang="zh-CN" altLang="en-US" dirty="0"/>
              <a:t>等协议。</a:t>
            </a:r>
            <a:endParaRPr lang="zh-CN" altLang="zh-CN" dirty="0"/>
          </a:p>
          <a:p>
            <a:pPr lvl="1"/>
            <a:r>
              <a:rPr lang="zh-CN" altLang="zh-CN" dirty="0"/>
              <a:t>管理协议</a:t>
            </a:r>
            <a:r>
              <a:rPr lang="zh-CN" altLang="en-US" dirty="0"/>
              <a:t>：如</a:t>
            </a:r>
            <a:r>
              <a:rPr lang="en-US" altLang="zh-CN" dirty="0"/>
              <a:t>ICMP</a:t>
            </a:r>
            <a:r>
              <a:rPr lang="zh-CN" altLang="en-US" dirty="0"/>
              <a:t>、</a:t>
            </a:r>
            <a:r>
              <a:rPr lang="en-US" altLang="zh-CN" dirty="0"/>
              <a:t>SNMP</a:t>
            </a:r>
            <a:r>
              <a:rPr lang="zh-CN" altLang="en-US" dirty="0"/>
              <a:t>、</a:t>
            </a:r>
            <a:r>
              <a:rPr lang="en-US" altLang="zh-CN" dirty="0"/>
              <a:t>Telnet</a:t>
            </a:r>
            <a:r>
              <a:rPr lang="zh-CN" altLang="en-US" dirty="0"/>
              <a:t>等协议。</a:t>
            </a:r>
            <a:endParaRPr lang="zh-CN" altLang="zh-CN" dirty="0"/>
          </a:p>
          <a:p>
            <a:pPr lvl="1"/>
            <a:r>
              <a:rPr lang="zh-CN" altLang="zh-CN" dirty="0"/>
              <a:t>语音信令</a:t>
            </a:r>
            <a:r>
              <a:rPr lang="zh-CN" altLang="en-US" dirty="0"/>
              <a:t>：如</a:t>
            </a:r>
            <a:r>
              <a:rPr lang="en-US" altLang="zh-CN" dirty="0"/>
              <a:t>SIP</a:t>
            </a:r>
            <a:r>
              <a:rPr lang="zh-CN" altLang="en-US" dirty="0"/>
              <a:t>、</a:t>
            </a:r>
            <a:r>
              <a:rPr lang="en-US" altLang="zh-CN" dirty="0"/>
              <a:t>H.323</a:t>
            </a:r>
            <a:r>
              <a:rPr lang="zh-CN" altLang="en-US" dirty="0"/>
              <a:t>、</a:t>
            </a:r>
            <a:r>
              <a:rPr lang="en-US" altLang="zh-CN" dirty="0"/>
              <a:t>H.248</a:t>
            </a:r>
            <a:r>
              <a:rPr lang="zh-CN" altLang="en-US" dirty="0"/>
              <a:t>、</a:t>
            </a:r>
            <a:r>
              <a:rPr lang="en-US" altLang="zh-CN" dirty="0"/>
              <a:t>MGCP</a:t>
            </a:r>
            <a:r>
              <a:rPr lang="zh-CN" altLang="en-US" dirty="0"/>
              <a:t>（</a:t>
            </a:r>
            <a:r>
              <a:rPr lang="en-US" altLang="zh-CN" dirty="0"/>
              <a:t>Media Gateway Control Protocol</a:t>
            </a:r>
            <a:r>
              <a:rPr lang="zh-CN" altLang="en-US" dirty="0"/>
              <a:t>）等信令协议。</a:t>
            </a:r>
            <a:endParaRPr lang="zh-CN" altLang="zh-CN" dirty="0"/>
          </a:p>
          <a:p>
            <a:pPr lvl="1"/>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57347703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业务分类举例：</a:t>
            </a:r>
            <a:endParaRPr lang="en-US" altLang="zh-CN" dirty="0"/>
          </a:p>
          <a:p>
            <a:pPr lvl="1"/>
            <a:r>
              <a:rPr lang="zh-CN" altLang="en-US" dirty="0"/>
              <a:t>游戏：如通过</a:t>
            </a:r>
            <a:r>
              <a:rPr lang="en-US" altLang="zh-CN" dirty="0"/>
              <a:t>RTP/UDP</a:t>
            </a:r>
            <a:r>
              <a:rPr lang="zh-CN" altLang="en-US" dirty="0"/>
              <a:t>传输操作指令的网络游戏，这些系统将对网络提出更高要求。</a:t>
            </a:r>
            <a:endParaRPr lang="en-US" altLang="zh-CN" dirty="0"/>
          </a:p>
          <a:p>
            <a:pPr lvl="1"/>
            <a:r>
              <a:rPr lang="zh-CN" altLang="en-US" dirty="0"/>
              <a:t>低延时数据业务：如网络下单系统，较大时延将减少企业受益或降低工作效率。</a:t>
            </a:r>
            <a:endParaRPr lang="en-US" altLang="zh-CN" dirty="0"/>
          </a:p>
          <a:p>
            <a:pPr lvl="1"/>
            <a:r>
              <a:rPr lang="zh-CN" altLang="en-US" dirty="0"/>
              <a:t>大数据量业务：如</a:t>
            </a:r>
            <a:r>
              <a:rPr lang="en-US" altLang="zh-CN" dirty="0"/>
              <a:t>FTP</a:t>
            </a:r>
            <a:r>
              <a:rPr lang="zh-CN" altLang="en-US" dirty="0"/>
              <a:t>、数据库网络备份、文件转储等。</a:t>
            </a:r>
            <a:endParaRPr lang="en-US" altLang="zh-CN" dirty="0"/>
          </a:p>
          <a:p>
            <a:pPr lvl="1"/>
            <a:r>
              <a:rPr lang="zh-CN" altLang="en-US" dirty="0"/>
              <a:t>普通业务：如</a:t>
            </a:r>
            <a:r>
              <a:rPr lang="en-US" altLang="zh-CN" dirty="0"/>
              <a:t>Mail</a:t>
            </a:r>
            <a:r>
              <a:rPr lang="zh-CN" altLang="en-US" dirty="0"/>
              <a:t>、</a:t>
            </a:r>
            <a:r>
              <a:rPr lang="en-US" altLang="zh-CN" dirty="0"/>
              <a:t>Web</a:t>
            </a:r>
            <a:r>
              <a:rPr lang="zh-CN" altLang="en-US" dirty="0"/>
              <a:t>网站浏览等业务。</a:t>
            </a:r>
            <a:endParaRPr lang="en-US" altLang="zh-CN" dirty="0"/>
          </a:p>
          <a:p>
            <a:pPr lvl="1"/>
            <a:r>
              <a:rPr lang="zh-CN" altLang="en-US" dirty="0"/>
              <a:t>低优先级业务：如社交、娱乐视频等与工作无关的网络应用。</a:t>
            </a:r>
          </a:p>
        </p:txBody>
      </p:sp>
    </p:spTree>
    <p:extLst>
      <p:ext uri="{BB962C8B-B14F-4D97-AF65-F5344CB8AC3E}">
        <p14:creationId xmlns:p14="http://schemas.microsoft.com/office/powerpoint/2010/main" val="120057537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有线调度策略设计：</a:t>
            </a:r>
            <a:endParaRPr lang="en-US" altLang="zh-CN" dirty="0"/>
          </a:p>
          <a:p>
            <a:pPr lvl="1"/>
            <a:r>
              <a:rPr lang="zh-CN" altLang="en-US" dirty="0"/>
              <a:t>接入层流量识别：接入交换机作为边界交换机，在用户侧需要承担数据流的识别、分类以及流标记的工作，在实际部署的时候，接入交换机上不同的端口接入了不同的终端，在接入交换机上可以给不同的业务分配不同的优先级，然后网络侧按优先级进行调度。</a:t>
            </a:r>
          </a:p>
          <a:p>
            <a:pPr lvl="1"/>
            <a:r>
              <a:rPr lang="zh-CN" altLang="en-US" dirty="0"/>
              <a:t>汇聚层</a:t>
            </a:r>
            <a:r>
              <a:rPr lang="en-US" altLang="zh-CN" dirty="0"/>
              <a:t>/</a:t>
            </a:r>
            <a:r>
              <a:rPr lang="zh-CN" altLang="en-US" dirty="0"/>
              <a:t>核心层</a:t>
            </a:r>
            <a:r>
              <a:rPr lang="en-US" altLang="zh-CN" dirty="0" err="1"/>
              <a:t>DiffServ</a:t>
            </a:r>
            <a:r>
              <a:rPr lang="zh-CN" altLang="en-US" dirty="0"/>
              <a:t>部署：汇聚层和核心层设备端口信任</a:t>
            </a:r>
            <a:r>
              <a:rPr lang="en-US" altLang="zh-CN" dirty="0"/>
              <a:t>DSCP</a:t>
            </a:r>
            <a:r>
              <a:rPr lang="zh-CN" altLang="en-US" dirty="0"/>
              <a:t>或</a:t>
            </a:r>
            <a:r>
              <a:rPr lang="en-US" altLang="zh-CN" dirty="0"/>
              <a:t>802.1p</a:t>
            </a:r>
            <a:r>
              <a:rPr lang="zh-CN" altLang="en-US" dirty="0"/>
              <a:t>，基于接入层标识的优先级实施调度策略，保证高优先级业务优先获得调度，交换机端口默认使能</a:t>
            </a:r>
            <a:r>
              <a:rPr lang="en-US" altLang="zh-CN" b="1" dirty="0"/>
              <a:t>trust 802.1p</a:t>
            </a:r>
            <a:r>
              <a:rPr lang="zh-CN" altLang="en-US" dirty="0"/>
              <a:t>。</a:t>
            </a:r>
          </a:p>
          <a:p>
            <a:pPr lvl="1"/>
            <a:r>
              <a:rPr lang="zh-CN" altLang="en-US" dirty="0"/>
              <a:t>出口设备带宽控制：对于出口设备，同样作为</a:t>
            </a:r>
            <a:r>
              <a:rPr lang="en-US" altLang="zh-CN" dirty="0" err="1"/>
              <a:t>DiffServ</a:t>
            </a:r>
            <a:r>
              <a:rPr lang="zh-CN" altLang="en-US" dirty="0"/>
              <a:t>域，信任设备标识的</a:t>
            </a:r>
            <a:r>
              <a:rPr lang="en-US" altLang="zh-CN" dirty="0"/>
              <a:t>DSCP</a:t>
            </a:r>
            <a:r>
              <a:rPr lang="zh-CN" altLang="en-US" dirty="0"/>
              <a:t>或</a:t>
            </a:r>
            <a:r>
              <a:rPr lang="en-US" altLang="zh-CN" dirty="0"/>
              <a:t>802.1p</a:t>
            </a:r>
            <a:r>
              <a:rPr lang="zh-CN" altLang="en-US" dirty="0"/>
              <a:t>参数，实施</a:t>
            </a:r>
            <a:r>
              <a:rPr lang="en-US" altLang="zh-CN" dirty="0"/>
              <a:t>QoS</a:t>
            </a:r>
            <a:r>
              <a:rPr lang="zh-CN" altLang="en-US" dirty="0"/>
              <a:t>策略。在出口设备的</a:t>
            </a:r>
            <a:r>
              <a:rPr lang="en-US" altLang="zh-CN" dirty="0"/>
              <a:t>WAN</a:t>
            </a:r>
            <a:r>
              <a:rPr lang="zh-CN" altLang="en-US" dirty="0"/>
              <a:t>口上，由于受限于出口带宽，</a:t>
            </a:r>
            <a:r>
              <a:rPr lang="en-US" altLang="zh-CN" dirty="0"/>
              <a:t>WAN</a:t>
            </a:r>
            <a:r>
              <a:rPr lang="zh-CN" altLang="en-US" dirty="0"/>
              <a:t>口带宽参数设置需要考虑差异性。另外，根据企业广域网搭建方式不同，出口设备的</a:t>
            </a:r>
            <a:r>
              <a:rPr lang="en-US" altLang="zh-CN" dirty="0"/>
              <a:t>QoS</a:t>
            </a:r>
            <a:r>
              <a:rPr lang="zh-CN" altLang="en-US" dirty="0"/>
              <a:t>策略也不同：</a:t>
            </a:r>
          </a:p>
          <a:p>
            <a:pPr lvl="2"/>
            <a:r>
              <a:rPr lang="zh-CN" altLang="en-US" dirty="0"/>
              <a:t>广域网</a:t>
            </a:r>
            <a:r>
              <a:rPr lang="en-US" altLang="zh-CN" dirty="0"/>
              <a:t>QoS</a:t>
            </a:r>
            <a:r>
              <a:rPr lang="zh-CN" altLang="en-US" dirty="0"/>
              <a:t>可由企业自身管理，包括企业自建广域网、租用光纤建立专线、企业要求广域网运营商配置企业制定的</a:t>
            </a:r>
            <a:r>
              <a:rPr lang="en-US" altLang="zh-CN" dirty="0"/>
              <a:t>QoS</a:t>
            </a:r>
            <a:r>
              <a:rPr lang="zh-CN" altLang="en-US" dirty="0"/>
              <a:t>策略。此时，园区出口设备或</a:t>
            </a:r>
            <a:r>
              <a:rPr lang="en-US" altLang="zh-CN" dirty="0"/>
              <a:t>PE</a:t>
            </a:r>
            <a:r>
              <a:rPr lang="zh-CN" altLang="en-US" dirty="0"/>
              <a:t>设备无须对流量进行边界重标记。</a:t>
            </a:r>
          </a:p>
          <a:p>
            <a:pPr lvl="2"/>
            <a:r>
              <a:rPr lang="zh-CN" altLang="en-US" dirty="0"/>
              <a:t>广域网</a:t>
            </a:r>
            <a:r>
              <a:rPr lang="en-US" altLang="zh-CN" dirty="0"/>
              <a:t>QoS</a:t>
            </a:r>
            <a:r>
              <a:rPr lang="zh-CN" altLang="en-US" dirty="0"/>
              <a:t>不受企业自身控制，主要指企业租用运营商的专线网络，且运营商不信任企业网络所做的报文标记，或者双方对相同报文标记的定义不同。此时，园区出口设备可能需要对流量进行边界重标记。</a:t>
            </a:r>
            <a:endParaRPr lang="en-US" altLang="zh-CN" dirty="0"/>
          </a:p>
        </p:txBody>
      </p:sp>
    </p:spTree>
    <p:extLst>
      <p:ext uri="{BB962C8B-B14F-4D97-AF65-F5344CB8AC3E}">
        <p14:creationId xmlns:p14="http://schemas.microsoft.com/office/powerpoint/2010/main" val="210826292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r>
              <a:rPr lang="zh-CN" altLang="en-US" dirty="0"/>
              <a:t>无线调度策略设计：</a:t>
            </a:r>
            <a:endParaRPr lang="en-US" altLang="zh-CN" dirty="0"/>
          </a:p>
          <a:p>
            <a:pPr lvl="1"/>
            <a:r>
              <a:rPr lang="zh-CN" altLang="en-US" dirty="0"/>
              <a:t>按照实际业务需要，限制单用户的最大带宽使用；如果规划了多个</a:t>
            </a:r>
            <a:r>
              <a:rPr lang="en-US" altLang="zh-CN" dirty="0"/>
              <a:t>SSID</a:t>
            </a:r>
            <a:r>
              <a:rPr lang="zh-CN" altLang="en-US" dirty="0"/>
              <a:t>，对于非关键</a:t>
            </a:r>
            <a:r>
              <a:rPr lang="en-US" altLang="zh-CN" dirty="0"/>
              <a:t>SSID</a:t>
            </a:r>
            <a:r>
              <a:rPr lang="zh-CN" altLang="en-US" dirty="0"/>
              <a:t>，可限制该</a:t>
            </a:r>
            <a:r>
              <a:rPr lang="en-US" altLang="zh-CN" dirty="0"/>
              <a:t>SSID</a:t>
            </a:r>
            <a:r>
              <a:rPr lang="zh-CN" altLang="en-US" dirty="0"/>
              <a:t>的总带宽使用。</a:t>
            </a:r>
          </a:p>
          <a:p>
            <a:pPr lvl="1"/>
            <a:r>
              <a:rPr lang="zh-CN" altLang="en-US" dirty="0"/>
              <a:t>在高密场景，用户对信道的抢占非常激烈，导致每个用户的上网质量变差，通常建议开启如下两个功能：</a:t>
            </a:r>
          </a:p>
          <a:p>
            <a:pPr lvl="2"/>
            <a:r>
              <a:rPr lang="zh-CN" altLang="en-US" dirty="0"/>
              <a:t>用户接入控制</a:t>
            </a:r>
            <a:r>
              <a:rPr lang="en-US" altLang="zh-CN" dirty="0"/>
              <a:t>CAC</a:t>
            </a:r>
            <a:r>
              <a:rPr lang="zh-CN" altLang="en-US" dirty="0"/>
              <a:t>（</a:t>
            </a:r>
            <a:r>
              <a:rPr lang="en-US" altLang="zh-CN" dirty="0"/>
              <a:t>Call Admission Control</a:t>
            </a:r>
            <a:r>
              <a:rPr lang="zh-CN" altLang="en-US" dirty="0"/>
              <a:t>）功能，基于射频的信道利用率、在线用户数目或终端信噪比，设置门限值控制用户的接入，以保证在线用户的上网质量。</a:t>
            </a:r>
          </a:p>
          <a:p>
            <a:pPr lvl="2"/>
            <a:r>
              <a:rPr lang="zh-CN" altLang="en-US" dirty="0"/>
              <a:t>动态调整</a:t>
            </a:r>
            <a:r>
              <a:rPr lang="en-US" altLang="zh-CN" dirty="0"/>
              <a:t>EDCA</a:t>
            </a:r>
            <a:r>
              <a:rPr lang="zh-CN" altLang="en-US" dirty="0"/>
              <a:t>（</a:t>
            </a:r>
            <a:r>
              <a:rPr lang="en-US" altLang="zh-CN" dirty="0"/>
              <a:t>Enhanced Distributed Channel Access</a:t>
            </a:r>
            <a:r>
              <a:rPr lang="zh-CN" altLang="en-US" dirty="0"/>
              <a:t>，增强型分布式信道访问）参数的功能，动态</a:t>
            </a:r>
            <a:r>
              <a:rPr lang="en-US" altLang="zh-CN" dirty="0"/>
              <a:t>EDCA</a:t>
            </a:r>
            <a:r>
              <a:rPr lang="zh-CN" altLang="en-US" dirty="0"/>
              <a:t>参数调整通过感知用户数量，灵活调整物理信道竞争参数，降低碰撞几率，大大提升整体吞吐量，有效提升用户体验。</a:t>
            </a:r>
          </a:p>
          <a:p>
            <a:pPr lvl="1"/>
            <a:r>
              <a:rPr lang="zh-CN" altLang="en-US" dirty="0"/>
              <a:t>为促使终端（特别是粘性终端）能够重新关联或者漫游到信号更好的</a:t>
            </a:r>
            <a:r>
              <a:rPr lang="en-US" altLang="zh-CN" dirty="0"/>
              <a:t>AP</a:t>
            </a:r>
            <a:r>
              <a:rPr lang="zh-CN" altLang="en-US" dirty="0"/>
              <a:t>上，可开启快速强制用户下线功能，迫使低信噪比或者低速的终端下线。</a:t>
            </a:r>
          </a:p>
          <a:p>
            <a:pPr lvl="1"/>
            <a:r>
              <a:rPr lang="zh-CN" altLang="en-US" dirty="0"/>
              <a:t>对组播业务体验要求高的场景，为避免网络中低速终端对组播业务的影响，建议开启组播转单播功能，以提高组播业务的体验（例如高清视频点播业务）。</a:t>
            </a:r>
          </a:p>
          <a:p>
            <a:pPr lvl="1"/>
            <a:r>
              <a:rPr lang="zh-CN" altLang="en-US" dirty="0"/>
              <a:t>需要保障</a:t>
            </a:r>
            <a:r>
              <a:rPr lang="en-US" altLang="zh-CN" dirty="0"/>
              <a:t>VIP</a:t>
            </a:r>
            <a:r>
              <a:rPr lang="zh-CN" altLang="en-US" dirty="0"/>
              <a:t>用户体验的场景，建议开启</a:t>
            </a:r>
            <a:r>
              <a:rPr lang="en-US" altLang="zh-CN" dirty="0"/>
              <a:t>VIP</a:t>
            </a:r>
            <a:r>
              <a:rPr lang="zh-CN" altLang="en-US" dirty="0"/>
              <a:t>用户优先接入功能，以达</a:t>
            </a:r>
            <a:r>
              <a:rPr lang="en-US" altLang="zh-CN" dirty="0"/>
              <a:t>VIP</a:t>
            </a:r>
            <a:r>
              <a:rPr lang="zh-CN" altLang="en-US" dirty="0"/>
              <a:t>优先接入、调度和带宽保障。</a:t>
            </a:r>
          </a:p>
          <a:p>
            <a:endParaRPr lang="zh-CN" altLang="en-US" dirty="0"/>
          </a:p>
        </p:txBody>
      </p:sp>
    </p:spTree>
    <p:extLst>
      <p:ext uri="{BB962C8B-B14F-4D97-AF65-F5344CB8AC3E}">
        <p14:creationId xmlns:p14="http://schemas.microsoft.com/office/powerpoint/2010/main" val="170404377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6607156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8001910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3586087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2592607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3402708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3521320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62629497"/>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5679378"/>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pPr marL="228600" indent="-228600">
              <a:buFont typeface="+mj-lt"/>
              <a:buAutoNum type="arabicPeriod"/>
            </a:pPr>
            <a:r>
              <a:rPr lang="en-US" altLang="zh-CN" dirty="0"/>
              <a:t>ADF</a:t>
            </a:r>
            <a:endParaRPr lang="zh-CN" altLang="en-US" dirty="0"/>
          </a:p>
        </p:txBody>
      </p:sp>
    </p:spTree>
    <p:extLst>
      <p:ext uri="{BB962C8B-B14F-4D97-AF65-F5344CB8AC3E}">
        <p14:creationId xmlns:p14="http://schemas.microsoft.com/office/powerpoint/2010/main" val="102608464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5707563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6277897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837394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auto">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userDrawn="1">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9.png"/><Relationship Id="rId5" Type="http://schemas.openxmlformats.org/officeDocument/2006/relationships/image" Target="../media/image15.png"/><Relationship Id="rId10"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png"/><Relationship Id="rId3" Type="http://schemas.openxmlformats.org/officeDocument/2006/relationships/image" Target="../media/image19.png"/><Relationship Id="rId7" Type="http://schemas.openxmlformats.org/officeDocument/2006/relationships/image" Target="../media/image18.png"/><Relationship Id="rId12"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2.png"/><Relationship Id="rId11" Type="http://schemas.microsoft.com/office/2007/relationships/hdphoto" Target="../media/hdphoto1.wdp"/><Relationship Id="rId5" Type="http://schemas.openxmlformats.org/officeDocument/2006/relationships/image" Target="../media/image21.png"/><Relationship Id="rId15" Type="http://schemas.microsoft.com/office/2007/relationships/hdphoto" Target="../media/hdphoto2.wdp"/><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 Id="rId1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8.png"/><Relationship Id="rId10" Type="http://schemas.openxmlformats.org/officeDocument/2006/relationships/image" Target="../media/image31.png"/><Relationship Id="rId4" Type="http://schemas.openxmlformats.org/officeDocument/2006/relationships/image" Target="../media/image7.png"/><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36.png"/><Relationship Id="rId3" Type="http://schemas.openxmlformats.org/officeDocument/2006/relationships/image" Target="../media/image15.png"/><Relationship Id="rId7" Type="http://schemas.openxmlformats.org/officeDocument/2006/relationships/image" Target="../media/image7.png"/><Relationship Id="rId12"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10.png"/><Relationship Id="rId11" Type="http://schemas.openxmlformats.org/officeDocument/2006/relationships/image" Target="../media/image34.png"/><Relationship Id="rId5" Type="http://schemas.openxmlformats.org/officeDocument/2006/relationships/image" Target="../media/image9.png"/><Relationship Id="rId10" Type="http://schemas.openxmlformats.org/officeDocument/2006/relationships/image" Target="../media/image18.png"/><Relationship Id="rId4" Type="http://schemas.openxmlformats.org/officeDocument/2006/relationships/image" Target="../media/image11.png"/><Relationship Id="rId9" Type="http://schemas.openxmlformats.org/officeDocument/2006/relationships/image" Target="../media/image33.png"/><Relationship Id="rId14"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8.png"/><Relationship Id="rId7"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 Id="rId9"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1.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43.png"/><Relationship Id="rId11" Type="http://schemas.openxmlformats.org/officeDocument/2006/relationships/image" Target="../media/image48.png"/><Relationship Id="rId5" Type="http://schemas.microsoft.com/office/2007/relationships/hdphoto" Target="../media/hdphoto3.wdp"/><Relationship Id="rId10" Type="http://schemas.openxmlformats.org/officeDocument/2006/relationships/image" Target="../media/image47.png"/><Relationship Id="rId4" Type="http://schemas.openxmlformats.org/officeDocument/2006/relationships/image" Target="../media/image42.png"/><Relationship Id="rId9" Type="http://schemas.openxmlformats.org/officeDocument/2006/relationships/image" Target="../media/image46.pn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8.png"/><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9.png"/><Relationship Id="rId12"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11.png"/><Relationship Id="rId11" Type="http://schemas.openxmlformats.org/officeDocument/2006/relationships/image" Target="../media/image7.png"/><Relationship Id="rId5" Type="http://schemas.openxmlformats.org/officeDocument/2006/relationships/image" Target="../media/image8.png"/><Relationship Id="rId10" Type="http://schemas.openxmlformats.org/officeDocument/2006/relationships/image" Target="../media/image10.png"/><Relationship Id="rId4" Type="http://schemas.openxmlformats.org/officeDocument/2006/relationships/image" Target="../media/image51.png"/><Relationship Id="rId9" Type="http://schemas.openxmlformats.org/officeDocument/2006/relationships/image" Target="../media/image17.png"/></Relationships>
</file>

<file path=ppt/slides/_rels/slide2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8.png"/><Relationship Id="rId7"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51.png"/><Relationship Id="rId11" Type="http://schemas.openxmlformats.org/officeDocument/2006/relationships/image" Target="../media/image17.png"/><Relationship Id="rId5" Type="http://schemas.openxmlformats.org/officeDocument/2006/relationships/image" Target="../media/image7.png"/><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5.png"/><Relationship Id="rId7"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57.png"/><Relationship Id="rId4" Type="http://schemas.openxmlformats.org/officeDocument/2006/relationships/image" Target="../media/image7.png"/><Relationship Id="rId9"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31.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56.png"/><Relationship Id="rId5" Type="http://schemas.openxmlformats.org/officeDocument/2006/relationships/image" Target="../media/image8.png"/><Relationship Id="rId10" Type="http://schemas.openxmlformats.org/officeDocument/2006/relationships/image" Target="../media/image17.png"/><Relationship Id="rId4" Type="http://schemas.openxmlformats.org/officeDocument/2006/relationships/image" Target="../media/image10.png"/><Relationship Id="rId9" Type="http://schemas.openxmlformats.org/officeDocument/2006/relationships/image" Target="../media/image19.png"/></Relationships>
</file>

<file path=ppt/slides/_rels/slide3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29.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58.png"/><Relationship Id="rId11" Type="http://schemas.openxmlformats.org/officeDocument/2006/relationships/image" Target="../media/image19.png"/><Relationship Id="rId5" Type="http://schemas.openxmlformats.org/officeDocument/2006/relationships/image" Target="../media/image10.png"/><Relationship Id="rId15" Type="http://schemas.openxmlformats.org/officeDocument/2006/relationships/image" Target="../media/image59.png"/><Relationship Id="rId10" Type="http://schemas.openxmlformats.org/officeDocument/2006/relationships/image" Target="../media/image13.png"/><Relationship Id="rId4" Type="http://schemas.openxmlformats.org/officeDocument/2006/relationships/image" Target="../media/image9.png"/><Relationship Id="rId9" Type="http://schemas.openxmlformats.org/officeDocument/2006/relationships/image" Target="../media/image54.png"/><Relationship Id="rId14"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58.png"/><Relationship Id="rId5" Type="http://schemas.openxmlformats.org/officeDocument/2006/relationships/image" Target="../media/image10.png"/><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15.xml"/><Relationship Id="rId6" Type="http://schemas.openxmlformats.org/officeDocument/2006/relationships/image" Target="../media/image58.png"/><Relationship Id="rId11" Type="http://schemas.openxmlformats.org/officeDocument/2006/relationships/image" Target="../media/image30.png"/><Relationship Id="rId5" Type="http://schemas.openxmlformats.org/officeDocument/2006/relationships/image" Target="../media/image10.png"/><Relationship Id="rId10" Type="http://schemas.openxmlformats.org/officeDocument/2006/relationships/image" Target="../media/image17.png"/><Relationship Id="rId4" Type="http://schemas.openxmlformats.org/officeDocument/2006/relationships/image" Target="../media/image9.png"/><Relationship Id="rId9"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15.xml"/><Relationship Id="rId6" Type="http://schemas.openxmlformats.org/officeDocument/2006/relationships/image" Target="../media/image51.png"/><Relationship Id="rId5"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18.pn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60.pn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image" Target="../media/image60.png"/><Relationship Id="rId5" Type="http://schemas.openxmlformats.org/officeDocument/2006/relationships/image" Target="../media/image31.png"/><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9.png"/><Relationship Id="rId7" Type="http://schemas.openxmlformats.org/officeDocument/2006/relationships/image" Target="../media/image62.png"/><Relationship Id="rId2" Type="http://schemas.openxmlformats.org/officeDocument/2006/relationships/notesSlide" Target="../notesSlides/notesSlide50.xml"/><Relationship Id="rId1" Type="http://schemas.openxmlformats.org/officeDocument/2006/relationships/slideLayout" Target="../slideLayouts/slideLayout15.xml"/><Relationship Id="rId6" Type="http://schemas.openxmlformats.org/officeDocument/2006/relationships/image" Target="../media/image60.png"/><Relationship Id="rId5" Type="http://schemas.openxmlformats.org/officeDocument/2006/relationships/image" Target="../media/image52.png"/><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9.png"/><Relationship Id="rId7" Type="http://schemas.openxmlformats.org/officeDocument/2006/relationships/image" Target="../media/image62.png"/><Relationship Id="rId2" Type="http://schemas.openxmlformats.org/officeDocument/2006/relationships/notesSlide" Target="../notesSlides/notesSlide51.xml"/><Relationship Id="rId1" Type="http://schemas.openxmlformats.org/officeDocument/2006/relationships/slideLayout" Target="../slideLayouts/slideLayout15.xml"/><Relationship Id="rId6" Type="http://schemas.openxmlformats.org/officeDocument/2006/relationships/image" Target="../media/image60.png"/><Relationship Id="rId5" Type="http://schemas.openxmlformats.org/officeDocument/2006/relationships/image" Target="../media/image52.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15.xml"/><Relationship Id="rId5" Type="http://schemas.openxmlformats.org/officeDocument/2006/relationships/image" Target="../media/image13.png"/><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64.png"/><Relationship Id="rId2" Type="http://schemas.openxmlformats.org/officeDocument/2006/relationships/notesSlide" Target="../notesSlides/notesSlide59.xml"/><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image" Target="../media/image30.png"/><Relationship Id="rId5" Type="http://schemas.openxmlformats.org/officeDocument/2006/relationships/image" Target="../media/image51.png"/><Relationship Id="rId10"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13.png"/></Relationships>
</file>

<file path=ppt/slides/_rels/slide6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33.png"/><Relationship Id="rId3" Type="http://schemas.openxmlformats.org/officeDocument/2006/relationships/image" Target="../media/image10.png"/><Relationship Id="rId7" Type="http://schemas.openxmlformats.org/officeDocument/2006/relationships/image" Target="../media/image9.png"/><Relationship Id="rId12" Type="http://schemas.openxmlformats.org/officeDocument/2006/relationships/image" Target="../media/image51.png"/><Relationship Id="rId2" Type="http://schemas.openxmlformats.org/officeDocument/2006/relationships/notesSlide" Target="../notesSlides/notesSlide60.xml"/><Relationship Id="rId1" Type="http://schemas.openxmlformats.org/officeDocument/2006/relationships/slideLayout" Target="../slideLayouts/slideLayout13.xml"/><Relationship Id="rId6" Type="http://schemas.openxmlformats.org/officeDocument/2006/relationships/image" Target="../media/image11.png"/><Relationship Id="rId11" Type="http://schemas.openxmlformats.org/officeDocument/2006/relationships/image" Target="../media/image64.png"/><Relationship Id="rId5" Type="http://schemas.openxmlformats.org/officeDocument/2006/relationships/image" Target="../media/image8.png"/><Relationship Id="rId10" Type="http://schemas.openxmlformats.org/officeDocument/2006/relationships/image" Target="../media/image30.png"/><Relationship Id="rId4" Type="http://schemas.openxmlformats.org/officeDocument/2006/relationships/image" Target="../media/image7.png"/><Relationship Id="rId9" Type="http://schemas.openxmlformats.org/officeDocument/2006/relationships/image" Target="../media/image17.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2.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62.png"/></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65.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0.png"/></Relationships>
</file>

<file path=ppt/slides/_rels/slide6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66.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7.png"/></Relationships>
</file>

<file path=ppt/slides/_rels/slide6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notesSlide" Target="../notesSlides/notesSlide67.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7.png"/></Relationships>
</file>

<file path=ppt/slides/_rels/slide6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9.png"/><Relationship Id="rId7" Type="http://schemas.openxmlformats.org/officeDocument/2006/relationships/image" Target="../media/image57.png"/><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png"/></Relationships>
</file>

<file path=ppt/slides/_rels/slide6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9.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13.png"/><Relationship Id="rId4" Type="http://schemas.openxmlformats.org/officeDocument/2006/relationships/image" Target="../media/image10.png"/></Relationships>
</file>

<file path=ppt/slides/_rels/slide7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5.png"/><Relationship Id="rId2" Type="http://schemas.openxmlformats.org/officeDocument/2006/relationships/notesSlide" Target="../notesSlides/notesSlide70.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1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4.xml"/><Relationship Id="rId1" Type="http://schemas.openxmlformats.org/officeDocument/2006/relationships/slideLayout" Target="../slideLayouts/slideLayout15.xml"/><Relationship Id="rId5" Type="http://schemas.openxmlformats.org/officeDocument/2006/relationships/image" Target="../media/image57.png"/><Relationship Id="rId4" Type="http://schemas.openxmlformats.org/officeDocument/2006/relationships/image" Target="../media/image31.png"/></Relationships>
</file>

<file path=ppt/slides/_rels/slide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5.xml"/><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10.png"/></Relationships>
</file>

<file path=ppt/slides/_rels/slide7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70.png"/><Relationship Id="rId2" Type="http://schemas.openxmlformats.org/officeDocument/2006/relationships/notesSlide" Target="../notesSlides/notesSlide80.xml"/><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69.png"/><Relationship Id="rId4" Type="http://schemas.openxmlformats.org/officeDocument/2006/relationships/image" Target="../media/image18.png"/><Relationship Id="rId9" Type="http://schemas.openxmlformats.org/officeDocument/2006/relationships/image" Target="../media/image7.png"/></Relationships>
</file>

<file path=ppt/slides/_rels/slide8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81.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31.png"/></Relationships>
</file>

<file path=ppt/slides/_rels/slide8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82.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31.png"/></Relationships>
</file>

<file path=ppt/slides/_rels/slide8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83.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31.png"/></Relationships>
</file>

<file path=ppt/slides/_rels/slide8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0.png"/><Relationship Id="rId7" Type="http://schemas.openxmlformats.org/officeDocument/2006/relationships/image" Target="../media/image31.png"/><Relationship Id="rId2" Type="http://schemas.openxmlformats.org/officeDocument/2006/relationships/notesSlide" Target="../notesSlides/notesSlide84.xml"/><Relationship Id="rId1" Type="http://schemas.openxmlformats.org/officeDocument/2006/relationships/slideLayout" Target="../slideLayouts/slideLayout15.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microsoft.com/office/2007/relationships/hdphoto" Target="../media/hdphoto4.wdp"/><Relationship Id="rId4" Type="http://schemas.openxmlformats.org/officeDocument/2006/relationships/image" Target="../media/image7.png"/><Relationship Id="rId9" Type="http://schemas.openxmlformats.org/officeDocument/2006/relationships/image" Target="../media/image71.png"/></Relationships>
</file>

<file path=ppt/slides/_rels/slide8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9.png"/><Relationship Id="rId7" Type="http://schemas.openxmlformats.org/officeDocument/2006/relationships/image" Target="../media/image33.png"/><Relationship Id="rId2" Type="http://schemas.openxmlformats.org/officeDocument/2006/relationships/notesSlide" Target="../notesSlides/notesSlide85.xml"/><Relationship Id="rId1" Type="http://schemas.openxmlformats.org/officeDocument/2006/relationships/slideLayout" Target="../slideLayouts/slideLayout15.xml"/><Relationship Id="rId6" Type="http://schemas.openxmlformats.org/officeDocument/2006/relationships/image" Target="../media/image65.png"/><Relationship Id="rId5" Type="http://schemas.openxmlformats.org/officeDocument/2006/relationships/image" Target="../media/image3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7.png"/></Relationships>
</file>

<file path=ppt/slides/_rels/slide8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86.xml"/><Relationship Id="rId1" Type="http://schemas.openxmlformats.org/officeDocument/2006/relationships/slideLayout" Target="../slideLayouts/slideLayout15.xml"/><Relationship Id="rId6" Type="http://schemas.openxmlformats.org/officeDocument/2006/relationships/image" Target="../media/image65.png"/><Relationship Id="rId5" Type="http://schemas.openxmlformats.org/officeDocument/2006/relationships/image" Target="../media/image3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72.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9.png"/><Relationship Id="rId2" Type="http://schemas.openxmlformats.org/officeDocument/2006/relationships/notesSlide" Target="../notesSlides/notesSlide91.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png"/></Relationships>
</file>

<file path=ppt/slides/_rels/slide9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2.xml"/><Relationship Id="rId1"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image" Target="../media/image9.png"/></Relationships>
</file>

<file path=ppt/slides/_rels/slide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3.xml"/><Relationship Id="rId1" Type="http://schemas.openxmlformats.org/officeDocument/2006/relationships/slideLayout" Target="../slideLayouts/slideLayout15.xml"/><Relationship Id="rId6" Type="http://schemas.openxmlformats.org/officeDocument/2006/relationships/image" Target="../media/image33.png"/><Relationship Id="rId5" Type="http://schemas.openxmlformats.org/officeDocument/2006/relationships/image" Target="../media/image8.png"/><Relationship Id="rId4" Type="http://schemas.openxmlformats.org/officeDocument/2006/relationships/image" Target="../media/image9.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5.png"/><Relationship Id="rId12" Type="http://schemas.openxmlformats.org/officeDocument/2006/relationships/image" Target="../media/image56.png"/><Relationship Id="rId2" Type="http://schemas.openxmlformats.org/officeDocument/2006/relationships/notesSlide" Target="../notesSlides/notesSlide96.xml"/><Relationship Id="rId1" Type="http://schemas.openxmlformats.org/officeDocument/2006/relationships/slideLayout" Target="../slideLayouts/slideLayout15.xml"/><Relationship Id="rId6" Type="http://schemas.openxmlformats.org/officeDocument/2006/relationships/image" Target="../media/image11.png"/><Relationship Id="rId11" Type="http://schemas.openxmlformats.org/officeDocument/2006/relationships/image" Target="../media/image19.png"/><Relationship Id="rId5" Type="http://schemas.openxmlformats.org/officeDocument/2006/relationships/image" Target="../media/image58.png"/><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image" Target="../media/image54.png"/><Relationship Id="rId14" Type="http://schemas.openxmlformats.org/officeDocument/2006/relationships/image" Target="../media/image9.png"/></Relationships>
</file>

<file path=ppt/slides/_rels/slide9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7.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9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8.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51.png"/></Relationships>
</file>

<file path=ppt/slides/_rels/slide9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9.xml"/><Relationship Id="rId1"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11.png"/></Relationships>
</file>

<file path=ppt/slides/_rels/slide10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0.xml"/><Relationship Id="rId1" Type="http://schemas.openxmlformats.org/officeDocument/2006/relationships/slideLayout" Target="../slideLayouts/slideLayout13.xml"/><Relationship Id="rId4" Type="http://schemas.openxmlformats.org/officeDocument/2006/relationships/image" Target="../media/image51.png"/></Relationships>
</file>

<file path=ppt/slides/_rels/slide10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01.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51.png"/><Relationship Id="rId4" Type="http://schemas.openxmlformats.org/officeDocument/2006/relationships/image" Target="../media/image10.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7.png"/><Relationship Id="rId2" Type="http://schemas.openxmlformats.org/officeDocument/2006/relationships/notesSlide" Target="../notesSlides/notesSlide104.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9.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10.png"/><Relationship Id="rId7" Type="http://schemas.openxmlformats.org/officeDocument/2006/relationships/image" Target="../media/image30.png"/><Relationship Id="rId2" Type="http://schemas.openxmlformats.org/officeDocument/2006/relationships/notesSlide" Target="../notesSlides/notesSlide107.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5.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6.xml"/></Relationships>
</file>

<file path=ppt/slides/_rels/slide1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15.png"/><Relationship Id="rId12" Type="http://schemas.openxmlformats.org/officeDocument/2006/relationships/image" Target="../media/image74.png"/><Relationship Id="rId2" Type="http://schemas.openxmlformats.org/officeDocument/2006/relationships/notesSlide" Target="../notesSlides/notesSlide111.xml"/><Relationship Id="rId1" Type="http://schemas.openxmlformats.org/officeDocument/2006/relationships/slideLayout" Target="../slideLayouts/slideLayout13.xml"/><Relationship Id="rId6" Type="http://schemas.openxmlformats.org/officeDocument/2006/relationships/image" Target="../media/image9.png"/><Relationship Id="rId11" Type="http://schemas.openxmlformats.org/officeDocument/2006/relationships/image" Target="../media/image73.png"/><Relationship Id="rId5" Type="http://schemas.openxmlformats.org/officeDocument/2006/relationships/image" Target="../media/image11.png"/><Relationship Id="rId10"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20.pn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6.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22.xml"/><Relationship Id="rId1" Type="http://schemas.openxmlformats.org/officeDocument/2006/relationships/slideLayout" Target="../slideLayouts/slideLayout15.xml"/><Relationship Id="rId6" Type="http://schemas.openxmlformats.org/officeDocument/2006/relationships/image" Target="../media/image77.png"/><Relationship Id="rId5" Type="http://schemas.openxmlformats.org/officeDocument/2006/relationships/image" Target="../media/image76.png"/><Relationship Id="rId4" Type="http://schemas.microsoft.com/office/2007/relationships/hdphoto" Target="../media/hdphoto5.wdp"/></Relationships>
</file>

<file path=ppt/slides/_rels/slide1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3.xml"/><Relationship Id="rId1" Type="http://schemas.openxmlformats.org/officeDocument/2006/relationships/slideLayout" Target="../slideLayouts/slideLayout15.xml"/><Relationship Id="rId5" Type="http://schemas.openxmlformats.org/officeDocument/2006/relationships/image" Target="../media/image79.png"/><Relationship Id="rId4" Type="http://schemas.openxmlformats.org/officeDocument/2006/relationships/image" Target="../media/image78.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 name="文本占位符 75"/>
          <p:cNvSpPr>
            <a:spLocks noGrp="1"/>
          </p:cNvSpPr>
          <p:nvPr>
            <p:ph type="body" sz="quarter" idx="17"/>
          </p:nvPr>
        </p:nvSpPr>
        <p:spPr/>
        <p:txBody>
          <a:bodyPr/>
          <a:lstStyle/>
          <a:p>
            <a:endParaRPr lang="zh-CN" altLang="en-US"/>
          </a:p>
        </p:txBody>
      </p:sp>
      <p:sp>
        <p:nvSpPr>
          <p:cNvPr id="10" name="文本占位符 9"/>
          <p:cNvSpPr>
            <a:spLocks noGrp="1"/>
          </p:cNvSpPr>
          <p:nvPr>
            <p:ph type="body" sz="quarter" idx="18"/>
          </p:nvPr>
        </p:nvSpPr>
        <p:spPr/>
        <p:txBody>
          <a:bodyPr/>
          <a:lstStyle/>
          <a:p>
            <a:r>
              <a:rPr lang="en-US" altLang="zh-CN" dirty="0" err="1">
                <a:sym typeface="Huawei Sans" panose="020C0503030203020204" pitchFamily="34" charset="0"/>
              </a:rPr>
              <a:t>Datacom</a:t>
            </a:r>
            <a:endParaRPr lang="en-US" altLang="zh-CN" dirty="0">
              <a:sym typeface="Huawei Sans" panose="020C0503030203020204" pitchFamily="34" charset="0"/>
            </a:endParaRPr>
          </a:p>
        </p:txBody>
      </p:sp>
      <p:sp>
        <p:nvSpPr>
          <p:cNvPr id="56" name="文本占位符 55"/>
          <p:cNvSpPr>
            <a:spLocks noGrp="1"/>
          </p:cNvSpPr>
          <p:nvPr>
            <p:ph type="body" sz="quarter" idx="19"/>
          </p:nvPr>
        </p:nvSpPr>
        <p:spPr/>
        <p:txBody>
          <a:bodyPr/>
          <a:lstStyle/>
          <a:p>
            <a:r>
              <a:rPr lang="zh-CN" altLang="en-US" dirty="0"/>
              <a:t>通用</a:t>
            </a:r>
            <a:endParaRPr lang="en-US" altLang="zh-CN" dirty="0"/>
          </a:p>
        </p:txBody>
      </p:sp>
      <p:sp>
        <p:nvSpPr>
          <p:cNvPr id="77" name="文本占位符 76"/>
          <p:cNvSpPr>
            <a:spLocks noGrp="1"/>
          </p:cNvSpPr>
          <p:nvPr>
            <p:ph type="body" sz="quarter" idx="20"/>
          </p:nvPr>
        </p:nvSpPr>
        <p:spPr/>
        <p:txBody>
          <a:bodyPr/>
          <a:lstStyle/>
          <a:p>
            <a:r>
              <a:rPr lang="en-US" altLang="zh-CN" dirty="0"/>
              <a:t>V1.0</a:t>
            </a:r>
            <a:endParaRPr lang="zh-CN" altLang="en-US" dirty="0"/>
          </a:p>
        </p:txBody>
      </p:sp>
      <p:sp>
        <p:nvSpPr>
          <p:cNvPr id="4" name="文本占位符 3"/>
          <p:cNvSpPr>
            <a:spLocks noGrp="1"/>
          </p:cNvSpPr>
          <p:nvPr>
            <p:ph type="body" sz="quarter" idx="13"/>
          </p:nvPr>
        </p:nvSpPr>
        <p:spPr/>
        <p:txBody>
          <a:bodyPr/>
          <a:lstStyle/>
          <a:p>
            <a:r>
              <a:rPr lang="zh-CN" altLang="en-US" dirty="0">
                <a:sym typeface="Huawei Sans" panose="020C0503030203020204" pitchFamily="34" charset="0"/>
              </a:rPr>
              <a:t>卢玥玥</a:t>
            </a:r>
            <a:r>
              <a:rPr lang="en-US" altLang="zh-CN" dirty="0">
                <a:sym typeface="Huawei Sans" panose="020C0503030203020204" pitchFamily="34" charset="0"/>
              </a:rPr>
              <a:t>/WX445705</a:t>
            </a:r>
            <a:endParaRPr lang="zh-CN" altLang="en-US" dirty="0">
              <a:sym typeface="Huawei Sans" panose="020C0503030203020204" pitchFamily="34" charset="0"/>
            </a:endParaRPr>
          </a:p>
        </p:txBody>
      </p:sp>
      <p:sp>
        <p:nvSpPr>
          <p:cNvPr id="5" name="文本占位符 4"/>
          <p:cNvSpPr>
            <a:spLocks noGrp="1"/>
          </p:cNvSpPr>
          <p:nvPr>
            <p:ph type="body" sz="quarter" idx="14"/>
          </p:nvPr>
        </p:nvSpPr>
        <p:spPr/>
        <p:txBody>
          <a:bodyPr/>
          <a:lstStyle/>
          <a:p>
            <a:r>
              <a:rPr lang="en-US" altLang="zh-CN" dirty="0">
                <a:sym typeface="Huawei Sans" panose="020C0503030203020204" pitchFamily="34" charset="0"/>
              </a:rPr>
              <a:t>2021.02.15</a:t>
            </a:r>
            <a:endParaRPr lang="zh-CN" altLang="en-US" dirty="0">
              <a:sym typeface="Huawei Sans" panose="020C0503030203020204" pitchFamily="34" charset="0"/>
            </a:endParaRPr>
          </a:p>
        </p:txBody>
      </p:sp>
      <p:sp>
        <p:nvSpPr>
          <p:cNvPr id="6" name="文本占位符 5"/>
          <p:cNvSpPr>
            <a:spLocks noGrp="1"/>
          </p:cNvSpPr>
          <p:nvPr>
            <p:ph type="body" sz="quarter" idx="15"/>
          </p:nvPr>
        </p:nvSpPr>
        <p:spPr/>
        <p:txBody>
          <a:bodyPr/>
          <a:lstStyle/>
          <a:p>
            <a:r>
              <a:rPr lang="zh-CN" altLang="en-US" dirty="0">
                <a:sym typeface="Huawei Sans" panose="020C0503030203020204" pitchFamily="34" charset="0"/>
              </a:rPr>
              <a:t>朱仕耿</a:t>
            </a:r>
            <a:r>
              <a:rPr lang="en-US" altLang="zh-CN" dirty="0">
                <a:sym typeface="Huawei Sans" panose="020C0503030203020204" pitchFamily="34" charset="0"/>
              </a:rPr>
              <a:t>/00261992</a:t>
            </a:r>
            <a:endParaRPr lang="zh-CN" altLang="en-US" dirty="0">
              <a:sym typeface="Huawei Sans" panose="020C0503030203020204" pitchFamily="34" charset="0"/>
            </a:endParaRPr>
          </a:p>
        </p:txBody>
      </p:sp>
      <p:sp>
        <p:nvSpPr>
          <p:cNvPr id="7" name="文本占位符 6"/>
          <p:cNvSpPr>
            <a:spLocks noGrp="1"/>
          </p:cNvSpPr>
          <p:nvPr>
            <p:ph type="body" sz="quarter" idx="16"/>
          </p:nvPr>
        </p:nvSpPr>
        <p:spPr/>
        <p:txBody>
          <a:bodyPr/>
          <a:lstStyle/>
          <a:p>
            <a:r>
              <a:rPr lang="zh-CN" altLang="en-US" dirty="0">
                <a:sym typeface="Huawei Sans" panose="020C0503030203020204" pitchFamily="34" charset="0"/>
              </a:rPr>
              <a:t>优化</a:t>
            </a:r>
          </a:p>
        </p:txBody>
      </p:sp>
      <p:sp>
        <p:nvSpPr>
          <p:cNvPr id="78" name="文本占位符 77"/>
          <p:cNvSpPr>
            <a:spLocks noGrp="1"/>
          </p:cNvSpPr>
          <p:nvPr>
            <p:ph type="body" sz="quarter" idx="21"/>
          </p:nvPr>
        </p:nvSpPr>
        <p:spPr/>
        <p:txBody>
          <a:bodyPr/>
          <a:lstStyle/>
          <a:p>
            <a:r>
              <a:rPr lang="zh-CN" altLang="en-US" dirty="0">
                <a:sym typeface="Huawei Sans" panose="020C0503030203020204" pitchFamily="34" charset="0"/>
              </a:rPr>
              <a:t>卢玥玥</a:t>
            </a:r>
            <a:r>
              <a:rPr lang="en-US" altLang="zh-CN" dirty="0">
                <a:sym typeface="Huawei Sans" panose="020C0503030203020204" pitchFamily="34" charset="0"/>
              </a:rPr>
              <a:t>/WX445705</a:t>
            </a:r>
            <a:endParaRPr lang="zh-CN" altLang="en-US" dirty="0">
              <a:sym typeface="Huawei Sans" panose="020C0503030203020204" pitchFamily="34" charset="0"/>
            </a:endParaRPr>
          </a:p>
        </p:txBody>
      </p:sp>
      <p:sp>
        <p:nvSpPr>
          <p:cNvPr id="79" name="文本占位符 78"/>
          <p:cNvSpPr>
            <a:spLocks noGrp="1"/>
          </p:cNvSpPr>
          <p:nvPr>
            <p:ph type="body" sz="quarter" idx="22"/>
          </p:nvPr>
        </p:nvSpPr>
        <p:spPr/>
        <p:txBody>
          <a:bodyPr/>
          <a:lstStyle/>
          <a:p>
            <a:r>
              <a:rPr lang="en-US" altLang="zh-CN" dirty="0"/>
              <a:t>2021.08.15</a:t>
            </a:r>
            <a:endParaRPr lang="zh-CN" altLang="en-US" dirty="0"/>
          </a:p>
        </p:txBody>
      </p:sp>
      <p:sp>
        <p:nvSpPr>
          <p:cNvPr id="80" name="文本占位符 79"/>
          <p:cNvSpPr>
            <a:spLocks noGrp="1"/>
          </p:cNvSpPr>
          <p:nvPr>
            <p:ph type="body" sz="quarter" idx="23"/>
          </p:nvPr>
        </p:nvSpPr>
        <p:spPr/>
        <p:txBody>
          <a:bodyPr/>
          <a:lstStyle/>
          <a:p>
            <a:pPr>
              <a:spcBef>
                <a:spcPts val="0"/>
              </a:spcBef>
            </a:pPr>
            <a:r>
              <a:rPr lang="zh-CN" altLang="en-US" dirty="0">
                <a:sym typeface="Huawei Sans" panose="020C0503030203020204" pitchFamily="34" charset="0"/>
              </a:rPr>
              <a:t>朱仕耿</a:t>
            </a:r>
            <a:r>
              <a:rPr lang="en-US" altLang="zh-CN">
                <a:sym typeface="Huawei Sans" panose="020C0503030203020204" pitchFamily="34" charset="0"/>
              </a:rPr>
              <a:t>/00261992 &amp; </a:t>
            </a:r>
            <a:r>
              <a:rPr lang="zh-CN" altLang="en-US">
                <a:sym typeface="Huawei Sans" panose="020C0503030203020204" pitchFamily="34" charset="0"/>
              </a:rPr>
              <a:t>刘巍</a:t>
            </a:r>
            <a:r>
              <a:rPr lang="en-US" altLang="zh-CN" dirty="0">
                <a:sym typeface="Huawei Sans" panose="020C0503030203020204" pitchFamily="34" charset="0"/>
              </a:rPr>
              <a:t>/0372307</a:t>
            </a:r>
            <a:endParaRPr lang="zh-CN" altLang="en-US" dirty="0">
              <a:sym typeface="Huawei Sans" panose="020C0503030203020204" pitchFamily="34" charset="0"/>
            </a:endParaRPr>
          </a:p>
        </p:txBody>
      </p:sp>
      <p:sp>
        <p:nvSpPr>
          <p:cNvPr id="81" name="文本占位符 80"/>
          <p:cNvSpPr>
            <a:spLocks noGrp="1"/>
          </p:cNvSpPr>
          <p:nvPr>
            <p:ph type="body" sz="quarter" idx="24"/>
          </p:nvPr>
        </p:nvSpPr>
        <p:spPr/>
        <p:txBody>
          <a:bodyPr/>
          <a:lstStyle/>
          <a:p>
            <a:r>
              <a:rPr lang="zh-CN" altLang="en-US" dirty="0"/>
              <a:t>优化</a:t>
            </a:r>
          </a:p>
        </p:txBody>
      </p:sp>
      <p:sp>
        <p:nvSpPr>
          <p:cNvPr id="82" name="文本占位符 81"/>
          <p:cNvSpPr>
            <a:spLocks noGrp="1"/>
          </p:cNvSpPr>
          <p:nvPr>
            <p:ph type="body" sz="quarter" idx="25"/>
          </p:nvPr>
        </p:nvSpPr>
        <p:spPr/>
        <p:txBody>
          <a:bodyPr/>
          <a:lstStyle/>
          <a:p>
            <a:endParaRPr lang="zh-CN" altLang="en-US"/>
          </a:p>
        </p:txBody>
      </p:sp>
      <p:sp>
        <p:nvSpPr>
          <p:cNvPr id="83" name="文本占位符 82"/>
          <p:cNvSpPr>
            <a:spLocks noGrp="1"/>
          </p:cNvSpPr>
          <p:nvPr>
            <p:ph type="body" sz="quarter" idx="26"/>
          </p:nvPr>
        </p:nvSpPr>
        <p:spPr/>
        <p:txBody>
          <a:bodyPr/>
          <a:lstStyle/>
          <a:p>
            <a:endParaRPr lang="zh-CN" altLang="en-US"/>
          </a:p>
        </p:txBody>
      </p:sp>
      <p:sp>
        <p:nvSpPr>
          <p:cNvPr id="84" name="文本占位符 83"/>
          <p:cNvSpPr>
            <a:spLocks noGrp="1"/>
          </p:cNvSpPr>
          <p:nvPr>
            <p:ph type="body" sz="quarter" idx="27"/>
          </p:nvPr>
        </p:nvSpPr>
        <p:spPr/>
        <p:txBody>
          <a:bodyPr/>
          <a:lstStyle/>
          <a:p>
            <a:endParaRPr lang="zh-CN" altLang="en-US"/>
          </a:p>
        </p:txBody>
      </p:sp>
      <p:sp>
        <p:nvSpPr>
          <p:cNvPr id="85" name="文本占位符 84"/>
          <p:cNvSpPr>
            <a:spLocks noGrp="1"/>
          </p:cNvSpPr>
          <p:nvPr>
            <p:ph type="body" sz="quarter" idx="28"/>
          </p:nvPr>
        </p:nvSpPr>
        <p:spPr/>
        <p:txBody>
          <a:bodyPr/>
          <a:lstStyle/>
          <a:p>
            <a:endParaRPr lang="zh-CN" altLang="en-US"/>
          </a:p>
        </p:txBody>
      </p:sp>
      <p:sp>
        <p:nvSpPr>
          <p:cNvPr id="86" name="文本占位符 85"/>
          <p:cNvSpPr>
            <a:spLocks noGrp="1"/>
          </p:cNvSpPr>
          <p:nvPr>
            <p:ph type="body" sz="quarter" idx="29"/>
          </p:nvPr>
        </p:nvSpPr>
        <p:spPr/>
        <p:txBody>
          <a:bodyPr/>
          <a:lstStyle/>
          <a:p>
            <a:endParaRPr lang="zh-CN" altLang="en-US"/>
          </a:p>
        </p:txBody>
      </p:sp>
      <p:sp>
        <p:nvSpPr>
          <p:cNvPr id="87" name="文本占位符 86"/>
          <p:cNvSpPr>
            <a:spLocks noGrp="1"/>
          </p:cNvSpPr>
          <p:nvPr>
            <p:ph type="body" sz="quarter" idx="30"/>
          </p:nvPr>
        </p:nvSpPr>
        <p:spPr/>
        <p:txBody>
          <a:bodyPr/>
          <a:lstStyle/>
          <a:p>
            <a:endParaRPr lang="zh-CN" altLang="en-US"/>
          </a:p>
        </p:txBody>
      </p:sp>
      <p:sp>
        <p:nvSpPr>
          <p:cNvPr id="88" name="文本占位符 87"/>
          <p:cNvSpPr>
            <a:spLocks noGrp="1"/>
          </p:cNvSpPr>
          <p:nvPr>
            <p:ph type="body" sz="quarter" idx="31"/>
          </p:nvPr>
        </p:nvSpPr>
        <p:spPr/>
        <p:txBody>
          <a:bodyPr/>
          <a:lstStyle/>
          <a:p>
            <a:endParaRPr lang="zh-CN" altLang="en-US"/>
          </a:p>
        </p:txBody>
      </p:sp>
      <p:sp>
        <p:nvSpPr>
          <p:cNvPr id="89" name="文本占位符 88"/>
          <p:cNvSpPr>
            <a:spLocks noGrp="1"/>
          </p:cNvSpPr>
          <p:nvPr>
            <p:ph type="body" sz="quarter" idx="32"/>
          </p:nvPr>
        </p:nvSpPr>
        <p:spPr/>
        <p:txBody>
          <a:bodyPr/>
          <a:lstStyle/>
          <a:p>
            <a:endParaRPr lang="zh-CN" altLang="en-US"/>
          </a:p>
        </p:txBody>
      </p:sp>
    </p:spTree>
    <p:extLst>
      <p:ext uri="{BB962C8B-B14F-4D97-AF65-F5344CB8AC3E}">
        <p14:creationId xmlns:p14="http://schemas.microsoft.com/office/powerpoint/2010/main" val="4093061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sym typeface="Huawei Sans" panose="020C0503030203020204" pitchFamily="34" charset="0"/>
              </a:rPr>
              <a:t>大中型虚拟化园区网络设计</a:t>
            </a:r>
          </a:p>
        </p:txBody>
      </p:sp>
    </p:spTree>
    <p:extLst>
      <p:ext uri="{BB962C8B-B14F-4D97-AF65-F5344CB8AC3E}">
        <p14:creationId xmlns:p14="http://schemas.microsoft.com/office/powerpoint/2010/main" val="584117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sym typeface="Huawei Sans" panose="020C0503030203020204" pitchFamily="34" charset="0"/>
              </a:rPr>
              <a:t>华为云园区网络解决方案（简称</a:t>
            </a:r>
            <a:r>
              <a:rPr lang="en-US" altLang="zh-CN" dirty="0">
                <a:sym typeface="Huawei Sans" panose="020C0503030203020204" pitchFamily="34" charset="0"/>
              </a:rPr>
              <a:t>CloudCampus</a:t>
            </a:r>
            <a:r>
              <a:rPr lang="zh-CN" altLang="en-US" dirty="0">
                <a:sym typeface="Huawei Sans" panose="020C0503030203020204" pitchFamily="34" charset="0"/>
              </a:rPr>
              <a:t>解决方案）基于智简网络意图驱动的理念，在云和</a:t>
            </a:r>
            <a:r>
              <a:rPr lang="en-US" altLang="zh-CN" dirty="0">
                <a:sym typeface="Huawei Sans" panose="020C0503030203020204" pitchFamily="34" charset="0"/>
              </a:rPr>
              <a:t>SDN</a:t>
            </a:r>
            <a:r>
              <a:rPr lang="zh-CN" altLang="en-US" dirty="0">
                <a:sym typeface="Huawei Sans" panose="020C0503030203020204" pitchFamily="34" charset="0"/>
              </a:rPr>
              <a:t>基础上，引入大数据分析和</a:t>
            </a:r>
            <a:r>
              <a:rPr lang="en-US" altLang="zh-CN" dirty="0">
                <a:sym typeface="Huawei Sans" panose="020C0503030203020204" pitchFamily="34" charset="0"/>
              </a:rPr>
              <a:t>AI</a:t>
            </a:r>
            <a:r>
              <a:rPr lang="zh-CN" altLang="en-US" dirty="0">
                <a:sym typeface="Huawei Sans" panose="020C0503030203020204" pitchFamily="34" charset="0"/>
              </a:rPr>
              <a:t>等技术，帮助企业构建一张智能、极简、融合、开放和安全的网络。</a:t>
            </a:r>
          </a:p>
          <a:p>
            <a:r>
              <a:rPr lang="zh-CN" altLang="en-US" dirty="0">
                <a:sym typeface="Huawei Sans" panose="020C0503030203020204" pitchFamily="34" charset="0"/>
              </a:rPr>
              <a:t>本课程基于</a:t>
            </a:r>
            <a:r>
              <a:rPr lang="en-US" altLang="zh-CN" dirty="0">
                <a:sym typeface="Huawei Sans" panose="020C0503030203020204" pitchFamily="34" charset="0"/>
              </a:rPr>
              <a:t>CloudCampus</a:t>
            </a:r>
            <a:r>
              <a:rPr lang="zh-CN" altLang="en-US" dirty="0">
                <a:sym typeface="Huawei Sans" panose="020C0503030203020204" pitchFamily="34" charset="0"/>
              </a:rPr>
              <a:t>解决方案，以大中型虚拟化园区网络为例，讲述大中型虚拟化园区网络规划设计流程，包括：网络架构设计、</a:t>
            </a:r>
            <a:r>
              <a:rPr lang="en-US" altLang="zh-CN" dirty="0">
                <a:sym typeface="Huawei Sans" panose="020C0503030203020204" pitchFamily="34" charset="0"/>
              </a:rPr>
              <a:t>Underlay</a:t>
            </a:r>
            <a:r>
              <a:rPr lang="zh-CN" altLang="en-US" dirty="0">
                <a:sym typeface="Huawei Sans" panose="020C0503030203020204" pitchFamily="34" charset="0"/>
              </a:rPr>
              <a:t>网络设计、</a:t>
            </a:r>
            <a:r>
              <a:rPr lang="en-US" altLang="zh-CN" dirty="0">
                <a:sym typeface="Huawei Sans" panose="020C0503030203020204" pitchFamily="34" charset="0"/>
              </a:rPr>
              <a:t>Fabric</a:t>
            </a:r>
            <a:r>
              <a:rPr lang="zh-CN" altLang="en-US" dirty="0">
                <a:sym typeface="Huawei Sans" panose="020C0503030203020204" pitchFamily="34" charset="0"/>
              </a:rPr>
              <a:t>与</a:t>
            </a:r>
            <a:r>
              <a:rPr lang="en-US" altLang="zh-CN" dirty="0">
                <a:sym typeface="Huawei Sans" panose="020C0503030203020204" pitchFamily="34" charset="0"/>
              </a:rPr>
              <a:t>Overlay</a:t>
            </a:r>
            <a:r>
              <a:rPr lang="zh-CN" altLang="en-US" dirty="0">
                <a:sym typeface="Huawei Sans" panose="020C0503030203020204" pitchFamily="34" charset="0"/>
              </a:rPr>
              <a:t>网络设计、准入控制与业务随行设计、</a:t>
            </a:r>
            <a:r>
              <a:rPr lang="en-US" altLang="zh-CN" dirty="0">
                <a:sym typeface="Huawei Sans" panose="020C0503030203020204" pitchFamily="34" charset="0"/>
              </a:rPr>
              <a:t>WLAN</a:t>
            </a:r>
            <a:r>
              <a:rPr lang="zh-CN" altLang="en-US" dirty="0">
                <a:sym typeface="Huawei Sans" panose="020C0503030203020204" pitchFamily="34" charset="0"/>
              </a:rPr>
              <a:t>设计、出口网络设计、网络安全与服务质量设计、运维管理设计。</a:t>
            </a:r>
            <a:endParaRPr lang="en-US" altLang="zh-CN" dirty="0">
              <a:sym typeface="Huawei Sans" panose="020C0503030203020204" pitchFamily="34" charset="0"/>
            </a:endParaRPr>
          </a:p>
        </p:txBody>
      </p:sp>
    </p:spTree>
    <p:extLst>
      <p:ext uri="{BB962C8B-B14F-4D97-AF65-F5344CB8AC3E}">
        <p14:creationId xmlns:p14="http://schemas.microsoft.com/office/powerpoint/2010/main" val="2720691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ym typeface="Huawei Sans" panose="020C0503030203020204" pitchFamily="34" charset="0"/>
              </a:rPr>
              <a:t>学完本课程后，您将能够：</a:t>
            </a:r>
          </a:p>
          <a:p>
            <a:pPr lvl="1"/>
            <a:r>
              <a:rPr lang="zh-CN" altLang="en-US" dirty="0">
                <a:sym typeface="Huawei Sans" panose="020C0503030203020204" pitchFamily="34" charset="0"/>
              </a:rPr>
              <a:t>描述大中型虚拟化园区网络层次与网络架构</a:t>
            </a:r>
          </a:p>
          <a:p>
            <a:pPr lvl="1"/>
            <a:r>
              <a:rPr lang="zh-CN" altLang="en-US" dirty="0">
                <a:sym typeface="Huawei Sans" panose="020C0503030203020204" pitchFamily="34" charset="0"/>
              </a:rPr>
              <a:t>根据实际需求完成虚拟化园区网络的网络架构设计和</a:t>
            </a:r>
            <a:r>
              <a:rPr lang="en-US" altLang="zh-CN" dirty="0">
                <a:sym typeface="Huawei Sans" panose="020C0503030203020204" pitchFamily="34" charset="0"/>
              </a:rPr>
              <a:t>Underlay</a:t>
            </a:r>
            <a:r>
              <a:rPr lang="zh-CN" altLang="en-US" dirty="0">
                <a:sym typeface="Huawei Sans" panose="020C0503030203020204" pitchFamily="34" charset="0"/>
              </a:rPr>
              <a:t>网络设计</a:t>
            </a:r>
          </a:p>
          <a:p>
            <a:pPr lvl="1"/>
            <a:r>
              <a:rPr lang="zh-CN" altLang="en-US" dirty="0">
                <a:sym typeface="Huawei Sans" panose="020C0503030203020204" pitchFamily="34" charset="0"/>
              </a:rPr>
              <a:t>根据实际需求完成虚拟化园区网络的</a:t>
            </a:r>
            <a:r>
              <a:rPr lang="en-US" altLang="zh-CN" dirty="0">
                <a:sym typeface="Huawei Sans" panose="020C0503030203020204" pitchFamily="34" charset="0"/>
              </a:rPr>
              <a:t>Fabric</a:t>
            </a:r>
            <a:r>
              <a:rPr lang="zh-CN" altLang="en-US" dirty="0">
                <a:sym typeface="Huawei Sans" panose="020C0503030203020204" pitchFamily="34" charset="0"/>
              </a:rPr>
              <a:t>与</a:t>
            </a:r>
            <a:r>
              <a:rPr lang="en-US" altLang="zh-CN" dirty="0">
                <a:sym typeface="Huawei Sans" panose="020C0503030203020204" pitchFamily="34" charset="0"/>
              </a:rPr>
              <a:t>Overlay</a:t>
            </a:r>
            <a:r>
              <a:rPr lang="zh-CN" altLang="en-US" dirty="0">
                <a:sym typeface="Huawei Sans" panose="020C0503030203020204" pitchFamily="34" charset="0"/>
              </a:rPr>
              <a:t>网络设计</a:t>
            </a:r>
          </a:p>
          <a:p>
            <a:pPr lvl="1"/>
            <a:r>
              <a:rPr lang="zh-CN" altLang="en-US" dirty="0">
                <a:sym typeface="Huawei Sans" panose="020C0503030203020204" pitchFamily="34" charset="0"/>
              </a:rPr>
              <a:t>根据实际需求完成虚拟化园区网络准入控制设计、业务随行设计、</a:t>
            </a:r>
            <a:r>
              <a:rPr lang="en-US" altLang="zh-CN" dirty="0">
                <a:sym typeface="Huawei Sans" panose="020C0503030203020204" pitchFamily="34" charset="0"/>
              </a:rPr>
              <a:t>WLAN</a:t>
            </a:r>
            <a:r>
              <a:rPr lang="zh-CN" altLang="en-US" dirty="0">
                <a:sym typeface="Huawei Sans" panose="020C0503030203020204" pitchFamily="34" charset="0"/>
              </a:rPr>
              <a:t>设计、出口网络设计、网络安全与服务质量设计及运维管理设计</a:t>
            </a:r>
          </a:p>
        </p:txBody>
      </p:sp>
    </p:spTree>
    <p:extLst>
      <p:ext uri="{BB962C8B-B14F-4D97-AF65-F5344CB8AC3E}">
        <p14:creationId xmlns:p14="http://schemas.microsoft.com/office/powerpoint/2010/main" val="1545805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800" b="1" dirty="0">
                <a:sym typeface="Huawei Sans" panose="020C0503030203020204" pitchFamily="34" charset="0"/>
              </a:rPr>
              <a:t>CloudCampus</a:t>
            </a:r>
            <a:r>
              <a:rPr lang="zh-CN" altLang="en-US" sz="1800" b="1" dirty="0">
                <a:sym typeface="Huawei Sans" panose="020C0503030203020204" pitchFamily="34" charset="0"/>
              </a:rPr>
              <a:t>解决方案及虚拟化园区网络概述</a:t>
            </a:r>
            <a:endParaRPr lang="en-US" altLang="zh-CN" sz="1800" b="1" dirty="0">
              <a:sym typeface="Huawei Sans" panose="020C0503030203020204" pitchFamily="34" charset="0"/>
            </a:endParaRPr>
          </a:p>
          <a:p>
            <a:pPr marL="0" indent="0">
              <a:buNone/>
            </a:pPr>
            <a:r>
              <a:rPr lang="zh-CN" altLang="en-US" sz="1800" b="1" dirty="0">
                <a:sym typeface="Huawei Sans" panose="020C0503030203020204" pitchFamily="34" charset="0"/>
              </a:rPr>
              <a:t>（内部通信、安全、无线）</a:t>
            </a:r>
          </a:p>
          <a:p>
            <a:r>
              <a:rPr lang="zh-CN" altLang="en-US" sz="1800" dirty="0">
                <a:solidFill>
                  <a:schemeClr val="bg1">
                    <a:lumMod val="50000"/>
                  </a:schemeClr>
                </a:solidFill>
                <a:sym typeface="Huawei Sans" panose="020C0503030203020204" pitchFamily="34" charset="0"/>
              </a:rPr>
              <a:t>网络架构设计</a:t>
            </a:r>
          </a:p>
          <a:p>
            <a:r>
              <a:rPr lang="en-US" altLang="zh-CN" sz="1800" dirty="0">
                <a:solidFill>
                  <a:schemeClr val="bg1">
                    <a:lumMod val="50000"/>
                  </a:schemeClr>
                </a:solidFill>
                <a:sym typeface="Huawei Sans" panose="020C0503030203020204" pitchFamily="34" charset="0"/>
              </a:rPr>
              <a:t>Underlay</a:t>
            </a:r>
            <a:r>
              <a:rPr lang="zh-CN" altLang="en-US" sz="1800" dirty="0">
                <a:solidFill>
                  <a:schemeClr val="bg1">
                    <a:lumMod val="50000"/>
                  </a:schemeClr>
                </a:solidFill>
                <a:sym typeface="Huawei Sans" panose="020C0503030203020204" pitchFamily="34" charset="0"/>
              </a:rPr>
              <a:t>网络设计</a:t>
            </a:r>
          </a:p>
          <a:p>
            <a:r>
              <a:rPr lang="en-US" altLang="zh-CN" sz="1800" dirty="0">
                <a:solidFill>
                  <a:schemeClr val="bg1">
                    <a:lumMod val="50000"/>
                  </a:schemeClr>
                </a:solidFill>
                <a:sym typeface="Huawei Sans" panose="020C0503030203020204" pitchFamily="34" charset="0"/>
              </a:rPr>
              <a:t>Fabric</a:t>
            </a:r>
            <a:r>
              <a:rPr lang="zh-CN" altLang="en-US" sz="1800" dirty="0">
                <a:solidFill>
                  <a:schemeClr val="bg1">
                    <a:lumMod val="50000"/>
                  </a:schemeClr>
                </a:solidFill>
                <a:sym typeface="Huawei Sans" panose="020C0503030203020204" pitchFamily="34" charset="0"/>
              </a:rPr>
              <a:t>与</a:t>
            </a:r>
            <a:r>
              <a:rPr lang="en-US" altLang="zh-CN" sz="1800" dirty="0">
                <a:solidFill>
                  <a:schemeClr val="bg1">
                    <a:lumMod val="50000"/>
                  </a:schemeClr>
                </a:solidFill>
                <a:sym typeface="Huawei Sans" panose="020C0503030203020204" pitchFamily="34" charset="0"/>
              </a:rPr>
              <a:t>Overlay</a:t>
            </a:r>
            <a:r>
              <a:rPr lang="zh-CN" altLang="en-US" sz="1800" dirty="0">
                <a:solidFill>
                  <a:schemeClr val="bg1">
                    <a:lumMod val="50000"/>
                  </a:schemeClr>
                </a:solidFill>
                <a:sym typeface="Huawei Sans" panose="020C0503030203020204" pitchFamily="34" charset="0"/>
              </a:rPr>
              <a:t>网络设计</a:t>
            </a:r>
          </a:p>
          <a:p>
            <a:r>
              <a:rPr lang="zh-CN" altLang="en-US" sz="1800" dirty="0">
                <a:solidFill>
                  <a:schemeClr val="bg1">
                    <a:lumMod val="50000"/>
                  </a:schemeClr>
                </a:solidFill>
                <a:sym typeface="Huawei Sans" panose="020C0503030203020204" pitchFamily="34" charset="0"/>
              </a:rPr>
              <a:t>准入控制及业务随行设计</a:t>
            </a:r>
          </a:p>
          <a:p>
            <a:r>
              <a:rPr lang="en-US" altLang="zh-CN" sz="1800" dirty="0">
                <a:solidFill>
                  <a:schemeClr val="bg1">
                    <a:lumMod val="50000"/>
                  </a:schemeClr>
                </a:solidFill>
                <a:sym typeface="Huawei Sans" panose="020C0503030203020204" pitchFamily="34" charset="0"/>
              </a:rPr>
              <a:t>WLAN</a:t>
            </a:r>
            <a:r>
              <a:rPr lang="zh-CN" altLang="en-US" sz="1800" dirty="0">
                <a:solidFill>
                  <a:schemeClr val="bg1">
                    <a:lumMod val="50000"/>
                  </a:schemeClr>
                </a:solidFill>
                <a:sym typeface="Huawei Sans" panose="020C0503030203020204" pitchFamily="34" charset="0"/>
              </a:rPr>
              <a:t>设计</a:t>
            </a:r>
          </a:p>
          <a:p>
            <a:r>
              <a:rPr lang="zh-CN" altLang="en-US" sz="1800" dirty="0">
                <a:solidFill>
                  <a:schemeClr val="bg1">
                    <a:lumMod val="50000"/>
                  </a:schemeClr>
                </a:solidFill>
                <a:sym typeface="Huawei Sans" panose="020C0503030203020204" pitchFamily="34" charset="0"/>
              </a:rPr>
              <a:t>出口网络设计</a:t>
            </a:r>
          </a:p>
          <a:p>
            <a:r>
              <a:rPr lang="zh-CN" altLang="en-US" sz="1800" dirty="0">
                <a:solidFill>
                  <a:schemeClr val="bg1">
                    <a:lumMod val="50000"/>
                  </a:schemeClr>
                </a:solidFill>
                <a:sym typeface="Huawei Sans" panose="020C0503030203020204" pitchFamily="34" charset="0"/>
              </a:rPr>
              <a:t>网络安全与服务质量设计</a:t>
            </a:r>
          </a:p>
          <a:p>
            <a:r>
              <a:rPr lang="zh-CN" altLang="en-US" sz="1800" dirty="0">
                <a:solidFill>
                  <a:schemeClr val="bg1">
                    <a:lumMod val="50000"/>
                  </a:schemeClr>
                </a:solidFill>
                <a:sym typeface="Huawei Sans" panose="020C0503030203020204" pitchFamily="34" charset="0"/>
              </a:rPr>
              <a:t>运维管理设计</a:t>
            </a:r>
          </a:p>
        </p:txBody>
      </p:sp>
    </p:spTree>
    <p:extLst>
      <p:ext uri="{BB962C8B-B14F-4D97-AF65-F5344CB8AC3E}">
        <p14:creationId xmlns:p14="http://schemas.microsoft.com/office/powerpoint/2010/main" val="3975888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大中型园区网络</a:t>
            </a:r>
          </a:p>
        </p:txBody>
      </p:sp>
      <p:sp>
        <p:nvSpPr>
          <p:cNvPr id="4" name="文本占位符 3"/>
          <p:cNvSpPr>
            <a:spLocks noGrp="1"/>
          </p:cNvSpPr>
          <p:nvPr>
            <p:ph type="body" sz="quarter" idx="10"/>
          </p:nvPr>
        </p:nvSpPr>
        <p:spPr>
          <a:xfrm>
            <a:off x="4953000" y="1449387"/>
            <a:ext cx="6796087" cy="4478167"/>
          </a:xfrm>
        </p:spPr>
        <p:txBody>
          <a:bodyPr/>
          <a:lstStyle/>
          <a:p>
            <a:r>
              <a:rPr lang="zh-CN" altLang="en-US" sz="1800" dirty="0"/>
              <a:t>园区网络一般是指企业或者机构的内部网络，与广域网络、数据中心相对应，其主要目的是使企业的主营业务运作更有效率。</a:t>
            </a:r>
          </a:p>
          <a:p>
            <a:r>
              <a:rPr lang="zh-CN" altLang="en-US" sz="1800" dirty="0"/>
              <a:t>园区网络按规模可以划分成大中型园区网络、中小型园区网络。其中大中型园区网络：</a:t>
            </a:r>
            <a:endParaRPr lang="en-US" altLang="zh-CN" sz="1800" dirty="0"/>
          </a:p>
          <a:p>
            <a:pPr lvl="1"/>
            <a:r>
              <a:rPr lang="zh-CN" altLang="en-US" sz="1600" dirty="0"/>
              <a:t>终端用户数量</a:t>
            </a:r>
            <a:r>
              <a:rPr lang="en-US" altLang="zh-CN" sz="1600" dirty="0"/>
              <a:t>/</a:t>
            </a:r>
            <a:r>
              <a:rPr lang="zh-CN" altLang="en-US" sz="1600" dirty="0"/>
              <a:t>个 </a:t>
            </a:r>
            <a:r>
              <a:rPr lang="en-US" altLang="zh-CN" sz="1600" dirty="0"/>
              <a:t>&gt; 2000</a:t>
            </a:r>
          </a:p>
          <a:p>
            <a:pPr lvl="1"/>
            <a:r>
              <a:rPr lang="zh-CN" altLang="en-US" sz="1600" dirty="0"/>
              <a:t>网元数量</a:t>
            </a:r>
            <a:r>
              <a:rPr lang="en-US" altLang="zh-CN" sz="1600" dirty="0"/>
              <a:t>/</a:t>
            </a:r>
            <a:r>
              <a:rPr lang="zh-CN" altLang="en-US" sz="1600" dirty="0"/>
              <a:t>个 </a:t>
            </a:r>
            <a:r>
              <a:rPr lang="en-US" altLang="zh-CN" sz="1600" dirty="0"/>
              <a:t>&gt; 100</a:t>
            </a:r>
          </a:p>
          <a:p>
            <a:r>
              <a:rPr lang="zh-CN" altLang="en-US" sz="1800" dirty="0"/>
              <a:t>有些企业还存在不同地域的办公分支机构，每个分支机构网络可看做一个单园区网络。</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1866900"/>
            <a:ext cx="3905599" cy="2585934"/>
          </a:xfrm>
          <a:prstGeom prst="roundRect">
            <a:avLst>
              <a:gd name="adj" fmla="val 8487"/>
            </a:avLst>
          </a:prstGeom>
        </p:spPr>
      </p:pic>
    </p:spTree>
    <p:extLst>
      <p:ext uri="{BB962C8B-B14F-4D97-AF65-F5344CB8AC3E}">
        <p14:creationId xmlns:p14="http://schemas.microsoft.com/office/powerpoint/2010/main" val="2283329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大中型园区网络的业务需求与挑战</a:t>
            </a:r>
            <a:endParaRPr lang="zh-CN" altLang="en-US" dirty="0">
              <a:sym typeface="Huawei Sans" panose="020C0503030203020204" pitchFamily="34" charset="0"/>
            </a:endParaRPr>
          </a:p>
        </p:txBody>
      </p:sp>
      <p:sp>
        <p:nvSpPr>
          <p:cNvPr id="13" name="文本占位符 12"/>
          <p:cNvSpPr>
            <a:spLocks noGrp="1"/>
          </p:cNvSpPr>
          <p:nvPr>
            <p:ph type="body" sz="quarter" idx="10"/>
          </p:nvPr>
        </p:nvSpPr>
        <p:spPr>
          <a:xfrm>
            <a:off x="455612" y="1047750"/>
            <a:ext cx="11293475" cy="1011781"/>
          </a:xfrm>
        </p:spPr>
        <p:txBody>
          <a:bodyPr/>
          <a:lstStyle/>
          <a:p>
            <a:r>
              <a:rPr lang="zh-CN" altLang="en-US" sz="2000" dirty="0">
                <a:sym typeface="Huawei Sans" panose="020C0503030203020204" pitchFamily="34" charset="0"/>
              </a:rPr>
              <a:t>随着移动办公、云计算、</a:t>
            </a:r>
            <a:r>
              <a:rPr lang="en-US" altLang="zh-CN" sz="2000" dirty="0">
                <a:sym typeface="Huawei Sans" panose="020C0503030203020204" pitchFamily="34" charset="0"/>
              </a:rPr>
              <a:t>SDN</a:t>
            </a:r>
            <a:r>
              <a:rPr lang="zh-CN" altLang="en-US" sz="2000" dirty="0">
                <a:sym typeface="Huawei Sans" panose="020C0503030203020204" pitchFamily="34" charset="0"/>
              </a:rPr>
              <a:t>、物联网、人工智能以及大数据等概念的持续升温，新技术、新应用层出不穷。这些应用和业务进入企业园区，给作为企业数字化转型基石的园区网络带来了很多挑战。</a:t>
            </a:r>
          </a:p>
        </p:txBody>
      </p:sp>
      <p:grpSp>
        <p:nvGrpSpPr>
          <p:cNvPr id="2" name="组合 1"/>
          <p:cNvGrpSpPr>
            <a:grpSpLocks/>
          </p:cNvGrpSpPr>
          <p:nvPr/>
        </p:nvGrpSpPr>
        <p:grpSpPr>
          <a:xfrm>
            <a:off x="495001" y="2564633"/>
            <a:ext cx="3673297" cy="3524762"/>
            <a:chOff x="731838" y="2676013"/>
            <a:chExt cx="3236508" cy="3524762"/>
          </a:xfrm>
        </p:grpSpPr>
        <p:sp>
          <p:nvSpPr>
            <p:cNvPr id="5" name="圆角矩形 4"/>
            <p:cNvSpPr/>
            <p:nvPr/>
          </p:nvSpPr>
          <p:spPr bwMode="gray">
            <a:xfrm>
              <a:off x="731838" y="2676013"/>
              <a:ext cx="3236508"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融合承载</a:t>
              </a:r>
            </a:p>
          </p:txBody>
        </p:sp>
        <p:sp>
          <p:nvSpPr>
            <p:cNvPr id="6" name="圆角矩形 5"/>
            <p:cNvSpPr/>
            <p:nvPr/>
          </p:nvSpPr>
          <p:spPr bwMode="gray">
            <a:xfrm>
              <a:off x="731838" y="3099105"/>
              <a:ext cx="3236508" cy="3101670"/>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接入终端及业务多样化，需要融合承载的园区网络。</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等业务各自独立规划、部署、管理，网络总体建设成本高。</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网络管理、运维工作量大。</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 name="组合 3"/>
          <p:cNvGrpSpPr>
            <a:grpSpLocks/>
          </p:cNvGrpSpPr>
          <p:nvPr/>
        </p:nvGrpSpPr>
        <p:grpSpPr>
          <a:xfrm>
            <a:off x="8016881" y="2564633"/>
            <a:ext cx="3673297" cy="3524762"/>
            <a:chOff x="4175724" y="2676013"/>
            <a:chExt cx="3656174" cy="3524762"/>
          </a:xfrm>
        </p:grpSpPr>
        <p:sp>
          <p:nvSpPr>
            <p:cNvPr id="8" name="圆角矩形 7"/>
            <p:cNvSpPr/>
            <p:nvPr/>
          </p:nvSpPr>
          <p:spPr bwMode="gray">
            <a:xfrm>
              <a:off x="4175724" y="2676013"/>
              <a:ext cx="3651265"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用户体验感知</a:t>
              </a:r>
            </a:p>
          </p:txBody>
        </p:sp>
        <p:sp>
          <p:nvSpPr>
            <p:cNvPr id="9" name="圆角矩形 8"/>
            <p:cNvSpPr/>
            <p:nvPr/>
          </p:nvSpPr>
          <p:spPr bwMode="gray">
            <a:xfrm>
              <a:off x="4180633" y="3099105"/>
              <a:ext cx="3651265" cy="3101670"/>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网络运维需自动化、智能化，随时随地感知用户体验。</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无法第一时间感知业务故障。</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故障发生后更多是依赖专业人员的运维经验判定业务故障原因，故障无法快速定位。</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网络无法实现自主优化。</a:t>
              </a:r>
            </a:p>
          </p:txBody>
        </p:sp>
      </p:grpSp>
      <p:grpSp>
        <p:nvGrpSpPr>
          <p:cNvPr id="7" name="组合 6"/>
          <p:cNvGrpSpPr>
            <a:grpSpLocks/>
          </p:cNvGrpSpPr>
          <p:nvPr/>
        </p:nvGrpSpPr>
        <p:grpSpPr>
          <a:xfrm>
            <a:off x="4255941" y="2564633"/>
            <a:ext cx="3673297" cy="3524762"/>
            <a:chOff x="8039277" y="2676013"/>
            <a:chExt cx="3420886" cy="3524762"/>
          </a:xfrm>
        </p:grpSpPr>
        <p:sp>
          <p:nvSpPr>
            <p:cNvPr id="11" name="圆角矩形 10"/>
            <p:cNvSpPr/>
            <p:nvPr/>
          </p:nvSpPr>
          <p:spPr bwMode="gray">
            <a:xfrm>
              <a:off x="8039277" y="2676013"/>
              <a:ext cx="3420886"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网络部署自动化</a:t>
              </a:r>
            </a:p>
          </p:txBody>
        </p:sp>
        <p:sp>
          <p:nvSpPr>
            <p:cNvPr id="12" name="圆角矩形 11"/>
            <p:cNvSpPr/>
            <p:nvPr/>
          </p:nvSpPr>
          <p:spPr bwMode="gray">
            <a:xfrm>
              <a:off x="8039277" y="3099105"/>
              <a:ext cx="3420886" cy="3101670"/>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应用和业务激增带来的部署、策略复杂性，网络部署需实现自动化。</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重复工作量大，手工配置繁琐。</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新业务上线需逐台设备进行配置，周期长，成本高。</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网络策略部署与调整工作量大。</a:t>
              </a:r>
            </a:p>
          </p:txBody>
        </p:sp>
      </p:grpSp>
    </p:spTree>
    <p:extLst>
      <p:ext uri="{BB962C8B-B14F-4D97-AF65-F5344CB8AC3E}">
        <p14:creationId xmlns:p14="http://schemas.microsoft.com/office/powerpoint/2010/main" val="1187182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sym typeface="Huawei Sans" panose="020C0503030203020204" pitchFamily="34" charset="0"/>
              </a:rPr>
              <a:t>华为云园区网络解决方案 </a:t>
            </a:r>
            <a:r>
              <a:rPr lang="en-US" altLang="zh-CN" dirty="0">
                <a:sym typeface="Huawei Sans" panose="020C0503030203020204" pitchFamily="34" charset="0"/>
              </a:rPr>
              <a:t>(CloudCampus</a:t>
            </a:r>
            <a:r>
              <a:rPr lang="zh-CN" altLang="en-US" dirty="0">
                <a:sym typeface="Huawei Sans" panose="020C0503030203020204" pitchFamily="34" charset="0"/>
              </a:rPr>
              <a:t>解决方案</a:t>
            </a:r>
            <a:r>
              <a:rPr lang="en-US" altLang="zh-CN" dirty="0">
                <a:sym typeface="Huawei Sans" panose="020C0503030203020204" pitchFamily="34" charset="0"/>
              </a:rPr>
              <a:t>)</a:t>
            </a:r>
            <a:endParaRPr lang="zh-CN" altLang="en-US" dirty="0">
              <a:sym typeface="Huawei Sans" panose="020C0503030203020204" pitchFamily="34" charset="0"/>
            </a:endParaRPr>
          </a:p>
        </p:txBody>
      </p:sp>
      <p:grpSp>
        <p:nvGrpSpPr>
          <p:cNvPr id="4" name="Group 165"/>
          <p:cNvGrpSpPr/>
          <p:nvPr/>
        </p:nvGrpSpPr>
        <p:grpSpPr bwMode="gray">
          <a:xfrm>
            <a:off x="2939869" y="3768727"/>
            <a:ext cx="1307763" cy="340548"/>
            <a:chOff x="-1233037" y="914446"/>
            <a:chExt cx="4919386" cy="778776"/>
          </a:xfrm>
        </p:grpSpPr>
        <p:cxnSp>
          <p:nvCxnSpPr>
            <p:cNvPr id="5" name="Straight Connector 166"/>
            <p:cNvCxnSpPr/>
            <p:nvPr/>
          </p:nvCxnSpPr>
          <p:spPr bwMode="gray">
            <a:xfrm flipH="1" flipV="1">
              <a:off x="-1233037" y="914446"/>
              <a:ext cx="786912" cy="778776"/>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6" name="Straight Connector 167"/>
            <p:cNvCxnSpPr/>
            <p:nvPr/>
          </p:nvCxnSpPr>
          <p:spPr bwMode="gray">
            <a:xfrm flipV="1">
              <a:off x="2899439" y="914446"/>
              <a:ext cx="786910" cy="778776"/>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grpSp>
      <p:cxnSp>
        <p:nvCxnSpPr>
          <p:cNvPr id="7" name="直接连接符 6"/>
          <p:cNvCxnSpPr/>
          <p:nvPr/>
        </p:nvCxnSpPr>
        <p:spPr bwMode="gray">
          <a:xfrm>
            <a:off x="4283982" y="3779419"/>
            <a:ext cx="939031" cy="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grpSp>
        <p:nvGrpSpPr>
          <p:cNvPr id="8" name="Group 165"/>
          <p:cNvGrpSpPr/>
          <p:nvPr/>
        </p:nvGrpSpPr>
        <p:grpSpPr bwMode="gray">
          <a:xfrm rot="10800000">
            <a:off x="4988582" y="3811504"/>
            <a:ext cx="523792" cy="340548"/>
            <a:chOff x="-1233037" y="914446"/>
            <a:chExt cx="1573823" cy="778776"/>
          </a:xfrm>
        </p:grpSpPr>
        <p:cxnSp>
          <p:nvCxnSpPr>
            <p:cNvPr id="9" name="Straight Connector 166"/>
            <p:cNvCxnSpPr/>
            <p:nvPr/>
          </p:nvCxnSpPr>
          <p:spPr bwMode="gray">
            <a:xfrm flipH="1" flipV="1">
              <a:off x="-1233037" y="914446"/>
              <a:ext cx="786912" cy="778776"/>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p:nvPr/>
          </p:nvCxnSpPr>
          <p:spPr bwMode="gray">
            <a:xfrm flipV="1">
              <a:off x="-446125" y="914446"/>
              <a:ext cx="786911" cy="778776"/>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grpSp>
      <p:sp>
        <p:nvSpPr>
          <p:cNvPr id="11" name="圆角矩形 10"/>
          <p:cNvSpPr/>
          <p:nvPr/>
        </p:nvSpPr>
        <p:spPr bwMode="gray">
          <a:xfrm>
            <a:off x="479694" y="3324756"/>
            <a:ext cx="2415207" cy="1555769"/>
          </a:xfrm>
          <a:prstGeom prst="roundRect">
            <a:avLst>
              <a:gd name="adj" fmla="val 19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p:nvPr/>
        </p:nvCxnSpPr>
        <p:spPr bwMode="gray">
          <a:xfrm flipV="1">
            <a:off x="1299785" y="3496299"/>
            <a:ext cx="0" cy="220134"/>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flipV="1">
            <a:off x="1852849" y="3496299"/>
            <a:ext cx="0" cy="220134"/>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48" idx="0"/>
            <a:endCxn id="52" idx="2"/>
          </p:cNvCxnSpPr>
          <p:nvPr/>
        </p:nvCxnSpPr>
        <p:spPr bwMode="gray">
          <a:xfrm flipV="1">
            <a:off x="754242" y="4324124"/>
            <a:ext cx="0" cy="29239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gray">
          <a:xfrm flipV="1">
            <a:off x="1304948" y="4324124"/>
            <a:ext cx="0" cy="24667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gray">
          <a:xfrm flipV="1">
            <a:off x="1857929" y="4324124"/>
            <a:ext cx="0" cy="24667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gray">
          <a:xfrm flipV="1">
            <a:off x="2408635" y="4324124"/>
            <a:ext cx="0" cy="24667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bwMode="gray">
          <a:xfrm>
            <a:off x="769253" y="3731843"/>
            <a:ext cx="1101413" cy="488985"/>
            <a:chOff x="2498773" y="3870388"/>
            <a:chExt cx="1101413" cy="294842"/>
          </a:xfrm>
        </p:grpSpPr>
        <p:cxnSp>
          <p:nvCxnSpPr>
            <p:cNvPr id="19" name="直接连接符 18"/>
            <p:cNvCxnSpPr/>
            <p:nvPr/>
          </p:nvCxnSpPr>
          <p:spPr bwMode="gray">
            <a:xfrm>
              <a:off x="3044482" y="3870388"/>
              <a:ext cx="555704" cy="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gray">
            <a:xfrm flipV="1">
              <a:off x="2498773" y="3870388"/>
              <a:ext cx="545709" cy="29484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gray">
            <a:xfrm flipV="1">
              <a:off x="3054477" y="3870388"/>
              <a:ext cx="545709" cy="29484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gray">
            <a:xfrm flipH="1">
              <a:off x="2498773" y="4165230"/>
              <a:ext cx="560721" cy="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bwMode="gray">
          <a:xfrm flipH="1">
            <a:off x="1304948" y="3731843"/>
            <a:ext cx="1101600" cy="488985"/>
            <a:chOff x="2498773" y="3870388"/>
            <a:chExt cx="1101413" cy="294842"/>
          </a:xfrm>
        </p:grpSpPr>
        <p:cxnSp>
          <p:nvCxnSpPr>
            <p:cNvPr id="24" name="直接连接符 23"/>
            <p:cNvCxnSpPr/>
            <p:nvPr/>
          </p:nvCxnSpPr>
          <p:spPr bwMode="gray">
            <a:xfrm>
              <a:off x="3044482" y="3870388"/>
              <a:ext cx="555704" cy="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gray">
            <a:xfrm flipV="1">
              <a:off x="2498773" y="3870388"/>
              <a:ext cx="545709" cy="29484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gray">
            <a:xfrm flipV="1">
              <a:off x="3054477" y="3870388"/>
              <a:ext cx="545709" cy="29484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gray">
            <a:xfrm flipH="1">
              <a:off x="2498773" y="4165230"/>
              <a:ext cx="560721" cy="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bwMode="gray">
          <a:xfrm>
            <a:off x="1743462" y="1091440"/>
            <a:ext cx="2971076" cy="1743308"/>
            <a:chOff x="1702524" y="1229197"/>
            <a:chExt cx="2971076" cy="1743308"/>
          </a:xfrm>
        </p:grpSpPr>
        <p:sp>
          <p:nvSpPr>
            <p:cNvPr id="29" name="TextBox 63"/>
            <p:cNvSpPr txBox="1"/>
            <p:nvPr/>
          </p:nvSpPr>
          <p:spPr bwMode="gray">
            <a:xfrm>
              <a:off x="2685262" y="1410535"/>
              <a:ext cx="543739" cy="307777"/>
            </a:xfrm>
            <a:prstGeom prst="rect">
              <a:avLst/>
            </a:prstGeom>
            <a:noFill/>
          </p:spPr>
          <p:txBody>
            <a:bodyPr wrap="none" rtlCol="0">
              <a:spAutoFit/>
            </a:bodyPr>
            <a:lstStyle/>
            <a:p>
              <a:pPr algn="ctr" defTabSz="914112"/>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分析</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TextBox 63"/>
            <p:cNvSpPr txBox="1"/>
            <p:nvPr/>
          </p:nvSpPr>
          <p:spPr bwMode="gray">
            <a:xfrm>
              <a:off x="2193852" y="1852100"/>
              <a:ext cx="543739" cy="307777"/>
            </a:xfrm>
            <a:prstGeom prst="rect">
              <a:avLst/>
            </a:prstGeom>
            <a:noFill/>
          </p:spPr>
          <p:txBody>
            <a:bodyPr wrap="none" rtlCol="0">
              <a:spAutoFit/>
            </a:bodyPr>
            <a:lstStyle/>
            <a:p>
              <a:pPr algn="ctr" defTabSz="914112"/>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管理</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TextBox 63"/>
            <p:cNvSpPr txBox="1"/>
            <p:nvPr/>
          </p:nvSpPr>
          <p:spPr bwMode="gray">
            <a:xfrm>
              <a:off x="3176672" y="1852100"/>
              <a:ext cx="543739" cy="307777"/>
            </a:xfrm>
            <a:prstGeom prst="rect">
              <a:avLst/>
            </a:prstGeom>
            <a:noFill/>
          </p:spPr>
          <p:txBody>
            <a:bodyPr wrap="none" rtlCol="0">
              <a:spAutoFit/>
            </a:bodyPr>
            <a:lstStyle/>
            <a:p>
              <a:pPr algn="ctr" defTabSz="914112"/>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控制</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Freeform 159"/>
            <p:cNvSpPr/>
            <p:nvPr/>
          </p:nvSpPr>
          <p:spPr bwMode="gray">
            <a:xfrm flipH="1">
              <a:off x="1702524" y="1229197"/>
              <a:ext cx="2971076" cy="155306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椭圆 32"/>
            <p:cNvSpPr/>
            <p:nvPr/>
          </p:nvSpPr>
          <p:spPr bwMode="gray">
            <a:xfrm>
              <a:off x="2792538" y="1813001"/>
              <a:ext cx="329184" cy="329184"/>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椭圆 33"/>
            <p:cNvSpPr>
              <a:spLocks noChangeAspect="1"/>
            </p:cNvSpPr>
            <p:nvPr/>
          </p:nvSpPr>
          <p:spPr bwMode="gray">
            <a:xfrm>
              <a:off x="2895702" y="1747942"/>
              <a:ext cx="122854" cy="12285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椭圆 34"/>
            <p:cNvSpPr>
              <a:spLocks noChangeAspect="1"/>
            </p:cNvSpPr>
            <p:nvPr/>
          </p:nvSpPr>
          <p:spPr bwMode="gray">
            <a:xfrm>
              <a:off x="2731110" y="1916165"/>
              <a:ext cx="122854" cy="12285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椭圆 35"/>
            <p:cNvSpPr>
              <a:spLocks noChangeAspect="1"/>
            </p:cNvSpPr>
            <p:nvPr/>
          </p:nvSpPr>
          <p:spPr bwMode="gray">
            <a:xfrm>
              <a:off x="3060294" y="1916165"/>
              <a:ext cx="122854" cy="12285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63"/>
            <p:cNvSpPr txBox="1"/>
            <p:nvPr/>
          </p:nvSpPr>
          <p:spPr bwMode="gray">
            <a:xfrm>
              <a:off x="1978286" y="2334567"/>
              <a:ext cx="447676" cy="228927"/>
            </a:xfrm>
            <a:prstGeom prst="roundRect">
              <a:avLst/>
            </a:prstGeom>
            <a:solidFill>
              <a:srgbClr val="56C4D2"/>
            </a:solidFill>
            <a:ln>
              <a:noFill/>
            </a:ln>
          </p:spPr>
          <p:txBody>
            <a:bodyPr wrap="none" rtlCol="0" anchor="ctr" anchorCtr="0">
              <a:noAutofit/>
            </a:bodyPr>
            <a:lstStyle/>
            <a:p>
              <a:pPr algn="ctr" defTabSz="914112"/>
              <a:r>
                <a:rPr lang="zh-CN" altLang="en-US"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设计</a:t>
              </a:r>
              <a:endParaRPr lang="en-US" altLang="zh-CN"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TextBox 63"/>
            <p:cNvSpPr txBox="1"/>
            <p:nvPr/>
          </p:nvSpPr>
          <p:spPr bwMode="gray">
            <a:xfrm>
              <a:off x="2964277" y="2334567"/>
              <a:ext cx="447676" cy="228927"/>
            </a:xfrm>
            <a:prstGeom prst="roundRect">
              <a:avLst/>
            </a:prstGeom>
            <a:solidFill>
              <a:srgbClr val="56C4D2"/>
            </a:solidFill>
            <a:ln>
              <a:noFill/>
            </a:ln>
          </p:spPr>
          <p:txBody>
            <a:bodyPr wrap="none" rtlCol="0" anchor="ctr" anchorCtr="0">
              <a:noAutofit/>
            </a:bodyPr>
            <a:lstStyle/>
            <a:p>
              <a:pPr algn="ctr" defTabSz="914112"/>
              <a:r>
                <a:rPr lang="zh-CN" altLang="en-US" sz="140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部署</a:t>
              </a:r>
              <a:endParaRPr lang="en-US" altLang="zh-CN"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TextBox 63"/>
            <p:cNvSpPr txBox="1"/>
            <p:nvPr/>
          </p:nvSpPr>
          <p:spPr bwMode="gray">
            <a:xfrm>
              <a:off x="3950268" y="2334567"/>
              <a:ext cx="447676" cy="228927"/>
            </a:xfrm>
            <a:prstGeom prst="roundRect">
              <a:avLst/>
            </a:prstGeom>
            <a:solidFill>
              <a:srgbClr val="56C4D2"/>
            </a:solidFill>
            <a:ln>
              <a:noFill/>
            </a:ln>
          </p:spPr>
          <p:txBody>
            <a:bodyPr wrap="none" rtlCol="0" anchor="ctr" anchorCtr="0">
              <a:noAutofit/>
            </a:bodyPr>
            <a:lstStyle/>
            <a:p>
              <a:pPr algn="ctr" defTabSz="914112"/>
              <a:r>
                <a:rPr lang="zh-CN" altLang="en-US"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策略</a:t>
              </a:r>
              <a:endParaRPr lang="en-US" altLang="zh-CN"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Right Arrow 158"/>
            <p:cNvSpPr/>
            <p:nvPr/>
          </p:nvSpPr>
          <p:spPr bwMode="gray">
            <a:xfrm>
              <a:off x="2419468" y="2330921"/>
              <a:ext cx="457738" cy="233525"/>
            </a:xfrm>
            <a:prstGeom prst="rightArrow">
              <a:avLst>
                <a:gd name="adj1" fmla="val 79333"/>
                <a:gd name="adj2" fmla="val 50000"/>
              </a:avLst>
            </a:prstGeom>
            <a:gradFill flip="none" rotWithShape="1">
              <a:gsLst>
                <a:gs pos="15000">
                  <a:schemeClr val="accent1">
                    <a:lumMod val="5000"/>
                    <a:lumOff val="95000"/>
                    <a:alpha val="0"/>
                  </a:schemeClr>
                </a:gs>
                <a:gs pos="81000">
                  <a:srgbClr val="56C4D2"/>
                </a:gs>
              </a:gsLst>
              <a:lin ang="0" scaled="1"/>
              <a:tileRect/>
            </a:gradFill>
            <a:ln w="9525">
              <a:gradFill flip="none" rotWithShape="1">
                <a:gsLst>
                  <a:gs pos="11000">
                    <a:schemeClr val="accent1">
                      <a:lumMod val="0"/>
                      <a:lumOff val="100000"/>
                      <a:alpha val="0"/>
                    </a:schemeClr>
                  </a:gs>
                  <a:gs pos="67000">
                    <a:srgbClr val="56C4D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Right Arrow 158"/>
            <p:cNvSpPr/>
            <p:nvPr/>
          </p:nvSpPr>
          <p:spPr bwMode="gray">
            <a:xfrm>
              <a:off x="3405459" y="2330921"/>
              <a:ext cx="457738" cy="233525"/>
            </a:xfrm>
            <a:prstGeom prst="rightArrow">
              <a:avLst>
                <a:gd name="adj1" fmla="val 79333"/>
                <a:gd name="adj2" fmla="val 50000"/>
              </a:avLst>
            </a:prstGeom>
            <a:gradFill flip="none" rotWithShape="1">
              <a:gsLst>
                <a:gs pos="15000">
                  <a:schemeClr val="accent1">
                    <a:lumMod val="5000"/>
                    <a:lumOff val="95000"/>
                    <a:alpha val="0"/>
                  </a:schemeClr>
                </a:gs>
                <a:gs pos="81000">
                  <a:srgbClr val="56C4D2"/>
                </a:gs>
              </a:gsLst>
              <a:lin ang="0" scaled="1"/>
              <a:tileRect/>
            </a:gradFill>
            <a:ln w="9525">
              <a:gradFill flip="none" rotWithShape="1">
                <a:gsLst>
                  <a:gs pos="11000">
                    <a:schemeClr val="accent1">
                      <a:lumMod val="0"/>
                      <a:lumOff val="100000"/>
                      <a:alpha val="0"/>
                    </a:schemeClr>
                  </a:gs>
                  <a:gs pos="67000">
                    <a:srgbClr val="56C4D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41"/>
            <p:cNvSpPr/>
            <p:nvPr/>
          </p:nvSpPr>
          <p:spPr bwMode="gray">
            <a:xfrm>
              <a:off x="3411953" y="1559117"/>
              <a:ext cx="1103908" cy="211435"/>
            </a:xfrm>
            <a:prstGeom prst="roundRect">
              <a:avLst>
                <a:gd name="adj" fmla="val 50000"/>
              </a:avLst>
            </a:prstGeom>
            <a:solidFill>
              <a:srgbClr val="56C4D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Autofit/>
            </a:bodyPr>
            <a:lstStyle/>
            <a:p>
              <a:pPr algn="ctr" defTabSz="2436959" eaLnBrk="0" fontAlgn="base">
                <a:spcBef>
                  <a:spcPct val="0"/>
                </a:spcBef>
                <a:spcAft>
                  <a:spcPct val="0"/>
                </a:spcAft>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一站式管理平台</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43" name="组合 42"/>
            <p:cNvGrpSpPr/>
            <p:nvPr/>
          </p:nvGrpSpPr>
          <p:grpSpPr bwMode="gray">
            <a:xfrm>
              <a:off x="2480791" y="2681575"/>
              <a:ext cx="1496420" cy="290930"/>
              <a:chOff x="1859158" y="3463346"/>
              <a:chExt cx="1496420" cy="290930"/>
            </a:xfrm>
          </p:grpSpPr>
          <p:sp>
            <p:nvSpPr>
              <p:cNvPr id="44" name="矩形 43"/>
              <p:cNvSpPr/>
              <p:nvPr/>
            </p:nvSpPr>
            <p:spPr bwMode="gray">
              <a:xfrm>
                <a:off x="1859158" y="3463346"/>
                <a:ext cx="1496420" cy="2693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5" name="图片 44"/>
              <p:cNvPicPr>
                <a:picLocks noChangeAspect="1"/>
              </p:cNvPicPr>
              <p:nvPr/>
            </p:nvPicPr>
            <p:blipFill rotWithShape="1">
              <a:blip r:embed="rId3" cstate="print">
                <a:extLst>
                  <a:ext uri="{28A0092B-C50C-407E-A947-70E740481C1C}">
                    <a14:useLocalDpi xmlns:a14="http://schemas.microsoft.com/office/drawing/2010/main" val="0"/>
                  </a:ext>
                </a:extLst>
              </a:blip>
              <a:srcRect b="80571"/>
              <a:stretch/>
            </p:blipFill>
            <p:spPr bwMode="gray">
              <a:xfrm>
                <a:off x="1963145" y="3468480"/>
                <a:ext cx="1288446" cy="285796"/>
              </a:xfrm>
              <a:prstGeom prst="rect">
                <a:avLst/>
              </a:prstGeom>
            </p:spPr>
          </p:pic>
        </p:grpSp>
      </p:grpSp>
      <p:pic>
        <p:nvPicPr>
          <p:cNvPr id="46" name="Picture 3" descr="E:\01转移\PTT元素\射光-01.png"/>
          <p:cNvPicPr>
            <a:picLocks noChangeAspect="1" noChangeArrowheads="1"/>
          </p:cNvPicPr>
          <p:nvPr/>
        </p:nvPicPr>
        <p:blipFill>
          <a:blip r:embed="rId4"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gray">
          <a:xfrm rot="10800000">
            <a:off x="845036" y="2860624"/>
            <a:ext cx="4767929" cy="406785"/>
          </a:xfrm>
          <a:prstGeom prst="rect">
            <a:avLst/>
          </a:prstGeom>
          <a:noFill/>
          <a:extLst>
            <a:ext uri="{909E8E84-426E-40DD-AFC4-6F175D3DCCD1}">
              <a14:hiddenFill xmlns:a14="http://schemas.microsoft.com/office/drawing/2010/main">
                <a:solidFill>
                  <a:srgbClr val="FFFFFF"/>
                </a:solidFill>
              </a14:hiddenFill>
            </a:ext>
          </a:extLst>
        </p:spPr>
      </p:pic>
      <p:sp>
        <p:nvSpPr>
          <p:cNvPr id="47" name="矩形 46"/>
          <p:cNvSpPr/>
          <p:nvPr/>
        </p:nvSpPr>
        <p:spPr bwMode="gray">
          <a:xfrm>
            <a:off x="2525121" y="2940054"/>
            <a:ext cx="1407758" cy="276999"/>
          </a:xfrm>
          <a:prstGeom prst="rect">
            <a:avLst/>
          </a:prstGeom>
          <a:noFill/>
          <a:ln>
            <a:noFill/>
          </a:ln>
          <a:effectLst/>
        </p:spPr>
        <p:txBody>
          <a:bodyPr wrap="none">
            <a:sp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NETCONF/YANG</a:t>
            </a:r>
          </a:p>
        </p:txBody>
      </p:sp>
      <p:pic>
        <p:nvPicPr>
          <p:cNvPr id="48" name="图片 76" descr="接入交换机.png"/>
          <p:cNvPicPr>
            <a:picLocks noChangeAspect="1"/>
          </p:cNvPicPr>
          <p:nvPr/>
        </p:nvPicPr>
        <p:blipFill>
          <a:blip r:embed="rId5" cstate="print"/>
          <a:stretch>
            <a:fillRect/>
          </a:stretch>
        </p:blipFill>
        <p:spPr bwMode="gray">
          <a:xfrm>
            <a:off x="628285" y="4616516"/>
            <a:ext cx="251914" cy="206112"/>
          </a:xfrm>
          <a:prstGeom prst="rect">
            <a:avLst/>
          </a:prstGeom>
        </p:spPr>
      </p:pic>
      <p:pic>
        <p:nvPicPr>
          <p:cNvPr id="49" name="图片 105" descr="AP.png"/>
          <p:cNvPicPr>
            <a:picLocks noChangeAspect="1"/>
          </p:cNvPicPr>
          <p:nvPr/>
        </p:nvPicPr>
        <p:blipFill>
          <a:blip r:embed="rId6" cstate="print"/>
          <a:stretch>
            <a:fillRect/>
          </a:stretch>
        </p:blipFill>
        <p:spPr bwMode="gray">
          <a:xfrm>
            <a:off x="1178991" y="4603999"/>
            <a:ext cx="251914" cy="206112"/>
          </a:xfrm>
          <a:prstGeom prst="rect">
            <a:avLst/>
          </a:prstGeom>
        </p:spPr>
      </p:pic>
      <p:pic>
        <p:nvPicPr>
          <p:cNvPr id="50" name="图片 86" descr="核心交换机.png"/>
          <p:cNvPicPr>
            <a:picLocks noChangeAspect="1"/>
          </p:cNvPicPr>
          <p:nvPr/>
        </p:nvPicPr>
        <p:blipFill>
          <a:blip r:embed="rId7" cstate="print"/>
          <a:stretch>
            <a:fillRect/>
          </a:stretch>
        </p:blipFill>
        <p:spPr bwMode="gray">
          <a:xfrm>
            <a:off x="1178991" y="3617058"/>
            <a:ext cx="251914" cy="206112"/>
          </a:xfrm>
          <a:prstGeom prst="rect">
            <a:avLst/>
          </a:prstGeom>
          <a:ln>
            <a:noFill/>
          </a:ln>
        </p:spPr>
      </p:pic>
      <p:pic>
        <p:nvPicPr>
          <p:cNvPr id="51" name="图片 86" descr="核心交换机.png"/>
          <p:cNvPicPr>
            <a:picLocks noChangeAspect="1"/>
          </p:cNvPicPr>
          <p:nvPr/>
        </p:nvPicPr>
        <p:blipFill>
          <a:blip r:embed="rId7" cstate="print"/>
          <a:stretch>
            <a:fillRect/>
          </a:stretch>
        </p:blipFill>
        <p:spPr bwMode="gray">
          <a:xfrm>
            <a:off x="1732197" y="3617058"/>
            <a:ext cx="251914" cy="206112"/>
          </a:xfrm>
          <a:prstGeom prst="rect">
            <a:avLst/>
          </a:prstGeom>
          <a:ln>
            <a:noFill/>
          </a:ln>
        </p:spPr>
      </p:pic>
      <p:pic>
        <p:nvPicPr>
          <p:cNvPr id="52" name="图片 87" descr="汇聚交换机.png"/>
          <p:cNvPicPr>
            <a:picLocks noChangeAspect="1"/>
          </p:cNvPicPr>
          <p:nvPr/>
        </p:nvPicPr>
        <p:blipFill>
          <a:blip r:embed="rId8" cstate="print"/>
          <a:stretch>
            <a:fillRect/>
          </a:stretch>
        </p:blipFill>
        <p:spPr bwMode="gray">
          <a:xfrm>
            <a:off x="628285" y="4118012"/>
            <a:ext cx="251914" cy="206112"/>
          </a:xfrm>
          <a:prstGeom prst="rect">
            <a:avLst/>
          </a:prstGeom>
        </p:spPr>
      </p:pic>
      <p:pic>
        <p:nvPicPr>
          <p:cNvPr id="53" name="图片 87" descr="汇聚交换机.png"/>
          <p:cNvPicPr>
            <a:picLocks noChangeAspect="1"/>
          </p:cNvPicPr>
          <p:nvPr/>
        </p:nvPicPr>
        <p:blipFill>
          <a:blip r:embed="rId8" cstate="print"/>
          <a:stretch>
            <a:fillRect/>
          </a:stretch>
        </p:blipFill>
        <p:spPr bwMode="gray">
          <a:xfrm>
            <a:off x="1178991" y="4118012"/>
            <a:ext cx="251914" cy="206112"/>
          </a:xfrm>
          <a:prstGeom prst="rect">
            <a:avLst/>
          </a:prstGeom>
        </p:spPr>
      </p:pic>
      <p:pic>
        <p:nvPicPr>
          <p:cNvPr id="54" name="图片 76" descr="接入交换机.png"/>
          <p:cNvPicPr>
            <a:picLocks noChangeAspect="1"/>
          </p:cNvPicPr>
          <p:nvPr/>
        </p:nvPicPr>
        <p:blipFill>
          <a:blip r:embed="rId5" cstate="print"/>
          <a:stretch>
            <a:fillRect/>
          </a:stretch>
        </p:blipFill>
        <p:spPr bwMode="gray">
          <a:xfrm>
            <a:off x="1732197" y="4616516"/>
            <a:ext cx="251914" cy="206112"/>
          </a:xfrm>
          <a:prstGeom prst="rect">
            <a:avLst/>
          </a:prstGeom>
        </p:spPr>
      </p:pic>
      <p:pic>
        <p:nvPicPr>
          <p:cNvPr id="55" name="图片 105" descr="AP.png"/>
          <p:cNvPicPr>
            <a:picLocks noChangeAspect="1"/>
          </p:cNvPicPr>
          <p:nvPr/>
        </p:nvPicPr>
        <p:blipFill>
          <a:blip r:embed="rId6" cstate="print"/>
          <a:stretch>
            <a:fillRect/>
          </a:stretch>
        </p:blipFill>
        <p:spPr bwMode="gray">
          <a:xfrm>
            <a:off x="2285403" y="4603999"/>
            <a:ext cx="251914" cy="206112"/>
          </a:xfrm>
          <a:prstGeom prst="rect">
            <a:avLst/>
          </a:prstGeom>
        </p:spPr>
      </p:pic>
      <p:pic>
        <p:nvPicPr>
          <p:cNvPr id="56" name="图片 87" descr="汇聚交换机.png"/>
          <p:cNvPicPr>
            <a:picLocks noChangeAspect="1"/>
          </p:cNvPicPr>
          <p:nvPr/>
        </p:nvPicPr>
        <p:blipFill>
          <a:blip r:embed="rId8" cstate="print"/>
          <a:stretch>
            <a:fillRect/>
          </a:stretch>
        </p:blipFill>
        <p:spPr bwMode="gray">
          <a:xfrm>
            <a:off x="1732197" y="4118012"/>
            <a:ext cx="251914" cy="206112"/>
          </a:xfrm>
          <a:prstGeom prst="rect">
            <a:avLst/>
          </a:prstGeom>
        </p:spPr>
      </p:pic>
      <p:pic>
        <p:nvPicPr>
          <p:cNvPr id="57" name="图片 87" descr="汇聚交换机.png"/>
          <p:cNvPicPr>
            <a:picLocks noChangeAspect="1"/>
          </p:cNvPicPr>
          <p:nvPr/>
        </p:nvPicPr>
        <p:blipFill>
          <a:blip r:embed="rId8" cstate="print"/>
          <a:stretch>
            <a:fillRect/>
          </a:stretch>
        </p:blipFill>
        <p:spPr bwMode="gray">
          <a:xfrm>
            <a:off x="2285403" y="4118012"/>
            <a:ext cx="251914" cy="206112"/>
          </a:xfrm>
          <a:prstGeom prst="rect">
            <a:avLst/>
          </a:prstGeom>
        </p:spPr>
      </p:pic>
      <p:sp>
        <p:nvSpPr>
          <p:cNvPr id="58" name="梯形 57"/>
          <p:cNvSpPr/>
          <p:nvPr/>
        </p:nvSpPr>
        <p:spPr bwMode="gray">
          <a:xfrm>
            <a:off x="562362" y="4075090"/>
            <a:ext cx="2045370" cy="499842"/>
          </a:xfrm>
          <a:prstGeom prst="trapezoid">
            <a:avLst>
              <a:gd name="adj" fmla="val 22961"/>
            </a:avLst>
          </a:prstGeom>
          <a:gradFill flip="none" rotWithShape="1">
            <a:gsLst>
              <a:gs pos="0">
                <a:schemeClr val="bg1">
                  <a:alpha val="4000"/>
                </a:schemeClr>
              </a:gs>
              <a:gs pos="100000">
                <a:srgbClr val="E3F6F8"/>
              </a:gs>
            </a:gsLst>
            <a:lin ang="5400000" scaled="1"/>
            <a:tileRect/>
          </a:gradFill>
          <a:ln>
            <a:gradFill flip="none" rotWithShape="1">
              <a:gsLst>
                <a:gs pos="0">
                  <a:schemeClr val="accent1">
                    <a:lumMod val="5000"/>
                    <a:lumOff val="95000"/>
                    <a:alpha val="0"/>
                  </a:schemeClr>
                </a:gs>
                <a:gs pos="82000">
                  <a:srgbClr val="94DAE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梯形 58"/>
          <p:cNvSpPr/>
          <p:nvPr/>
        </p:nvSpPr>
        <p:spPr bwMode="gray">
          <a:xfrm>
            <a:off x="562362" y="3552182"/>
            <a:ext cx="2045370"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9"/>
          <p:cNvSpPr/>
          <p:nvPr/>
        </p:nvSpPr>
        <p:spPr bwMode="gray">
          <a:xfrm>
            <a:off x="4301911" y="3324756"/>
            <a:ext cx="1671700" cy="1555769"/>
          </a:xfrm>
          <a:prstGeom prst="roundRect">
            <a:avLst>
              <a:gd name="adj" fmla="val 19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1" name="Picture 2" descr="G:\做的项目\公共\扁平图标切换\更新2015_01_21\oss扁平图标库2015_01_21更新-04.png"/>
          <p:cNvPicPr>
            <a:picLocks noChangeAspect="1" noChangeArrowheads="1"/>
          </p:cNvPicPr>
          <p:nvPr/>
        </p:nvPicPr>
        <p:blipFill>
          <a:blip r:embed="rId9" cstate="print"/>
          <a:stretch>
            <a:fillRect/>
          </a:stretch>
        </p:blipFill>
        <p:spPr bwMode="gray">
          <a:xfrm>
            <a:off x="4160475" y="3675288"/>
            <a:ext cx="277105" cy="226723"/>
          </a:xfrm>
          <a:prstGeom prst="rect">
            <a:avLst/>
          </a:prstGeom>
          <a:noFill/>
        </p:spPr>
      </p:pic>
      <p:sp>
        <p:nvSpPr>
          <p:cNvPr id="62" name="Freeform 159"/>
          <p:cNvSpPr/>
          <p:nvPr/>
        </p:nvSpPr>
        <p:spPr bwMode="gray">
          <a:xfrm flipH="1">
            <a:off x="3117186" y="3856266"/>
            <a:ext cx="1000430" cy="52295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WAN/</a:t>
            </a:r>
          </a:p>
          <a:p>
            <a:pPr algn="ctr"/>
            <a:r>
              <a:rPr 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63" name="直接连接符 62"/>
          <p:cNvCxnSpPr/>
          <p:nvPr/>
        </p:nvCxnSpPr>
        <p:spPr bwMode="gray">
          <a:xfrm>
            <a:off x="1299785" y="3496299"/>
            <a:ext cx="1374835" cy="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endCxn id="65" idx="2"/>
          </p:cNvCxnSpPr>
          <p:nvPr/>
        </p:nvCxnSpPr>
        <p:spPr bwMode="gray">
          <a:xfrm>
            <a:off x="2674620" y="3496299"/>
            <a:ext cx="235981" cy="405712"/>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pic>
        <p:nvPicPr>
          <p:cNvPr id="65" name="Picture 2" descr="G:\做的项目\公共\扁平图标切换\更新2015_01_21\oss扁平图标库2015_01_21更新-04.png"/>
          <p:cNvPicPr>
            <a:picLocks noChangeAspect="1" noChangeArrowheads="1"/>
          </p:cNvPicPr>
          <p:nvPr/>
        </p:nvPicPr>
        <p:blipFill>
          <a:blip r:embed="rId9" cstate="print"/>
          <a:stretch>
            <a:fillRect/>
          </a:stretch>
        </p:blipFill>
        <p:spPr bwMode="gray">
          <a:xfrm>
            <a:off x="2772048" y="3675288"/>
            <a:ext cx="277105" cy="226723"/>
          </a:xfrm>
          <a:prstGeom prst="rect">
            <a:avLst/>
          </a:prstGeom>
          <a:noFill/>
        </p:spPr>
      </p:pic>
      <p:pic>
        <p:nvPicPr>
          <p:cNvPr id="66" name="图片 105" descr="AP.png"/>
          <p:cNvPicPr>
            <a:picLocks noChangeAspect="1"/>
          </p:cNvPicPr>
          <p:nvPr/>
        </p:nvPicPr>
        <p:blipFill>
          <a:blip r:embed="rId6" cstate="print"/>
          <a:stretch>
            <a:fillRect/>
          </a:stretch>
        </p:blipFill>
        <p:spPr bwMode="gray">
          <a:xfrm>
            <a:off x="4848868" y="4137272"/>
            <a:ext cx="251914" cy="206112"/>
          </a:xfrm>
          <a:prstGeom prst="rect">
            <a:avLst/>
          </a:prstGeom>
        </p:spPr>
      </p:pic>
      <p:pic>
        <p:nvPicPr>
          <p:cNvPr id="67" name="图片 105" descr="AP.png"/>
          <p:cNvPicPr>
            <a:picLocks noChangeAspect="1"/>
          </p:cNvPicPr>
          <p:nvPr/>
        </p:nvPicPr>
        <p:blipFill>
          <a:blip r:embed="rId6" cstate="print"/>
          <a:stretch>
            <a:fillRect/>
          </a:stretch>
        </p:blipFill>
        <p:spPr bwMode="gray">
          <a:xfrm>
            <a:off x="5392354" y="4137272"/>
            <a:ext cx="251914" cy="206112"/>
          </a:xfrm>
          <a:prstGeom prst="rect">
            <a:avLst/>
          </a:prstGeom>
        </p:spPr>
      </p:pic>
      <p:pic>
        <p:nvPicPr>
          <p:cNvPr id="68" name="图片 76" descr="接入交换机.png"/>
          <p:cNvPicPr>
            <a:picLocks noChangeAspect="1"/>
          </p:cNvPicPr>
          <p:nvPr/>
        </p:nvPicPr>
        <p:blipFill>
          <a:blip r:embed="rId5" cstate="print"/>
          <a:stretch>
            <a:fillRect/>
          </a:stretch>
        </p:blipFill>
        <p:spPr bwMode="gray">
          <a:xfrm>
            <a:off x="5120611" y="3682609"/>
            <a:ext cx="251914" cy="206112"/>
          </a:xfrm>
          <a:prstGeom prst="rect">
            <a:avLst/>
          </a:prstGeom>
        </p:spPr>
      </p:pic>
      <p:sp>
        <p:nvSpPr>
          <p:cNvPr id="69" name="圆角矩形 68"/>
          <p:cNvSpPr/>
          <p:nvPr/>
        </p:nvSpPr>
        <p:spPr bwMode="gray">
          <a:xfrm>
            <a:off x="623742" y="3208288"/>
            <a:ext cx="954107" cy="189195"/>
          </a:xfrm>
          <a:prstGeom prst="roundRect">
            <a:avLst/>
          </a:prstGeom>
          <a:solidFill>
            <a:schemeClr val="bg1">
              <a:lumMod val="50000"/>
            </a:schemeClr>
          </a:solidFill>
        </p:spPr>
        <p:txBody>
          <a:bodyPr wrap="none" anchor="ctr" anchorCtr="0">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大中型园区</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0" name="圆角矩形 69"/>
          <p:cNvSpPr/>
          <p:nvPr/>
        </p:nvSpPr>
        <p:spPr bwMode="gray">
          <a:xfrm>
            <a:off x="4895471" y="3208288"/>
            <a:ext cx="954107" cy="189195"/>
          </a:xfrm>
          <a:prstGeom prst="roundRect">
            <a:avLst/>
          </a:prstGeom>
          <a:solidFill>
            <a:schemeClr val="bg1">
              <a:lumMod val="50000"/>
            </a:schemeClr>
          </a:solidFill>
        </p:spPr>
        <p:txBody>
          <a:bodyPr wrap="none" anchor="ctr" anchorCtr="0">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中小型园区</a:t>
            </a:r>
          </a:p>
        </p:txBody>
      </p:sp>
      <p:sp>
        <p:nvSpPr>
          <p:cNvPr id="71" name="圆角矩形 70"/>
          <p:cNvSpPr/>
          <p:nvPr/>
        </p:nvSpPr>
        <p:spPr bwMode="gray">
          <a:xfrm>
            <a:off x="3110668" y="3419484"/>
            <a:ext cx="954107" cy="189195"/>
          </a:xfrm>
          <a:prstGeom prst="roundRect">
            <a:avLst/>
          </a:prstGeom>
          <a:solidFill>
            <a:schemeClr val="bg1">
              <a:lumMod val="50000"/>
            </a:schemeClr>
          </a:solidFill>
        </p:spPr>
        <p:txBody>
          <a:bodyPr wrap="none" anchor="ctr" anchorCtr="0">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园区互联</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2" name="圆角矩形 71"/>
          <p:cNvSpPr/>
          <p:nvPr/>
        </p:nvSpPr>
        <p:spPr bwMode="gray">
          <a:xfrm>
            <a:off x="1640477" y="3850174"/>
            <a:ext cx="954107" cy="189195"/>
          </a:xfrm>
          <a:prstGeom prst="roundRect">
            <a:avLst/>
          </a:prstGeom>
          <a:noFill/>
        </p:spPr>
        <p:txBody>
          <a:bodyPr wrap="none" anchor="ctr" anchorCtr="0">
            <a:noAutofit/>
          </a:bodyPr>
          <a:lstStyle/>
          <a:p>
            <a:pPr algn="ct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办公虚拟网</a:t>
            </a:r>
            <a:endParaRPr lang="zh-CN" altLang="en-US" sz="11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3" name="圆角矩形 72"/>
          <p:cNvSpPr/>
          <p:nvPr/>
        </p:nvSpPr>
        <p:spPr bwMode="gray">
          <a:xfrm>
            <a:off x="1640477" y="4345994"/>
            <a:ext cx="954107" cy="189195"/>
          </a:xfrm>
          <a:prstGeom prst="roundRect">
            <a:avLst/>
          </a:prstGeom>
          <a:noFill/>
        </p:spPr>
        <p:txBody>
          <a:bodyPr wrap="none" anchor="ctr" anchorCtr="0">
            <a:noAutofit/>
          </a:bodyPr>
          <a:lstStyle/>
          <a:p>
            <a:pPr algn="ctr"/>
            <a:r>
              <a:rPr lang="zh-CN" altLang="en-US" sz="1200">
                <a:solidFill>
                  <a:srgbClr val="56C4D2"/>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研发虚拟网</a:t>
            </a:r>
            <a:endParaRPr lang="zh-CN" altLang="en-US" sz="1100" dirty="0">
              <a:solidFill>
                <a:srgbClr val="56C4D2"/>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4" name="梯形 73"/>
          <p:cNvSpPr/>
          <p:nvPr/>
        </p:nvSpPr>
        <p:spPr bwMode="gray">
          <a:xfrm>
            <a:off x="562362" y="5571045"/>
            <a:ext cx="3428844" cy="499842"/>
          </a:xfrm>
          <a:prstGeom prst="trapezoid">
            <a:avLst>
              <a:gd name="adj" fmla="val 22961"/>
            </a:avLst>
          </a:prstGeom>
          <a:gradFill flip="none" rotWithShape="1">
            <a:gsLst>
              <a:gs pos="0">
                <a:schemeClr val="bg1">
                  <a:alpha val="4000"/>
                </a:schemeClr>
              </a:gs>
              <a:gs pos="100000">
                <a:srgbClr val="E3F6F8"/>
              </a:gs>
            </a:gsLst>
            <a:lin ang="5400000" scaled="1"/>
            <a:tileRect/>
          </a:gradFill>
          <a:ln>
            <a:gradFill flip="none" rotWithShape="1">
              <a:gsLst>
                <a:gs pos="0">
                  <a:schemeClr val="accent1">
                    <a:lumMod val="5000"/>
                    <a:lumOff val="95000"/>
                    <a:alpha val="0"/>
                  </a:schemeClr>
                </a:gs>
                <a:gs pos="82000">
                  <a:srgbClr val="94DAE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梯形 74"/>
          <p:cNvSpPr/>
          <p:nvPr/>
        </p:nvSpPr>
        <p:spPr bwMode="gray">
          <a:xfrm>
            <a:off x="562362" y="5048137"/>
            <a:ext cx="3428844"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圆角矩形 75"/>
          <p:cNvSpPr/>
          <p:nvPr/>
        </p:nvSpPr>
        <p:spPr bwMode="gray">
          <a:xfrm>
            <a:off x="640070" y="5323374"/>
            <a:ext cx="954107" cy="189195"/>
          </a:xfrm>
          <a:prstGeom prst="roundRect">
            <a:avLst/>
          </a:prstGeom>
          <a:noFill/>
        </p:spPr>
        <p:txBody>
          <a:bodyPr wrap="none" anchor="ctr" anchorCtr="0">
            <a:noAutofit/>
          </a:bodyPr>
          <a:lstStyle/>
          <a:p>
            <a:pPr algn="ctr"/>
            <a:r>
              <a:rPr lang="zh-CN" altLang="en-US" sz="120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办公虚拟网</a:t>
            </a:r>
            <a:endParaRPr lang="zh-CN" altLang="en-US" sz="11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7" name="圆角矩形 76"/>
          <p:cNvSpPr/>
          <p:nvPr/>
        </p:nvSpPr>
        <p:spPr bwMode="gray">
          <a:xfrm>
            <a:off x="640070" y="5819194"/>
            <a:ext cx="954107" cy="189195"/>
          </a:xfrm>
          <a:prstGeom prst="roundRect">
            <a:avLst/>
          </a:prstGeom>
          <a:noFill/>
        </p:spPr>
        <p:txBody>
          <a:bodyPr wrap="none" anchor="ctr" anchorCtr="0">
            <a:noAutofit/>
          </a:bodyPr>
          <a:lstStyle/>
          <a:p>
            <a:pPr algn="ctr"/>
            <a:r>
              <a:rPr lang="zh-CN" altLang="en-US" sz="1200" dirty="0">
                <a:solidFill>
                  <a:srgbClr val="56C4D2"/>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研发虚拟网</a:t>
            </a:r>
            <a:endParaRPr lang="zh-CN" altLang="en-US" sz="1100" dirty="0">
              <a:solidFill>
                <a:srgbClr val="56C4D2"/>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8" name="圆角矩形 77"/>
          <p:cNvSpPr/>
          <p:nvPr/>
        </p:nvSpPr>
        <p:spPr bwMode="gray">
          <a:xfrm>
            <a:off x="1702772" y="5263386"/>
            <a:ext cx="592425" cy="189195"/>
          </a:xfrm>
          <a:prstGeom prst="roundRect">
            <a:avLst/>
          </a:prstGeom>
          <a:solidFill>
            <a:srgbClr val="FF9999"/>
          </a:solidFill>
        </p:spPr>
        <p:txBody>
          <a:bodyPr wrap="none"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9" name="圆角矩形 78"/>
          <p:cNvSpPr/>
          <p:nvPr/>
        </p:nvSpPr>
        <p:spPr bwMode="gray">
          <a:xfrm>
            <a:off x="2505043" y="5263386"/>
            <a:ext cx="592425" cy="189195"/>
          </a:xfrm>
          <a:prstGeom prst="roundRect">
            <a:avLst/>
          </a:prstGeom>
          <a:solidFill>
            <a:srgbClr val="FF9999"/>
          </a:solidFill>
        </p:spPr>
        <p:txBody>
          <a:bodyPr wrap="none"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0" name="圆角矩形 79"/>
          <p:cNvSpPr/>
          <p:nvPr/>
        </p:nvSpPr>
        <p:spPr bwMode="gray">
          <a:xfrm>
            <a:off x="3307314" y="5263386"/>
            <a:ext cx="592425" cy="189195"/>
          </a:xfrm>
          <a:prstGeom prst="roundRect">
            <a:avLst/>
          </a:prstGeom>
          <a:solidFill>
            <a:srgbClr val="FF9999"/>
          </a:solidFill>
        </p:spPr>
        <p:txBody>
          <a:bodyPr wrap="none" anchor="ctr" anchorCtr="0">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1" name="圆角矩形 80"/>
          <p:cNvSpPr/>
          <p:nvPr/>
        </p:nvSpPr>
        <p:spPr bwMode="gray">
          <a:xfrm>
            <a:off x="1702772" y="5819194"/>
            <a:ext cx="592425" cy="189195"/>
          </a:xfrm>
          <a:prstGeom prst="roundRect">
            <a:avLst/>
          </a:prstGeom>
          <a:solidFill>
            <a:schemeClr val="accent1">
              <a:lumMod val="60000"/>
              <a:lumOff val="40000"/>
            </a:schemeClr>
          </a:solidFill>
        </p:spPr>
        <p:txBody>
          <a:bodyPr wrap="none" anchor="ctr" anchorCtr="0">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4</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2" name="圆角矩形 81"/>
          <p:cNvSpPr/>
          <p:nvPr/>
        </p:nvSpPr>
        <p:spPr bwMode="gray">
          <a:xfrm>
            <a:off x="3308854" y="5819194"/>
            <a:ext cx="592425" cy="189195"/>
          </a:xfrm>
          <a:prstGeom prst="roundRect">
            <a:avLst/>
          </a:prstGeom>
          <a:solidFill>
            <a:schemeClr val="accent1">
              <a:lumMod val="60000"/>
              <a:lumOff val="40000"/>
            </a:schemeClr>
          </a:solidFill>
        </p:spPr>
        <p:txBody>
          <a:bodyPr wrap="none"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5</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3" name="弧形 82"/>
          <p:cNvSpPr/>
          <p:nvPr/>
        </p:nvSpPr>
        <p:spPr bwMode="gray">
          <a:xfrm>
            <a:off x="2085303" y="5048137"/>
            <a:ext cx="591241" cy="367114"/>
          </a:xfrm>
          <a:prstGeom prst="arc">
            <a:avLst>
              <a:gd name="adj1" fmla="val 11049573"/>
              <a:gd name="adj2" fmla="val 0"/>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弧形 83"/>
          <p:cNvSpPr/>
          <p:nvPr/>
        </p:nvSpPr>
        <p:spPr bwMode="gray">
          <a:xfrm>
            <a:off x="2906771" y="5048137"/>
            <a:ext cx="591241" cy="367114"/>
          </a:xfrm>
          <a:prstGeom prst="arc">
            <a:avLst>
              <a:gd name="adj1" fmla="val 11049573"/>
              <a:gd name="adj2" fmla="val 0"/>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弧形 84"/>
          <p:cNvSpPr/>
          <p:nvPr/>
        </p:nvSpPr>
        <p:spPr bwMode="gray">
          <a:xfrm>
            <a:off x="2215740" y="5621120"/>
            <a:ext cx="1152162" cy="367114"/>
          </a:xfrm>
          <a:prstGeom prst="arc">
            <a:avLst>
              <a:gd name="adj1" fmla="val 11049573"/>
              <a:gd name="adj2" fmla="val 0"/>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6" name="组合 85"/>
          <p:cNvGrpSpPr>
            <a:grpSpLocks noChangeAspect="1"/>
          </p:cNvGrpSpPr>
          <p:nvPr/>
        </p:nvGrpSpPr>
        <p:grpSpPr bwMode="gray">
          <a:xfrm>
            <a:off x="2310555" y="4982495"/>
            <a:ext cx="166104" cy="166104"/>
            <a:chOff x="10441953" y="5633214"/>
            <a:chExt cx="264000" cy="264000"/>
          </a:xfrm>
        </p:grpSpPr>
        <p:sp>
          <p:nvSpPr>
            <p:cNvPr id="87" name="椭圆 86"/>
            <p:cNvSpPr>
              <a:spLocks noChangeAspect="1"/>
            </p:cNvSpPr>
            <p:nvPr/>
          </p:nvSpPr>
          <p:spPr bwMode="gray">
            <a:xfrm>
              <a:off x="10441953" y="5633214"/>
              <a:ext cx="264000" cy="264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任意多边形 87"/>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127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9" name="组合 28"/>
          <p:cNvGrpSpPr/>
          <p:nvPr/>
        </p:nvGrpSpPr>
        <p:grpSpPr bwMode="gray">
          <a:xfrm>
            <a:off x="3106824" y="4985091"/>
            <a:ext cx="163115" cy="163118"/>
            <a:chOff x="5076056" y="3356992"/>
            <a:chExt cx="436268" cy="436277"/>
          </a:xfrm>
        </p:grpSpPr>
        <p:sp>
          <p:nvSpPr>
            <p:cNvPr id="90"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禁止符 23"/>
            <p:cNvSpPr/>
            <p:nvPr/>
          </p:nvSpPr>
          <p:spPr bwMode="gray">
            <a:xfrm>
              <a:off x="5076056" y="3357000"/>
              <a:ext cx="436268" cy="436269"/>
            </a:xfrm>
            <a:prstGeom prst="noSmoking">
              <a:avLst>
                <a:gd name="adj" fmla="val 1547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2" name="组合 28"/>
          <p:cNvGrpSpPr/>
          <p:nvPr/>
        </p:nvGrpSpPr>
        <p:grpSpPr bwMode="gray">
          <a:xfrm>
            <a:off x="2719697" y="5571045"/>
            <a:ext cx="163115" cy="163118"/>
            <a:chOff x="5076056" y="3356992"/>
            <a:chExt cx="436268" cy="436277"/>
          </a:xfrm>
        </p:grpSpPr>
        <p:sp>
          <p:nvSpPr>
            <p:cNvPr id="93"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禁止符 23"/>
            <p:cNvSpPr/>
            <p:nvPr/>
          </p:nvSpPr>
          <p:spPr bwMode="gray">
            <a:xfrm>
              <a:off x="5076056" y="3357000"/>
              <a:ext cx="436268" cy="436269"/>
            </a:xfrm>
            <a:prstGeom prst="noSmoking">
              <a:avLst>
                <a:gd name="adj" fmla="val 1547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5" name="矩形 94"/>
          <p:cNvSpPr/>
          <p:nvPr/>
        </p:nvSpPr>
        <p:spPr bwMode="gray">
          <a:xfrm>
            <a:off x="4128071" y="5231057"/>
            <a:ext cx="1694816" cy="784830"/>
          </a:xfrm>
          <a:prstGeom prst="rect">
            <a:avLst/>
          </a:prstGeom>
        </p:spPr>
        <p:txBody>
          <a:bodyPr wrap="square">
            <a:spAutoFit/>
          </a:bodyPr>
          <a:lstStyle/>
          <a:p>
            <a:pPr marL="171450" indent="-171450">
              <a:lnSpc>
                <a:spcPts val="18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访问策略</a:t>
            </a:r>
          </a:p>
          <a:p>
            <a:pPr marL="171450" indent="-171450">
              <a:lnSpc>
                <a:spcPts val="18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带宽</a:t>
            </a:r>
          </a:p>
          <a:p>
            <a:pPr marL="171450" indent="-171450">
              <a:lnSpc>
                <a:spcPts val="18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优先级</a:t>
            </a:r>
          </a:p>
        </p:txBody>
      </p:sp>
      <p:sp>
        <p:nvSpPr>
          <p:cNvPr id="103" name="圆角矩形 102"/>
          <p:cNvSpPr/>
          <p:nvPr/>
        </p:nvSpPr>
        <p:spPr bwMode="gray">
          <a:xfrm>
            <a:off x="6257364" y="1054035"/>
            <a:ext cx="5415827" cy="331135"/>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网络开通“快”，部署效率提升</a:t>
            </a:r>
            <a:endParaRPr lang="en-US" altLang="zh-CN" sz="16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圆角矩形 103"/>
          <p:cNvSpPr/>
          <p:nvPr/>
        </p:nvSpPr>
        <p:spPr bwMode="gray">
          <a:xfrm>
            <a:off x="6257363" y="1430108"/>
            <a:ext cx="5415827" cy="695124"/>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设备即插即用：设备极简开局，场景导航，模板配置。</a:t>
            </a:r>
          </a:p>
          <a:p>
            <a:pPr marL="176213" indent="-176213">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网络极简部署：网络资源池化，一网多用，业务自动化发放。</a:t>
            </a:r>
          </a:p>
        </p:txBody>
      </p:sp>
      <p:sp>
        <p:nvSpPr>
          <p:cNvPr id="105" name="圆角矩形 104"/>
          <p:cNvSpPr/>
          <p:nvPr/>
        </p:nvSpPr>
        <p:spPr bwMode="gray">
          <a:xfrm>
            <a:off x="6257364" y="2204036"/>
            <a:ext cx="5415827" cy="331135"/>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业务发放“快”，用户体验提升</a:t>
            </a:r>
            <a:endParaRPr lang="en-US" altLang="zh-CN" sz="16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圆角矩形 105"/>
          <p:cNvSpPr/>
          <p:nvPr/>
        </p:nvSpPr>
        <p:spPr bwMode="gray">
          <a:xfrm>
            <a:off x="6257363" y="2580109"/>
            <a:ext cx="5415827" cy="1467051"/>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业务随行：图形化策略配置，用户随时随地接入，漫游权限不变，体验不变。</a:t>
            </a:r>
          </a:p>
          <a:p>
            <a:pPr marL="176213" indent="-176213">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终端智能识别：终端接入防仿冒，终端智能识别准确率高于</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95%</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p>
            <a:pPr marL="176213" indent="-176213">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智能</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HQoS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：基于应用调度和整形，带宽精细化管理，保证关键用户业务体验。</a:t>
            </a:r>
          </a:p>
        </p:txBody>
      </p:sp>
      <p:sp>
        <p:nvSpPr>
          <p:cNvPr id="107" name="圆角矩形 106"/>
          <p:cNvSpPr/>
          <p:nvPr/>
        </p:nvSpPr>
        <p:spPr bwMode="gray">
          <a:xfrm>
            <a:off x="6257364" y="4111594"/>
            <a:ext cx="5415827" cy="331135"/>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b="1"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智能运维“快”，整网性能提升</a:t>
            </a:r>
            <a:endParaRPr lang="en-US" altLang="zh-CN" sz="1600" b="1"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圆角矩形 107"/>
          <p:cNvSpPr/>
          <p:nvPr/>
        </p:nvSpPr>
        <p:spPr bwMode="gray">
          <a:xfrm>
            <a:off x="6257363" y="4487666"/>
            <a:ext cx="5415827" cy="1658804"/>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实时体验可视：基于</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Telemetry</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的每时刻、每用户、每区域的网络体验可视。</a:t>
            </a:r>
          </a:p>
          <a:p>
            <a:pPr marL="176213" indent="-176213">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精准故障分析：主动识别典型网络问题并给出建议，实时数据对比分析故障预测。</a:t>
            </a:r>
          </a:p>
          <a:p>
            <a:pPr marL="176213" indent="-176213">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智能网络调优：基于历史数据的无线网络预测性调优，提升整网性能。</a:t>
            </a:r>
            <a:endParaRPr lang="zh-CN" altLang="en-US" sz="1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12201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CloudCampus</a:t>
            </a:r>
            <a:r>
              <a:rPr lang="zh-CN" altLang="en-US" dirty="0"/>
              <a:t>亮点功能：极简部署</a:t>
            </a:r>
          </a:p>
        </p:txBody>
      </p:sp>
      <p:sp>
        <p:nvSpPr>
          <p:cNvPr id="4" name="圆角矩形 75"/>
          <p:cNvSpPr/>
          <p:nvPr/>
        </p:nvSpPr>
        <p:spPr bwMode="gray">
          <a:xfrm>
            <a:off x="619963" y="1002681"/>
            <a:ext cx="5476038"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物理 </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&amp;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虚拟网络自动化</a:t>
            </a:r>
          </a:p>
        </p:txBody>
      </p:sp>
      <p:sp>
        <p:nvSpPr>
          <p:cNvPr id="5" name="圆角矩形 75"/>
          <p:cNvSpPr/>
          <p:nvPr/>
        </p:nvSpPr>
        <p:spPr bwMode="gray">
          <a:xfrm>
            <a:off x="619963" y="1448974"/>
            <a:ext cx="5476038" cy="4751801"/>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物理网络自动化：设备预配置，即插即用。</a:t>
            </a:r>
            <a:endParaRPr lang="en-US" altLang="zh-CN"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lvl="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控制器图形化界面，完成设备即插即用自动化开局和</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网络路由编排、互通性配置，实现自动化部署。</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zh-CN" altLang="en-US"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虚拟网络自动化：自动化构建虚拟网络，实现一网多用。</a:t>
            </a:r>
            <a:endParaRPr lang="en-US" altLang="zh-CN"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统一部署</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的控制面，自动建立</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隧道，实现全自动化的虚拟化网络建设，并进行业务集中式配置，实现业务自动发放。</a:t>
            </a:r>
          </a:p>
        </p:txBody>
      </p:sp>
      <p:sp>
        <p:nvSpPr>
          <p:cNvPr id="36" name="梯形 35"/>
          <p:cNvSpPr/>
          <p:nvPr/>
        </p:nvSpPr>
        <p:spPr bwMode="gray">
          <a:xfrm>
            <a:off x="752909" y="4863958"/>
            <a:ext cx="5029732" cy="1241996"/>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100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 name="直接连接符 38"/>
          <p:cNvCxnSpPr>
            <a:stCxn id="46" idx="1"/>
            <a:endCxn id="50" idx="1"/>
          </p:cNvCxnSpPr>
          <p:nvPr/>
        </p:nvCxnSpPr>
        <p:spPr bwMode="gray">
          <a:xfrm flipH="1" flipV="1">
            <a:off x="2322534" y="5399771"/>
            <a:ext cx="931823" cy="352588"/>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45" idx="1"/>
            <a:endCxn id="50" idx="1"/>
          </p:cNvCxnSpPr>
          <p:nvPr/>
        </p:nvCxnSpPr>
        <p:spPr bwMode="gray">
          <a:xfrm flipH="1">
            <a:off x="2322534" y="5151446"/>
            <a:ext cx="587296" cy="248325"/>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46" idx="3"/>
            <a:endCxn id="47" idx="1"/>
          </p:cNvCxnSpPr>
          <p:nvPr/>
        </p:nvCxnSpPr>
        <p:spPr bwMode="gray">
          <a:xfrm>
            <a:off x="3597790" y="5752359"/>
            <a:ext cx="519414"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45" idx="3"/>
            <a:endCxn id="48" idx="1"/>
          </p:cNvCxnSpPr>
          <p:nvPr/>
        </p:nvCxnSpPr>
        <p:spPr bwMode="gray">
          <a:xfrm>
            <a:off x="3253263" y="5151449"/>
            <a:ext cx="547186"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7" idx="3"/>
            <a:endCxn id="54" idx="1"/>
          </p:cNvCxnSpPr>
          <p:nvPr/>
        </p:nvCxnSpPr>
        <p:spPr bwMode="gray">
          <a:xfrm>
            <a:off x="4460637" y="5752362"/>
            <a:ext cx="285784" cy="1"/>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5" name="图片 87" descr="汇聚交换机.png"/>
          <p:cNvPicPr>
            <a:picLocks noChangeAspect="1"/>
          </p:cNvPicPr>
          <p:nvPr/>
        </p:nvPicPr>
        <p:blipFill>
          <a:blip r:embed="rId3"/>
          <a:stretch>
            <a:fillRect/>
          </a:stretch>
        </p:blipFill>
        <p:spPr bwMode="gray">
          <a:xfrm>
            <a:off x="2909830" y="5010950"/>
            <a:ext cx="343433" cy="280992"/>
          </a:xfrm>
          <a:prstGeom prst="rect">
            <a:avLst/>
          </a:prstGeom>
        </p:spPr>
      </p:pic>
      <p:pic>
        <p:nvPicPr>
          <p:cNvPr id="46" name="图片 87" descr="汇聚交换机.png"/>
          <p:cNvPicPr>
            <a:picLocks noChangeAspect="1"/>
          </p:cNvPicPr>
          <p:nvPr/>
        </p:nvPicPr>
        <p:blipFill>
          <a:blip r:embed="rId3"/>
          <a:stretch>
            <a:fillRect/>
          </a:stretch>
        </p:blipFill>
        <p:spPr bwMode="gray">
          <a:xfrm>
            <a:off x="3254357" y="5611863"/>
            <a:ext cx="343433" cy="280992"/>
          </a:xfrm>
          <a:prstGeom prst="rect">
            <a:avLst/>
          </a:prstGeom>
        </p:spPr>
      </p:pic>
      <p:pic>
        <p:nvPicPr>
          <p:cNvPr id="47" name="图片 76" descr="接入交换机.png"/>
          <p:cNvPicPr>
            <a:picLocks noChangeAspect="1"/>
          </p:cNvPicPr>
          <p:nvPr/>
        </p:nvPicPr>
        <p:blipFill>
          <a:blip r:embed="rId4"/>
          <a:stretch>
            <a:fillRect/>
          </a:stretch>
        </p:blipFill>
        <p:spPr bwMode="gray">
          <a:xfrm>
            <a:off x="4117204" y="5611863"/>
            <a:ext cx="343433" cy="280992"/>
          </a:xfrm>
          <a:prstGeom prst="rect">
            <a:avLst/>
          </a:prstGeom>
        </p:spPr>
      </p:pic>
      <p:pic>
        <p:nvPicPr>
          <p:cNvPr id="48" name="图片 47" descr="接入交换机.png"/>
          <p:cNvPicPr>
            <a:picLocks noChangeAspect="1"/>
          </p:cNvPicPr>
          <p:nvPr/>
        </p:nvPicPr>
        <p:blipFill>
          <a:blip r:embed="rId4"/>
          <a:stretch>
            <a:fillRect/>
          </a:stretch>
        </p:blipFill>
        <p:spPr bwMode="gray">
          <a:xfrm>
            <a:off x="3800449" y="5010950"/>
            <a:ext cx="343433" cy="280992"/>
          </a:xfrm>
          <a:prstGeom prst="rect">
            <a:avLst/>
          </a:prstGeom>
        </p:spPr>
      </p:pic>
      <p:cxnSp>
        <p:nvCxnSpPr>
          <p:cNvPr id="49" name="直接连接符 48"/>
          <p:cNvCxnSpPr/>
          <p:nvPr/>
        </p:nvCxnSpPr>
        <p:spPr bwMode="gray">
          <a:xfrm>
            <a:off x="1723145" y="5395773"/>
            <a:ext cx="796587"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0" name="图片 86" descr="核心交换机.png"/>
          <p:cNvPicPr>
            <a:picLocks noChangeAspect="1"/>
          </p:cNvPicPr>
          <p:nvPr/>
        </p:nvPicPr>
        <p:blipFill>
          <a:blip r:embed="rId5"/>
          <a:stretch>
            <a:fillRect/>
          </a:stretch>
        </p:blipFill>
        <p:spPr bwMode="gray">
          <a:xfrm>
            <a:off x="2322534" y="5259275"/>
            <a:ext cx="343433" cy="280992"/>
          </a:xfrm>
          <a:prstGeom prst="rect">
            <a:avLst/>
          </a:prstGeom>
        </p:spPr>
      </p:pic>
      <p:pic>
        <p:nvPicPr>
          <p:cNvPr id="51"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1578590" y="5262604"/>
            <a:ext cx="335297" cy="274335"/>
          </a:xfrm>
          <a:prstGeom prst="rect">
            <a:avLst/>
          </a:prstGeom>
        </p:spPr>
      </p:pic>
      <p:sp>
        <p:nvSpPr>
          <p:cNvPr id="52" name="矩形 51"/>
          <p:cNvSpPr/>
          <p:nvPr/>
        </p:nvSpPr>
        <p:spPr bwMode="gray">
          <a:xfrm>
            <a:off x="863883" y="5784109"/>
            <a:ext cx="2317207" cy="305105"/>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（物理网络层）</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4" name="图片 105" descr="AP.png"/>
          <p:cNvPicPr>
            <a:picLocks noChangeAspect="1"/>
          </p:cNvPicPr>
          <p:nvPr/>
        </p:nvPicPr>
        <p:blipFill>
          <a:blip r:embed="rId7"/>
          <a:stretch>
            <a:fillRect/>
          </a:stretch>
        </p:blipFill>
        <p:spPr bwMode="gray">
          <a:xfrm>
            <a:off x="4746421" y="5615192"/>
            <a:ext cx="335297" cy="274335"/>
          </a:xfrm>
          <a:prstGeom prst="rect">
            <a:avLst/>
          </a:prstGeom>
        </p:spPr>
      </p:pic>
      <p:sp>
        <p:nvSpPr>
          <p:cNvPr id="114" name="矩形 113"/>
          <p:cNvSpPr/>
          <p:nvPr/>
        </p:nvSpPr>
        <p:spPr bwMode="gray">
          <a:xfrm>
            <a:off x="3272430" y="5314850"/>
            <a:ext cx="619080" cy="307777"/>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142" name="梯形 141"/>
          <p:cNvSpPr/>
          <p:nvPr/>
        </p:nvSpPr>
        <p:spPr bwMode="gray">
          <a:xfrm>
            <a:off x="752909" y="4280170"/>
            <a:ext cx="5029732" cy="1088958"/>
          </a:xfrm>
          <a:prstGeom prst="trapezoid">
            <a:avLst>
              <a:gd name="adj" fmla="val 22961"/>
            </a:avLst>
          </a:prstGeom>
          <a:gradFill flip="none" rotWithShape="1">
            <a:gsLst>
              <a:gs pos="0">
                <a:schemeClr val="bg1">
                  <a:alpha val="0"/>
                </a:schemeClr>
              </a:gs>
              <a:gs pos="100000">
                <a:schemeClr val="bg1">
                  <a:lumMod val="85000"/>
                </a:schemeClr>
              </a:gs>
            </a:gsLst>
            <a:lin ang="5400000" scaled="1"/>
          </a:gradFill>
          <a:ln>
            <a:gradFill flip="none" rotWithShape="1">
              <a:gsLst>
                <a:gs pos="0">
                  <a:schemeClr val="accent1">
                    <a:lumMod val="5000"/>
                    <a:lumOff val="95000"/>
                  </a:schemeClr>
                </a:gs>
                <a:gs pos="100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任意多边形 37"/>
          <p:cNvSpPr/>
          <p:nvPr/>
        </p:nvSpPr>
        <p:spPr bwMode="gray">
          <a:xfrm>
            <a:off x="1595740" y="4205955"/>
            <a:ext cx="1453587" cy="765854"/>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矩形 142"/>
          <p:cNvSpPr/>
          <p:nvPr/>
        </p:nvSpPr>
        <p:spPr bwMode="gray">
          <a:xfrm>
            <a:off x="863883" y="5015434"/>
            <a:ext cx="2317207" cy="305105"/>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（虚拟网络层）</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5" name="组合 154"/>
          <p:cNvGrpSpPr/>
          <p:nvPr/>
        </p:nvGrpSpPr>
        <p:grpSpPr>
          <a:xfrm>
            <a:off x="1668345" y="4283808"/>
            <a:ext cx="1308376" cy="651882"/>
            <a:chOff x="6029197" y="3388179"/>
            <a:chExt cx="1308376" cy="651882"/>
          </a:xfrm>
        </p:grpSpPr>
        <p:grpSp>
          <p:nvGrpSpPr>
            <p:cNvPr id="144" name="组合 143"/>
            <p:cNvGrpSpPr/>
            <p:nvPr/>
          </p:nvGrpSpPr>
          <p:grpSpPr bwMode="gray">
            <a:xfrm>
              <a:off x="6175402" y="3443071"/>
              <a:ext cx="408974" cy="501029"/>
              <a:chOff x="7493569" y="5008689"/>
              <a:chExt cx="942613" cy="761221"/>
            </a:xfrm>
          </p:grpSpPr>
          <p:cxnSp>
            <p:nvCxnSpPr>
              <p:cNvPr id="145" name="直接连接符 144"/>
              <p:cNvCxnSpPr>
                <a:stCxn id="150" idx="1"/>
              </p:cNvCxnSpPr>
              <p:nvPr/>
            </p:nvCxnSpPr>
            <p:spPr bwMode="gray">
              <a:xfrm flipH="1" flipV="1">
                <a:off x="7493569" y="5598791"/>
                <a:ext cx="847761" cy="171119"/>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bwMode="gray">
              <a:xfrm flipH="1">
                <a:off x="7588319" y="5008689"/>
                <a:ext cx="847863" cy="456494"/>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grpSp>
        <p:cxnSp>
          <p:nvCxnSpPr>
            <p:cNvPr id="147" name="直接连接符 146"/>
            <p:cNvCxnSpPr>
              <a:stCxn id="150" idx="3"/>
              <a:endCxn id="151" idx="1"/>
            </p:cNvCxnSpPr>
            <p:nvPr/>
          </p:nvCxnSpPr>
          <p:spPr bwMode="gray">
            <a:xfrm>
              <a:off x="6777790" y="3944100"/>
              <a:ext cx="241810"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a:stCxn id="149" idx="3"/>
              <a:endCxn id="152" idx="1"/>
            </p:cNvCxnSpPr>
            <p:nvPr/>
          </p:nvCxnSpPr>
          <p:spPr bwMode="gray">
            <a:xfrm>
              <a:off x="6646695" y="3484140"/>
              <a:ext cx="242904"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pic>
          <p:nvPicPr>
            <p:cNvPr id="149" name="图片 87" descr="汇聚交换机.png"/>
            <p:cNvPicPr>
              <a:picLocks noChangeAspect="1"/>
            </p:cNvPicPr>
            <p:nvPr/>
          </p:nvPicPr>
          <p:blipFill>
            <a:blip r:embed="rId3"/>
            <a:stretch>
              <a:fillRect/>
            </a:stretch>
          </p:blipFill>
          <p:spPr bwMode="gray">
            <a:xfrm>
              <a:off x="6412126" y="3388179"/>
              <a:ext cx="234569" cy="191922"/>
            </a:xfrm>
            <a:prstGeom prst="rect">
              <a:avLst/>
            </a:prstGeom>
          </p:spPr>
        </p:pic>
        <p:pic>
          <p:nvPicPr>
            <p:cNvPr id="150" name="图片 87" descr="汇聚交换机.png"/>
            <p:cNvPicPr>
              <a:picLocks noChangeAspect="1"/>
            </p:cNvPicPr>
            <p:nvPr/>
          </p:nvPicPr>
          <p:blipFill>
            <a:blip r:embed="rId3"/>
            <a:stretch>
              <a:fillRect/>
            </a:stretch>
          </p:blipFill>
          <p:spPr bwMode="gray">
            <a:xfrm>
              <a:off x="6543221" y="3848139"/>
              <a:ext cx="234569" cy="191922"/>
            </a:xfrm>
            <a:prstGeom prst="rect">
              <a:avLst/>
            </a:prstGeom>
          </p:spPr>
        </p:pic>
        <p:pic>
          <p:nvPicPr>
            <p:cNvPr id="151" name="图片 76" descr="接入交换机.png"/>
            <p:cNvPicPr>
              <a:picLocks noChangeAspect="1"/>
            </p:cNvPicPr>
            <p:nvPr/>
          </p:nvPicPr>
          <p:blipFill>
            <a:blip r:embed="rId4"/>
            <a:stretch>
              <a:fillRect/>
            </a:stretch>
          </p:blipFill>
          <p:spPr bwMode="gray">
            <a:xfrm>
              <a:off x="7019600" y="3848139"/>
              <a:ext cx="234569" cy="191922"/>
            </a:xfrm>
            <a:prstGeom prst="rect">
              <a:avLst/>
            </a:prstGeom>
          </p:spPr>
        </p:pic>
        <p:pic>
          <p:nvPicPr>
            <p:cNvPr id="152" name="图片 151" descr="接入交换机.png"/>
            <p:cNvPicPr>
              <a:picLocks noChangeAspect="1"/>
            </p:cNvPicPr>
            <p:nvPr/>
          </p:nvPicPr>
          <p:blipFill>
            <a:blip r:embed="rId4"/>
            <a:stretch>
              <a:fillRect/>
            </a:stretch>
          </p:blipFill>
          <p:spPr bwMode="gray">
            <a:xfrm>
              <a:off x="6889599" y="3388179"/>
              <a:ext cx="234569" cy="191922"/>
            </a:xfrm>
            <a:prstGeom prst="rect">
              <a:avLst/>
            </a:prstGeom>
          </p:spPr>
        </p:pic>
        <p:pic>
          <p:nvPicPr>
            <p:cNvPr id="153" name="图片 86" descr="核心交换机.png"/>
            <p:cNvPicPr>
              <a:picLocks noChangeAspect="1"/>
            </p:cNvPicPr>
            <p:nvPr/>
          </p:nvPicPr>
          <p:blipFill>
            <a:blip r:embed="rId5"/>
            <a:stretch>
              <a:fillRect/>
            </a:stretch>
          </p:blipFill>
          <p:spPr bwMode="gray">
            <a:xfrm>
              <a:off x="6029197" y="3705329"/>
              <a:ext cx="234569" cy="191922"/>
            </a:xfrm>
            <a:prstGeom prst="rect">
              <a:avLst/>
            </a:prstGeom>
          </p:spPr>
        </p:pic>
        <p:sp>
          <p:nvSpPr>
            <p:cNvPr id="154" name="矩形 153"/>
            <p:cNvSpPr/>
            <p:nvPr/>
          </p:nvSpPr>
          <p:spPr bwMode="gray">
            <a:xfrm>
              <a:off x="6389878" y="3596769"/>
              <a:ext cx="947695" cy="307777"/>
            </a:xfrm>
            <a:prstGeom prst="rect">
              <a:avLst/>
            </a:prstGeom>
          </p:spPr>
          <p:txBody>
            <a:bodyPr wrap="square">
              <a:no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p>
          </p:txBody>
        </p:sp>
      </p:grpSp>
      <p:sp>
        <p:nvSpPr>
          <p:cNvPr id="158" name="任意多边形 157"/>
          <p:cNvSpPr/>
          <p:nvPr/>
        </p:nvSpPr>
        <p:spPr bwMode="gray">
          <a:xfrm>
            <a:off x="3254357" y="4205955"/>
            <a:ext cx="1453587" cy="765854"/>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9" name="组合 158"/>
          <p:cNvGrpSpPr/>
          <p:nvPr/>
        </p:nvGrpSpPr>
        <p:grpSpPr>
          <a:xfrm>
            <a:off x="3326962" y="4283808"/>
            <a:ext cx="1308376" cy="651882"/>
            <a:chOff x="6029197" y="3388179"/>
            <a:chExt cx="1308376" cy="651882"/>
          </a:xfrm>
        </p:grpSpPr>
        <p:grpSp>
          <p:nvGrpSpPr>
            <p:cNvPr id="160" name="组合 159"/>
            <p:cNvGrpSpPr/>
            <p:nvPr/>
          </p:nvGrpSpPr>
          <p:grpSpPr bwMode="gray">
            <a:xfrm>
              <a:off x="6175402" y="3443071"/>
              <a:ext cx="408974" cy="501029"/>
              <a:chOff x="7493569" y="5008689"/>
              <a:chExt cx="942613" cy="761221"/>
            </a:xfrm>
          </p:grpSpPr>
          <p:cxnSp>
            <p:nvCxnSpPr>
              <p:cNvPr id="169" name="直接连接符 168"/>
              <p:cNvCxnSpPr>
                <a:stCxn id="164" idx="1"/>
              </p:cNvCxnSpPr>
              <p:nvPr/>
            </p:nvCxnSpPr>
            <p:spPr bwMode="gray">
              <a:xfrm flipH="1" flipV="1">
                <a:off x="7493569" y="5598791"/>
                <a:ext cx="847761" cy="171119"/>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bwMode="gray">
              <a:xfrm flipH="1">
                <a:off x="7588319" y="5008689"/>
                <a:ext cx="847863" cy="456494"/>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grpSp>
        <p:cxnSp>
          <p:nvCxnSpPr>
            <p:cNvPr id="161" name="直接连接符 160"/>
            <p:cNvCxnSpPr>
              <a:stCxn id="164" idx="3"/>
              <a:endCxn id="165" idx="1"/>
            </p:cNvCxnSpPr>
            <p:nvPr/>
          </p:nvCxnSpPr>
          <p:spPr bwMode="gray">
            <a:xfrm>
              <a:off x="6777790" y="3944100"/>
              <a:ext cx="241810"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163" idx="3"/>
              <a:endCxn id="166" idx="1"/>
            </p:cNvCxnSpPr>
            <p:nvPr/>
          </p:nvCxnSpPr>
          <p:spPr bwMode="gray">
            <a:xfrm>
              <a:off x="6646695" y="3484140"/>
              <a:ext cx="242904"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pic>
          <p:nvPicPr>
            <p:cNvPr id="163" name="图片 87" descr="汇聚交换机.png"/>
            <p:cNvPicPr>
              <a:picLocks noChangeAspect="1"/>
            </p:cNvPicPr>
            <p:nvPr/>
          </p:nvPicPr>
          <p:blipFill>
            <a:blip r:embed="rId3"/>
            <a:stretch>
              <a:fillRect/>
            </a:stretch>
          </p:blipFill>
          <p:spPr bwMode="gray">
            <a:xfrm>
              <a:off x="6412126" y="3388179"/>
              <a:ext cx="234569" cy="191922"/>
            </a:xfrm>
            <a:prstGeom prst="rect">
              <a:avLst/>
            </a:prstGeom>
          </p:spPr>
        </p:pic>
        <p:pic>
          <p:nvPicPr>
            <p:cNvPr id="164" name="图片 87" descr="汇聚交换机.png"/>
            <p:cNvPicPr>
              <a:picLocks noChangeAspect="1"/>
            </p:cNvPicPr>
            <p:nvPr/>
          </p:nvPicPr>
          <p:blipFill>
            <a:blip r:embed="rId3"/>
            <a:stretch>
              <a:fillRect/>
            </a:stretch>
          </p:blipFill>
          <p:spPr bwMode="gray">
            <a:xfrm>
              <a:off x="6543221" y="3848139"/>
              <a:ext cx="234569" cy="191922"/>
            </a:xfrm>
            <a:prstGeom prst="rect">
              <a:avLst/>
            </a:prstGeom>
          </p:spPr>
        </p:pic>
        <p:pic>
          <p:nvPicPr>
            <p:cNvPr id="165" name="图片 76" descr="接入交换机.png"/>
            <p:cNvPicPr>
              <a:picLocks noChangeAspect="1"/>
            </p:cNvPicPr>
            <p:nvPr/>
          </p:nvPicPr>
          <p:blipFill>
            <a:blip r:embed="rId4"/>
            <a:stretch>
              <a:fillRect/>
            </a:stretch>
          </p:blipFill>
          <p:spPr bwMode="gray">
            <a:xfrm>
              <a:off x="7019600" y="3848139"/>
              <a:ext cx="234569" cy="191922"/>
            </a:xfrm>
            <a:prstGeom prst="rect">
              <a:avLst/>
            </a:prstGeom>
          </p:spPr>
        </p:pic>
        <p:pic>
          <p:nvPicPr>
            <p:cNvPr id="166" name="图片 165" descr="接入交换机.png"/>
            <p:cNvPicPr>
              <a:picLocks noChangeAspect="1"/>
            </p:cNvPicPr>
            <p:nvPr/>
          </p:nvPicPr>
          <p:blipFill>
            <a:blip r:embed="rId4"/>
            <a:stretch>
              <a:fillRect/>
            </a:stretch>
          </p:blipFill>
          <p:spPr bwMode="gray">
            <a:xfrm>
              <a:off x="6889599" y="3388179"/>
              <a:ext cx="234569" cy="191922"/>
            </a:xfrm>
            <a:prstGeom prst="rect">
              <a:avLst/>
            </a:prstGeom>
          </p:spPr>
        </p:pic>
        <p:pic>
          <p:nvPicPr>
            <p:cNvPr id="167" name="图片 86" descr="核心交换机.png"/>
            <p:cNvPicPr>
              <a:picLocks noChangeAspect="1"/>
            </p:cNvPicPr>
            <p:nvPr/>
          </p:nvPicPr>
          <p:blipFill>
            <a:blip r:embed="rId5"/>
            <a:stretch>
              <a:fillRect/>
            </a:stretch>
          </p:blipFill>
          <p:spPr bwMode="gray">
            <a:xfrm>
              <a:off x="6029197" y="3705329"/>
              <a:ext cx="234569" cy="191922"/>
            </a:xfrm>
            <a:prstGeom prst="rect">
              <a:avLst/>
            </a:prstGeom>
          </p:spPr>
        </p:pic>
        <p:sp>
          <p:nvSpPr>
            <p:cNvPr id="168" name="矩形 167"/>
            <p:cNvSpPr/>
            <p:nvPr/>
          </p:nvSpPr>
          <p:spPr bwMode="gray">
            <a:xfrm>
              <a:off x="6389878" y="3596769"/>
              <a:ext cx="947695" cy="307777"/>
            </a:xfrm>
            <a:prstGeom prst="rect">
              <a:avLst/>
            </a:prstGeom>
          </p:spPr>
          <p:txBody>
            <a:bodyPr wrap="square">
              <a:no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p>
          </p:txBody>
        </p:sp>
      </p:grpSp>
      <p:sp>
        <p:nvSpPr>
          <p:cNvPr id="171" name="圆角矩形 75"/>
          <p:cNvSpPr/>
          <p:nvPr/>
        </p:nvSpPr>
        <p:spPr bwMode="gray">
          <a:xfrm>
            <a:off x="6240556" y="1002681"/>
            <a:ext cx="5476038"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用户策略自动化</a:t>
            </a:r>
          </a:p>
        </p:txBody>
      </p:sp>
      <p:sp>
        <p:nvSpPr>
          <p:cNvPr id="172" name="圆角矩形 75"/>
          <p:cNvSpPr/>
          <p:nvPr/>
        </p:nvSpPr>
        <p:spPr bwMode="gray">
          <a:xfrm>
            <a:off x="6240556" y="1448974"/>
            <a:ext cx="5476038" cy="4751801"/>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以用户、业务、体验为中心，用户策略随行，业务体验随身。</a:t>
            </a:r>
            <a:endParaRPr lang="en-US" altLang="zh-CN"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lvl="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业务随行方案通过</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规划安全组及组间策略，自动下发策略至网络设备。</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lvl="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用户认证通过之后，当用户在不同地点，使用不同终端接入时，控制器会自动识别用户身份，并向网络中相应执行设备下发策略，从而达到接入无差别和体验有保障的效果。不论用户在什么位置接入，都将获取统一的策略和一致的业务体验。</a:t>
            </a:r>
          </a:p>
        </p:txBody>
      </p:sp>
      <p:cxnSp>
        <p:nvCxnSpPr>
          <p:cNvPr id="217" name="Straight Connector 167"/>
          <p:cNvCxnSpPr>
            <a:stCxn id="222" idx="2"/>
            <a:endCxn id="223" idx="0"/>
          </p:cNvCxnSpPr>
          <p:nvPr/>
        </p:nvCxnSpPr>
        <p:spPr bwMode="gray">
          <a:xfrm>
            <a:off x="8161957" y="4683828"/>
            <a:ext cx="0" cy="1976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167"/>
          <p:cNvCxnSpPr>
            <a:stCxn id="225" idx="2"/>
            <a:endCxn id="226" idx="0"/>
          </p:cNvCxnSpPr>
          <p:nvPr/>
        </p:nvCxnSpPr>
        <p:spPr bwMode="gray">
          <a:xfrm>
            <a:off x="9906178" y="4701180"/>
            <a:ext cx="0" cy="1976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Straight Connector 166"/>
          <p:cNvCxnSpPr>
            <a:stCxn id="221" idx="3"/>
            <a:endCxn id="225" idx="0"/>
          </p:cNvCxnSpPr>
          <p:nvPr/>
        </p:nvCxnSpPr>
        <p:spPr bwMode="gray">
          <a:xfrm>
            <a:off x="9162561" y="4020744"/>
            <a:ext cx="743617" cy="3793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Straight Connector 167"/>
          <p:cNvCxnSpPr>
            <a:stCxn id="221" idx="1"/>
            <a:endCxn id="222" idx="0"/>
          </p:cNvCxnSpPr>
          <p:nvPr/>
        </p:nvCxnSpPr>
        <p:spPr bwMode="gray">
          <a:xfrm flipH="1">
            <a:off x="8161957" y="4020744"/>
            <a:ext cx="632632" cy="3620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1" name="图片 86" descr="核心交换机.png"/>
          <p:cNvPicPr>
            <a:picLocks noChangeAspect="1"/>
          </p:cNvPicPr>
          <p:nvPr/>
        </p:nvPicPr>
        <p:blipFill>
          <a:blip r:embed="rId5" cstate="print"/>
          <a:stretch>
            <a:fillRect/>
          </a:stretch>
        </p:blipFill>
        <p:spPr bwMode="gray">
          <a:xfrm>
            <a:off x="8794589" y="3870210"/>
            <a:ext cx="367972" cy="301068"/>
          </a:xfrm>
          <a:prstGeom prst="rect">
            <a:avLst/>
          </a:prstGeom>
        </p:spPr>
      </p:pic>
      <p:pic>
        <p:nvPicPr>
          <p:cNvPr id="222" name="图片 87" descr="汇聚交换机.png"/>
          <p:cNvPicPr>
            <a:picLocks noChangeAspect="1"/>
          </p:cNvPicPr>
          <p:nvPr/>
        </p:nvPicPr>
        <p:blipFill>
          <a:blip r:embed="rId3" cstate="print"/>
          <a:stretch>
            <a:fillRect/>
          </a:stretch>
        </p:blipFill>
        <p:spPr bwMode="gray">
          <a:xfrm>
            <a:off x="7977971" y="4382760"/>
            <a:ext cx="367972" cy="301068"/>
          </a:xfrm>
          <a:prstGeom prst="rect">
            <a:avLst/>
          </a:prstGeom>
        </p:spPr>
      </p:pic>
      <p:pic>
        <p:nvPicPr>
          <p:cNvPr id="223" name="图片 76" descr="接入交换机.png"/>
          <p:cNvPicPr>
            <a:picLocks noChangeAspect="1"/>
          </p:cNvPicPr>
          <p:nvPr/>
        </p:nvPicPr>
        <p:blipFill>
          <a:blip r:embed="rId4" cstate="print"/>
          <a:stretch>
            <a:fillRect/>
          </a:stretch>
        </p:blipFill>
        <p:spPr bwMode="gray">
          <a:xfrm>
            <a:off x="7977971" y="4881511"/>
            <a:ext cx="367972" cy="301068"/>
          </a:xfrm>
          <a:prstGeom prst="rect">
            <a:avLst/>
          </a:prstGeom>
        </p:spPr>
      </p:pic>
      <p:pic>
        <p:nvPicPr>
          <p:cNvPr id="224" name="图片 223" descr="开放网络-蓝.png"/>
          <p:cNvPicPr>
            <a:picLocks noChangeAspect="1"/>
          </p:cNvPicPr>
          <p:nvPr/>
        </p:nvPicPr>
        <p:blipFill>
          <a:blip r:embed="rId8" cstate="print"/>
          <a:stretch>
            <a:fillRect/>
          </a:stretch>
        </p:blipFill>
        <p:spPr bwMode="gray">
          <a:xfrm>
            <a:off x="7994818" y="5432988"/>
            <a:ext cx="334277" cy="257321"/>
          </a:xfrm>
          <a:prstGeom prst="rect">
            <a:avLst/>
          </a:prstGeom>
        </p:spPr>
      </p:pic>
      <p:pic>
        <p:nvPicPr>
          <p:cNvPr id="225" name="图片 87" descr="汇聚交换机.png"/>
          <p:cNvPicPr>
            <a:picLocks noChangeAspect="1"/>
          </p:cNvPicPr>
          <p:nvPr/>
        </p:nvPicPr>
        <p:blipFill>
          <a:blip r:embed="rId3" cstate="print"/>
          <a:stretch>
            <a:fillRect/>
          </a:stretch>
        </p:blipFill>
        <p:spPr bwMode="gray">
          <a:xfrm>
            <a:off x="9722192" y="4400112"/>
            <a:ext cx="367972" cy="301068"/>
          </a:xfrm>
          <a:prstGeom prst="rect">
            <a:avLst/>
          </a:prstGeom>
        </p:spPr>
      </p:pic>
      <p:pic>
        <p:nvPicPr>
          <p:cNvPr id="226" name="图片 76" descr="接入交换机.png"/>
          <p:cNvPicPr>
            <a:picLocks noChangeAspect="1"/>
          </p:cNvPicPr>
          <p:nvPr/>
        </p:nvPicPr>
        <p:blipFill>
          <a:blip r:embed="rId4" cstate="print"/>
          <a:stretch>
            <a:fillRect/>
          </a:stretch>
        </p:blipFill>
        <p:spPr bwMode="gray">
          <a:xfrm>
            <a:off x="9722192" y="4898864"/>
            <a:ext cx="367972" cy="301068"/>
          </a:xfrm>
          <a:prstGeom prst="rect">
            <a:avLst/>
          </a:prstGeom>
        </p:spPr>
      </p:pic>
      <p:pic>
        <p:nvPicPr>
          <p:cNvPr id="227" name="图片 11" descr="开放网络-蓝.png"/>
          <p:cNvPicPr>
            <a:picLocks noChangeAspect="1"/>
          </p:cNvPicPr>
          <p:nvPr/>
        </p:nvPicPr>
        <p:blipFill>
          <a:blip r:embed="rId8" cstate="print">
            <a:duotone>
              <a:schemeClr val="accent5">
                <a:shade val="45000"/>
                <a:satMod val="135000"/>
              </a:schemeClr>
              <a:prstClr val="white"/>
            </a:duotone>
          </a:blip>
          <a:stretch>
            <a:fillRect/>
          </a:stretch>
        </p:blipFill>
        <p:spPr bwMode="gray">
          <a:xfrm>
            <a:off x="9739039" y="5450341"/>
            <a:ext cx="334277" cy="257321"/>
          </a:xfrm>
          <a:prstGeom prst="rect">
            <a:avLst/>
          </a:prstGeom>
        </p:spPr>
      </p:pic>
      <p:sp>
        <p:nvSpPr>
          <p:cNvPr id="228" name="任意多边形 227"/>
          <p:cNvSpPr/>
          <p:nvPr/>
        </p:nvSpPr>
        <p:spPr bwMode="gray">
          <a:xfrm>
            <a:off x="8409654" y="5462510"/>
            <a:ext cx="1196670" cy="197906"/>
          </a:xfrm>
          <a:custGeom>
            <a:avLst/>
            <a:gdLst>
              <a:gd name="connsiteX0" fmla="*/ 0 w 2491740"/>
              <a:gd name="connsiteY0" fmla="*/ 7620 h 7620"/>
              <a:gd name="connsiteX1" fmla="*/ 2491740 w 2491740"/>
              <a:gd name="connsiteY1" fmla="*/ 0 h 7620"/>
              <a:gd name="connsiteX0" fmla="*/ 0 w 10000"/>
              <a:gd name="connsiteY0" fmla="*/ 10000 h 202241"/>
              <a:gd name="connsiteX1" fmla="*/ 10000 w 10000"/>
              <a:gd name="connsiteY1" fmla="*/ 0 h 202241"/>
              <a:gd name="connsiteX0" fmla="*/ 0 w 10000"/>
              <a:gd name="connsiteY0" fmla="*/ 134914 h 259829"/>
              <a:gd name="connsiteX1" fmla="*/ 10000 w 10000"/>
              <a:gd name="connsiteY1" fmla="*/ 124914 h 259829"/>
              <a:gd name="connsiteX0" fmla="*/ 0 w 10000"/>
              <a:gd name="connsiteY0" fmla="*/ 134914 h 259828"/>
              <a:gd name="connsiteX1" fmla="*/ 10000 w 10000"/>
              <a:gd name="connsiteY1" fmla="*/ 124914 h 259828"/>
              <a:gd name="connsiteX0" fmla="*/ 0 w 10000"/>
              <a:gd name="connsiteY0" fmla="*/ 113640 h 338135"/>
              <a:gd name="connsiteX1" fmla="*/ 10000 w 10000"/>
              <a:gd name="connsiteY1" fmla="*/ 103640 h 338135"/>
              <a:gd name="connsiteX0" fmla="*/ 0 w 10238"/>
              <a:gd name="connsiteY0" fmla="*/ 103401 h 329565"/>
              <a:gd name="connsiteX1" fmla="*/ 10238 w 10238"/>
              <a:gd name="connsiteY1" fmla="*/ 104511 h 329565"/>
              <a:gd name="connsiteX0" fmla="*/ 0 w 10238"/>
              <a:gd name="connsiteY0" fmla="*/ 103401 h 329565"/>
              <a:gd name="connsiteX1" fmla="*/ 10238 w 10238"/>
              <a:gd name="connsiteY1" fmla="*/ 104511 h 329565"/>
              <a:gd name="connsiteX0" fmla="*/ 0 w 10238"/>
              <a:gd name="connsiteY0" fmla="*/ 217707 h 408735"/>
              <a:gd name="connsiteX1" fmla="*/ 10238 w 10238"/>
              <a:gd name="connsiteY1" fmla="*/ 218817 h 408735"/>
            </a:gdLst>
            <a:ahLst/>
            <a:cxnLst>
              <a:cxn ang="0">
                <a:pos x="connsiteX0" y="connsiteY0"/>
              </a:cxn>
              <a:cxn ang="0">
                <a:pos x="connsiteX1" y="connsiteY1"/>
              </a:cxn>
            </a:cxnLst>
            <a:rect l="l" t="t" r="r" b="b"/>
            <a:pathLst>
              <a:path w="10238" h="408735">
                <a:moveTo>
                  <a:pt x="0" y="217707"/>
                </a:moveTo>
                <a:cubicBezTo>
                  <a:pt x="5046" y="898818"/>
                  <a:pt x="5216" y="-517849"/>
                  <a:pt x="10238" y="218817"/>
                </a:cubicBezTo>
              </a:path>
            </a:pathLst>
          </a:custGeom>
          <a:noFill/>
          <a:ln w="28575">
            <a:solidFill>
              <a:srgbClr val="56C4D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9" name="组合 362"/>
          <p:cNvGrpSpPr>
            <a:grpSpLocks/>
          </p:cNvGrpSpPr>
          <p:nvPr/>
        </p:nvGrpSpPr>
        <p:grpSpPr bwMode="gray">
          <a:xfrm>
            <a:off x="8013520" y="5788438"/>
            <a:ext cx="292339" cy="292339"/>
            <a:chOff x="373063" y="2114551"/>
            <a:chExt cx="1114425" cy="1116013"/>
          </a:xfrm>
        </p:grpSpPr>
        <p:sp>
          <p:nvSpPr>
            <p:cNvPr id="230"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1" name="组合 341"/>
            <p:cNvGrpSpPr>
              <a:grpSpLocks/>
            </p:cNvGrpSpPr>
            <p:nvPr/>
          </p:nvGrpSpPr>
          <p:grpSpPr bwMode="gray">
            <a:xfrm>
              <a:off x="649288" y="2289176"/>
              <a:ext cx="561975" cy="769938"/>
              <a:chOff x="649288" y="2289176"/>
              <a:chExt cx="561975" cy="769938"/>
            </a:xfrm>
          </p:grpSpPr>
          <p:sp>
            <p:nvSpPr>
              <p:cNvPr id="232"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3"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4"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7"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238" name="文本框 237"/>
          <p:cNvSpPr txBox="1"/>
          <p:nvPr/>
        </p:nvSpPr>
        <p:spPr bwMode="gray">
          <a:xfrm>
            <a:off x="7457048" y="5797619"/>
            <a:ext cx="495286" cy="230701"/>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9" name="组合 362"/>
          <p:cNvGrpSpPr>
            <a:grpSpLocks/>
          </p:cNvGrpSpPr>
          <p:nvPr/>
        </p:nvGrpSpPr>
        <p:grpSpPr bwMode="gray">
          <a:xfrm>
            <a:off x="9765424" y="5805791"/>
            <a:ext cx="292339" cy="292339"/>
            <a:chOff x="373063" y="2114551"/>
            <a:chExt cx="1114425" cy="1116013"/>
          </a:xfrm>
        </p:grpSpPr>
        <p:sp>
          <p:nvSpPr>
            <p:cNvPr id="240"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1" name="组合 341"/>
            <p:cNvGrpSpPr>
              <a:grpSpLocks/>
            </p:cNvGrpSpPr>
            <p:nvPr/>
          </p:nvGrpSpPr>
          <p:grpSpPr bwMode="gray">
            <a:xfrm>
              <a:off x="649288" y="2289176"/>
              <a:ext cx="561975" cy="769938"/>
              <a:chOff x="649288" y="2289176"/>
              <a:chExt cx="561975" cy="769938"/>
            </a:xfrm>
          </p:grpSpPr>
          <p:sp>
            <p:nvSpPr>
              <p:cNvPr id="242"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3"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4"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5"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6"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7"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248" name="文本框 247"/>
          <p:cNvSpPr txBox="1"/>
          <p:nvPr/>
        </p:nvSpPr>
        <p:spPr bwMode="gray">
          <a:xfrm>
            <a:off x="10113262" y="5796635"/>
            <a:ext cx="495286" cy="230701"/>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9" name="文本框 248"/>
          <p:cNvSpPr txBox="1"/>
          <p:nvPr/>
        </p:nvSpPr>
        <p:spPr bwMode="gray">
          <a:xfrm>
            <a:off x="8794589" y="5668632"/>
            <a:ext cx="407572" cy="230701"/>
          </a:xfrm>
          <a:prstGeom prst="rect">
            <a:avLst/>
          </a:prstGeom>
          <a:noFill/>
        </p:spPr>
        <p:txBody>
          <a:bodyPr wrap="none" rtlCol="0">
            <a:sp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移动</a:t>
            </a:r>
          </a:p>
        </p:txBody>
      </p:sp>
      <p:cxnSp>
        <p:nvCxnSpPr>
          <p:cNvPr id="250" name="Straight Connector 167"/>
          <p:cNvCxnSpPr>
            <a:stCxn id="223" idx="2"/>
            <a:endCxn id="224" idx="0"/>
          </p:cNvCxnSpPr>
          <p:nvPr/>
        </p:nvCxnSpPr>
        <p:spPr bwMode="gray">
          <a:xfrm>
            <a:off x="8161957" y="5182579"/>
            <a:ext cx="0" cy="2504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Straight Connector 167"/>
          <p:cNvCxnSpPr>
            <a:stCxn id="226" idx="2"/>
            <a:endCxn id="227" idx="0"/>
          </p:cNvCxnSpPr>
          <p:nvPr/>
        </p:nvCxnSpPr>
        <p:spPr bwMode="gray">
          <a:xfrm>
            <a:off x="9906178" y="5199932"/>
            <a:ext cx="0" cy="2504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8085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CloudCampus</a:t>
            </a:r>
            <a:r>
              <a:rPr lang="zh-CN" altLang="en-US" dirty="0"/>
              <a:t>亮点功能：有线 </a:t>
            </a:r>
            <a:r>
              <a:rPr lang="en-US" altLang="zh-CN" dirty="0"/>
              <a:t>&amp; </a:t>
            </a:r>
            <a:r>
              <a:rPr lang="zh-CN" altLang="en-US" dirty="0"/>
              <a:t>无线融合</a:t>
            </a:r>
          </a:p>
        </p:txBody>
      </p:sp>
      <p:sp>
        <p:nvSpPr>
          <p:cNvPr id="122" name="文本占位符 121"/>
          <p:cNvSpPr>
            <a:spLocks noGrp="1"/>
          </p:cNvSpPr>
          <p:nvPr>
            <p:ph type="body" sz="quarter" idx="10"/>
          </p:nvPr>
        </p:nvSpPr>
        <p:spPr>
          <a:xfrm>
            <a:off x="455612" y="1047750"/>
            <a:ext cx="11293475" cy="801767"/>
          </a:xfrm>
        </p:spPr>
        <p:txBody>
          <a:bodyPr/>
          <a:lstStyle/>
          <a:p>
            <a:r>
              <a:rPr lang="zh-CN" altLang="en-US" sz="1800" dirty="0"/>
              <a:t>华为园区交换机通过融合无线接入控制器（</a:t>
            </a:r>
            <a:r>
              <a:rPr lang="en-US" altLang="zh-CN" sz="1800" dirty="0"/>
              <a:t>Access Controller</a:t>
            </a:r>
            <a:r>
              <a:rPr lang="zh-CN" altLang="en-US" sz="1800" dirty="0"/>
              <a:t>，</a:t>
            </a:r>
            <a:r>
              <a:rPr lang="en-US" altLang="zh-CN" sz="1800" dirty="0"/>
              <a:t>AC</a:t>
            </a:r>
            <a:r>
              <a:rPr lang="zh-CN" altLang="en-US" sz="1800" dirty="0"/>
              <a:t>），实现有线无线深度融合，为用户提供有线和无线一致化的管理和体验。</a:t>
            </a:r>
          </a:p>
        </p:txBody>
      </p:sp>
      <p:sp>
        <p:nvSpPr>
          <p:cNvPr id="56" name="Freeform 6"/>
          <p:cNvSpPr/>
          <p:nvPr/>
        </p:nvSpPr>
        <p:spPr bwMode="gray">
          <a:xfrm>
            <a:off x="3430093" y="3449270"/>
            <a:ext cx="933660" cy="1989240"/>
          </a:xfrm>
          <a:custGeom>
            <a:avLst/>
            <a:gdLst>
              <a:gd name="connsiteX0" fmla="*/ 0 w 721895"/>
              <a:gd name="connsiteY0" fmla="*/ 0 h 1626669"/>
              <a:gd name="connsiteX1" fmla="*/ 548640 w 721895"/>
              <a:gd name="connsiteY1" fmla="*/ 519764 h 1626669"/>
              <a:gd name="connsiteX2" fmla="*/ 721895 w 721895"/>
              <a:gd name="connsiteY2" fmla="*/ 1626669 h 1626669"/>
              <a:gd name="connsiteX0" fmla="*/ 0 w 737770"/>
              <a:gd name="connsiteY0" fmla="*/ 0 h 1629844"/>
              <a:gd name="connsiteX1" fmla="*/ 564515 w 737770"/>
              <a:gd name="connsiteY1" fmla="*/ 522939 h 1629844"/>
              <a:gd name="connsiteX2" fmla="*/ 737770 w 737770"/>
              <a:gd name="connsiteY2" fmla="*/ 1629844 h 1629844"/>
              <a:gd name="connsiteX0" fmla="*/ 0 w 737770"/>
              <a:gd name="connsiteY0" fmla="*/ 0 h 1629844"/>
              <a:gd name="connsiteX1" fmla="*/ 564515 w 737770"/>
              <a:gd name="connsiteY1" fmla="*/ 522939 h 1629844"/>
              <a:gd name="connsiteX2" fmla="*/ 737770 w 737770"/>
              <a:gd name="connsiteY2" fmla="*/ 1629844 h 1629844"/>
              <a:gd name="connsiteX0" fmla="*/ 0 w 749216"/>
              <a:gd name="connsiteY0" fmla="*/ 0 h 1629844"/>
              <a:gd name="connsiteX1" fmla="*/ 685165 w 749216"/>
              <a:gd name="connsiteY1" fmla="*/ 545164 h 1629844"/>
              <a:gd name="connsiteX2" fmla="*/ 737770 w 749216"/>
              <a:gd name="connsiteY2" fmla="*/ 1629844 h 1629844"/>
              <a:gd name="connsiteX0" fmla="*/ 0 w 739178"/>
              <a:gd name="connsiteY0" fmla="*/ 0 h 1623494"/>
              <a:gd name="connsiteX1" fmla="*/ 685165 w 739178"/>
              <a:gd name="connsiteY1" fmla="*/ 545164 h 1623494"/>
              <a:gd name="connsiteX2" fmla="*/ 712370 w 739178"/>
              <a:gd name="connsiteY2" fmla="*/ 1623494 h 1623494"/>
              <a:gd name="connsiteX0" fmla="*/ 0 w 782832"/>
              <a:gd name="connsiteY0" fmla="*/ 0 h 1623494"/>
              <a:gd name="connsiteX1" fmla="*/ 685165 w 782832"/>
              <a:gd name="connsiteY1" fmla="*/ 545164 h 1623494"/>
              <a:gd name="connsiteX2" fmla="*/ 712370 w 782832"/>
              <a:gd name="connsiteY2" fmla="*/ 1623494 h 1623494"/>
              <a:gd name="connsiteX0" fmla="*/ 0 w 831934"/>
              <a:gd name="connsiteY0" fmla="*/ 0 h 1623494"/>
              <a:gd name="connsiteX1" fmla="*/ 770890 w 831934"/>
              <a:gd name="connsiteY1" fmla="*/ 675339 h 1623494"/>
              <a:gd name="connsiteX2" fmla="*/ 712370 w 831934"/>
              <a:gd name="connsiteY2" fmla="*/ 1623494 h 1623494"/>
              <a:gd name="connsiteX0" fmla="*/ 0 w 815046"/>
              <a:gd name="connsiteY0" fmla="*/ 0 h 1623494"/>
              <a:gd name="connsiteX1" fmla="*/ 745490 w 815046"/>
              <a:gd name="connsiteY1" fmla="*/ 627714 h 1623494"/>
              <a:gd name="connsiteX2" fmla="*/ 712370 w 815046"/>
              <a:gd name="connsiteY2" fmla="*/ 1623494 h 1623494"/>
              <a:gd name="connsiteX0" fmla="*/ 0 w 800031"/>
              <a:gd name="connsiteY0" fmla="*/ 0 h 1623494"/>
              <a:gd name="connsiteX1" fmla="*/ 720090 w 800031"/>
              <a:gd name="connsiteY1" fmla="*/ 615014 h 1623494"/>
              <a:gd name="connsiteX2" fmla="*/ 712370 w 800031"/>
              <a:gd name="connsiteY2" fmla="*/ 1623494 h 1623494"/>
              <a:gd name="connsiteX0" fmla="*/ 0 w 979865"/>
              <a:gd name="connsiteY0" fmla="*/ 0 h 1623494"/>
              <a:gd name="connsiteX1" fmla="*/ 948690 w 979865"/>
              <a:gd name="connsiteY1" fmla="*/ 627714 h 1623494"/>
              <a:gd name="connsiteX2" fmla="*/ 712370 w 979865"/>
              <a:gd name="connsiteY2" fmla="*/ 1623494 h 1623494"/>
              <a:gd name="connsiteX0" fmla="*/ 0 w 1007069"/>
              <a:gd name="connsiteY0" fmla="*/ 0 h 1623494"/>
              <a:gd name="connsiteX1" fmla="*/ 948690 w 1007069"/>
              <a:gd name="connsiteY1" fmla="*/ 627714 h 1623494"/>
              <a:gd name="connsiteX2" fmla="*/ 712370 w 1007069"/>
              <a:gd name="connsiteY2" fmla="*/ 1623494 h 1623494"/>
              <a:gd name="connsiteX0" fmla="*/ 0 w 1007069"/>
              <a:gd name="connsiteY0" fmla="*/ 0 h 1623494"/>
              <a:gd name="connsiteX1" fmla="*/ 948690 w 1007069"/>
              <a:gd name="connsiteY1" fmla="*/ 627714 h 1623494"/>
              <a:gd name="connsiteX2" fmla="*/ 712370 w 1007069"/>
              <a:gd name="connsiteY2" fmla="*/ 1623494 h 1623494"/>
              <a:gd name="connsiteX0" fmla="*/ 0 w 952094"/>
              <a:gd name="connsiteY0" fmla="*/ 0 h 1623494"/>
              <a:gd name="connsiteX1" fmla="*/ 869315 w 952094"/>
              <a:gd name="connsiteY1" fmla="*/ 557864 h 1623494"/>
              <a:gd name="connsiteX2" fmla="*/ 712370 w 952094"/>
              <a:gd name="connsiteY2" fmla="*/ 1623494 h 1623494"/>
              <a:gd name="connsiteX0" fmla="*/ 0 w 712370"/>
              <a:gd name="connsiteY0" fmla="*/ 0 h 1623494"/>
              <a:gd name="connsiteX1" fmla="*/ 712370 w 712370"/>
              <a:gd name="connsiteY1" fmla="*/ 1623494 h 1623494"/>
              <a:gd name="connsiteX0" fmla="*/ 0 w 696821"/>
              <a:gd name="connsiteY0" fmla="*/ 0 h 1701239"/>
              <a:gd name="connsiteX1" fmla="*/ 696821 w 696821"/>
              <a:gd name="connsiteY1" fmla="*/ 1701239 h 1701239"/>
              <a:gd name="connsiteX0" fmla="*/ 0 w 696821"/>
              <a:gd name="connsiteY0" fmla="*/ 0 h 1701239"/>
              <a:gd name="connsiteX1" fmla="*/ 696821 w 696821"/>
              <a:gd name="connsiteY1" fmla="*/ 1701239 h 1701239"/>
              <a:gd name="connsiteX0" fmla="*/ 0 w 855399"/>
              <a:gd name="connsiteY0" fmla="*/ 0 h 1701239"/>
              <a:gd name="connsiteX1" fmla="*/ 696821 w 855399"/>
              <a:gd name="connsiteY1" fmla="*/ 1701239 h 1701239"/>
              <a:gd name="connsiteX0" fmla="*/ 0 w 855399"/>
              <a:gd name="connsiteY0" fmla="*/ 0 h 1674390"/>
              <a:gd name="connsiteX1" fmla="*/ 696821 w 855399"/>
              <a:gd name="connsiteY1" fmla="*/ 1674390 h 1674390"/>
              <a:gd name="connsiteX0" fmla="*/ 0 w 821264"/>
              <a:gd name="connsiteY0" fmla="*/ 0 h 1674390"/>
              <a:gd name="connsiteX1" fmla="*/ 696821 w 821264"/>
              <a:gd name="connsiteY1" fmla="*/ 1674390 h 1674390"/>
              <a:gd name="connsiteX0" fmla="*/ 0 w 785884"/>
              <a:gd name="connsiteY0" fmla="*/ 0 h 1674390"/>
              <a:gd name="connsiteX1" fmla="*/ 696821 w 785884"/>
              <a:gd name="connsiteY1" fmla="*/ 1674390 h 1674390"/>
            </a:gdLst>
            <a:ahLst/>
            <a:cxnLst>
              <a:cxn ang="0">
                <a:pos x="connsiteX0" y="connsiteY0"/>
              </a:cxn>
              <a:cxn ang="0">
                <a:pos x="connsiteX1" y="connsiteY1"/>
              </a:cxn>
            </a:cxnLst>
            <a:rect l="l" t="t" r="r" b="b"/>
            <a:pathLst>
              <a:path w="785884" h="1674390">
                <a:moveTo>
                  <a:pt x="0" y="0"/>
                </a:moveTo>
                <a:cubicBezTo>
                  <a:pt x="817529" y="334749"/>
                  <a:pt x="889340" y="1105683"/>
                  <a:pt x="696821" y="1674390"/>
                </a:cubicBezTo>
              </a:path>
            </a:pathLst>
          </a:custGeom>
          <a:noFill/>
          <a:ln w="19050">
            <a:solidFill>
              <a:srgbClr val="30B5C5"/>
            </a:solidFill>
            <a:prstDash val="sysDash"/>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Rounded Rectangle 197"/>
          <p:cNvSpPr/>
          <p:nvPr/>
        </p:nvSpPr>
        <p:spPr bwMode="gray">
          <a:xfrm>
            <a:off x="3697502" y="1956865"/>
            <a:ext cx="1994301" cy="1232463"/>
          </a:xfrm>
          <a:prstGeom prst="roundRect">
            <a:avLst>
              <a:gd name="adj" fmla="val 7423"/>
            </a:avLst>
          </a:prstGeom>
          <a:solidFill>
            <a:schemeClr val="bg1">
              <a:lumMod val="95000"/>
            </a:schemeClr>
          </a:soli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Straight Connector 196"/>
          <p:cNvCxnSpPr/>
          <p:nvPr/>
        </p:nvCxnSpPr>
        <p:spPr bwMode="gray">
          <a:xfrm flipH="1">
            <a:off x="3944525" y="2911559"/>
            <a:ext cx="4368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1169372088"/>
          <p:cNvSpPr/>
          <p:nvPr/>
        </p:nvSpPr>
        <p:spPr bwMode="gray">
          <a:xfrm>
            <a:off x="4692654" y="2020473"/>
            <a:ext cx="954107" cy="276999"/>
          </a:xfrm>
          <a:prstGeom prst="rect">
            <a:avLst/>
          </a:prstGeom>
          <a:noFill/>
        </p:spPr>
        <p:txBody>
          <a:bodyPr wrap="non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网络管理区</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Straight Connector 201"/>
          <p:cNvCxnSpPr/>
          <p:nvPr/>
        </p:nvCxnSpPr>
        <p:spPr bwMode="gray">
          <a:xfrm>
            <a:off x="3944525" y="2344906"/>
            <a:ext cx="0" cy="5322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1"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56300" y="2170205"/>
            <a:ext cx="382138" cy="312657"/>
          </a:xfrm>
          <a:prstGeom prst="rect">
            <a:avLst/>
          </a:prstGeom>
        </p:spPr>
      </p:pic>
      <p:pic>
        <p:nvPicPr>
          <p:cNvPr id="62" name="图片 105" descr="AP.png"/>
          <p:cNvPicPr>
            <a:picLocks noChangeAspect="1"/>
          </p:cNvPicPr>
          <p:nvPr/>
        </p:nvPicPr>
        <p:blipFill>
          <a:blip r:embed="rId4" cstate="print"/>
          <a:stretch>
            <a:fillRect/>
          </a:stretch>
        </p:blipFill>
        <p:spPr bwMode="gray">
          <a:xfrm>
            <a:off x="3851900" y="5360756"/>
            <a:ext cx="398346" cy="325921"/>
          </a:xfrm>
          <a:prstGeom prst="rect">
            <a:avLst/>
          </a:prstGeom>
        </p:spPr>
      </p:pic>
      <p:cxnSp>
        <p:nvCxnSpPr>
          <p:cNvPr id="63" name="Straight Connector 206"/>
          <p:cNvCxnSpPr>
            <a:stCxn id="62" idx="0"/>
          </p:cNvCxnSpPr>
          <p:nvPr/>
        </p:nvCxnSpPr>
        <p:spPr bwMode="gray">
          <a:xfrm flipV="1">
            <a:off x="4051074" y="5138442"/>
            <a:ext cx="1101" cy="2223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4" name="图片 105" descr="AP.png"/>
          <p:cNvPicPr>
            <a:picLocks noChangeAspect="1"/>
          </p:cNvPicPr>
          <p:nvPr/>
        </p:nvPicPr>
        <p:blipFill>
          <a:blip r:embed="rId4" cstate="print"/>
          <a:stretch>
            <a:fillRect/>
          </a:stretch>
        </p:blipFill>
        <p:spPr bwMode="gray">
          <a:xfrm>
            <a:off x="2083986" y="5360756"/>
            <a:ext cx="398346" cy="325921"/>
          </a:xfrm>
          <a:prstGeom prst="rect">
            <a:avLst/>
          </a:prstGeom>
        </p:spPr>
      </p:pic>
      <p:cxnSp>
        <p:nvCxnSpPr>
          <p:cNvPr id="65" name="Straight Connector 210"/>
          <p:cNvCxnSpPr/>
          <p:nvPr/>
        </p:nvCxnSpPr>
        <p:spPr bwMode="gray">
          <a:xfrm>
            <a:off x="2418624" y="3355345"/>
            <a:ext cx="57789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6" name="Straight Connector 217"/>
          <p:cNvCxnSpPr/>
          <p:nvPr/>
        </p:nvCxnSpPr>
        <p:spPr bwMode="gray">
          <a:xfrm flipV="1">
            <a:off x="1310438" y="3518305"/>
            <a:ext cx="909014" cy="1331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218"/>
          <p:cNvCxnSpPr/>
          <p:nvPr/>
        </p:nvCxnSpPr>
        <p:spPr bwMode="gray">
          <a:xfrm flipV="1">
            <a:off x="1310438" y="3518305"/>
            <a:ext cx="1885251" cy="1331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219"/>
          <p:cNvCxnSpPr/>
          <p:nvPr/>
        </p:nvCxnSpPr>
        <p:spPr bwMode="gray">
          <a:xfrm flipH="1" flipV="1">
            <a:off x="2219452" y="3518305"/>
            <a:ext cx="64880" cy="1331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 name="Group 228"/>
          <p:cNvGrpSpPr/>
          <p:nvPr/>
        </p:nvGrpSpPr>
        <p:grpSpPr bwMode="gray">
          <a:xfrm>
            <a:off x="1641771" y="4975745"/>
            <a:ext cx="311225" cy="73633"/>
            <a:chOff x="559282" y="6488261"/>
            <a:chExt cx="261965" cy="61979"/>
          </a:xfrm>
          <a:solidFill>
            <a:schemeClr val="bg1">
              <a:lumMod val="50000"/>
            </a:schemeClr>
          </a:solidFill>
        </p:grpSpPr>
        <p:sp>
          <p:nvSpPr>
            <p:cNvPr id="72" name="Oval 229"/>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Oval 230"/>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Oval 231"/>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7" name="Group 234"/>
          <p:cNvGrpSpPr/>
          <p:nvPr/>
        </p:nvGrpSpPr>
        <p:grpSpPr bwMode="gray">
          <a:xfrm>
            <a:off x="3409615" y="4975745"/>
            <a:ext cx="311225" cy="73633"/>
            <a:chOff x="559282" y="6488261"/>
            <a:chExt cx="261965" cy="61979"/>
          </a:xfrm>
          <a:solidFill>
            <a:schemeClr val="bg1">
              <a:lumMod val="50000"/>
            </a:schemeClr>
          </a:solidFill>
        </p:grpSpPr>
        <p:sp>
          <p:nvSpPr>
            <p:cNvPr id="78" name="Oval 235"/>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Oval 236"/>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Oval 237"/>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81" name="Straight Connector 242"/>
          <p:cNvCxnSpPr>
            <a:stCxn id="64" idx="0"/>
          </p:cNvCxnSpPr>
          <p:nvPr/>
        </p:nvCxnSpPr>
        <p:spPr bwMode="gray">
          <a:xfrm flipV="1">
            <a:off x="2283159" y="5138442"/>
            <a:ext cx="1173" cy="2223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245"/>
          <p:cNvCxnSpPr/>
          <p:nvPr/>
        </p:nvCxnSpPr>
        <p:spPr bwMode="gray">
          <a:xfrm>
            <a:off x="3195689" y="2058736"/>
            <a:ext cx="0" cy="113364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246"/>
          <p:cNvCxnSpPr/>
          <p:nvPr/>
        </p:nvCxnSpPr>
        <p:spPr bwMode="gray">
          <a:xfrm>
            <a:off x="2219451" y="2058736"/>
            <a:ext cx="0" cy="113364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Oval 248"/>
          <p:cNvSpPr/>
          <p:nvPr/>
        </p:nvSpPr>
        <p:spPr bwMode="gray">
          <a:xfrm rot="2386141">
            <a:off x="1416776" y="4569759"/>
            <a:ext cx="252862" cy="8916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Oval 249"/>
          <p:cNvSpPr/>
          <p:nvPr/>
        </p:nvSpPr>
        <p:spPr bwMode="gray">
          <a:xfrm rot="993025">
            <a:off x="2206963" y="4618678"/>
            <a:ext cx="252862" cy="8916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Oval 250"/>
          <p:cNvSpPr/>
          <p:nvPr/>
        </p:nvSpPr>
        <p:spPr bwMode="gray">
          <a:xfrm rot="20551939">
            <a:off x="2901038" y="4618544"/>
            <a:ext cx="252862" cy="8916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Oval 251"/>
          <p:cNvSpPr/>
          <p:nvPr/>
        </p:nvSpPr>
        <p:spPr bwMode="gray">
          <a:xfrm rot="19168173">
            <a:off x="3710875" y="4570924"/>
            <a:ext cx="252862" cy="8916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8"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004275" y="1965987"/>
            <a:ext cx="400477" cy="327662"/>
          </a:xfrm>
          <a:prstGeom prst="rect">
            <a:avLst/>
          </a:prstGeom>
        </p:spPr>
      </p:pic>
      <p:pic>
        <p:nvPicPr>
          <p:cNvPr id="89"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995450" y="1965987"/>
            <a:ext cx="400477" cy="327662"/>
          </a:xfrm>
          <a:prstGeom prst="rect">
            <a:avLst/>
          </a:prstGeom>
        </p:spPr>
      </p:pic>
      <p:cxnSp>
        <p:nvCxnSpPr>
          <p:cNvPr id="90" name="Straight Connector 276"/>
          <p:cNvCxnSpPr>
            <a:stCxn id="88" idx="3"/>
            <a:endCxn id="89" idx="1"/>
          </p:cNvCxnSpPr>
          <p:nvPr/>
        </p:nvCxnSpPr>
        <p:spPr bwMode="gray">
          <a:xfrm>
            <a:off x="2404752" y="2129818"/>
            <a:ext cx="59069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2" name="Straight Connector 280"/>
          <p:cNvCxnSpPr/>
          <p:nvPr/>
        </p:nvCxnSpPr>
        <p:spPr bwMode="gray">
          <a:xfrm flipH="1">
            <a:off x="2222941" y="2908279"/>
            <a:ext cx="1566284" cy="2844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281"/>
          <p:cNvCxnSpPr/>
          <p:nvPr/>
        </p:nvCxnSpPr>
        <p:spPr bwMode="gray">
          <a:xfrm flipH="1">
            <a:off x="3198305" y="2908279"/>
            <a:ext cx="590920" cy="2844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285"/>
          <p:cNvCxnSpPr/>
          <p:nvPr/>
        </p:nvCxnSpPr>
        <p:spPr bwMode="gray">
          <a:xfrm flipV="1">
            <a:off x="2284332" y="3518305"/>
            <a:ext cx="911358" cy="1331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288"/>
          <p:cNvCxnSpPr/>
          <p:nvPr/>
        </p:nvCxnSpPr>
        <p:spPr bwMode="gray">
          <a:xfrm flipH="1" flipV="1">
            <a:off x="2219452" y="3518305"/>
            <a:ext cx="857657" cy="1331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291"/>
          <p:cNvCxnSpPr/>
          <p:nvPr/>
        </p:nvCxnSpPr>
        <p:spPr bwMode="gray">
          <a:xfrm flipH="1" flipV="1">
            <a:off x="3195689" y="3518305"/>
            <a:ext cx="856486" cy="1331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295"/>
          <p:cNvCxnSpPr/>
          <p:nvPr/>
        </p:nvCxnSpPr>
        <p:spPr bwMode="gray">
          <a:xfrm flipH="1" flipV="1">
            <a:off x="2219452" y="3518305"/>
            <a:ext cx="1832723" cy="1331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298"/>
          <p:cNvCxnSpPr/>
          <p:nvPr/>
        </p:nvCxnSpPr>
        <p:spPr bwMode="gray">
          <a:xfrm flipV="1">
            <a:off x="3077109" y="3518305"/>
            <a:ext cx="118581" cy="1331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TextBox 306"/>
          <p:cNvSpPr txBox="1"/>
          <p:nvPr/>
        </p:nvSpPr>
        <p:spPr bwMode="gray">
          <a:xfrm>
            <a:off x="3421952" y="3176818"/>
            <a:ext cx="1300347" cy="461665"/>
          </a:xfrm>
          <a:prstGeom prst="rect">
            <a:avLst/>
          </a:prstGeom>
          <a:noFill/>
        </p:spPr>
        <p:txBody>
          <a:bodyPr wrap="square" rtlCol="0">
            <a:spAutoFit/>
          </a:bodyPr>
          <a:lstStyle/>
          <a:p>
            <a:pPr algn="ct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AC</a:t>
            </a:r>
          </a:p>
          <a:p>
            <a:pPr algn="ct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Native AC</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pic>
        <p:nvPicPr>
          <p:cNvPr id="100" name="图片 14" descr="日志告警服务器-蓝.png"/>
          <p:cNvPicPr>
            <a:picLocks noChangeAspect="1"/>
          </p:cNvPicPr>
          <p:nvPr/>
        </p:nvPicPr>
        <p:blipFill>
          <a:blip r:embed="rId6" cstate="print"/>
          <a:stretch>
            <a:fillRect/>
          </a:stretch>
        </p:blipFill>
        <p:spPr bwMode="gray">
          <a:xfrm>
            <a:off x="2773450" y="5891300"/>
            <a:ext cx="361871" cy="225959"/>
          </a:xfrm>
          <a:prstGeom prst="rect">
            <a:avLst/>
          </a:prstGeom>
        </p:spPr>
      </p:pic>
      <p:pic>
        <p:nvPicPr>
          <p:cNvPr id="101" name="图片 11" descr="开放网络-蓝.png"/>
          <p:cNvPicPr>
            <a:picLocks noChangeAspect="1"/>
          </p:cNvPicPr>
          <p:nvPr/>
        </p:nvPicPr>
        <p:blipFill>
          <a:blip r:embed="rId7" cstate="print"/>
          <a:stretch>
            <a:fillRect/>
          </a:stretch>
        </p:blipFill>
        <p:spPr bwMode="gray">
          <a:xfrm>
            <a:off x="1681053" y="5864998"/>
            <a:ext cx="361871" cy="278562"/>
          </a:xfrm>
          <a:prstGeom prst="rect">
            <a:avLst/>
          </a:prstGeom>
        </p:spPr>
      </p:pic>
      <p:pic>
        <p:nvPicPr>
          <p:cNvPr id="102" name="图片 157" descr="故障链路.png"/>
          <p:cNvPicPr>
            <a:picLocks noChangeAspect="1"/>
          </p:cNvPicPr>
          <p:nvPr/>
        </p:nvPicPr>
        <p:blipFill>
          <a:blip r:embed="rId8" cstate="print"/>
          <a:stretch>
            <a:fillRect/>
          </a:stretch>
        </p:blipFill>
        <p:spPr bwMode="gray">
          <a:xfrm>
            <a:off x="2209014" y="5855760"/>
            <a:ext cx="398346" cy="297039"/>
          </a:xfrm>
          <a:prstGeom prst="rect">
            <a:avLst/>
          </a:prstGeom>
        </p:spPr>
      </p:pic>
      <p:sp>
        <p:nvSpPr>
          <p:cNvPr id="103" name="Freeform 5"/>
          <p:cNvSpPr>
            <a:spLocks noEditPoints="1"/>
          </p:cNvSpPr>
          <p:nvPr/>
        </p:nvSpPr>
        <p:spPr bwMode="gray">
          <a:xfrm flipH="1">
            <a:off x="3402147" y="5863744"/>
            <a:ext cx="305780" cy="281069"/>
          </a:xfrm>
          <a:custGeom>
            <a:avLst/>
            <a:gdLst/>
            <a:ahLst/>
            <a:cxnLst>
              <a:cxn ang="0">
                <a:pos x="13474" y="5453"/>
              </a:cxn>
              <a:cxn ang="0">
                <a:pos x="12317" y="4601"/>
              </a:cxn>
              <a:cxn ang="0">
                <a:pos x="11412" y="4426"/>
              </a:cxn>
              <a:cxn ang="0">
                <a:pos x="4848" y="9576"/>
              </a:cxn>
              <a:cxn ang="0">
                <a:pos x="5783" y="10159"/>
              </a:cxn>
              <a:cxn ang="0">
                <a:pos x="6029" y="10586"/>
              </a:cxn>
              <a:cxn ang="0">
                <a:pos x="5871" y="11449"/>
              </a:cxn>
              <a:cxn ang="0">
                <a:pos x="5269" y="11440"/>
              </a:cxn>
              <a:cxn ang="0">
                <a:pos x="4824" y="10607"/>
              </a:cxn>
              <a:cxn ang="0">
                <a:pos x="4838" y="9638"/>
              </a:cxn>
              <a:cxn ang="0">
                <a:pos x="3536" y="8751"/>
              </a:cxn>
              <a:cxn ang="0">
                <a:pos x="4283" y="9174"/>
              </a:cxn>
              <a:cxn ang="0">
                <a:pos x="4127" y="9883"/>
              </a:cxn>
              <a:cxn ang="0">
                <a:pos x="4481" y="11467"/>
              </a:cxn>
              <a:cxn ang="0">
                <a:pos x="5571" y="12255"/>
              </a:cxn>
              <a:cxn ang="0">
                <a:pos x="6393" y="11776"/>
              </a:cxn>
              <a:cxn ang="0">
                <a:pos x="6623" y="11327"/>
              </a:cxn>
              <a:cxn ang="0">
                <a:pos x="6593" y="10954"/>
              </a:cxn>
              <a:cxn ang="0">
                <a:pos x="7001" y="12029"/>
              </a:cxn>
              <a:cxn ang="0">
                <a:pos x="6605" y="13157"/>
              </a:cxn>
              <a:cxn ang="0">
                <a:pos x="5384" y="13849"/>
              </a:cxn>
              <a:cxn ang="0">
                <a:pos x="4005" y="13316"/>
              </a:cxn>
              <a:cxn ang="0">
                <a:pos x="2966" y="11875"/>
              </a:cxn>
              <a:cxn ang="0">
                <a:pos x="2611" y="10263"/>
              </a:cxn>
              <a:cxn ang="0">
                <a:pos x="2657" y="9067"/>
              </a:cxn>
              <a:cxn ang="0">
                <a:pos x="2906" y="8446"/>
              </a:cxn>
              <a:cxn ang="0">
                <a:pos x="2108" y="8756"/>
              </a:cxn>
              <a:cxn ang="0">
                <a:pos x="1951" y="10042"/>
              </a:cxn>
              <a:cxn ang="0">
                <a:pos x="2244" y="11405"/>
              </a:cxn>
              <a:cxn ang="0">
                <a:pos x="1800" y="11462"/>
              </a:cxn>
              <a:cxn ang="0">
                <a:pos x="514" y="10430"/>
              </a:cxn>
              <a:cxn ang="0">
                <a:pos x="0" y="8981"/>
              </a:cxn>
              <a:cxn ang="0">
                <a:pos x="814" y="8147"/>
              </a:cxn>
              <a:cxn ang="0">
                <a:pos x="2055" y="8130"/>
              </a:cxn>
              <a:cxn ang="0">
                <a:pos x="13652" y="11178"/>
              </a:cxn>
              <a:cxn ang="0">
                <a:pos x="13281" y="11893"/>
              </a:cxn>
              <a:cxn ang="0">
                <a:pos x="12680" y="12371"/>
              </a:cxn>
              <a:cxn ang="0">
                <a:pos x="11525" y="12547"/>
              </a:cxn>
              <a:cxn ang="0">
                <a:pos x="11812" y="11849"/>
              </a:cxn>
              <a:cxn ang="0">
                <a:pos x="7899" y="11652"/>
              </a:cxn>
              <a:cxn ang="0">
                <a:pos x="8996" y="12019"/>
              </a:cxn>
              <a:cxn ang="0">
                <a:pos x="10612" y="11876"/>
              </a:cxn>
              <a:cxn ang="0">
                <a:pos x="10925" y="12290"/>
              </a:cxn>
              <a:cxn ang="0">
                <a:pos x="10585" y="12853"/>
              </a:cxn>
              <a:cxn ang="0">
                <a:pos x="9821" y="13182"/>
              </a:cxn>
              <a:cxn ang="0">
                <a:pos x="6649" y="14004"/>
              </a:cxn>
              <a:cxn ang="0">
                <a:pos x="7422" y="12934"/>
              </a:cxn>
              <a:cxn ang="0">
                <a:pos x="7677" y="12066"/>
              </a:cxn>
              <a:cxn ang="0">
                <a:pos x="14396" y="10218"/>
              </a:cxn>
              <a:cxn ang="0">
                <a:pos x="14321" y="8192"/>
              </a:cxn>
              <a:cxn ang="0">
                <a:pos x="12918" y="5928"/>
              </a:cxn>
              <a:cxn ang="0">
                <a:pos x="11740" y="5209"/>
              </a:cxn>
              <a:cxn ang="0">
                <a:pos x="10623" y="5077"/>
              </a:cxn>
              <a:cxn ang="0">
                <a:pos x="9280" y="5224"/>
              </a:cxn>
              <a:cxn ang="0">
                <a:pos x="1229" y="7366"/>
              </a:cxn>
              <a:cxn ang="0">
                <a:pos x="2849" y="7799"/>
              </a:cxn>
              <a:cxn ang="0">
                <a:pos x="5581" y="9338"/>
              </a:cxn>
              <a:cxn ang="0">
                <a:pos x="7851" y="10919"/>
              </a:cxn>
              <a:cxn ang="0">
                <a:pos x="9572" y="11341"/>
              </a:cxn>
              <a:cxn ang="0">
                <a:pos x="10600" y="11241"/>
              </a:cxn>
              <a:cxn ang="0">
                <a:pos x="13760" y="10423"/>
              </a:cxn>
            </a:cxnLst>
            <a:rect l="0" t="0" r="r" b="b"/>
            <a:pathLst>
              <a:path w="16170" h="14014">
                <a:moveTo>
                  <a:pt x="11178" y="2724"/>
                </a:moveTo>
                <a:lnTo>
                  <a:pt x="14087" y="2724"/>
                </a:lnTo>
                <a:lnTo>
                  <a:pt x="14087" y="6276"/>
                </a:lnTo>
                <a:lnTo>
                  <a:pt x="14080" y="6265"/>
                </a:lnTo>
                <a:lnTo>
                  <a:pt x="14060" y="6231"/>
                </a:lnTo>
                <a:lnTo>
                  <a:pt x="14025" y="6177"/>
                </a:lnTo>
                <a:lnTo>
                  <a:pt x="13979" y="6106"/>
                </a:lnTo>
                <a:lnTo>
                  <a:pt x="13920" y="6022"/>
                </a:lnTo>
                <a:lnTo>
                  <a:pt x="13852" y="5923"/>
                </a:lnTo>
                <a:lnTo>
                  <a:pt x="13812" y="5870"/>
                </a:lnTo>
                <a:lnTo>
                  <a:pt x="13771" y="5815"/>
                </a:lnTo>
                <a:lnTo>
                  <a:pt x="13727" y="5758"/>
                </a:lnTo>
                <a:lnTo>
                  <a:pt x="13682" y="5698"/>
                </a:lnTo>
                <a:lnTo>
                  <a:pt x="13632" y="5639"/>
                </a:lnTo>
                <a:lnTo>
                  <a:pt x="13582" y="5577"/>
                </a:lnTo>
                <a:lnTo>
                  <a:pt x="13529" y="5515"/>
                </a:lnTo>
                <a:lnTo>
                  <a:pt x="13474" y="5453"/>
                </a:lnTo>
                <a:lnTo>
                  <a:pt x="13417" y="5390"/>
                </a:lnTo>
                <a:lnTo>
                  <a:pt x="13357" y="5328"/>
                </a:lnTo>
                <a:lnTo>
                  <a:pt x="13297" y="5266"/>
                </a:lnTo>
                <a:lnTo>
                  <a:pt x="13234" y="5204"/>
                </a:lnTo>
                <a:lnTo>
                  <a:pt x="13169" y="5145"/>
                </a:lnTo>
                <a:lnTo>
                  <a:pt x="13104" y="5085"/>
                </a:lnTo>
                <a:lnTo>
                  <a:pt x="13036" y="5029"/>
                </a:lnTo>
                <a:lnTo>
                  <a:pt x="12967" y="4973"/>
                </a:lnTo>
                <a:lnTo>
                  <a:pt x="12897" y="4919"/>
                </a:lnTo>
                <a:lnTo>
                  <a:pt x="12825" y="4869"/>
                </a:lnTo>
                <a:lnTo>
                  <a:pt x="12752" y="4822"/>
                </a:lnTo>
                <a:lnTo>
                  <a:pt x="12678" y="4776"/>
                </a:lnTo>
                <a:lnTo>
                  <a:pt x="12604" y="4735"/>
                </a:lnTo>
                <a:lnTo>
                  <a:pt x="12531" y="4697"/>
                </a:lnTo>
                <a:lnTo>
                  <a:pt x="12458" y="4662"/>
                </a:lnTo>
                <a:lnTo>
                  <a:pt x="12387" y="4630"/>
                </a:lnTo>
                <a:lnTo>
                  <a:pt x="12317" y="4601"/>
                </a:lnTo>
                <a:lnTo>
                  <a:pt x="12250" y="4575"/>
                </a:lnTo>
                <a:lnTo>
                  <a:pt x="12182" y="4551"/>
                </a:lnTo>
                <a:lnTo>
                  <a:pt x="12117" y="4530"/>
                </a:lnTo>
                <a:lnTo>
                  <a:pt x="12054" y="4511"/>
                </a:lnTo>
                <a:lnTo>
                  <a:pt x="11991" y="4495"/>
                </a:lnTo>
                <a:lnTo>
                  <a:pt x="11930" y="4480"/>
                </a:lnTo>
                <a:lnTo>
                  <a:pt x="11873" y="4468"/>
                </a:lnTo>
                <a:lnTo>
                  <a:pt x="11816" y="4458"/>
                </a:lnTo>
                <a:lnTo>
                  <a:pt x="11762" y="4449"/>
                </a:lnTo>
                <a:lnTo>
                  <a:pt x="11709" y="4442"/>
                </a:lnTo>
                <a:lnTo>
                  <a:pt x="11660" y="4436"/>
                </a:lnTo>
                <a:lnTo>
                  <a:pt x="11612" y="4432"/>
                </a:lnTo>
                <a:lnTo>
                  <a:pt x="11567" y="4429"/>
                </a:lnTo>
                <a:lnTo>
                  <a:pt x="11524" y="4427"/>
                </a:lnTo>
                <a:lnTo>
                  <a:pt x="11484" y="4425"/>
                </a:lnTo>
                <a:lnTo>
                  <a:pt x="11446" y="4425"/>
                </a:lnTo>
                <a:lnTo>
                  <a:pt x="11412" y="4426"/>
                </a:lnTo>
                <a:lnTo>
                  <a:pt x="11380" y="4427"/>
                </a:lnTo>
                <a:lnTo>
                  <a:pt x="11351" y="4428"/>
                </a:lnTo>
                <a:lnTo>
                  <a:pt x="11303" y="4432"/>
                </a:lnTo>
                <a:lnTo>
                  <a:pt x="11267" y="4435"/>
                </a:lnTo>
                <a:lnTo>
                  <a:pt x="11246" y="4439"/>
                </a:lnTo>
                <a:lnTo>
                  <a:pt x="11239" y="4440"/>
                </a:lnTo>
                <a:lnTo>
                  <a:pt x="11178" y="2724"/>
                </a:lnTo>
                <a:close/>
                <a:moveTo>
                  <a:pt x="9156" y="0"/>
                </a:moveTo>
                <a:lnTo>
                  <a:pt x="16170" y="0"/>
                </a:lnTo>
                <a:lnTo>
                  <a:pt x="16170" y="1256"/>
                </a:lnTo>
                <a:lnTo>
                  <a:pt x="13383" y="1256"/>
                </a:lnTo>
                <a:lnTo>
                  <a:pt x="13383" y="2174"/>
                </a:lnTo>
                <a:lnTo>
                  <a:pt x="11820" y="2174"/>
                </a:lnTo>
                <a:lnTo>
                  <a:pt x="11820" y="1256"/>
                </a:lnTo>
                <a:lnTo>
                  <a:pt x="9156" y="1256"/>
                </a:lnTo>
                <a:lnTo>
                  <a:pt x="9156" y="0"/>
                </a:lnTo>
                <a:close/>
                <a:moveTo>
                  <a:pt x="4848" y="9576"/>
                </a:moveTo>
                <a:lnTo>
                  <a:pt x="4855" y="9581"/>
                </a:lnTo>
                <a:lnTo>
                  <a:pt x="4877" y="9595"/>
                </a:lnTo>
                <a:lnTo>
                  <a:pt x="4912" y="9615"/>
                </a:lnTo>
                <a:lnTo>
                  <a:pt x="4958" y="9642"/>
                </a:lnTo>
                <a:lnTo>
                  <a:pt x="5013" y="9675"/>
                </a:lnTo>
                <a:lnTo>
                  <a:pt x="5075" y="9713"/>
                </a:lnTo>
                <a:lnTo>
                  <a:pt x="5143" y="9754"/>
                </a:lnTo>
                <a:lnTo>
                  <a:pt x="5216" y="9798"/>
                </a:lnTo>
                <a:lnTo>
                  <a:pt x="5291" y="9843"/>
                </a:lnTo>
                <a:lnTo>
                  <a:pt x="5366" y="9890"/>
                </a:lnTo>
                <a:lnTo>
                  <a:pt x="5441" y="9936"/>
                </a:lnTo>
                <a:lnTo>
                  <a:pt x="5514" y="9981"/>
                </a:lnTo>
                <a:lnTo>
                  <a:pt x="5583" y="10025"/>
                </a:lnTo>
                <a:lnTo>
                  <a:pt x="5644" y="10064"/>
                </a:lnTo>
                <a:lnTo>
                  <a:pt x="5699" y="10101"/>
                </a:lnTo>
                <a:lnTo>
                  <a:pt x="5744" y="10131"/>
                </a:lnTo>
                <a:lnTo>
                  <a:pt x="5783" y="10159"/>
                </a:lnTo>
                <a:lnTo>
                  <a:pt x="5817" y="10186"/>
                </a:lnTo>
                <a:lnTo>
                  <a:pt x="5849" y="10214"/>
                </a:lnTo>
                <a:lnTo>
                  <a:pt x="5878" y="10241"/>
                </a:lnTo>
                <a:lnTo>
                  <a:pt x="5903" y="10266"/>
                </a:lnTo>
                <a:lnTo>
                  <a:pt x="5926" y="10292"/>
                </a:lnTo>
                <a:lnTo>
                  <a:pt x="5946" y="10315"/>
                </a:lnTo>
                <a:lnTo>
                  <a:pt x="5963" y="10336"/>
                </a:lnTo>
                <a:lnTo>
                  <a:pt x="5978" y="10356"/>
                </a:lnTo>
                <a:lnTo>
                  <a:pt x="5990" y="10374"/>
                </a:lnTo>
                <a:lnTo>
                  <a:pt x="6000" y="10391"/>
                </a:lnTo>
                <a:lnTo>
                  <a:pt x="6008" y="10404"/>
                </a:lnTo>
                <a:lnTo>
                  <a:pt x="6018" y="10423"/>
                </a:lnTo>
                <a:lnTo>
                  <a:pt x="6021" y="10430"/>
                </a:lnTo>
                <a:lnTo>
                  <a:pt x="6022" y="10441"/>
                </a:lnTo>
                <a:lnTo>
                  <a:pt x="6024" y="10472"/>
                </a:lnTo>
                <a:lnTo>
                  <a:pt x="6027" y="10522"/>
                </a:lnTo>
                <a:lnTo>
                  <a:pt x="6029" y="10586"/>
                </a:lnTo>
                <a:lnTo>
                  <a:pt x="6029" y="10662"/>
                </a:lnTo>
                <a:lnTo>
                  <a:pt x="6028" y="10749"/>
                </a:lnTo>
                <a:lnTo>
                  <a:pt x="6026" y="10796"/>
                </a:lnTo>
                <a:lnTo>
                  <a:pt x="6024" y="10843"/>
                </a:lnTo>
                <a:lnTo>
                  <a:pt x="6021" y="10893"/>
                </a:lnTo>
                <a:lnTo>
                  <a:pt x="6016" y="10942"/>
                </a:lnTo>
                <a:lnTo>
                  <a:pt x="6011" y="10992"/>
                </a:lnTo>
                <a:lnTo>
                  <a:pt x="6004" y="11042"/>
                </a:lnTo>
                <a:lnTo>
                  <a:pt x="5996" y="11093"/>
                </a:lnTo>
                <a:lnTo>
                  <a:pt x="5986" y="11142"/>
                </a:lnTo>
                <a:lnTo>
                  <a:pt x="5975" y="11192"/>
                </a:lnTo>
                <a:lnTo>
                  <a:pt x="5963" y="11239"/>
                </a:lnTo>
                <a:lnTo>
                  <a:pt x="5948" y="11286"/>
                </a:lnTo>
                <a:lnTo>
                  <a:pt x="5931" y="11330"/>
                </a:lnTo>
                <a:lnTo>
                  <a:pt x="5913" y="11372"/>
                </a:lnTo>
                <a:lnTo>
                  <a:pt x="5893" y="11412"/>
                </a:lnTo>
                <a:lnTo>
                  <a:pt x="5871" y="11449"/>
                </a:lnTo>
                <a:lnTo>
                  <a:pt x="5846" y="11484"/>
                </a:lnTo>
                <a:lnTo>
                  <a:pt x="5819" y="11514"/>
                </a:lnTo>
                <a:lnTo>
                  <a:pt x="5790" y="11541"/>
                </a:lnTo>
                <a:lnTo>
                  <a:pt x="5758" y="11563"/>
                </a:lnTo>
                <a:lnTo>
                  <a:pt x="5723" y="11582"/>
                </a:lnTo>
                <a:lnTo>
                  <a:pt x="5687" y="11596"/>
                </a:lnTo>
                <a:lnTo>
                  <a:pt x="5649" y="11603"/>
                </a:lnTo>
                <a:lnTo>
                  <a:pt x="5612" y="11606"/>
                </a:lnTo>
                <a:lnTo>
                  <a:pt x="5574" y="11604"/>
                </a:lnTo>
                <a:lnTo>
                  <a:pt x="5535" y="11598"/>
                </a:lnTo>
                <a:lnTo>
                  <a:pt x="5497" y="11587"/>
                </a:lnTo>
                <a:lnTo>
                  <a:pt x="5458" y="11571"/>
                </a:lnTo>
                <a:lnTo>
                  <a:pt x="5420" y="11552"/>
                </a:lnTo>
                <a:lnTo>
                  <a:pt x="5382" y="11529"/>
                </a:lnTo>
                <a:lnTo>
                  <a:pt x="5344" y="11503"/>
                </a:lnTo>
                <a:lnTo>
                  <a:pt x="5306" y="11473"/>
                </a:lnTo>
                <a:lnTo>
                  <a:pt x="5269" y="11440"/>
                </a:lnTo>
                <a:lnTo>
                  <a:pt x="5233" y="11404"/>
                </a:lnTo>
                <a:lnTo>
                  <a:pt x="5197" y="11365"/>
                </a:lnTo>
                <a:lnTo>
                  <a:pt x="5162" y="11324"/>
                </a:lnTo>
                <a:lnTo>
                  <a:pt x="5128" y="11280"/>
                </a:lnTo>
                <a:lnTo>
                  <a:pt x="5095" y="11235"/>
                </a:lnTo>
                <a:lnTo>
                  <a:pt x="5063" y="11188"/>
                </a:lnTo>
                <a:lnTo>
                  <a:pt x="5033" y="11139"/>
                </a:lnTo>
                <a:lnTo>
                  <a:pt x="5004" y="11089"/>
                </a:lnTo>
                <a:lnTo>
                  <a:pt x="4975" y="11037"/>
                </a:lnTo>
                <a:lnTo>
                  <a:pt x="4950" y="10985"/>
                </a:lnTo>
                <a:lnTo>
                  <a:pt x="4926" y="10931"/>
                </a:lnTo>
                <a:lnTo>
                  <a:pt x="4904" y="10876"/>
                </a:lnTo>
                <a:lnTo>
                  <a:pt x="4883" y="10823"/>
                </a:lnTo>
                <a:lnTo>
                  <a:pt x="4865" y="10768"/>
                </a:lnTo>
                <a:lnTo>
                  <a:pt x="4849" y="10714"/>
                </a:lnTo>
                <a:lnTo>
                  <a:pt x="4835" y="10660"/>
                </a:lnTo>
                <a:lnTo>
                  <a:pt x="4824" y="10607"/>
                </a:lnTo>
                <a:lnTo>
                  <a:pt x="4815" y="10553"/>
                </a:lnTo>
                <a:lnTo>
                  <a:pt x="4809" y="10502"/>
                </a:lnTo>
                <a:lnTo>
                  <a:pt x="4806" y="10451"/>
                </a:lnTo>
                <a:lnTo>
                  <a:pt x="4804" y="10402"/>
                </a:lnTo>
                <a:lnTo>
                  <a:pt x="4801" y="10353"/>
                </a:lnTo>
                <a:lnTo>
                  <a:pt x="4801" y="10307"/>
                </a:lnTo>
                <a:lnTo>
                  <a:pt x="4800" y="10260"/>
                </a:lnTo>
                <a:lnTo>
                  <a:pt x="4801" y="10172"/>
                </a:lnTo>
                <a:lnTo>
                  <a:pt x="4802" y="10090"/>
                </a:lnTo>
                <a:lnTo>
                  <a:pt x="4806" y="10012"/>
                </a:lnTo>
                <a:lnTo>
                  <a:pt x="4810" y="9940"/>
                </a:lnTo>
                <a:lnTo>
                  <a:pt x="4814" y="9874"/>
                </a:lnTo>
                <a:lnTo>
                  <a:pt x="4819" y="9814"/>
                </a:lnTo>
                <a:lnTo>
                  <a:pt x="4824" y="9760"/>
                </a:lnTo>
                <a:lnTo>
                  <a:pt x="4829" y="9713"/>
                </a:lnTo>
                <a:lnTo>
                  <a:pt x="4834" y="9672"/>
                </a:lnTo>
                <a:lnTo>
                  <a:pt x="4838" y="9638"/>
                </a:lnTo>
                <a:lnTo>
                  <a:pt x="4842" y="9612"/>
                </a:lnTo>
                <a:lnTo>
                  <a:pt x="4845" y="9593"/>
                </a:lnTo>
                <a:lnTo>
                  <a:pt x="4847" y="9580"/>
                </a:lnTo>
                <a:lnTo>
                  <a:pt x="4848" y="9576"/>
                </a:lnTo>
                <a:close/>
                <a:moveTo>
                  <a:pt x="2906" y="8446"/>
                </a:moveTo>
                <a:lnTo>
                  <a:pt x="2912" y="8449"/>
                </a:lnTo>
                <a:lnTo>
                  <a:pt x="2930" y="8458"/>
                </a:lnTo>
                <a:lnTo>
                  <a:pt x="2959" y="8472"/>
                </a:lnTo>
                <a:lnTo>
                  <a:pt x="2999" y="8491"/>
                </a:lnTo>
                <a:lnTo>
                  <a:pt x="3046" y="8515"/>
                </a:lnTo>
                <a:lnTo>
                  <a:pt x="3102" y="8542"/>
                </a:lnTo>
                <a:lnTo>
                  <a:pt x="3163" y="8572"/>
                </a:lnTo>
                <a:lnTo>
                  <a:pt x="3231" y="8606"/>
                </a:lnTo>
                <a:lnTo>
                  <a:pt x="3303" y="8641"/>
                </a:lnTo>
                <a:lnTo>
                  <a:pt x="3379" y="8677"/>
                </a:lnTo>
                <a:lnTo>
                  <a:pt x="3456" y="8714"/>
                </a:lnTo>
                <a:lnTo>
                  <a:pt x="3536" y="8751"/>
                </a:lnTo>
                <a:lnTo>
                  <a:pt x="3615" y="8789"/>
                </a:lnTo>
                <a:lnTo>
                  <a:pt x="3694" y="8826"/>
                </a:lnTo>
                <a:lnTo>
                  <a:pt x="3771" y="8860"/>
                </a:lnTo>
                <a:lnTo>
                  <a:pt x="3844" y="8893"/>
                </a:lnTo>
                <a:lnTo>
                  <a:pt x="3880" y="8910"/>
                </a:lnTo>
                <a:lnTo>
                  <a:pt x="3913" y="8926"/>
                </a:lnTo>
                <a:lnTo>
                  <a:pt x="3944" y="8941"/>
                </a:lnTo>
                <a:lnTo>
                  <a:pt x="3975" y="8956"/>
                </a:lnTo>
                <a:lnTo>
                  <a:pt x="4030" y="8986"/>
                </a:lnTo>
                <a:lnTo>
                  <a:pt x="4080" y="9016"/>
                </a:lnTo>
                <a:lnTo>
                  <a:pt x="4123" y="9044"/>
                </a:lnTo>
                <a:lnTo>
                  <a:pt x="4162" y="9070"/>
                </a:lnTo>
                <a:lnTo>
                  <a:pt x="4195" y="9095"/>
                </a:lnTo>
                <a:lnTo>
                  <a:pt x="4223" y="9118"/>
                </a:lnTo>
                <a:lnTo>
                  <a:pt x="4248" y="9139"/>
                </a:lnTo>
                <a:lnTo>
                  <a:pt x="4267" y="9157"/>
                </a:lnTo>
                <a:lnTo>
                  <a:pt x="4283" y="9174"/>
                </a:lnTo>
                <a:lnTo>
                  <a:pt x="4295" y="9187"/>
                </a:lnTo>
                <a:lnTo>
                  <a:pt x="4309" y="9207"/>
                </a:lnTo>
                <a:lnTo>
                  <a:pt x="4314" y="9214"/>
                </a:lnTo>
                <a:lnTo>
                  <a:pt x="4308" y="9226"/>
                </a:lnTo>
                <a:lnTo>
                  <a:pt x="4292" y="9261"/>
                </a:lnTo>
                <a:lnTo>
                  <a:pt x="4281" y="9288"/>
                </a:lnTo>
                <a:lnTo>
                  <a:pt x="4269" y="9320"/>
                </a:lnTo>
                <a:lnTo>
                  <a:pt x="4256" y="9356"/>
                </a:lnTo>
                <a:lnTo>
                  <a:pt x="4241" y="9398"/>
                </a:lnTo>
                <a:lnTo>
                  <a:pt x="4225" y="9444"/>
                </a:lnTo>
                <a:lnTo>
                  <a:pt x="4210" y="9495"/>
                </a:lnTo>
                <a:lnTo>
                  <a:pt x="4194" y="9549"/>
                </a:lnTo>
                <a:lnTo>
                  <a:pt x="4179" y="9609"/>
                </a:lnTo>
                <a:lnTo>
                  <a:pt x="4165" y="9672"/>
                </a:lnTo>
                <a:lnTo>
                  <a:pt x="4151" y="9739"/>
                </a:lnTo>
                <a:lnTo>
                  <a:pt x="4139" y="9810"/>
                </a:lnTo>
                <a:lnTo>
                  <a:pt x="4127" y="9883"/>
                </a:lnTo>
                <a:lnTo>
                  <a:pt x="4118" y="9960"/>
                </a:lnTo>
                <a:lnTo>
                  <a:pt x="4111" y="10040"/>
                </a:lnTo>
                <a:lnTo>
                  <a:pt x="4107" y="10123"/>
                </a:lnTo>
                <a:lnTo>
                  <a:pt x="4106" y="10209"/>
                </a:lnTo>
                <a:lnTo>
                  <a:pt x="4107" y="10297"/>
                </a:lnTo>
                <a:lnTo>
                  <a:pt x="4112" y="10387"/>
                </a:lnTo>
                <a:lnTo>
                  <a:pt x="4121" y="10478"/>
                </a:lnTo>
                <a:lnTo>
                  <a:pt x="4134" y="10572"/>
                </a:lnTo>
                <a:lnTo>
                  <a:pt x="4152" y="10668"/>
                </a:lnTo>
                <a:lnTo>
                  <a:pt x="4173" y="10765"/>
                </a:lnTo>
                <a:lnTo>
                  <a:pt x="4200" y="10864"/>
                </a:lnTo>
                <a:lnTo>
                  <a:pt x="4232" y="10963"/>
                </a:lnTo>
                <a:lnTo>
                  <a:pt x="4270" y="11064"/>
                </a:lnTo>
                <a:lnTo>
                  <a:pt x="4314" y="11165"/>
                </a:lnTo>
                <a:lnTo>
                  <a:pt x="4364" y="11266"/>
                </a:lnTo>
                <a:lnTo>
                  <a:pt x="4420" y="11368"/>
                </a:lnTo>
                <a:lnTo>
                  <a:pt x="4481" y="11467"/>
                </a:lnTo>
                <a:lnTo>
                  <a:pt x="4544" y="11559"/>
                </a:lnTo>
                <a:lnTo>
                  <a:pt x="4605" y="11645"/>
                </a:lnTo>
                <a:lnTo>
                  <a:pt x="4669" y="11724"/>
                </a:lnTo>
                <a:lnTo>
                  <a:pt x="4734" y="11798"/>
                </a:lnTo>
                <a:lnTo>
                  <a:pt x="4798" y="11864"/>
                </a:lnTo>
                <a:lnTo>
                  <a:pt x="4864" y="11926"/>
                </a:lnTo>
                <a:lnTo>
                  <a:pt x="4930" y="11982"/>
                </a:lnTo>
                <a:lnTo>
                  <a:pt x="4996" y="12031"/>
                </a:lnTo>
                <a:lnTo>
                  <a:pt x="5061" y="12075"/>
                </a:lnTo>
                <a:lnTo>
                  <a:pt x="5127" y="12115"/>
                </a:lnTo>
                <a:lnTo>
                  <a:pt x="5192" y="12149"/>
                </a:lnTo>
                <a:lnTo>
                  <a:pt x="5256" y="12179"/>
                </a:lnTo>
                <a:lnTo>
                  <a:pt x="5321" y="12203"/>
                </a:lnTo>
                <a:lnTo>
                  <a:pt x="5385" y="12223"/>
                </a:lnTo>
                <a:lnTo>
                  <a:pt x="5448" y="12238"/>
                </a:lnTo>
                <a:lnTo>
                  <a:pt x="5510" y="12249"/>
                </a:lnTo>
                <a:lnTo>
                  <a:pt x="5571" y="12255"/>
                </a:lnTo>
                <a:lnTo>
                  <a:pt x="5630" y="12258"/>
                </a:lnTo>
                <a:lnTo>
                  <a:pt x="5689" y="12256"/>
                </a:lnTo>
                <a:lnTo>
                  <a:pt x="5746" y="12251"/>
                </a:lnTo>
                <a:lnTo>
                  <a:pt x="5801" y="12242"/>
                </a:lnTo>
                <a:lnTo>
                  <a:pt x="5855" y="12230"/>
                </a:lnTo>
                <a:lnTo>
                  <a:pt x="5907" y="12215"/>
                </a:lnTo>
                <a:lnTo>
                  <a:pt x="5957" y="12196"/>
                </a:lnTo>
                <a:lnTo>
                  <a:pt x="6004" y="12173"/>
                </a:lnTo>
                <a:lnTo>
                  <a:pt x="6049" y="12149"/>
                </a:lnTo>
                <a:lnTo>
                  <a:pt x="6091" y="12122"/>
                </a:lnTo>
                <a:lnTo>
                  <a:pt x="6131" y="12092"/>
                </a:lnTo>
                <a:lnTo>
                  <a:pt x="6169" y="12059"/>
                </a:lnTo>
                <a:lnTo>
                  <a:pt x="6203" y="12024"/>
                </a:lnTo>
                <a:lnTo>
                  <a:pt x="6236" y="11988"/>
                </a:lnTo>
                <a:lnTo>
                  <a:pt x="6292" y="11913"/>
                </a:lnTo>
                <a:lnTo>
                  <a:pt x="6346" y="11843"/>
                </a:lnTo>
                <a:lnTo>
                  <a:pt x="6393" y="11776"/>
                </a:lnTo>
                <a:lnTo>
                  <a:pt x="6437" y="11714"/>
                </a:lnTo>
                <a:lnTo>
                  <a:pt x="6456" y="11684"/>
                </a:lnTo>
                <a:lnTo>
                  <a:pt x="6475" y="11654"/>
                </a:lnTo>
                <a:lnTo>
                  <a:pt x="6492" y="11626"/>
                </a:lnTo>
                <a:lnTo>
                  <a:pt x="6508" y="11599"/>
                </a:lnTo>
                <a:lnTo>
                  <a:pt x="6524" y="11572"/>
                </a:lnTo>
                <a:lnTo>
                  <a:pt x="6538" y="11546"/>
                </a:lnTo>
                <a:lnTo>
                  <a:pt x="6551" y="11521"/>
                </a:lnTo>
                <a:lnTo>
                  <a:pt x="6563" y="11497"/>
                </a:lnTo>
                <a:lnTo>
                  <a:pt x="6574" y="11473"/>
                </a:lnTo>
                <a:lnTo>
                  <a:pt x="6584" y="11450"/>
                </a:lnTo>
                <a:lnTo>
                  <a:pt x="6593" y="11428"/>
                </a:lnTo>
                <a:lnTo>
                  <a:pt x="6600" y="11407"/>
                </a:lnTo>
                <a:lnTo>
                  <a:pt x="6607" y="11386"/>
                </a:lnTo>
                <a:lnTo>
                  <a:pt x="6614" y="11365"/>
                </a:lnTo>
                <a:lnTo>
                  <a:pt x="6619" y="11346"/>
                </a:lnTo>
                <a:lnTo>
                  <a:pt x="6623" y="11327"/>
                </a:lnTo>
                <a:lnTo>
                  <a:pt x="6625" y="11309"/>
                </a:lnTo>
                <a:lnTo>
                  <a:pt x="6627" y="11292"/>
                </a:lnTo>
                <a:lnTo>
                  <a:pt x="6628" y="11274"/>
                </a:lnTo>
                <a:lnTo>
                  <a:pt x="6629" y="11258"/>
                </a:lnTo>
                <a:lnTo>
                  <a:pt x="6628" y="11242"/>
                </a:lnTo>
                <a:lnTo>
                  <a:pt x="6626" y="11227"/>
                </a:lnTo>
                <a:lnTo>
                  <a:pt x="6623" y="11212"/>
                </a:lnTo>
                <a:lnTo>
                  <a:pt x="6620" y="11198"/>
                </a:lnTo>
                <a:lnTo>
                  <a:pt x="6613" y="11170"/>
                </a:lnTo>
                <a:lnTo>
                  <a:pt x="6606" y="11142"/>
                </a:lnTo>
                <a:lnTo>
                  <a:pt x="6601" y="11115"/>
                </a:lnTo>
                <a:lnTo>
                  <a:pt x="6598" y="11089"/>
                </a:lnTo>
                <a:lnTo>
                  <a:pt x="6595" y="11062"/>
                </a:lnTo>
                <a:lnTo>
                  <a:pt x="6594" y="11038"/>
                </a:lnTo>
                <a:lnTo>
                  <a:pt x="6593" y="11015"/>
                </a:lnTo>
                <a:lnTo>
                  <a:pt x="6592" y="10993"/>
                </a:lnTo>
                <a:lnTo>
                  <a:pt x="6593" y="10954"/>
                </a:lnTo>
                <a:lnTo>
                  <a:pt x="6595" y="10925"/>
                </a:lnTo>
                <a:lnTo>
                  <a:pt x="6597" y="10906"/>
                </a:lnTo>
                <a:lnTo>
                  <a:pt x="6598" y="10899"/>
                </a:lnTo>
                <a:lnTo>
                  <a:pt x="7004" y="11176"/>
                </a:lnTo>
                <a:lnTo>
                  <a:pt x="7005" y="11190"/>
                </a:lnTo>
                <a:lnTo>
                  <a:pt x="7008" y="11226"/>
                </a:lnTo>
                <a:lnTo>
                  <a:pt x="7011" y="11286"/>
                </a:lnTo>
                <a:lnTo>
                  <a:pt x="7015" y="11363"/>
                </a:lnTo>
                <a:lnTo>
                  <a:pt x="7018" y="11457"/>
                </a:lnTo>
                <a:lnTo>
                  <a:pt x="7020" y="11567"/>
                </a:lnTo>
                <a:lnTo>
                  <a:pt x="7019" y="11626"/>
                </a:lnTo>
                <a:lnTo>
                  <a:pt x="7018" y="11689"/>
                </a:lnTo>
                <a:lnTo>
                  <a:pt x="7017" y="11753"/>
                </a:lnTo>
                <a:lnTo>
                  <a:pt x="7015" y="11819"/>
                </a:lnTo>
                <a:lnTo>
                  <a:pt x="7011" y="11888"/>
                </a:lnTo>
                <a:lnTo>
                  <a:pt x="7006" y="11957"/>
                </a:lnTo>
                <a:lnTo>
                  <a:pt x="7001" y="12029"/>
                </a:lnTo>
                <a:lnTo>
                  <a:pt x="6994" y="12101"/>
                </a:lnTo>
                <a:lnTo>
                  <a:pt x="6984" y="12173"/>
                </a:lnTo>
                <a:lnTo>
                  <a:pt x="6974" y="12246"/>
                </a:lnTo>
                <a:lnTo>
                  <a:pt x="6963" y="12319"/>
                </a:lnTo>
                <a:lnTo>
                  <a:pt x="6949" y="12392"/>
                </a:lnTo>
                <a:lnTo>
                  <a:pt x="6934" y="12463"/>
                </a:lnTo>
                <a:lnTo>
                  <a:pt x="6917" y="12535"/>
                </a:lnTo>
                <a:lnTo>
                  <a:pt x="6898" y="12605"/>
                </a:lnTo>
                <a:lnTo>
                  <a:pt x="6877" y="12674"/>
                </a:lnTo>
                <a:lnTo>
                  <a:pt x="6853" y="12740"/>
                </a:lnTo>
                <a:lnTo>
                  <a:pt x="6828" y="12805"/>
                </a:lnTo>
                <a:lnTo>
                  <a:pt x="6799" y="12866"/>
                </a:lnTo>
                <a:lnTo>
                  <a:pt x="6769" y="12926"/>
                </a:lnTo>
                <a:lnTo>
                  <a:pt x="6735" y="12985"/>
                </a:lnTo>
                <a:lnTo>
                  <a:pt x="6695" y="13042"/>
                </a:lnTo>
                <a:lnTo>
                  <a:pt x="6653" y="13100"/>
                </a:lnTo>
                <a:lnTo>
                  <a:pt x="6605" y="13157"/>
                </a:lnTo>
                <a:lnTo>
                  <a:pt x="6555" y="13215"/>
                </a:lnTo>
                <a:lnTo>
                  <a:pt x="6500" y="13271"/>
                </a:lnTo>
                <a:lnTo>
                  <a:pt x="6443" y="13325"/>
                </a:lnTo>
                <a:lnTo>
                  <a:pt x="6381" y="13379"/>
                </a:lnTo>
                <a:lnTo>
                  <a:pt x="6317" y="13431"/>
                </a:lnTo>
                <a:lnTo>
                  <a:pt x="6251" y="13481"/>
                </a:lnTo>
                <a:lnTo>
                  <a:pt x="6181" y="13529"/>
                </a:lnTo>
                <a:lnTo>
                  <a:pt x="6109" y="13575"/>
                </a:lnTo>
                <a:lnTo>
                  <a:pt x="6034" y="13618"/>
                </a:lnTo>
                <a:lnTo>
                  <a:pt x="5959" y="13659"/>
                </a:lnTo>
                <a:lnTo>
                  <a:pt x="5880" y="13697"/>
                </a:lnTo>
                <a:lnTo>
                  <a:pt x="5800" y="13731"/>
                </a:lnTo>
                <a:lnTo>
                  <a:pt x="5719" y="13762"/>
                </a:lnTo>
                <a:lnTo>
                  <a:pt x="5636" y="13791"/>
                </a:lnTo>
                <a:lnTo>
                  <a:pt x="5552" y="13814"/>
                </a:lnTo>
                <a:lnTo>
                  <a:pt x="5468" y="13834"/>
                </a:lnTo>
                <a:lnTo>
                  <a:pt x="5384" y="13849"/>
                </a:lnTo>
                <a:lnTo>
                  <a:pt x="5299" y="13860"/>
                </a:lnTo>
                <a:lnTo>
                  <a:pt x="5213" y="13867"/>
                </a:lnTo>
                <a:lnTo>
                  <a:pt x="5127" y="13869"/>
                </a:lnTo>
                <a:lnTo>
                  <a:pt x="5041" y="13864"/>
                </a:lnTo>
                <a:lnTo>
                  <a:pt x="4956" y="13855"/>
                </a:lnTo>
                <a:lnTo>
                  <a:pt x="4871" y="13840"/>
                </a:lnTo>
                <a:lnTo>
                  <a:pt x="4787" y="13819"/>
                </a:lnTo>
                <a:lnTo>
                  <a:pt x="4704" y="13793"/>
                </a:lnTo>
                <a:lnTo>
                  <a:pt x="4623" y="13759"/>
                </a:lnTo>
                <a:lnTo>
                  <a:pt x="4543" y="13719"/>
                </a:lnTo>
                <a:lnTo>
                  <a:pt x="4464" y="13673"/>
                </a:lnTo>
                <a:lnTo>
                  <a:pt x="4386" y="13621"/>
                </a:lnTo>
                <a:lnTo>
                  <a:pt x="4308" y="13566"/>
                </a:lnTo>
                <a:lnTo>
                  <a:pt x="4231" y="13508"/>
                </a:lnTo>
                <a:lnTo>
                  <a:pt x="4156" y="13447"/>
                </a:lnTo>
                <a:lnTo>
                  <a:pt x="4080" y="13383"/>
                </a:lnTo>
                <a:lnTo>
                  <a:pt x="4005" y="13316"/>
                </a:lnTo>
                <a:lnTo>
                  <a:pt x="3932" y="13247"/>
                </a:lnTo>
                <a:lnTo>
                  <a:pt x="3860" y="13175"/>
                </a:lnTo>
                <a:lnTo>
                  <a:pt x="3788" y="13101"/>
                </a:lnTo>
                <a:lnTo>
                  <a:pt x="3718" y="13024"/>
                </a:lnTo>
                <a:lnTo>
                  <a:pt x="3649" y="12945"/>
                </a:lnTo>
                <a:lnTo>
                  <a:pt x="3582" y="12864"/>
                </a:lnTo>
                <a:lnTo>
                  <a:pt x="3516" y="12782"/>
                </a:lnTo>
                <a:lnTo>
                  <a:pt x="3452" y="12698"/>
                </a:lnTo>
                <a:lnTo>
                  <a:pt x="3390" y="12611"/>
                </a:lnTo>
                <a:lnTo>
                  <a:pt x="3330" y="12523"/>
                </a:lnTo>
                <a:lnTo>
                  <a:pt x="3271" y="12434"/>
                </a:lnTo>
                <a:lnTo>
                  <a:pt x="3215" y="12343"/>
                </a:lnTo>
                <a:lnTo>
                  <a:pt x="3160" y="12252"/>
                </a:lnTo>
                <a:lnTo>
                  <a:pt x="3108" y="12159"/>
                </a:lnTo>
                <a:lnTo>
                  <a:pt x="3058" y="12065"/>
                </a:lnTo>
                <a:lnTo>
                  <a:pt x="3011" y="11970"/>
                </a:lnTo>
                <a:lnTo>
                  <a:pt x="2966" y="11875"/>
                </a:lnTo>
                <a:lnTo>
                  <a:pt x="2924" y="11780"/>
                </a:lnTo>
                <a:lnTo>
                  <a:pt x="2884" y="11684"/>
                </a:lnTo>
                <a:lnTo>
                  <a:pt x="2848" y="11587"/>
                </a:lnTo>
                <a:lnTo>
                  <a:pt x="2814" y="11490"/>
                </a:lnTo>
                <a:lnTo>
                  <a:pt x="2783" y="11393"/>
                </a:lnTo>
                <a:lnTo>
                  <a:pt x="2755" y="11296"/>
                </a:lnTo>
                <a:lnTo>
                  <a:pt x="2731" y="11199"/>
                </a:lnTo>
                <a:lnTo>
                  <a:pt x="2709" y="11102"/>
                </a:lnTo>
                <a:lnTo>
                  <a:pt x="2692" y="11006"/>
                </a:lnTo>
                <a:lnTo>
                  <a:pt x="2677" y="10910"/>
                </a:lnTo>
                <a:lnTo>
                  <a:pt x="2663" y="10815"/>
                </a:lnTo>
                <a:lnTo>
                  <a:pt x="2651" y="10721"/>
                </a:lnTo>
                <a:lnTo>
                  <a:pt x="2641" y="10627"/>
                </a:lnTo>
                <a:lnTo>
                  <a:pt x="2631" y="10535"/>
                </a:lnTo>
                <a:lnTo>
                  <a:pt x="2624" y="10443"/>
                </a:lnTo>
                <a:lnTo>
                  <a:pt x="2617" y="10353"/>
                </a:lnTo>
                <a:lnTo>
                  <a:pt x="2611" y="10263"/>
                </a:lnTo>
                <a:lnTo>
                  <a:pt x="2607" y="10176"/>
                </a:lnTo>
                <a:lnTo>
                  <a:pt x="2604" y="10091"/>
                </a:lnTo>
                <a:lnTo>
                  <a:pt x="2602" y="10006"/>
                </a:lnTo>
                <a:lnTo>
                  <a:pt x="2601" y="9924"/>
                </a:lnTo>
                <a:lnTo>
                  <a:pt x="2601" y="9843"/>
                </a:lnTo>
                <a:lnTo>
                  <a:pt x="2602" y="9764"/>
                </a:lnTo>
                <a:lnTo>
                  <a:pt x="2604" y="9687"/>
                </a:lnTo>
                <a:lnTo>
                  <a:pt x="2606" y="9614"/>
                </a:lnTo>
                <a:lnTo>
                  <a:pt x="2609" y="9542"/>
                </a:lnTo>
                <a:lnTo>
                  <a:pt x="2613" y="9472"/>
                </a:lnTo>
                <a:lnTo>
                  <a:pt x="2619" y="9406"/>
                </a:lnTo>
                <a:lnTo>
                  <a:pt x="2624" y="9342"/>
                </a:lnTo>
                <a:lnTo>
                  <a:pt x="2630" y="9280"/>
                </a:lnTo>
                <a:lnTo>
                  <a:pt x="2636" y="9223"/>
                </a:lnTo>
                <a:lnTo>
                  <a:pt x="2643" y="9167"/>
                </a:lnTo>
                <a:lnTo>
                  <a:pt x="2650" y="9116"/>
                </a:lnTo>
                <a:lnTo>
                  <a:pt x="2657" y="9067"/>
                </a:lnTo>
                <a:lnTo>
                  <a:pt x="2665" y="9022"/>
                </a:lnTo>
                <a:lnTo>
                  <a:pt x="2673" y="8980"/>
                </a:lnTo>
                <a:lnTo>
                  <a:pt x="2681" y="8942"/>
                </a:lnTo>
                <a:lnTo>
                  <a:pt x="2689" y="8909"/>
                </a:lnTo>
                <a:lnTo>
                  <a:pt x="2697" y="8878"/>
                </a:lnTo>
                <a:lnTo>
                  <a:pt x="2705" y="8852"/>
                </a:lnTo>
                <a:lnTo>
                  <a:pt x="2714" y="8830"/>
                </a:lnTo>
                <a:lnTo>
                  <a:pt x="2730" y="8790"/>
                </a:lnTo>
                <a:lnTo>
                  <a:pt x="2746" y="8752"/>
                </a:lnTo>
                <a:lnTo>
                  <a:pt x="2763" y="8715"/>
                </a:lnTo>
                <a:lnTo>
                  <a:pt x="2779" y="8679"/>
                </a:lnTo>
                <a:lnTo>
                  <a:pt x="2812" y="8615"/>
                </a:lnTo>
                <a:lnTo>
                  <a:pt x="2842" y="8557"/>
                </a:lnTo>
                <a:lnTo>
                  <a:pt x="2867" y="8511"/>
                </a:lnTo>
                <a:lnTo>
                  <a:pt x="2887" y="8475"/>
                </a:lnTo>
                <a:lnTo>
                  <a:pt x="2900" y="8453"/>
                </a:lnTo>
                <a:lnTo>
                  <a:pt x="2906" y="8446"/>
                </a:lnTo>
                <a:close/>
                <a:moveTo>
                  <a:pt x="2372" y="8211"/>
                </a:moveTo>
                <a:lnTo>
                  <a:pt x="2368" y="8217"/>
                </a:lnTo>
                <a:lnTo>
                  <a:pt x="2356" y="8233"/>
                </a:lnTo>
                <a:lnTo>
                  <a:pt x="2338" y="8260"/>
                </a:lnTo>
                <a:lnTo>
                  <a:pt x="2314" y="8298"/>
                </a:lnTo>
                <a:lnTo>
                  <a:pt x="2300" y="8322"/>
                </a:lnTo>
                <a:lnTo>
                  <a:pt x="2286" y="8348"/>
                </a:lnTo>
                <a:lnTo>
                  <a:pt x="2270" y="8376"/>
                </a:lnTo>
                <a:lnTo>
                  <a:pt x="2254" y="8408"/>
                </a:lnTo>
                <a:lnTo>
                  <a:pt x="2237" y="8442"/>
                </a:lnTo>
                <a:lnTo>
                  <a:pt x="2219" y="8478"/>
                </a:lnTo>
                <a:lnTo>
                  <a:pt x="2201" y="8519"/>
                </a:lnTo>
                <a:lnTo>
                  <a:pt x="2183" y="8560"/>
                </a:lnTo>
                <a:lnTo>
                  <a:pt x="2164" y="8606"/>
                </a:lnTo>
                <a:lnTo>
                  <a:pt x="2146" y="8653"/>
                </a:lnTo>
                <a:lnTo>
                  <a:pt x="2126" y="8703"/>
                </a:lnTo>
                <a:lnTo>
                  <a:pt x="2108" y="8756"/>
                </a:lnTo>
                <a:lnTo>
                  <a:pt x="2090" y="8812"/>
                </a:lnTo>
                <a:lnTo>
                  <a:pt x="2072" y="8869"/>
                </a:lnTo>
                <a:lnTo>
                  <a:pt x="2055" y="8931"/>
                </a:lnTo>
                <a:lnTo>
                  <a:pt x="2038" y="8993"/>
                </a:lnTo>
                <a:lnTo>
                  <a:pt x="2023" y="9060"/>
                </a:lnTo>
                <a:lnTo>
                  <a:pt x="2008" y="9129"/>
                </a:lnTo>
                <a:lnTo>
                  <a:pt x="1994" y="9201"/>
                </a:lnTo>
                <a:lnTo>
                  <a:pt x="1982" y="9274"/>
                </a:lnTo>
                <a:lnTo>
                  <a:pt x="1970" y="9352"/>
                </a:lnTo>
                <a:lnTo>
                  <a:pt x="1961" y="9431"/>
                </a:lnTo>
                <a:lnTo>
                  <a:pt x="1952" y="9513"/>
                </a:lnTo>
                <a:lnTo>
                  <a:pt x="1945" y="9598"/>
                </a:lnTo>
                <a:lnTo>
                  <a:pt x="1940" y="9684"/>
                </a:lnTo>
                <a:lnTo>
                  <a:pt x="1939" y="9772"/>
                </a:lnTo>
                <a:lnTo>
                  <a:pt x="1940" y="9862"/>
                </a:lnTo>
                <a:lnTo>
                  <a:pt x="1944" y="9952"/>
                </a:lnTo>
                <a:lnTo>
                  <a:pt x="1951" y="10042"/>
                </a:lnTo>
                <a:lnTo>
                  <a:pt x="1959" y="10133"/>
                </a:lnTo>
                <a:lnTo>
                  <a:pt x="1969" y="10224"/>
                </a:lnTo>
                <a:lnTo>
                  <a:pt x="1981" y="10315"/>
                </a:lnTo>
                <a:lnTo>
                  <a:pt x="1995" y="10405"/>
                </a:lnTo>
                <a:lnTo>
                  <a:pt x="2010" y="10495"/>
                </a:lnTo>
                <a:lnTo>
                  <a:pt x="2027" y="10582"/>
                </a:lnTo>
                <a:lnTo>
                  <a:pt x="2046" y="10669"/>
                </a:lnTo>
                <a:lnTo>
                  <a:pt x="2064" y="10754"/>
                </a:lnTo>
                <a:lnTo>
                  <a:pt x="2083" y="10838"/>
                </a:lnTo>
                <a:lnTo>
                  <a:pt x="2103" y="10919"/>
                </a:lnTo>
                <a:lnTo>
                  <a:pt x="2123" y="10998"/>
                </a:lnTo>
                <a:lnTo>
                  <a:pt x="2145" y="11074"/>
                </a:lnTo>
                <a:lnTo>
                  <a:pt x="2165" y="11147"/>
                </a:lnTo>
                <a:lnTo>
                  <a:pt x="2185" y="11217"/>
                </a:lnTo>
                <a:lnTo>
                  <a:pt x="2205" y="11284"/>
                </a:lnTo>
                <a:lnTo>
                  <a:pt x="2224" y="11346"/>
                </a:lnTo>
                <a:lnTo>
                  <a:pt x="2244" y="11405"/>
                </a:lnTo>
                <a:lnTo>
                  <a:pt x="2261" y="11459"/>
                </a:lnTo>
                <a:lnTo>
                  <a:pt x="2278" y="11509"/>
                </a:lnTo>
                <a:lnTo>
                  <a:pt x="2307" y="11594"/>
                </a:lnTo>
                <a:lnTo>
                  <a:pt x="2331" y="11656"/>
                </a:lnTo>
                <a:lnTo>
                  <a:pt x="2346" y="11697"/>
                </a:lnTo>
                <a:lnTo>
                  <a:pt x="2351" y="11710"/>
                </a:lnTo>
                <a:lnTo>
                  <a:pt x="2335" y="11704"/>
                </a:lnTo>
                <a:lnTo>
                  <a:pt x="2288" y="11686"/>
                </a:lnTo>
                <a:lnTo>
                  <a:pt x="2255" y="11672"/>
                </a:lnTo>
                <a:lnTo>
                  <a:pt x="2215" y="11656"/>
                </a:lnTo>
                <a:lnTo>
                  <a:pt x="2170" y="11637"/>
                </a:lnTo>
                <a:lnTo>
                  <a:pt x="2119" y="11615"/>
                </a:lnTo>
                <a:lnTo>
                  <a:pt x="2064" y="11591"/>
                </a:lnTo>
                <a:lnTo>
                  <a:pt x="2003" y="11562"/>
                </a:lnTo>
                <a:lnTo>
                  <a:pt x="1938" y="11532"/>
                </a:lnTo>
                <a:lnTo>
                  <a:pt x="1871" y="11499"/>
                </a:lnTo>
                <a:lnTo>
                  <a:pt x="1800" y="11462"/>
                </a:lnTo>
                <a:lnTo>
                  <a:pt x="1726" y="11423"/>
                </a:lnTo>
                <a:lnTo>
                  <a:pt x="1649" y="11382"/>
                </a:lnTo>
                <a:lnTo>
                  <a:pt x="1572" y="11336"/>
                </a:lnTo>
                <a:lnTo>
                  <a:pt x="1492" y="11290"/>
                </a:lnTo>
                <a:lnTo>
                  <a:pt x="1411" y="11239"/>
                </a:lnTo>
                <a:lnTo>
                  <a:pt x="1329" y="11187"/>
                </a:lnTo>
                <a:lnTo>
                  <a:pt x="1248" y="11131"/>
                </a:lnTo>
                <a:lnTo>
                  <a:pt x="1166" y="11072"/>
                </a:lnTo>
                <a:lnTo>
                  <a:pt x="1085" y="11012"/>
                </a:lnTo>
                <a:lnTo>
                  <a:pt x="1006" y="10948"/>
                </a:lnTo>
                <a:lnTo>
                  <a:pt x="928" y="10881"/>
                </a:lnTo>
                <a:lnTo>
                  <a:pt x="851" y="10813"/>
                </a:lnTo>
                <a:lnTo>
                  <a:pt x="777" y="10742"/>
                </a:lnTo>
                <a:lnTo>
                  <a:pt x="706" y="10667"/>
                </a:lnTo>
                <a:lnTo>
                  <a:pt x="639" y="10591"/>
                </a:lnTo>
                <a:lnTo>
                  <a:pt x="574" y="10512"/>
                </a:lnTo>
                <a:lnTo>
                  <a:pt x="514" y="10430"/>
                </a:lnTo>
                <a:lnTo>
                  <a:pt x="459" y="10346"/>
                </a:lnTo>
                <a:lnTo>
                  <a:pt x="408" y="10259"/>
                </a:lnTo>
                <a:lnTo>
                  <a:pt x="361" y="10171"/>
                </a:lnTo>
                <a:lnTo>
                  <a:pt x="316" y="10082"/>
                </a:lnTo>
                <a:lnTo>
                  <a:pt x="273" y="9994"/>
                </a:lnTo>
                <a:lnTo>
                  <a:pt x="232" y="9905"/>
                </a:lnTo>
                <a:lnTo>
                  <a:pt x="195" y="9817"/>
                </a:lnTo>
                <a:lnTo>
                  <a:pt x="160" y="9728"/>
                </a:lnTo>
                <a:lnTo>
                  <a:pt x="128" y="9641"/>
                </a:lnTo>
                <a:lnTo>
                  <a:pt x="99" y="9554"/>
                </a:lnTo>
                <a:lnTo>
                  <a:pt x="74" y="9468"/>
                </a:lnTo>
                <a:lnTo>
                  <a:pt x="52" y="9383"/>
                </a:lnTo>
                <a:lnTo>
                  <a:pt x="33" y="9300"/>
                </a:lnTo>
                <a:lnTo>
                  <a:pt x="18" y="9218"/>
                </a:lnTo>
                <a:lnTo>
                  <a:pt x="8" y="9137"/>
                </a:lnTo>
                <a:lnTo>
                  <a:pt x="2" y="9058"/>
                </a:lnTo>
                <a:lnTo>
                  <a:pt x="0" y="8981"/>
                </a:lnTo>
                <a:lnTo>
                  <a:pt x="3" y="8907"/>
                </a:lnTo>
                <a:lnTo>
                  <a:pt x="10" y="8835"/>
                </a:lnTo>
                <a:lnTo>
                  <a:pt x="22" y="8765"/>
                </a:lnTo>
                <a:lnTo>
                  <a:pt x="39" y="8698"/>
                </a:lnTo>
                <a:lnTo>
                  <a:pt x="63" y="8633"/>
                </a:lnTo>
                <a:lnTo>
                  <a:pt x="91" y="8572"/>
                </a:lnTo>
                <a:lnTo>
                  <a:pt x="124" y="8514"/>
                </a:lnTo>
                <a:lnTo>
                  <a:pt x="165" y="8459"/>
                </a:lnTo>
                <a:lnTo>
                  <a:pt x="210" y="8408"/>
                </a:lnTo>
                <a:lnTo>
                  <a:pt x="262" y="8360"/>
                </a:lnTo>
                <a:lnTo>
                  <a:pt x="320" y="8317"/>
                </a:lnTo>
                <a:lnTo>
                  <a:pt x="385" y="8277"/>
                </a:lnTo>
                <a:lnTo>
                  <a:pt x="457" y="8242"/>
                </a:lnTo>
                <a:lnTo>
                  <a:pt x="535" y="8212"/>
                </a:lnTo>
                <a:lnTo>
                  <a:pt x="621" y="8185"/>
                </a:lnTo>
                <a:lnTo>
                  <a:pt x="714" y="8163"/>
                </a:lnTo>
                <a:lnTo>
                  <a:pt x="814" y="8147"/>
                </a:lnTo>
                <a:lnTo>
                  <a:pt x="916" y="8134"/>
                </a:lnTo>
                <a:lnTo>
                  <a:pt x="1014" y="8123"/>
                </a:lnTo>
                <a:lnTo>
                  <a:pt x="1109" y="8114"/>
                </a:lnTo>
                <a:lnTo>
                  <a:pt x="1200" y="8107"/>
                </a:lnTo>
                <a:lnTo>
                  <a:pt x="1287" y="8102"/>
                </a:lnTo>
                <a:lnTo>
                  <a:pt x="1369" y="8097"/>
                </a:lnTo>
                <a:lnTo>
                  <a:pt x="1449" y="8095"/>
                </a:lnTo>
                <a:lnTo>
                  <a:pt x="1525" y="8093"/>
                </a:lnTo>
                <a:lnTo>
                  <a:pt x="1598" y="8094"/>
                </a:lnTo>
                <a:lnTo>
                  <a:pt x="1667" y="8095"/>
                </a:lnTo>
                <a:lnTo>
                  <a:pt x="1732" y="8098"/>
                </a:lnTo>
                <a:lnTo>
                  <a:pt x="1795" y="8102"/>
                </a:lnTo>
                <a:lnTo>
                  <a:pt x="1852" y="8106"/>
                </a:lnTo>
                <a:lnTo>
                  <a:pt x="1908" y="8111"/>
                </a:lnTo>
                <a:lnTo>
                  <a:pt x="1961" y="8117"/>
                </a:lnTo>
                <a:lnTo>
                  <a:pt x="2009" y="8123"/>
                </a:lnTo>
                <a:lnTo>
                  <a:pt x="2055" y="8130"/>
                </a:lnTo>
                <a:lnTo>
                  <a:pt x="2096" y="8137"/>
                </a:lnTo>
                <a:lnTo>
                  <a:pt x="2135" y="8144"/>
                </a:lnTo>
                <a:lnTo>
                  <a:pt x="2172" y="8151"/>
                </a:lnTo>
                <a:lnTo>
                  <a:pt x="2204" y="8159"/>
                </a:lnTo>
                <a:lnTo>
                  <a:pt x="2233" y="8166"/>
                </a:lnTo>
                <a:lnTo>
                  <a:pt x="2261" y="8173"/>
                </a:lnTo>
                <a:lnTo>
                  <a:pt x="2284" y="8180"/>
                </a:lnTo>
                <a:lnTo>
                  <a:pt x="2323" y="8192"/>
                </a:lnTo>
                <a:lnTo>
                  <a:pt x="2351" y="8203"/>
                </a:lnTo>
                <a:lnTo>
                  <a:pt x="2367" y="8209"/>
                </a:lnTo>
                <a:lnTo>
                  <a:pt x="2372" y="8211"/>
                </a:lnTo>
                <a:close/>
                <a:moveTo>
                  <a:pt x="11913" y="11560"/>
                </a:moveTo>
                <a:lnTo>
                  <a:pt x="13685" y="11069"/>
                </a:lnTo>
                <a:lnTo>
                  <a:pt x="13682" y="11077"/>
                </a:lnTo>
                <a:lnTo>
                  <a:pt x="13676" y="11099"/>
                </a:lnTo>
                <a:lnTo>
                  <a:pt x="13666" y="11133"/>
                </a:lnTo>
                <a:lnTo>
                  <a:pt x="13652" y="11178"/>
                </a:lnTo>
                <a:lnTo>
                  <a:pt x="13632" y="11234"/>
                </a:lnTo>
                <a:lnTo>
                  <a:pt x="13609" y="11297"/>
                </a:lnTo>
                <a:lnTo>
                  <a:pt x="13596" y="11332"/>
                </a:lnTo>
                <a:lnTo>
                  <a:pt x="13581" y="11367"/>
                </a:lnTo>
                <a:lnTo>
                  <a:pt x="13566" y="11405"/>
                </a:lnTo>
                <a:lnTo>
                  <a:pt x="13548" y="11443"/>
                </a:lnTo>
                <a:lnTo>
                  <a:pt x="13530" y="11483"/>
                </a:lnTo>
                <a:lnTo>
                  <a:pt x="13511" y="11523"/>
                </a:lnTo>
                <a:lnTo>
                  <a:pt x="13490" y="11564"/>
                </a:lnTo>
                <a:lnTo>
                  <a:pt x="13469" y="11606"/>
                </a:lnTo>
                <a:lnTo>
                  <a:pt x="13445" y="11647"/>
                </a:lnTo>
                <a:lnTo>
                  <a:pt x="13421" y="11689"/>
                </a:lnTo>
                <a:lnTo>
                  <a:pt x="13396" y="11730"/>
                </a:lnTo>
                <a:lnTo>
                  <a:pt x="13370" y="11771"/>
                </a:lnTo>
                <a:lnTo>
                  <a:pt x="13341" y="11813"/>
                </a:lnTo>
                <a:lnTo>
                  <a:pt x="13312" y="11853"/>
                </a:lnTo>
                <a:lnTo>
                  <a:pt x="13281" y="11893"/>
                </a:lnTo>
                <a:lnTo>
                  <a:pt x="13249" y="11932"/>
                </a:lnTo>
                <a:lnTo>
                  <a:pt x="13216" y="11969"/>
                </a:lnTo>
                <a:lnTo>
                  <a:pt x="13182" y="12005"/>
                </a:lnTo>
                <a:lnTo>
                  <a:pt x="13145" y="12040"/>
                </a:lnTo>
                <a:lnTo>
                  <a:pt x="13108" y="12072"/>
                </a:lnTo>
                <a:lnTo>
                  <a:pt x="13070" y="12104"/>
                </a:lnTo>
                <a:lnTo>
                  <a:pt x="13032" y="12134"/>
                </a:lnTo>
                <a:lnTo>
                  <a:pt x="12995" y="12163"/>
                </a:lnTo>
                <a:lnTo>
                  <a:pt x="12957" y="12191"/>
                </a:lnTo>
                <a:lnTo>
                  <a:pt x="12921" y="12218"/>
                </a:lnTo>
                <a:lnTo>
                  <a:pt x="12884" y="12243"/>
                </a:lnTo>
                <a:lnTo>
                  <a:pt x="12849" y="12267"/>
                </a:lnTo>
                <a:lnTo>
                  <a:pt x="12814" y="12290"/>
                </a:lnTo>
                <a:lnTo>
                  <a:pt x="12779" y="12312"/>
                </a:lnTo>
                <a:lnTo>
                  <a:pt x="12745" y="12333"/>
                </a:lnTo>
                <a:lnTo>
                  <a:pt x="12712" y="12352"/>
                </a:lnTo>
                <a:lnTo>
                  <a:pt x="12680" y="12371"/>
                </a:lnTo>
                <a:lnTo>
                  <a:pt x="12619" y="12405"/>
                </a:lnTo>
                <a:lnTo>
                  <a:pt x="12561" y="12435"/>
                </a:lnTo>
                <a:lnTo>
                  <a:pt x="12509" y="12461"/>
                </a:lnTo>
                <a:lnTo>
                  <a:pt x="12461" y="12484"/>
                </a:lnTo>
                <a:lnTo>
                  <a:pt x="12420" y="12502"/>
                </a:lnTo>
                <a:lnTo>
                  <a:pt x="12384" y="12517"/>
                </a:lnTo>
                <a:lnTo>
                  <a:pt x="12356" y="12528"/>
                </a:lnTo>
                <a:lnTo>
                  <a:pt x="12336" y="12536"/>
                </a:lnTo>
                <a:lnTo>
                  <a:pt x="12323" y="12540"/>
                </a:lnTo>
                <a:lnTo>
                  <a:pt x="12319" y="12542"/>
                </a:lnTo>
                <a:lnTo>
                  <a:pt x="11422" y="12734"/>
                </a:lnTo>
                <a:lnTo>
                  <a:pt x="11425" y="12728"/>
                </a:lnTo>
                <a:lnTo>
                  <a:pt x="11435" y="12710"/>
                </a:lnTo>
                <a:lnTo>
                  <a:pt x="11451" y="12682"/>
                </a:lnTo>
                <a:lnTo>
                  <a:pt x="11473" y="12644"/>
                </a:lnTo>
                <a:lnTo>
                  <a:pt x="11498" y="12599"/>
                </a:lnTo>
                <a:lnTo>
                  <a:pt x="11525" y="12547"/>
                </a:lnTo>
                <a:lnTo>
                  <a:pt x="11555" y="12491"/>
                </a:lnTo>
                <a:lnTo>
                  <a:pt x="11588" y="12430"/>
                </a:lnTo>
                <a:lnTo>
                  <a:pt x="11619" y="12367"/>
                </a:lnTo>
                <a:lnTo>
                  <a:pt x="11651" y="12303"/>
                </a:lnTo>
                <a:lnTo>
                  <a:pt x="11682" y="12239"/>
                </a:lnTo>
                <a:lnTo>
                  <a:pt x="11710" y="12176"/>
                </a:lnTo>
                <a:lnTo>
                  <a:pt x="11723" y="12145"/>
                </a:lnTo>
                <a:lnTo>
                  <a:pt x="11735" y="12116"/>
                </a:lnTo>
                <a:lnTo>
                  <a:pt x="11746" y="12088"/>
                </a:lnTo>
                <a:lnTo>
                  <a:pt x="11757" y="12060"/>
                </a:lnTo>
                <a:lnTo>
                  <a:pt x="11766" y="12034"/>
                </a:lnTo>
                <a:lnTo>
                  <a:pt x="11774" y="12010"/>
                </a:lnTo>
                <a:lnTo>
                  <a:pt x="11780" y="11987"/>
                </a:lnTo>
                <a:lnTo>
                  <a:pt x="11785" y="11965"/>
                </a:lnTo>
                <a:lnTo>
                  <a:pt x="11793" y="11926"/>
                </a:lnTo>
                <a:lnTo>
                  <a:pt x="11802" y="11888"/>
                </a:lnTo>
                <a:lnTo>
                  <a:pt x="11812" y="11849"/>
                </a:lnTo>
                <a:lnTo>
                  <a:pt x="11822" y="11813"/>
                </a:lnTo>
                <a:lnTo>
                  <a:pt x="11833" y="11777"/>
                </a:lnTo>
                <a:lnTo>
                  <a:pt x="11844" y="11744"/>
                </a:lnTo>
                <a:lnTo>
                  <a:pt x="11855" y="11713"/>
                </a:lnTo>
                <a:lnTo>
                  <a:pt x="11865" y="11684"/>
                </a:lnTo>
                <a:lnTo>
                  <a:pt x="11884" y="11633"/>
                </a:lnTo>
                <a:lnTo>
                  <a:pt x="11899" y="11594"/>
                </a:lnTo>
                <a:lnTo>
                  <a:pt x="11909" y="11569"/>
                </a:lnTo>
                <a:lnTo>
                  <a:pt x="11913" y="11560"/>
                </a:lnTo>
                <a:close/>
                <a:moveTo>
                  <a:pt x="7622" y="11497"/>
                </a:moveTo>
                <a:lnTo>
                  <a:pt x="7633" y="11503"/>
                </a:lnTo>
                <a:lnTo>
                  <a:pt x="7663" y="11521"/>
                </a:lnTo>
                <a:lnTo>
                  <a:pt x="7710" y="11549"/>
                </a:lnTo>
                <a:lnTo>
                  <a:pt x="7775" y="11586"/>
                </a:lnTo>
                <a:lnTo>
                  <a:pt x="7812" y="11607"/>
                </a:lnTo>
                <a:lnTo>
                  <a:pt x="7854" y="11629"/>
                </a:lnTo>
                <a:lnTo>
                  <a:pt x="7899" y="11652"/>
                </a:lnTo>
                <a:lnTo>
                  <a:pt x="7947" y="11676"/>
                </a:lnTo>
                <a:lnTo>
                  <a:pt x="7998" y="11702"/>
                </a:lnTo>
                <a:lnTo>
                  <a:pt x="8052" y="11727"/>
                </a:lnTo>
                <a:lnTo>
                  <a:pt x="8108" y="11753"/>
                </a:lnTo>
                <a:lnTo>
                  <a:pt x="8167" y="11780"/>
                </a:lnTo>
                <a:lnTo>
                  <a:pt x="8227" y="11805"/>
                </a:lnTo>
                <a:lnTo>
                  <a:pt x="8291" y="11831"/>
                </a:lnTo>
                <a:lnTo>
                  <a:pt x="8356" y="11855"/>
                </a:lnTo>
                <a:lnTo>
                  <a:pt x="8423" y="11880"/>
                </a:lnTo>
                <a:lnTo>
                  <a:pt x="8491" y="11903"/>
                </a:lnTo>
                <a:lnTo>
                  <a:pt x="8561" y="11925"/>
                </a:lnTo>
                <a:lnTo>
                  <a:pt x="8632" y="11946"/>
                </a:lnTo>
                <a:lnTo>
                  <a:pt x="8704" y="11964"/>
                </a:lnTo>
                <a:lnTo>
                  <a:pt x="8775" y="11982"/>
                </a:lnTo>
                <a:lnTo>
                  <a:pt x="8848" y="11997"/>
                </a:lnTo>
                <a:lnTo>
                  <a:pt x="8922" y="12009"/>
                </a:lnTo>
                <a:lnTo>
                  <a:pt x="8996" y="12019"/>
                </a:lnTo>
                <a:lnTo>
                  <a:pt x="9068" y="12027"/>
                </a:lnTo>
                <a:lnTo>
                  <a:pt x="9142" y="12031"/>
                </a:lnTo>
                <a:lnTo>
                  <a:pt x="9215" y="12032"/>
                </a:lnTo>
                <a:lnTo>
                  <a:pt x="9288" y="12030"/>
                </a:lnTo>
                <a:lnTo>
                  <a:pt x="9360" y="12025"/>
                </a:lnTo>
                <a:lnTo>
                  <a:pt x="9434" y="12020"/>
                </a:lnTo>
                <a:lnTo>
                  <a:pt x="9510" y="12014"/>
                </a:lnTo>
                <a:lnTo>
                  <a:pt x="9586" y="12008"/>
                </a:lnTo>
                <a:lnTo>
                  <a:pt x="9663" y="12001"/>
                </a:lnTo>
                <a:lnTo>
                  <a:pt x="9740" y="11993"/>
                </a:lnTo>
                <a:lnTo>
                  <a:pt x="9817" y="11985"/>
                </a:lnTo>
                <a:lnTo>
                  <a:pt x="9895" y="11975"/>
                </a:lnTo>
                <a:lnTo>
                  <a:pt x="10049" y="11956"/>
                </a:lnTo>
                <a:lnTo>
                  <a:pt x="10199" y="11937"/>
                </a:lnTo>
                <a:lnTo>
                  <a:pt x="10345" y="11917"/>
                </a:lnTo>
                <a:lnTo>
                  <a:pt x="10483" y="11897"/>
                </a:lnTo>
                <a:lnTo>
                  <a:pt x="10612" y="11876"/>
                </a:lnTo>
                <a:lnTo>
                  <a:pt x="10730" y="11858"/>
                </a:lnTo>
                <a:lnTo>
                  <a:pt x="10836" y="11841"/>
                </a:lnTo>
                <a:lnTo>
                  <a:pt x="10926" y="11826"/>
                </a:lnTo>
                <a:lnTo>
                  <a:pt x="11000" y="11813"/>
                </a:lnTo>
                <a:lnTo>
                  <a:pt x="11055" y="11804"/>
                </a:lnTo>
                <a:lnTo>
                  <a:pt x="11090" y="11798"/>
                </a:lnTo>
                <a:lnTo>
                  <a:pt x="11102" y="11795"/>
                </a:lnTo>
                <a:lnTo>
                  <a:pt x="11100" y="11803"/>
                </a:lnTo>
                <a:lnTo>
                  <a:pt x="11093" y="11823"/>
                </a:lnTo>
                <a:lnTo>
                  <a:pt x="11082" y="11856"/>
                </a:lnTo>
                <a:lnTo>
                  <a:pt x="11066" y="11899"/>
                </a:lnTo>
                <a:lnTo>
                  <a:pt x="11048" y="11951"/>
                </a:lnTo>
                <a:lnTo>
                  <a:pt x="11027" y="12010"/>
                </a:lnTo>
                <a:lnTo>
                  <a:pt x="11004" y="12075"/>
                </a:lnTo>
                <a:lnTo>
                  <a:pt x="10979" y="12144"/>
                </a:lnTo>
                <a:lnTo>
                  <a:pt x="10952" y="12217"/>
                </a:lnTo>
                <a:lnTo>
                  <a:pt x="10925" y="12290"/>
                </a:lnTo>
                <a:lnTo>
                  <a:pt x="10897" y="12363"/>
                </a:lnTo>
                <a:lnTo>
                  <a:pt x="10867" y="12434"/>
                </a:lnTo>
                <a:lnTo>
                  <a:pt x="10839" y="12502"/>
                </a:lnTo>
                <a:lnTo>
                  <a:pt x="10812" y="12565"/>
                </a:lnTo>
                <a:lnTo>
                  <a:pt x="10799" y="12595"/>
                </a:lnTo>
                <a:lnTo>
                  <a:pt x="10785" y="12621"/>
                </a:lnTo>
                <a:lnTo>
                  <a:pt x="10772" y="12647"/>
                </a:lnTo>
                <a:lnTo>
                  <a:pt x="10760" y="12669"/>
                </a:lnTo>
                <a:lnTo>
                  <a:pt x="10747" y="12692"/>
                </a:lnTo>
                <a:lnTo>
                  <a:pt x="10733" y="12713"/>
                </a:lnTo>
                <a:lnTo>
                  <a:pt x="10716" y="12734"/>
                </a:lnTo>
                <a:lnTo>
                  <a:pt x="10697" y="12755"/>
                </a:lnTo>
                <a:lnTo>
                  <a:pt x="10678" y="12776"/>
                </a:lnTo>
                <a:lnTo>
                  <a:pt x="10657" y="12796"/>
                </a:lnTo>
                <a:lnTo>
                  <a:pt x="10635" y="12815"/>
                </a:lnTo>
                <a:lnTo>
                  <a:pt x="10611" y="12834"/>
                </a:lnTo>
                <a:lnTo>
                  <a:pt x="10585" y="12853"/>
                </a:lnTo>
                <a:lnTo>
                  <a:pt x="10559" y="12872"/>
                </a:lnTo>
                <a:lnTo>
                  <a:pt x="10531" y="12890"/>
                </a:lnTo>
                <a:lnTo>
                  <a:pt x="10502" y="12907"/>
                </a:lnTo>
                <a:lnTo>
                  <a:pt x="10473" y="12924"/>
                </a:lnTo>
                <a:lnTo>
                  <a:pt x="10442" y="12941"/>
                </a:lnTo>
                <a:lnTo>
                  <a:pt x="10410" y="12957"/>
                </a:lnTo>
                <a:lnTo>
                  <a:pt x="10379" y="12974"/>
                </a:lnTo>
                <a:lnTo>
                  <a:pt x="10346" y="12990"/>
                </a:lnTo>
                <a:lnTo>
                  <a:pt x="10312" y="13005"/>
                </a:lnTo>
                <a:lnTo>
                  <a:pt x="10278" y="13020"/>
                </a:lnTo>
                <a:lnTo>
                  <a:pt x="10244" y="13035"/>
                </a:lnTo>
                <a:lnTo>
                  <a:pt x="10174" y="13063"/>
                </a:lnTo>
                <a:lnTo>
                  <a:pt x="10103" y="13090"/>
                </a:lnTo>
                <a:lnTo>
                  <a:pt x="10031" y="13115"/>
                </a:lnTo>
                <a:lnTo>
                  <a:pt x="9961" y="13139"/>
                </a:lnTo>
                <a:lnTo>
                  <a:pt x="9890" y="13161"/>
                </a:lnTo>
                <a:lnTo>
                  <a:pt x="9821" y="13182"/>
                </a:lnTo>
                <a:lnTo>
                  <a:pt x="9725" y="13209"/>
                </a:lnTo>
                <a:lnTo>
                  <a:pt x="9580" y="13248"/>
                </a:lnTo>
                <a:lnTo>
                  <a:pt x="9393" y="13299"/>
                </a:lnTo>
                <a:lnTo>
                  <a:pt x="9171" y="13357"/>
                </a:lnTo>
                <a:lnTo>
                  <a:pt x="8923" y="13422"/>
                </a:lnTo>
                <a:lnTo>
                  <a:pt x="8655" y="13492"/>
                </a:lnTo>
                <a:lnTo>
                  <a:pt x="8377" y="13564"/>
                </a:lnTo>
                <a:lnTo>
                  <a:pt x="8095" y="13638"/>
                </a:lnTo>
                <a:lnTo>
                  <a:pt x="7817" y="13710"/>
                </a:lnTo>
                <a:lnTo>
                  <a:pt x="7551" y="13779"/>
                </a:lnTo>
                <a:lnTo>
                  <a:pt x="7305" y="13842"/>
                </a:lnTo>
                <a:lnTo>
                  <a:pt x="7087" y="13899"/>
                </a:lnTo>
                <a:lnTo>
                  <a:pt x="6903" y="13946"/>
                </a:lnTo>
                <a:lnTo>
                  <a:pt x="6762" y="13983"/>
                </a:lnTo>
                <a:lnTo>
                  <a:pt x="6672" y="14006"/>
                </a:lnTo>
                <a:lnTo>
                  <a:pt x="6641" y="14014"/>
                </a:lnTo>
                <a:lnTo>
                  <a:pt x="6649" y="14004"/>
                </a:lnTo>
                <a:lnTo>
                  <a:pt x="6673" y="13976"/>
                </a:lnTo>
                <a:lnTo>
                  <a:pt x="6711" y="13930"/>
                </a:lnTo>
                <a:lnTo>
                  <a:pt x="6760" y="13869"/>
                </a:lnTo>
                <a:lnTo>
                  <a:pt x="6820" y="13795"/>
                </a:lnTo>
                <a:lnTo>
                  <a:pt x="6887" y="13709"/>
                </a:lnTo>
                <a:lnTo>
                  <a:pt x="6960" y="13614"/>
                </a:lnTo>
                <a:lnTo>
                  <a:pt x="7038" y="13510"/>
                </a:lnTo>
                <a:lnTo>
                  <a:pt x="7078" y="13455"/>
                </a:lnTo>
                <a:lnTo>
                  <a:pt x="7118" y="13400"/>
                </a:lnTo>
                <a:lnTo>
                  <a:pt x="7158" y="13343"/>
                </a:lnTo>
                <a:lnTo>
                  <a:pt x="7199" y="13286"/>
                </a:lnTo>
                <a:lnTo>
                  <a:pt x="7238" y="13228"/>
                </a:lnTo>
                <a:lnTo>
                  <a:pt x="7277" y="13168"/>
                </a:lnTo>
                <a:lnTo>
                  <a:pt x="7315" y="13110"/>
                </a:lnTo>
                <a:lnTo>
                  <a:pt x="7352" y="13051"/>
                </a:lnTo>
                <a:lnTo>
                  <a:pt x="7388" y="12993"/>
                </a:lnTo>
                <a:lnTo>
                  <a:pt x="7422" y="12934"/>
                </a:lnTo>
                <a:lnTo>
                  <a:pt x="7454" y="12877"/>
                </a:lnTo>
                <a:lnTo>
                  <a:pt x="7485" y="12820"/>
                </a:lnTo>
                <a:lnTo>
                  <a:pt x="7512" y="12764"/>
                </a:lnTo>
                <a:lnTo>
                  <a:pt x="7537" y="12710"/>
                </a:lnTo>
                <a:lnTo>
                  <a:pt x="7560" y="12657"/>
                </a:lnTo>
                <a:lnTo>
                  <a:pt x="7580" y="12606"/>
                </a:lnTo>
                <a:lnTo>
                  <a:pt x="7597" y="12556"/>
                </a:lnTo>
                <a:lnTo>
                  <a:pt x="7612" y="12506"/>
                </a:lnTo>
                <a:lnTo>
                  <a:pt x="7625" y="12455"/>
                </a:lnTo>
                <a:lnTo>
                  <a:pt x="7637" y="12405"/>
                </a:lnTo>
                <a:lnTo>
                  <a:pt x="7646" y="12355"/>
                </a:lnTo>
                <a:lnTo>
                  <a:pt x="7654" y="12306"/>
                </a:lnTo>
                <a:lnTo>
                  <a:pt x="7662" y="12256"/>
                </a:lnTo>
                <a:lnTo>
                  <a:pt x="7668" y="12208"/>
                </a:lnTo>
                <a:lnTo>
                  <a:pt x="7672" y="12159"/>
                </a:lnTo>
                <a:lnTo>
                  <a:pt x="7675" y="12113"/>
                </a:lnTo>
                <a:lnTo>
                  <a:pt x="7677" y="12066"/>
                </a:lnTo>
                <a:lnTo>
                  <a:pt x="7678" y="12021"/>
                </a:lnTo>
                <a:lnTo>
                  <a:pt x="7678" y="11976"/>
                </a:lnTo>
                <a:lnTo>
                  <a:pt x="7677" y="11933"/>
                </a:lnTo>
                <a:lnTo>
                  <a:pt x="7676" y="11892"/>
                </a:lnTo>
                <a:lnTo>
                  <a:pt x="7674" y="11851"/>
                </a:lnTo>
                <a:lnTo>
                  <a:pt x="7671" y="11813"/>
                </a:lnTo>
                <a:lnTo>
                  <a:pt x="7668" y="11775"/>
                </a:lnTo>
                <a:lnTo>
                  <a:pt x="7664" y="11740"/>
                </a:lnTo>
                <a:lnTo>
                  <a:pt x="7660" y="11707"/>
                </a:lnTo>
                <a:lnTo>
                  <a:pt x="7651" y="11646"/>
                </a:lnTo>
                <a:lnTo>
                  <a:pt x="7643" y="11595"/>
                </a:lnTo>
                <a:lnTo>
                  <a:pt x="7635" y="11553"/>
                </a:lnTo>
                <a:lnTo>
                  <a:pt x="7628" y="11522"/>
                </a:lnTo>
                <a:lnTo>
                  <a:pt x="7624" y="11503"/>
                </a:lnTo>
                <a:lnTo>
                  <a:pt x="7622" y="11497"/>
                </a:lnTo>
                <a:close/>
                <a:moveTo>
                  <a:pt x="14393" y="10247"/>
                </a:moveTo>
                <a:lnTo>
                  <a:pt x="14396" y="10218"/>
                </a:lnTo>
                <a:lnTo>
                  <a:pt x="14405" y="10135"/>
                </a:lnTo>
                <a:lnTo>
                  <a:pt x="14412" y="10074"/>
                </a:lnTo>
                <a:lnTo>
                  <a:pt x="14418" y="10003"/>
                </a:lnTo>
                <a:lnTo>
                  <a:pt x="14423" y="9921"/>
                </a:lnTo>
                <a:lnTo>
                  <a:pt x="14429" y="9828"/>
                </a:lnTo>
                <a:lnTo>
                  <a:pt x="14433" y="9727"/>
                </a:lnTo>
                <a:lnTo>
                  <a:pt x="14436" y="9616"/>
                </a:lnTo>
                <a:lnTo>
                  <a:pt x="14438" y="9498"/>
                </a:lnTo>
                <a:lnTo>
                  <a:pt x="14437" y="9372"/>
                </a:lnTo>
                <a:lnTo>
                  <a:pt x="14435" y="9240"/>
                </a:lnTo>
                <a:lnTo>
                  <a:pt x="14429" y="9103"/>
                </a:lnTo>
                <a:lnTo>
                  <a:pt x="14421" y="8960"/>
                </a:lnTo>
                <a:lnTo>
                  <a:pt x="14408" y="8812"/>
                </a:lnTo>
                <a:lnTo>
                  <a:pt x="14393" y="8661"/>
                </a:lnTo>
                <a:lnTo>
                  <a:pt x="14373" y="8508"/>
                </a:lnTo>
                <a:lnTo>
                  <a:pt x="14349" y="8351"/>
                </a:lnTo>
                <a:lnTo>
                  <a:pt x="14321" y="8192"/>
                </a:lnTo>
                <a:lnTo>
                  <a:pt x="14286" y="8034"/>
                </a:lnTo>
                <a:lnTo>
                  <a:pt x="14246" y="7875"/>
                </a:lnTo>
                <a:lnTo>
                  <a:pt x="14200" y="7717"/>
                </a:lnTo>
                <a:lnTo>
                  <a:pt x="14148" y="7559"/>
                </a:lnTo>
                <a:lnTo>
                  <a:pt x="14089" y="7404"/>
                </a:lnTo>
                <a:lnTo>
                  <a:pt x="14022" y="7251"/>
                </a:lnTo>
                <a:lnTo>
                  <a:pt x="13949" y="7101"/>
                </a:lnTo>
                <a:lnTo>
                  <a:pt x="13868" y="6956"/>
                </a:lnTo>
                <a:lnTo>
                  <a:pt x="13779" y="6816"/>
                </a:lnTo>
                <a:lnTo>
                  <a:pt x="13681" y="6680"/>
                </a:lnTo>
                <a:lnTo>
                  <a:pt x="13574" y="6552"/>
                </a:lnTo>
                <a:lnTo>
                  <a:pt x="13457" y="6429"/>
                </a:lnTo>
                <a:lnTo>
                  <a:pt x="13339" y="6315"/>
                </a:lnTo>
                <a:lnTo>
                  <a:pt x="13226" y="6207"/>
                </a:lnTo>
                <a:lnTo>
                  <a:pt x="13119" y="6107"/>
                </a:lnTo>
                <a:lnTo>
                  <a:pt x="13016" y="6014"/>
                </a:lnTo>
                <a:lnTo>
                  <a:pt x="12918" y="5928"/>
                </a:lnTo>
                <a:lnTo>
                  <a:pt x="12825" y="5847"/>
                </a:lnTo>
                <a:lnTo>
                  <a:pt x="12735" y="5773"/>
                </a:lnTo>
                <a:lnTo>
                  <a:pt x="12650" y="5704"/>
                </a:lnTo>
                <a:lnTo>
                  <a:pt x="12568" y="5642"/>
                </a:lnTo>
                <a:lnTo>
                  <a:pt x="12490" y="5585"/>
                </a:lnTo>
                <a:lnTo>
                  <a:pt x="12416" y="5533"/>
                </a:lnTo>
                <a:lnTo>
                  <a:pt x="12344" y="5484"/>
                </a:lnTo>
                <a:lnTo>
                  <a:pt x="12274" y="5442"/>
                </a:lnTo>
                <a:lnTo>
                  <a:pt x="12208" y="5402"/>
                </a:lnTo>
                <a:lnTo>
                  <a:pt x="12144" y="5367"/>
                </a:lnTo>
                <a:lnTo>
                  <a:pt x="12082" y="5336"/>
                </a:lnTo>
                <a:lnTo>
                  <a:pt x="12021" y="5308"/>
                </a:lnTo>
                <a:lnTo>
                  <a:pt x="11963" y="5283"/>
                </a:lnTo>
                <a:lnTo>
                  <a:pt x="11906" y="5261"/>
                </a:lnTo>
                <a:lnTo>
                  <a:pt x="11850" y="5242"/>
                </a:lnTo>
                <a:lnTo>
                  <a:pt x="11795" y="5225"/>
                </a:lnTo>
                <a:lnTo>
                  <a:pt x="11740" y="5209"/>
                </a:lnTo>
                <a:lnTo>
                  <a:pt x="11687" y="5196"/>
                </a:lnTo>
                <a:lnTo>
                  <a:pt x="11632" y="5185"/>
                </a:lnTo>
                <a:lnTo>
                  <a:pt x="11579" y="5175"/>
                </a:lnTo>
                <a:lnTo>
                  <a:pt x="11524" y="5165"/>
                </a:lnTo>
                <a:lnTo>
                  <a:pt x="11470" y="5157"/>
                </a:lnTo>
                <a:lnTo>
                  <a:pt x="11415" y="5149"/>
                </a:lnTo>
                <a:lnTo>
                  <a:pt x="11301" y="5133"/>
                </a:lnTo>
                <a:lnTo>
                  <a:pt x="11182" y="5114"/>
                </a:lnTo>
                <a:lnTo>
                  <a:pt x="11119" y="5105"/>
                </a:lnTo>
                <a:lnTo>
                  <a:pt x="11057" y="5098"/>
                </a:lnTo>
                <a:lnTo>
                  <a:pt x="10995" y="5092"/>
                </a:lnTo>
                <a:lnTo>
                  <a:pt x="10933" y="5087"/>
                </a:lnTo>
                <a:lnTo>
                  <a:pt x="10870" y="5083"/>
                </a:lnTo>
                <a:lnTo>
                  <a:pt x="10808" y="5080"/>
                </a:lnTo>
                <a:lnTo>
                  <a:pt x="10746" y="5078"/>
                </a:lnTo>
                <a:lnTo>
                  <a:pt x="10684" y="5077"/>
                </a:lnTo>
                <a:lnTo>
                  <a:pt x="10623" y="5077"/>
                </a:lnTo>
                <a:lnTo>
                  <a:pt x="10561" y="5077"/>
                </a:lnTo>
                <a:lnTo>
                  <a:pt x="10500" y="5079"/>
                </a:lnTo>
                <a:lnTo>
                  <a:pt x="10440" y="5081"/>
                </a:lnTo>
                <a:lnTo>
                  <a:pt x="10380" y="5084"/>
                </a:lnTo>
                <a:lnTo>
                  <a:pt x="10321" y="5087"/>
                </a:lnTo>
                <a:lnTo>
                  <a:pt x="10262" y="5091"/>
                </a:lnTo>
                <a:lnTo>
                  <a:pt x="10204" y="5095"/>
                </a:lnTo>
                <a:lnTo>
                  <a:pt x="10090" y="5106"/>
                </a:lnTo>
                <a:lnTo>
                  <a:pt x="9981" y="5117"/>
                </a:lnTo>
                <a:lnTo>
                  <a:pt x="9876" y="5131"/>
                </a:lnTo>
                <a:lnTo>
                  <a:pt x="9776" y="5143"/>
                </a:lnTo>
                <a:lnTo>
                  <a:pt x="9681" y="5156"/>
                </a:lnTo>
                <a:lnTo>
                  <a:pt x="9593" y="5169"/>
                </a:lnTo>
                <a:lnTo>
                  <a:pt x="9511" y="5180"/>
                </a:lnTo>
                <a:lnTo>
                  <a:pt x="9436" y="5190"/>
                </a:lnTo>
                <a:lnTo>
                  <a:pt x="9379" y="5201"/>
                </a:lnTo>
                <a:lnTo>
                  <a:pt x="9280" y="5224"/>
                </a:lnTo>
                <a:lnTo>
                  <a:pt x="9143" y="5257"/>
                </a:lnTo>
                <a:lnTo>
                  <a:pt x="8970" y="5299"/>
                </a:lnTo>
                <a:lnTo>
                  <a:pt x="8764" y="5352"/>
                </a:lnTo>
                <a:lnTo>
                  <a:pt x="8529" y="5412"/>
                </a:lnTo>
                <a:lnTo>
                  <a:pt x="8266" y="5480"/>
                </a:lnTo>
                <a:lnTo>
                  <a:pt x="7980" y="5556"/>
                </a:lnTo>
                <a:lnTo>
                  <a:pt x="7343" y="5724"/>
                </a:lnTo>
                <a:lnTo>
                  <a:pt x="6644" y="5908"/>
                </a:lnTo>
                <a:lnTo>
                  <a:pt x="5904" y="6106"/>
                </a:lnTo>
                <a:lnTo>
                  <a:pt x="5145" y="6309"/>
                </a:lnTo>
                <a:lnTo>
                  <a:pt x="4391" y="6512"/>
                </a:lnTo>
                <a:lnTo>
                  <a:pt x="3665" y="6707"/>
                </a:lnTo>
                <a:lnTo>
                  <a:pt x="2987" y="6890"/>
                </a:lnTo>
                <a:lnTo>
                  <a:pt x="2382" y="7053"/>
                </a:lnTo>
                <a:lnTo>
                  <a:pt x="1873" y="7191"/>
                </a:lnTo>
                <a:lnTo>
                  <a:pt x="1481" y="7297"/>
                </a:lnTo>
                <a:lnTo>
                  <a:pt x="1229" y="7366"/>
                </a:lnTo>
                <a:lnTo>
                  <a:pt x="1140" y="7390"/>
                </a:lnTo>
                <a:lnTo>
                  <a:pt x="1167" y="7393"/>
                </a:lnTo>
                <a:lnTo>
                  <a:pt x="1246" y="7406"/>
                </a:lnTo>
                <a:lnTo>
                  <a:pt x="1303" y="7415"/>
                </a:lnTo>
                <a:lnTo>
                  <a:pt x="1371" y="7427"/>
                </a:lnTo>
                <a:lnTo>
                  <a:pt x="1451" y="7441"/>
                </a:lnTo>
                <a:lnTo>
                  <a:pt x="1540" y="7458"/>
                </a:lnTo>
                <a:lnTo>
                  <a:pt x="1638" y="7477"/>
                </a:lnTo>
                <a:lnTo>
                  <a:pt x="1745" y="7499"/>
                </a:lnTo>
                <a:lnTo>
                  <a:pt x="1861" y="7526"/>
                </a:lnTo>
                <a:lnTo>
                  <a:pt x="1984" y="7554"/>
                </a:lnTo>
                <a:lnTo>
                  <a:pt x="2113" y="7586"/>
                </a:lnTo>
                <a:lnTo>
                  <a:pt x="2251" y="7622"/>
                </a:lnTo>
                <a:lnTo>
                  <a:pt x="2392" y="7660"/>
                </a:lnTo>
                <a:lnTo>
                  <a:pt x="2540" y="7702"/>
                </a:lnTo>
                <a:lnTo>
                  <a:pt x="2692" y="7749"/>
                </a:lnTo>
                <a:lnTo>
                  <a:pt x="2849" y="7799"/>
                </a:lnTo>
                <a:lnTo>
                  <a:pt x="3009" y="7854"/>
                </a:lnTo>
                <a:lnTo>
                  <a:pt x="3171" y="7913"/>
                </a:lnTo>
                <a:lnTo>
                  <a:pt x="3336" y="7975"/>
                </a:lnTo>
                <a:lnTo>
                  <a:pt x="3503" y="8042"/>
                </a:lnTo>
                <a:lnTo>
                  <a:pt x="3671" y="8114"/>
                </a:lnTo>
                <a:lnTo>
                  <a:pt x="3839" y="8190"/>
                </a:lnTo>
                <a:lnTo>
                  <a:pt x="4007" y="8271"/>
                </a:lnTo>
                <a:lnTo>
                  <a:pt x="4175" y="8357"/>
                </a:lnTo>
                <a:lnTo>
                  <a:pt x="4342" y="8448"/>
                </a:lnTo>
                <a:lnTo>
                  <a:pt x="4506" y="8544"/>
                </a:lnTo>
                <a:lnTo>
                  <a:pt x="4669" y="8646"/>
                </a:lnTo>
                <a:lnTo>
                  <a:pt x="4829" y="8752"/>
                </a:lnTo>
                <a:lnTo>
                  <a:pt x="4984" y="8865"/>
                </a:lnTo>
                <a:lnTo>
                  <a:pt x="5136" y="8982"/>
                </a:lnTo>
                <a:lnTo>
                  <a:pt x="5285" y="9103"/>
                </a:lnTo>
                <a:lnTo>
                  <a:pt x="5433" y="9222"/>
                </a:lnTo>
                <a:lnTo>
                  <a:pt x="5581" y="9338"/>
                </a:lnTo>
                <a:lnTo>
                  <a:pt x="5727" y="9453"/>
                </a:lnTo>
                <a:lnTo>
                  <a:pt x="5873" y="9566"/>
                </a:lnTo>
                <a:lnTo>
                  <a:pt x="6017" y="9676"/>
                </a:lnTo>
                <a:lnTo>
                  <a:pt x="6160" y="9784"/>
                </a:lnTo>
                <a:lnTo>
                  <a:pt x="6302" y="9891"/>
                </a:lnTo>
                <a:lnTo>
                  <a:pt x="6442" y="9994"/>
                </a:lnTo>
                <a:lnTo>
                  <a:pt x="6581" y="10095"/>
                </a:lnTo>
                <a:lnTo>
                  <a:pt x="6718" y="10193"/>
                </a:lnTo>
                <a:lnTo>
                  <a:pt x="6852" y="10286"/>
                </a:lnTo>
                <a:lnTo>
                  <a:pt x="6985" y="10378"/>
                </a:lnTo>
                <a:lnTo>
                  <a:pt x="7116" y="10466"/>
                </a:lnTo>
                <a:lnTo>
                  <a:pt x="7245" y="10551"/>
                </a:lnTo>
                <a:lnTo>
                  <a:pt x="7371" y="10632"/>
                </a:lnTo>
                <a:lnTo>
                  <a:pt x="7495" y="10710"/>
                </a:lnTo>
                <a:lnTo>
                  <a:pt x="7616" y="10783"/>
                </a:lnTo>
                <a:lnTo>
                  <a:pt x="7734" y="10853"/>
                </a:lnTo>
                <a:lnTo>
                  <a:pt x="7851" y="10919"/>
                </a:lnTo>
                <a:lnTo>
                  <a:pt x="7964" y="10980"/>
                </a:lnTo>
                <a:lnTo>
                  <a:pt x="8073" y="11037"/>
                </a:lnTo>
                <a:lnTo>
                  <a:pt x="8180" y="11090"/>
                </a:lnTo>
                <a:lnTo>
                  <a:pt x="8284" y="11137"/>
                </a:lnTo>
                <a:lnTo>
                  <a:pt x="8384" y="11180"/>
                </a:lnTo>
                <a:lnTo>
                  <a:pt x="8480" y="11218"/>
                </a:lnTo>
                <a:lnTo>
                  <a:pt x="8573" y="11251"/>
                </a:lnTo>
                <a:lnTo>
                  <a:pt x="8663" y="11278"/>
                </a:lnTo>
                <a:lnTo>
                  <a:pt x="8748" y="11301"/>
                </a:lnTo>
                <a:lnTo>
                  <a:pt x="8830" y="11318"/>
                </a:lnTo>
                <a:lnTo>
                  <a:pt x="8907" y="11329"/>
                </a:lnTo>
                <a:lnTo>
                  <a:pt x="8980" y="11334"/>
                </a:lnTo>
                <a:lnTo>
                  <a:pt x="9120" y="11338"/>
                </a:lnTo>
                <a:lnTo>
                  <a:pt x="9254" y="11341"/>
                </a:lnTo>
                <a:lnTo>
                  <a:pt x="9384" y="11342"/>
                </a:lnTo>
                <a:lnTo>
                  <a:pt x="9510" y="11342"/>
                </a:lnTo>
                <a:lnTo>
                  <a:pt x="9572" y="11341"/>
                </a:lnTo>
                <a:lnTo>
                  <a:pt x="9633" y="11340"/>
                </a:lnTo>
                <a:lnTo>
                  <a:pt x="9694" y="11338"/>
                </a:lnTo>
                <a:lnTo>
                  <a:pt x="9754" y="11336"/>
                </a:lnTo>
                <a:lnTo>
                  <a:pt x="9814" y="11333"/>
                </a:lnTo>
                <a:lnTo>
                  <a:pt x="9873" y="11330"/>
                </a:lnTo>
                <a:lnTo>
                  <a:pt x="9932" y="11326"/>
                </a:lnTo>
                <a:lnTo>
                  <a:pt x="9992" y="11321"/>
                </a:lnTo>
                <a:lnTo>
                  <a:pt x="10052" y="11317"/>
                </a:lnTo>
                <a:lnTo>
                  <a:pt x="10110" y="11311"/>
                </a:lnTo>
                <a:lnTo>
                  <a:pt x="10170" y="11305"/>
                </a:lnTo>
                <a:lnTo>
                  <a:pt x="10231" y="11298"/>
                </a:lnTo>
                <a:lnTo>
                  <a:pt x="10290" y="11290"/>
                </a:lnTo>
                <a:lnTo>
                  <a:pt x="10351" y="11282"/>
                </a:lnTo>
                <a:lnTo>
                  <a:pt x="10412" y="11272"/>
                </a:lnTo>
                <a:lnTo>
                  <a:pt x="10474" y="11263"/>
                </a:lnTo>
                <a:lnTo>
                  <a:pt x="10537" y="11252"/>
                </a:lnTo>
                <a:lnTo>
                  <a:pt x="10600" y="11241"/>
                </a:lnTo>
                <a:lnTo>
                  <a:pt x="10665" y="11229"/>
                </a:lnTo>
                <a:lnTo>
                  <a:pt x="10730" y="11217"/>
                </a:lnTo>
                <a:lnTo>
                  <a:pt x="10797" y="11203"/>
                </a:lnTo>
                <a:lnTo>
                  <a:pt x="10864" y="11189"/>
                </a:lnTo>
                <a:lnTo>
                  <a:pt x="10934" y="11173"/>
                </a:lnTo>
                <a:lnTo>
                  <a:pt x="11004" y="11157"/>
                </a:lnTo>
                <a:lnTo>
                  <a:pt x="11167" y="11118"/>
                </a:lnTo>
                <a:lnTo>
                  <a:pt x="11368" y="11067"/>
                </a:lnTo>
                <a:lnTo>
                  <a:pt x="11598" y="11008"/>
                </a:lnTo>
                <a:lnTo>
                  <a:pt x="11854" y="10940"/>
                </a:lnTo>
                <a:lnTo>
                  <a:pt x="12126" y="10867"/>
                </a:lnTo>
                <a:lnTo>
                  <a:pt x="12409" y="10792"/>
                </a:lnTo>
                <a:lnTo>
                  <a:pt x="12697" y="10714"/>
                </a:lnTo>
                <a:lnTo>
                  <a:pt x="12983" y="10636"/>
                </a:lnTo>
                <a:lnTo>
                  <a:pt x="13259" y="10560"/>
                </a:lnTo>
                <a:lnTo>
                  <a:pt x="13521" y="10489"/>
                </a:lnTo>
                <a:lnTo>
                  <a:pt x="13760" y="10423"/>
                </a:lnTo>
                <a:lnTo>
                  <a:pt x="13970" y="10364"/>
                </a:lnTo>
                <a:lnTo>
                  <a:pt x="14146" y="10316"/>
                </a:lnTo>
                <a:lnTo>
                  <a:pt x="14279" y="10278"/>
                </a:lnTo>
                <a:lnTo>
                  <a:pt x="14363" y="10255"/>
                </a:lnTo>
                <a:lnTo>
                  <a:pt x="14393" y="10247"/>
                </a:lnTo>
                <a:close/>
              </a:path>
            </a:pathLst>
          </a:custGeom>
          <a:solidFill>
            <a:schemeClr val="tx1">
              <a:lumMod val="75000"/>
              <a:lumOff val="25000"/>
              <a:alpha val="68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TextBox 212"/>
          <p:cNvSpPr txBox="1"/>
          <p:nvPr/>
        </p:nvSpPr>
        <p:spPr bwMode="gray">
          <a:xfrm>
            <a:off x="4213255" y="4162738"/>
            <a:ext cx="937967" cy="276999"/>
          </a:xfrm>
          <a:prstGeom prst="rect">
            <a:avLst/>
          </a:prstGeom>
          <a:noFill/>
        </p:spPr>
        <p:txBody>
          <a:bodyPr wrap="square" rtlCol="0">
            <a:spAutoFit/>
          </a:bodyPr>
          <a:lstStyle/>
          <a:p>
            <a:pPr algn="ctr"/>
            <a:r>
              <a:rPr lang="en-US" altLang="zh-CN"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CAPWAP</a:t>
            </a:r>
            <a:endPar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5" name="图片 10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4279897" y="2785190"/>
            <a:ext cx="1294081" cy="238663"/>
          </a:xfrm>
          <a:prstGeom prst="rect">
            <a:avLst/>
          </a:prstGeom>
        </p:spPr>
      </p:pic>
      <p:pic>
        <p:nvPicPr>
          <p:cNvPr id="112" name="图片 76" descr="接入交换机.png"/>
          <p:cNvPicPr>
            <a:picLocks noChangeAspect="1"/>
          </p:cNvPicPr>
          <p:nvPr/>
        </p:nvPicPr>
        <p:blipFill>
          <a:blip r:embed="rId10" cstate="print"/>
          <a:stretch>
            <a:fillRect/>
          </a:stretch>
        </p:blipFill>
        <p:spPr bwMode="gray">
          <a:xfrm>
            <a:off x="3767370" y="2793272"/>
            <a:ext cx="359999" cy="294545"/>
          </a:xfrm>
          <a:prstGeom prst="rect">
            <a:avLst/>
          </a:prstGeom>
        </p:spPr>
      </p:pic>
      <p:pic>
        <p:nvPicPr>
          <p:cNvPr id="113" name="图片 86" descr="核心交换机.png"/>
          <p:cNvPicPr>
            <a:picLocks noChangeAspect="1"/>
          </p:cNvPicPr>
          <p:nvPr/>
        </p:nvPicPr>
        <p:blipFill>
          <a:blip r:embed="rId11" cstate="print"/>
          <a:stretch>
            <a:fillRect/>
          </a:stretch>
        </p:blipFill>
        <p:spPr bwMode="gray">
          <a:xfrm>
            <a:off x="2015786" y="3183749"/>
            <a:ext cx="414309" cy="338981"/>
          </a:xfrm>
          <a:prstGeom prst="rect">
            <a:avLst/>
          </a:prstGeom>
        </p:spPr>
      </p:pic>
      <p:pic>
        <p:nvPicPr>
          <p:cNvPr id="114" name="图片 86" descr="核心交换机.png"/>
          <p:cNvPicPr>
            <a:picLocks noChangeAspect="1"/>
          </p:cNvPicPr>
          <p:nvPr/>
        </p:nvPicPr>
        <p:blipFill>
          <a:blip r:embed="rId11" cstate="print"/>
          <a:stretch>
            <a:fillRect/>
          </a:stretch>
        </p:blipFill>
        <p:spPr bwMode="gray">
          <a:xfrm>
            <a:off x="2988535" y="3183749"/>
            <a:ext cx="414309" cy="338981"/>
          </a:xfrm>
          <a:prstGeom prst="rect">
            <a:avLst/>
          </a:prstGeom>
        </p:spPr>
      </p:pic>
      <p:sp>
        <p:nvSpPr>
          <p:cNvPr id="111" name="圆角矩形 110"/>
          <p:cNvSpPr/>
          <p:nvPr/>
        </p:nvSpPr>
        <p:spPr bwMode="gray">
          <a:xfrm>
            <a:off x="3306835" y="3314228"/>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hangingPunct="0"/>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5" name="图片 76" descr="接入交换机.png"/>
          <p:cNvPicPr>
            <a:picLocks noChangeAspect="1"/>
          </p:cNvPicPr>
          <p:nvPr/>
        </p:nvPicPr>
        <p:blipFill>
          <a:blip r:embed="rId10" cstate="print"/>
          <a:stretch>
            <a:fillRect/>
          </a:stretch>
        </p:blipFill>
        <p:spPr bwMode="gray">
          <a:xfrm>
            <a:off x="1138265" y="4849690"/>
            <a:ext cx="359999" cy="294545"/>
          </a:xfrm>
          <a:prstGeom prst="rect">
            <a:avLst/>
          </a:prstGeom>
        </p:spPr>
      </p:pic>
      <p:pic>
        <p:nvPicPr>
          <p:cNvPr id="116" name="图片 76" descr="接入交换机.png"/>
          <p:cNvPicPr>
            <a:picLocks noChangeAspect="1"/>
          </p:cNvPicPr>
          <p:nvPr/>
        </p:nvPicPr>
        <p:blipFill>
          <a:blip r:embed="rId10" cstate="print"/>
          <a:stretch>
            <a:fillRect/>
          </a:stretch>
        </p:blipFill>
        <p:spPr bwMode="gray">
          <a:xfrm>
            <a:off x="2100872" y="4849690"/>
            <a:ext cx="359999" cy="294545"/>
          </a:xfrm>
          <a:prstGeom prst="rect">
            <a:avLst/>
          </a:prstGeom>
        </p:spPr>
      </p:pic>
      <p:pic>
        <p:nvPicPr>
          <p:cNvPr id="117" name="图片 76" descr="接入交换机.png"/>
          <p:cNvPicPr>
            <a:picLocks noChangeAspect="1"/>
          </p:cNvPicPr>
          <p:nvPr/>
        </p:nvPicPr>
        <p:blipFill>
          <a:blip r:embed="rId10" cstate="print"/>
          <a:stretch>
            <a:fillRect/>
          </a:stretch>
        </p:blipFill>
        <p:spPr bwMode="gray">
          <a:xfrm>
            <a:off x="2887829" y="4849690"/>
            <a:ext cx="359999" cy="294545"/>
          </a:xfrm>
          <a:prstGeom prst="rect">
            <a:avLst/>
          </a:prstGeom>
        </p:spPr>
      </p:pic>
      <p:pic>
        <p:nvPicPr>
          <p:cNvPr id="118" name="图片 76" descr="接入交换机.png"/>
          <p:cNvPicPr>
            <a:picLocks noChangeAspect="1"/>
          </p:cNvPicPr>
          <p:nvPr/>
        </p:nvPicPr>
        <p:blipFill>
          <a:blip r:embed="rId10" cstate="print"/>
          <a:stretch>
            <a:fillRect/>
          </a:stretch>
        </p:blipFill>
        <p:spPr bwMode="gray">
          <a:xfrm>
            <a:off x="3861056" y="4849690"/>
            <a:ext cx="359999" cy="294545"/>
          </a:xfrm>
          <a:prstGeom prst="rect">
            <a:avLst/>
          </a:prstGeom>
        </p:spPr>
      </p:pic>
      <p:sp>
        <p:nvSpPr>
          <p:cNvPr id="119" name="矩形 118"/>
          <p:cNvSpPr/>
          <p:nvPr/>
        </p:nvSpPr>
        <p:spPr bwMode="gray">
          <a:xfrm>
            <a:off x="6943660" y="2123595"/>
            <a:ext cx="4096685" cy="3093154"/>
          </a:xfrm>
          <a:prstGeom prst="rect">
            <a:avLst/>
          </a:prstGeom>
        </p:spPr>
        <p:txBody>
          <a:bodyPr wrap="square">
            <a:spAutoFit/>
          </a:bodyPr>
          <a:lstStyle/>
          <a:p>
            <a:pPr>
              <a:lnSpc>
                <a:spcPts val="2400"/>
              </a:lnSpc>
              <a:spcAft>
                <a:spcPts val="600"/>
              </a:spcAft>
            </a:pPr>
            <a:r>
              <a:rPr lang="zh-CN" altLang="en-US"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统一转发</a:t>
            </a:r>
            <a:endParaRPr lang="en-US" altLang="zh-CN"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40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有线和无线的转发流量统一在核心交换机上处理。</a:t>
            </a:r>
          </a:p>
          <a:p>
            <a:pPr>
              <a:lnSpc>
                <a:spcPts val="2400"/>
              </a:lnSpc>
              <a:spcAft>
                <a:spcPts val="600"/>
              </a:spcAft>
            </a:pPr>
            <a:endParaRPr lang="en-US" altLang="zh-CN" sz="1600" b="1"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统一认证</a:t>
            </a:r>
            <a:endParaRPr lang="en-US" altLang="zh-CN"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核心交换机为有线和无线统一认证点和三层网关。</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统一策略执行</a:t>
            </a:r>
            <a:endParaRPr lang="en-US" altLang="zh-CN"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核心交换机为有线和无线统一的策略执行点。 </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1163734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CloudCampus</a:t>
            </a:r>
            <a:r>
              <a:rPr lang="zh-CN" altLang="en-US" dirty="0"/>
              <a:t>亮点功能：无线 </a:t>
            </a:r>
            <a:r>
              <a:rPr lang="en-US" altLang="zh-CN" dirty="0"/>
              <a:t>&amp; </a:t>
            </a:r>
            <a:r>
              <a:rPr lang="zh-CN" altLang="en-US" dirty="0"/>
              <a:t>物联网融合</a:t>
            </a:r>
          </a:p>
        </p:txBody>
      </p:sp>
      <p:sp>
        <p:nvSpPr>
          <p:cNvPr id="3" name="文本占位符 2"/>
          <p:cNvSpPr>
            <a:spLocks noGrp="1"/>
          </p:cNvSpPr>
          <p:nvPr>
            <p:ph type="body" sz="quarter" idx="10"/>
          </p:nvPr>
        </p:nvSpPr>
        <p:spPr>
          <a:xfrm>
            <a:off x="455612" y="1047751"/>
            <a:ext cx="11293475" cy="443844"/>
          </a:xfrm>
        </p:spPr>
        <p:txBody>
          <a:bodyPr/>
          <a:lstStyle/>
          <a:p>
            <a:r>
              <a:rPr lang="zh-CN" altLang="en-US" sz="1800" dirty="0"/>
              <a:t>华为</a:t>
            </a:r>
            <a:r>
              <a:rPr lang="en-US" altLang="zh-CN" sz="1800" dirty="0"/>
              <a:t>AP</a:t>
            </a:r>
            <a:r>
              <a:rPr lang="zh-CN" altLang="en-US" sz="1800" dirty="0"/>
              <a:t>支持</a:t>
            </a:r>
            <a:r>
              <a:rPr lang="en-US" altLang="zh-CN" sz="1800" dirty="0" err="1"/>
              <a:t>IoT</a:t>
            </a:r>
            <a:r>
              <a:rPr lang="zh-CN" altLang="en-US" sz="1800" dirty="0"/>
              <a:t>模块，</a:t>
            </a:r>
            <a:r>
              <a:rPr lang="en-US" altLang="zh-CN" sz="1800" dirty="0"/>
              <a:t>AP</a:t>
            </a:r>
            <a:r>
              <a:rPr lang="zh-CN" altLang="en-US" sz="1800" dirty="0"/>
              <a:t>与</a:t>
            </a:r>
            <a:r>
              <a:rPr lang="en-US" altLang="zh-CN" sz="1800" dirty="0" err="1"/>
              <a:t>IoT</a:t>
            </a:r>
            <a:r>
              <a:rPr lang="zh-CN" altLang="en-US" sz="1800" dirty="0"/>
              <a:t>基站合一，实现</a:t>
            </a:r>
            <a:r>
              <a:rPr lang="en-US" altLang="zh-CN" sz="1800" dirty="0"/>
              <a:t>Wi-Fi &amp; </a:t>
            </a:r>
            <a:r>
              <a:rPr lang="en-US" altLang="zh-CN" sz="1800" dirty="0" err="1"/>
              <a:t>IoT</a:t>
            </a:r>
            <a:r>
              <a:rPr lang="zh-CN" altLang="en-US" sz="1800" dirty="0"/>
              <a:t>网络融合极简管理。</a:t>
            </a:r>
          </a:p>
        </p:txBody>
      </p:sp>
      <p:sp>
        <p:nvSpPr>
          <p:cNvPr id="69" name="圆角矩形 68"/>
          <p:cNvSpPr/>
          <p:nvPr/>
        </p:nvSpPr>
        <p:spPr bwMode="gray">
          <a:xfrm>
            <a:off x="696976" y="3326647"/>
            <a:ext cx="4611624" cy="2833255"/>
          </a:xfrm>
          <a:prstGeom prst="roundRect">
            <a:avLst>
              <a:gd name="adj" fmla="val 2222"/>
            </a:avLst>
          </a:prstGeom>
          <a:solidFill>
            <a:sysClr val="window" lastClr="FFFFFF">
              <a:lumMod val="95000"/>
            </a:sysClr>
          </a:solidFill>
          <a:ln w="38100" cap="flat" cmpd="sng" algn="ctr">
            <a:noFill/>
            <a:prstDash val="solid"/>
            <a:miter lim="800000"/>
          </a:ln>
          <a:effectLst/>
        </p:spPr>
        <p:txBody>
          <a:bodyPr vert="eaVert" lIns="144000" tIns="36000" rIns="36000" bIns="36000" rtlCol="0" anchor="b" anchorCtr="1"/>
          <a:lstStyle/>
          <a:p>
            <a:pPr marL="85725" marR="0" lvl="0" indent="0" defTabSz="914400" eaLnBrk="1" fontAlgn="auto" latinLnBrk="0" hangingPunct="1">
              <a:lnSpc>
                <a:spcPts val="3000"/>
              </a:lnSpc>
              <a:spcBef>
                <a:spcPts val="0"/>
              </a:spcBef>
              <a:spcAft>
                <a:spcPts val="600"/>
              </a:spcAft>
              <a:buClrTx/>
              <a:buSzTx/>
              <a:buFontTx/>
              <a:buNone/>
              <a:tabLst/>
              <a:defRPr/>
            </a:pPr>
            <a:endParaRPr kumimoji="0" lang="zh-CN" altLang="en-US" sz="1800" b="1" i="0" u="none" strike="noStrike" kern="0" cap="none" spc="500" normalizeH="0" baseline="0" noProof="0">
              <a:ln>
                <a:noFill/>
              </a:ln>
              <a:solidFill>
                <a:prstClr val="white">
                  <a:lumMod val="6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连接符 69"/>
          <p:cNvCxnSpPr/>
          <p:nvPr/>
        </p:nvCxnSpPr>
        <p:spPr bwMode="gray">
          <a:xfrm>
            <a:off x="2623646" y="2742447"/>
            <a:ext cx="0" cy="17208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74" descr="SAN网络-蓝.png"/>
          <p:cNvPicPr>
            <a:picLocks noChangeAspect="1"/>
          </p:cNvPicPr>
          <p:nvPr/>
        </p:nvPicPr>
        <p:blipFill>
          <a:blip r:embed="rId3" cstate="print"/>
          <a:stretch>
            <a:fillRect/>
          </a:stretch>
        </p:blipFill>
        <p:spPr bwMode="gray">
          <a:xfrm>
            <a:off x="1530852" y="5152325"/>
            <a:ext cx="243218" cy="398465"/>
          </a:xfrm>
          <a:prstGeom prst="rect">
            <a:avLst/>
          </a:prstGeom>
        </p:spPr>
      </p:pic>
      <p:pic>
        <p:nvPicPr>
          <p:cNvPr id="76" name="图片 75" descr="笔记本电脑.png"/>
          <p:cNvPicPr>
            <a:picLocks noChangeAspect="1"/>
          </p:cNvPicPr>
          <p:nvPr/>
        </p:nvPicPr>
        <p:blipFill>
          <a:blip r:embed="rId4" cstate="print"/>
          <a:stretch>
            <a:fillRect/>
          </a:stretch>
        </p:blipFill>
        <p:spPr bwMode="gray">
          <a:xfrm>
            <a:off x="848310" y="5243153"/>
            <a:ext cx="490708" cy="307637"/>
          </a:xfrm>
          <a:prstGeom prst="rect">
            <a:avLst/>
          </a:prstGeom>
        </p:spPr>
      </p:pic>
      <p:sp>
        <p:nvSpPr>
          <p:cNvPr id="91" name="任意多边形 90"/>
          <p:cNvSpPr/>
          <p:nvPr/>
        </p:nvSpPr>
        <p:spPr bwMode="gray">
          <a:xfrm>
            <a:off x="2081056" y="2523603"/>
            <a:ext cx="1045216" cy="69886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ysClr val="window" lastClr="FFFFFF">
              <a:lumMod val="75000"/>
            </a:sysClr>
          </a:solidFill>
          <a:ln w="12700" cap="flat" cmpd="sng" algn="ctr">
            <a:noFill/>
            <a:prstDash val="solid"/>
            <a:miter lim="800000"/>
          </a:ln>
          <a:effectLst/>
        </p:spPr>
        <p:txBody>
          <a:bodyPr wrap="square" tIns="108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a:t>
            </a:r>
            <a:endParaRPr kumimoji="0" lang="zh-CN" altLang="en-US" sz="16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6" name="图片 105" descr="wifi信号蓝.png"/>
          <p:cNvPicPr>
            <a:picLocks noChangeAspect="1"/>
          </p:cNvPicPr>
          <p:nvPr/>
        </p:nvPicPr>
        <p:blipFill>
          <a:blip r:embed="rId5" cstate="print"/>
          <a:stretch>
            <a:fillRect/>
          </a:stretch>
        </p:blipFill>
        <p:spPr bwMode="gray">
          <a:xfrm rot="10800000">
            <a:off x="2450999" y="4691369"/>
            <a:ext cx="352590" cy="295240"/>
          </a:xfrm>
          <a:prstGeom prst="rect">
            <a:avLst/>
          </a:prstGeom>
        </p:spPr>
      </p:pic>
      <p:sp>
        <p:nvSpPr>
          <p:cNvPr id="107" name="文本框 106"/>
          <p:cNvSpPr txBox="1"/>
          <p:nvPr/>
        </p:nvSpPr>
        <p:spPr bwMode="gray">
          <a:xfrm>
            <a:off x="1416765" y="4208421"/>
            <a:ext cx="942887" cy="307777"/>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物联网</a:t>
            </a: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AP</a:t>
            </a: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8" name="图片 107" descr="云AP蓝.png"/>
          <p:cNvPicPr>
            <a:picLocks noChangeAspect="1"/>
          </p:cNvPicPr>
          <p:nvPr/>
        </p:nvPicPr>
        <p:blipFill>
          <a:blip r:embed="rId6" cstate="print"/>
          <a:stretch>
            <a:fillRect/>
          </a:stretch>
        </p:blipFill>
        <p:spPr bwMode="gray">
          <a:xfrm>
            <a:off x="2353645" y="4130265"/>
            <a:ext cx="539595" cy="441487"/>
          </a:xfrm>
          <a:prstGeom prst="rect">
            <a:avLst/>
          </a:prstGeom>
        </p:spPr>
      </p:pic>
      <p:pic>
        <p:nvPicPr>
          <p:cNvPr id="109" name="图片 10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762082" y="2086713"/>
            <a:ext cx="1638874" cy="302252"/>
          </a:xfrm>
          <a:prstGeom prst="rect">
            <a:avLst/>
          </a:prstGeom>
        </p:spPr>
      </p:pic>
      <p:pic>
        <p:nvPicPr>
          <p:cNvPr id="110"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2400100" y="3477384"/>
            <a:ext cx="446281" cy="365138"/>
          </a:xfrm>
          <a:prstGeom prst="rect">
            <a:avLst/>
          </a:prstGeom>
          <a:noFill/>
        </p:spPr>
      </p:pic>
      <p:sp>
        <p:nvSpPr>
          <p:cNvPr id="120" name="文本框 119"/>
          <p:cNvSpPr txBox="1"/>
          <p:nvPr/>
        </p:nvSpPr>
        <p:spPr bwMode="gray">
          <a:xfrm>
            <a:off x="767805" y="3393185"/>
            <a:ext cx="648959"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门店</a:t>
            </a:r>
          </a:p>
        </p:txBody>
      </p:sp>
      <p:pic>
        <p:nvPicPr>
          <p:cNvPr id="121" name="图片 40" descr="交换机.png"/>
          <p:cNvPicPr>
            <a:picLocks noChangeAspect="1"/>
          </p:cNvPicPr>
          <p:nvPr/>
        </p:nvPicPr>
        <p:blipFill>
          <a:blip r:embed="rId9" cstate="print"/>
          <a:stretch>
            <a:fillRect/>
          </a:stretch>
        </p:blipFill>
        <p:spPr bwMode="gray">
          <a:xfrm>
            <a:off x="3032927" y="2055270"/>
            <a:ext cx="446281" cy="365138"/>
          </a:xfrm>
          <a:prstGeom prst="rect">
            <a:avLst/>
          </a:prstGeom>
        </p:spPr>
      </p:pic>
      <p:sp>
        <p:nvSpPr>
          <p:cNvPr id="122" name="文本框 121"/>
          <p:cNvSpPr txBox="1"/>
          <p:nvPr/>
        </p:nvSpPr>
        <p:spPr bwMode="gray">
          <a:xfrm>
            <a:off x="3526067" y="2083951"/>
            <a:ext cx="18926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物联网业务管理平台</a:t>
            </a:r>
          </a:p>
        </p:txBody>
      </p:sp>
      <p:sp>
        <p:nvSpPr>
          <p:cNvPr id="123" name="文本框 122"/>
          <p:cNvSpPr txBox="1"/>
          <p:nvPr/>
        </p:nvSpPr>
        <p:spPr bwMode="gray">
          <a:xfrm>
            <a:off x="2244444" y="5608686"/>
            <a:ext cx="553357"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Wi-Fi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Tag</a:t>
            </a: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4" name="图片 20" descr="RRU蓝.png"/>
          <p:cNvPicPr>
            <a:picLocks noChangeAspect="1"/>
          </p:cNvPicPr>
          <p:nvPr/>
        </p:nvPicPr>
        <p:blipFill>
          <a:blip r:embed="rId10" cstate="print">
            <a:extLst>
              <a:ext uri="{BEBA8EAE-BF5A-486C-A8C5-ECC9F3942E4B}">
                <a14:imgProps xmlns:a14="http://schemas.microsoft.com/office/drawing/2010/main">
                  <a14:imgLayer r:embed="rId11">
                    <a14:imgEffect>
                      <a14:saturation sat="0"/>
                    </a14:imgEffect>
                  </a14:imgLayer>
                </a14:imgProps>
              </a:ext>
            </a:extLst>
          </a:blip>
          <a:stretch>
            <a:fillRect/>
          </a:stretch>
        </p:blipFill>
        <p:spPr bwMode="gray">
          <a:xfrm>
            <a:off x="2344620" y="5261968"/>
            <a:ext cx="353004" cy="288822"/>
          </a:xfrm>
          <a:prstGeom prst="rect">
            <a:avLst/>
          </a:prstGeom>
        </p:spPr>
      </p:pic>
      <p:pic>
        <p:nvPicPr>
          <p:cNvPr id="125" name="图片 136" descr="Web服务器-蓝.png"/>
          <p:cNvPicPr>
            <a:picLocks noChangeAspect="1"/>
          </p:cNvPicPr>
          <p:nvPr/>
        </p:nvPicPr>
        <p:blipFill>
          <a:blip r:embed="rId12" cstate="print"/>
          <a:stretch>
            <a:fillRect/>
          </a:stretch>
        </p:blipFill>
        <p:spPr bwMode="gray">
          <a:xfrm>
            <a:off x="2899394" y="5197868"/>
            <a:ext cx="245116" cy="352922"/>
          </a:xfrm>
          <a:prstGeom prst="rect">
            <a:avLst/>
          </a:prstGeom>
        </p:spPr>
      </p:pic>
      <p:pic>
        <p:nvPicPr>
          <p:cNvPr id="126" name="图片 131" descr="数据中心-蓝.png"/>
          <p:cNvPicPr>
            <a:picLocks noChangeAspect="1"/>
          </p:cNvPicPr>
          <p:nvPr/>
        </p:nvPicPr>
        <p:blipFill>
          <a:blip r:embed="rId13" cstate="print"/>
          <a:stretch>
            <a:fillRect/>
          </a:stretch>
        </p:blipFill>
        <p:spPr bwMode="gray">
          <a:xfrm>
            <a:off x="3362853" y="5143382"/>
            <a:ext cx="302916" cy="407408"/>
          </a:xfrm>
          <a:prstGeom prst="rect">
            <a:avLst/>
          </a:prstGeom>
        </p:spPr>
      </p:pic>
      <p:sp>
        <p:nvSpPr>
          <p:cNvPr id="127" name="椭圆 126"/>
          <p:cNvSpPr/>
          <p:nvPr/>
        </p:nvSpPr>
        <p:spPr bwMode="gray">
          <a:xfrm>
            <a:off x="4442581" y="5311978"/>
            <a:ext cx="238812" cy="238812"/>
          </a:xfrm>
          <a:prstGeom prst="ellipse">
            <a:avLst/>
          </a:prstGeom>
          <a:noFill/>
          <a:ln w="38100" cap="flat" cmpd="sng" algn="ctr">
            <a:solidFill>
              <a:srgbClr val="56565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文本框 127"/>
          <p:cNvSpPr txBox="1"/>
          <p:nvPr/>
        </p:nvSpPr>
        <p:spPr bwMode="gray">
          <a:xfrm>
            <a:off x="1093664" y="5608686"/>
            <a:ext cx="553357"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Wi-Fi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终端</a:t>
            </a:r>
          </a:p>
        </p:txBody>
      </p:sp>
      <p:sp>
        <p:nvSpPr>
          <p:cNvPr id="129" name="文本框 128"/>
          <p:cNvSpPr txBox="1"/>
          <p:nvPr/>
        </p:nvSpPr>
        <p:spPr bwMode="gray">
          <a:xfrm>
            <a:off x="2775731" y="5608686"/>
            <a:ext cx="492443"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蓝牙</a:t>
            </a:r>
            <a:endPar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Tag</a:t>
            </a: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文本框 129"/>
          <p:cNvSpPr txBox="1"/>
          <p:nvPr/>
        </p:nvSpPr>
        <p:spPr bwMode="gray">
          <a:xfrm>
            <a:off x="3256067" y="5608686"/>
            <a:ext cx="516488"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RFID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Tag</a:t>
            </a: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1" name="Picture 17" descr="E:\2016.01\1.12 扁平化图标\蓝色\AR-蓝色最新-15.png"/>
          <p:cNvPicPr>
            <a:picLocks noChangeAspect="1" noChangeArrowheads="1"/>
          </p:cNvPicPr>
          <p:nvPr/>
        </p:nvPicPr>
        <p:blipFill>
          <a:blip r:embed="rId14" cstate="print">
            <a:extLst>
              <a:ext uri="{BEBA8EAE-BF5A-486C-A8C5-ECC9F3942E4B}">
                <a14:imgProps xmlns:a14="http://schemas.microsoft.com/office/drawing/2010/main">
                  <a14:imgLayer r:embed="rId15">
                    <a14:imgEffect>
                      <a14:saturation sat="0"/>
                    </a14:imgEffect>
                  </a14:imgLayer>
                </a14:imgProps>
              </a:ext>
            </a:extLst>
          </a:blip>
          <a:srcRect/>
          <a:stretch>
            <a:fillRect/>
          </a:stretch>
        </p:blipFill>
        <p:spPr bwMode="gray">
          <a:xfrm>
            <a:off x="3853472" y="5261034"/>
            <a:ext cx="354145" cy="289756"/>
          </a:xfrm>
          <a:prstGeom prst="rect">
            <a:avLst/>
          </a:prstGeom>
          <a:noFill/>
        </p:spPr>
      </p:pic>
      <p:sp>
        <p:nvSpPr>
          <p:cNvPr id="132" name="文本框 131"/>
          <p:cNvSpPr txBox="1"/>
          <p:nvPr/>
        </p:nvSpPr>
        <p:spPr bwMode="gray">
          <a:xfrm>
            <a:off x="3707379" y="5608686"/>
            <a:ext cx="646331"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物联网</a:t>
            </a:r>
            <a:endPar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传感器</a:t>
            </a:r>
          </a:p>
        </p:txBody>
      </p:sp>
      <p:sp>
        <p:nvSpPr>
          <p:cNvPr id="133" name="文本框 132"/>
          <p:cNvSpPr txBox="1"/>
          <p:nvPr/>
        </p:nvSpPr>
        <p:spPr bwMode="gray">
          <a:xfrm>
            <a:off x="4315766" y="5608686"/>
            <a:ext cx="492443"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手环</a:t>
            </a:r>
          </a:p>
        </p:txBody>
      </p:sp>
      <p:sp>
        <p:nvSpPr>
          <p:cNvPr id="134" name="Right Arrow 158"/>
          <p:cNvSpPr/>
          <p:nvPr/>
        </p:nvSpPr>
        <p:spPr bwMode="gray">
          <a:xfrm flipH="1">
            <a:off x="2986067" y="4093648"/>
            <a:ext cx="1002499" cy="494305"/>
          </a:xfrm>
          <a:prstGeom prst="rightArrow">
            <a:avLst>
              <a:gd name="adj1" fmla="val 79333"/>
              <a:gd name="adj2" fmla="val 50000"/>
            </a:avLst>
          </a:prstGeom>
          <a:gradFill flip="none" rotWithShape="1">
            <a:gsLst>
              <a:gs pos="15000">
                <a:srgbClr val="1AABE2">
                  <a:lumMod val="5000"/>
                  <a:lumOff val="95000"/>
                  <a:alpha val="0"/>
                </a:srgbClr>
              </a:gs>
              <a:gs pos="81000">
                <a:srgbClr val="BEE9EE"/>
              </a:gs>
            </a:gsLst>
            <a:lin ang="0" scaled="1"/>
            <a:tileRect/>
          </a:gradFill>
          <a:ln w="12700" cap="flat" cmpd="sng" algn="ctr">
            <a:gradFill flip="none" rotWithShape="1">
              <a:gsLst>
                <a:gs pos="11000">
                  <a:srgbClr val="1AABE2">
                    <a:lumMod val="0"/>
                    <a:lumOff val="100000"/>
                    <a:alpha val="0"/>
                  </a:srgbClr>
                </a:gs>
                <a:gs pos="74000">
                  <a:srgbClr val="94DAE2"/>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圆角矩形 134"/>
          <p:cNvSpPr/>
          <p:nvPr/>
        </p:nvSpPr>
        <p:spPr bwMode="gray">
          <a:xfrm>
            <a:off x="3556718" y="3602836"/>
            <a:ext cx="1588536" cy="1209716"/>
          </a:xfrm>
          <a:prstGeom prst="roundRect">
            <a:avLst>
              <a:gd name="adj" fmla="val 5442"/>
            </a:avLst>
          </a:prstGeom>
          <a:solidFill>
            <a:srgbClr val="94DAE2"/>
          </a:solidFill>
          <a:ln w="12700" cap="flat" cmpd="sng" algn="ctr">
            <a:noFill/>
            <a:prstDash val="solid"/>
            <a:miter lim="800000"/>
          </a:ln>
          <a:effectLst/>
        </p:spPr>
        <p:txBody>
          <a:bodyPr wrap="squar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70C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文本框 135"/>
          <p:cNvSpPr txBox="1"/>
          <p:nvPr/>
        </p:nvSpPr>
        <p:spPr bwMode="gray">
          <a:xfrm>
            <a:off x="3752036" y="3735629"/>
            <a:ext cx="1197900" cy="254360"/>
          </a:xfrm>
          <a:prstGeom prst="roundRect">
            <a:avLst/>
          </a:prstGeom>
          <a:solidFill>
            <a:sysClr val="window" lastClr="FFFFFF"/>
          </a:solidFill>
          <a:ln>
            <a:noFill/>
          </a:ln>
        </p:spPr>
        <p:txBody>
          <a:bodyPr wrap="non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蓝牙</a:t>
            </a:r>
          </a:p>
        </p:txBody>
      </p:sp>
      <p:sp>
        <p:nvSpPr>
          <p:cNvPr id="137" name="文本框 136"/>
          <p:cNvSpPr txBox="1"/>
          <p:nvPr/>
        </p:nvSpPr>
        <p:spPr bwMode="gray">
          <a:xfrm>
            <a:off x="3752036" y="4066566"/>
            <a:ext cx="1197900" cy="254360"/>
          </a:xfrm>
          <a:prstGeom prst="roundRect">
            <a:avLst/>
          </a:prstGeom>
          <a:solidFill>
            <a:sysClr val="window" lastClr="FFFFFF"/>
          </a:solidFill>
          <a:ln>
            <a:noFill/>
          </a:ln>
        </p:spPr>
        <p:txBody>
          <a:bodyPr wrap="non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RFID</a:t>
            </a:r>
            <a:endParaRPr kumimoji="0" lang="zh-CN" altLang="en-US" sz="1400" b="0" i="0" u="none" strike="noStrike" kern="0" cap="none" spc="0" normalizeH="0" baseline="0" noProof="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文本框 137"/>
          <p:cNvSpPr txBox="1"/>
          <p:nvPr/>
        </p:nvSpPr>
        <p:spPr bwMode="gray">
          <a:xfrm>
            <a:off x="3752036" y="4397503"/>
            <a:ext cx="1197900" cy="254360"/>
          </a:xfrm>
          <a:prstGeom prst="roundRect">
            <a:avLst/>
          </a:prstGeom>
          <a:solidFill>
            <a:sysClr val="window" lastClr="FFFFFF"/>
          </a:solidFill>
          <a:ln>
            <a:noFill/>
          </a:ln>
        </p:spPr>
        <p:txBody>
          <a:bodyPr wrap="non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ZigBee</a:t>
            </a:r>
            <a:endParaRPr kumimoji="0" lang="zh-CN" altLang="en-US" sz="1400" b="0" i="0" u="none" strike="noStrike" kern="0" cap="none" spc="0" normalizeH="0" baseline="0" noProof="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圆角矩形 75"/>
          <p:cNvSpPr/>
          <p:nvPr/>
        </p:nvSpPr>
        <p:spPr bwMode="gray">
          <a:xfrm>
            <a:off x="5668617" y="1484030"/>
            <a:ext cx="5826407" cy="360000"/>
          </a:xfrm>
          <a:prstGeom prst="roundRect">
            <a:avLst>
              <a:gd name="adj" fmla="val 10604"/>
            </a:avLst>
          </a:prstGeom>
          <a:gradFill>
            <a:gsLst>
              <a:gs pos="0">
                <a:schemeClr val="bg1"/>
              </a:gs>
              <a:gs pos="100000">
                <a:schemeClr val="bg1">
                  <a:lumMod val="75000"/>
                </a:schemeClr>
              </a:gs>
            </a:gsLst>
            <a:lin ang="5400000" scaled="1"/>
          </a:gra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场景与挑战</a:t>
            </a:r>
          </a:p>
        </p:txBody>
      </p:sp>
      <p:sp>
        <p:nvSpPr>
          <p:cNvPr id="140" name="圆角矩形 75"/>
          <p:cNvSpPr/>
          <p:nvPr/>
        </p:nvSpPr>
        <p:spPr bwMode="gray">
          <a:xfrm>
            <a:off x="5668617" y="1930324"/>
            <a:ext cx="5826407" cy="1396324"/>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marR="0" lvl="0" indent="-1714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场景：零售、医疗、教育、企业等园区，基于物联网提供创新的数字化业务。</a:t>
            </a:r>
            <a:endParaRPr kumimoji="0" lang="en-US" altLang="zh-CN"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171450" marR="0" lvl="0" indent="-1714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Wi-Fi</a:t>
            </a: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和</a:t>
            </a:r>
            <a:r>
              <a:rPr kumimoji="0" lang="en-US" altLang="zh-CN" sz="1400" b="0" i="0" u="none" strike="noStrike" kern="0" cap="none" spc="0" normalizeH="0" baseline="0" noProof="0" dirty="0" err="1">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IoT</a:t>
            </a: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（蓝牙、</a:t>
            </a:r>
            <a:r>
              <a:rPr kumimoji="0" lang="en-US" altLang="zh-CN"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RFID</a:t>
            </a: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等）单独部署，众多无线网络，成本高，业务扩展不灵活；无线网络繁杂，存在射频干扰，影响业务体验。</a:t>
            </a:r>
          </a:p>
        </p:txBody>
      </p:sp>
      <p:sp>
        <p:nvSpPr>
          <p:cNvPr id="141" name="圆角矩形 75"/>
          <p:cNvSpPr/>
          <p:nvPr/>
        </p:nvSpPr>
        <p:spPr bwMode="gray">
          <a:xfrm>
            <a:off x="5668617" y="3423676"/>
            <a:ext cx="5826407"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华为物联网</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圆角矩形 75"/>
          <p:cNvSpPr/>
          <p:nvPr/>
        </p:nvSpPr>
        <p:spPr bwMode="gray">
          <a:xfrm>
            <a:off x="5668617" y="3869969"/>
            <a:ext cx="5826407" cy="2289933"/>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marR="0" lvl="0" indent="-1714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Wi-Fi &amp; </a:t>
            </a:r>
            <a:r>
              <a:rPr kumimoji="0" lang="en-US" altLang="zh-CN" sz="1400" b="0" i="0" u="none" strike="noStrike" kern="0" cap="none" spc="0" normalizeH="0" baseline="0" noProof="0" dirty="0" err="1">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IoT</a:t>
            </a: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融合架构。</a:t>
            </a:r>
            <a:endParaRPr kumimoji="0" lang="en-US" altLang="zh-CN"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171450" marR="0" lvl="0" indent="-1714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AP</a:t>
            </a: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与</a:t>
            </a:r>
            <a:r>
              <a:rPr kumimoji="0" lang="en-US" altLang="zh-CN" sz="1400" b="0" i="0" u="none" strike="noStrike" kern="0" cap="none" spc="0" normalizeH="0" baseline="0" noProof="0" dirty="0" err="1">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IoT</a:t>
            </a: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基站合一，配套资源减半（接入</a:t>
            </a:r>
            <a:r>
              <a:rPr kumimoji="0" lang="en-US" altLang="zh-CN"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供电管理）。</a:t>
            </a:r>
          </a:p>
          <a:p>
            <a:pPr marL="171450" marR="0" lvl="0" indent="-1714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支持云化管理，即插即用，业务配置简单。</a:t>
            </a:r>
            <a:endParaRPr kumimoji="0" lang="en-US" altLang="zh-CN" sz="14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171450" marR="0" lvl="0" indent="-1714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Wi-Fi</a:t>
            </a:r>
            <a:r>
              <a:rPr kumimoji="0" lang="zh-CN" altLang="en-US" sz="14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与</a:t>
            </a:r>
            <a:r>
              <a:rPr kumimoji="0" lang="en-US" altLang="zh-CN" sz="1400" b="0" i="0" u="none" strike="noStrike" kern="0" cap="none" spc="0" normalizeH="0" baseline="0" noProof="0" dirty="0" err="1">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IoT</a:t>
            </a:r>
            <a:r>
              <a:rPr kumimoji="0" lang="zh-CN" altLang="en-US" sz="14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配置联动，感知冲突时自动切换</a:t>
            </a:r>
            <a:r>
              <a:rPr kumimoji="0" lang="en-US" altLang="zh-CN" sz="14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Wi-Fi</a:t>
            </a:r>
            <a:r>
              <a:rPr kumimoji="0" lang="zh-CN" altLang="en-US" sz="14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信道。</a:t>
            </a:r>
          </a:p>
        </p:txBody>
      </p:sp>
      <p:sp>
        <p:nvSpPr>
          <p:cNvPr id="143" name="圆角矩形 142"/>
          <p:cNvSpPr/>
          <p:nvPr/>
        </p:nvSpPr>
        <p:spPr bwMode="gray">
          <a:xfrm>
            <a:off x="696976" y="1484030"/>
            <a:ext cx="4611623" cy="486852"/>
          </a:xfrm>
          <a:prstGeom prst="roundRect">
            <a:avLst/>
          </a:prstGeom>
          <a:solidFill>
            <a:srgbClr val="56C4D2"/>
          </a:solidFill>
          <a:ln w="12700">
            <a:noFill/>
            <a:miter lim="800000"/>
            <a:headEnd/>
            <a:tailEnd/>
          </a:ln>
        </p:spPr>
        <p:txBody>
          <a:bodyPr anchor="ctr"/>
          <a:lstStyle/>
          <a:p>
            <a:pPr marL="0" marR="0" lvl="0" indent="0" algn="ctr" defTabSz="1219403"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4BACC6">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文本框 225"/>
          <p:cNvSpPr txBox="1">
            <a:spLocks noChangeArrowheads="1"/>
          </p:cNvSpPr>
          <p:nvPr/>
        </p:nvSpPr>
        <p:spPr bwMode="gray">
          <a:xfrm>
            <a:off x="922971" y="1588959"/>
            <a:ext cx="1261877" cy="307773"/>
          </a:xfrm>
          <a:prstGeom prst="rect">
            <a:avLst/>
          </a:prstGeom>
          <a:noFill/>
          <a:ln w="9525">
            <a:noFill/>
            <a:miter lim="800000"/>
            <a:headEnd/>
            <a:tailEnd/>
          </a:ln>
        </p:spPr>
        <p:txBody>
          <a:bodyPr wrap="none" lIns="91436" tIns="45718" rIns="91436" bIns="45718">
            <a:spAutoFit/>
          </a:bodyPr>
          <a:lstStyle/>
          <a:p>
            <a:pPr marL="0" marR="0" lvl="0" indent="0" algn="ctr" defTabSz="914400" eaLnBrk="1" fontAlgn="base" latinLnBrk="0" hangingPunct="1">
              <a:lnSpc>
                <a:spcPct val="100000"/>
              </a:lnSpc>
              <a:spcBef>
                <a:spcPct val="0"/>
              </a:spcBef>
              <a:spcAft>
                <a:spcPct val="0"/>
              </a:spcAft>
              <a:buClrTx/>
              <a:buSzPct val="100000"/>
              <a:buFontTx/>
              <a:buNone/>
              <a:tabLst/>
              <a:defRPr/>
            </a:pPr>
            <a:r>
              <a:rPr kumimoji="0" lang="zh-CN" altLang="en-US" sz="14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电子价签管理</a:t>
            </a:r>
            <a:endParaRPr kumimoji="0" lang="zh-CN" altLang="zh-CN" sz="14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文本框 225"/>
          <p:cNvSpPr txBox="1">
            <a:spLocks noChangeArrowheads="1"/>
          </p:cNvSpPr>
          <p:nvPr/>
        </p:nvSpPr>
        <p:spPr bwMode="gray">
          <a:xfrm>
            <a:off x="2223682" y="1588959"/>
            <a:ext cx="902803" cy="307773"/>
          </a:xfrm>
          <a:prstGeom prst="rect">
            <a:avLst/>
          </a:prstGeom>
          <a:noFill/>
          <a:ln w="9525">
            <a:noFill/>
            <a:miter lim="800000"/>
            <a:headEnd/>
            <a:tailEnd/>
          </a:ln>
        </p:spPr>
        <p:txBody>
          <a:bodyPr wrap="none" lIns="91436" tIns="45718" rIns="91436" bIns="45718">
            <a:spAutoFit/>
          </a:bodyPr>
          <a:lstStyle/>
          <a:p>
            <a:pPr marL="0" marR="0" lvl="0" indent="0" algn="ctr" defTabSz="914400" eaLnBrk="1" fontAlgn="base" latinLnBrk="0" hangingPunct="1">
              <a:lnSpc>
                <a:spcPct val="100000"/>
              </a:lnSpc>
              <a:spcBef>
                <a:spcPct val="0"/>
              </a:spcBef>
              <a:spcAft>
                <a:spcPct val="0"/>
              </a:spcAft>
              <a:buClrTx/>
              <a:buSzPct val="100000"/>
              <a:buFontTx/>
              <a:buNone/>
              <a:tabLst/>
              <a:defRPr/>
            </a:pPr>
            <a:r>
              <a:rPr kumimoji="0" lang="zh-CN" altLang="en-US" sz="14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医疗物联</a:t>
            </a:r>
            <a:endParaRPr kumimoji="0" lang="zh-CN" altLang="zh-CN" sz="14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文本框 225"/>
          <p:cNvSpPr txBox="1">
            <a:spLocks noChangeArrowheads="1"/>
          </p:cNvSpPr>
          <p:nvPr/>
        </p:nvSpPr>
        <p:spPr bwMode="gray">
          <a:xfrm>
            <a:off x="3190967" y="1588959"/>
            <a:ext cx="902803" cy="307773"/>
          </a:xfrm>
          <a:prstGeom prst="rect">
            <a:avLst/>
          </a:prstGeom>
          <a:noFill/>
          <a:ln w="9525">
            <a:noFill/>
            <a:miter lim="800000"/>
            <a:headEnd/>
            <a:tailEnd/>
          </a:ln>
        </p:spPr>
        <p:txBody>
          <a:bodyPr wrap="none" lIns="91436" tIns="45718" rIns="91436" bIns="45718">
            <a:spAutoFit/>
          </a:bodyPr>
          <a:lstStyle/>
          <a:p>
            <a:pPr marL="0" marR="0" lvl="0" indent="0" algn="ctr" defTabSz="914400" eaLnBrk="1" fontAlgn="base" latinLnBrk="0" hangingPunct="1">
              <a:lnSpc>
                <a:spcPct val="100000"/>
              </a:lnSpc>
              <a:spcBef>
                <a:spcPct val="0"/>
              </a:spcBef>
              <a:spcAft>
                <a:spcPct val="0"/>
              </a:spcAft>
              <a:buClrTx/>
              <a:buSzPct val="100000"/>
              <a:buFontTx/>
              <a:buNone/>
              <a:tabLst/>
              <a:defRPr/>
            </a:pPr>
            <a:r>
              <a:rPr kumimoji="0" lang="zh-CN" altLang="en-US" sz="14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健康管理</a:t>
            </a:r>
            <a:endParaRPr kumimoji="0" lang="en-US" altLang="zh-CN" sz="14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文本框 225"/>
          <p:cNvSpPr txBox="1">
            <a:spLocks noChangeArrowheads="1"/>
          </p:cNvSpPr>
          <p:nvPr/>
        </p:nvSpPr>
        <p:spPr bwMode="gray">
          <a:xfrm>
            <a:off x="4158253" y="1588959"/>
            <a:ext cx="902803" cy="307773"/>
          </a:xfrm>
          <a:prstGeom prst="rect">
            <a:avLst/>
          </a:prstGeom>
          <a:noFill/>
          <a:ln w="9525">
            <a:noFill/>
            <a:miter lim="800000"/>
            <a:headEnd/>
            <a:tailEnd/>
          </a:ln>
        </p:spPr>
        <p:txBody>
          <a:bodyPr wrap="none" lIns="91436" tIns="45718" rIns="91436" bIns="45718">
            <a:spAutoFit/>
          </a:bodyPr>
          <a:lstStyle/>
          <a:p>
            <a:pPr marL="0" marR="0" lvl="0" indent="0" algn="ctr" defTabSz="914400" eaLnBrk="1" fontAlgn="base" latinLnBrk="0" hangingPunct="1">
              <a:lnSpc>
                <a:spcPct val="100000"/>
              </a:lnSpc>
              <a:spcBef>
                <a:spcPct val="0"/>
              </a:spcBef>
              <a:spcAft>
                <a:spcPct val="0"/>
              </a:spcAft>
              <a:buClrTx/>
              <a:buSzPct val="100000"/>
              <a:buFontTx/>
              <a:buNone/>
              <a:tabLst/>
              <a:defRPr/>
            </a:pPr>
            <a:r>
              <a:rPr kumimoji="0" lang="zh-CN" altLang="en-US" sz="14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资产管理</a:t>
            </a:r>
            <a:endParaRPr kumimoji="0" lang="en-US" altLang="zh-CN" sz="14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8" name="图片 147" descr="云AP蓝.png"/>
          <p:cNvPicPr>
            <a:picLocks noChangeAspect="1"/>
          </p:cNvPicPr>
          <p:nvPr/>
        </p:nvPicPr>
        <p:blipFill>
          <a:blip r:embed="rId6" cstate="print"/>
          <a:stretch>
            <a:fillRect/>
          </a:stretch>
        </p:blipFill>
        <p:spPr bwMode="gray">
          <a:xfrm>
            <a:off x="8406012" y="5529919"/>
            <a:ext cx="368550" cy="301541"/>
          </a:xfrm>
          <a:prstGeom prst="rect">
            <a:avLst/>
          </a:prstGeom>
        </p:spPr>
      </p:pic>
      <p:pic>
        <p:nvPicPr>
          <p:cNvPr id="149" name="图片 148" descr="wifi信号蓝.png"/>
          <p:cNvPicPr>
            <a:picLocks noChangeAspect="1"/>
          </p:cNvPicPr>
          <p:nvPr/>
        </p:nvPicPr>
        <p:blipFill>
          <a:blip r:embed="rId5" cstate="print"/>
          <a:stretch>
            <a:fillRect/>
          </a:stretch>
        </p:blipFill>
        <p:spPr bwMode="gray">
          <a:xfrm rot="16200000">
            <a:off x="7902089" y="5545340"/>
            <a:ext cx="352590" cy="295240"/>
          </a:xfrm>
          <a:prstGeom prst="rect">
            <a:avLst/>
          </a:prstGeom>
        </p:spPr>
      </p:pic>
      <p:pic>
        <p:nvPicPr>
          <p:cNvPr id="150" name="图片 149" descr="wifi信号蓝.png"/>
          <p:cNvPicPr>
            <a:picLocks noChangeAspect="1"/>
          </p:cNvPicPr>
          <p:nvPr/>
        </p:nvPicPr>
        <p:blipFill>
          <a:blip r:embed="rId5" cstate="print"/>
          <a:stretch>
            <a:fillRect/>
          </a:stretch>
        </p:blipFill>
        <p:spPr bwMode="gray">
          <a:xfrm rot="5400000">
            <a:off x="8925895" y="5545340"/>
            <a:ext cx="352590" cy="295240"/>
          </a:xfrm>
          <a:prstGeom prst="rect">
            <a:avLst/>
          </a:prstGeom>
        </p:spPr>
      </p:pic>
      <p:sp>
        <p:nvSpPr>
          <p:cNvPr id="151" name="文本框 150"/>
          <p:cNvSpPr txBox="1"/>
          <p:nvPr/>
        </p:nvSpPr>
        <p:spPr bwMode="gray">
          <a:xfrm>
            <a:off x="6470267" y="5509691"/>
            <a:ext cx="1415772" cy="461665"/>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2.4 GHz</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Wi-Fi</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Channel-6</a:t>
            </a:r>
          </a:p>
        </p:txBody>
      </p:sp>
      <p:sp>
        <p:nvSpPr>
          <p:cNvPr id="152" name="文本框 151"/>
          <p:cNvSpPr txBox="1"/>
          <p:nvPr/>
        </p:nvSpPr>
        <p:spPr bwMode="gray">
          <a:xfrm>
            <a:off x="9249810" y="5509691"/>
            <a:ext cx="1378904"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2.4 GHz</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RFID</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Channel-11</a:t>
            </a:r>
          </a:p>
        </p:txBody>
      </p:sp>
      <p:pic>
        <p:nvPicPr>
          <p:cNvPr id="153" name="图片 152" descr="SAN网络-蓝.png"/>
          <p:cNvPicPr>
            <a:picLocks noChangeAspect="1"/>
          </p:cNvPicPr>
          <p:nvPr/>
        </p:nvPicPr>
        <p:blipFill>
          <a:blip r:embed="rId3" cstate="print"/>
          <a:stretch>
            <a:fillRect/>
          </a:stretch>
        </p:blipFill>
        <p:spPr bwMode="gray">
          <a:xfrm>
            <a:off x="6202343" y="5516665"/>
            <a:ext cx="243218" cy="398465"/>
          </a:xfrm>
          <a:prstGeom prst="rect">
            <a:avLst/>
          </a:prstGeom>
        </p:spPr>
      </p:pic>
      <p:pic>
        <p:nvPicPr>
          <p:cNvPr id="154" name="图片 131" descr="数据中心-蓝.png"/>
          <p:cNvPicPr>
            <a:picLocks noChangeAspect="1"/>
          </p:cNvPicPr>
          <p:nvPr/>
        </p:nvPicPr>
        <p:blipFill>
          <a:blip r:embed="rId13" cstate="print"/>
          <a:stretch>
            <a:fillRect/>
          </a:stretch>
        </p:blipFill>
        <p:spPr bwMode="gray">
          <a:xfrm>
            <a:off x="10572948" y="5501245"/>
            <a:ext cx="302916" cy="407408"/>
          </a:xfrm>
          <a:prstGeom prst="rect">
            <a:avLst/>
          </a:prstGeom>
        </p:spPr>
      </p:pic>
    </p:spTree>
    <p:extLst>
      <p:ext uri="{BB962C8B-B14F-4D97-AF65-F5344CB8AC3E}">
        <p14:creationId xmlns:p14="http://schemas.microsoft.com/office/powerpoint/2010/main" val="2837019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CloudCampus</a:t>
            </a:r>
            <a:r>
              <a:rPr lang="zh-CN" altLang="en-US" dirty="0"/>
              <a:t>亮点功能：</a:t>
            </a:r>
            <a:r>
              <a:rPr lang="en-US" altLang="zh-CN" dirty="0"/>
              <a:t>LAN &amp; WAN</a:t>
            </a:r>
            <a:r>
              <a:rPr lang="zh-CN" altLang="en-US" dirty="0"/>
              <a:t>融合 </a:t>
            </a:r>
            <a:r>
              <a:rPr lang="en-US" altLang="zh-CN" dirty="0"/>
              <a:t>(1)</a:t>
            </a:r>
            <a:endParaRPr lang="zh-CN" altLang="en-US" dirty="0"/>
          </a:p>
        </p:txBody>
      </p:sp>
      <p:grpSp>
        <p:nvGrpSpPr>
          <p:cNvPr id="3" name="组合 2"/>
          <p:cNvGrpSpPr/>
          <p:nvPr/>
        </p:nvGrpSpPr>
        <p:grpSpPr bwMode="gray">
          <a:xfrm rot="10800000">
            <a:off x="1108524" y="2483363"/>
            <a:ext cx="6265645" cy="556149"/>
            <a:chOff x="-922741" y="4190496"/>
            <a:chExt cx="3527788" cy="1368203"/>
          </a:xfrm>
        </p:grpSpPr>
        <p:sp>
          <p:nvSpPr>
            <p:cNvPr id="4" name="梯形 3"/>
            <p:cNvSpPr/>
            <p:nvPr/>
          </p:nvSpPr>
          <p:spPr bwMode="gray">
            <a:xfrm>
              <a:off x="-922741" y="4190496"/>
              <a:ext cx="3527788" cy="1368198"/>
            </a:xfrm>
            <a:prstGeom prst="trapezoid">
              <a:avLst>
                <a:gd name="adj" fmla="val 574540"/>
              </a:avLst>
            </a:prstGeom>
            <a:gradFill>
              <a:gsLst>
                <a:gs pos="0">
                  <a:sysClr val="window" lastClr="FFFFFF">
                    <a:alpha val="0"/>
                  </a:sysClr>
                </a:gs>
                <a:gs pos="64000">
                  <a:srgbClr val="94DAE2"/>
                </a:gs>
                <a:gs pos="39000">
                  <a:srgbClr val="56C4D2"/>
                </a:gs>
                <a:gs pos="100000">
                  <a:sysClr val="window" lastClr="FFFFFF">
                    <a:alpha val="0"/>
                  </a:sys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梯形 4"/>
            <p:cNvSpPr/>
            <p:nvPr/>
          </p:nvSpPr>
          <p:spPr bwMode="gray">
            <a:xfrm>
              <a:off x="-162877" y="4190498"/>
              <a:ext cx="2008062" cy="1368198"/>
            </a:xfrm>
            <a:prstGeom prst="trapezoid">
              <a:avLst>
                <a:gd name="adj" fmla="val 424994"/>
              </a:avLst>
            </a:prstGeom>
            <a:gradFill>
              <a:gsLst>
                <a:gs pos="0">
                  <a:sysClr val="window" lastClr="FFFFFF">
                    <a:alpha val="0"/>
                  </a:sysClr>
                </a:gs>
                <a:gs pos="64000">
                  <a:srgbClr val="94DAE2"/>
                </a:gs>
                <a:gs pos="39000">
                  <a:srgbClr val="56C4D2"/>
                </a:gs>
                <a:gs pos="100000">
                  <a:sysClr val="window" lastClr="FFFFFF">
                    <a:alpha val="0"/>
                  </a:sys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梯形 5"/>
            <p:cNvSpPr/>
            <p:nvPr/>
          </p:nvSpPr>
          <p:spPr bwMode="gray">
            <a:xfrm>
              <a:off x="363910" y="4302063"/>
              <a:ext cx="978004" cy="1256636"/>
            </a:xfrm>
            <a:prstGeom prst="trapezoid">
              <a:avLst>
                <a:gd name="adj" fmla="val 205598"/>
              </a:avLst>
            </a:prstGeom>
            <a:gradFill>
              <a:gsLst>
                <a:gs pos="0">
                  <a:sysClr val="window" lastClr="FFFFFF">
                    <a:alpha val="0"/>
                  </a:sysClr>
                </a:gs>
                <a:gs pos="64000">
                  <a:srgbClr val="94DAE2"/>
                </a:gs>
                <a:gs pos="39000">
                  <a:srgbClr val="56C4D2"/>
                </a:gs>
                <a:gs pos="100000">
                  <a:sysClr val="window" lastClr="FFFFFF">
                    <a:alpha val="0"/>
                  </a:sys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 name="圆角矩形 6"/>
          <p:cNvSpPr/>
          <p:nvPr/>
        </p:nvSpPr>
        <p:spPr bwMode="gray">
          <a:xfrm>
            <a:off x="538160" y="4136647"/>
            <a:ext cx="3409048" cy="2021706"/>
          </a:xfrm>
          <a:prstGeom prst="roundRect">
            <a:avLst>
              <a:gd name="adj" fmla="val 292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a:off x="5679585" y="4136647"/>
            <a:ext cx="1543170" cy="2021706"/>
          </a:xfrm>
          <a:prstGeom prst="roundRect">
            <a:avLst>
              <a:gd name="adj" fmla="val 292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bwMode="gray">
          <a:xfrm>
            <a:off x="4040384" y="4136647"/>
            <a:ext cx="1543170" cy="2021706"/>
          </a:xfrm>
          <a:prstGeom prst="roundRect">
            <a:avLst>
              <a:gd name="adj" fmla="val 292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 name="组合 9"/>
          <p:cNvGrpSpPr/>
          <p:nvPr/>
        </p:nvGrpSpPr>
        <p:grpSpPr bwMode="gray">
          <a:xfrm>
            <a:off x="2683149" y="3355741"/>
            <a:ext cx="824217" cy="439611"/>
            <a:chOff x="4409044" y="1389584"/>
            <a:chExt cx="824217" cy="439611"/>
          </a:xfrm>
        </p:grpSpPr>
        <p:sp>
          <p:nvSpPr>
            <p:cNvPr id="11" name="椭圆 10"/>
            <p:cNvSpPr/>
            <p:nvPr/>
          </p:nvSpPr>
          <p:spPr bwMode="gray">
            <a:xfrm>
              <a:off x="4696053" y="1579005"/>
              <a:ext cx="250200" cy="250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Freeform 159"/>
            <p:cNvSpPr/>
            <p:nvPr/>
          </p:nvSpPr>
          <p:spPr bwMode="gray">
            <a:xfrm flipH="1">
              <a:off x="4409044" y="1389584"/>
              <a:ext cx="824217" cy="43084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44000" rtlCol="0" anchor="ctr">
              <a:noAutofit/>
            </a:bodyPr>
            <a:lstStyle/>
            <a:p>
              <a:pPr algn="ctr"/>
              <a:r>
                <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grpSp>
      <p:pic>
        <p:nvPicPr>
          <p:cNvPr id="1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2019544" y="4354984"/>
            <a:ext cx="446281" cy="365138"/>
          </a:xfrm>
          <a:prstGeom prst="rect">
            <a:avLst/>
          </a:prstGeom>
          <a:noFill/>
        </p:spPr>
      </p:pic>
      <p:pic>
        <p:nvPicPr>
          <p:cNvPr id="1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4609114" y="4371581"/>
            <a:ext cx="405710" cy="331944"/>
          </a:xfrm>
          <a:prstGeom prst="rect">
            <a:avLst/>
          </a:prstGeom>
          <a:noFill/>
        </p:spPr>
      </p:pic>
      <p:sp>
        <p:nvSpPr>
          <p:cNvPr id="15" name="文本框 14"/>
          <p:cNvSpPr txBox="1"/>
          <p:nvPr/>
        </p:nvSpPr>
        <p:spPr bwMode="gray">
          <a:xfrm>
            <a:off x="2462639" y="4414443"/>
            <a:ext cx="548547" cy="276999"/>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CPE1</a:t>
            </a:r>
          </a:p>
        </p:txBody>
      </p:sp>
      <p:pic>
        <p:nvPicPr>
          <p:cNvPr id="1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6248315" y="4371581"/>
            <a:ext cx="405710" cy="331944"/>
          </a:xfrm>
          <a:prstGeom prst="rect">
            <a:avLst/>
          </a:prstGeom>
          <a:noFill/>
        </p:spPr>
      </p:pic>
      <p:cxnSp>
        <p:nvCxnSpPr>
          <p:cNvPr id="17" name="直接连接符 16"/>
          <p:cNvCxnSpPr>
            <a:stCxn id="11" idx="4"/>
            <a:endCxn id="14" idx="0"/>
          </p:cNvCxnSpPr>
          <p:nvPr/>
        </p:nvCxnSpPr>
        <p:spPr bwMode="gray">
          <a:xfrm>
            <a:off x="3095258" y="3795352"/>
            <a:ext cx="1716711" cy="576229"/>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1" idx="4"/>
            <a:endCxn id="13" idx="0"/>
          </p:cNvCxnSpPr>
          <p:nvPr/>
        </p:nvCxnSpPr>
        <p:spPr bwMode="gray">
          <a:xfrm flipH="1">
            <a:off x="2242685" y="3795352"/>
            <a:ext cx="852573" cy="559632"/>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21" idx="4"/>
            <a:endCxn id="13" idx="0"/>
          </p:cNvCxnSpPr>
          <p:nvPr/>
        </p:nvCxnSpPr>
        <p:spPr bwMode="gray">
          <a:xfrm flipH="1">
            <a:off x="2242685" y="3795352"/>
            <a:ext cx="3321216" cy="559632"/>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bwMode="gray">
          <a:xfrm>
            <a:off x="5151792" y="3355741"/>
            <a:ext cx="824217" cy="439611"/>
            <a:chOff x="4409044" y="1389584"/>
            <a:chExt cx="824217" cy="439611"/>
          </a:xfrm>
        </p:grpSpPr>
        <p:sp>
          <p:nvSpPr>
            <p:cNvPr id="21" name="椭圆 20"/>
            <p:cNvSpPr/>
            <p:nvPr/>
          </p:nvSpPr>
          <p:spPr bwMode="gray">
            <a:xfrm>
              <a:off x="4696053" y="1579005"/>
              <a:ext cx="250200" cy="250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159"/>
            <p:cNvSpPr/>
            <p:nvPr/>
          </p:nvSpPr>
          <p:spPr bwMode="gray">
            <a:xfrm flipH="1">
              <a:off x="4409044" y="1389584"/>
              <a:ext cx="824217" cy="43084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44000" rtlCol="0" anchor="ctr">
              <a:noAutofit/>
            </a:bodyP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23" name="直接连接符 22"/>
          <p:cNvCxnSpPr>
            <a:stCxn id="21" idx="4"/>
            <a:endCxn id="14" idx="0"/>
          </p:cNvCxnSpPr>
          <p:nvPr/>
        </p:nvCxnSpPr>
        <p:spPr bwMode="gray">
          <a:xfrm flipH="1">
            <a:off x="4811969" y="3795352"/>
            <a:ext cx="751932" cy="576229"/>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1" idx="4"/>
            <a:endCxn id="16" idx="0"/>
          </p:cNvCxnSpPr>
          <p:nvPr/>
        </p:nvCxnSpPr>
        <p:spPr bwMode="gray">
          <a:xfrm>
            <a:off x="5563901" y="3795352"/>
            <a:ext cx="887269" cy="576229"/>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1" idx="4"/>
            <a:endCxn id="16" idx="0"/>
          </p:cNvCxnSpPr>
          <p:nvPr/>
        </p:nvCxnSpPr>
        <p:spPr bwMode="gray">
          <a:xfrm>
            <a:off x="3095258" y="3795352"/>
            <a:ext cx="3355912" cy="576229"/>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bwMode="gray">
          <a:xfrm>
            <a:off x="4052178" y="4414443"/>
            <a:ext cx="548547" cy="276999"/>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CPE2</a:t>
            </a:r>
          </a:p>
        </p:txBody>
      </p:sp>
      <p:sp>
        <p:nvSpPr>
          <p:cNvPr id="27" name="文本框 26"/>
          <p:cNvSpPr txBox="1"/>
          <p:nvPr/>
        </p:nvSpPr>
        <p:spPr bwMode="gray">
          <a:xfrm>
            <a:off x="5688833" y="4414443"/>
            <a:ext cx="548547" cy="276999"/>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CPE3</a:t>
            </a:r>
          </a:p>
        </p:txBody>
      </p:sp>
      <p:pic>
        <p:nvPicPr>
          <p:cNvPr id="28" name="图片 76" descr="接入交换机.png"/>
          <p:cNvPicPr>
            <a:picLocks noChangeAspect="1"/>
          </p:cNvPicPr>
          <p:nvPr/>
        </p:nvPicPr>
        <p:blipFill>
          <a:blip r:embed="rId4" cstate="print"/>
          <a:stretch>
            <a:fillRect/>
          </a:stretch>
        </p:blipFill>
        <p:spPr bwMode="gray">
          <a:xfrm>
            <a:off x="4266743" y="4968500"/>
            <a:ext cx="359999" cy="294545"/>
          </a:xfrm>
          <a:prstGeom prst="rect">
            <a:avLst/>
          </a:prstGeom>
        </p:spPr>
      </p:pic>
      <p:pic>
        <p:nvPicPr>
          <p:cNvPr id="29" name="图片 105" descr="AP.png"/>
          <p:cNvPicPr>
            <a:picLocks noChangeAspect="1"/>
          </p:cNvPicPr>
          <p:nvPr/>
        </p:nvPicPr>
        <p:blipFill>
          <a:blip r:embed="rId5" cstate="print"/>
          <a:stretch>
            <a:fillRect/>
          </a:stretch>
        </p:blipFill>
        <p:spPr bwMode="gray">
          <a:xfrm>
            <a:off x="4989862" y="4968500"/>
            <a:ext cx="359999" cy="294545"/>
          </a:xfrm>
          <a:prstGeom prst="rect">
            <a:avLst/>
          </a:prstGeom>
        </p:spPr>
      </p:pic>
      <p:pic>
        <p:nvPicPr>
          <p:cNvPr id="30" name="图片 76" descr="接入交换机.png"/>
          <p:cNvPicPr>
            <a:picLocks noChangeAspect="1"/>
          </p:cNvPicPr>
          <p:nvPr/>
        </p:nvPicPr>
        <p:blipFill>
          <a:blip r:embed="rId4" cstate="print"/>
          <a:stretch>
            <a:fillRect/>
          </a:stretch>
        </p:blipFill>
        <p:spPr bwMode="gray">
          <a:xfrm>
            <a:off x="5905944" y="4968500"/>
            <a:ext cx="359999" cy="294545"/>
          </a:xfrm>
          <a:prstGeom prst="rect">
            <a:avLst/>
          </a:prstGeom>
        </p:spPr>
      </p:pic>
      <p:pic>
        <p:nvPicPr>
          <p:cNvPr id="31" name="图片 105" descr="AP.png"/>
          <p:cNvPicPr>
            <a:picLocks noChangeAspect="1"/>
          </p:cNvPicPr>
          <p:nvPr/>
        </p:nvPicPr>
        <p:blipFill>
          <a:blip r:embed="rId5" cstate="print"/>
          <a:stretch>
            <a:fillRect/>
          </a:stretch>
        </p:blipFill>
        <p:spPr bwMode="gray">
          <a:xfrm>
            <a:off x="6629063" y="4968500"/>
            <a:ext cx="359999" cy="294545"/>
          </a:xfrm>
          <a:prstGeom prst="rect">
            <a:avLst/>
          </a:prstGeom>
        </p:spPr>
      </p:pic>
      <p:pic>
        <p:nvPicPr>
          <p:cNvPr id="32" name="图片 31" descr="汇聚交换机.png"/>
          <p:cNvPicPr>
            <a:picLocks noChangeAspect="1"/>
          </p:cNvPicPr>
          <p:nvPr/>
        </p:nvPicPr>
        <p:blipFill>
          <a:blip r:embed="rId6" cstate="print"/>
          <a:stretch>
            <a:fillRect/>
          </a:stretch>
        </p:blipFill>
        <p:spPr bwMode="gray">
          <a:xfrm>
            <a:off x="2350151" y="4968500"/>
            <a:ext cx="359999" cy="294545"/>
          </a:xfrm>
          <a:prstGeom prst="rect">
            <a:avLst/>
          </a:prstGeom>
        </p:spPr>
      </p:pic>
      <p:pic>
        <p:nvPicPr>
          <p:cNvPr id="33" name="图片 76" descr="接入交换机.png"/>
          <p:cNvPicPr>
            <a:picLocks noChangeAspect="1"/>
          </p:cNvPicPr>
          <p:nvPr/>
        </p:nvPicPr>
        <p:blipFill>
          <a:blip r:embed="rId4" cstate="print"/>
          <a:stretch>
            <a:fillRect/>
          </a:stretch>
        </p:blipFill>
        <p:spPr bwMode="gray">
          <a:xfrm>
            <a:off x="2903551" y="4968500"/>
            <a:ext cx="359999" cy="294545"/>
          </a:xfrm>
          <a:prstGeom prst="rect">
            <a:avLst/>
          </a:prstGeom>
        </p:spPr>
      </p:pic>
      <p:pic>
        <p:nvPicPr>
          <p:cNvPr id="34" name="图片 86" descr="核心交换机.png"/>
          <p:cNvPicPr>
            <a:picLocks noChangeAspect="1"/>
          </p:cNvPicPr>
          <p:nvPr/>
        </p:nvPicPr>
        <p:blipFill>
          <a:blip r:embed="rId7" cstate="print"/>
          <a:stretch>
            <a:fillRect/>
          </a:stretch>
        </p:blipFill>
        <p:spPr bwMode="gray">
          <a:xfrm>
            <a:off x="1796751" y="4968500"/>
            <a:ext cx="359999" cy="294545"/>
          </a:xfrm>
          <a:prstGeom prst="rect">
            <a:avLst/>
          </a:prstGeom>
        </p:spPr>
      </p:pic>
      <p:pic>
        <p:nvPicPr>
          <p:cNvPr id="35" name="图片 105" descr="AP.png"/>
          <p:cNvPicPr>
            <a:picLocks noChangeAspect="1"/>
          </p:cNvPicPr>
          <p:nvPr/>
        </p:nvPicPr>
        <p:blipFill>
          <a:blip r:embed="rId5" cstate="print"/>
          <a:stretch>
            <a:fillRect/>
          </a:stretch>
        </p:blipFill>
        <p:spPr bwMode="gray">
          <a:xfrm>
            <a:off x="3456952" y="4968500"/>
            <a:ext cx="359999" cy="294545"/>
          </a:xfrm>
          <a:prstGeom prst="rect">
            <a:avLst/>
          </a:prstGeom>
        </p:spPr>
      </p:pic>
      <p:pic>
        <p:nvPicPr>
          <p:cNvPr id="36"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1243351" y="4968500"/>
            <a:ext cx="359999" cy="294545"/>
          </a:xfrm>
          <a:prstGeom prst="rect">
            <a:avLst/>
          </a:prstGeom>
        </p:spPr>
      </p:pic>
      <p:pic>
        <p:nvPicPr>
          <p:cNvPr id="37" name="图片 72" descr="交换机.png"/>
          <p:cNvPicPr>
            <a:picLocks noChangeAspect="1"/>
          </p:cNvPicPr>
          <p:nvPr/>
        </p:nvPicPr>
        <p:blipFill>
          <a:blip r:embed="rId9" cstate="print"/>
          <a:stretch>
            <a:fillRect/>
          </a:stretch>
        </p:blipFill>
        <p:spPr bwMode="gray">
          <a:xfrm>
            <a:off x="691197" y="4968500"/>
            <a:ext cx="358812" cy="294545"/>
          </a:xfrm>
          <a:prstGeom prst="rect">
            <a:avLst/>
          </a:prstGeom>
        </p:spPr>
      </p:pic>
      <p:sp>
        <p:nvSpPr>
          <p:cNvPr id="38" name="文本框 37"/>
          <p:cNvSpPr txBox="1"/>
          <p:nvPr/>
        </p:nvSpPr>
        <p:spPr bwMode="gray">
          <a:xfrm>
            <a:off x="1769478" y="5430396"/>
            <a:ext cx="954107" cy="582082"/>
          </a:xfrm>
          <a:prstGeom prst="rect">
            <a:avLst/>
          </a:prstGeom>
          <a:noFill/>
        </p:spPr>
        <p:txBody>
          <a:bodyPr wrap="none" rtlCol="0">
            <a:spAutoFit/>
          </a:bodyPr>
          <a:lstStyle/>
          <a:p>
            <a:pPr algn="ctr">
              <a:lnSpc>
                <a:spcPts val="20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总部园区</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algn="ctr">
              <a:lnSpc>
                <a:spcPts val="2000"/>
              </a:lnSpc>
            </a:pP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多业务园区</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4257971" y="5430396"/>
            <a:ext cx="1107996" cy="582082"/>
          </a:xfrm>
          <a:prstGeom prst="rect">
            <a:avLst/>
          </a:prstGeom>
          <a:noFill/>
        </p:spPr>
        <p:txBody>
          <a:bodyPr wrap="none" rtlCol="0">
            <a:spAutoFit/>
          </a:bodyPr>
          <a:lstStyle/>
          <a:p>
            <a:pPr algn="ctr">
              <a:lnSpc>
                <a:spcPts val="20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分支</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a:t>
            </a:r>
          </a:p>
          <a:p>
            <a:pPr algn="ctr">
              <a:lnSpc>
                <a:spcPts val="2000"/>
              </a:lnSpc>
            </a:pP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简单业务园区</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5834866" y="5430396"/>
            <a:ext cx="1107996" cy="582082"/>
          </a:xfrm>
          <a:prstGeom prst="rect">
            <a:avLst/>
          </a:prstGeom>
          <a:noFill/>
        </p:spPr>
        <p:txBody>
          <a:bodyPr wrap="none" rtlCol="0">
            <a:spAutoFit/>
          </a:bodyPr>
          <a:lstStyle/>
          <a:p>
            <a:pPr algn="ctr">
              <a:lnSpc>
                <a:spcPts val="20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分支</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2</a:t>
            </a:r>
          </a:p>
          <a:p>
            <a:pPr algn="ctr">
              <a:lnSpc>
                <a:spcPts val="2000"/>
              </a:lnSpc>
            </a:pP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简单业务园区</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1108526" y="1145750"/>
            <a:ext cx="6099501" cy="1380919"/>
          </a:xfrm>
          <a:prstGeom prst="rect">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4506531" y="1267955"/>
            <a:ext cx="2284989" cy="238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SD-WAN</a:t>
            </a:r>
          </a:p>
        </p:txBody>
      </p:sp>
      <p:sp>
        <p:nvSpPr>
          <p:cNvPr id="43" name="矩形 42"/>
          <p:cNvSpPr/>
          <p:nvPr/>
        </p:nvSpPr>
        <p:spPr bwMode="gray">
          <a:xfrm>
            <a:off x="1499257" y="1267955"/>
            <a:ext cx="2505831" cy="238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LAN</a:t>
            </a:r>
            <a:r>
              <a:rPr lang="zh-CN" altLang="en-US" sz="1400" b="1" dirty="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a:t>
            </a:r>
            <a:endParaRPr lang="en-US" altLang="zh-CN" sz="1400" b="1" dirty="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4" name="矩形 43"/>
          <p:cNvSpPr/>
          <p:nvPr/>
        </p:nvSpPr>
        <p:spPr bwMode="gray">
          <a:xfrm>
            <a:off x="1499257" y="2189956"/>
            <a:ext cx="5292263" cy="234831"/>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5" name="矩形 44"/>
          <p:cNvSpPr/>
          <p:nvPr/>
        </p:nvSpPr>
        <p:spPr bwMode="gray">
          <a:xfrm>
            <a:off x="1499257" y="1883600"/>
            <a:ext cx="1205531" cy="234831"/>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园区</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5"/>
          <p:cNvSpPr/>
          <p:nvPr/>
        </p:nvSpPr>
        <p:spPr bwMode="gray">
          <a:xfrm>
            <a:off x="2799557" y="1883600"/>
            <a:ext cx="1205531" cy="234831"/>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业务随行</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1499257" y="1568692"/>
            <a:ext cx="1205531" cy="234831"/>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站点配置</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2799557" y="1568692"/>
            <a:ext cx="1205531" cy="234831"/>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准入认证</a:t>
            </a:r>
          </a:p>
        </p:txBody>
      </p:sp>
      <p:sp>
        <p:nvSpPr>
          <p:cNvPr id="49" name="矩形 48"/>
          <p:cNvSpPr/>
          <p:nvPr/>
        </p:nvSpPr>
        <p:spPr bwMode="gray">
          <a:xfrm>
            <a:off x="4506531" y="1886887"/>
            <a:ext cx="1079458" cy="228257"/>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资源管理</a:t>
            </a:r>
          </a:p>
        </p:txBody>
      </p:sp>
      <p:sp>
        <p:nvSpPr>
          <p:cNvPr id="50" name="矩形 49"/>
          <p:cNvSpPr/>
          <p:nvPr/>
        </p:nvSpPr>
        <p:spPr bwMode="gray">
          <a:xfrm>
            <a:off x="5712062" y="1886887"/>
            <a:ext cx="1079458" cy="228257"/>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WAN VPN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4506531" y="1571979"/>
            <a:ext cx="1079458" cy="228257"/>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路由管理</a:t>
            </a:r>
          </a:p>
        </p:txBody>
      </p:sp>
      <p:sp>
        <p:nvSpPr>
          <p:cNvPr id="52" name="矩形 51"/>
          <p:cNvSpPr/>
          <p:nvPr/>
        </p:nvSpPr>
        <p:spPr bwMode="gray">
          <a:xfrm>
            <a:off x="5712062" y="1571979"/>
            <a:ext cx="1079458" cy="228257"/>
          </a:xfrm>
          <a:prstGeom prst="rect">
            <a:avLst/>
          </a:prstGeom>
          <a:solidFill>
            <a:schemeClr val="bg1"/>
          </a:solidFill>
          <a:ln w="12700" cap="flat" cmpd="sng" algn="ctr">
            <a:solidFill>
              <a:srgbClr val="94DAE2"/>
            </a:solidFill>
            <a:prstDash val="solid"/>
            <a:miter lim="800000"/>
          </a:ln>
          <a:effectLst/>
        </p:spPr>
        <p:txBody>
          <a:bodyPr vert="horz" wrap="square" lIns="68512" tIns="34256" rIns="68512" bIns="34256" numCol="1" rtlCol="0" anchor="ctr" anchorCtr="0" compatLnSpc="1">
            <a:prstTxWarp prst="textNoShape">
              <a:avLst/>
            </a:prstTxWarp>
          </a:bodyPr>
          <a:lstStyle/>
          <a:p>
            <a:pPr algn="ctr" defTabSz="913493" eaLnBrk="0" hangingPunct="0">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智能选路</a:t>
            </a:r>
          </a:p>
        </p:txBody>
      </p:sp>
      <p:sp>
        <p:nvSpPr>
          <p:cNvPr id="53" name="文本框 52"/>
          <p:cNvSpPr txBox="1"/>
          <p:nvPr/>
        </p:nvSpPr>
        <p:spPr bwMode="gray">
          <a:xfrm>
            <a:off x="3757785" y="3404651"/>
            <a:ext cx="954107" cy="325602"/>
          </a:xfrm>
          <a:prstGeom prst="rect">
            <a:avLst/>
          </a:prstGeom>
          <a:noFill/>
        </p:spPr>
        <p:txBody>
          <a:bodyPr wrap="none" rtlCol="0">
            <a:spAutoFit/>
          </a:bodyPr>
          <a:lstStyle/>
          <a:p>
            <a:pPr algn="ctr">
              <a:lnSpc>
                <a:spcPts val="2000"/>
              </a:lnSpc>
            </a:pP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一站式管理</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4" name="图片 5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816702" y="2945111"/>
            <a:ext cx="865097" cy="491769"/>
          </a:xfrm>
          <a:prstGeom prst="rect">
            <a:avLst/>
          </a:prstGeom>
        </p:spPr>
      </p:pic>
      <p:sp>
        <p:nvSpPr>
          <p:cNvPr id="55" name="矩形 54"/>
          <p:cNvSpPr/>
          <p:nvPr/>
        </p:nvSpPr>
        <p:spPr bwMode="gray">
          <a:xfrm>
            <a:off x="7561113" y="1858074"/>
            <a:ext cx="4096685" cy="3400931"/>
          </a:xfrm>
          <a:prstGeom prst="rect">
            <a:avLst/>
          </a:prstGeom>
        </p:spPr>
        <p:txBody>
          <a:bodyPr wrap="square">
            <a:spAutoFit/>
          </a:bodyPr>
          <a:lstStyle/>
          <a:p>
            <a:pPr>
              <a:lnSpc>
                <a:spcPts val="2400"/>
              </a:lnSpc>
              <a:spcAft>
                <a:spcPts val="600"/>
              </a:spcAft>
            </a:pPr>
            <a:r>
              <a:rPr lang="zh-CN" altLang="en-US"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融合的</a:t>
            </a:r>
            <a:r>
              <a:rPr lang="en-US" altLang="zh-CN"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GUI</a:t>
            </a:r>
            <a:r>
              <a:rPr lang="zh-CN" altLang="en-US"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界面，提升部署运维效率</a:t>
            </a:r>
            <a:endParaRPr lang="en-US" altLang="zh-CN"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40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融合的部署、融合的策略、融合的运维。</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endParaRPr lang="en-US" altLang="zh-CN" sz="1600" b="1"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丰富</a:t>
            </a:r>
            <a:r>
              <a:rPr lang="en-US" altLang="zh-CN"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SD-WAN</a:t>
            </a:r>
            <a:r>
              <a:rPr lang="zh-CN" altLang="en-US"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策略，提升应用体验</a:t>
            </a:r>
            <a:endParaRPr lang="en-US" altLang="zh-CN"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支持</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6000+</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应用识别、基于应用智能选路，基于应用精细化</a:t>
            </a:r>
            <a:r>
              <a:rPr lang="en-US" altLang="zh-CN" sz="1400" dirty="0" err="1">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QoS</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调度。</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zh-CN" altLang="en-US"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一个平台，降低用户投资</a:t>
            </a:r>
            <a:endParaRPr lang="en-US" altLang="zh-CN" sz="16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400"/>
              </a:lnSpc>
              <a:spcAft>
                <a:spcPts val="600"/>
              </a:spcAft>
            </a:pP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NCE-Campus</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支持集群或单机版部署。</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2675813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CloudCampus</a:t>
            </a:r>
            <a:r>
              <a:rPr lang="zh-CN" altLang="en-US" dirty="0"/>
              <a:t>亮点功能：</a:t>
            </a:r>
            <a:r>
              <a:rPr lang="en-US" altLang="zh-CN" dirty="0"/>
              <a:t>LAN &amp; WAN</a:t>
            </a:r>
            <a:r>
              <a:rPr lang="zh-CN" altLang="en-US" dirty="0"/>
              <a:t>融合 </a:t>
            </a:r>
            <a:r>
              <a:rPr lang="en-US" altLang="zh-CN" dirty="0"/>
              <a:t>(2)</a:t>
            </a:r>
            <a:endParaRPr lang="zh-CN" altLang="en-US" dirty="0"/>
          </a:p>
        </p:txBody>
      </p:sp>
      <p:pic>
        <p:nvPicPr>
          <p:cNvPr id="56" name="图片 55"/>
          <p:cNvPicPr>
            <a:picLocks noChangeAspect="1"/>
          </p:cNvPicPr>
          <p:nvPr/>
        </p:nvPicPr>
        <p:blipFill rotWithShape="1">
          <a:blip r:embed="rId3"/>
          <a:srcRect l="331" t="1545" r="488" b="3187"/>
          <a:stretch/>
        </p:blipFill>
        <p:spPr bwMode="invGray">
          <a:xfrm>
            <a:off x="737117" y="998375"/>
            <a:ext cx="10711543" cy="2155371"/>
          </a:xfrm>
          <a:prstGeom prst="rect">
            <a:avLst/>
          </a:prstGeom>
          <a:ln w="12700">
            <a:solidFill>
              <a:schemeClr val="bg1">
                <a:lumMod val="85000"/>
              </a:schemeClr>
            </a:solidFill>
          </a:ln>
        </p:spPr>
      </p:pic>
      <p:sp>
        <p:nvSpPr>
          <p:cNvPr id="24" name="圆角矩形 75"/>
          <p:cNvSpPr/>
          <p:nvPr/>
        </p:nvSpPr>
        <p:spPr bwMode="gray">
          <a:xfrm>
            <a:off x="701318" y="3356338"/>
            <a:ext cx="1080000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LAN-WAN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互联方案</a:t>
            </a:r>
          </a:p>
        </p:txBody>
      </p:sp>
      <p:sp>
        <p:nvSpPr>
          <p:cNvPr id="25" name="圆角矩形 75"/>
          <p:cNvSpPr/>
          <p:nvPr/>
        </p:nvSpPr>
        <p:spPr bwMode="gray">
          <a:xfrm>
            <a:off x="701318" y="3764923"/>
            <a:ext cx="10800001" cy="2368514"/>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针对园区出口互联线路，</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CloudCampus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解决方案提供两种互联技术：</a:t>
            </a:r>
            <a:r>
              <a:rPr lang="en-US" altLang="zh-CN"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IPsec 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SD-WAN EVPN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IPsec 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属于一种静态的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，通过在站点之间建立</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IPsec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隧道来创建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通道，根据配置静态网段引流到</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隧道中，实现站点间的业务通过</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隧道进行访问。</a:t>
            </a:r>
          </a:p>
          <a:p>
            <a:pPr marL="360000" indent="-180000" defTabSz="914400">
              <a:lnSpc>
                <a:spcPct val="150000"/>
              </a:lnSpc>
              <a:buFont typeface="Huawei Sans" panose="020C0503030203020204" pitchFamily="34" charset="0"/>
              <a:buChar cha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SD-WAN EVPN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属于一种动态的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，可以按需在站点间建立隧道，动态发布路由。</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通过在站点间建立</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GRE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隧道来创建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通道，同时支持在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GRE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隧道上进行</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IPsec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加密，以实现隧道的加密安全。</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defTabSz="914400">
              <a:lnSpc>
                <a:spcPct val="150000"/>
              </a:lnSpc>
              <a:buFont typeface="Arial" panose="020B0604020202020204" pitchFamily="34" charset="0"/>
              <a:buChar cha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侧可提供的应用体验优化策略：</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应用识别、智能选路、</a:t>
            </a:r>
            <a:r>
              <a:rPr lang="en-US" altLang="zh-CN" sz="1400" kern="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策略、应用优化等。</a:t>
            </a:r>
          </a:p>
        </p:txBody>
      </p:sp>
    </p:spTree>
    <p:extLst>
      <p:ext uri="{BB962C8B-B14F-4D97-AF65-F5344CB8AC3E}">
        <p14:creationId xmlns:p14="http://schemas.microsoft.com/office/powerpoint/2010/main" val="3454705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3481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CloudCampus</a:t>
            </a:r>
            <a:r>
              <a:rPr lang="zh-CN" altLang="en-US" dirty="0">
                <a:sym typeface="Huawei Sans" panose="020C0503030203020204" pitchFamily="34" charset="0"/>
              </a:rPr>
              <a:t>的三种部署模式</a:t>
            </a:r>
          </a:p>
        </p:txBody>
      </p:sp>
      <p:sp>
        <p:nvSpPr>
          <p:cNvPr id="3" name="矩形 2"/>
          <p:cNvSpPr/>
          <p:nvPr/>
        </p:nvSpPr>
        <p:spPr bwMode="gray">
          <a:xfrm>
            <a:off x="480826" y="4386779"/>
            <a:ext cx="11247283" cy="455115"/>
          </a:xfrm>
          <a:prstGeom prst="rect">
            <a:avLst/>
          </a:prstGeom>
          <a:gradFill>
            <a:gsLst>
              <a:gs pos="0">
                <a:srgbClr val="E6F6F9"/>
              </a:gs>
              <a:gs pos="100000">
                <a:schemeClr val="bg1">
                  <a:alpha val="0"/>
                </a:schemeClr>
              </a:gs>
            </a:gsLst>
            <a:lin ang="0" scaled="1"/>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531532" y="4265522"/>
            <a:ext cx="1371512" cy="697627"/>
          </a:xfrm>
          <a:prstGeom prst="rect">
            <a:avLst/>
          </a:prstGeom>
        </p:spPr>
        <p:txBody>
          <a:bodyPr wrap="square" anchor="ctr" anchorCtr="0">
            <a:noAutofit/>
          </a:bodyPr>
          <a:lstStyle/>
          <a:p>
            <a:pPr algn="ctr">
              <a:tabLst>
                <a:tab pos="457006" algn="l"/>
              </a:tabLst>
            </a:pPr>
            <a:r>
              <a:rPr lang="zh-CN" altLang="en-US" sz="140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运营主体</a:t>
            </a:r>
          </a:p>
        </p:txBody>
      </p:sp>
      <p:sp>
        <p:nvSpPr>
          <p:cNvPr id="5" name="矩形 4"/>
          <p:cNvSpPr/>
          <p:nvPr/>
        </p:nvSpPr>
        <p:spPr bwMode="gray">
          <a:xfrm>
            <a:off x="1938555" y="4455935"/>
            <a:ext cx="3321069"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a:t>
            </a:r>
          </a:p>
        </p:txBody>
      </p:sp>
      <p:sp>
        <p:nvSpPr>
          <p:cNvPr id="6" name="矩形 5"/>
          <p:cNvSpPr/>
          <p:nvPr/>
        </p:nvSpPr>
        <p:spPr bwMode="gray">
          <a:xfrm>
            <a:off x="8386804" y="4455935"/>
            <a:ext cx="3252580"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en-US" altLang="zh-CN"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MSP</a:t>
            </a: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、运营商</a:t>
            </a:r>
          </a:p>
        </p:txBody>
      </p:sp>
      <p:sp>
        <p:nvSpPr>
          <p:cNvPr id="7" name="矩形 6"/>
          <p:cNvSpPr/>
          <p:nvPr/>
        </p:nvSpPr>
        <p:spPr bwMode="gray">
          <a:xfrm>
            <a:off x="5348350" y="4455935"/>
            <a:ext cx="2949728"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华为</a:t>
            </a:r>
          </a:p>
        </p:txBody>
      </p:sp>
      <p:sp>
        <p:nvSpPr>
          <p:cNvPr id="8" name="矩形 7"/>
          <p:cNvSpPr/>
          <p:nvPr/>
        </p:nvSpPr>
        <p:spPr bwMode="gray">
          <a:xfrm>
            <a:off x="480826" y="3532303"/>
            <a:ext cx="11247283" cy="741270"/>
          </a:xfrm>
          <a:prstGeom prst="rect">
            <a:avLst/>
          </a:prstGeom>
          <a:gradFill>
            <a:gsLst>
              <a:gs pos="0">
                <a:srgbClr val="E6F6F9"/>
              </a:gs>
              <a:gs pos="100000">
                <a:schemeClr val="bg1">
                  <a:alpha val="0"/>
                </a:schemeClr>
              </a:gs>
            </a:gsLst>
            <a:lin ang="0" scaled="1"/>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bwMode="gray">
          <a:xfrm>
            <a:off x="480826" y="2373486"/>
            <a:ext cx="11247283" cy="1062545"/>
          </a:xfrm>
          <a:prstGeom prst="rect">
            <a:avLst/>
          </a:prstGeom>
          <a:gradFill>
            <a:gsLst>
              <a:gs pos="0">
                <a:srgbClr val="E6F6F9"/>
              </a:gs>
              <a:gs pos="100000">
                <a:schemeClr val="bg1">
                  <a:alpha val="0"/>
                </a:schemeClr>
              </a:gs>
            </a:gsLst>
            <a:lin ang="0" scaled="1"/>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1938555" y="1616608"/>
            <a:ext cx="3321069" cy="648715"/>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本地部署</a:t>
            </a:r>
          </a:p>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On-Premise</a:t>
            </a:r>
          </a:p>
        </p:txBody>
      </p:sp>
      <p:sp>
        <p:nvSpPr>
          <p:cNvPr id="11" name="矩形 10"/>
          <p:cNvSpPr/>
          <p:nvPr/>
        </p:nvSpPr>
        <p:spPr bwMode="gray">
          <a:xfrm>
            <a:off x="8386804" y="1616608"/>
            <a:ext cx="3252580" cy="648715"/>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MSP</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自建云部署</a:t>
            </a:r>
          </a:p>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MSP-owned Cloud</a:t>
            </a:r>
          </a:p>
        </p:txBody>
      </p:sp>
      <p:sp>
        <p:nvSpPr>
          <p:cNvPr id="12" name="矩形 11"/>
          <p:cNvSpPr/>
          <p:nvPr/>
        </p:nvSpPr>
        <p:spPr bwMode="gray">
          <a:xfrm>
            <a:off x="531532" y="2555945"/>
            <a:ext cx="1371512" cy="697627"/>
          </a:xfrm>
          <a:prstGeom prst="rect">
            <a:avLst/>
          </a:prstGeom>
        </p:spPr>
        <p:txBody>
          <a:bodyPr wrap="square" anchor="ctr" anchorCtr="0">
            <a:noAutofit/>
          </a:bodyPr>
          <a:lstStyle/>
          <a:p>
            <a:pPr algn="ctr">
              <a:tabLst>
                <a:tab pos="457006" algn="l"/>
              </a:tabLst>
            </a:pPr>
            <a:r>
              <a:rPr lang="zh-CN" altLang="en-US" sz="140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场景定义</a:t>
            </a:r>
          </a:p>
        </p:txBody>
      </p:sp>
      <p:sp>
        <p:nvSpPr>
          <p:cNvPr id="13" name="矩形 12"/>
          <p:cNvSpPr/>
          <p:nvPr/>
        </p:nvSpPr>
        <p:spPr bwMode="gray">
          <a:xfrm>
            <a:off x="531532" y="3554125"/>
            <a:ext cx="1371512" cy="697627"/>
          </a:xfrm>
          <a:prstGeom prst="rect">
            <a:avLst/>
          </a:prstGeom>
        </p:spPr>
        <p:txBody>
          <a:bodyPr wrap="square" anchor="ctr" anchorCtr="0">
            <a:noAutofit/>
          </a:bodyPr>
          <a:lstStyle/>
          <a:p>
            <a:pPr algn="ctr">
              <a:tabLst>
                <a:tab pos="457006" algn="l"/>
              </a:tabLst>
            </a:pPr>
            <a:r>
              <a:rPr lang="zh-CN" altLang="en-US" sz="140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目标客户</a:t>
            </a:r>
          </a:p>
        </p:txBody>
      </p:sp>
      <p:sp>
        <p:nvSpPr>
          <p:cNvPr id="14" name="矩形 13"/>
          <p:cNvSpPr/>
          <p:nvPr/>
        </p:nvSpPr>
        <p:spPr bwMode="gray">
          <a:xfrm>
            <a:off x="5348350" y="1616608"/>
            <a:ext cx="2949728" cy="648715"/>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华为公有云部署</a:t>
            </a:r>
          </a:p>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Huawei Public Cloud</a:t>
            </a:r>
          </a:p>
        </p:txBody>
      </p:sp>
      <p:sp>
        <p:nvSpPr>
          <p:cNvPr id="15" name="矩形 14"/>
          <p:cNvSpPr/>
          <p:nvPr/>
        </p:nvSpPr>
        <p:spPr bwMode="gray">
          <a:xfrm>
            <a:off x="1938555" y="2452824"/>
            <a:ext cx="3321069" cy="903869"/>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客户购买并拥有</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控制器、分析器等软件实体，软件可以部署在其数据中心或者公有云平台上。</a:t>
            </a:r>
          </a:p>
        </p:txBody>
      </p:sp>
      <p:sp>
        <p:nvSpPr>
          <p:cNvPr id="16" name="矩形 15"/>
          <p:cNvSpPr/>
          <p:nvPr/>
        </p:nvSpPr>
        <p:spPr bwMode="gray">
          <a:xfrm>
            <a:off x="8386804" y="2452824"/>
            <a:ext cx="3252580" cy="903869"/>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en-US" altLang="zh-CN"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MSP</a:t>
            </a: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运营，</a:t>
            </a:r>
            <a:r>
              <a:rPr lang="en-US" altLang="zh-CN"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MSP</a:t>
            </a: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购买控制器、分析器等软件做运营，</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软件可以部署在其数据中心或者公有云上。</a:t>
            </a:r>
            <a:endPar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矩形 16"/>
          <p:cNvSpPr/>
          <p:nvPr/>
        </p:nvSpPr>
        <p:spPr bwMode="gray">
          <a:xfrm>
            <a:off x="5348350" y="2452824"/>
            <a:ext cx="2949728" cy="903869"/>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华为运营</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，客户无需购买控制器分析器，</a:t>
            </a: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客户购买华为的云管理网络服务</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来管理其网络。</a:t>
            </a:r>
            <a:endPar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 name="矩形 17"/>
          <p:cNvSpPr/>
          <p:nvPr/>
        </p:nvSpPr>
        <p:spPr bwMode="gray">
          <a:xfrm>
            <a:off x="1938555" y="3608065"/>
            <a:ext cx="3321069" cy="589746"/>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政府、教育、大企业、零售、金融等行业客户</a:t>
            </a:r>
          </a:p>
        </p:txBody>
      </p:sp>
      <p:sp>
        <p:nvSpPr>
          <p:cNvPr id="19" name="矩形 18"/>
          <p:cNvSpPr/>
          <p:nvPr/>
        </p:nvSpPr>
        <p:spPr bwMode="gray">
          <a:xfrm>
            <a:off x="8386804" y="3608065"/>
            <a:ext cx="3252580" cy="589746"/>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MSP</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、运营商</a:t>
            </a:r>
          </a:p>
        </p:txBody>
      </p:sp>
      <p:sp>
        <p:nvSpPr>
          <p:cNvPr id="20" name="矩形 19"/>
          <p:cNvSpPr/>
          <p:nvPr/>
        </p:nvSpPr>
        <p:spPr bwMode="gray">
          <a:xfrm>
            <a:off x="5348350" y="3608065"/>
            <a:ext cx="2949728" cy="589746"/>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政府、教育、大企业、零售、金融等行业客户</a:t>
            </a:r>
          </a:p>
        </p:txBody>
      </p:sp>
      <p:sp>
        <p:nvSpPr>
          <p:cNvPr id="21" name="矩形 20"/>
          <p:cNvSpPr/>
          <p:nvPr/>
        </p:nvSpPr>
        <p:spPr bwMode="gray">
          <a:xfrm>
            <a:off x="480826" y="4954682"/>
            <a:ext cx="11247283" cy="455115"/>
          </a:xfrm>
          <a:prstGeom prst="rect">
            <a:avLst/>
          </a:prstGeom>
          <a:gradFill>
            <a:gsLst>
              <a:gs pos="0">
                <a:srgbClr val="E6F6F9"/>
              </a:gs>
              <a:gs pos="100000">
                <a:schemeClr val="bg1">
                  <a:alpha val="0"/>
                </a:schemeClr>
              </a:gs>
            </a:gsLst>
            <a:lin ang="0" scaled="1"/>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531532" y="5016203"/>
            <a:ext cx="1371512" cy="332072"/>
          </a:xfrm>
          <a:prstGeom prst="rect">
            <a:avLst/>
          </a:prstGeom>
        </p:spPr>
        <p:txBody>
          <a:bodyPr wrap="square" anchor="ctr" anchorCtr="0">
            <a:noAutofit/>
          </a:bodyPr>
          <a:lstStyle/>
          <a:p>
            <a:pPr algn="ctr">
              <a:tabLst>
                <a:tab pos="457006" algn="l"/>
              </a:tabLst>
            </a:pPr>
            <a:r>
              <a:rPr lang="zh-CN" altLang="en-US" sz="140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软件交易模式</a:t>
            </a:r>
          </a:p>
        </p:txBody>
      </p:sp>
      <p:sp>
        <p:nvSpPr>
          <p:cNvPr id="23" name="矩形 22"/>
          <p:cNvSpPr/>
          <p:nvPr/>
        </p:nvSpPr>
        <p:spPr bwMode="gray">
          <a:xfrm>
            <a:off x="1938555" y="5023838"/>
            <a:ext cx="3321069"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永久</a:t>
            </a:r>
            <a:r>
              <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License + </a:t>
            </a:r>
            <a:r>
              <a:rPr lang="en-US" altLang="zh-CN" sz="1400" kern="0" dirty="0" err="1">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SnS</a:t>
            </a:r>
            <a:endPar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4" name="矩形 23"/>
          <p:cNvSpPr/>
          <p:nvPr/>
        </p:nvSpPr>
        <p:spPr bwMode="gray">
          <a:xfrm>
            <a:off x="8386804" y="5023838"/>
            <a:ext cx="3252580"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en-US" altLang="zh-CN"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TBL</a:t>
            </a: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订阅模式</a:t>
            </a:r>
          </a:p>
        </p:txBody>
      </p:sp>
      <p:sp>
        <p:nvSpPr>
          <p:cNvPr id="25" name="矩形 24"/>
          <p:cNvSpPr/>
          <p:nvPr/>
        </p:nvSpPr>
        <p:spPr bwMode="gray">
          <a:xfrm>
            <a:off x="5348350" y="5023838"/>
            <a:ext cx="2949728"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SaaS</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模式</a:t>
            </a:r>
          </a:p>
        </p:txBody>
      </p:sp>
      <p:sp>
        <p:nvSpPr>
          <p:cNvPr id="26" name="Freeform 298"/>
          <p:cNvSpPr>
            <a:spLocks/>
          </p:cNvSpPr>
          <p:nvPr/>
        </p:nvSpPr>
        <p:spPr bwMode="gray">
          <a:xfrm>
            <a:off x="4690775" y="1547449"/>
            <a:ext cx="408808" cy="345018"/>
          </a:xfrm>
          <a:custGeom>
            <a:avLst/>
            <a:gdLst>
              <a:gd name="T0" fmla="*/ 0 w 648"/>
              <a:gd name="T1" fmla="*/ 2147483647 h 618"/>
              <a:gd name="T2" fmla="*/ 2147483647 w 648"/>
              <a:gd name="T3" fmla="*/ 2147483647 h 618"/>
              <a:gd name="T4" fmla="*/ 2147483647 w 648"/>
              <a:gd name="T5" fmla="*/ 2147483647 h 618"/>
              <a:gd name="T6" fmla="*/ 2147483647 w 648"/>
              <a:gd name="T7" fmla="*/ 2147483647 h 618"/>
              <a:gd name="T8" fmla="*/ 2147483647 w 648"/>
              <a:gd name="T9" fmla="*/ 2147483647 h 618"/>
              <a:gd name="T10" fmla="*/ 2147483647 w 648"/>
              <a:gd name="T11" fmla="*/ 2147483647 h 618"/>
              <a:gd name="T12" fmla="*/ 2147483647 w 648"/>
              <a:gd name="T13" fmla="*/ 2147483647 h 618"/>
              <a:gd name="T14" fmla="*/ 2147483647 w 648"/>
              <a:gd name="T15" fmla="*/ 0 h 618"/>
              <a:gd name="T16" fmla="*/ 2147483647 w 648"/>
              <a:gd name="T17" fmla="*/ 2147483647 h 618"/>
              <a:gd name="T18" fmla="*/ 2147483647 w 648"/>
              <a:gd name="T19" fmla="*/ 2147483647 h 618"/>
              <a:gd name="T20" fmla="*/ 2147483647 w 648"/>
              <a:gd name="T21" fmla="*/ 2147483647 h 618"/>
              <a:gd name="T22" fmla="*/ 2147483647 w 648"/>
              <a:gd name="T23" fmla="*/ 2147483647 h 618"/>
              <a:gd name="T24" fmla="*/ 2147483647 w 648"/>
              <a:gd name="T25" fmla="*/ 2147483647 h 618"/>
              <a:gd name="T26" fmla="*/ 2147483647 w 648"/>
              <a:gd name="T27" fmla="*/ 2147483647 h 618"/>
              <a:gd name="T28" fmla="*/ 2147483647 w 648"/>
              <a:gd name="T29" fmla="*/ 2147483647 h 618"/>
              <a:gd name="T30" fmla="*/ 2147483647 w 648"/>
              <a:gd name="T31" fmla="*/ 2147483647 h 618"/>
              <a:gd name="T32" fmla="*/ 0 w 648"/>
              <a:gd name="T33" fmla="*/ 2147483647 h 6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30B5C5"/>
          </a:solidFill>
          <a:ln>
            <a:noFill/>
          </a:ln>
          <a:effectLst/>
        </p:spPr>
        <p:txBody>
          <a:bodyPr wrap="none" lIns="92382" tIns="46191" rIns="92382" bIns="46191" anchor="ctr"/>
          <a:lstStyle/>
          <a:p>
            <a:endParaRPr lang="zh-CN" altLang="en-US">
              <a:cs typeface="+mn-ea"/>
              <a:sym typeface="+mn-lt"/>
            </a:endParaRPr>
          </a:p>
        </p:txBody>
      </p:sp>
    </p:spTree>
    <p:extLst>
      <p:ext uri="{BB962C8B-B14F-4D97-AF65-F5344CB8AC3E}">
        <p14:creationId xmlns:p14="http://schemas.microsoft.com/office/powerpoint/2010/main" val="387705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CloudCampus</a:t>
            </a:r>
            <a:r>
              <a:rPr lang="zh-CN" altLang="en-US" dirty="0">
                <a:sym typeface="Huawei Sans" panose="020C0503030203020204" pitchFamily="34" charset="0"/>
              </a:rPr>
              <a:t>方案组件：</a:t>
            </a:r>
            <a:r>
              <a:rPr lang="en-US" altLang="zh-CN" dirty="0" err="1">
                <a:sym typeface="Huawei Sans" panose="020C0503030203020204" pitchFamily="34" charset="0"/>
              </a:rPr>
              <a:t>iMaster</a:t>
            </a:r>
            <a:r>
              <a:rPr lang="en-US" altLang="zh-CN" dirty="0">
                <a:sym typeface="Huawei Sans" panose="020C0503030203020204" pitchFamily="34" charset="0"/>
              </a:rPr>
              <a:t> NCE-Campus</a:t>
            </a:r>
            <a:endParaRPr lang="zh-CN" altLang="en-US" dirty="0">
              <a:sym typeface="Huawei Sans" panose="020C0503030203020204" pitchFamily="34" charset="0"/>
            </a:endParaRPr>
          </a:p>
        </p:txBody>
      </p:sp>
      <p:sp>
        <p:nvSpPr>
          <p:cNvPr id="46" name="文本占位符 45"/>
          <p:cNvSpPr>
            <a:spLocks noGrp="1"/>
          </p:cNvSpPr>
          <p:nvPr>
            <p:ph type="body" sz="quarter" idx="10"/>
          </p:nvPr>
        </p:nvSpPr>
        <p:spPr bwMode="gray">
          <a:xfrm>
            <a:off x="455613" y="1047751"/>
            <a:ext cx="11256962" cy="943962"/>
          </a:xfrm>
        </p:spPr>
        <p:txBody>
          <a:bodyPr/>
          <a:lstStyle/>
          <a:p>
            <a:r>
              <a:rPr lang="en-US" altLang="zh-CN" sz="2000" dirty="0">
                <a:sym typeface="Huawei Sans" panose="020C0503030203020204" pitchFamily="34" charset="0"/>
              </a:rPr>
              <a:t>iMaster NCE-Campus</a:t>
            </a:r>
            <a:r>
              <a:rPr lang="zh-CN" altLang="en-US" sz="2000" dirty="0">
                <a:sym typeface="Huawei Sans" panose="020C0503030203020204" pitchFamily="34" charset="0"/>
              </a:rPr>
              <a:t>是</a:t>
            </a:r>
            <a:r>
              <a:rPr lang="en-US" altLang="zh-CN" sz="2000" dirty="0">
                <a:sym typeface="Huawei Sans" panose="020C0503030203020204" pitchFamily="34" charset="0"/>
              </a:rPr>
              <a:t>CloudCampus</a:t>
            </a:r>
            <a:r>
              <a:rPr lang="zh-CN" altLang="en-US" sz="2000" dirty="0">
                <a:sym typeface="Huawei Sans" panose="020C0503030203020204" pitchFamily="34" charset="0"/>
              </a:rPr>
              <a:t>解决方案主要的配置和管理平台，是</a:t>
            </a:r>
            <a:r>
              <a:rPr lang="en-US" altLang="zh-CN" sz="2000" dirty="0">
                <a:sym typeface="Huawei Sans" panose="020C0503030203020204" pitchFamily="34" charset="0"/>
              </a:rPr>
              <a:t>CloudCampus</a:t>
            </a:r>
            <a:r>
              <a:rPr lang="zh-CN" altLang="en-US" sz="2000" dirty="0">
                <a:sym typeface="Huawei Sans" panose="020C0503030203020204" pitchFamily="34" charset="0"/>
              </a:rPr>
              <a:t>业务配置和运维监控的主要入口。</a:t>
            </a:r>
          </a:p>
        </p:txBody>
      </p:sp>
      <p:sp>
        <p:nvSpPr>
          <p:cNvPr id="3" name="圆角矩形 2"/>
          <p:cNvSpPr/>
          <p:nvPr/>
        </p:nvSpPr>
        <p:spPr bwMode="gray">
          <a:xfrm>
            <a:off x="6745406" y="3490844"/>
            <a:ext cx="4928369" cy="721406"/>
          </a:xfrm>
          <a:prstGeom prst="roundRect">
            <a:avLst>
              <a:gd name="adj" fmla="val 15918"/>
            </a:avLst>
          </a:prstGeom>
          <a:solidFill>
            <a:srgbClr val="BEE9EE">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gray">
          <a:xfrm>
            <a:off x="6745406" y="4742872"/>
            <a:ext cx="4928369" cy="721406"/>
          </a:xfrm>
          <a:prstGeom prst="roundRect">
            <a:avLst>
              <a:gd name="adj" fmla="val 11657"/>
            </a:avLst>
          </a:prstGeom>
          <a:solidFill>
            <a:srgbClr val="BEE9EE">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bwMode="gray">
          <a:xfrm>
            <a:off x="6907304" y="3666881"/>
            <a:ext cx="1845377" cy="369332"/>
          </a:xfrm>
          <a:prstGeom prst="rect">
            <a:avLst/>
          </a:prstGeom>
          <a:noFill/>
        </p:spPr>
        <p:txBody>
          <a:bodyPr wrap="none" anchor="ctr">
            <a:spAutoFit/>
          </a:bodyPr>
          <a:lstStyle/>
          <a:p>
            <a:pPr lvl="0" algn="r" defTabSz="914400">
              <a:defRPr/>
            </a:pP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管理</a:t>
            </a:r>
            <a:r>
              <a:rPr lang="en-US" altLang="zh-CN"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控制</a:t>
            </a:r>
            <a:r>
              <a:rPr lang="en-US" altLang="zh-CN"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p>
        </p:txBody>
      </p:sp>
      <p:sp>
        <p:nvSpPr>
          <p:cNvPr id="6" name="矩形 5"/>
          <p:cNvSpPr/>
          <p:nvPr/>
        </p:nvSpPr>
        <p:spPr bwMode="gray">
          <a:xfrm>
            <a:off x="8909066" y="3555960"/>
            <a:ext cx="1896673" cy="612475"/>
          </a:xfrm>
          <a:prstGeom prst="rect">
            <a:avLst/>
          </a:prstGeom>
        </p:spPr>
        <p:txBody>
          <a:bodyPr wrap="none">
            <a:spAutoFit/>
          </a:bodyPr>
          <a:lstStyle/>
          <a:p>
            <a:pPr marL="171450" indent="-171450" defTabSz="914400">
              <a:lnSpc>
                <a:spcPct val="120000"/>
              </a:lnSpc>
              <a:spcBef>
                <a:spcPts val="600"/>
              </a:spcBef>
              <a:buFont typeface="Arial" panose="020B0604020202020204" pitchFamily="34" charset="0"/>
              <a:buChar char="•"/>
            </a:pP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统一数据底座</a:t>
            </a:r>
          </a:p>
          <a:p>
            <a:pPr marL="171450" indent="-171450" defTabSz="914400">
              <a:lnSpc>
                <a:spcPct val="120000"/>
              </a:lnSpc>
              <a:spcBef>
                <a:spcPts val="600"/>
              </a:spcBef>
              <a:buFont typeface="Arial" panose="020B0604020202020204" pitchFamily="34" charset="0"/>
              <a:buChar char="•"/>
            </a:pP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感知定位处置一气呵成</a:t>
            </a:r>
          </a:p>
        </p:txBody>
      </p:sp>
      <p:sp>
        <p:nvSpPr>
          <p:cNvPr id="7" name="矩形 6"/>
          <p:cNvSpPr/>
          <p:nvPr/>
        </p:nvSpPr>
        <p:spPr bwMode="gray">
          <a:xfrm>
            <a:off x="6953790" y="4918909"/>
            <a:ext cx="1513556" cy="369332"/>
          </a:xfrm>
          <a:prstGeom prst="rect">
            <a:avLst/>
          </a:prstGeom>
          <a:noFill/>
        </p:spPr>
        <p:txBody>
          <a:bodyPr wrap="none" anchor="ctr">
            <a:spAutoFit/>
          </a:bodyPr>
          <a:lstStyle/>
          <a:p>
            <a:pPr lvl="0" algn="r" defTabSz="914400">
              <a:defRPr/>
            </a:pPr>
            <a:r>
              <a:rPr lang="zh-CN" altLang="en-US"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规</a:t>
            </a:r>
            <a:r>
              <a:rPr lang="en-US" altLang="zh-CN"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建</a:t>
            </a:r>
            <a:r>
              <a:rPr lang="en-US" altLang="zh-CN"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维</a:t>
            </a:r>
            <a:r>
              <a:rPr lang="en-US" altLang="zh-CN"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优</a:t>
            </a:r>
          </a:p>
        </p:txBody>
      </p:sp>
      <p:sp>
        <p:nvSpPr>
          <p:cNvPr id="8" name="矩形 7"/>
          <p:cNvSpPr/>
          <p:nvPr/>
        </p:nvSpPr>
        <p:spPr bwMode="gray">
          <a:xfrm>
            <a:off x="8909066" y="4807988"/>
            <a:ext cx="1588897" cy="612475"/>
          </a:xfrm>
          <a:prstGeom prst="rect">
            <a:avLst/>
          </a:prstGeom>
        </p:spPr>
        <p:txBody>
          <a:bodyPr wrap="none">
            <a:spAutoFit/>
          </a:bodyPr>
          <a:lstStyle/>
          <a:p>
            <a:pPr marL="171450" indent="-171450" defTabSz="914400">
              <a:lnSpc>
                <a:spcPct val="120000"/>
              </a:lnSpc>
              <a:spcBef>
                <a:spcPts val="600"/>
              </a:spcBef>
              <a:buFont typeface="Arial" panose="020B0604020202020204" pitchFamily="34" charset="0"/>
              <a:buChar char="•"/>
            </a:pP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全生命周期管理</a:t>
            </a:r>
          </a:p>
          <a:p>
            <a:pPr marL="171450" indent="-171450" defTabSz="914400">
              <a:lnSpc>
                <a:spcPct val="120000"/>
              </a:lnSpc>
              <a:spcBef>
                <a:spcPts val="600"/>
              </a:spcBef>
              <a:buFont typeface="Arial" panose="020B0604020202020204" pitchFamily="34" charset="0"/>
              <a:buChar char="•"/>
            </a:pP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仿真校验监控优化</a:t>
            </a:r>
          </a:p>
        </p:txBody>
      </p:sp>
      <p:sp>
        <p:nvSpPr>
          <p:cNvPr id="9" name="矩形 8"/>
          <p:cNvSpPr/>
          <p:nvPr/>
        </p:nvSpPr>
        <p:spPr bwMode="gray">
          <a:xfrm>
            <a:off x="505910" y="5849378"/>
            <a:ext cx="11167865" cy="338554"/>
          </a:xfrm>
          <a:prstGeom prst="rect">
            <a:avLst/>
          </a:prstGeom>
          <a:solidFill>
            <a:srgbClr val="BF8082"/>
          </a:solidFill>
        </p:spPr>
        <p:txBody>
          <a:bodyPr wrap="square">
            <a:sp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园区自动驾驶网络管理控制系统：</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524130" y="2194184"/>
            <a:ext cx="6043119" cy="892827"/>
          </a:xfrm>
          <a:prstGeom prst="rect">
            <a:avLst/>
          </a:prstGeom>
          <a:gradFill>
            <a:gsLst>
              <a:gs pos="0">
                <a:schemeClr val="bg1"/>
              </a:gs>
              <a:gs pos="100000">
                <a:srgbClr val="D0E8C4"/>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524130" y="3087011"/>
            <a:ext cx="6043119" cy="1601238"/>
          </a:xfrm>
          <a:prstGeom prst="rect">
            <a:avLst/>
          </a:prstGeom>
          <a:gradFill>
            <a:gsLst>
              <a:gs pos="0">
                <a:schemeClr val="bg1"/>
              </a:gs>
              <a:gs pos="100000">
                <a:srgbClr val="BEE9EE"/>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bwMode="gray">
          <a:xfrm>
            <a:off x="524130" y="4882132"/>
            <a:ext cx="6043119" cy="892827"/>
          </a:xfrm>
          <a:prstGeom prst="rect">
            <a:avLst/>
          </a:prstGeom>
          <a:gradFill>
            <a:gsLst>
              <a:gs pos="0">
                <a:schemeClr val="bg1"/>
              </a:gs>
              <a:gs pos="100000">
                <a:srgbClr val="D0E8C4"/>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 Box 76"/>
          <p:cNvSpPr txBox="1">
            <a:spLocks noChangeArrowheads="1"/>
          </p:cNvSpPr>
          <p:nvPr/>
        </p:nvSpPr>
        <p:spPr bwMode="gray">
          <a:xfrm>
            <a:off x="634292" y="2125062"/>
            <a:ext cx="1043089" cy="288147"/>
          </a:xfrm>
          <a:prstGeom prst="rect">
            <a:avLst/>
          </a:prstGeom>
          <a:noFill/>
          <a:ln w="3175" cap="flat" cmpd="sng" algn="ctr">
            <a:noFill/>
            <a:prstDash val="solid"/>
            <a:round/>
            <a:headEnd type="none" w="med" len="med"/>
            <a:tailEnd type="none" w="med" len="med"/>
          </a:ln>
          <a:effectLst/>
          <a:scene3d>
            <a:camera prst="orthographicFront"/>
            <a:lightRig rig="flat" dir="t"/>
          </a:scene3d>
        </p:spPr>
        <p:txBody>
          <a:bodyPr wrap="none" lIns="72000" tIns="36000" rIns="72000" bIns="36000" rtlCol="0" anchor="ctr">
            <a:spAutoFit/>
          </a:bodyPr>
          <a:lstStyle>
            <a:defPPr>
              <a:defRPr lang="zh-CN"/>
            </a:defPPr>
            <a:lvl1pPr algn="ctr">
              <a:defRPr sz="14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defTabSz="1219109"/>
            <a:r>
              <a:rPr lang="zh-CN" altLang="en-US"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应用服务层</a:t>
            </a:r>
            <a:endParaRPr kumimoji="1" lang="zh-CN" altLang="en-US" b="1"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矩形 317"/>
          <p:cNvSpPr/>
          <p:nvPr/>
        </p:nvSpPr>
        <p:spPr bwMode="gray">
          <a:xfrm>
            <a:off x="553681" y="5004830"/>
            <a:ext cx="1043089"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62" fontAlgn="base"/>
            <a:r>
              <a:rPr lang="zh-CN" altLang="en-US"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基础设施层</a:t>
            </a:r>
            <a:endParaRPr lang="en-US" altLang="zh-CN"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 name="矩形 317"/>
          <p:cNvSpPr/>
          <p:nvPr/>
        </p:nvSpPr>
        <p:spPr bwMode="gray">
          <a:xfrm>
            <a:off x="617273" y="3289269"/>
            <a:ext cx="863552"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62" fontAlgn="base"/>
            <a:r>
              <a:rPr lang="zh-CN" altLang="en-US" sz="1400" b="1">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管控析层</a:t>
            </a:r>
            <a:endParaRPr lang="en-US" altLang="zh-CN"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 name="1680508374"/>
          <p:cNvSpPr txBox="1">
            <a:spLocks noChangeArrowheads="1"/>
          </p:cNvSpPr>
          <p:nvPr/>
        </p:nvSpPr>
        <p:spPr bwMode="gray">
          <a:xfrm>
            <a:off x="579808" y="2501030"/>
            <a:ext cx="914760"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MDM</a:t>
            </a:r>
          </a:p>
        </p:txBody>
      </p:sp>
      <p:sp>
        <p:nvSpPr>
          <p:cNvPr id="17" name="453896541"/>
          <p:cNvSpPr txBox="1">
            <a:spLocks noChangeArrowheads="1"/>
          </p:cNvSpPr>
          <p:nvPr/>
        </p:nvSpPr>
        <p:spPr bwMode="gray">
          <a:xfrm>
            <a:off x="1561534" y="2501030"/>
            <a:ext cx="914760"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e-Schoolbag</a:t>
            </a:r>
          </a:p>
        </p:txBody>
      </p:sp>
      <p:sp>
        <p:nvSpPr>
          <p:cNvPr id="18" name="1099195176"/>
          <p:cNvSpPr txBox="1">
            <a:spLocks noChangeArrowheads="1"/>
          </p:cNvSpPr>
          <p:nvPr/>
        </p:nvSpPr>
        <p:spPr bwMode="gray">
          <a:xfrm>
            <a:off x="3595309" y="2501030"/>
            <a:ext cx="999713"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Asset management</a:t>
            </a:r>
          </a:p>
        </p:txBody>
      </p:sp>
      <p:sp>
        <p:nvSpPr>
          <p:cNvPr id="19" name="1680508374"/>
          <p:cNvSpPr txBox="1">
            <a:spLocks noChangeArrowheads="1"/>
          </p:cNvSpPr>
          <p:nvPr/>
        </p:nvSpPr>
        <p:spPr bwMode="gray">
          <a:xfrm>
            <a:off x="2543260" y="2501030"/>
            <a:ext cx="985083"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Health management</a:t>
            </a:r>
          </a:p>
        </p:txBody>
      </p:sp>
      <p:sp>
        <p:nvSpPr>
          <p:cNvPr id="20" name="1099195176"/>
          <p:cNvSpPr txBox="1">
            <a:spLocks noChangeArrowheads="1"/>
          </p:cNvSpPr>
          <p:nvPr/>
        </p:nvSpPr>
        <p:spPr bwMode="gray">
          <a:xfrm>
            <a:off x="4661988" y="2501030"/>
            <a:ext cx="799829"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b="1">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2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 name="1099195176"/>
          <p:cNvSpPr txBox="1">
            <a:spLocks noChangeArrowheads="1"/>
          </p:cNvSpPr>
          <p:nvPr/>
        </p:nvSpPr>
        <p:spPr bwMode="gray">
          <a:xfrm>
            <a:off x="5528781" y="2501030"/>
            <a:ext cx="914760"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Intelligent OAM</a:t>
            </a:r>
          </a:p>
        </p:txBody>
      </p:sp>
      <p:pic>
        <p:nvPicPr>
          <p:cNvPr id="23"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631249" y="5311047"/>
            <a:ext cx="368827" cy="301769"/>
          </a:xfrm>
          <a:prstGeom prst="rect">
            <a:avLst/>
          </a:prstGeom>
        </p:spPr>
      </p:pic>
      <p:pic>
        <p:nvPicPr>
          <p:cNvPr id="2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1209975" y="5311048"/>
            <a:ext cx="368827" cy="301767"/>
          </a:xfrm>
          <a:prstGeom prst="rect">
            <a:avLst/>
          </a:prstGeom>
          <a:noFill/>
        </p:spPr>
      </p:pic>
      <p:pic>
        <p:nvPicPr>
          <p:cNvPr id="25" name="图片 86" descr="核心交换机.png"/>
          <p:cNvPicPr>
            <a:picLocks noChangeAspect="1"/>
          </p:cNvPicPr>
          <p:nvPr/>
        </p:nvPicPr>
        <p:blipFill>
          <a:blip r:embed="rId5" cstate="print"/>
          <a:stretch>
            <a:fillRect/>
          </a:stretch>
        </p:blipFill>
        <p:spPr bwMode="gray">
          <a:xfrm>
            <a:off x="1946854" y="5311047"/>
            <a:ext cx="368827" cy="301769"/>
          </a:xfrm>
          <a:prstGeom prst="rect">
            <a:avLst/>
          </a:prstGeom>
        </p:spPr>
      </p:pic>
      <p:pic>
        <p:nvPicPr>
          <p:cNvPr id="26" name="图片 87" descr="汇聚交换机.png"/>
          <p:cNvPicPr>
            <a:picLocks noChangeAspect="1"/>
          </p:cNvPicPr>
          <p:nvPr/>
        </p:nvPicPr>
        <p:blipFill>
          <a:blip r:embed="rId6" cstate="print"/>
          <a:stretch>
            <a:fillRect/>
          </a:stretch>
        </p:blipFill>
        <p:spPr bwMode="gray">
          <a:xfrm>
            <a:off x="2683733" y="5311047"/>
            <a:ext cx="368827" cy="301769"/>
          </a:xfrm>
          <a:prstGeom prst="rect">
            <a:avLst/>
          </a:prstGeom>
        </p:spPr>
      </p:pic>
      <p:pic>
        <p:nvPicPr>
          <p:cNvPr id="27" name="图片 76" descr="接入交换机.png"/>
          <p:cNvPicPr>
            <a:picLocks noChangeAspect="1"/>
          </p:cNvPicPr>
          <p:nvPr/>
        </p:nvPicPr>
        <p:blipFill>
          <a:blip r:embed="rId7" cstate="print"/>
          <a:stretch>
            <a:fillRect/>
          </a:stretch>
        </p:blipFill>
        <p:spPr bwMode="gray">
          <a:xfrm>
            <a:off x="3420612" y="5311047"/>
            <a:ext cx="368827" cy="301769"/>
          </a:xfrm>
          <a:prstGeom prst="rect">
            <a:avLst/>
          </a:prstGeom>
        </p:spPr>
      </p:pic>
      <p:pic>
        <p:nvPicPr>
          <p:cNvPr id="28" name="图片 105" descr="AP.png"/>
          <p:cNvPicPr>
            <a:picLocks noChangeAspect="1"/>
          </p:cNvPicPr>
          <p:nvPr/>
        </p:nvPicPr>
        <p:blipFill>
          <a:blip r:embed="rId8" cstate="print"/>
          <a:stretch>
            <a:fillRect/>
          </a:stretch>
        </p:blipFill>
        <p:spPr bwMode="gray">
          <a:xfrm>
            <a:off x="4157491" y="5311047"/>
            <a:ext cx="368827" cy="301769"/>
          </a:xfrm>
          <a:prstGeom prst="rect">
            <a:avLst/>
          </a:prstGeom>
        </p:spPr>
      </p:pic>
      <p:pic>
        <p:nvPicPr>
          <p:cNvPr id="29" name="图片 102" descr="AC-蓝.png"/>
          <p:cNvPicPr>
            <a:picLocks noChangeAspect="1"/>
          </p:cNvPicPr>
          <p:nvPr/>
        </p:nvPicPr>
        <p:blipFill>
          <a:blip r:embed="rId9" cstate="print"/>
          <a:stretch>
            <a:fillRect/>
          </a:stretch>
        </p:blipFill>
        <p:spPr bwMode="gray">
          <a:xfrm>
            <a:off x="4894370" y="5311047"/>
            <a:ext cx="368827" cy="301769"/>
          </a:xfrm>
          <a:prstGeom prst="rect">
            <a:avLst/>
          </a:prstGeom>
        </p:spPr>
      </p:pic>
      <p:sp>
        <p:nvSpPr>
          <p:cNvPr id="42" name="圆角矩形 41"/>
          <p:cNvSpPr/>
          <p:nvPr/>
        </p:nvSpPr>
        <p:spPr bwMode="gray">
          <a:xfrm>
            <a:off x="6745406" y="2288666"/>
            <a:ext cx="4928369" cy="721406"/>
          </a:xfrm>
          <a:prstGeom prst="roundRect">
            <a:avLst>
              <a:gd name="adj" fmla="val 15918"/>
            </a:avLst>
          </a:prstGeom>
          <a:solidFill>
            <a:srgbClr val="BEE9EE">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6830359" y="2464703"/>
            <a:ext cx="1745992" cy="369332"/>
          </a:xfrm>
          <a:prstGeom prst="rect">
            <a:avLst/>
          </a:prstGeom>
          <a:noFill/>
        </p:spPr>
        <p:txBody>
          <a:bodyPr wrap="none" anchor="ctr">
            <a:spAutoFit/>
          </a:bodyPr>
          <a:lstStyle/>
          <a:p>
            <a:pPr lvl="0" algn="r" defTabSz="914400">
              <a:defRPr/>
            </a:pP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自动化</a:t>
            </a:r>
            <a:r>
              <a:rPr lang="en-US" altLang="zh-CN"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智能化</a:t>
            </a:r>
          </a:p>
        </p:txBody>
      </p:sp>
      <p:sp>
        <p:nvSpPr>
          <p:cNvPr id="44" name="矩形 43"/>
          <p:cNvSpPr/>
          <p:nvPr/>
        </p:nvSpPr>
        <p:spPr bwMode="gray">
          <a:xfrm>
            <a:off x="8909066" y="2343131"/>
            <a:ext cx="2108269" cy="598882"/>
          </a:xfrm>
          <a:prstGeom prst="rect">
            <a:avLst/>
          </a:prstGeom>
        </p:spPr>
        <p:txBody>
          <a:bodyPr wrap="none">
            <a:spAutoFit/>
          </a:bodyPr>
          <a:lstStyle/>
          <a:p>
            <a:pPr marL="171450" indent="-171450" defTabSz="914400">
              <a:lnSpc>
                <a:spcPct val="120000"/>
              </a:lnSpc>
              <a:spcBef>
                <a:spcPts val="600"/>
              </a:spcBef>
              <a:buFont typeface="Arial" panose="020B0604020202020204" pitchFamily="34" charset="0"/>
              <a:buChar char="•"/>
            </a:pPr>
            <a:r>
              <a:rPr lang="en-US" altLang="zh-CN"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SDN</a:t>
            </a: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自动化业务配置部署</a:t>
            </a:r>
          </a:p>
          <a:p>
            <a:pPr marL="171450" indent="-171450" defTabSz="914400">
              <a:lnSpc>
                <a:spcPct val="120000"/>
              </a:lnSpc>
              <a:spcBef>
                <a:spcPts val="600"/>
              </a:spcBef>
              <a:buFont typeface="Arial" panose="020B0604020202020204" pitchFamily="34" charset="0"/>
              <a:buChar char="•"/>
            </a:pPr>
            <a:r>
              <a:rPr lang="en-US" altLang="zh-CN"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AI</a:t>
            </a: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智能分析预测排障 </a:t>
            </a:r>
          </a:p>
        </p:txBody>
      </p:sp>
      <p:grpSp>
        <p:nvGrpSpPr>
          <p:cNvPr id="53" name="组合 52"/>
          <p:cNvGrpSpPr/>
          <p:nvPr/>
        </p:nvGrpSpPr>
        <p:grpSpPr bwMode="gray">
          <a:xfrm>
            <a:off x="1705171" y="3216978"/>
            <a:ext cx="3561568" cy="1228868"/>
            <a:chOff x="1705171" y="3216978"/>
            <a:chExt cx="3561568" cy="1228868"/>
          </a:xfrm>
        </p:grpSpPr>
        <p:sp>
          <p:nvSpPr>
            <p:cNvPr id="48" name="梯形 47"/>
            <p:cNvSpPr/>
            <p:nvPr/>
          </p:nvSpPr>
          <p:spPr bwMode="gray">
            <a:xfrm>
              <a:off x="1705171" y="3216978"/>
              <a:ext cx="3561568" cy="1228868"/>
            </a:xfrm>
            <a:prstGeom prst="trapezoid">
              <a:avLst>
                <a:gd name="adj" fmla="val 195616"/>
              </a:avLst>
            </a:prstGeom>
            <a:gradFill>
              <a:gsLst>
                <a:gs pos="0">
                  <a:sysClr val="window" lastClr="FFFFFF">
                    <a:alpha val="0"/>
                  </a:sysClr>
                </a:gs>
                <a:gs pos="77000">
                  <a:srgbClr val="56C4D2"/>
                </a:gs>
                <a:gs pos="39000">
                  <a:srgbClr val="30B5C5"/>
                </a:gs>
                <a:gs pos="100000">
                  <a:sysClr val="window" lastClr="FFFFFF">
                    <a:alpha val="0"/>
                  </a:sys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梯形 48"/>
            <p:cNvSpPr/>
            <p:nvPr/>
          </p:nvSpPr>
          <p:spPr bwMode="gray">
            <a:xfrm>
              <a:off x="2221863" y="3216978"/>
              <a:ext cx="2528186" cy="1228868"/>
            </a:xfrm>
            <a:prstGeom prst="trapezoid">
              <a:avLst>
                <a:gd name="adj" fmla="val 147530"/>
              </a:avLst>
            </a:prstGeom>
            <a:gradFill>
              <a:gsLst>
                <a:gs pos="0">
                  <a:sysClr val="window" lastClr="FFFFFF">
                    <a:alpha val="0"/>
                  </a:sysClr>
                </a:gs>
                <a:gs pos="61000">
                  <a:srgbClr val="56C4D2"/>
                </a:gs>
                <a:gs pos="39000">
                  <a:srgbClr val="30B5C5"/>
                </a:gs>
                <a:gs pos="100000">
                  <a:sysClr val="window" lastClr="FFFFFF">
                    <a:alpha val="0"/>
                  </a:sys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梯形 49"/>
            <p:cNvSpPr/>
            <p:nvPr/>
          </p:nvSpPr>
          <p:spPr bwMode="gray">
            <a:xfrm>
              <a:off x="2804768" y="3317181"/>
              <a:ext cx="1386117" cy="1128665"/>
            </a:xfrm>
            <a:prstGeom prst="trapezoid">
              <a:avLst>
                <a:gd name="adj" fmla="val 80291"/>
              </a:avLst>
            </a:prstGeom>
            <a:gradFill>
              <a:gsLst>
                <a:gs pos="0">
                  <a:sysClr val="window" lastClr="FFFFFF">
                    <a:alpha val="0"/>
                  </a:sysClr>
                </a:gs>
                <a:gs pos="48000">
                  <a:srgbClr val="56C4D2"/>
                </a:gs>
                <a:gs pos="32000">
                  <a:srgbClr val="30B5C5"/>
                </a:gs>
                <a:gs pos="100000">
                  <a:sysClr val="window" lastClr="FFFFFF">
                    <a:alpha val="0"/>
                  </a:sys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1" name="矩形 317"/>
          <p:cNvSpPr/>
          <p:nvPr/>
        </p:nvSpPr>
        <p:spPr bwMode="gray">
          <a:xfrm>
            <a:off x="3162789" y="3709724"/>
            <a:ext cx="646332" cy="369332"/>
          </a:xfrm>
          <a:prstGeom prst="rect">
            <a:avLst/>
          </a:prstGeom>
          <a:noFill/>
        </p:spPr>
        <p:txBody>
          <a:bodyPr wrap="none" anchor="ctr">
            <a:spAutoFit/>
          </a:bodyPr>
          <a:lstStyle/>
          <a:p>
            <a:pPr algn="r" defTabSz="914400"/>
            <a:r>
              <a:rPr lang="zh-CN" altLang="en-US"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融合</a:t>
            </a:r>
            <a:endParaRPr lang="en-US" altLang="zh-CN"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2" name="图片 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2594866" y="3157042"/>
            <a:ext cx="1792651" cy="330612"/>
          </a:xfrm>
          <a:prstGeom prst="rect">
            <a:avLst/>
          </a:prstGeom>
        </p:spPr>
      </p:pic>
      <p:pic>
        <p:nvPicPr>
          <p:cNvPr id="34" name="图片 33">
            <a:extLst>
              <a:ext uri="{FF2B5EF4-FFF2-40B4-BE49-F238E27FC236}">
                <a16:creationId xmlns:a16="http://schemas.microsoft.com/office/drawing/2014/main" id="{9B7DC79A-4488-4034-A596-6F0B3CD71D5E}"/>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t="20584" r="24682"/>
          <a:stretch/>
        </p:blipFill>
        <p:spPr bwMode="gray">
          <a:xfrm>
            <a:off x="2041043" y="4169438"/>
            <a:ext cx="584533" cy="205443"/>
          </a:xfrm>
          <a:prstGeom prst="rect">
            <a:avLst/>
          </a:prstGeom>
        </p:spPr>
      </p:pic>
      <p:pic>
        <p:nvPicPr>
          <p:cNvPr id="35" name="图片 34">
            <a:extLst>
              <a:ext uri="{FF2B5EF4-FFF2-40B4-BE49-F238E27FC236}">
                <a16:creationId xmlns:a16="http://schemas.microsoft.com/office/drawing/2014/main" id="{77763993-1245-47BA-A863-8AE93A95288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bwMode="gray">
          <a:xfrm>
            <a:off x="2936538" y="4161456"/>
            <a:ext cx="968148" cy="213045"/>
          </a:xfrm>
          <a:prstGeom prst="rect">
            <a:avLst/>
          </a:prstGeom>
        </p:spPr>
      </p:pic>
      <p:grpSp>
        <p:nvGrpSpPr>
          <p:cNvPr id="36" name="组合 35">
            <a:extLst>
              <a:ext uri="{FF2B5EF4-FFF2-40B4-BE49-F238E27FC236}">
                <a16:creationId xmlns:a16="http://schemas.microsoft.com/office/drawing/2014/main" id="{72CBCD9E-97DD-4CC0-8CCF-138211EEC95E}"/>
              </a:ext>
            </a:extLst>
          </p:cNvPr>
          <p:cNvGrpSpPr/>
          <p:nvPr/>
        </p:nvGrpSpPr>
        <p:grpSpPr bwMode="gray">
          <a:xfrm>
            <a:off x="4136211" y="4160242"/>
            <a:ext cx="931469" cy="273886"/>
            <a:chOff x="4054853" y="5596386"/>
            <a:chExt cx="3538130" cy="1151554"/>
          </a:xfrm>
        </p:grpSpPr>
        <p:pic>
          <p:nvPicPr>
            <p:cNvPr id="37" name="图片 36">
              <a:extLst>
                <a:ext uri="{FF2B5EF4-FFF2-40B4-BE49-F238E27FC236}">
                  <a16:creationId xmlns:a16="http://schemas.microsoft.com/office/drawing/2014/main" id="{E9CD8881-8AB1-488B-9D41-85E4CB909DA8}"/>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r="78902"/>
            <a:stretch/>
          </p:blipFill>
          <p:spPr bwMode="gray">
            <a:xfrm>
              <a:off x="4054853" y="5636787"/>
              <a:ext cx="1059697" cy="912036"/>
            </a:xfrm>
            <a:prstGeom prst="rect">
              <a:avLst/>
            </a:prstGeom>
          </p:spPr>
        </p:pic>
        <p:pic>
          <p:nvPicPr>
            <p:cNvPr id="38" name="图片 37">
              <a:extLst>
                <a:ext uri="{FF2B5EF4-FFF2-40B4-BE49-F238E27FC236}">
                  <a16:creationId xmlns:a16="http://schemas.microsoft.com/office/drawing/2014/main" id="{31B02498-6A5A-47CC-9EAB-4408C94A46CB}"/>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l="60897"/>
            <a:stretch/>
          </p:blipFill>
          <p:spPr bwMode="gray">
            <a:xfrm>
              <a:off x="5113136" y="5596386"/>
              <a:ext cx="2479847" cy="1151554"/>
            </a:xfrm>
            <a:prstGeom prst="rect">
              <a:avLst/>
            </a:prstGeom>
          </p:spPr>
        </p:pic>
      </p:grpSp>
    </p:spTree>
    <p:extLst>
      <p:ext uri="{BB962C8B-B14F-4D97-AF65-F5344CB8AC3E}">
        <p14:creationId xmlns:p14="http://schemas.microsoft.com/office/powerpoint/2010/main" val="2408598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CloudCampus</a:t>
            </a:r>
            <a:r>
              <a:rPr lang="zh-CN" altLang="en-US" dirty="0">
                <a:sym typeface="Huawei Sans" panose="020C0503030203020204" pitchFamily="34" charset="0"/>
              </a:rPr>
              <a:t>方案组件：</a:t>
            </a:r>
            <a:r>
              <a:rPr lang="en-US" altLang="zh-CN" dirty="0" err="1">
                <a:sym typeface="Huawei Sans" panose="020C0503030203020204" pitchFamily="34" charset="0"/>
              </a:rPr>
              <a:t>iMaster</a:t>
            </a:r>
            <a:r>
              <a:rPr lang="en-US" altLang="zh-CN" dirty="0">
                <a:sym typeface="Huawei Sans" panose="020C0503030203020204" pitchFamily="34" charset="0"/>
              </a:rPr>
              <a:t> NCE-</a:t>
            </a:r>
            <a:r>
              <a:rPr lang="en-US" altLang="zh-CN" dirty="0" err="1">
                <a:sym typeface="Huawei Sans" panose="020C0503030203020204" pitchFamily="34" charset="0"/>
              </a:rPr>
              <a:t>CampusInsight</a:t>
            </a:r>
            <a:endParaRPr lang="zh-CN" altLang="en-US" dirty="0">
              <a:sym typeface="Huawei Sans" panose="020C0503030203020204" pitchFamily="34" charset="0"/>
            </a:endParaRPr>
          </a:p>
        </p:txBody>
      </p:sp>
      <p:sp>
        <p:nvSpPr>
          <p:cNvPr id="3" name="Right Arrow 157"/>
          <p:cNvSpPr/>
          <p:nvPr/>
        </p:nvSpPr>
        <p:spPr bwMode="gray">
          <a:xfrm>
            <a:off x="4644365" y="3448341"/>
            <a:ext cx="673200" cy="347871"/>
          </a:xfrm>
          <a:prstGeom prst="rightArrow">
            <a:avLst>
              <a:gd name="adj1" fmla="val 64439"/>
              <a:gd name="adj2" fmla="val 50000"/>
            </a:avLst>
          </a:prstGeom>
          <a:gradFill flip="none" rotWithShape="1">
            <a:gsLst>
              <a:gs pos="15000">
                <a:schemeClr val="accent1">
                  <a:lumMod val="5000"/>
                  <a:lumOff val="95000"/>
                  <a:alpha val="0"/>
                </a:schemeClr>
              </a:gs>
              <a:gs pos="81000">
                <a:srgbClr val="94DAE2"/>
              </a:gs>
            </a:gsLst>
            <a:lin ang="0" scaled="1"/>
            <a:tileRect/>
          </a:gradFill>
          <a:ln>
            <a:gradFill flip="none" rotWithShape="1">
              <a:gsLst>
                <a:gs pos="11000">
                  <a:schemeClr val="accent1">
                    <a:lumMod val="0"/>
                    <a:lumOff val="100000"/>
                    <a:alpha val="0"/>
                  </a:schemeClr>
                </a:gs>
                <a:gs pos="74000">
                  <a:srgbClr val="56C4D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任意多边形 3"/>
          <p:cNvSpPr/>
          <p:nvPr/>
        </p:nvSpPr>
        <p:spPr bwMode="gray">
          <a:xfrm rot="5400000" flipV="1">
            <a:off x="2264627" y="2299162"/>
            <a:ext cx="1497201" cy="496193"/>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2042390"/>
              <a:gd name="connsiteY0" fmla="*/ 0 h 659976"/>
              <a:gd name="connsiteX1" fmla="*/ 0 w 2042390"/>
              <a:gd name="connsiteY1" fmla="*/ 659976 h 659976"/>
              <a:gd name="connsiteX2" fmla="*/ 2042390 w 2042390"/>
              <a:gd name="connsiteY2" fmla="*/ 480554 h 659976"/>
              <a:gd name="connsiteX3" fmla="*/ 602404 w 2042390"/>
              <a:gd name="connsiteY3" fmla="*/ 0 h 659976"/>
              <a:gd name="connsiteX0" fmla="*/ 4898426 w 6338412"/>
              <a:gd name="connsiteY0" fmla="*/ 0 h 507739"/>
              <a:gd name="connsiteX1" fmla="*/ 0 w 6338412"/>
              <a:gd name="connsiteY1" fmla="*/ 507739 h 507739"/>
              <a:gd name="connsiteX2" fmla="*/ 6338412 w 6338412"/>
              <a:gd name="connsiteY2" fmla="*/ 480554 h 507739"/>
              <a:gd name="connsiteX3" fmla="*/ 4898426 w 6338412"/>
              <a:gd name="connsiteY3" fmla="*/ 0 h 507739"/>
              <a:gd name="connsiteX0" fmla="*/ 4203860 w 6338412"/>
              <a:gd name="connsiteY0" fmla="*/ 0 h 627354"/>
              <a:gd name="connsiteX1" fmla="*/ 0 w 6338412"/>
              <a:gd name="connsiteY1" fmla="*/ 627354 h 627354"/>
              <a:gd name="connsiteX2" fmla="*/ 6338412 w 6338412"/>
              <a:gd name="connsiteY2" fmla="*/ 600169 h 627354"/>
              <a:gd name="connsiteX3" fmla="*/ 4203860 w 6338412"/>
              <a:gd name="connsiteY3"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261238"/>
              <a:gd name="connsiteY0" fmla="*/ 0 h 627354"/>
              <a:gd name="connsiteX1" fmla="*/ 0 w 6261238"/>
              <a:gd name="connsiteY1" fmla="*/ 627354 h 627354"/>
              <a:gd name="connsiteX2" fmla="*/ 6261238 w 6261238"/>
              <a:gd name="connsiteY2" fmla="*/ 605606 h 627354"/>
              <a:gd name="connsiteX3" fmla="*/ 4883586 w 6261238"/>
              <a:gd name="connsiteY3" fmla="*/ 6442 h 627354"/>
              <a:gd name="connsiteX4" fmla="*/ 4203860 w 6261238"/>
              <a:gd name="connsiteY4" fmla="*/ 0 h 627354"/>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660639 w 6261238"/>
              <a:gd name="connsiteY3" fmla="*/ 0 h 620912"/>
              <a:gd name="connsiteX4" fmla="*/ 3732241 w 6261238"/>
              <a:gd name="connsiteY4" fmla="*/ 4432 h 620912"/>
              <a:gd name="connsiteX0" fmla="*/ 4049512 w 6261238"/>
              <a:gd name="connsiteY0" fmla="*/ 0 h 638228"/>
              <a:gd name="connsiteX1" fmla="*/ 0 w 6261238"/>
              <a:gd name="connsiteY1" fmla="*/ 638228 h 638228"/>
              <a:gd name="connsiteX2" fmla="*/ 6261238 w 6261238"/>
              <a:gd name="connsiteY2" fmla="*/ 616480 h 638228"/>
              <a:gd name="connsiteX3" fmla="*/ 4660639 w 6261238"/>
              <a:gd name="connsiteY3" fmla="*/ 17316 h 638228"/>
              <a:gd name="connsiteX4" fmla="*/ 4049512 w 6261238"/>
              <a:gd name="connsiteY4" fmla="*/ 0 h 638228"/>
              <a:gd name="connsiteX0" fmla="*/ 4049512 w 6261238"/>
              <a:gd name="connsiteY0" fmla="*/ 0 h 638228"/>
              <a:gd name="connsiteX1" fmla="*/ 0 w 6261238"/>
              <a:gd name="connsiteY1" fmla="*/ 638228 h 638228"/>
              <a:gd name="connsiteX2" fmla="*/ 6261238 w 6261238"/>
              <a:gd name="connsiteY2" fmla="*/ 616480 h 638228"/>
              <a:gd name="connsiteX3" fmla="*/ 4652065 w 6261238"/>
              <a:gd name="connsiteY3" fmla="*/ 8254 h 638228"/>
              <a:gd name="connsiteX4" fmla="*/ 4049512 w 6261238"/>
              <a:gd name="connsiteY4" fmla="*/ 0 h 638228"/>
              <a:gd name="connsiteX0" fmla="*/ 4049512 w 6261238"/>
              <a:gd name="connsiteY0" fmla="*/ 808 h 639036"/>
              <a:gd name="connsiteX1" fmla="*/ 0 w 6261238"/>
              <a:gd name="connsiteY1" fmla="*/ 639036 h 639036"/>
              <a:gd name="connsiteX2" fmla="*/ 6261238 w 6261238"/>
              <a:gd name="connsiteY2" fmla="*/ 617288 h 639036"/>
              <a:gd name="connsiteX3" fmla="*/ 4632057 w 6261238"/>
              <a:gd name="connsiteY3" fmla="*/ 0 h 639036"/>
              <a:gd name="connsiteX4" fmla="*/ 4049512 w 6261238"/>
              <a:gd name="connsiteY4" fmla="*/ 808 h 639036"/>
              <a:gd name="connsiteX0" fmla="*/ 4232634 w 6261238"/>
              <a:gd name="connsiteY0" fmla="*/ 0 h 670850"/>
              <a:gd name="connsiteX1" fmla="*/ 0 w 6261238"/>
              <a:gd name="connsiteY1" fmla="*/ 670850 h 670850"/>
              <a:gd name="connsiteX2" fmla="*/ 6261238 w 6261238"/>
              <a:gd name="connsiteY2" fmla="*/ 649102 h 670850"/>
              <a:gd name="connsiteX3" fmla="*/ 4632057 w 6261238"/>
              <a:gd name="connsiteY3" fmla="*/ 31814 h 670850"/>
              <a:gd name="connsiteX4" fmla="*/ 4232634 w 6261238"/>
              <a:gd name="connsiteY4" fmla="*/ 0 h 670850"/>
              <a:gd name="connsiteX0" fmla="*/ 4232634 w 6261238"/>
              <a:gd name="connsiteY0" fmla="*/ 807 h 671657"/>
              <a:gd name="connsiteX1" fmla="*/ 0 w 6261238"/>
              <a:gd name="connsiteY1" fmla="*/ 671657 h 671657"/>
              <a:gd name="connsiteX2" fmla="*/ 6261238 w 6261238"/>
              <a:gd name="connsiteY2" fmla="*/ 649909 h 671657"/>
              <a:gd name="connsiteX3" fmla="*/ 4595441 w 6261238"/>
              <a:gd name="connsiteY3" fmla="*/ 0 h 671657"/>
              <a:gd name="connsiteX4" fmla="*/ 4232634 w 6261238"/>
              <a:gd name="connsiteY4" fmla="*/ 807 h 671657"/>
              <a:gd name="connsiteX0" fmla="*/ 1286382 w 3314986"/>
              <a:gd name="connsiteY0" fmla="*/ 807 h 649909"/>
              <a:gd name="connsiteX1" fmla="*/ 0 w 3314986"/>
              <a:gd name="connsiteY1" fmla="*/ 407055 h 649909"/>
              <a:gd name="connsiteX2" fmla="*/ 3314986 w 3314986"/>
              <a:gd name="connsiteY2" fmla="*/ 649909 h 649909"/>
              <a:gd name="connsiteX3" fmla="*/ 1649189 w 3314986"/>
              <a:gd name="connsiteY3" fmla="*/ 0 h 649909"/>
              <a:gd name="connsiteX4" fmla="*/ 1286382 w 3314986"/>
              <a:gd name="connsiteY4" fmla="*/ 807 h 649909"/>
              <a:gd name="connsiteX0" fmla="*/ 1286382 w 3087099"/>
              <a:gd name="connsiteY0" fmla="*/ 807 h 410680"/>
              <a:gd name="connsiteX1" fmla="*/ 0 w 3087099"/>
              <a:gd name="connsiteY1" fmla="*/ 407055 h 410680"/>
              <a:gd name="connsiteX2" fmla="*/ 3087099 w 3087099"/>
              <a:gd name="connsiteY2" fmla="*/ 410680 h 410680"/>
              <a:gd name="connsiteX3" fmla="*/ 1649189 w 3087099"/>
              <a:gd name="connsiteY3" fmla="*/ 0 h 410680"/>
              <a:gd name="connsiteX4" fmla="*/ 1286382 w 3087099"/>
              <a:gd name="connsiteY4" fmla="*/ 807 h 410680"/>
              <a:gd name="connsiteX0" fmla="*/ 1286382 w 3709719"/>
              <a:gd name="connsiteY0" fmla="*/ 807 h 407055"/>
              <a:gd name="connsiteX1" fmla="*/ 0 w 3709719"/>
              <a:gd name="connsiteY1" fmla="*/ 407055 h 407055"/>
              <a:gd name="connsiteX2" fmla="*/ 3709719 w 3709719"/>
              <a:gd name="connsiteY2" fmla="*/ 350873 h 407055"/>
              <a:gd name="connsiteX3" fmla="*/ 1649189 w 3709719"/>
              <a:gd name="connsiteY3" fmla="*/ 0 h 407055"/>
              <a:gd name="connsiteX4" fmla="*/ 1286382 w 3709719"/>
              <a:gd name="connsiteY4" fmla="*/ 807 h 407055"/>
              <a:gd name="connsiteX0" fmla="*/ 1616004 w 4039341"/>
              <a:gd name="connsiteY0" fmla="*/ 807 h 354044"/>
              <a:gd name="connsiteX1" fmla="*/ 0 w 4039341"/>
              <a:gd name="connsiteY1" fmla="*/ 354044 h 354044"/>
              <a:gd name="connsiteX2" fmla="*/ 4039341 w 4039341"/>
              <a:gd name="connsiteY2" fmla="*/ 350873 h 354044"/>
              <a:gd name="connsiteX3" fmla="*/ 1978811 w 4039341"/>
              <a:gd name="connsiteY3" fmla="*/ 0 h 354044"/>
              <a:gd name="connsiteX4" fmla="*/ 1616004 w 4039341"/>
              <a:gd name="connsiteY4" fmla="*/ 807 h 35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9341" h="354044">
                <a:moveTo>
                  <a:pt x="1616004" y="807"/>
                </a:moveTo>
                <a:lnTo>
                  <a:pt x="0" y="354044"/>
                </a:lnTo>
                <a:lnTo>
                  <a:pt x="4039341" y="350873"/>
                </a:lnTo>
                <a:lnTo>
                  <a:pt x="1978811" y="0"/>
                </a:lnTo>
                <a:lnTo>
                  <a:pt x="1616004" y="807"/>
                </a:lnTo>
                <a:close/>
              </a:path>
            </a:pathLst>
          </a:custGeom>
          <a:gradFill>
            <a:gsLst>
              <a:gs pos="100000">
                <a:sysClr val="window" lastClr="FFFFFF">
                  <a:alpha val="0"/>
                </a:sysClr>
              </a:gs>
              <a:gs pos="41000">
                <a:schemeClr val="bg1">
                  <a:lumMod val="75000"/>
                </a:scheme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577537" y="1311040"/>
            <a:ext cx="4107345" cy="360000"/>
          </a:xfrm>
          <a:prstGeom prst="roundRect">
            <a:avLst/>
          </a:prstGeom>
          <a:gradFill>
            <a:gsLst>
              <a:gs pos="0">
                <a:schemeClr val="bg1"/>
              </a:gs>
              <a:gs pos="100000">
                <a:schemeClr val="bg1">
                  <a:lumMod val="85000"/>
                </a:schemeClr>
              </a:gs>
            </a:gsLst>
            <a:lin ang="5400000" scaled="1"/>
          </a:gra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AS-IS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：以设备为中心的网络管理</a:t>
            </a:r>
            <a:endPar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5340618" y="1311040"/>
            <a:ext cx="608132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TO-BE</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：以用户体验为中心的</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智能运维</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a:off x="5340618" y="1707179"/>
            <a:ext cx="6081320" cy="4046196"/>
          </a:xfrm>
          <a:prstGeom prst="roundRect">
            <a:avLst>
              <a:gd name="adj" fmla="val 973"/>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 name="圆角矩形 7"/>
          <p:cNvSpPr/>
          <p:nvPr/>
        </p:nvSpPr>
        <p:spPr bwMode="gray">
          <a:xfrm>
            <a:off x="573438" y="1707177"/>
            <a:ext cx="4110788" cy="4046198"/>
          </a:xfrm>
          <a:prstGeom prst="roundRect">
            <a:avLst>
              <a:gd name="adj" fmla="val 181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 name="文本框 9"/>
          <p:cNvSpPr txBox="1"/>
          <p:nvPr/>
        </p:nvSpPr>
        <p:spPr bwMode="gray">
          <a:xfrm>
            <a:off x="683737" y="4480219"/>
            <a:ext cx="3279914" cy="892167"/>
          </a:xfrm>
          <a:prstGeom prst="rect">
            <a:avLst/>
          </a:prstGeom>
          <a:noFill/>
        </p:spPr>
        <p:txBody>
          <a:bodyPr wrap="square" rtlCol="0">
            <a:spAutoFit/>
          </a:bodyPr>
          <a:lstStyle/>
          <a:p>
            <a:pPr marL="180849" indent="-180849" defTabSz="1218418">
              <a:spcAft>
                <a:spcPts val="600"/>
              </a:spcAft>
              <a:buFont typeface="Arial" panose="020B0604020202020204" pitchFamily="34" charset="0"/>
              <a:buChar char="•"/>
            </a:pP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以设备为中心</a:t>
            </a: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，无法感知用户体验。</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0849" indent="-180849" defTabSz="1218418">
              <a:spcAft>
                <a:spcPts val="600"/>
              </a:spcAft>
              <a:buFont typeface="Arial" panose="020B0604020202020204" pitchFamily="34" charset="0"/>
              <a:buChar char="•"/>
            </a:pP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“救火式”响应</a:t>
            </a: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，无法识别潜在故障。</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0849" indent="-180849" defTabSz="1218418">
              <a:spcAft>
                <a:spcPts val="600"/>
              </a:spcAft>
              <a:buFont typeface="Arial" panose="020B0604020202020204" pitchFamily="34" charset="0"/>
              <a:buChar char="•"/>
            </a:pP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依靠专业工程师</a:t>
            </a: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现场定位故障。</a:t>
            </a:r>
          </a:p>
        </p:txBody>
      </p:sp>
      <p:sp>
        <p:nvSpPr>
          <p:cNvPr id="11" name="矩形 10"/>
          <p:cNvSpPr/>
          <p:nvPr/>
        </p:nvSpPr>
        <p:spPr bwMode="gray">
          <a:xfrm>
            <a:off x="1063330" y="3637470"/>
            <a:ext cx="3059618" cy="472131"/>
          </a:xfrm>
          <a:prstGeom prst="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418"/>
            <a:endParaRPr lang="zh-CN" altLang="en-US" sz="3199">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文本框 11"/>
          <p:cNvSpPr txBox="1"/>
          <p:nvPr/>
        </p:nvSpPr>
        <p:spPr bwMode="gray">
          <a:xfrm>
            <a:off x="1063330" y="2831562"/>
            <a:ext cx="1568638" cy="584395"/>
          </a:xfrm>
          <a:prstGeom prst="rect">
            <a:avLst/>
          </a:prstGeom>
          <a:noFill/>
        </p:spPr>
        <p:txBody>
          <a:bodyPr wrap="none" rtlCol="0">
            <a:spAutoFit/>
          </a:bodyPr>
          <a:lstStyle/>
          <a:p>
            <a:pPr algn="r" defTabSz="1218418"/>
            <a:r>
              <a:rPr lang="en-US" altLang="zh-CN" sz="1998" b="1" dirty="0">
                <a:latin typeface="Huawei Sans" panose="020C0503030203020204" pitchFamily="34" charset="0"/>
                <a:ea typeface="方正兰亭黑简体" panose="02000000000000000000" pitchFamily="2" charset="-122"/>
                <a:cs typeface="+mn-ea"/>
                <a:sym typeface="Huawei Sans" panose="020C0503030203020204" pitchFamily="34" charset="0"/>
              </a:rPr>
              <a:t>SNMP</a:t>
            </a:r>
          </a:p>
          <a:p>
            <a:pPr algn="r" defTabSz="1218418"/>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分钟级网络数据采集</a:t>
            </a:r>
            <a:endParaRPr lang="en-US" altLang="zh-CN" sz="15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3" name="直接箭头连接符 12"/>
          <p:cNvCxnSpPr/>
          <p:nvPr/>
        </p:nvCxnSpPr>
        <p:spPr bwMode="gray">
          <a:xfrm>
            <a:off x="2603961" y="2724526"/>
            <a:ext cx="0" cy="798527"/>
          </a:xfrm>
          <a:prstGeom prst="straightConnector1">
            <a:avLst/>
          </a:prstGeom>
          <a:noFill/>
          <a:ln w="28575" algn="ctr">
            <a:solidFill>
              <a:schemeClr val="bg1">
                <a:lumMod val="75000"/>
              </a:schemeClr>
            </a:solidFill>
            <a:round/>
            <a:headEnd type="triangle" w="med" len="med"/>
            <a:tailEnd type="none" w="med" len="med"/>
          </a:ln>
        </p:spPr>
      </p:cxnSp>
      <p:sp>
        <p:nvSpPr>
          <p:cNvPr id="14" name="矩形 13"/>
          <p:cNvSpPr/>
          <p:nvPr/>
        </p:nvSpPr>
        <p:spPr bwMode="gray">
          <a:xfrm>
            <a:off x="3194644" y="1918009"/>
            <a:ext cx="1261884" cy="1259086"/>
          </a:xfrm>
          <a:prstGeom prst="rect">
            <a:avLst/>
          </a:prstGeom>
          <a:solidFill>
            <a:schemeClr val="bg1"/>
          </a:solidFill>
          <a:ln w="9525" cap="flat" cmpd="sng" algn="ctr">
            <a:solidFill>
              <a:schemeClr val="bg1">
                <a:lumMod val="8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拓扑管理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性能管理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告警管理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5401733" y="4181226"/>
            <a:ext cx="6007039" cy="1490152"/>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1217982" fontAlgn="auto">
              <a:lnSpc>
                <a:spcPts val="1679"/>
              </a:lnSpc>
              <a:spcAft>
                <a:spcPts val="600"/>
              </a:spcAft>
            </a:pPr>
            <a:r>
              <a:rPr lang="zh-CN" altLang="en-US" sz="1399"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体验可视化：</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秒级数据采集，每用户每应用每时刻体验可视。</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1217982" fontAlgn="auto">
              <a:lnSpc>
                <a:spcPts val="1679"/>
              </a:lnSpc>
              <a:spcAft>
                <a:spcPts val="600"/>
              </a:spcAft>
            </a:pPr>
            <a:r>
              <a:rPr lang="zh-CN" altLang="en-US" sz="1399"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分钟级潜在故障识别和根因定位：</a:t>
            </a:r>
            <a:endParaRPr lang="en-US" altLang="zh-CN" sz="1399"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628530" lvl="1" indent="-171330" defTabSz="1217982" fontAlgn="auto">
              <a:lnSpc>
                <a:spcPts val="1679"/>
              </a:lnSpc>
              <a:spcAft>
                <a:spcPts val="600"/>
              </a:spcAft>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基于动态基线、大数据关联等识别潜在故障。</a:t>
            </a:r>
          </a:p>
          <a:p>
            <a:pPr marL="628530" lvl="1" indent="-171330" defTabSz="1217982" fontAlgn="auto">
              <a:lnSpc>
                <a:spcPts val="1679"/>
              </a:lnSpc>
              <a:spcAft>
                <a:spcPts val="600"/>
              </a:spcAft>
              <a:buFont typeface="Arial" panose="020B0604020202020204" pitchFamily="34" charset="0"/>
              <a:buChar char="•"/>
            </a:pP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KPI</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关联分析和协议回放，精准定位问题根因。</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1217982" fontAlgn="auto">
              <a:lnSpc>
                <a:spcPts val="1679"/>
              </a:lnSpc>
              <a:spcAft>
                <a:spcPts val="600"/>
              </a:spcAft>
            </a:pPr>
            <a:r>
              <a:rPr lang="zh-CN" altLang="en-US" sz="1399"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网络预测性调优：</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智能分析</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的负载趋势，完成无线网络的预测性调优闭环。</a:t>
            </a:r>
            <a:endParaRPr lang="en-US" altLang="zh-CN" sz="1399" b="1"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bwMode="gray">
          <a:xfrm>
            <a:off x="487578" y="5845653"/>
            <a:ext cx="11145622" cy="307777"/>
          </a:xfrm>
          <a:prstGeom prst="rect">
            <a:avLst/>
          </a:prstGeom>
          <a:solidFill>
            <a:srgbClr val="BF8082"/>
          </a:solidFill>
        </p:spPr>
        <p:txBody>
          <a:bodyPr wrap="square">
            <a:spAutoFit/>
          </a:bodyPr>
          <a:lstStyle/>
          <a:p>
            <a:pPr algn="ct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利用算法提升效率，通过场景化的持续学习和专家经验，智能运维将运维人员从复杂的告警和噪声中解放出来，使运维更加自动化和智能化。</a:t>
            </a:r>
            <a:endPar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bwMode="gray">
          <a:xfrm>
            <a:off x="1506319" y="2324536"/>
            <a:ext cx="902811" cy="30764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1217982" fontAlgn="auto">
              <a:spcAft>
                <a:spcPts val="0"/>
              </a:spcAft>
            </a:pP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传统网管</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8" name="组合 17"/>
          <p:cNvGrpSpPr/>
          <p:nvPr/>
        </p:nvGrpSpPr>
        <p:grpSpPr bwMode="gray">
          <a:xfrm>
            <a:off x="1295742" y="3748838"/>
            <a:ext cx="2594795" cy="249395"/>
            <a:chOff x="940595" y="3748838"/>
            <a:chExt cx="2594795" cy="249395"/>
          </a:xfrm>
        </p:grpSpPr>
        <p:pic>
          <p:nvPicPr>
            <p:cNvPr id="19"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0575" y="3748838"/>
              <a:ext cx="304815" cy="249395"/>
            </a:xfrm>
            <a:prstGeom prst="rect">
              <a:avLst/>
            </a:prstGeom>
          </p:spPr>
        </p:pic>
        <p:pic>
          <p:nvPicPr>
            <p:cNvPr id="2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085585" y="3748838"/>
              <a:ext cx="304815" cy="249395"/>
            </a:xfrm>
            <a:prstGeom prst="rect">
              <a:avLst/>
            </a:prstGeom>
            <a:noFill/>
          </p:spPr>
        </p:pic>
        <p:pic>
          <p:nvPicPr>
            <p:cNvPr id="21" name="图片 76" descr="接入交换机.png"/>
            <p:cNvPicPr>
              <a:picLocks noChangeAspect="1"/>
            </p:cNvPicPr>
            <p:nvPr/>
          </p:nvPicPr>
          <p:blipFill>
            <a:blip r:embed="rId5" cstate="print"/>
            <a:stretch>
              <a:fillRect/>
            </a:stretch>
          </p:blipFill>
          <p:spPr bwMode="gray">
            <a:xfrm>
              <a:off x="2658080" y="3748838"/>
              <a:ext cx="304815" cy="249395"/>
            </a:xfrm>
            <a:prstGeom prst="rect">
              <a:avLst/>
            </a:prstGeom>
          </p:spPr>
        </p:pic>
        <p:pic>
          <p:nvPicPr>
            <p:cNvPr id="22" name="图片 105" descr="AP.png"/>
            <p:cNvPicPr>
              <a:picLocks noChangeAspect="1"/>
            </p:cNvPicPr>
            <p:nvPr/>
          </p:nvPicPr>
          <p:blipFill>
            <a:blip r:embed="rId6" cstate="print"/>
            <a:stretch>
              <a:fillRect/>
            </a:stretch>
          </p:blipFill>
          <p:spPr bwMode="gray">
            <a:xfrm>
              <a:off x="940595" y="3748838"/>
              <a:ext cx="304815" cy="249395"/>
            </a:xfrm>
            <a:prstGeom prst="rect">
              <a:avLst/>
            </a:prstGeom>
          </p:spPr>
        </p:pic>
        <p:pic>
          <p:nvPicPr>
            <p:cNvPr id="23" name="图片 102" descr="AC-蓝.png"/>
            <p:cNvPicPr>
              <a:picLocks noChangeAspect="1"/>
            </p:cNvPicPr>
            <p:nvPr/>
          </p:nvPicPr>
          <p:blipFill>
            <a:blip r:embed="rId7" cstate="print"/>
            <a:stretch>
              <a:fillRect/>
            </a:stretch>
          </p:blipFill>
          <p:spPr bwMode="gray">
            <a:xfrm>
              <a:off x="1513090" y="3748838"/>
              <a:ext cx="304815" cy="249395"/>
            </a:xfrm>
            <a:prstGeom prst="rect">
              <a:avLst/>
            </a:prstGeom>
          </p:spPr>
        </p:pic>
      </p:grpSp>
      <p:sp>
        <p:nvSpPr>
          <p:cNvPr id="24" name="文本框 23"/>
          <p:cNvSpPr txBox="1"/>
          <p:nvPr/>
        </p:nvSpPr>
        <p:spPr bwMode="gray">
          <a:xfrm>
            <a:off x="7165020" y="2831562"/>
            <a:ext cx="1441420" cy="584455"/>
          </a:xfrm>
          <a:prstGeom prst="rect">
            <a:avLst/>
          </a:prstGeom>
          <a:noFill/>
        </p:spPr>
        <p:txBody>
          <a:bodyPr wrap="none" rtlCol="0">
            <a:spAutoFit/>
          </a:bodyPr>
          <a:lstStyle/>
          <a:p>
            <a:pPr algn="r" defTabSz="1218418"/>
            <a:r>
              <a:rPr lang="en-US" altLang="zh-CN" sz="1998"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p>
          <a:p>
            <a:pPr algn="r" defTabSz="1218418"/>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秒级网络数据采集</a:t>
            </a:r>
            <a:endParaRPr lang="en-US" altLang="zh-CN" sz="1599"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5" name="直接箭头连接符 24"/>
          <p:cNvCxnSpPr/>
          <p:nvPr/>
        </p:nvCxnSpPr>
        <p:spPr bwMode="gray">
          <a:xfrm>
            <a:off x="8599378" y="2724526"/>
            <a:ext cx="0" cy="798527"/>
          </a:xfrm>
          <a:prstGeom prst="straightConnector1">
            <a:avLst/>
          </a:prstGeom>
          <a:noFill/>
          <a:ln w="28575" algn="ctr">
            <a:solidFill>
              <a:srgbClr val="C7000B"/>
            </a:solidFill>
            <a:round/>
            <a:headEnd type="triangle" w="med" len="med"/>
            <a:tailEnd type="none" w="med" len="med"/>
          </a:ln>
        </p:spPr>
      </p:cxnSp>
      <p:sp>
        <p:nvSpPr>
          <p:cNvPr id="26" name="矩形 25"/>
          <p:cNvSpPr/>
          <p:nvPr/>
        </p:nvSpPr>
        <p:spPr bwMode="gray">
          <a:xfrm>
            <a:off x="9778044" y="1918009"/>
            <a:ext cx="1441420" cy="1259086"/>
          </a:xfrm>
          <a:prstGeom prst="rect">
            <a:avLst/>
          </a:prstGeom>
          <a:solidFill>
            <a:schemeClr val="bg1"/>
          </a:solidFill>
          <a:ln w="9525" cap="flat" cmpd="sng" algn="ctr">
            <a:solidFill>
              <a:srgbClr val="BEE9EE"/>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体验可视化管理</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用户旅程回放</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潜在故障识别</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故障根因定位</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网络预测性调优</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7659326" y="2107234"/>
            <a:ext cx="1574850" cy="524950"/>
          </a:xfrm>
          <a:prstGeom prst="rect">
            <a:avLst/>
          </a:prstGeom>
        </p:spPr>
      </p:pic>
      <p:sp>
        <p:nvSpPr>
          <p:cNvPr id="28" name="矩形 27"/>
          <p:cNvSpPr/>
          <p:nvPr/>
        </p:nvSpPr>
        <p:spPr bwMode="gray">
          <a:xfrm>
            <a:off x="6950837" y="3637470"/>
            <a:ext cx="3059618" cy="472131"/>
          </a:xfrm>
          <a:prstGeom prst="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418"/>
            <a:endParaRPr lang="zh-CN" altLang="en-US" sz="3199">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9" name="组合 28"/>
          <p:cNvGrpSpPr/>
          <p:nvPr/>
        </p:nvGrpSpPr>
        <p:grpSpPr bwMode="gray">
          <a:xfrm>
            <a:off x="7183249" y="3748838"/>
            <a:ext cx="2594795" cy="249395"/>
            <a:chOff x="940595" y="3748838"/>
            <a:chExt cx="2594795" cy="249395"/>
          </a:xfrm>
        </p:grpSpPr>
        <p:pic>
          <p:nvPicPr>
            <p:cNvPr id="3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0575" y="3748838"/>
              <a:ext cx="304815" cy="249395"/>
            </a:xfrm>
            <a:prstGeom prst="rect">
              <a:avLst/>
            </a:prstGeom>
          </p:spPr>
        </p:pic>
        <p:pic>
          <p:nvPicPr>
            <p:cNvPr id="3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085585" y="3748838"/>
              <a:ext cx="304815" cy="249395"/>
            </a:xfrm>
            <a:prstGeom prst="rect">
              <a:avLst/>
            </a:prstGeom>
            <a:noFill/>
          </p:spPr>
        </p:pic>
        <p:pic>
          <p:nvPicPr>
            <p:cNvPr id="32" name="图片 76" descr="接入交换机.png"/>
            <p:cNvPicPr>
              <a:picLocks noChangeAspect="1"/>
            </p:cNvPicPr>
            <p:nvPr/>
          </p:nvPicPr>
          <p:blipFill>
            <a:blip r:embed="rId5" cstate="print"/>
            <a:stretch>
              <a:fillRect/>
            </a:stretch>
          </p:blipFill>
          <p:spPr bwMode="gray">
            <a:xfrm>
              <a:off x="2658080" y="3748838"/>
              <a:ext cx="304815" cy="249395"/>
            </a:xfrm>
            <a:prstGeom prst="rect">
              <a:avLst/>
            </a:prstGeom>
          </p:spPr>
        </p:pic>
        <p:pic>
          <p:nvPicPr>
            <p:cNvPr id="33" name="图片 105" descr="AP.png"/>
            <p:cNvPicPr>
              <a:picLocks noChangeAspect="1"/>
            </p:cNvPicPr>
            <p:nvPr/>
          </p:nvPicPr>
          <p:blipFill>
            <a:blip r:embed="rId6" cstate="print"/>
            <a:stretch>
              <a:fillRect/>
            </a:stretch>
          </p:blipFill>
          <p:spPr bwMode="gray">
            <a:xfrm>
              <a:off x="940595" y="3748838"/>
              <a:ext cx="304815" cy="249395"/>
            </a:xfrm>
            <a:prstGeom prst="rect">
              <a:avLst/>
            </a:prstGeom>
          </p:spPr>
        </p:pic>
        <p:pic>
          <p:nvPicPr>
            <p:cNvPr id="34" name="图片 102" descr="AC-蓝.png"/>
            <p:cNvPicPr>
              <a:picLocks noChangeAspect="1"/>
            </p:cNvPicPr>
            <p:nvPr/>
          </p:nvPicPr>
          <p:blipFill>
            <a:blip r:embed="rId7" cstate="print"/>
            <a:stretch>
              <a:fillRect/>
            </a:stretch>
          </p:blipFill>
          <p:spPr bwMode="gray">
            <a:xfrm>
              <a:off x="1513090" y="3748838"/>
              <a:ext cx="304815" cy="249395"/>
            </a:xfrm>
            <a:prstGeom prst="rect">
              <a:avLst/>
            </a:prstGeom>
          </p:spPr>
        </p:pic>
      </p:grpSp>
      <p:pic>
        <p:nvPicPr>
          <p:cNvPr id="35" name="图片 72" descr="交换机.png"/>
          <p:cNvPicPr>
            <a:picLocks noChangeAspect="1"/>
          </p:cNvPicPr>
          <p:nvPr/>
        </p:nvPicPr>
        <p:blipFill>
          <a:blip r:embed="rId9" cstate="print"/>
          <a:stretch>
            <a:fillRect/>
          </a:stretch>
        </p:blipFill>
        <p:spPr bwMode="gray">
          <a:xfrm>
            <a:off x="2419015" y="2300241"/>
            <a:ext cx="404368" cy="331943"/>
          </a:xfrm>
          <a:prstGeom prst="rect">
            <a:avLst/>
          </a:prstGeom>
        </p:spPr>
      </p:pic>
      <p:sp>
        <p:nvSpPr>
          <p:cNvPr id="36" name="任意多边形 35"/>
          <p:cNvSpPr/>
          <p:nvPr/>
        </p:nvSpPr>
        <p:spPr bwMode="gray">
          <a:xfrm rot="5400000" flipV="1">
            <a:off x="8811681" y="2241400"/>
            <a:ext cx="1297505" cy="650640"/>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2042390"/>
              <a:gd name="connsiteY0" fmla="*/ 0 h 659976"/>
              <a:gd name="connsiteX1" fmla="*/ 0 w 2042390"/>
              <a:gd name="connsiteY1" fmla="*/ 659976 h 659976"/>
              <a:gd name="connsiteX2" fmla="*/ 2042390 w 2042390"/>
              <a:gd name="connsiteY2" fmla="*/ 480554 h 659976"/>
              <a:gd name="connsiteX3" fmla="*/ 602404 w 2042390"/>
              <a:gd name="connsiteY3" fmla="*/ 0 h 659976"/>
              <a:gd name="connsiteX0" fmla="*/ 4898426 w 6338412"/>
              <a:gd name="connsiteY0" fmla="*/ 0 h 507739"/>
              <a:gd name="connsiteX1" fmla="*/ 0 w 6338412"/>
              <a:gd name="connsiteY1" fmla="*/ 507739 h 507739"/>
              <a:gd name="connsiteX2" fmla="*/ 6338412 w 6338412"/>
              <a:gd name="connsiteY2" fmla="*/ 480554 h 507739"/>
              <a:gd name="connsiteX3" fmla="*/ 4898426 w 6338412"/>
              <a:gd name="connsiteY3" fmla="*/ 0 h 507739"/>
              <a:gd name="connsiteX0" fmla="*/ 4203860 w 6338412"/>
              <a:gd name="connsiteY0" fmla="*/ 0 h 627354"/>
              <a:gd name="connsiteX1" fmla="*/ 0 w 6338412"/>
              <a:gd name="connsiteY1" fmla="*/ 627354 h 627354"/>
              <a:gd name="connsiteX2" fmla="*/ 6338412 w 6338412"/>
              <a:gd name="connsiteY2" fmla="*/ 600169 h 627354"/>
              <a:gd name="connsiteX3" fmla="*/ 4203860 w 6338412"/>
              <a:gd name="connsiteY3"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261238"/>
              <a:gd name="connsiteY0" fmla="*/ 0 h 627354"/>
              <a:gd name="connsiteX1" fmla="*/ 0 w 6261238"/>
              <a:gd name="connsiteY1" fmla="*/ 627354 h 627354"/>
              <a:gd name="connsiteX2" fmla="*/ 6261238 w 6261238"/>
              <a:gd name="connsiteY2" fmla="*/ 605606 h 627354"/>
              <a:gd name="connsiteX3" fmla="*/ 4883586 w 6261238"/>
              <a:gd name="connsiteY3" fmla="*/ 6442 h 627354"/>
              <a:gd name="connsiteX4" fmla="*/ 4203860 w 6261238"/>
              <a:gd name="connsiteY4" fmla="*/ 0 h 627354"/>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660639 w 6261238"/>
              <a:gd name="connsiteY3" fmla="*/ 0 h 620912"/>
              <a:gd name="connsiteX4" fmla="*/ 3732241 w 6261238"/>
              <a:gd name="connsiteY4" fmla="*/ 4432 h 620912"/>
              <a:gd name="connsiteX0" fmla="*/ 4049512 w 6261238"/>
              <a:gd name="connsiteY0" fmla="*/ 0 h 638228"/>
              <a:gd name="connsiteX1" fmla="*/ 0 w 6261238"/>
              <a:gd name="connsiteY1" fmla="*/ 638228 h 638228"/>
              <a:gd name="connsiteX2" fmla="*/ 6261238 w 6261238"/>
              <a:gd name="connsiteY2" fmla="*/ 616480 h 638228"/>
              <a:gd name="connsiteX3" fmla="*/ 4660639 w 6261238"/>
              <a:gd name="connsiteY3" fmla="*/ 17316 h 638228"/>
              <a:gd name="connsiteX4" fmla="*/ 4049512 w 6261238"/>
              <a:gd name="connsiteY4" fmla="*/ 0 h 638228"/>
              <a:gd name="connsiteX0" fmla="*/ 4049512 w 6261238"/>
              <a:gd name="connsiteY0" fmla="*/ 0 h 638228"/>
              <a:gd name="connsiteX1" fmla="*/ 0 w 6261238"/>
              <a:gd name="connsiteY1" fmla="*/ 638228 h 638228"/>
              <a:gd name="connsiteX2" fmla="*/ 6261238 w 6261238"/>
              <a:gd name="connsiteY2" fmla="*/ 616480 h 638228"/>
              <a:gd name="connsiteX3" fmla="*/ 4652065 w 6261238"/>
              <a:gd name="connsiteY3" fmla="*/ 8254 h 638228"/>
              <a:gd name="connsiteX4" fmla="*/ 4049512 w 6261238"/>
              <a:gd name="connsiteY4" fmla="*/ 0 h 638228"/>
              <a:gd name="connsiteX0" fmla="*/ 4049512 w 6261238"/>
              <a:gd name="connsiteY0" fmla="*/ 808 h 639036"/>
              <a:gd name="connsiteX1" fmla="*/ 0 w 6261238"/>
              <a:gd name="connsiteY1" fmla="*/ 639036 h 639036"/>
              <a:gd name="connsiteX2" fmla="*/ 6261238 w 6261238"/>
              <a:gd name="connsiteY2" fmla="*/ 617288 h 639036"/>
              <a:gd name="connsiteX3" fmla="*/ 4632057 w 6261238"/>
              <a:gd name="connsiteY3" fmla="*/ 0 h 639036"/>
              <a:gd name="connsiteX4" fmla="*/ 4049512 w 6261238"/>
              <a:gd name="connsiteY4" fmla="*/ 808 h 639036"/>
              <a:gd name="connsiteX0" fmla="*/ 4232634 w 6261238"/>
              <a:gd name="connsiteY0" fmla="*/ 0 h 670850"/>
              <a:gd name="connsiteX1" fmla="*/ 0 w 6261238"/>
              <a:gd name="connsiteY1" fmla="*/ 670850 h 670850"/>
              <a:gd name="connsiteX2" fmla="*/ 6261238 w 6261238"/>
              <a:gd name="connsiteY2" fmla="*/ 649102 h 670850"/>
              <a:gd name="connsiteX3" fmla="*/ 4632057 w 6261238"/>
              <a:gd name="connsiteY3" fmla="*/ 31814 h 670850"/>
              <a:gd name="connsiteX4" fmla="*/ 4232634 w 6261238"/>
              <a:gd name="connsiteY4" fmla="*/ 0 h 670850"/>
              <a:gd name="connsiteX0" fmla="*/ 4232634 w 6261238"/>
              <a:gd name="connsiteY0" fmla="*/ 807 h 671657"/>
              <a:gd name="connsiteX1" fmla="*/ 0 w 6261238"/>
              <a:gd name="connsiteY1" fmla="*/ 671657 h 671657"/>
              <a:gd name="connsiteX2" fmla="*/ 6261238 w 6261238"/>
              <a:gd name="connsiteY2" fmla="*/ 649909 h 671657"/>
              <a:gd name="connsiteX3" fmla="*/ 4595441 w 6261238"/>
              <a:gd name="connsiteY3" fmla="*/ 0 h 671657"/>
              <a:gd name="connsiteX4" fmla="*/ 4232634 w 6261238"/>
              <a:gd name="connsiteY4" fmla="*/ 807 h 671657"/>
              <a:gd name="connsiteX0" fmla="*/ 1286382 w 3314986"/>
              <a:gd name="connsiteY0" fmla="*/ 807 h 649909"/>
              <a:gd name="connsiteX1" fmla="*/ 0 w 3314986"/>
              <a:gd name="connsiteY1" fmla="*/ 407055 h 649909"/>
              <a:gd name="connsiteX2" fmla="*/ 3314986 w 3314986"/>
              <a:gd name="connsiteY2" fmla="*/ 649909 h 649909"/>
              <a:gd name="connsiteX3" fmla="*/ 1649189 w 3314986"/>
              <a:gd name="connsiteY3" fmla="*/ 0 h 649909"/>
              <a:gd name="connsiteX4" fmla="*/ 1286382 w 3314986"/>
              <a:gd name="connsiteY4" fmla="*/ 807 h 649909"/>
              <a:gd name="connsiteX0" fmla="*/ 1286382 w 3087099"/>
              <a:gd name="connsiteY0" fmla="*/ 807 h 410680"/>
              <a:gd name="connsiteX1" fmla="*/ 0 w 3087099"/>
              <a:gd name="connsiteY1" fmla="*/ 407055 h 410680"/>
              <a:gd name="connsiteX2" fmla="*/ 3087099 w 3087099"/>
              <a:gd name="connsiteY2" fmla="*/ 410680 h 410680"/>
              <a:gd name="connsiteX3" fmla="*/ 1649189 w 3087099"/>
              <a:gd name="connsiteY3" fmla="*/ 0 h 410680"/>
              <a:gd name="connsiteX4" fmla="*/ 1286382 w 3087099"/>
              <a:gd name="connsiteY4" fmla="*/ 807 h 410680"/>
              <a:gd name="connsiteX0" fmla="*/ 1286382 w 3709719"/>
              <a:gd name="connsiteY0" fmla="*/ 807 h 407055"/>
              <a:gd name="connsiteX1" fmla="*/ 0 w 3709719"/>
              <a:gd name="connsiteY1" fmla="*/ 407055 h 407055"/>
              <a:gd name="connsiteX2" fmla="*/ 3709719 w 3709719"/>
              <a:gd name="connsiteY2" fmla="*/ 350873 h 407055"/>
              <a:gd name="connsiteX3" fmla="*/ 1649189 w 3709719"/>
              <a:gd name="connsiteY3" fmla="*/ 0 h 407055"/>
              <a:gd name="connsiteX4" fmla="*/ 1286382 w 3709719"/>
              <a:gd name="connsiteY4" fmla="*/ 807 h 407055"/>
              <a:gd name="connsiteX0" fmla="*/ 1616004 w 4039341"/>
              <a:gd name="connsiteY0" fmla="*/ 807 h 354044"/>
              <a:gd name="connsiteX1" fmla="*/ 0 w 4039341"/>
              <a:gd name="connsiteY1" fmla="*/ 354044 h 354044"/>
              <a:gd name="connsiteX2" fmla="*/ 4039341 w 4039341"/>
              <a:gd name="connsiteY2" fmla="*/ 350873 h 354044"/>
              <a:gd name="connsiteX3" fmla="*/ 1978811 w 4039341"/>
              <a:gd name="connsiteY3" fmla="*/ 0 h 354044"/>
              <a:gd name="connsiteX4" fmla="*/ 1616004 w 4039341"/>
              <a:gd name="connsiteY4" fmla="*/ 807 h 354044"/>
              <a:gd name="connsiteX0" fmla="*/ 1616004 w 4063764"/>
              <a:gd name="connsiteY0" fmla="*/ 807 h 412041"/>
              <a:gd name="connsiteX1" fmla="*/ 0 w 4063764"/>
              <a:gd name="connsiteY1" fmla="*/ 354044 h 412041"/>
              <a:gd name="connsiteX2" fmla="*/ 4063765 w 4063764"/>
              <a:gd name="connsiteY2" fmla="*/ 412041 h 412041"/>
              <a:gd name="connsiteX3" fmla="*/ 1978811 w 4063764"/>
              <a:gd name="connsiteY3" fmla="*/ 0 h 412041"/>
              <a:gd name="connsiteX4" fmla="*/ 1616004 w 4063764"/>
              <a:gd name="connsiteY4" fmla="*/ 807 h 412041"/>
              <a:gd name="connsiteX0" fmla="*/ 1603796 w 4051556"/>
              <a:gd name="connsiteY0" fmla="*/ 807 h 412041"/>
              <a:gd name="connsiteX1" fmla="*/ 0 w 4051556"/>
              <a:gd name="connsiteY1" fmla="*/ 409773 h 412041"/>
              <a:gd name="connsiteX2" fmla="*/ 4051557 w 4051556"/>
              <a:gd name="connsiteY2" fmla="*/ 412041 h 412041"/>
              <a:gd name="connsiteX3" fmla="*/ 1966603 w 4051556"/>
              <a:gd name="connsiteY3" fmla="*/ 0 h 412041"/>
              <a:gd name="connsiteX4" fmla="*/ 1603796 w 4051556"/>
              <a:gd name="connsiteY4" fmla="*/ 807 h 412041"/>
              <a:gd name="connsiteX0" fmla="*/ 1127675 w 4051556"/>
              <a:gd name="connsiteY0" fmla="*/ 0 h 464245"/>
              <a:gd name="connsiteX1" fmla="*/ 0 w 4051556"/>
              <a:gd name="connsiteY1" fmla="*/ 461977 h 464245"/>
              <a:gd name="connsiteX2" fmla="*/ 4051557 w 4051556"/>
              <a:gd name="connsiteY2" fmla="*/ 464245 h 464245"/>
              <a:gd name="connsiteX3" fmla="*/ 1966603 w 4051556"/>
              <a:gd name="connsiteY3" fmla="*/ 52204 h 464245"/>
              <a:gd name="connsiteX4" fmla="*/ 1127675 w 4051556"/>
              <a:gd name="connsiteY4" fmla="*/ 0 h 464245"/>
              <a:gd name="connsiteX0" fmla="*/ 1127675 w 4051556"/>
              <a:gd name="connsiteY0" fmla="*/ 0 h 464245"/>
              <a:gd name="connsiteX1" fmla="*/ 0 w 4051556"/>
              <a:gd name="connsiteY1" fmla="*/ 461977 h 464245"/>
              <a:gd name="connsiteX2" fmla="*/ 4051557 w 4051556"/>
              <a:gd name="connsiteY2" fmla="*/ 464245 h 464245"/>
              <a:gd name="connsiteX3" fmla="*/ 1875040 w 4051556"/>
              <a:gd name="connsiteY3" fmla="*/ 4630 h 464245"/>
              <a:gd name="connsiteX4" fmla="*/ 1127675 w 4051556"/>
              <a:gd name="connsiteY4" fmla="*/ 0 h 464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1556" h="464245">
                <a:moveTo>
                  <a:pt x="1127675" y="0"/>
                </a:moveTo>
                <a:lnTo>
                  <a:pt x="0" y="461977"/>
                </a:lnTo>
                <a:lnTo>
                  <a:pt x="4051557" y="464245"/>
                </a:lnTo>
                <a:lnTo>
                  <a:pt x="1875040" y="4630"/>
                </a:lnTo>
                <a:lnTo>
                  <a:pt x="1127675" y="0"/>
                </a:lnTo>
                <a:close/>
              </a:path>
            </a:pathLst>
          </a:custGeom>
          <a:gradFill>
            <a:gsLst>
              <a:gs pos="100000">
                <a:sysClr val="window" lastClr="FFFFFF">
                  <a:alpha val="0"/>
                </a:sysClr>
              </a:gs>
              <a:gs pos="41000">
                <a:srgbClr val="BEE9EE"/>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23875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sym typeface="Huawei Sans" panose="020C0503030203020204" pitchFamily="34" charset="0"/>
              </a:rPr>
              <a:t>CloudCampus</a:t>
            </a:r>
            <a:r>
              <a:rPr lang="zh-CN" altLang="en-US" dirty="0">
                <a:sym typeface="Huawei Sans" panose="020C0503030203020204" pitchFamily="34" charset="0"/>
              </a:rPr>
              <a:t>方案组件：</a:t>
            </a:r>
            <a:r>
              <a:rPr lang="en-US" altLang="zh-CN" dirty="0">
                <a:sym typeface="Huawei Sans" panose="020C0503030203020204" pitchFamily="34" charset="0"/>
              </a:rPr>
              <a:t>WLAN Planner</a:t>
            </a:r>
            <a:endParaRPr lang="zh-CN" altLang="en-US" dirty="0"/>
          </a:p>
        </p:txBody>
      </p:sp>
      <p:sp>
        <p:nvSpPr>
          <p:cNvPr id="14" name="文本占位符 13"/>
          <p:cNvSpPr>
            <a:spLocks noGrp="1"/>
          </p:cNvSpPr>
          <p:nvPr>
            <p:ph type="body" sz="quarter" idx="10"/>
          </p:nvPr>
        </p:nvSpPr>
        <p:spPr>
          <a:xfrm>
            <a:off x="455612" y="1047750"/>
            <a:ext cx="11293475" cy="436563"/>
          </a:xfrm>
        </p:spPr>
        <p:txBody>
          <a:bodyPr/>
          <a:lstStyle/>
          <a:p>
            <a:r>
              <a:rPr lang="en-US" altLang="zh-CN" sz="2000" dirty="0"/>
              <a:t>WLAN Planner</a:t>
            </a:r>
            <a:r>
              <a:rPr lang="zh-CN" altLang="en-US" sz="2000" dirty="0"/>
              <a:t>是高效的</a:t>
            </a:r>
            <a:r>
              <a:rPr lang="en-US" altLang="zh-CN" sz="2000" dirty="0"/>
              <a:t>WLAN</a:t>
            </a:r>
            <a:r>
              <a:rPr lang="zh-CN" altLang="en-US" sz="2000" dirty="0"/>
              <a:t>网络规划工具，信号仿真确认</a:t>
            </a:r>
            <a:r>
              <a:rPr lang="en-US" altLang="zh-CN" sz="2000" dirty="0"/>
              <a:t>AP</a:t>
            </a:r>
            <a:r>
              <a:rPr lang="zh-CN" altLang="en-US" sz="2000" dirty="0"/>
              <a:t>布放位置和信号覆盖情况。</a:t>
            </a:r>
          </a:p>
          <a:p>
            <a:endParaRPr lang="zh-CN" altLang="en-US" sz="2000" dirty="0"/>
          </a:p>
        </p:txBody>
      </p:sp>
      <p:pic>
        <p:nvPicPr>
          <p:cNvPr id="3" name="图片 2"/>
          <p:cNvPicPr>
            <a:picLocks noChangeAspect="1"/>
          </p:cNvPicPr>
          <p:nvPr/>
        </p:nvPicPr>
        <p:blipFill>
          <a:blip r:embed="rId3"/>
          <a:stretch>
            <a:fillRect/>
          </a:stretch>
        </p:blipFill>
        <p:spPr bwMode="gray">
          <a:xfrm>
            <a:off x="579253" y="1818302"/>
            <a:ext cx="5623244" cy="3328751"/>
          </a:xfrm>
          <a:prstGeom prst="rect">
            <a:avLst/>
          </a:prstGeom>
          <a:ln w="12700">
            <a:solidFill>
              <a:schemeClr val="bg1">
                <a:lumMod val="85000"/>
              </a:schemeClr>
            </a:solidFill>
          </a:ln>
        </p:spPr>
      </p:pic>
      <p:sp>
        <p:nvSpPr>
          <p:cNvPr id="4" name="圆角矩形 3"/>
          <p:cNvSpPr/>
          <p:nvPr/>
        </p:nvSpPr>
        <p:spPr bwMode="gray">
          <a:xfrm>
            <a:off x="6279151" y="1818302"/>
            <a:ext cx="5469936"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高效支撑</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6279151" y="2628030"/>
            <a:ext cx="2416514" cy="353725"/>
          </a:xfrm>
          <a:prstGeom prst="roundRect">
            <a:avLst>
              <a:gd name="adj" fmla="val 159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免安装</a:t>
            </a:r>
          </a:p>
        </p:txBody>
      </p:sp>
      <p:sp>
        <p:nvSpPr>
          <p:cNvPr id="6" name="圆角矩形 5"/>
          <p:cNvSpPr/>
          <p:nvPr/>
        </p:nvSpPr>
        <p:spPr bwMode="gray">
          <a:xfrm>
            <a:off x="9332573" y="2628030"/>
            <a:ext cx="2416514" cy="353725"/>
          </a:xfrm>
          <a:prstGeom prst="roundRect">
            <a:avLst>
              <a:gd name="adj" fmla="val 159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全场景</a:t>
            </a:r>
          </a:p>
        </p:txBody>
      </p:sp>
      <p:sp>
        <p:nvSpPr>
          <p:cNvPr id="7" name="圆角矩形 6"/>
          <p:cNvSpPr/>
          <p:nvPr/>
        </p:nvSpPr>
        <p:spPr bwMode="gray">
          <a:xfrm>
            <a:off x="6279151" y="3943769"/>
            <a:ext cx="2416514" cy="353725"/>
          </a:xfrm>
          <a:prstGeom prst="roundRect">
            <a:avLst>
              <a:gd name="adj" fmla="val 159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高效率</a:t>
            </a:r>
          </a:p>
        </p:txBody>
      </p:sp>
      <p:sp>
        <p:nvSpPr>
          <p:cNvPr id="8" name="圆角矩形 7"/>
          <p:cNvSpPr/>
          <p:nvPr/>
        </p:nvSpPr>
        <p:spPr bwMode="gray">
          <a:xfrm>
            <a:off x="9332573" y="3943769"/>
            <a:ext cx="2416514" cy="353725"/>
          </a:xfrm>
          <a:prstGeom prst="roundRect">
            <a:avLst>
              <a:gd name="adj" fmla="val 159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高质量</a:t>
            </a:r>
          </a:p>
        </p:txBody>
      </p:sp>
      <p:sp>
        <p:nvSpPr>
          <p:cNvPr id="9" name="矩形 8"/>
          <p:cNvSpPr/>
          <p:nvPr/>
        </p:nvSpPr>
        <p:spPr bwMode="gray">
          <a:xfrm>
            <a:off x="6279151" y="3104866"/>
            <a:ext cx="2416514" cy="307777"/>
          </a:xfrm>
          <a:prstGeom prst="rect">
            <a:avLst/>
          </a:prstGeom>
        </p:spPr>
        <p:txBody>
          <a:bodyPr wrap="square">
            <a:spAutoFit/>
          </a:bodyPr>
          <a:lstStyle/>
          <a:p>
            <a:pPr algn="ctr"/>
            <a:r>
              <a:rPr lang="zh-CN" altLang="en-US" sz="1400" dirty="0"/>
              <a:t>工具云化免软件安装</a:t>
            </a:r>
          </a:p>
        </p:txBody>
      </p:sp>
      <p:sp>
        <p:nvSpPr>
          <p:cNvPr id="10" name="矩形 9"/>
          <p:cNvSpPr/>
          <p:nvPr/>
        </p:nvSpPr>
        <p:spPr bwMode="gray">
          <a:xfrm>
            <a:off x="9332573" y="2981756"/>
            <a:ext cx="2416514" cy="523220"/>
          </a:xfrm>
          <a:prstGeom prst="rect">
            <a:avLst/>
          </a:prstGeom>
        </p:spPr>
        <p:txBody>
          <a:bodyPr wrap="square">
            <a:spAutoFit/>
          </a:bodyPr>
          <a:lstStyle/>
          <a:p>
            <a:pPr algn="ctr"/>
            <a:r>
              <a:rPr lang="zh-CN" altLang="en-US" sz="1400" dirty="0"/>
              <a:t>室内、室外、敏分、高密</a:t>
            </a:r>
            <a:endParaRPr lang="en-US" altLang="zh-CN" sz="1400" dirty="0"/>
          </a:p>
          <a:p>
            <a:pPr algn="ctr"/>
            <a:r>
              <a:rPr lang="zh-CN" altLang="en-US" sz="1400" dirty="0"/>
              <a:t>全场景支持</a:t>
            </a:r>
          </a:p>
        </p:txBody>
      </p:sp>
      <p:sp>
        <p:nvSpPr>
          <p:cNvPr id="11" name="矩形 10"/>
          <p:cNvSpPr/>
          <p:nvPr/>
        </p:nvSpPr>
        <p:spPr bwMode="gray">
          <a:xfrm>
            <a:off x="6279151" y="4281644"/>
            <a:ext cx="2416514" cy="307777"/>
          </a:xfrm>
          <a:prstGeom prst="rect">
            <a:avLst/>
          </a:prstGeom>
        </p:spPr>
        <p:txBody>
          <a:bodyPr wrap="square">
            <a:spAutoFit/>
          </a:bodyPr>
          <a:lstStyle/>
          <a:p>
            <a:pPr algn="ctr"/>
            <a:r>
              <a:rPr lang="zh-CN" altLang="en-US" sz="1400" dirty="0"/>
              <a:t>比传统单机版仿真效率提升</a:t>
            </a:r>
          </a:p>
        </p:txBody>
      </p:sp>
      <p:sp>
        <p:nvSpPr>
          <p:cNvPr id="12" name="矩形 11"/>
          <p:cNvSpPr/>
          <p:nvPr/>
        </p:nvSpPr>
        <p:spPr bwMode="gray">
          <a:xfrm>
            <a:off x="9332573" y="4281644"/>
            <a:ext cx="2416514" cy="307777"/>
          </a:xfrm>
          <a:prstGeom prst="rect">
            <a:avLst/>
          </a:prstGeom>
        </p:spPr>
        <p:txBody>
          <a:bodyPr wrap="square">
            <a:spAutoFit/>
          </a:bodyPr>
          <a:lstStyle/>
          <a:p>
            <a:pPr algn="ctr"/>
            <a:r>
              <a:rPr lang="zh-CN" altLang="en-US" sz="1400" dirty="0"/>
              <a:t>支撑上万</a:t>
            </a:r>
            <a:r>
              <a:rPr lang="en-US" altLang="zh-CN" sz="1400" dirty="0"/>
              <a:t>+WLAN</a:t>
            </a:r>
            <a:r>
              <a:rPr lang="zh-CN" altLang="en-US" sz="1400" dirty="0"/>
              <a:t>项目</a:t>
            </a:r>
          </a:p>
        </p:txBody>
      </p:sp>
    </p:spTree>
    <p:extLst>
      <p:ext uri="{BB962C8B-B14F-4D97-AF65-F5344CB8AC3E}">
        <p14:creationId xmlns:p14="http://schemas.microsoft.com/office/powerpoint/2010/main" val="4103908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dirty="0">
                <a:sym typeface="Huawei Sans" panose="020C0503030203020204" pitchFamily="34" charset="0"/>
              </a:rPr>
              <a:t>CloudCampus</a:t>
            </a:r>
            <a:r>
              <a:rPr lang="zh-CN" altLang="en-US" dirty="0">
                <a:sym typeface="Huawei Sans" panose="020C0503030203020204" pitchFamily="34" charset="0"/>
              </a:rPr>
              <a:t>方案组件：网络硬件产品</a:t>
            </a:r>
          </a:p>
        </p:txBody>
      </p:sp>
      <p:sp>
        <p:nvSpPr>
          <p:cNvPr id="4" name="文本框 3"/>
          <p:cNvSpPr txBox="1"/>
          <p:nvPr/>
        </p:nvSpPr>
        <p:spPr bwMode="gray">
          <a:xfrm>
            <a:off x="448449" y="1172503"/>
            <a:ext cx="2287685" cy="338554"/>
          </a:xfrm>
          <a:prstGeom prst="rect">
            <a:avLst/>
          </a:prstGeom>
          <a:noFill/>
        </p:spPr>
        <p:txBody>
          <a:bodyPr wrap="square" rtlCol="0">
            <a:spAutoFit/>
          </a:bodyPr>
          <a:lstStyle/>
          <a:p>
            <a:pPr defTabSz="1219028"/>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CloudEngine</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S</a:t>
            </a: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交换机</a:t>
            </a:r>
          </a:p>
        </p:txBody>
      </p:sp>
      <p:cxnSp>
        <p:nvCxnSpPr>
          <p:cNvPr id="6" name="直接连接符 394"/>
          <p:cNvCxnSpPr>
            <a:cxnSpLocks noChangeShapeType="1"/>
          </p:cNvCxnSpPr>
          <p:nvPr/>
        </p:nvCxnSpPr>
        <p:spPr bwMode="gray">
          <a:xfrm>
            <a:off x="718561" y="3807646"/>
            <a:ext cx="10771200" cy="0"/>
          </a:xfrm>
          <a:prstGeom prst="line">
            <a:avLst/>
          </a:prstGeom>
          <a:noFill/>
          <a:ln w="19050" algn="ctr">
            <a:solidFill>
              <a:schemeClr val="bg1">
                <a:lumMod val="75000"/>
              </a:schemeClr>
            </a:solidFill>
            <a:prstDash val="sysDot"/>
            <a:round/>
            <a:headEnd/>
            <a:tailEnd/>
          </a:ln>
        </p:spPr>
      </p:cxnSp>
      <p:pic>
        <p:nvPicPr>
          <p:cNvPr id="8" name="图片 7"/>
          <p:cNvPicPr>
            <a:picLocks noChangeAspect="1"/>
          </p:cNvPicPr>
          <p:nvPr/>
        </p:nvPicPr>
        <p:blipFill rotWithShape="1">
          <a:blip r:embed="rId3" cstate="print">
            <a:extLst>
              <a:ext uri="{28A0092B-C50C-407E-A947-70E740481C1C}">
                <a14:useLocalDpi xmlns:a14="http://schemas.microsoft.com/office/drawing/2010/main" val="0"/>
              </a:ext>
            </a:extLst>
          </a:blip>
          <a:srcRect l="17058" r="19398"/>
          <a:stretch/>
        </p:blipFill>
        <p:spPr bwMode="gray">
          <a:xfrm>
            <a:off x="2086766" y="4398383"/>
            <a:ext cx="978222" cy="1119486"/>
          </a:xfrm>
          <a:prstGeom prst="rect">
            <a:avLst/>
          </a:prstGeom>
        </p:spPr>
      </p:pic>
      <p:pic>
        <p:nvPicPr>
          <p:cNvPr id="9" name="图片 8"/>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val="0"/>
              </a:ext>
            </a:extLst>
          </a:blip>
          <a:srcRect l="25948" t="7768" r="27590" b="19963"/>
          <a:stretch/>
        </p:blipFill>
        <p:spPr bwMode="gray">
          <a:xfrm>
            <a:off x="3557937" y="4582020"/>
            <a:ext cx="671197" cy="759257"/>
          </a:xfrm>
          <a:prstGeom prst="rect">
            <a:avLst/>
          </a:prstGeom>
        </p:spPr>
      </p:pic>
      <p:sp>
        <p:nvSpPr>
          <p:cNvPr id="14" name="矩形 13"/>
          <p:cNvSpPr/>
          <p:nvPr/>
        </p:nvSpPr>
        <p:spPr bwMode="gray">
          <a:xfrm>
            <a:off x="448449" y="3987152"/>
            <a:ext cx="2316383" cy="338554"/>
          </a:xfrm>
          <a:prstGeom prst="rect">
            <a:avLst/>
          </a:prstGeom>
          <a:noFill/>
        </p:spPr>
        <p:txBody>
          <a:bodyPr wrap="square" rtlCol="0">
            <a:spAutoFit/>
          </a:bodyPr>
          <a:lstStyle/>
          <a:p>
            <a:pPr defTabSz="1219028"/>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AirEngine</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Wi-Fi 6 AP</a:t>
            </a:r>
            <a:endPar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2" name="图片 31"/>
          <p:cNvPicPr>
            <a:picLocks noChangeAspect="1"/>
          </p:cNvPicPr>
          <p:nvPr/>
        </p:nvPicPr>
        <p:blipFill rotWithShape="1">
          <a:blip r:embed="rId6" cstate="print">
            <a:extLst>
              <a:ext uri="{28A0092B-C50C-407E-A947-70E740481C1C}">
                <a14:useLocalDpi xmlns:a14="http://schemas.microsoft.com/office/drawing/2010/main" val="0"/>
              </a:ext>
            </a:extLst>
          </a:blip>
          <a:srcRect l="1913" r="1977"/>
          <a:stretch/>
        </p:blipFill>
        <p:spPr bwMode="gray">
          <a:xfrm>
            <a:off x="927096" y="1631159"/>
            <a:ext cx="4782513" cy="1534722"/>
          </a:xfrm>
          <a:prstGeom prst="rect">
            <a:avLst/>
          </a:prstGeom>
          <a:noFill/>
        </p:spPr>
      </p:pic>
      <p:grpSp>
        <p:nvGrpSpPr>
          <p:cNvPr id="2" name="组合 1"/>
          <p:cNvGrpSpPr/>
          <p:nvPr/>
        </p:nvGrpSpPr>
        <p:grpSpPr>
          <a:xfrm>
            <a:off x="6630945" y="2115327"/>
            <a:ext cx="4596914" cy="701090"/>
            <a:chOff x="8154684" y="2487643"/>
            <a:chExt cx="2737783" cy="417548"/>
          </a:xfrm>
        </p:grpSpPr>
        <p:pic>
          <p:nvPicPr>
            <p:cNvPr id="40" name="Picture 6" descr="https://info.support.huawei.com/onlinetoolweb/Network_imagelib/getImgByNames?package_name=AR6300_pic.zip&amp;picture_name=front_top.png&amp;ipNum=local"/>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9935018" y="2487643"/>
              <a:ext cx="957449" cy="39662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descr="https://info.support.huawei.com/onlinetoolweb/Network_imagelib/getImgByNames?package_name=AR6280_pic.zip&amp;picture_name=front_top.png&amp;ipNum=loc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gray">
            <a:xfrm>
              <a:off x="9005259" y="2570806"/>
              <a:ext cx="930451" cy="31802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https://info.support.huawei.com/onlinetoolweb/Network_imagelib/getImgByNames?package_name=AR6120_pic.zip&amp;picture_name=front_top.png&amp;ipNum=local"/>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gray">
            <a:xfrm>
              <a:off x="8154684" y="2735466"/>
              <a:ext cx="875057" cy="1697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 name="组合 66"/>
          <p:cNvGrpSpPr/>
          <p:nvPr/>
        </p:nvGrpSpPr>
        <p:grpSpPr>
          <a:xfrm>
            <a:off x="6266919" y="4495092"/>
            <a:ext cx="5410481" cy="752986"/>
            <a:chOff x="6860808" y="4650427"/>
            <a:chExt cx="4367051" cy="607770"/>
          </a:xfrm>
        </p:grpSpPr>
        <p:pic>
          <p:nvPicPr>
            <p:cNvPr id="43" name="Picture 8" descr="https://info.support.huawei.com/onlinetoolweb/Network_imagelib/getImgByNames?package_name=USG6305E_pic.zip&amp;picture_name=front_top.png&amp;ipNum=local"/>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gray">
            <a:xfrm>
              <a:off x="6860808" y="4852841"/>
              <a:ext cx="1108602" cy="20294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2" descr="https://info.support.huawei.com/onlinetoolweb/Network_imagelib/getImgByNames?package_name=USG6560E_pic.zip&amp;picture_name=front_top.png&amp;ipNum=local"/>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gray">
            <a:xfrm>
              <a:off x="7975560" y="4650427"/>
              <a:ext cx="1080000" cy="60777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4" descr="https://info.support.huawei.com/onlinetoolweb/Network_imagelib/getImgByNames?package_name=USG6655E_pic.zip&amp;picture_name=front_top.png&amp;ipNum=local"/>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gray">
            <a:xfrm>
              <a:off x="9061710" y="4813596"/>
              <a:ext cx="1080000" cy="28143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6" descr="https://info.support.huawei.com/onlinetoolweb/Network_imagelib/getImgByNames?package_name=USG6716E_pic.zip&amp;picture_name=front_top.png&amp;ipNum=local"/>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gray">
            <a:xfrm>
              <a:off x="10147859" y="4802869"/>
              <a:ext cx="1080000" cy="302887"/>
            </a:xfrm>
            <a:prstGeom prst="rect">
              <a:avLst/>
            </a:prstGeom>
            <a:noFill/>
            <a:extLst>
              <a:ext uri="{909E8E84-426E-40DD-AFC4-6F175D3DCCD1}">
                <a14:hiddenFill xmlns:a14="http://schemas.microsoft.com/office/drawing/2010/main">
                  <a:solidFill>
                    <a:srgbClr val="FFFFFF"/>
                  </a:solidFill>
                </a14:hiddenFill>
              </a:ext>
            </a:extLst>
          </p:spPr>
        </p:pic>
      </p:grpSp>
      <p:sp>
        <p:nvSpPr>
          <p:cNvPr id="59" name="矩形 58"/>
          <p:cNvSpPr/>
          <p:nvPr/>
        </p:nvSpPr>
        <p:spPr bwMode="gray">
          <a:xfrm>
            <a:off x="1336241" y="3220308"/>
            <a:ext cx="3962940" cy="307777"/>
          </a:xfrm>
          <a:prstGeom prst="rect">
            <a:avLst/>
          </a:prstGeom>
        </p:spPr>
        <p:txBody>
          <a:bodyPr wrap="square">
            <a:spAutoFit/>
          </a:bodyPr>
          <a:lstStyle/>
          <a:p>
            <a:pPr algn="ctr" defTabSz="1219028"/>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园区高性能交换机</a:t>
            </a:r>
          </a:p>
        </p:txBody>
      </p:sp>
      <p:sp>
        <p:nvSpPr>
          <p:cNvPr id="60" name="矩形 59"/>
          <p:cNvSpPr/>
          <p:nvPr/>
        </p:nvSpPr>
        <p:spPr bwMode="gray">
          <a:xfrm>
            <a:off x="718562" y="5539261"/>
            <a:ext cx="5198298" cy="523220"/>
          </a:xfrm>
          <a:prstGeom prst="rect">
            <a:avLst/>
          </a:prstGeom>
        </p:spPr>
        <p:txBody>
          <a:bodyPr wrap="square">
            <a:spAutoFit/>
          </a:bodyPr>
          <a:lstStyle/>
          <a:p>
            <a:pPr algn="ctr" defTabSz="1219028"/>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园区</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p>
          <a:p>
            <a:pPr algn="ctr" defTabSz="1219028"/>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包括室内放装型、室内面板型、敏捷分布式、室外等全场景型号。</a:t>
            </a:r>
          </a:p>
        </p:txBody>
      </p:sp>
      <p:sp>
        <p:nvSpPr>
          <p:cNvPr id="63" name="文本框 62"/>
          <p:cNvSpPr txBox="1"/>
          <p:nvPr/>
        </p:nvSpPr>
        <p:spPr bwMode="gray">
          <a:xfrm>
            <a:off x="6100762" y="1172503"/>
            <a:ext cx="2287685" cy="338554"/>
          </a:xfrm>
          <a:prstGeom prst="rect">
            <a:avLst/>
          </a:prstGeom>
          <a:noFill/>
        </p:spPr>
        <p:txBody>
          <a:bodyPr wrap="square" rtlCol="0">
            <a:spAutoFit/>
          </a:bodyPr>
          <a:lstStyle/>
          <a:p>
            <a:pPr defTabSz="1219028"/>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NetEngine</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AR</a:t>
            </a: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路由器</a:t>
            </a:r>
            <a:endPar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矩形 63"/>
          <p:cNvSpPr/>
          <p:nvPr/>
        </p:nvSpPr>
        <p:spPr bwMode="gray">
          <a:xfrm>
            <a:off x="6943849" y="3112586"/>
            <a:ext cx="3962940" cy="523220"/>
          </a:xfrm>
          <a:prstGeom prst="rect">
            <a:avLst/>
          </a:prstGeom>
        </p:spPr>
        <p:txBody>
          <a:bodyPr wrap="square">
            <a:spAutoFit/>
          </a:bodyPr>
          <a:lstStyle/>
          <a:p>
            <a:pPr algn="ctr" defTabSz="1219028"/>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园区出口路由器</a:t>
            </a:r>
            <a:endPar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219028"/>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集路由、交换、</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5G</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及安全功能于一身。</a:t>
            </a:r>
          </a:p>
        </p:txBody>
      </p:sp>
      <p:sp>
        <p:nvSpPr>
          <p:cNvPr id="65" name="矩形 64"/>
          <p:cNvSpPr/>
          <p:nvPr/>
        </p:nvSpPr>
        <p:spPr bwMode="gray">
          <a:xfrm>
            <a:off x="6100762" y="3987152"/>
            <a:ext cx="2316383" cy="338554"/>
          </a:xfrm>
          <a:prstGeom prst="rect">
            <a:avLst/>
          </a:prstGeom>
          <a:noFill/>
        </p:spPr>
        <p:txBody>
          <a:bodyPr wrap="square" rtlCol="0">
            <a:spAutoFit/>
          </a:bodyPr>
          <a:lstStyle/>
          <a:p>
            <a:pPr algn="ctr" defTabSz="1219028"/>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HiSecEngine</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AI</a:t>
            </a: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防火墙</a:t>
            </a:r>
            <a:endPar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矩形 65"/>
          <p:cNvSpPr/>
          <p:nvPr/>
        </p:nvSpPr>
        <p:spPr bwMode="gray">
          <a:xfrm>
            <a:off x="6858788" y="5539261"/>
            <a:ext cx="4133062" cy="523220"/>
          </a:xfrm>
          <a:prstGeom prst="rect">
            <a:avLst/>
          </a:prstGeom>
        </p:spPr>
        <p:txBody>
          <a:bodyPr wrap="square">
            <a:spAutoFit/>
          </a:bodyPr>
          <a:lstStyle/>
          <a:p>
            <a:pPr algn="ctr" defTabSz="1219028"/>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防火墙</a:t>
            </a:r>
            <a:endPar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219028"/>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提供全面一体化的网络安全防护能力。</a:t>
            </a:r>
          </a:p>
        </p:txBody>
      </p:sp>
      <p:cxnSp>
        <p:nvCxnSpPr>
          <p:cNvPr id="68" name="直接连接符 394"/>
          <p:cNvCxnSpPr>
            <a:cxnSpLocks noChangeShapeType="1"/>
          </p:cNvCxnSpPr>
          <p:nvPr/>
        </p:nvCxnSpPr>
        <p:spPr bwMode="gray">
          <a:xfrm rot="5400000">
            <a:off x="3444485" y="3680775"/>
            <a:ext cx="5040000" cy="0"/>
          </a:xfrm>
          <a:prstGeom prst="line">
            <a:avLst/>
          </a:prstGeom>
          <a:noFill/>
          <a:ln w="19050" algn="ctr">
            <a:solidFill>
              <a:schemeClr val="bg1">
                <a:lumMod val="75000"/>
              </a:schemeClr>
            </a:solidFill>
            <a:prstDash val="sysDot"/>
            <a:round/>
            <a:headEnd/>
            <a:tailEnd/>
          </a:ln>
        </p:spPr>
      </p:cxnSp>
    </p:spTree>
    <p:extLst>
      <p:ext uri="{BB962C8B-B14F-4D97-AF65-F5344CB8AC3E}">
        <p14:creationId xmlns:p14="http://schemas.microsoft.com/office/powerpoint/2010/main" val="2886056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CloudCampus</a:t>
            </a:r>
            <a:r>
              <a:rPr lang="zh-CN" altLang="en-US" dirty="0">
                <a:sym typeface="Huawei Sans" panose="020C0503030203020204" pitchFamily="34" charset="0"/>
              </a:rPr>
              <a:t>网络架构 </a:t>
            </a:r>
            <a:r>
              <a:rPr lang="en-US" altLang="zh-CN" dirty="0">
                <a:sym typeface="Huawei Sans" panose="020C0503030203020204" pitchFamily="34" charset="0"/>
              </a:rPr>
              <a:t>(</a:t>
            </a:r>
            <a:r>
              <a:rPr lang="zh-CN" altLang="en-US" dirty="0">
                <a:sym typeface="Huawei Sans" panose="020C0503030203020204" pitchFamily="34" charset="0"/>
              </a:rPr>
              <a:t>基于</a:t>
            </a:r>
            <a:r>
              <a:rPr lang="en-US" altLang="zh-CN" dirty="0">
                <a:sym typeface="Huawei Sans" panose="020C0503030203020204" pitchFamily="34" charset="0"/>
              </a:rPr>
              <a:t>VXLAN</a:t>
            </a:r>
            <a:r>
              <a:rPr lang="zh-CN" altLang="en-US" dirty="0">
                <a:sym typeface="Huawei Sans" panose="020C0503030203020204" pitchFamily="34" charset="0"/>
              </a:rPr>
              <a:t>的虚拟化园区网络场景</a:t>
            </a:r>
            <a:r>
              <a:rPr lang="en-US" altLang="zh-CN" dirty="0">
                <a:sym typeface="Huawei Sans" panose="020C0503030203020204" pitchFamily="34" charset="0"/>
              </a:rPr>
              <a:t>)</a:t>
            </a:r>
            <a:endParaRPr lang="zh-CN" altLang="en-US" dirty="0">
              <a:sym typeface="Huawei Sans" panose="020C0503030203020204" pitchFamily="34" charset="0"/>
            </a:endParaRPr>
          </a:p>
        </p:txBody>
      </p:sp>
      <p:sp>
        <p:nvSpPr>
          <p:cNvPr id="45" name="文本占位符 44"/>
          <p:cNvSpPr>
            <a:spLocks noGrp="1"/>
          </p:cNvSpPr>
          <p:nvPr>
            <p:ph type="body" sz="quarter" idx="10"/>
          </p:nvPr>
        </p:nvSpPr>
        <p:spPr>
          <a:xfrm>
            <a:off x="455612" y="1047751"/>
            <a:ext cx="11293475" cy="472362"/>
          </a:xfrm>
        </p:spPr>
        <p:txBody>
          <a:bodyPr/>
          <a:lstStyle/>
          <a:p>
            <a:r>
              <a:rPr lang="en-US" altLang="zh-CN" sz="2000" dirty="0">
                <a:sym typeface="Huawei Sans" panose="020C0503030203020204" pitchFamily="34" charset="0"/>
              </a:rPr>
              <a:t>CloudCampus</a:t>
            </a:r>
            <a:r>
              <a:rPr lang="zh-CN" altLang="en-US" sz="2000" dirty="0">
                <a:sym typeface="Huawei Sans" panose="020C0503030203020204" pitchFamily="34" charset="0"/>
              </a:rPr>
              <a:t>解决方案的网络架构如图所示，分为网络层、管理层和应用层。</a:t>
            </a:r>
          </a:p>
        </p:txBody>
      </p:sp>
      <p:sp>
        <p:nvSpPr>
          <p:cNvPr id="3" name="矩形 2"/>
          <p:cNvSpPr/>
          <p:nvPr/>
        </p:nvSpPr>
        <p:spPr bwMode="gray">
          <a:xfrm>
            <a:off x="1843949" y="1567242"/>
            <a:ext cx="8523302" cy="1080000"/>
          </a:xfrm>
          <a:prstGeom prst="rect">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1843949" y="2719553"/>
            <a:ext cx="8523302" cy="1080000"/>
          </a:xfrm>
          <a:prstGeom prst="rect">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bwMode="gray">
          <a:xfrm>
            <a:off x="1843949" y="3871864"/>
            <a:ext cx="8523302" cy="2327365"/>
          </a:xfrm>
          <a:prstGeom prst="rect">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 Box 76"/>
          <p:cNvSpPr txBox="1">
            <a:spLocks noChangeArrowheads="1"/>
          </p:cNvSpPr>
          <p:nvPr/>
        </p:nvSpPr>
        <p:spPr bwMode="gray">
          <a:xfrm>
            <a:off x="1063852" y="1969418"/>
            <a:ext cx="684015" cy="288147"/>
          </a:xfrm>
          <a:prstGeom prst="rect">
            <a:avLst/>
          </a:prstGeom>
          <a:noFill/>
          <a:ln w="3175" cap="flat" cmpd="sng" algn="ctr">
            <a:noFill/>
            <a:prstDash val="solid"/>
            <a:round/>
            <a:headEnd type="none" w="med" len="med"/>
            <a:tailEnd type="none" w="med" len="med"/>
          </a:ln>
          <a:effectLst/>
          <a:scene3d>
            <a:camera prst="orthographicFront"/>
            <a:lightRig rig="flat" dir="t"/>
          </a:scene3d>
        </p:spPr>
        <p:txBody>
          <a:bodyPr wrap="none" lIns="72000" tIns="36000" rIns="72000" bIns="36000" rtlCol="0" anchor="ctr">
            <a:spAutoFit/>
          </a:bodyPr>
          <a:lstStyle>
            <a:defPPr>
              <a:defRPr lang="zh-CN"/>
            </a:defPPr>
            <a:lvl1pPr algn="ctr">
              <a:defRPr sz="14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defTabSz="1219109"/>
            <a:r>
              <a:rPr lang="zh-CN" altLang="en-US">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应用层</a:t>
            </a:r>
            <a:endParaRPr kumimoji="1" lang="zh-CN" altLang="en-US"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7" name="矩形 317"/>
          <p:cNvSpPr/>
          <p:nvPr/>
        </p:nvSpPr>
        <p:spPr bwMode="gray">
          <a:xfrm>
            <a:off x="1063851" y="4932885"/>
            <a:ext cx="684016"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62" fontAlgn="base"/>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网络层</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8" name="矩形 317"/>
          <p:cNvSpPr/>
          <p:nvPr/>
        </p:nvSpPr>
        <p:spPr bwMode="gray">
          <a:xfrm>
            <a:off x="1063852" y="3012789"/>
            <a:ext cx="684015"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62" fontAlgn="base"/>
            <a:r>
              <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管理层</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6" name="1680508374"/>
          <p:cNvSpPr txBox="1">
            <a:spLocks noChangeArrowheads="1"/>
          </p:cNvSpPr>
          <p:nvPr/>
        </p:nvSpPr>
        <p:spPr bwMode="gray">
          <a:xfrm>
            <a:off x="3213078" y="1846217"/>
            <a:ext cx="914760" cy="463295"/>
          </a:xfrm>
          <a:prstGeom prst="rect">
            <a:avLst/>
          </a:prstGeom>
          <a:solidFill>
            <a:srgbClr val="54C1CF"/>
          </a:solidFill>
          <a:ln w="9525">
            <a:noFill/>
            <a:miter lim="800000"/>
            <a:headEnd/>
            <a:tailEnd/>
          </a:ln>
        </p:spPr>
        <p:txBody>
          <a:bodyPr wrap="square" lIns="0" tIns="0" rIns="0" bIns="0" anchor="ctr"/>
          <a:lstStyle>
            <a:defPPr>
              <a:defRPr lang="en-US"/>
            </a:defPPr>
            <a:lvl1pPr algn="ctr" defTabSz="1219109" fontAlgn="ctr">
              <a:defRPr sz="1100">
                <a:solidFill>
                  <a:schemeClr val="bg1"/>
                </a:solidFill>
                <a:latin typeface="Huawei Sans" panose="020C0503030203020204" pitchFamily="34" charset="0"/>
                <a:ea typeface="方正兰亭黑简体" panose="02000000000000000000" pitchFamily="2" charset="-122"/>
                <a:cs typeface="Arial" panose="020B0604020202020204" pitchFamily="34" charset="0"/>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en-US" altLang="zh-CN" sz="1200" dirty="0">
                <a:sym typeface="Huawei Sans" panose="020C0503030203020204" pitchFamily="34" charset="0"/>
              </a:rPr>
              <a:t>MDM</a:t>
            </a:r>
          </a:p>
        </p:txBody>
      </p:sp>
      <p:sp>
        <p:nvSpPr>
          <p:cNvPr id="37" name="453896541"/>
          <p:cNvSpPr txBox="1">
            <a:spLocks noChangeArrowheads="1"/>
          </p:cNvSpPr>
          <p:nvPr/>
        </p:nvSpPr>
        <p:spPr bwMode="gray">
          <a:xfrm>
            <a:off x="4332039" y="1846217"/>
            <a:ext cx="914760" cy="463295"/>
          </a:xfrm>
          <a:prstGeom prst="rect">
            <a:avLst/>
          </a:prstGeom>
          <a:solidFill>
            <a:srgbClr val="54C1CF"/>
          </a:solidFill>
          <a:ln w="9525">
            <a:noFill/>
            <a:miter lim="800000"/>
            <a:headEnd/>
            <a:tailEnd/>
          </a:ln>
        </p:spPr>
        <p:txBody>
          <a:bodyPr wrap="square" lIns="0" tIns="0" rIns="0" bIns="0" anchor="ctr"/>
          <a:lstStyle>
            <a:defPPr>
              <a:defRPr lang="en-US"/>
            </a:defPPr>
            <a:lvl1pPr algn="ctr" defTabSz="1219109" fontAlgn="ctr">
              <a:defRPr sz="1100">
                <a:solidFill>
                  <a:schemeClr val="bg1"/>
                </a:solidFill>
                <a:latin typeface="Huawei Sans" panose="020C0503030203020204" pitchFamily="34" charset="0"/>
                <a:ea typeface="方正兰亭黑简体" panose="02000000000000000000" pitchFamily="2" charset="-122"/>
                <a:cs typeface="Arial" panose="020B0604020202020204" pitchFamily="34" charset="0"/>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en-US" altLang="zh-CN" sz="1200" dirty="0">
                <a:sym typeface="Huawei Sans" panose="020C0503030203020204" pitchFamily="34" charset="0"/>
              </a:rPr>
              <a:t>e-Schoolbag</a:t>
            </a:r>
          </a:p>
        </p:txBody>
      </p:sp>
      <p:sp>
        <p:nvSpPr>
          <p:cNvPr id="38" name="1099195176"/>
          <p:cNvSpPr txBox="1">
            <a:spLocks noChangeArrowheads="1"/>
          </p:cNvSpPr>
          <p:nvPr/>
        </p:nvSpPr>
        <p:spPr bwMode="gray">
          <a:xfrm>
            <a:off x="6732971" y="1846217"/>
            <a:ext cx="1077770" cy="463295"/>
          </a:xfrm>
          <a:prstGeom prst="rect">
            <a:avLst/>
          </a:prstGeom>
          <a:solidFill>
            <a:srgbClr val="54C1CF"/>
          </a:solidFill>
          <a:ln w="9525">
            <a:noFill/>
            <a:miter lim="800000"/>
            <a:headEnd/>
            <a:tailEnd/>
          </a:ln>
        </p:spPr>
        <p:txBody>
          <a:bodyPr wrap="square" lIns="0" tIns="0" rIns="0" bIns="0" anchor="ctr"/>
          <a:lstStyle>
            <a:defPPr>
              <a:defRPr lang="en-US"/>
            </a:defPPr>
            <a:lvl1pPr algn="ctr" defTabSz="1219109" fontAlgn="ctr">
              <a:defRPr sz="1100">
                <a:solidFill>
                  <a:schemeClr val="bg1"/>
                </a:solidFill>
                <a:latin typeface="Huawei Sans" panose="020C0503030203020204" pitchFamily="34" charset="0"/>
                <a:ea typeface="方正兰亭黑简体" panose="02000000000000000000" pitchFamily="2" charset="-122"/>
                <a:cs typeface="Arial" panose="020B0604020202020204" pitchFamily="34" charset="0"/>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en-US" altLang="zh-CN" sz="1200" dirty="0">
                <a:sym typeface="Huawei Sans" panose="020C0503030203020204" pitchFamily="34" charset="0"/>
              </a:rPr>
              <a:t>Asset management</a:t>
            </a:r>
          </a:p>
        </p:txBody>
      </p:sp>
      <p:sp>
        <p:nvSpPr>
          <p:cNvPr id="39" name="1680508374"/>
          <p:cNvSpPr txBox="1">
            <a:spLocks noChangeArrowheads="1"/>
          </p:cNvSpPr>
          <p:nvPr/>
        </p:nvSpPr>
        <p:spPr bwMode="gray">
          <a:xfrm>
            <a:off x="5451000" y="1846217"/>
            <a:ext cx="1077770" cy="463295"/>
          </a:xfrm>
          <a:prstGeom prst="rect">
            <a:avLst/>
          </a:prstGeom>
          <a:solidFill>
            <a:srgbClr val="54C1CF"/>
          </a:solidFill>
          <a:ln w="9525">
            <a:noFill/>
            <a:miter lim="800000"/>
            <a:headEnd/>
            <a:tailEnd/>
          </a:ln>
        </p:spPr>
        <p:txBody>
          <a:bodyPr wrap="square" lIns="0" tIns="0" rIns="0" bIns="0" anchor="ctr"/>
          <a:lstStyle>
            <a:defPPr>
              <a:defRPr lang="en-US"/>
            </a:defPPr>
            <a:lvl1pPr algn="ctr" defTabSz="1219109" fontAlgn="ctr">
              <a:defRPr sz="1100">
                <a:solidFill>
                  <a:schemeClr val="bg1"/>
                </a:solidFill>
                <a:latin typeface="Huawei Sans" panose="020C0503030203020204" pitchFamily="34" charset="0"/>
                <a:ea typeface="方正兰亭黑简体" panose="02000000000000000000" pitchFamily="2" charset="-122"/>
                <a:cs typeface="Arial" panose="020B0604020202020204" pitchFamily="34" charset="0"/>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en-US" altLang="zh-CN" sz="1200" dirty="0">
                <a:sym typeface="Huawei Sans" panose="020C0503030203020204" pitchFamily="34" charset="0"/>
              </a:rPr>
              <a:t>Health management</a:t>
            </a:r>
          </a:p>
        </p:txBody>
      </p:sp>
      <p:sp>
        <p:nvSpPr>
          <p:cNvPr id="40" name="1680508374"/>
          <p:cNvSpPr txBox="1">
            <a:spLocks noChangeArrowheads="1"/>
          </p:cNvSpPr>
          <p:nvPr/>
        </p:nvSpPr>
        <p:spPr bwMode="gray">
          <a:xfrm>
            <a:off x="2094117" y="1846217"/>
            <a:ext cx="914760" cy="463295"/>
          </a:xfrm>
          <a:prstGeom prst="rect">
            <a:avLst/>
          </a:prstGeom>
          <a:solidFill>
            <a:srgbClr val="54C1CF"/>
          </a:solidFill>
          <a:ln w="9525">
            <a:no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AAA</a:t>
            </a:r>
          </a:p>
        </p:txBody>
      </p:sp>
      <p:sp>
        <p:nvSpPr>
          <p:cNvPr id="41" name="1099195176"/>
          <p:cNvSpPr txBox="1">
            <a:spLocks noChangeArrowheads="1"/>
          </p:cNvSpPr>
          <p:nvPr/>
        </p:nvSpPr>
        <p:spPr bwMode="gray">
          <a:xfrm>
            <a:off x="8014942" y="1846217"/>
            <a:ext cx="914760" cy="463295"/>
          </a:xfrm>
          <a:prstGeom prst="rect">
            <a:avLst/>
          </a:prstGeom>
          <a:solidFill>
            <a:srgbClr val="54C1CF"/>
          </a:solidFill>
          <a:ln w="9525">
            <a:noFill/>
            <a:miter lim="800000"/>
            <a:headEnd/>
            <a:tailEnd/>
          </a:ln>
        </p:spPr>
        <p:txBody>
          <a:bodyPr wrap="square" lIns="0" tIns="0" rIns="0" bIns="0" anchor="ctr"/>
          <a:lstStyle>
            <a:defPPr>
              <a:defRPr lang="en-US"/>
            </a:defPPr>
            <a:lvl1pPr algn="ctr" defTabSz="1219109" fontAlgn="ctr">
              <a:defRPr sz="1100">
                <a:solidFill>
                  <a:schemeClr val="bg1"/>
                </a:solidFill>
                <a:latin typeface="Huawei Sans" panose="020C0503030203020204" pitchFamily="34" charset="0"/>
                <a:ea typeface="方正兰亭黑简体" panose="02000000000000000000" pitchFamily="2" charset="-122"/>
                <a:cs typeface="Arial" panose="020B0604020202020204" pitchFamily="34" charset="0"/>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en-US" altLang="zh-CN" sz="1200">
                <a:sym typeface="Huawei Sans" panose="020C0503030203020204" pitchFamily="34" charset="0"/>
              </a:rPr>
              <a:t>……</a:t>
            </a:r>
            <a:endParaRPr lang="en-US" altLang="zh-CN" sz="1200" dirty="0">
              <a:sym typeface="Huawei Sans" panose="020C0503030203020204" pitchFamily="34" charset="0"/>
            </a:endParaRPr>
          </a:p>
        </p:txBody>
      </p:sp>
      <p:sp>
        <p:nvSpPr>
          <p:cNvPr id="42" name="1099195176"/>
          <p:cNvSpPr txBox="1">
            <a:spLocks noChangeArrowheads="1"/>
          </p:cNvSpPr>
          <p:nvPr/>
        </p:nvSpPr>
        <p:spPr bwMode="gray">
          <a:xfrm>
            <a:off x="9133903" y="1846217"/>
            <a:ext cx="914760" cy="463295"/>
          </a:xfrm>
          <a:prstGeom prst="rect">
            <a:avLst/>
          </a:prstGeom>
          <a:solidFill>
            <a:srgbClr val="54C1CF"/>
          </a:solidFill>
          <a:ln w="9525">
            <a:noFill/>
            <a:miter lim="800000"/>
            <a:headEnd/>
            <a:tailEnd/>
          </a:ln>
        </p:spPr>
        <p:txBody>
          <a:bodyPr wrap="square" lIns="0" tIns="0" rIns="0" bIns="0" anchor="ctr"/>
          <a:lstStyle>
            <a:defPPr>
              <a:defRPr lang="en-US"/>
            </a:defPPr>
            <a:lvl1pPr algn="ctr" defTabSz="1219109" fontAlgn="ctr">
              <a:defRPr sz="1100">
                <a:solidFill>
                  <a:schemeClr val="bg1"/>
                </a:solidFill>
                <a:latin typeface="Huawei Sans" panose="020C0503030203020204" pitchFamily="34" charset="0"/>
                <a:ea typeface="方正兰亭黑简体" panose="02000000000000000000" pitchFamily="2" charset="-122"/>
                <a:cs typeface="Arial" panose="020B0604020202020204" pitchFamily="34" charset="0"/>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en-US" altLang="zh-CN" sz="1200" dirty="0">
                <a:sym typeface="Huawei Sans" panose="020C0503030203020204" pitchFamily="34" charset="0"/>
              </a:rPr>
              <a:t>Intelligent OAM</a:t>
            </a:r>
          </a:p>
        </p:txBody>
      </p:sp>
      <p:pic>
        <p:nvPicPr>
          <p:cNvPr id="43" name="图片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067170" y="3092563"/>
            <a:ext cx="1971916" cy="363673"/>
          </a:xfrm>
          <a:prstGeom prst="rect">
            <a:avLst/>
          </a:prstGeom>
        </p:spPr>
      </p:pic>
      <p:sp>
        <p:nvSpPr>
          <p:cNvPr id="46" name="梯形 45"/>
          <p:cNvSpPr/>
          <p:nvPr/>
        </p:nvSpPr>
        <p:spPr bwMode="gray">
          <a:xfrm>
            <a:off x="3936101" y="3880661"/>
            <a:ext cx="4319798" cy="983368"/>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7" name="组合 46"/>
          <p:cNvGrpSpPr/>
          <p:nvPr/>
        </p:nvGrpSpPr>
        <p:grpSpPr bwMode="gray">
          <a:xfrm>
            <a:off x="4659165" y="4018064"/>
            <a:ext cx="838345" cy="484231"/>
            <a:chOff x="6542330" y="3925559"/>
            <a:chExt cx="838345" cy="484231"/>
          </a:xfrm>
        </p:grpSpPr>
        <p:sp>
          <p:nvSpPr>
            <p:cNvPr id="48" name="Freeform 159"/>
            <p:cNvSpPr/>
            <p:nvPr/>
          </p:nvSpPr>
          <p:spPr bwMode="gray">
            <a:xfrm flipH="1">
              <a:off x="6542330" y="3925559"/>
              <a:ext cx="838345" cy="484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6595057" y="4068978"/>
              <a:ext cx="732893"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3" name="组合 52"/>
          <p:cNvGrpSpPr/>
          <p:nvPr/>
        </p:nvGrpSpPr>
        <p:grpSpPr bwMode="gray">
          <a:xfrm>
            <a:off x="6691780" y="4018064"/>
            <a:ext cx="838345" cy="484231"/>
            <a:chOff x="6542330" y="3925559"/>
            <a:chExt cx="838345" cy="484231"/>
          </a:xfrm>
        </p:grpSpPr>
        <p:sp>
          <p:nvSpPr>
            <p:cNvPr id="54" name="Freeform 159"/>
            <p:cNvSpPr/>
            <p:nvPr/>
          </p:nvSpPr>
          <p:spPr bwMode="gray">
            <a:xfrm flipH="1">
              <a:off x="6542330" y="3925559"/>
              <a:ext cx="838345" cy="484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bwMode="gray">
            <a:xfrm>
              <a:off x="6595057" y="4068978"/>
              <a:ext cx="732893"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7" name="直接箭头连接符 56"/>
          <p:cNvCxnSpPr>
            <a:stCxn id="48" idx="9"/>
            <a:endCxn id="51" idx="21"/>
          </p:cNvCxnSpPr>
          <p:nvPr/>
        </p:nvCxnSpPr>
        <p:spPr bwMode="gray">
          <a:xfrm>
            <a:off x="5373848" y="4501502"/>
            <a:ext cx="301120" cy="186165"/>
          </a:xfrm>
          <a:prstGeom prst="straightConnector1">
            <a:avLst/>
          </a:prstGeom>
          <a:ln>
            <a:solidFill>
              <a:schemeClr val="bg1">
                <a:lumMod val="6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51" idx="8"/>
            <a:endCxn id="54" idx="20"/>
          </p:cNvCxnSpPr>
          <p:nvPr/>
        </p:nvCxnSpPr>
        <p:spPr bwMode="gray">
          <a:xfrm flipV="1">
            <a:off x="6513313" y="4499355"/>
            <a:ext cx="282140" cy="179498"/>
          </a:xfrm>
          <a:prstGeom prst="straightConnector1">
            <a:avLst/>
          </a:prstGeom>
          <a:ln>
            <a:solidFill>
              <a:schemeClr val="bg1">
                <a:lumMod val="6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bwMode="gray">
          <a:xfrm flipH="1" flipV="1">
            <a:off x="5497510" y="4258289"/>
            <a:ext cx="1194270" cy="0"/>
          </a:xfrm>
          <a:prstGeom prst="straightConnector1">
            <a:avLst/>
          </a:prstGeom>
          <a:ln>
            <a:solidFill>
              <a:schemeClr val="bg1">
                <a:lumMod val="6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51" idx="21"/>
          </p:cNvCxnSpPr>
          <p:nvPr/>
        </p:nvCxnSpPr>
        <p:spPr bwMode="gray">
          <a:xfrm flipH="1">
            <a:off x="5674968" y="4040728"/>
            <a:ext cx="52725" cy="646939"/>
          </a:xfrm>
          <a:prstGeom prst="straightConnector1">
            <a:avLst/>
          </a:prstGeom>
          <a:ln>
            <a:solidFill>
              <a:schemeClr val="bg1">
                <a:lumMod val="6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51" idx="8"/>
          </p:cNvCxnSpPr>
          <p:nvPr/>
        </p:nvCxnSpPr>
        <p:spPr bwMode="gray">
          <a:xfrm flipV="1">
            <a:off x="6513313" y="3988569"/>
            <a:ext cx="105111" cy="690284"/>
          </a:xfrm>
          <a:prstGeom prst="straightConnector1">
            <a:avLst/>
          </a:prstGeom>
          <a:ln>
            <a:solidFill>
              <a:schemeClr val="bg1">
                <a:lumMod val="6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0" name="组合 49"/>
          <p:cNvGrpSpPr/>
          <p:nvPr/>
        </p:nvGrpSpPr>
        <p:grpSpPr bwMode="gray">
          <a:xfrm>
            <a:off x="5674968" y="4348174"/>
            <a:ext cx="838345" cy="484231"/>
            <a:chOff x="6542330" y="3925559"/>
            <a:chExt cx="838345" cy="484231"/>
          </a:xfrm>
        </p:grpSpPr>
        <p:sp>
          <p:nvSpPr>
            <p:cNvPr id="51" name="Freeform 159"/>
            <p:cNvSpPr/>
            <p:nvPr/>
          </p:nvSpPr>
          <p:spPr bwMode="gray">
            <a:xfrm flipH="1">
              <a:off x="6542330" y="3925559"/>
              <a:ext cx="838345" cy="484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6595057" y="4068978"/>
              <a:ext cx="732893"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80" name="直接箭头连接符 79"/>
          <p:cNvCxnSpPr/>
          <p:nvPr/>
        </p:nvCxnSpPr>
        <p:spPr bwMode="gray">
          <a:xfrm flipH="1">
            <a:off x="5524408" y="3988569"/>
            <a:ext cx="1094016" cy="269720"/>
          </a:xfrm>
          <a:prstGeom prst="straightConnector1">
            <a:avLst/>
          </a:prstGeom>
          <a:ln>
            <a:solidFill>
              <a:schemeClr val="bg1">
                <a:lumMod val="6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bwMode="gray">
          <a:xfrm flipH="1" flipV="1">
            <a:off x="5712418" y="4009250"/>
            <a:ext cx="991587" cy="233639"/>
          </a:xfrm>
          <a:prstGeom prst="straightConnector1">
            <a:avLst/>
          </a:prstGeom>
          <a:ln>
            <a:solidFill>
              <a:schemeClr val="bg1">
                <a:lumMod val="6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3" name="矩形 317"/>
          <p:cNvSpPr/>
          <p:nvPr/>
        </p:nvSpPr>
        <p:spPr bwMode="gray">
          <a:xfrm>
            <a:off x="7335343" y="4589104"/>
            <a:ext cx="863553"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62" fontAlgn="base"/>
            <a:r>
              <a:rPr lang="zh-CN" altLang="en-US"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虚拟网络</a:t>
            </a:r>
            <a:endParaRPr lang="en-US" altLang="zh-CN"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94" name="直接连接符 93"/>
          <p:cNvCxnSpPr/>
          <p:nvPr/>
        </p:nvCxnSpPr>
        <p:spPr bwMode="gray">
          <a:xfrm>
            <a:off x="7661860" y="5427617"/>
            <a:ext cx="10385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a:stCxn id="100" idx="3"/>
            <a:endCxn id="99" idx="1"/>
          </p:cNvCxnSpPr>
          <p:nvPr/>
        </p:nvCxnSpPr>
        <p:spPr bwMode="gray">
          <a:xfrm>
            <a:off x="5304521" y="5130600"/>
            <a:ext cx="8259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stCxn id="99" idx="3"/>
            <a:endCxn id="112" idx="3"/>
          </p:cNvCxnSpPr>
          <p:nvPr/>
        </p:nvCxnSpPr>
        <p:spPr bwMode="gray">
          <a:xfrm>
            <a:off x="6536146" y="5130600"/>
            <a:ext cx="1180233" cy="387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stCxn id="102" idx="3"/>
            <a:endCxn id="112" idx="3"/>
          </p:cNvCxnSpPr>
          <p:nvPr/>
        </p:nvCxnSpPr>
        <p:spPr bwMode="gray">
          <a:xfrm flipV="1">
            <a:off x="6536146" y="5518049"/>
            <a:ext cx="1180233" cy="2970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103" idx="3"/>
            <a:endCxn id="102" idx="1"/>
          </p:cNvCxnSpPr>
          <p:nvPr/>
        </p:nvCxnSpPr>
        <p:spPr bwMode="gray">
          <a:xfrm>
            <a:off x="5304521" y="5815067"/>
            <a:ext cx="8259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99" name="图片 87" descr="汇聚交换机.png"/>
          <p:cNvPicPr>
            <a:picLocks noChangeAspect="1"/>
          </p:cNvPicPr>
          <p:nvPr/>
        </p:nvPicPr>
        <p:blipFill>
          <a:blip r:embed="rId4" cstate="print"/>
          <a:stretch>
            <a:fillRect/>
          </a:stretch>
        </p:blipFill>
        <p:spPr bwMode="gray">
          <a:xfrm>
            <a:off x="6130436" y="4964627"/>
            <a:ext cx="405710" cy="331945"/>
          </a:xfrm>
          <a:prstGeom prst="rect">
            <a:avLst/>
          </a:prstGeom>
        </p:spPr>
      </p:pic>
      <p:pic>
        <p:nvPicPr>
          <p:cNvPr id="100" name="图片 76" descr="接入交换机.png"/>
          <p:cNvPicPr>
            <a:picLocks noChangeAspect="1"/>
          </p:cNvPicPr>
          <p:nvPr/>
        </p:nvPicPr>
        <p:blipFill>
          <a:blip r:embed="rId5" cstate="print"/>
          <a:stretch>
            <a:fillRect/>
          </a:stretch>
        </p:blipFill>
        <p:spPr bwMode="gray">
          <a:xfrm>
            <a:off x="4898811" y="4964627"/>
            <a:ext cx="405710" cy="331945"/>
          </a:xfrm>
          <a:prstGeom prst="rect">
            <a:avLst/>
          </a:prstGeom>
        </p:spPr>
      </p:pic>
      <p:pic>
        <p:nvPicPr>
          <p:cNvPr id="101" name="图片 105" descr="AP.png"/>
          <p:cNvPicPr>
            <a:picLocks noChangeAspect="1"/>
          </p:cNvPicPr>
          <p:nvPr/>
        </p:nvPicPr>
        <p:blipFill>
          <a:blip r:embed="rId6" cstate="print"/>
          <a:stretch>
            <a:fillRect/>
          </a:stretch>
        </p:blipFill>
        <p:spPr bwMode="gray">
          <a:xfrm>
            <a:off x="3732350" y="5649094"/>
            <a:ext cx="405710" cy="331945"/>
          </a:xfrm>
          <a:prstGeom prst="rect">
            <a:avLst/>
          </a:prstGeom>
        </p:spPr>
      </p:pic>
      <p:pic>
        <p:nvPicPr>
          <p:cNvPr id="102" name="图片 87" descr="汇聚交换机.png"/>
          <p:cNvPicPr>
            <a:picLocks noChangeAspect="1"/>
          </p:cNvPicPr>
          <p:nvPr/>
        </p:nvPicPr>
        <p:blipFill>
          <a:blip r:embed="rId4" cstate="print"/>
          <a:stretch>
            <a:fillRect/>
          </a:stretch>
        </p:blipFill>
        <p:spPr bwMode="gray">
          <a:xfrm>
            <a:off x="6130436" y="5649094"/>
            <a:ext cx="405710" cy="331945"/>
          </a:xfrm>
          <a:prstGeom prst="rect">
            <a:avLst/>
          </a:prstGeom>
        </p:spPr>
      </p:pic>
      <p:pic>
        <p:nvPicPr>
          <p:cNvPr id="103" name="图片 76" descr="接入交换机.png"/>
          <p:cNvPicPr>
            <a:picLocks noChangeAspect="1"/>
          </p:cNvPicPr>
          <p:nvPr/>
        </p:nvPicPr>
        <p:blipFill>
          <a:blip r:embed="rId5" cstate="print"/>
          <a:stretch>
            <a:fillRect/>
          </a:stretch>
        </p:blipFill>
        <p:spPr bwMode="gray">
          <a:xfrm>
            <a:off x="4898811" y="5649094"/>
            <a:ext cx="405710" cy="331945"/>
          </a:xfrm>
          <a:prstGeom prst="rect">
            <a:avLst/>
          </a:prstGeom>
        </p:spPr>
      </p:pic>
      <p:grpSp>
        <p:nvGrpSpPr>
          <p:cNvPr id="104" name="组合 103"/>
          <p:cNvGrpSpPr/>
          <p:nvPr/>
        </p:nvGrpSpPr>
        <p:grpSpPr bwMode="gray">
          <a:xfrm rot="19045468">
            <a:off x="7644607" y="5387512"/>
            <a:ext cx="148072" cy="714718"/>
            <a:chOff x="7470759" y="4815953"/>
            <a:chExt cx="148072" cy="540507"/>
          </a:xfrm>
        </p:grpSpPr>
        <p:cxnSp>
          <p:nvCxnSpPr>
            <p:cNvPr id="105" name="直接连接符 104"/>
            <p:cNvCxnSpPr/>
            <p:nvPr/>
          </p:nvCxnSpPr>
          <p:spPr bwMode="gray">
            <a:xfrm>
              <a:off x="7470759" y="4815953"/>
              <a:ext cx="0" cy="540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bwMode="gray">
            <a:xfrm>
              <a:off x="7544795" y="4815953"/>
              <a:ext cx="0" cy="540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bwMode="gray">
            <a:xfrm>
              <a:off x="7618831" y="4815953"/>
              <a:ext cx="0" cy="540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8"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7755594" y="5852037"/>
            <a:ext cx="405710" cy="331945"/>
          </a:xfrm>
          <a:prstGeom prst="rect">
            <a:avLst/>
          </a:prstGeom>
        </p:spPr>
      </p:pic>
      <p:grpSp>
        <p:nvGrpSpPr>
          <p:cNvPr id="109" name="组合 108"/>
          <p:cNvGrpSpPr/>
          <p:nvPr/>
        </p:nvGrpSpPr>
        <p:grpSpPr bwMode="gray">
          <a:xfrm>
            <a:off x="8335834" y="5120528"/>
            <a:ext cx="1240662" cy="659131"/>
            <a:chOff x="6317561" y="3933067"/>
            <a:chExt cx="1240662" cy="659131"/>
          </a:xfrm>
        </p:grpSpPr>
        <p:sp>
          <p:nvSpPr>
            <p:cNvPr id="110" name="Freeform 159"/>
            <p:cNvSpPr/>
            <p:nvPr/>
          </p:nvSpPr>
          <p:spPr bwMode="gray">
            <a:xfrm flipH="1">
              <a:off x="6317561" y="3933067"/>
              <a:ext cx="1240662" cy="64853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文本框 110"/>
            <p:cNvSpPr txBox="1"/>
            <p:nvPr/>
          </p:nvSpPr>
          <p:spPr bwMode="gray">
            <a:xfrm>
              <a:off x="6510899" y="4068978"/>
              <a:ext cx="901209" cy="523220"/>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Internet/</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WAN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12" name="图片 86" descr="核心交换机.png"/>
          <p:cNvPicPr>
            <a:picLocks noChangeAspect="1"/>
          </p:cNvPicPr>
          <p:nvPr/>
        </p:nvPicPr>
        <p:blipFill>
          <a:blip r:embed="rId8" cstate="print"/>
          <a:stretch>
            <a:fillRect/>
          </a:stretch>
        </p:blipFill>
        <p:spPr bwMode="gray">
          <a:xfrm>
            <a:off x="7311580" y="5352449"/>
            <a:ext cx="404799" cy="331200"/>
          </a:xfrm>
          <a:prstGeom prst="rect">
            <a:avLst/>
          </a:prstGeom>
        </p:spPr>
      </p:pic>
      <p:sp>
        <p:nvSpPr>
          <p:cNvPr id="113" name="圆角矩形 112"/>
          <p:cNvSpPr/>
          <p:nvPr/>
        </p:nvSpPr>
        <p:spPr bwMode="gray">
          <a:xfrm>
            <a:off x="6424755" y="5843152"/>
            <a:ext cx="731215" cy="164874"/>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Native AC</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矩形 317"/>
          <p:cNvSpPr/>
          <p:nvPr/>
        </p:nvSpPr>
        <p:spPr bwMode="gray">
          <a:xfrm>
            <a:off x="3768593" y="5942210"/>
            <a:ext cx="334561"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AP</a:t>
            </a:r>
          </a:p>
        </p:txBody>
      </p:sp>
      <p:sp>
        <p:nvSpPr>
          <p:cNvPr id="115" name="矩形 317"/>
          <p:cNvSpPr/>
          <p:nvPr/>
        </p:nvSpPr>
        <p:spPr bwMode="gray">
          <a:xfrm>
            <a:off x="4913546" y="5942210"/>
            <a:ext cx="376239"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a:t>
            </a:r>
          </a:p>
        </p:txBody>
      </p:sp>
      <p:sp>
        <p:nvSpPr>
          <p:cNvPr id="116" name="矩形 317"/>
          <p:cNvSpPr/>
          <p:nvPr/>
        </p:nvSpPr>
        <p:spPr bwMode="gray">
          <a:xfrm>
            <a:off x="6145171" y="5942210"/>
            <a:ext cx="376239"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a:t>
            </a:r>
          </a:p>
        </p:txBody>
      </p:sp>
      <p:sp>
        <p:nvSpPr>
          <p:cNvPr id="117" name="矩形 317"/>
          <p:cNvSpPr/>
          <p:nvPr/>
        </p:nvSpPr>
        <p:spPr bwMode="gray">
          <a:xfrm>
            <a:off x="7297384" y="5120528"/>
            <a:ext cx="376239"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a:t>
            </a:r>
          </a:p>
        </p:txBody>
      </p:sp>
      <p:sp>
        <p:nvSpPr>
          <p:cNvPr id="118" name="矩形 317"/>
          <p:cNvSpPr/>
          <p:nvPr/>
        </p:nvSpPr>
        <p:spPr bwMode="gray">
          <a:xfrm>
            <a:off x="4913546" y="5279264"/>
            <a:ext cx="376239"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a:t>
            </a:r>
          </a:p>
        </p:txBody>
      </p:sp>
      <p:sp>
        <p:nvSpPr>
          <p:cNvPr id="119" name="矩形 317"/>
          <p:cNvSpPr/>
          <p:nvPr/>
        </p:nvSpPr>
        <p:spPr bwMode="gray">
          <a:xfrm>
            <a:off x="6145171" y="5279264"/>
            <a:ext cx="376239"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SW</a:t>
            </a:r>
          </a:p>
        </p:txBody>
      </p:sp>
      <p:sp>
        <p:nvSpPr>
          <p:cNvPr id="120" name="矩形 317"/>
          <p:cNvSpPr/>
          <p:nvPr/>
        </p:nvSpPr>
        <p:spPr bwMode="gray">
          <a:xfrm>
            <a:off x="8125706" y="5917175"/>
            <a:ext cx="376239"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FW</a:t>
            </a:r>
          </a:p>
        </p:txBody>
      </p:sp>
      <p:cxnSp>
        <p:nvCxnSpPr>
          <p:cNvPr id="132" name="直接连接符 131"/>
          <p:cNvCxnSpPr>
            <a:stCxn id="101" idx="3"/>
            <a:endCxn id="103" idx="1"/>
          </p:cNvCxnSpPr>
          <p:nvPr/>
        </p:nvCxnSpPr>
        <p:spPr bwMode="gray">
          <a:xfrm>
            <a:off x="4138060" y="5815067"/>
            <a:ext cx="7607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矩形 317"/>
          <p:cNvSpPr/>
          <p:nvPr/>
        </p:nvSpPr>
        <p:spPr bwMode="gray">
          <a:xfrm>
            <a:off x="9390024" y="5863952"/>
            <a:ext cx="863553"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62" fontAlgn="base"/>
            <a:r>
              <a:rPr lang="zh-CN" altLang="en-US"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物理网络</a:t>
            </a:r>
            <a:endParaRPr lang="en-US" altLang="zh-CN"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1" name="Right Arrow 157"/>
          <p:cNvSpPr/>
          <p:nvPr/>
        </p:nvSpPr>
        <p:spPr bwMode="gray">
          <a:xfrm rot="16200000">
            <a:off x="5800409" y="2115224"/>
            <a:ext cx="511266" cy="1124764"/>
          </a:xfrm>
          <a:prstGeom prst="rightArrow">
            <a:avLst>
              <a:gd name="adj1" fmla="val 40000"/>
              <a:gd name="adj2" fmla="val 84182"/>
            </a:avLst>
          </a:prstGeom>
          <a:gradFill flip="none" rotWithShape="1">
            <a:gsLst>
              <a:gs pos="53000">
                <a:schemeClr val="accent1">
                  <a:lumMod val="5000"/>
                  <a:lumOff val="95000"/>
                  <a:alpha val="0"/>
                </a:schemeClr>
              </a:gs>
              <a:gs pos="24000">
                <a:srgbClr val="FBF6E5"/>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矩形 317"/>
          <p:cNvSpPr/>
          <p:nvPr/>
        </p:nvSpPr>
        <p:spPr bwMode="gray">
          <a:xfrm>
            <a:off x="5719605" y="2600845"/>
            <a:ext cx="685619"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62" fontAlgn="base"/>
            <a:r>
              <a:rPr lang="zh-CN" altLang="en-US" sz="12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开放</a:t>
            </a:r>
            <a:r>
              <a:rPr lang="en-US" altLang="zh-CN" sz="12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API</a:t>
            </a:r>
          </a:p>
        </p:txBody>
      </p:sp>
      <p:sp>
        <p:nvSpPr>
          <p:cNvPr id="143" name="Right Arrow 157"/>
          <p:cNvSpPr/>
          <p:nvPr/>
        </p:nvSpPr>
        <p:spPr bwMode="gray">
          <a:xfrm rot="5400000" flipV="1">
            <a:off x="4142691" y="3281013"/>
            <a:ext cx="630130" cy="1124764"/>
          </a:xfrm>
          <a:prstGeom prst="rightArrow">
            <a:avLst>
              <a:gd name="adj1" fmla="val 40000"/>
              <a:gd name="adj2" fmla="val 68459"/>
            </a:avLst>
          </a:prstGeom>
          <a:gradFill flip="none" rotWithShape="1">
            <a:gsLst>
              <a:gs pos="53000">
                <a:schemeClr val="accent1">
                  <a:lumMod val="5000"/>
                  <a:lumOff val="95000"/>
                  <a:alpha val="0"/>
                </a:schemeClr>
              </a:gs>
              <a:gs pos="24000">
                <a:srgbClr val="FBF6E5"/>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矩形 317"/>
          <p:cNvSpPr/>
          <p:nvPr/>
        </p:nvSpPr>
        <p:spPr bwMode="gray">
          <a:xfrm>
            <a:off x="3995821" y="3501305"/>
            <a:ext cx="906833" cy="626701"/>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SNMP</a:t>
            </a:r>
          </a:p>
          <a:p>
            <a:pPr algn="ctr" defTabSz="914462" fontAlgn="base"/>
            <a:r>
              <a:rPr lang="en-US" altLang="zh-CN" sz="12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NETCONF/</a:t>
            </a:r>
          </a:p>
          <a:p>
            <a:pPr algn="ctr" defTabSz="914462" fontAlgn="base"/>
            <a:r>
              <a:rPr lang="en-US" altLang="zh-CN" sz="12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YANG</a:t>
            </a:r>
          </a:p>
        </p:txBody>
      </p:sp>
      <p:sp>
        <p:nvSpPr>
          <p:cNvPr id="145" name="Right Arrow 157"/>
          <p:cNvSpPr/>
          <p:nvPr/>
        </p:nvSpPr>
        <p:spPr bwMode="gray">
          <a:xfrm rot="16200000">
            <a:off x="7592017" y="3281013"/>
            <a:ext cx="630130" cy="1124764"/>
          </a:xfrm>
          <a:prstGeom prst="rightArrow">
            <a:avLst>
              <a:gd name="adj1" fmla="val 40000"/>
              <a:gd name="adj2" fmla="val 68459"/>
            </a:avLst>
          </a:prstGeom>
          <a:gradFill flip="none" rotWithShape="1">
            <a:gsLst>
              <a:gs pos="53000">
                <a:schemeClr val="accent1">
                  <a:lumMod val="5000"/>
                  <a:lumOff val="95000"/>
                  <a:alpha val="0"/>
                </a:schemeClr>
              </a:gs>
              <a:gs pos="24000">
                <a:srgbClr val="FBF6E5"/>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矩形 317"/>
          <p:cNvSpPr/>
          <p:nvPr/>
        </p:nvSpPr>
        <p:spPr bwMode="gray">
          <a:xfrm>
            <a:off x="7479247" y="3709920"/>
            <a:ext cx="847522" cy="257369"/>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62" fontAlgn="base"/>
            <a:r>
              <a:rPr lang="en-US" altLang="zh-CN" sz="12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Telemetry</a:t>
            </a:r>
          </a:p>
        </p:txBody>
      </p:sp>
    </p:spTree>
    <p:extLst>
      <p:ext uri="{BB962C8B-B14F-4D97-AF65-F5344CB8AC3E}">
        <p14:creationId xmlns:p14="http://schemas.microsoft.com/office/powerpoint/2010/main" val="2387242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415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梯形 4"/>
          <p:cNvSpPr/>
          <p:nvPr/>
        </p:nvSpPr>
        <p:spPr bwMode="gray">
          <a:xfrm>
            <a:off x="462793" y="4417791"/>
            <a:ext cx="6050762" cy="1520276"/>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100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梯形 5"/>
          <p:cNvSpPr/>
          <p:nvPr/>
        </p:nvSpPr>
        <p:spPr bwMode="gray">
          <a:xfrm>
            <a:off x="462793" y="2726533"/>
            <a:ext cx="6050762" cy="1685757"/>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100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任意多边形 81"/>
          <p:cNvSpPr/>
          <p:nvPr/>
        </p:nvSpPr>
        <p:spPr bwMode="gray">
          <a:xfrm>
            <a:off x="2587186" y="2980443"/>
            <a:ext cx="2339859" cy="1232806"/>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p:txBody>
          <a:bodyPr/>
          <a:lstStyle/>
          <a:p>
            <a:r>
              <a:rPr lang="zh-CN" altLang="en-US" dirty="0">
                <a:sym typeface="Huawei Sans" panose="020C0503030203020204" pitchFamily="34" charset="0"/>
              </a:rPr>
              <a:t>虚拟化园区网络架构</a:t>
            </a:r>
          </a:p>
        </p:txBody>
      </p:sp>
      <p:cxnSp>
        <p:nvCxnSpPr>
          <p:cNvPr id="7" name="直接连接符 6"/>
          <p:cNvCxnSpPr/>
          <p:nvPr/>
        </p:nvCxnSpPr>
        <p:spPr bwMode="gray">
          <a:xfrm flipH="1" flipV="1">
            <a:off x="2715721" y="5227882"/>
            <a:ext cx="1283264" cy="3664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flipH="1">
            <a:off x="2741560" y="4689442"/>
            <a:ext cx="1025914" cy="55235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bwMode="gray">
          <a:xfrm flipV="1">
            <a:off x="3575221" y="4758182"/>
            <a:ext cx="2450448" cy="839468"/>
            <a:chOff x="3911288" y="4456131"/>
            <a:chExt cx="2450448" cy="674979"/>
          </a:xfrm>
        </p:grpSpPr>
        <p:cxnSp>
          <p:nvCxnSpPr>
            <p:cNvPr id="10" name="直接连接符 9"/>
            <p:cNvCxnSpPr/>
            <p:nvPr/>
          </p:nvCxnSpPr>
          <p:spPr bwMode="gray">
            <a:xfrm>
              <a:off x="4393093" y="4456131"/>
              <a:ext cx="13235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flipV="1">
              <a:off x="3911288" y="5131110"/>
              <a:ext cx="1582732"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5800440" y="4456131"/>
              <a:ext cx="561296"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13" name="图片 87" descr="汇聚交换机.png"/>
          <p:cNvPicPr>
            <a:picLocks noChangeAspect="1"/>
          </p:cNvPicPr>
          <p:nvPr/>
        </p:nvPicPr>
        <p:blipFill>
          <a:blip r:embed="rId3"/>
          <a:stretch>
            <a:fillRect/>
          </a:stretch>
        </p:blipFill>
        <p:spPr bwMode="gray">
          <a:xfrm>
            <a:off x="3453018" y="4648508"/>
            <a:ext cx="343433" cy="280992"/>
          </a:xfrm>
          <a:prstGeom prst="rect">
            <a:avLst/>
          </a:prstGeom>
        </p:spPr>
      </p:pic>
      <p:pic>
        <p:nvPicPr>
          <p:cNvPr id="14" name="图片 87" descr="汇聚交换机.png"/>
          <p:cNvPicPr>
            <a:picLocks noChangeAspect="1"/>
          </p:cNvPicPr>
          <p:nvPr/>
        </p:nvPicPr>
        <p:blipFill>
          <a:blip r:embed="rId3"/>
          <a:stretch>
            <a:fillRect/>
          </a:stretch>
        </p:blipFill>
        <p:spPr bwMode="gray">
          <a:xfrm>
            <a:off x="3797545" y="5443976"/>
            <a:ext cx="343433" cy="280992"/>
          </a:xfrm>
          <a:prstGeom prst="rect">
            <a:avLst/>
          </a:prstGeom>
        </p:spPr>
      </p:pic>
      <p:pic>
        <p:nvPicPr>
          <p:cNvPr id="15" name="图片 76" descr="接入交换机.png"/>
          <p:cNvPicPr>
            <a:picLocks noChangeAspect="1"/>
          </p:cNvPicPr>
          <p:nvPr/>
        </p:nvPicPr>
        <p:blipFill>
          <a:blip r:embed="rId4"/>
          <a:stretch>
            <a:fillRect/>
          </a:stretch>
        </p:blipFill>
        <p:spPr bwMode="gray">
          <a:xfrm>
            <a:off x="5231750" y="5443976"/>
            <a:ext cx="343433" cy="280992"/>
          </a:xfrm>
          <a:prstGeom prst="rect">
            <a:avLst/>
          </a:prstGeom>
        </p:spPr>
      </p:pic>
      <p:pic>
        <p:nvPicPr>
          <p:cNvPr id="16" name="图片 15" descr="接入交换机.png"/>
          <p:cNvPicPr>
            <a:picLocks noChangeAspect="1"/>
          </p:cNvPicPr>
          <p:nvPr/>
        </p:nvPicPr>
        <p:blipFill>
          <a:blip r:embed="rId4"/>
          <a:stretch>
            <a:fillRect/>
          </a:stretch>
        </p:blipFill>
        <p:spPr bwMode="gray">
          <a:xfrm>
            <a:off x="4888317" y="4648508"/>
            <a:ext cx="343433" cy="280992"/>
          </a:xfrm>
          <a:prstGeom prst="rect">
            <a:avLst/>
          </a:prstGeom>
        </p:spPr>
      </p:pic>
      <p:cxnSp>
        <p:nvCxnSpPr>
          <p:cNvPr id="17" name="直接连接符 16"/>
          <p:cNvCxnSpPr/>
          <p:nvPr/>
        </p:nvCxnSpPr>
        <p:spPr bwMode="gray">
          <a:xfrm>
            <a:off x="1964772" y="5227886"/>
            <a:ext cx="796587"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8" name="图片 86" descr="核心交换机.png"/>
          <p:cNvPicPr>
            <a:picLocks noChangeAspect="1"/>
          </p:cNvPicPr>
          <p:nvPr/>
        </p:nvPicPr>
        <p:blipFill>
          <a:blip r:embed="rId5"/>
          <a:stretch>
            <a:fillRect/>
          </a:stretch>
        </p:blipFill>
        <p:spPr bwMode="gray">
          <a:xfrm>
            <a:off x="2564161" y="5091388"/>
            <a:ext cx="343433" cy="280992"/>
          </a:xfrm>
          <a:prstGeom prst="rect">
            <a:avLst/>
          </a:prstGeom>
        </p:spPr>
      </p:pic>
      <p:pic>
        <p:nvPicPr>
          <p:cNvPr id="19"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1820217" y="5094717"/>
            <a:ext cx="335297" cy="274335"/>
          </a:xfrm>
          <a:prstGeom prst="rect">
            <a:avLst/>
          </a:prstGeom>
        </p:spPr>
      </p:pic>
      <p:sp>
        <p:nvSpPr>
          <p:cNvPr id="21" name="矩形 20"/>
          <p:cNvSpPr/>
          <p:nvPr/>
        </p:nvSpPr>
        <p:spPr bwMode="gray">
          <a:xfrm>
            <a:off x="573767" y="5616222"/>
            <a:ext cx="2317207" cy="305105"/>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（物理网络层）</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573767" y="4076749"/>
            <a:ext cx="681597" cy="307777"/>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Fabric</a:t>
            </a:r>
          </a:p>
        </p:txBody>
      </p:sp>
      <p:pic>
        <p:nvPicPr>
          <p:cNvPr id="48" name="图片 105" descr="AP.png"/>
          <p:cNvPicPr>
            <a:picLocks noChangeAspect="1"/>
          </p:cNvPicPr>
          <p:nvPr/>
        </p:nvPicPr>
        <p:blipFill>
          <a:blip r:embed="rId7"/>
          <a:stretch>
            <a:fillRect/>
          </a:stretch>
        </p:blipFill>
        <p:spPr bwMode="gray">
          <a:xfrm>
            <a:off x="5906574" y="5447305"/>
            <a:ext cx="335297" cy="274335"/>
          </a:xfrm>
          <a:prstGeom prst="rect">
            <a:avLst/>
          </a:prstGeom>
        </p:spPr>
      </p:pic>
      <p:sp>
        <p:nvSpPr>
          <p:cNvPr id="69" name="矩形 68"/>
          <p:cNvSpPr/>
          <p:nvPr/>
        </p:nvSpPr>
        <p:spPr bwMode="gray">
          <a:xfrm>
            <a:off x="2489655" y="4808395"/>
            <a:ext cx="492443" cy="276999"/>
          </a:xfrm>
          <a:prstGeom prst="rect">
            <a:avLst/>
          </a:prstGeom>
        </p:spPr>
        <p:txBody>
          <a:bodyPr wrap="none">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核心</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3386377" y="4950887"/>
            <a:ext cx="492443" cy="276999"/>
          </a:xfrm>
          <a:prstGeom prst="rect">
            <a:avLst/>
          </a:prstGeom>
        </p:spPr>
        <p:txBody>
          <a:bodyPr wrap="none">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汇聚</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70"/>
          <p:cNvSpPr/>
          <p:nvPr/>
        </p:nvSpPr>
        <p:spPr bwMode="gray">
          <a:xfrm>
            <a:off x="3386377" y="5647064"/>
            <a:ext cx="492443" cy="276999"/>
          </a:xfrm>
          <a:prstGeom prst="rect">
            <a:avLst/>
          </a:prstGeom>
        </p:spPr>
        <p:txBody>
          <a:bodyPr wrap="none">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汇聚</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4807565" y="4950887"/>
            <a:ext cx="492443" cy="276999"/>
          </a:xfrm>
          <a:prstGeom prst="rect">
            <a:avLst/>
          </a:prstGeom>
        </p:spPr>
        <p:txBody>
          <a:bodyPr wrap="none">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接入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72"/>
          <p:cNvSpPr/>
          <p:nvPr/>
        </p:nvSpPr>
        <p:spPr bwMode="gray">
          <a:xfrm>
            <a:off x="4807565" y="5647064"/>
            <a:ext cx="492443" cy="276999"/>
          </a:xfrm>
          <a:prstGeom prst="rect">
            <a:avLst/>
          </a:prstGeom>
        </p:spPr>
        <p:txBody>
          <a:bodyPr wrap="none">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接入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6" name="图片 86" descr="核心交换机.png"/>
          <p:cNvPicPr>
            <a:picLocks noChangeAspect="1"/>
          </p:cNvPicPr>
          <p:nvPr/>
        </p:nvPicPr>
        <p:blipFill>
          <a:blip r:embed="rId5"/>
          <a:stretch>
            <a:fillRect/>
          </a:stretch>
        </p:blipFill>
        <p:spPr bwMode="gray">
          <a:xfrm>
            <a:off x="2421921" y="3579669"/>
            <a:ext cx="343433" cy="280992"/>
          </a:xfrm>
          <a:prstGeom prst="rect">
            <a:avLst/>
          </a:prstGeom>
        </p:spPr>
      </p:pic>
      <p:cxnSp>
        <p:nvCxnSpPr>
          <p:cNvPr id="77" name="直接连接符 76"/>
          <p:cNvCxnSpPr>
            <a:endCxn id="105" idx="1"/>
          </p:cNvCxnSpPr>
          <p:nvPr/>
        </p:nvCxnSpPr>
        <p:spPr bwMode="gray">
          <a:xfrm flipV="1">
            <a:off x="2765354" y="3277285"/>
            <a:ext cx="1618802" cy="399234"/>
          </a:xfrm>
          <a:prstGeom prst="line">
            <a:avLst/>
          </a:prstGeom>
          <a:ln w="19050">
            <a:solidFill>
              <a:srgbClr val="ED6D00"/>
            </a:solidFill>
            <a:prstDash val="sysDot"/>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6" idx="3"/>
            <a:endCxn id="104" idx="1"/>
          </p:cNvCxnSpPr>
          <p:nvPr/>
        </p:nvCxnSpPr>
        <p:spPr bwMode="gray">
          <a:xfrm>
            <a:off x="2765354" y="3720165"/>
            <a:ext cx="1962235" cy="352588"/>
          </a:xfrm>
          <a:prstGeom prst="line">
            <a:avLst/>
          </a:prstGeom>
          <a:ln w="19050">
            <a:solidFill>
              <a:srgbClr val="ED6D00"/>
            </a:solidFill>
            <a:prstDash val="sysDot"/>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83" name="矩形 82"/>
          <p:cNvSpPr/>
          <p:nvPr/>
        </p:nvSpPr>
        <p:spPr bwMode="gray">
          <a:xfrm>
            <a:off x="2292994" y="3872609"/>
            <a:ext cx="651140" cy="276999"/>
          </a:xfrm>
          <a:prstGeom prst="rect">
            <a:avLst/>
          </a:prstGeom>
        </p:spPr>
        <p:txBody>
          <a:bodyPr wrap="none">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Border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矩形 85"/>
          <p:cNvSpPr/>
          <p:nvPr/>
        </p:nvSpPr>
        <p:spPr bwMode="gray">
          <a:xfrm rot="20786260">
            <a:off x="3139754" y="3226260"/>
            <a:ext cx="910827" cy="276999"/>
          </a:xfrm>
          <a:prstGeom prst="rect">
            <a:avLst/>
          </a:prstGeom>
        </p:spPr>
        <p:txBody>
          <a:bodyPr wrap="none">
            <a:spAutoFit/>
          </a:bodyPr>
          <a:lstStyle/>
          <a:p>
            <a:r>
              <a:rPr lang="en-US" altLang="zh-CN" sz="12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BGP EVPN</a:t>
            </a:r>
            <a:endParaRPr lang="en-US" altLang="zh-CN" sz="12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86"/>
          <p:cNvSpPr/>
          <p:nvPr/>
        </p:nvSpPr>
        <p:spPr bwMode="gray">
          <a:xfrm rot="629115">
            <a:off x="3299593" y="3880991"/>
            <a:ext cx="910827" cy="276999"/>
          </a:xfrm>
          <a:prstGeom prst="rect">
            <a:avLst/>
          </a:prstGeom>
        </p:spPr>
        <p:txBody>
          <a:bodyPr wrap="none">
            <a:spAutoFit/>
          </a:bodyPr>
          <a:lstStyle/>
          <a:p>
            <a:r>
              <a:rPr lang="en-US" altLang="zh-CN" sz="12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BGP EVPN</a:t>
            </a:r>
            <a:endParaRPr lang="en-US" altLang="zh-CN" sz="12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圆角矩形 88"/>
          <p:cNvSpPr/>
          <p:nvPr/>
        </p:nvSpPr>
        <p:spPr bwMode="gray">
          <a:xfrm>
            <a:off x="1030121" y="3798614"/>
            <a:ext cx="1050459" cy="218361"/>
          </a:xfrm>
          <a:prstGeom prst="roundRect">
            <a:avLst/>
          </a:prstGeom>
          <a:solidFill>
            <a:srgbClr val="ED6D00"/>
          </a:solidFill>
          <a:ln w="12700" cap="flat" cmpd="sng" algn="ctr">
            <a:no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外部网络</a:t>
            </a:r>
          </a:p>
        </p:txBody>
      </p:sp>
      <p:sp>
        <p:nvSpPr>
          <p:cNvPr id="90" name="圆角矩形 89"/>
          <p:cNvSpPr/>
          <p:nvPr/>
        </p:nvSpPr>
        <p:spPr bwMode="gray">
          <a:xfrm>
            <a:off x="827636" y="3319981"/>
            <a:ext cx="1050459" cy="218361"/>
          </a:xfrm>
          <a:prstGeom prst="roundRect">
            <a:avLst/>
          </a:prstGeom>
          <a:solidFill>
            <a:srgbClr val="ED6D00"/>
          </a:solidFill>
          <a:ln w="12700" cap="flat" cmpd="sng" algn="ctr">
            <a:no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网络服务资源</a:t>
            </a:r>
          </a:p>
        </p:txBody>
      </p:sp>
      <p:cxnSp>
        <p:nvCxnSpPr>
          <p:cNvPr id="91" name="直接连接符 90"/>
          <p:cNvCxnSpPr>
            <a:stCxn id="90" idx="3"/>
            <a:endCxn id="76" idx="1"/>
          </p:cNvCxnSpPr>
          <p:nvPr/>
        </p:nvCxnSpPr>
        <p:spPr bwMode="gray">
          <a:xfrm>
            <a:off x="1878095" y="3429162"/>
            <a:ext cx="543826" cy="291003"/>
          </a:xfrm>
          <a:prstGeom prst="line">
            <a:avLst/>
          </a:prstGeom>
          <a:ln w="19050">
            <a:solidFill>
              <a:srgbClr val="ED6D00"/>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94" name="直接连接符 93"/>
          <p:cNvCxnSpPr>
            <a:stCxn id="89" idx="3"/>
            <a:endCxn id="76" idx="1"/>
          </p:cNvCxnSpPr>
          <p:nvPr/>
        </p:nvCxnSpPr>
        <p:spPr bwMode="gray">
          <a:xfrm flipV="1">
            <a:off x="2080580" y="3720165"/>
            <a:ext cx="341341" cy="187630"/>
          </a:xfrm>
          <a:prstGeom prst="line">
            <a:avLst/>
          </a:prstGeom>
          <a:ln w="19050">
            <a:solidFill>
              <a:srgbClr val="ED6D00"/>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104" name="图片 76" descr="接入交换机.png"/>
          <p:cNvPicPr>
            <a:picLocks noChangeAspect="1"/>
          </p:cNvPicPr>
          <p:nvPr/>
        </p:nvPicPr>
        <p:blipFill>
          <a:blip r:embed="rId4"/>
          <a:stretch>
            <a:fillRect/>
          </a:stretch>
        </p:blipFill>
        <p:spPr bwMode="gray">
          <a:xfrm>
            <a:off x="4727589" y="3932257"/>
            <a:ext cx="343433" cy="280992"/>
          </a:xfrm>
          <a:prstGeom prst="rect">
            <a:avLst/>
          </a:prstGeom>
        </p:spPr>
      </p:pic>
      <p:pic>
        <p:nvPicPr>
          <p:cNvPr id="105" name="图片 104" descr="接入交换机.png"/>
          <p:cNvPicPr>
            <a:picLocks noChangeAspect="1"/>
          </p:cNvPicPr>
          <p:nvPr/>
        </p:nvPicPr>
        <p:blipFill>
          <a:blip r:embed="rId4"/>
          <a:stretch>
            <a:fillRect/>
          </a:stretch>
        </p:blipFill>
        <p:spPr bwMode="gray">
          <a:xfrm>
            <a:off x="4384156" y="3136789"/>
            <a:ext cx="343433" cy="280992"/>
          </a:xfrm>
          <a:prstGeom prst="rect">
            <a:avLst/>
          </a:prstGeom>
        </p:spPr>
      </p:pic>
      <p:sp>
        <p:nvSpPr>
          <p:cNvPr id="106" name="矩形 105"/>
          <p:cNvSpPr/>
          <p:nvPr/>
        </p:nvSpPr>
        <p:spPr bwMode="gray">
          <a:xfrm>
            <a:off x="4310585" y="3429162"/>
            <a:ext cx="527709" cy="276999"/>
          </a:xfrm>
          <a:prstGeom prst="rect">
            <a:avLst/>
          </a:prstGeom>
        </p:spPr>
        <p:txBody>
          <a:bodyPr wrap="none">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矩形 106"/>
          <p:cNvSpPr/>
          <p:nvPr/>
        </p:nvSpPr>
        <p:spPr bwMode="gray">
          <a:xfrm>
            <a:off x="4612518" y="3676519"/>
            <a:ext cx="527709" cy="276999"/>
          </a:xfrm>
          <a:prstGeom prst="rect">
            <a:avLst/>
          </a:prstGeom>
        </p:spPr>
        <p:txBody>
          <a:bodyPr wrap="none">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圆角矩形 107"/>
          <p:cNvSpPr/>
          <p:nvPr/>
        </p:nvSpPr>
        <p:spPr bwMode="gray">
          <a:xfrm>
            <a:off x="5021179" y="3180506"/>
            <a:ext cx="1050459" cy="218361"/>
          </a:xfrm>
          <a:prstGeom prst="roundRect">
            <a:avLst/>
          </a:prstGeom>
          <a:solidFill>
            <a:srgbClr val="ED6D00"/>
          </a:solidFill>
          <a:ln w="12700" cap="flat" cmpd="sng" algn="ctr">
            <a:no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有线接入</a:t>
            </a:r>
          </a:p>
        </p:txBody>
      </p:sp>
      <p:sp>
        <p:nvSpPr>
          <p:cNvPr id="109" name="圆角矩形 108"/>
          <p:cNvSpPr/>
          <p:nvPr/>
        </p:nvSpPr>
        <p:spPr bwMode="gray">
          <a:xfrm>
            <a:off x="5383100" y="3975834"/>
            <a:ext cx="1050459" cy="218361"/>
          </a:xfrm>
          <a:prstGeom prst="roundRect">
            <a:avLst/>
          </a:prstGeom>
          <a:solidFill>
            <a:srgbClr val="ED6D00"/>
          </a:solidFill>
          <a:ln w="12700" cap="flat" cmpd="sng" algn="ctr">
            <a:no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无线接入</a:t>
            </a:r>
          </a:p>
        </p:txBody>
      </p:sp>
      <p:cxnSp>
        <p:nvCxnSpPr>
          <p:cNvPr id="110" name="直接连接符 109"/>
          <p:cNvCxnSpPr/>
          <p:nvPr/>
        </p:nvCxnSpPr>
        <p:spPr bwMode="gray">
          <a:xfrm>
            <a:off x="4720276" y="3276801"/>
            <a:ext cx="299104" cy="0"/>
          </a:xfrm>
          <a:prstGeom prst="line">
            <a:avLst/>
          </a:prstGeom>
          <a:ln w="19050">
            <a:solidFill>
              <a:srgbClr val="ED6D00"/>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gray">
          <a:xfrm>
            <a:off x="5071403" y="4085015"/>
            <a:ext cx="299104" cy="0"/>
          </a:xfrm>
          <a:prstGeom prst="line">
            <a:avLst/>
          </a:prstGeom>
          <a:ln w="19050">
            <a:solidFill>
              <a:srgbClr val="ED6D00"/>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14" name="梯形 113"/>
          <p:cNvSpPr/>
          <p:nvPr/>
        </p:nvSpPr>
        <p:spPr bwMode="gray">
          <a:xfrm>
            <a:off x="462793" y="1204459"/>
            <a:ext cx="6050762" cy="1634927"/>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100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梯形 114"/>
          <p:cNvSpPr/>
          <p:nvPr/>
        </p:nvSpPr>
        <p:spPr bwMode="gray">
          <a:xfrm>
            <a:off x="736469" y="1232281"/>
            <a:ext cx="1790622" cy="1209870"/>
          </a:xfrm>
          <a:prstGeom prst="trapezoid">
            <a:avLst>
              <a:gd name="adj" fmla="val 22668"/>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100000">
                  <a:srgbClr val="56C4D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矩形 115"/>
          <p:cNvSpPr/>
          <p:nvPr/>
        </p:nvSpPr>
        <p:spPr bwMode="gray">
          <a:xfrm>
            <a:off x="573767" y="2491973"/>
            <a:ext cx="2218684" cy="305105"/>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（虚拟网络层）</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7" name="组合 116"/>
          <p:cNvGrpSpPr/>
          <p:nvPr/>
        </p:nvGrpSpPr>
        <p:grpSpPr bwMode="gray">
          <a:xfrm>
            <a:off x="1172361" y="1387550"/>
            <a:ext cx="556773" cy="629606"/>
            <a:chOff x="7493567" y="5008689"/>
            <a:chExt cx="1283264" cy="956570"/>
          </a:xfrm>
        </p:grpSpPr>
        <p:cxnSp>
          <p:nvCxnSpPr>
            <p:cNvPr id="118" name="直接连接符 117"/>
            <p:cNvCxnSpPr/>
            <p:nvPr/>
          </p:nvCxnSpPr>
          <p:spPr bwMode="gray">
            <a:xfrm flipH="1" flipV="1">
              <a:off x="7493567" y="5598789"/>
              <a:ext cx="1283264" cy="36647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gray">
            <a:xfrm flipH="1">
              <a:off x="7588319" y="5008689"/>
              <a:ext cx="847863" cy="456494"/>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grpSp>
      <p:cxnSp>
        <p:nvCxnSpPr>
          <p:cNvPr id="120" name="直接连接符 119"/>
          <p:cNvCxnSpPr>
            <a:stCxn id="123" idx="3"/>
            <a:endCxn id="124" idx="1"/>
          </p:cNvCxnSpPr>
          <p:nvPr/>
        </p:nvCxnSpPr>
        <p:spPr bwMode="gray">
          <a:xfrm>
            <a:off x="1823050" y="2034099"/>
            <a:ext cx="241810"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22" idx="3"/>
            <a:endCxn id="125" idx="1"/>
          </p:cNvCxnSpPr>
          <p:nvPr/>
        </p:nvCxnSpPr>
        <p:spPr bwMode="gray">
          <a:xfrm>
            <a:off x="1643656" y="1428619"/>
            <a:ext cx="242904"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pic>
        <p:nvPicPr>
          <p:cNvPr id="122" name="图片 87" descr="汇聚交换机.png"/>
          <p:cNvPicPr>
            <a:picLocks noChangeAspect="1"/>
          </p:cNvPicPr>
          <p:nvPr/>
        </p:nvPicPr>
        <p:blipFill>
          <a:blip r:embed="rId3"/>
          <a:stretch>
            <a:fillRect/>
          </a:stretch>
        </p:blipFill>
        <p:spPr bwMode="gray">
          <a:xfrm>
            <a:off x="1409087" y="1332658"/>
            <a:ext cx="234569" cy="191922"/>
          </a:xfrm>
          <a:prstGeom prst="rect">
            <a:avLst/>
          </a:prstGeom>
        </p:spPr>
      </p:pic>
      <p:pic>
        <p:nvPicPr>
          <p:cNvPr id="123" name="图片 87" descr="汇聚交换机.png"/>
          <p:cNvPicPr>
            <a:picLocks noChangeAspect="1"/>
          </p:cNvPicPr>
          <p:nvPr/>
        </p:nvPicPr>
        <p:blipFill>
          <a:blip r:embed="rId3"/>
          <a:stretch>
            <a:fillRect/>
          </a:stretch>
        </p:blipFill>
        <p:spPr bwMode="gray">
          <a:xfrm>
            <a:off x="1588481" y="1938138"/>
            <a:ext cx="234569" cy="191922"/>
          </a:xfrm>
          <a:prstGeom prst="rect">
            <a:avLst/>
          </a:prstGeom>
        </p:spPr>
      </p:pic>
      <p:pic>
        <p:nvPicPr>
          <p:cNvPr id="124" name="图片 76" descr="接入交换机.png"/>
          <p:cNvPicPr>
            <a:picLocks noChangeAspect="1"/>
          </p:cNvPicPr>
          <p:nvPr/>
        </p:nvPicPr>
        <p:blipFill>
          <a:blip r:embed="rId4"/>
          <a:stretch>
            <a:fillRect/>
          </a:stretch>
        </p:blipFill>
        <p:spPr bwMode="gray">
          <a:xfrm>
            <a:off x="2064860" y="1938138"/>
            <a:ext cx="234569" cy="191922"/>
          </a:xfrm>
          <a:prstGeom prst="rect">
            <a:avLst/>
          </a:prstGeom>
        </p:spPr>
      </p:pic>
      <p:pic>
        <p:nvPicPr>
          <p:cNvPr id="125" name="图片 124" descr="接入交换机.png"/>
          <p:cNvPicPr>
            <a:picLocks noChangeAspect="1"/>
          </p:cNvPicPr>
          <p:nvPr/>
        </p:nvPicPr>
        <p:blipFill>
          <a:blip r:embed="rId4"/>
          <a:stretch>
            <a:fillRect/>
          </a:stretch>
        </p:blipFill>
        <p:spPr bwMode="gray">
          <a:xfrm>
            <a:off x="1886560" y="1332658"/>
            <a:ext cx="234569" cy="191922"/>
          </a:xfrm>
          <a:prstGeom prst="rect">
            <a:avLst/>
          </a:prstGeom>
        </p:spPr>
      </p:pic>
      <p:pic>
        <p:nvPicPr>
          <p:cNvPr id="126" name="图片 86" descr="核心交换机.png"/>
          <p:cNvPicPr>
            <a:picLocks noChangeAspect="1"/>
          </p:cNvPicPr>
          <p:nvPr/>
        </p:nvPicPr>
        <p:blipFill>
          <a:blip r:embed="rId5"/>
          <a:stretch>
            <a:fillRect/>
          </a:stretch>
        </p:blipFill>
        <p:spPr bwMode="gray">
          <a:xfrm>
            <a:off x="1026158" y="1649808"/>
            <a:ext cx="234569" cy="191922"/>
          </a:xfrm>
          <a:prstGeom prst="rect">
            <a:avLst/>
          </a:prstGeom>
        </p:spPr>
      </p:pic>
      <p:sp>
        <p:nvSpPr>
          <p:cNvPr id="127" name="矩形 126"/>
          <p:cNvSpPr/>
          <p:nvPr/>
        </p:nvSpPr>
        <p:spPr bwMode="gray">
          <a:xfrm>
            <a:off x="759538" y="2160975"/>
            <a:ext cx="1744485" cy="274594"/>
          </a:xfrm>
          <a:prstGeom prst="rect">
            <a:avLst/>
          </a:prstGeom>
        </p:spPr>
        <p:txBody>
          <a:bodyPr wrap="square">
            <a:no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28" name="梯形 127"/>
          <p:cNvSpPr/>
          <p:nvPr/>
        </p:nvSpPr>
        <p:spPr bwMode="gray">
          <a:xfrm>
            <a:off x="2609376" y="1232281"/>
            <a:ext cx="1790622" cy="1209870"/>
          </a:xfrm>
          <a:prstGeom prst="trapezoid">
            <a:avLst>
              <a:gd name="adj" fmla="val 22668"/>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100000">
                  <a:srgbClr val="56C4D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9" name="直接连接符 128"/>
          <p:cNvCxnSpPr/>
          <p:nvPr/>
        </p:nvCxnSpPr>
        <p:spPr bwMode="gray">
          <a:xfrm flipH="1">
            <a:off x="3086374" y="1387546"/>
            <a:ext cx="367864" cy="30046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31" idx="3"/>
            <a:endCxn id="132" idx="1"/>
          </p:cNvCxnSpPr>
          <p:nvPr/>
        </p:nvCxnSpPr>
        <p:spPr bwMode="gray">
          <a:xfrm>
            <a:off x="3516563" y="1428619"/>
            <a:ext cx="242904"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pic>
        <p:nvPicPr>
          <p:cNvPr id="131" name="图片 87" descr="汇聚交换机.png"/>
          <p:cNvPicPr>
            <a:picLocks noChangeAspect="1"/>
          </p:cNvPicPr>
          <p:nvPr/>
        </p:nvPicPr>
        <p:blipFill>
          <a:blip r:embed="rId3"/>
          <a:stretch>
            <a:fillRect/>
          </a:stretch>
        </p:blipFill>
        <p:spPr bwMode="gray">
          <a:xfrm>
            <a:off x="3281994" y="1332658"/>
            <a:ext cx="234569" cy="191922"/>
          </a:xfrm>
          <a:prstGeom prst="rect">
            <a:avLst/>
          </a:prstGeom>
        </p:spPr>
      </p:pic>
      <p:pic>
        <p:nvPicPr>
          <p:cNvPr id="132" name="图片 131" descr="接入交换机.png"/>
          <p:cNvPicPr>
            <a:picLocks noChangeAspect="1"/>
          </p:cNvPicPr>
          <p:nvPr/>
        </p:nvPicPr>
        <p:blipFill>
          <a:blip r:embed="rId4"/>
          <a:stretch>
            <a:fillRect/>
          </a:stretch>
        </p:blipFill>
        <p:spPr bwMode="gray">
          <a:xfrm>
            <a:off x="3759467" y="1332658"/>
            <a:ext cx="234569" cy="191922"/>
          </a:xfrm>
          <a:prstGeom prst="rect">
            <a:avLst/>
          </a:prstGeom>
        </p:spPr>
      </p:pic>
      <p:pic>
        <p:nvPicPr>
          <p:cNvPr id="133" name="图片 86" descr="核心交换机.png"/>
          <p:cNvPicPr>
            <a:picLocks noChangeAspect="1"/>
          </p:cNvPicPr>
          <p:nvPr/>
        </p:nvPicPr>
        <p:blipFill>
          <a:blip r:embed="rId5"/>
          <a:stretch>
            <a:fillRect/>
          </a:stretch>
        </p:blipFill>
        <p:spPr bwMode="gray">
          <a:xfrm>
            <a:off x="2899065" y="1649808"/>
            <a:ext cx="234569" cy="191922"/>
          </a:xfrm>
          <a:prstGeom prst="rect">
            <a:avLst/>
          </a:prstGeom>
        </p:spPr>
      </p:pic>
      <p:sp>
        <p:nvSpPr>
          <p:cNvPr id="134" name="矩形 133"/>
          <p:cNvSpPr/>
          <p:nvPr/>
        </p:nvSpPr>
        <p:spPr bwMode="gray">
          <a:xfrm>
            <a:off x="2632445" y="2160975"/>
            <a:ext cx="1744485" cy="274594"/>
          </a:xfrm>
          <a:prstGeom prst="rect">
            <a:avLst/>
          </a:prstGeom>
        </p:spPr>
        <p:txBody>
          <a:bodyPr wrap="square">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a:t>
            </a:r>
          </a:p>
        </p:txBody>
      </p:sp>
      <p:sp>
        <p:nvSpPr>
          <p:cNvPr id="135" name="梯形 134"/>
          <p:cNvSpPr/>
          <p:nvPr/>
        </p:nvSpPr>
        <p:spPr bwMode="gray">
          <a:xfrm>
            <a:off x="4496295" y="1232281"/>
            <a:ext cx="1790622" cy="1209870"/>
          </a:xfrm>
          <a:prstGeom prst="trapezoid">
            <a:avLst>
              <a:gd name="adj" fmla="val 22668"/>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100000">
                  <a:srgbClr val="56C4D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矩形 141"/>
          <p:cNvSpPr/>
          <p:nvPr/>
        </p:nvSpPr>
        <p:spPr bwMode="gray">
          <a:xfrm>
            <a:off x="1303435" y="1570213"/>
            <a:ext cx="947695" cy="307777"/>
          </a:xfrm>
          <a:prstGeom prst="rect">
            <a:avLst/>
          </a:prstGeom>
        </p:spPr>
        <p:txBody>
          <a:bodyPr wrap="square">
            <a:no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VRF+VNI</a:t>
            </a:r>
          </a:p>
        </p:txBody>
      </p:sp>
      <p:sp>
        <p:nvSpPr>
          <p:cNvPr id="143" name="矩形 142"/>
          <p:cNvSpPr/>
          <p:nvPr/>
        </p:nvSpPr>
        <p:spPr bwMode="gray">
          <a:xfrm>
            <a:off x="3182851" y="1570213"/>
            <a:ext cx="947695" cy="307777"/>
          </a:xfrm>
          <a:prstGeom prst="rect">
            <a:avLst/>
          </a:prstGeom>
        </p:spPr>
        <p:txBody>
          <a:bodyPr wrap="square">
            <a:no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VRF+VNI</a:t>
            </a:r>
          </a:p>
        </p:txBody>
      </p:sp>
      <p:grpSp>
        <p:nvGrpSpPr>
          <p:cNvPr id="145" name="Group 3"/>
          <p:cNvGrpSpPr/>
          <p:nvPr/>
        </p:nvGrpSpPr>
        <p:grpSpPr bwMode="gray">
          <a:xfrm>
            <a:off x="2425214" y="1818318"/>
            <a:ext cx="261965" cy="61979"/>
            <a:chOff x="559282" y="6488261"/>
            <a:chExt cx="261965" cy="61979"/>
          </a:xfrm>
          <a:solidFill>
            <a:schemeClr val="bg1">
              <a:lumMod val="50000"/>
            </a:schemeClr>
          </a:solidFill>
        </p:grpSpPr>
        <p:sp>
          <p:nvSpPr>
            <p:cNvPr id="146"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50" name="圆角矩形 149"/>
          <p:cNvSpPr/>
          <p:nvPr/>
        </p:nvSpPr>
        <p:spPr bwMode="gray">
          <a:xfrm>
            <a:off x="4645059" y="1091063"/>
            <a:ext cx="717477" cy="218361"/>
          </a:xfrm>
          <a:prstGeom prst="roundRect">
            <a:avLst/>
          </a:prstGeom>
          <a:solidFill>
            <a:srgbClr val="30B5C5"/>
          </a:solidFill>
          <a:ln w="12700" cap="flat" cmpd="sng" algn="ctr">
            <a:no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网络出口</a:t>
            </a:r>
          </a:p>
        </p:txBody>
      </p:sp>
      <p:sp>
        <p:nvSpPr>
          <p:cNvPr id="151" name="圆角矩形 150"/>
          <p:cNvSpPr/>
          <p:nvPr/>
        </p:nvSpPr>
        <p:spPr bwMode="gray">
          <a:xfrm>
            <a:off x="5054716" y="1567794"/>
            <a:ext cx="717477" cy="218361"/>
          </a:xfrm>
          <a:prstGeom prst="roundRect">
            <a:avLst/>
          </a:prstGeom>
          <a:solidFill>
            <a:srgbClr val="30B5C5"/>
          </a:solidFill>
          <a:ln w="12700" cap="flat" cmpd="sng" algn="ctr">
            <a:no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IP/VLAN</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圆角矩形 151"/>
          <p:cNvSpPr/>
          <p:nvPr/>
        </p:nvSpPr>
        <p:spPr bwMode="gray">
          <a:xfrm>
            <a:off x="5054716" y="1941450"/>
            <a:ext cx="717477" cy="218361"/>
          </a:xfrm>
          <a:prstGeom prst="roundRect">
            <a:avLst/>
          </a:prstGeom>
          <a:solidFill>
            <a:srgbClr val="30B5C5"/>
          </a:solidFill>
          <a:ln w="12700" cap="flat" cmpd="sng" algn="ctr">
            <a:no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接入点</a:t>
            </a:r>
          </a:p>
        </p:txBody>
      </p:sp>
      <p:sp>
        <p:nvSpPr>
          <p:cNvPr id="153" name="圆角矩形 152"/>
          <p:cNvSpPr/>
          <p:nvPr/>
        </p:nvSpPr>
        <p:spPr bwMode="gray">
          <a:xfrm>
            <a:off x="5464373" y="1091063"/>
            <a:ext cx="717477" cy="218361"/>
          </a:xfrm>
          <a:prstGeom prst="roundRect">
            <a:avLst/>
          </a:prstGeom>
          <a:solidFill>
            <a:srgbClr val="30B5C5"/>
          </a:solidFill>
          <a:ln w="12700" cap="flat" cmpd="sng" algn="ctr">
            <a:no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网络服务</a:t>
            </a:r>
          </a:p>
        </p:txBody>
      </p:sp>
      <p:cxnSp>
        <p:nvCxnSpPr>
          <p:cNvPr id="155" name="直接连接符 154"/>
          <p:cNvCxnSpPr>
            <a:stCxn id="150" idx="2"/>
            <a:endCxn id="151" idx="0"/>
          </p:cNvCxnSpPr>
          <p:nvPr/>
        </p:nvCxnSpPr>
        <p:spPr bwMode="gray">
          <a:xfrm>
            <a:off x="5003798" y="1309424"/>
            <a:ext cx="409657" cy="25837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a:stCxn id="153" idx="2"/>
            <a:endCxn id="151" idx="0"/>
          </p:cNvCxnSpPr>
          <p:nvPr/>
        </p:nvCxnSpPr>
        <p:spPr bwMode="gray">
          <a:xfrm flipH="1">
            <a:off x="5413455" y="1309424"/>
            <a:ext cx="409657" cy="25837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a:stCxn id="151" idx="2"/>
            <a:endCxn id="152" idx="0"/>
          </p:cNvCxnSpPr>
          <p:nvPr/>
        </p:nvCxnSpPr>
        <p:spPr bwMode="gray">
          <a:xfrm>
            <a:off x="5413455" y="1786155"/>
            <a:ext cx="0" cy="155295"/>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sp>
        <p:nvSpPr>
          <p:cNvPr id="162" name="矩形 161"/>
          <p:cNvSpPr/>
          <p:nvPr/>
        </p:nvSpPr>
        <p:spPr bwMode="gray">
          <a:xfrm>
            <a:off x="4869723" y="2174985"/>
            <a:ext cx="1067921"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实例化</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80"/>
          <p:cNvSpPr/>
          <p:nvPr/>
        </p:nvSpPr>
        <p:spPr bwMode="gray">
          <a:xfrm>
            <a:off x="4049140" y="5052608"/>
            <a:ext cx="619080" cy="307777"/>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84" name="文本框 83"/>
          <p:cNvSpPr txBox="1"/>
          <p:nvPr/>
        </p:nvSpPr>
        <p:spPr bwMode="gray">
          <a:xfrm>
            <a:off x="3281993" y="3519730"/>
            <a:ext cx="1033430" cy="278383"/>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 </a:t>
            </a:r>
          </a:p>
        </p:txBody>
      </p:sp>
      <p:sp>
        <p:nvSpPr>
          <p:cNvPr id="85" name="矩形 84"/>
          <p:cNvSpPr/>
          <p:nvPr/>
        </p:nvSpPr>
        <p:spPr bwMode="gray">
          <a:xfrm>
            <a:off x="7010659" y="5031784"/>
            <a:ext cx="4703925" cy="1002493"/>
          </a:xfrm>
          <a:prstGeom prst="rect">
            <a:avLst/>
          </a:prstGeom>
        </p:spPr>
        <p:txBody>
          <a:bodyPr wrap="square">
            <a:noAutofit/>
          </a:bodyPr>
          <a:lstStyle/>
          <a:p>
            <a:pPr algn="just">
              <a:lnSpc>
                <a:spcPts val="2100"/>
              </a:lnSpc>
              <a:spcAft>
                <a:spcPts val="6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：由实体网络设备（如交换机、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、防火墙、路由器等）建立的物理拓扑组网，为园区所有业务提供互联互通的能力，是园区业务数据转发的基础承载网络。</a:t>
            </a:r>
          </a:p>
        </p:txBody>
      </p:sp>
      <p:sp>
        <p:nvSpPr>
          <p:cNvPr id="88" name="矩形 87"/>
          <p:cNvSpPr/>
          <p:nvPr/>
        </p:nvSpPr>
        <p:spPr bwMode="gray">
          <a:xfrm>
            <a:off x="7010658" y="3519811"/>
            <a:ext cx="4703925" cy="728106"/>
          </a:xfrm>
          <a:prstGeom prst="rect">
            <a:avLst/>
          </a:prstGeom>
        </p:spPr>
        <p:txBody>
          <a:bodyPr wrap="square">
            <a:noAutofit/>
          </a:bodyPr>
          <a:lstStyle/>
          <a:p>
            <a:pPr algn="just">
              <a:lnSpc>
                <a:spcPts val="2100"/>
              </a:lnSpc>
              <a:spcAft>
                <a:spcPts val="6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网络抽象后的资源池化网络。在创建实例化的虚拟网络时，可以选取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中的网络资源。</a:t>
            </a:r>
          </a:p>
        </p:txBody>
      </p:sp>
      <p:sp>
        <p:nvSpPr>
          <p:cNvPr id="92" name="矩形 91"/>
          <p:cNvSpPr/>
          <p:nvPr/>
        </p:nvSpPr>
        <p:spPr bwMode="gray">
          <a:xfrm>
            <a:off x="6994116" y="1724101"/>
            <a:ext cx="4720468" cy="830344"/>
          </a:xfrm>
          <a:prstGeom prst="rect">
            <a:avLst/>
          </a:prstGeom>
        </p:spPr>
        <p:txBody>
          <a:bodyPr wrap="square">
            <a:noAutofit/>
          </a:bodyPr>
          <a:lstStyle/>
          <a:p>
            <a:pPr algn="just">
              <a:lnSpc>
                <a:spcPts val="2100"/>
              </a:lnSpc>
              <a:spcAft>
                <a:spcPts val="6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Virtual Network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实例化，能够构建逻辑上隔离的虚拟网络实例。一个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对应一个隔离网络（业务网络），比如研发专网。</a:t>
            </a:r>
          </a:p>
        </p:txBody>
      </p:sp>
      <p:cxnSp>
        <p:nvCxnSpPr>
          <p:cNvPr id="93" name="直接连接符 92"/>
          <p:cNvCxnSpPr/>
          <p:nvPr/>
        </p:nvCxnSpPr>
        <p:spPr bwMode="gray">
          <a:xfrm>
            <a:off x="6874300" y="5031784"/>
            <a:ext cx="0" cy="100249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5" name="椭圆 94"/>
          <p:cNvSpPr/>
          <p:nvPr/>
        </p:nvSpPr>
        <p:spPr bwMode="gray">
          <a:xfrm>
            <a:off x="6314023" y="5228929"/>
            <a:ext cx="122691" cy="12269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6" name="直接连接符 95"/>
          <p:cNvCxnSpPr/>
          <p:nvPr/>
        </p:nvCxnSpPr>
        <p:spPr bwMode="gray">
          <a:xfrm>
            <a:off x="6391390" y="5284684"/>
            <a:ext cx="468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bwMode="gray">
          <a:xfrm>
            <a:off x="6874300" y="3519811"/>
            <a:ext cx="0" cy="72810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gray">
          <a:xfrm flipH="1">
            <a:off x="6874300" y="1788678"/>
            <a:ext cx="0" cy="73425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9" name="椭圆 98"/>
          <p:cNvSpPr/>
          <p:nvPr/>
        </p:nvSpPr>
        <p:spPr bwMode="gray">
          <a:xfrm>
            <a:off x="6314023" y="3688313"/>
            <a:ext cx="122691" cy="12269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0" name="直接连接符 99"/>
          <p:cNvCxnSpPr/>
          <p:nvPr/>
        </p:nvCxnSpPr>
        <p:spPr bwMode="gray">
          <a:xfrm>
            <a:off x="6391390" y="3744068"/>
            <a:ext cx="468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1" name="椭圆 100"/>
          <p:cNvSpPr/>
          <p:nvPr/>
        </p:nvSpPr>
        <p:spPr bwMode="gray">
          <a:xfrm>
            <a:off x="6321198" y="1920336"/>
            <a:ext cx="122691" cy="12269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2" name="直接连接符 101"/>
          <p:cNvCxnSpPr/>
          <p:nvPr/>
        </p:nvCxnSpPr>
        <p:spPr bwMode="gray">
          <a:xfrm>
            <a:off x="6391390" y="1966750"/>
            <a:ext cx="468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2763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虚拟化园区网络中的网络节点</a:t>
            </a:r>
          </a:p>
        </p:txBody>
      </p:sp>
      <p:pic>
        <p:nvPicPr>
          <p:cNvPr id="3" name="图片 87" descr="汇聚交换机.png"/>
          <p:cNvPicPr>
            <a:picLocks noChangeAspect="1"/>
          </p:cNvPicPr>
          <p:nvPr/>
        </p:nvPicPr>
        <p:blipFill>
          <a:blip r:embed="rId3"/>
          <a:stretch>
            <a:fillRect/>
          </a:stretch>
        </p:blipFill>
        <p:spPr bwMode="gray">
          <a:xfrm>
            <a:off x="2888961" y="3377395"/>
            <a:ext cx="369473" cy="302297"/>
          </a:xfrm>
          <a:prstGeom prst="rect">
            <a:avLst/>
          </a:prstGeom>
          <a:effectLst/>
        </p:spPr>
      </p:pic>
      <p:sp>
        <p:nvSpPr>
          <p:cNvPr id="4" name="任意多边形 3"/>
          <p:cNvSpPr/>
          <p:nvPr/>
        </p:nvSpPr>
        <p:spPr bwMode="gray">
          <a:xfrm>
            <a:off x="1947969" y="2456990"/>
            <a:ext cx="4092505" cy="2223824"/>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bwMode="gray">
          <a:xfrm>
            <a:off x="6283567" y="1162102"/>
            <a:ext cx="5429008" cy="5001369"/>
          </a:xfrm>
          <a:prstGeom prst="rect">
            <a:avLst/>
          </a:prstGeom>
        </p:spPr>
        <p:txBody>
          <a:bodyPr wrap="square">
            <a:spAutoFit/>
          </a:bodyPr>
          <a:lstStyle/>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出口网关：</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园区网络的出口设备，可以是</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路由器或防火墙。</a:t>
            </a:r>
            <a:endPar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防火墙节点：</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L4~L7</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安全策略时需该节点。可旁挂部署，或部署在园区出口处。</a:t>
            </a: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边界网关（</a:t>
            </a: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用于实现</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和外部网络之间的互联互通。一般为核心交换机。</a:t>
            </a:r>
            <a:endPar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透传（</a:t>
            </a: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Transparent</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的透传节点，无需支持</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边缘（</a:t>
            </a: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边缘设备，用于连接用户侧设备及</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。有线用户的数据从边缘节点进入</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a:t>
            </a: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接入节点：</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包含有线接入节点和无线接入节点，一般就是接入交换机及</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设备。其中，有线接入节点可以作为</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节点，即</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到接入；另一种组网方式是有线接入节点无需支持</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，而汇聚交换机作为</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节点，即</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到汇聚，而有线接入节点与上联的</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节点建立策略联动。</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1947969" y="4727113"/>
            <a:ext cx="4092504" cy="992207"/>
          </a:xfrm>
          <a:prstGeom prst="roundRect">
            <a:avLst/>
          </a:prstGeom>
          <a:solidFill>
            <a:sysClr val="window" lastClr="FFFFFF">
              <a:lumMod val="95000"/>
            </a:sysClr>
          </a:solidFill>
          <a:ln w="12700" cap="flat" cmpd="sng" algn="ctr">
            <a:noFill/>
            <a:prstDash val="solid"/>
            <a:miter lim="800000"/>
          </a:ln>
          <a:effectLst/>
        </p:spPr>
        <p:txBody>
          <a:bodyPr wrap="square" rtlCol="0" anchor="ctr">
            <a:noAutofit/>
          </a:bodyPr>
          <a:lstStyle/>
          <a:p>
            <a:pPr algn="ctr" defTabSz="1219170" fontAlgn="ctr">
              <a:defRPr/>
            </a:pPr>
            <a:endParaRPr lang="en-US" altLang="zh-CN"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Group 165"/>
          <p:cNvGrpSpPr/>
          <p:nvPr/>
        </p:nvGrpSpPr>
        <p:grpSpPr bwMode="gray">
          <a:xfrm rot="10800000">
            <a:off x="4600736" y="4637264"/>
            <a:ext cx="1001411" cy="575601"/>
            <a:chOff x="-1233037" y="914446"/>
            <a:chExt cx="1573823" cy="778776"/>
          </a:xfrm>
        </p:grpSpPr>
        <p:cxnSp>
          <p:nvCxnSpPr>
            <p:cNvPr id="8" name="Straight Connector 166"/>
            <p:cNvCxnSpPr/>
            <p:nvPr/>
          </p:nvCxnSpPr>
          <p:spPr bwMode="gray">
            <a:xfrm flipH="1" flipV="1">
              <a:off x="-1233037" y="914446"/>
              <a:ext cx="786912" cy="778776"/>
            </a:xfrm>
            <a:prstGeom prst="line">
              <a:avLst/>
            </a:prstGeom>
            <a:noFill/>
            <a:ln w="12700" cap="flat" cmpd="sng" algn="ctr">
              <a:solidFill>
                <a:sysClr val="window" lastClr="FFFFFF">
                  <a:lumMod val="75000"/>
                </a:sysClr>
              </a:solidFill>
              <a:prstDash val="solid"/>
              <a:miter lim="800000"/>
            </a:ln>
            <a:effectLst/>
          </p:spPr>
        </p:cxnSp>
        <p:cxnSp>
          <p:nvCxnSpPr>
            <p:cNvPr id="9" name="Straight Connector 167"/>
            <p:cNvCxnSpPr/>
            <p:nvPr/>
          </p:nvCxnSpPr>
          <p:spPr bwMode="gray">
            <a:xfrm flipV="1">
              <a:off x="-446125" y="914446"/>
              <a:ext cx="786911" cy="778776"/>
            </a:xfrm>
            <a:prstGeom prst="line">
              <a:avLst/>
            </a:prstGeom>
            <a:noFill/>
            <a:ln w="12700" cap="flat" cmpd="sng" algn="ctr">
              <a:solidFill>
                <a:sysClr val="window" lastClr="FFFFFF">
                  <a:lumMod val="75000"/>
                </a:sysClr>
              </a:solidFill>
              <a:prstDash val="solid"/>
              <a:miter lim="800000"/>
            </a:ln>
            <a:effectLst/>
          </p:spPr>
        </p:cxnSp>
      </p:grpSp>
      <p:grpSp>
        <p:nvGrpSpPr>
          <p:cNvPr id="10" name="Group 165"/>
          <p:cNvGrpSpPr/>
          <p:nvPr/>
        </p:nvGrpSpPr>
        <p:grpSpPr bwMode="gray">
          <a:xfrm rot="10800000">
            <a:off x="2463288" y="4637264"/>
            <a:ext cx="1001411" cy="575601"/>
            <a:chOff x="-1233037" y="914446"/>
            <a:chExt cx="1573823" cy="778776"/>
          </a:xfrm>
        </p:grpSpPr>
        <p:cxnSp>
          <p:nvCxnSpPr>
            <p:cNvPr id="11" name="Straight Connector 166"/>
            <p:cNvCxnSpPr/>
            <p:nvPr/>
          </p:nvCxnSpPr>
          <p:spPr bwMode="gray">
            <a:xfrm flipH="1" flipV="1">
              <a:off x="-1233037" y="914446"/>
              <a:ext cx="786912" cy="778776"/>
            </a:xfrm>
            <a:prstGeom prst="line">
              <a:avLst/>
            </a:prstGeom>
            <a:noFill/>
            <a:ln w="12700" cap="flat" cmpd="sng" algn="ctr">
              <a:solidFill>
                <a:sysClr val="window" lastClr="FFFFFF">
                  <a:lumMod val="75000"/>
                </a:sysClr>
              </a:solidFill>
              <a:prstDash val="solid"/>
              <a:miter lim="800000"/>
            </a:ln>
            <a:effectLst/>
          </p:spPr>
        </p:cxnSp>
        <p:cxnSp>
          <p:nvCxnSpPr>
            <p:cNvPr id="12" name="Straight Connector 167"/>
            <p:cNvCxnSpPr/>
            <p:nvPr/>
          </p:nvCxnSpPr>
          <p:spPr bwMode="gray">
            <a:xfrm flipV="1">
              <a:off x="-446125" y="914446"/>
              <a:ext cx="786911" cy="778776"/>
            </a:xfrm>
            <a:prstGeom prst="line">
              <a:avLst/>
            </a:prstGeom>
            <a:noFill/>
            <a:ln w="12700" cap="flat" cmpd="sng" algn="ctr">
              <a:solidFill>
                <a:sysClr val="window" lastClr="FFFFFF">
                  <a:lumMod val="75000"/>
                </a:sysClr>
              </a:solidFill>
              <a:prstDash val="solid"/>
              <a:miter lim="800000"/>
            </a:ln>
            <a:effectLst/>
          </p:spPr>
        </p:cxnSp>
      </p:grpSp>
      <p:pic>
        <p:nvPicPr>
          <p:cNvPr id="16" name="图片 87" descr="汇聚交换机.png"/>
          <p:cNvPicPr>
            <a:picLocks noChangeAspect="1"/>
          </p:cNvPicPr>
          <p:nvPr/>
        </p:nvPicPr>
        <p:blipFill>
          <a:blip r:embed="rId3"/>
          <a:stretch>
            <a:fillRect/>
          </a:stretch>
        </p:blipFill>
        <p:spPr bwMode="gray">
          <a:xfrm>
            <a:off x="2780298" y="4527815"/>
            <a:ext cx="369473" cy="302297"/>
          </a:xfrm>
          <a:prstGeom prst="rect">
            <a:avLst/>
          </a:prstGeom>
        </p:spPr>
      </p:pic>
      <p:pic>
        <p:nvPicPr>
          <p:cNvPr id="17" name="图片 76" descr="接入交换机.png"/>
          <p:cNvPicPr>
            <a:picLocks noChangeAspect="1"/>
          </p:cNvPicPr>
          <p:nvPr/>
        </p:nvPicPr>
        <p:blipFill>
          <a:blip r:embed="rId4"/>
          <a:stretch>
            <a:fillRect/>
          </a:stretch>
        </p:blipFill>
        <p:spPr bwMode="gray">
          <a:xfrm>
            <a:off x="2265434" y="5194054"/>
            <a:ext cx="369473" cy="302297"/>
          </a:xfrm>
          <a:prstGeom prst="rect">
            <a:avLst/>
          </a:prstGeom>
        </p:spPr>
      </p:pic>
      <p:pic>
        <p:nvPicPr>
          <p:cNvPr id="19" name="图片 105" descr="AP.png"/>
          <p:cNvPicPr>
            <a:picLocks noChangeAspect="1"/>
          </p:cNvPicPr>
          <p:nvPr/>
        </p:nvPicPr>
        <p:blipFill>
          <a:blip r:embed="rId5"/>
          <a:stretch>
            <a:fillRect/>
          </a:stretch>
        </p:blipFill>
        <p:spPr bwMode="gray">
          <a:xfrm>
            <a:off x="3295034" y="5193947"/>
            <a:ext cx="366860" cy="300160"/>
          </a:xfrm>
          <a:prstGeom prst="rect">
            <a:avLst/>
          </a:prstGeom>
        </p:spPr>
      </p:pic>
      <p:pic>
        <p:nvPicPr>
          <p:cNvPr id="20" name="图片 87" descr="汇聚交换机.png"/>
          <p:cNvPicPr>
            <a:picLocks noChangeAspect="1"/>
          </p:cNvPicPr>
          <p:nvPr/>
        </p:nvPicPr>
        <p:blipFill>
          <a:blip r:embed="rId3"/>
          <a:stretch>
            <a:fillRect/>
          </a:stretch>
        </p:blipFill>
        <p:spPr bwMode="gray">
          <a:xfrm>
            <a:off x="4924316" y="4527815"/>
            <a:ext cx="369473" cy="302297"/>
          </a:xfrm>
          <a:prstGeom prst="rect">
            <a:avLst/>
          </a:prstGeom>
        </p:spPr>
      </p:pic>
      <p:pic>
        <p:nvPicPr>
          <p:cNvPr id="21" name="图片 76" descr="接入交换机.png"/>
          <p:cNvPicPr>
            <a:picLocks noChangeAspect="1"/>
          </p:cNvPicPr>
          <p:nvPr/>
        </p:nvPicPr>
        <p:blipFill>
          <a:blip r:embed="rId4"/>
          <a:stretch>
            <a:fillRect/>
          </a:stretch>
        </p:blipFill>
        <p:spPr bwMode="gray">
          <a:xfrm>
            <a:off x="4409452" y="5194054"/>
            <a:ext cx="369473" cy="302297"/>
          </a:xfrm>
          <a:prstGeom prst="rect">
            <a:avLst/>
          </a:prstGeom>
        </p:spPr>
      </p:pic>
      <p:pic>
        <p:nvPicPr>
          <p:cNvPr id="22" name="图片 105" descr="AP.png"/>
          <p:cNvPicPr>
            <a:picLocks noChangeAspect="1"/>
          </p:cNvPicPr>
          <p:nvPr/>
        </p:nvPicPr>
        <p:blipFill>
          <a:blip r:embed="rId5"/>
          <a:stretch>
            <a:fillRect/>
          </a:stretch>
        </p:blipFill>
        <p:spPr bwMode="gray">
          <a:xfrm>
            <a:off x="5439051" y="5193947"/>
            <a:ext cx="366860" cy="300160"/>
          </a:xfrm>
          <a:prstGeom prst="rect">
            <a:avLst/>
          </a:prstGeom>
        </p:spPr>
      </p:pic>
      <p:pic>
        <p:nvPicPr>
          <p:cNvPr id="24" name="Picture 2" descr="G:\做的项目\公共\扁平图标切换\更新2015_01_21\oss扁平图标库2015_01_21更新-04.png"/>
          <p:cNvPicPr>
            <a:picLocks noChangeAspect="1" noChangeArrowheads="1"/>
          </p:cNvPicPr>
          <p:nvPr/>
        </p:nvPicPr>
        <p:blipFill>
          <a:blip r:embed="rId6"/>
          <a:stretch>
            <a:fillRect/>
          </a:stretch>
        </p:blipFill>
        <p:spPr bwMode="gray">
          <a:xfrm>
            <a:off x="3803781" y="1740776"/>
            <a:ext cx="369473" cy="302297"/>
          </a:xfrm>
          <a:prstGeom prst="rect">
            <a:avLst/>
          </a:prstGeom>
          <a:noFill/>
        </p:spPr>
      </p:pic>
      <p:sp>
        <p:nvSpPr>
          <p:cNvPr id="25" name="文本框 24"/>
          <p:cNvSpPr txBox="1"/>
          <p:nvPr/>
        </p:nvSpPr>
        <p:spPr bwMode="gray">
          <a:xfrm>
            <a:off x="3210100" y="3416058"/>
            <a:ext cx="1516761" cy="584775"/>
          </a:xfrm>
          <a:prstGeom prst="rect">
            <a:avLst/>
          </a:prstGeom>
          <a:noFill/>
        </p:spPr>
        <p:txBody>
          <a:bodyPr wrap="square" rtlCol="0">
            <a:noAutofit/>
          </a:bodyPr>
          <a:lstStyle/>
          <a:p>
            <a:pPr algn="ctr" font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域（</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 VXLAN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箭头连接符 26"/>
          <p:cNvCxnSpPr/>
          <p:nvPr/>
        </p:nvCxnSpPr>
        <p:spPr bwMode="gray">
          <a:xfrm>
            <a:off x="1550750" y="2682438"/>
            <a:ext cx="2275223"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28" name="直接箭头连接符 27"/>
          <p:cNvCxnSpPr/>
          <p:nvPr/>
        </p:nvCxnSpPr>
        <p:spPr bwMode="gray">
          <a:xfrm>
            <a:off x="1550749" y="3535939"/>
            <a:ext cx="1320091"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29" name="直接箭头连接符 28"/>
          <p:cNvCxnSpPr/>
          <p:nvPr/>
        </p:nvCxnSpPr>
        <p:spPr bwMode="gray">
          <a:xfrm>
            <a:off x="1550750" y="4607117"/>
            <a:ext cx="1190804"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30" name="直接箭头连接符 29"/>
          <p:cNvCxnSpPr/>
          <p:nvPr/>
        </p:nvCxnSpPr>
        <p:spPr bwMode="gray">
          <a:xfrm>
            <a:off x="1550750" y="5294119"/>
            <a:ext cx="643233"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31" name="直接箭头连接符 30"/>
          <p:cNvCxnSpPr/>
          <p:nvPr/>
        </p:nvCxnSpPr>
        <p:spPr bwMode="gray">
          <a:xfrm flipV="1">
            <a:off x="2972402" y="5509803"/>
            <a:ext cx="359585" cy="317164"/>
          </a:xfrm>
          <a:prstGeom prst="straightConnector1">
            <a:avLst/>
          </a:prstGeom>
          <a:noFill/>
          <a:ln w="6350" cap="flat" cmpd="sng" algn="ctr">
            <a:solidFill>
              <a:schemeClr val="bg1">
                <a:lumMod val="75000"/>
              </a:schemeClr>
            </a:solidFill>
            <a:prstDash val="solid"/>
            <a:miter lim="800000"/>
            <a:tailEnd type="triangle"/>
          </a:ln>
          <a:effectLst/>
        </p:spPr>
      </p:cxnSp>
      <p:sp>
        <p:nvSpPr>
          <p:cNvPr id="32" name="文本框 31"/>
          <p:cNvSpPr txBox="1"/>
          <p:nvPr/>
        </p:nvSpPr>
        <p:spPr bwMode="gray">
          <a:xfrm>
            <a:off x="3679487" y="4768250"/>
            <a:ext cx="716996" cy="305105"/>
          </a:xfrm>
          <a:prstGeom prst="rect">
            <a:avLst/>
          </a:prstGeom>
          <a:noFill/>
        </p:spPr>
        <p:txBody>
          <a:bodyPr wrap="square" rtlCol="0">
            <a:noAutofit/>
          </a:bodyPr>
          <a:lstStyle/>
          <a:p>
            <a:pPr algn="ctr" fontAlgn="ctr"/>
            <a:r>
              <a:rPr lang="zh-CN" altLang="en-US" sz="140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接入域</a:t>
            </a:r>
          </a:p>
        </p:txBody>
      </p:sp>
      <p:cxnSp>
        <p:nvCxnSpPr>
          <p:cNvPr id="33" name="Straight Connector 167"/>
          <p:cNvCxnSpPr>
            <a:stCxn id="34" idx="0"/>
            <a:endCxn id="24" idx="2"/>
          </p:cNvCxnSpPr>
          <p:nvPr/>
        </p:nvCxnSpPr>
        <p:spPr bwMode="gray">
          <a:xfrm flipV="1">
            <a:off x="3988518" y="2043073"/>
            <a:ext cx="0" cy="438922"/>
          </a:xfrm>
          <a:prstGeom prst="line">
            <a:avLst/>
          </a:prstGeom>
          <a:noFill/>
          <a:ln w="12700" cap="flat" cmpd="sng" algn="ctr">
            <a:solidFill>
              <a:schemeClr val="tx1"/>
            </a:solidFill>
            <a:prstDash val="solid"/>
            <a:miter lim="800000"/>
          </a:ln>
          <a:effectLst/>
        </p:spPr>
      </p:cxnSp>
      <p:pic>
        <p:nvPicPr>
          <p:cNvPr id="34" name="图片 86" descr="核心交换机.png"/>
          <p:cNvPicPr>
            <a:picLocks noChangeAspect="1"/>
          </p:cNvPicPr>
          <p:nvPr/>
        </p:nvPicPr>
        <p:blipFill>
          <a:blip r:embed="rId7"/>
          <a:stretch>
            <a:fillRect/>
          </a:stretch>
        </p:blipFill>
        <p:spPr bwMode="gray">
          <a:xfrm>
            <a:off x="3803781" y="2481995"/>
            <a:ext cx="369473" cy="302297"/>
          </a:xfrm>
          <a:prstGeom prst="rect">
            <a:avLst/>
          </a:prstGeom>
        </p:spPr>
      </p:pic>
      <p:pic>
        <p:nvPicPr>
          <p:cNvPr id="35" name="图片 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968007" y="1162867"/>
            <a:ext cx="1792651" cy="330612"/>
          </a:xfrm>
          <a:prstGeom prst="rect">
            <a:avLst/>
          </a:prstGeom>
        </p:spPr>
      </p:pic>
      <p:sp>
        <p:nvSpPr>
          <p:cNvPr id="37" name="TextBox 177"/>
          <p:cNvSpPr txBox="1"/>
          <p:nvPr/>
        </p:nvSpPr>
        <p:spPr bwMode="gray">
          <a:xfrm>
            <a:off x="499650" y="2552333"/>
            <a:ext cx="1083177" cy="252000"/>
          </a:xfrm>
          <a:prstGeom prst="rect">
            <a:avLst/>
          </a:prstGeom>
          <a:solidFill>
            <a:srgbClr val="30B5C5"/>
          </a:solidFill>
          <a:ln>
            <a:noFill/>
          </a:ln>
        </p:spPr>
        <p:txBody>
          <a:bodyPr wrap="square" lIns="0" tIns="0" rIns="0" bIns="0" rtlCol="0" anchor="ctr" anchorCtr="0">
            <a:noAutofit/>
          </a:bodyPr>
          <a:lstStyle/>
          <a:p>
            <a:pPr algn="ctr" fontAlgn="ctr"/>
            <a:r>
              <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边界网关节点</a:t>
            </a:r>
          </a:p>
        </p:txBody>
      </p:sp>
      <p:sp>
        <p:nvSpPr>
          <p:cNvPr id="38" name="TextBox 177"/>
          <p:cNvSpPr txBox="1"/>
          <p:nvPr/>
        </p:nvSpPr>
        <p:spPr bwMode="gray">
          <a:xfrm>
            <a:off x="499650" y="3392126"/>
            <a:ext cx="1083177" cy="252000"/>
          </a:xfrm>
          <a:prstGeom prst="rect">
            <a:avLst/>
          </a:prstGeom>
          <a:solidFill>
            <a:sysClr val="window" lastClr="FFFFFF">
              <a:lumMod val="85000"/>
            </a:sysClr>
          </a:solidFill>
          <a:ln>
            <a:noFill/>
          </a:ln>
        </p:spPr>
        <p:txBody>
          <a:bodyPr wrap="square" lIns="0" tIns="0" rIns="0" bIns="0" rtlCol="0" anchor="ctr" anchorCtr="0">
            <a:noAutofit/>
          </a:bodyPr>
          <a:lstStyle>
            <a:defPPr>
              <a:defRPr lang="zh-CN"/>
            </a:defPPr>
            <a:lvl1pPr algn="ctr">
              <a:defRPr sz="1000">
                <a:latin typeface="+mj-lt"/>
                <a:ea typeface="微软雅黑" panose="020B0503020204020204" pitchFamily="34" charset="-122"/>
              </a:defRPr>
            </a:lvl1pPr>
          </a:lstStyle>
          <a:p>
            <a:pPr defTabSz="1219170" fontAlgn="ctr">
              <a:defRPr/>
            </a:pP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透传节点</a:t>
            </a:r>
          </a:p>
        </p:txBody>
      </p:sp>
      <p:sp>
        <p:nvSpPr>
          <p:cNvPr id="39" name="TextBox 177"/>
          <p:cNvSpPr txBox="1"/>
          <p:nvPr/>
        </p:nvSpPr>
        <p:spPr bwMode="gray">
          <a:xfrm>
            <a:off x="499650" y="4481117"/>
            <a:ext cx="1083177" cy="252000"/>
          </a:xfrm>
          <a:prstGeom prst="rect">
            <a:avLst/>
          </a:prstGeom>
          <a:solidFill>
            <a:srgbClr val="30B5C5"/>
          </a:solidFill>
          <a:ln>
            <a:noFill/>
          </a:ln>
        </p:spPr>
        <p:txBody>
          <a:bodyPr wrap="square" lIns="0" tIns="0" rIns="0" bIns="0" rtlCol="0" anchor="ctr" anchorCtr="0">
            <a:noAutofit/>
          </a:bodyPr>
          <a:lstStyle/>
          <a:p>
            <a:pPr algn="ctr" fontAlgn="ctr"/>
            <a:r>
              <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边缘节点</a:t>
            </a:r>
          </a:p>
        </p:txBody>
      </p:sp>
      <p:sp>
        <p:nvSpPr>
          <p:cNvPr id="40" name="TextBox 177"/>
          <p:cNvSpPr txBox="1"/>
          <p:nvPr/>
        </p:nvSpPr>
        <p:spPr bwMode="gray">
          <a:xfrm>
            <a:off x="499650" y="5194054"/>
            <a:ext cx="1083177" cy="252000"/>
          </a:xfrm>
          <a:prstGeom prst="rect">
            <a:avLst/>
          </a:prstGeom>
          <a:solidFill>
            <a:sysClr val="window" lastClr="FFFFFF">
              <a:lumMod val="85000"/>
            </a:sysClr>
          </a:solidFill>
          <a:ln>
            <a:noFill/>
          </a:ln>
        </p:spPr>
        <p:txBody>
          <a:bodyPr wrap="square" lIns="0" tIns="0" rIns="0" bIns="0" rtlCol="0" anchor="ctr" anchorCtr="0">
            <a:noAutofit/>
          </a:bodyPr>
          <a:lstStyle>
            <a:defPPr>
              <a:defRPr lang="zh-CN"/>
            </a:defPPr>
            <a:lvl1pPr algn="ctr">
              <a:defRPr sz="1000">
                <a:latin typeface="+mj-lt"/>
                <a:ea typeface="微软雅黑" panose="020B0503020204020204" pitchFamily="34" charset="-122"/>
              </a:defRPr>
            </a:lvl1pPr>
          </a:lstStyle>
          <a:p>
            <a:pPr defTabSz="1219170" fontAlgn="ctr">
              <a:defRPr/>
            </a:pPr>
            <a:r>
              <a:rPr lang="zh-CN" altLang="en-US" sz="1200"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接入节点</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77"/>
          <p:cNvSpPr txBox="1"/>
          <p:nvPr/>
        </p:nvSpPr>
        <p:spPr bwMode="gray">
          <a:xfrm>
            <a:off x="4760659" y="5934076"/>
            <a:ext cx="1306278" cy="238748"/>
          </a:xfrm>
          <a:prstGeom prst="rect">
            <a:avLst/>
          </a:prstGeom>
          <a:solidFill>
            <a:srgbClr val="30B5C5"/>
          </a:solidFill>
          <a:ln>
            <a:noFill/>
          </a:ln>
        </p:spPr>
        <p:txBody>
          <a:bodyPr wrap="square" lIns="0" tIns="0" rIns="0" bIns="0" rtlCol="0" anchor="ctr" anchorCtr="0">
            <a:noAutofit/>
          </a:bodyPr>
          <a:lstStyle/>
          <a:p>
            <a:pPr algn="ctr" fontAlgn="ctr"/>
            <a:r>
              <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的节点</a:t>
            </a:r>
          </a:p>
        </p:txBody>
      </p:sp>
      <p:cxnSp>
        <p:nvCxnSpPr>
          <p:cNvPr id="42" name="直接箭头连接符 41"/>
          <p:cNvCxnSpPr/>
          <p:nvPr/>
        </p:nvCxnSpPr>
        <p:spPr bwMode="gray">
          <a:xfrm>
            <a:off x="1714500" y="5829833"/>
            <a:ext cx="1257902" cy="0"/>
          </a:xfrm>
          <a:prstGeom prst="straightConnector1">
            <a:avLst/>
          </a:prstGeom>
          <a:noFill/>
          <a:ln w="6350" cap="flat" cmpd="sng" algn="ctr">
            <a:solidFill>
              <a:schemeClr val="bg1">
                <a:lumMod val="75000"/>
              </a:schemeClr>
            </a:solidFill>
            <a:prstDash val="solid"/>
            <a:miter lim="800000"/>
            <a:tailEnd type="none"/>
          </a:ln>
          <a:effectLst/>
        </p:spPr>
      </p:cxnSp>
      <p:cxnSp>
        <p:nvCxnSpPr>
          <p:cNvPr id="43" name="直接箭头连接符 42"/>
          <p:cNvCxnSpPr/>
          <p:nvPr/>
        </p:nvCxnSpPr>
        <p:spPr bwMode="gray">
          <a:xfrm>
            <a:off x="1213254" y="5446054"/>
            <a:ext cx="501246" cy="383779"/>
          </a:xfrm>
          <a:prstGeom prst="straightConnector1">
            <a:avLst/>
          </a:prstGeom>
          <a:noFill/>
          <a:ln w="6350" cap="flat" cmpd="sng" algn="ctr">
            <a:solidFill>
              <a:schemeClr val="bg1">
                <a:lumMod val="75000"/>
              </a:schemeClr>
            </a:solidFill>
            <a:prstDash val="solid"/>
            <a:miter lim="800000"/>
            <a:tailEnd type="none"/>
          </a:ln>
          <a:effectLst/>
        </p:spPr>
      </p:cxnSp>
      <p:cxnSp>
        <p:nvCxnSpPr>
          <p:cNvPr id="44" name="直接箭头连接符 43"/>
          <p:cNvCxnSpPr/>
          <p:nvPr/>
        </p:nvCxnSpPr>
        <p:spPr bwMode="gray">
          <a:xfrm>
            <a:off x="1550749" y="1834356"/>
            <a:ext cx="2243224" cy="0"/>
          </a:xfrm>
          <a:prstGeom prst="straightConnector1">
            <a:avLst/>
          </a:prstGeom>
          <a:noFill/>
          <a:ln w="6350" cap="flat" cmpd="sng" algn="ctr">
            <a:solidFill>
              <a:schemeClr val="bg1">
                <a:lumMod val="75000"/>
              </a:schemeClr>
            </a:solidFill>
            <a:prstDash val="solid"/>
            <a:miter lim="800000"/>
            <a:tailEnd type="triangle"/>
          </a:ln>
          <a:effectLst/>
        </p:spPr>
      </p:cxnSp>
      <p:sp>
        <p:nvSpPr>
          <p:cNvPr id="45" name="TextBox 177"/>
          <p:cNvSpPr txBox="1"/>
          <p:nvPr/>
        </p:nvSpPr>
        <p:spPr bwMode="gray">
          <a:xfrm>
            <a:off x="499650" y="1704251"/>
            <a:ext cx="1083177" cy="252000"/>
          </a:xfrm>
          <a:prstGeom prst="rect">
            <a:avLst/>
          </a:prstGeom>
          <a:solidFill>
            <a:sysClr val="window" lastClr="FFFFFF">
              <a:lumMod val="85000"/>
            </a:sysClr>
          </a:solidFill>
          <a:ln>
            <a:noFill/>
          </a:ln>
        </p:spPr>
        <p:txBody>
          <a:bodyPr wrap="square" lIns="0" tIns="0" rIns="0" bIns="0" rtlCol="0" anchor="ctr" anchorCtr="0">
            <a:noAutofit/>
          </a:bodyPr>
          <a:lstStyle/>
          <a:p>
            <a:pPr algn="ctr" defTabSz="1219170" fontAlgn="ctr">
              <a:defRPr/>
            </a:pP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出口网关</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6" name="图片 4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74441" y="2111385"/>
            <a:ext cx="369473" cy="302297"/>
          </a:xfrm>
          <a:prstGeom prst="rect">
            <a:avLst/>
          </a:prstGeom>
        </p:spPr>
      </p:pic>
      <p:pic>
        <p:nvPicPr>
          <p:cNvPr id="47" name="图片 4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33121" y="2111385"/>
            <a:ext cx="369473" cy="302297"/>
          </a:xfrm>
          <a:prstGeom prst="rect">
            <a:avLst/>
          </a:prstGeom>
        </p:spPr>
      </p:pic>
      <p:cxnSp>
        <p:nvCxnSpPr>
          <p:cNvPr id="49" name="Straight Connector 167"/>
          <p:cNvCxnSpPr>
            <a:stCxn id="34" idx="1"/>
            <a:endCxn id="46" idx="3"/>
          </p:cNvCxnSpPr>
          <p:nvPr/>
        </p:nvCxnSpPr>
        <p:spPr bwMode="gray">
          <a:xfrm flipH="1" flipV="1">
            <a:off x="3343914" y="2262534"/>
            <a:ext cx="459867" cy="370610"/>
          </a:xfrm>
          <a:prstGeom prst="line">
            <a:avLst/>
          </a:prstGeom>
          <a:noFill/>
          <a:ln w="12700" cap="flat" cmpd="sng" algn="ctr">
            <a:solidFill>
              <a:schemeClr val="tx1"/>
            </a:solidFill>
            <a:prstDash val="solid"/>
            <a:miter lim="800000"/>
          </a:ln>
          <a:effectLst/>
        </p:spPr>
      </p:cxnSp>
      <p:cxnSp>
        <p:nvCxnSpPr>
          <p:cNvPr id="50" name="Straight Connector 167"/>
          <p:cNvCxnSpPr>
            <a:stCxn id="34" idx="3"/>
            <a:endCxn id="47" idx="1"/>
          </p:cNvCxnSpPr>
          <p:nvPr/>
        </p:nvCxnSpPr>
        <p:spPr bwMode="gray">
          <a:xfrm flipV="1">
            <a:off x="4173254" y="2262534"/>
            <a:ext cx="459867" cy="370610"/>
          </a:xfrm>
          <a:prstGeom prst="line">
            <a:avLst/>
          </a:prstGeom>
          <a:noFill/>
          <a:ln w="12700" cap="flat" cmpd="sng" algn="ctr">
            <a:solidFill>
              <a:schemeClr val="tx1"/>
            </a:solidFill>
            <a:prstDash val="solid"/>
            <a:miter lim="800000"/>
          </a:ln>
          <a:effectLst/>
        </p:spPr>
      </p:cxnSp>
      <p:cxnSp>
        <p:nvCxnSpPr>
          <p:cNvPr id="51" name="直接箭头连接符 50"/>
          <p:cNvCxnSpPr/>
          <p:nvPr/>
        </p:nvCxnSpPr>
        <p:spPr bwMode="gray">
          <a:xfrm>
            <a:off x="1550749" y="2262534"/>
            <a:ext cx="1338212" cy="0"/>
          </a:xfrm>
          <a:prstGeom prst="straightConnector1">
            <a:avLst/>
          </a:prstGeom>
          <a:noFill/>
          <a:ln w="6350" cap="flat" cmpd="sng" algn="ctr">
            <a:solidFill>
              <a:schemeClr val="bg1">
                <a:lumMod val="75000"/>
              </a:schemeClr>
            </a:solidFill>
            <a:prstDash val="solid"/>
            <a:miter lim="800000"/>
            <a:tailEnd type="triangle"/>
          </a:ln>
          <a:effectLst/>
        </p:spPr>
      </p:cxnSp>
      <p:sp>
        <p:nvSpPr>
          <p:cNvPr id="52" name="TextBox 177"/>
          <p:cNvSpPr txBox="1"/>
          <p:nvPr/>
        </p:nvSpPr>
        <p:spPr bwMode="gray">
          <a:xfrm>
            <a:off x="499650" y="2132429"/>
            <a:ext cx="1083177" cy="252000"/>
          </a:xfrm>
          <a:prstGeom prst="rect">
            <a:avLst/>
          </a:prstGeom>
          <a:solidFill>
            <a:sysClr val="window" lastClr="FFFFFF">
              <a:lumMod val="85000"/>
            </a:sysClr>
          </a:solidFill>
          <a:ln>
            <a:noFill/>
          </a:ln>
        </p:spPr>
        <p:txBody>
          <a:bodyPr wrap="square" lIns="0" tIns="0" rIns="0" bIns="0" rtlCol="0" anchor="ctr" anchorCtr="0">
            <a:noAutofit/>
          </a:bodyPr>
          <a:lstStyle/>
          <a:p>
            <a:pPr algn="ctr" defTabSz="1219170" fontAlgn="ctr">
              <a:defRPr/>
            </a:pP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防火墙节点</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57867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t>CloudCampus</a:t>
            </a:r>
            <a:r>
              <a:rPr lang="zh-CN" altLang="en-US" dirty="0"/>
              <a:t>关键技术：基于</a:t>
            </a:r>
            <a:r>
              <a:rPr lang="en-US" altLang="zh-CN" dirty="0"/>
              <a:t>DHCP</a:t>
            </a:r>
            <a:r>
              <a:rPr lang="zh-CN" altLang="en-US" dirty="0"/>
              <a:t>的网络</a:t>
            </a:r>
            <a:r>
              <a:rPr lang="zh-CN" altLang="en-US" dirty="0">
                <a:sym typeface="Huawei Sans" panose="020C0503030203020204" pitchFamily="34" charset="0"/>
              </a:rPr>
              <a:t>设备即插即用</a:t>
            </a:r>
          </a:p>
        </p:txBody>
      </p:sp>
      <p:sp>
        <p:nvSpPr>
          <p:cNvPr id="26" name="文本占位符 2"/>
          <p:cNvSpPr txBox="1">
            <a:spLocks/>
          </p:cNvSpPr>
          <p:nvPr/>
        </p:nvSpPr>
        <p:spPr bwMode="gray">
          <a:xfrm>
            <a:off x="481905" y="2225617"/>
            <a:ext cx="3587060" cy="168548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a:sym typeface="Huawei Sans" panose="020C0503030203020204" pitchFamily="34" charset="0"/>
              </a:rPr>
              <a:t>网络管理员提前在网络中部署</a:t>
            </a:r>
            <a:r>
              <a:rPr lang="en-US" altLang="zh-CN" sz="1400" dirty="0">
                <a:sym typeface="Huawei Sans" panose="020C0503030203020204" pitchFamily="34" charset="0"/>
              </a:rPr>
              <a:t>DHCP</a:t>
            </a:r>
            <a:r>
              <a:rPr lang="zh-CN" altLang="en-US" sz="1400" dirty="0">
                <a:sym typeface="Huawei Sans" panose="020C0503030203020204" pitchFamily="34" charset="0"/>
              </a:rPr>
              <a:t>服务（推荐部署在核心交换机）。</a:t>
            </a:r>
          </a:p>
          <a:p>
            <a:r>
              <a:rPr lang="en-US" altLang="zh-CN" sz="1400" dirty="0">
                <a:sym typeface="Huawei Sans" panose="020C0503030203020204" pitchFamily="34" charset="0"/>
              </a:rPr>
              <a:t>DHCP</a:t>
            </a:r>
            <a:r>
              <a:rPr lang="zh-CN" altLang="en-US" sz="1400" dirty="0">
                <a:sym typeface="Huawei Sans" panose="020C0503030203020204" pitchFamily="34" charset="0"/>
              </a:rPr>
              <a:t>服务器除了向待开局设备发放</a:t>
            </a:r>
            <a:r>
              <a:rPr lang="en-US" altLang="zh-CN" sz="1400" dirty="0">
                <a:sym typeface="Huawei Sans" panose="020C0503030203020204" pitchFamily="34" charset="0"/>
              </a:rPr>
              <a:t>IP</a:t>
            </a:r>
            <a:r>
              <a:rPr lang="zh-CN" altLang="en-US" sz="1400" dirty="0">
                <a:sym typeface="Huawei Sans" panose="020C0503030203020204" pitchFamily="34" charset="0"/>
              </a:rPr>
              <a:t>地址，还通过</a:t>
            </a:r>
            <a:r>
              <a:rPr lang="en-US" altLang="zh-CN" sz="1400" dirty="0">
                <a:sym typeface="Huawei Sans" panose="020C0503030203020204" pitchFamily="34" charset="0"/>
              </a:rPr>
              <a:t>DHCP Option148</a:t>
            </a:r>
            <a:r>
              <a:rPr lang="zh-CN" altLang="en-US" sz="1400" dirty="0">
                <a:sym typeface="Huawei Sans" panose="020C0503030203020204" pitchFamily="34" charset="0"/>
              </a:rPr>
              <a:t>告知</a:t>
            </a:r>
            <a:r>
              <a:rPr lang="en-US" altLang="zh-CN" sz="1400" dirty="0">
                <a:sym typeface="Huawei Sans" panose="020C0503030203020204" pitchFamily="34" charset="0"/>
              </a:rPr>
              <a:t>iMaster NCE-Campus</a:t>
            </a:r>
            <a:r>
              <a:rPr lang="zh-CN" altLang="en-US" sz="1400" dirty="0">
                <a:sym typeface="Huawei Sans" panose="020C0503030203020204" pitchFamily="34" charset="0"/>
              </a:rPr>
              <a:t>的</a:t>
            </a:r>
            <a:r>
              <a:rPr lang="en-US" altLang="zh-CN" sz="1400" dirty="0">
                <a:sym typeface="Huawei Sans" panose="020C0503030203020204" pitchFamily="34" charset="0"/>
              </a:rPr>
              <a:t>IP</a:t>
            </a:r>
            <a:r>
              <a:rPr lang="zh-CN" altLang="en-US" sz="1400" dirty="0">
                <a:sym typeface="Huawei Sans" panose="020C0503030203020204" pitchFamily="34" charset="0"/>
              </a:rPr>
              <a:t>地址与端口号。</a:t>
            </a:r>
          </a:p>
        </p:txBody>
      </p:sp>
      <p:sp>
        <p:nvSpPr>
          <p:cNvPr id="27" name="圆角矩形 26"/>
          <p:cNvSpPr/>
          <p:nvPr/>
        </p:nvSpPr>
        <p:spPr bwMode="gray">
          <a:xfrm>
            <a:off x="4147793" y="1430185"/>
            <a:ext cx="7296477" cy="4093922"/>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p:cNvCxnSpPr>
            <a:endCxn id="30" idx="0"/>
          </p:cNvCxnSpPr>
          <p:nvPr/>
        </p:nvCxnSpPr>
        <p:spPr bwMode="gray">
          <a:xfrm flipH="1">
            <a:off x="5880481" y="2160286"/>
            <a:ext cx="8470" cy="24742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bwMode="gray">
          <a:xfrm>
            <a:off x="6139590" y="1824969"/>
            <a:ext cx="1082348"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核心交换机</a:t>
            </a:r>
          </a:p>
        </p:txBody>
      </p:sp>
      <p:pic>
        <p:nvPicPr>
          <p:cNvPr id="30" name="图片 29" descr="接入交换机.png"/>
          <p:cNvPicPr>
            <a:picLocks noChangeAspect="1"/>
          </p:cNvPicPr>
          <p:nvPr/>
        </p:nvPicPr>
        <p:blipFill>
          <a:blip r:embed="rId3" cstate="print"/>
          <a:stretch>
            <a:fillRect/>
          </a:stretch>
        </p:blipFill>
        <p:spPr bwMode="gray">
          <a:xfrm>
            <a:off x="5611392" y="4634550"/>
            <a:ext cx="538178" cy="440328"/>
          </a:xfrm>
          <a:prstGeom prst="rect">
            <a:avLst/>
          </a:prstGeom>
        </p:spPr>
      </p:pic>
      <p:cxnSp>
        <p:nvCxnSpPr>
          <p:cNvPr id="31" name="直接箭头连接符 30"/>
          <p:cNvCxnSpPr/>
          <p:nvPr/>
        </p:nvCxnSpPr>
        <p:spPr bwMode="gray">
          <a:xfrm>
            <a:off x="2171615" y="1938886"/>
            <a:ext cx="3386192" cy="0"/>
          </a:xfrm>
          <a:prstGeom prst="straightConnector1">
            <a:avLst/>
          </a:prstGeom>
          <a:noFill/>
          <a:ln w="28575">
            <a:solidFill>
              <a:srgbClr val="30B5C5"/>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2" name="椭圆 31"/>
          <p:cNvSpPr>
            <a:spLocks noChangeAspect="1"/>
          </p:cNvSpPr>
          <p:nvPr/>
        </p:nvSpPr>
        <p:spPr bwMode="gray">
          <a:xfrm>
            <a:off x="2603206" y="1826685"/>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32" descr="管理员-蓝.png"/>
          <p:cNvPicPr>
            <a:picLocks noChangeAspect="1"/>
          </p:cNvPicPr>
          <p:nvPr/>
        </p:nvPicPr>
        <p:blipFill>
          <a:blip r:embed="rId4" cstate="print"/>
          <a:stretch>
            <a:fillRect/>
          </a:stretch>
        </p:blipFill>
        <p:spPr bwMode="gray">
          <a:xfrm>
            <a:off x="1680706" y="1734683"/>
            <a:ext cx="490909" cy="401654"/>
          </a:xfrm>
          <a:prstGeom prst="rect">
            <a:avLst/>
          </a:prstGeom>
        </p:spPr>
      </p:pic>
      <p:cxnSp>
        <p:nvCxnSpPr>
          <p:cNvPr id="34" name="直接箭头连接符 33"/>
          <p:cNvCxnSpPr/>
          <p:nvPr/>
        </p:nvCxnSpPr>
        <p:spPr bwMode="gray">
          <a:xfrm flipV="1">
            <a:off x="5628249" y="2253028"/>
            <a:ext cx="0" cy="2340000"/>
          </a:xfrm>
          <a:prstGeom prst="straightConnector1">
            <a:avLst/>
          </a:prstGeom>
          <a:noFill/>
          <a:ln w="28575">
            <a:solidFill>
              <a:srgbClr val="30B5C5"/>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5" name="椭圆 34"/>
          <p:cNvSpPr>
            <a:spLocks noChangeAspect="1"/>
          </p:cNvSpPr>
          <p:nvPr/>
        </p:nvSpPr>
        <p:spPr bwMode="gray">
          <a:xfrm>
            <a:off x="5508111" y="3315261"/>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3986036" y="3277612"/>
            <a:ext cx="1512168" cy="307777"/>
          </a:xfrm>
          <a:prstGeom prst="rect">
            <a:avLst/>
          </a:prstGeom>
          <a:noFill/>
        </p:spPr>
        <p:txBody>
          <a:bodyPr wrap="square" rtlCol="0">
            <a:spAutoFit/>
          </a:bodyPr>
          <a:lstStyle/>
          <a:p>
            <a:pPr algn="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请求</a:t>
            </a:r>
          </a:p>
        </p:txBody>
      </p:sp>
      <p:cxnSp>
        <p:nvCxnSpPr>
          <p:cNvPr id="37" name="直接箭头连接符 36"/>
          <p:cNvCxnSpPr/>
          <p:nvPr/>
        </p:nvCxnSpPr>
        <p:spPr bwMode="gray">
          <a:xfrm>
            <a:off x="6123149" y="2254552"/>
            <a:ext cx="0" cy="2340000"/>
          </a:xfrm>
          <a:prstGeom prst="straightConnector1">
            <a:avLst/>
          </a:prstGeom>
          <a:noFill/>
          <a:ln w="28575">
            <a:solidFill>
              <a:srgbClr val="30B5C5"/>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8" name="椭圆 37"/>
          <p:cNvSpPr>
            <a:spLocks noChangeAspect="1"/>
          </p:cNvSpPr>
          <p:nvPr/>
        </p:nvSpPr>
        <p:spPr bwMode="gray">
          <a:xfrm>
            <a:off x="6011498" y="2679846"/>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6234801" y="2626344"/>
            <a:ext cx="1976793" cy="1220847"/>
          </a:xfrm>
          <a:prstGeom prst="rect">
            <a:avLst/>
          </a:prstGeom>
          <a:noFill/>
        </p:spPr>
        <p:txBody>
          <a:bodyPr wrap="square" rtlCol="0">
            <a:spAutoFit/>
          </a:bodyPr>
          <a:lstStyle/>
          <a:p>
            <a:pPr>
              <a:lnSpc>
                <a:spcPts val="2200"/>
              </a:lnSpc>
              <a:spcAft>
                <a:spcPts val="6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应答：含</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DNS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以及工作模式、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Option148</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地址及端口）等信息。</a:t>
            </a:r>
          </a:p>
        </p:txBody>
      </p:sp>
      <p:sp>
        <p:nvSpPr>
          <p:cNvPr id="40" name="任意多边形 39"/>
          <p:cNvSpPr/>
          <p:nvPr/>
        </p:nvSpPr>
        <p:spPr bwMode="gray">
          <a:xfrm>
            <a:off x="6258740" y="2848689"/>
            <a:ext cx="3204006" cy="1992934"/>
          </a:xfrm>
          <a:custGeom>
            <a:avLst/>
            <a:gdLst>
              <a:gd name="connsiteX0" fmla="*/ 1580226 w 1580226"/>
              <a:gd name="connsiteY0" fmla="*/ 1473693 h 1473693"/>
              <a:gd name="connsiteX1" fmla="*/ 0 w 1580226"/>
              <a:gd name="connsiteY1" fmla="*/ 0 h 1473693"/>
              <a:gd name="connsiteX0" fmla="*/ 5606094 w 5606094"/>
              <a:gd name="connsiteY0" fmla="*/ 1491449 h 1491449"/>
              <a:gd name="connsiteX1" fmla="*/ 0 w 5606094"/>
              <a:gd name="connsiteY1" fmla="*/ 0 h 1491449"/>
              <a:gd name="connsiteX0" fmla="*/ 0 w 3860126"/>
              <a:gd name="connsiteY0" fmla="*/ 1429306 h 1429306"/>
              <a:gd name="connsiteX1" fmla="*/ 3860126 w 3860126"/>
              <a:gd name="connsiteY1" fmla="*/ 0 h 1429306"/>
              <a:gd name="connsiteX0" fmla="*/ 0 w 4581322"/>
              <a:gd name="connsiteY0" fmla="*/ 1429306 h 1429306"/>
              <a:gd name="connsiteX1" fmla="*/ 3860126 w 4581322"/>
              <a:gd name="connsiteY1" fmla="*/ 0 h 1429306"/>
              <a:gd name="connsiteX0" fmla="*/ 0 w 3796565"/>
              <a:gd name="connsiteY0" fmla="*/ 1429306 h 1429306"/>
              <a:gd name="connsiteX1" fmla="*/ 1575176 w 3796565"/>
              <a:gd name="connsiteY1" fmla="*/ 0 h 1429306"/>
              <a:gd name="connsiteX0" fmla="*/ 0 w 4990743"/>
              <a:gd name="connsiteY0" fmla="*/ 1429306 h 1429306"/>
              <a:gd name="connsiteX1" fmla="*/ 1575176 w 4990743"/>
              <a:gd name="connsiteY1" fmla="*/ 0 h 1429306"/>
              <a:gd name="connsiteX0" fmla="*/ 0 w 5182848"/>
              <a:gd name="connsiteY0" fmla="*/ 1462383 h 1462383"/>
              <a:gd name="connsiteX1" fmla="*/ 2010397 w 5182848"/>
              <a:gd name="connsiteY1" fmla="*/ 0 h 1462383"/>
              <a:gd name="connsiteX0" fmla="*/ 0 w 5416097"/>
              <a:gd name="connsiteY0" fmla="*/ 1462383 h 1462383"/>
              <a:gd name="connsiteX1" fmla="*/ 2010397 w 5416097"/>
              <a:gd name="connsiteY1" fmla="*/ 0 h 1462383"/>
              <a:gd name="connsiteX0" fmla="*/ 0 w 4674310"/>
              <a:gd name="connsiteY0" fmla="*/ 1478921 h 1478921"/>
              <a:gd name="connsiteX1" fmla="*/ 269479 w 4674310"/>
              <a:gd name="connsiteY1" fmla="*/ 0 h 1478921"/>
              <a:gd name="connsiteX0" fmla="*/ 0 w 3500331"/>
              <a:gd name="connsiteY0" fmla="*/ 1478921 h 1478921"/>
              <a:gd name="connsiteX1" fmla="*/ 269479 w 3500331"/>
              <a:gd name="connsiteY1" fmla="*/ 0 h 1478921"/>
              <a:gd name="connsiteX0" fmla="*/ 0 w 3471698"/>
              <a:gd name="connsiteY0" fmla="*/ 1495024 h 1495024"/>
              <a:gd name="connsiteX1" fmla="*/ 204509 w 3471698"/>
              <a:gd name="connsiteY1" fmla="*/ 0 h 1495024"/>
              <a:gd name="connsiteX0" fmla="*/ 0 w 3248647"/>
              <a:gd name="connsiteY0" fmla="*/ 1495024 h 1495024"/>
              <a:gd name="connsiteX1" fmla="*/ 204509 w 3248647"/>
              <a:gd name="connsiteY1" fmla="*/ 0 h 1495024"/>
              <a:gd name="connsiteX0" fmla="*/ 0 w 3161048"/>
              <a:gd name="connsiteY0" fmla="*/ 1490998 h 1490998"/>
              <a:gd name="connsiteX1" fmla="*/ 9597 w 3161048"/>
              <a:gd name="connsiteY1" fmla="*/ 0 h 1490998"/>
              <a:gd name="connsiteX0" fmla="*/ 0 w 2931594"/>
              <a:gd name="connsiteY0" fmla="*/ 1490998 h 1490998"/>
              <a:gd name="connsiteX1" fmla="*/ 9597 w 2931594"/>
              <a:gd name="connsiteY1" fmla="*/ 0 h 1490998"/>
              <a:gd name="connsiteX0" fmla="*/ 0 w 4459299"/>
              <a:gd name="connsiteY0" fmla="*/ 870834 h 870834"/>
              <a:gd name="connsiteX1" fmla="*/ 2839341 w 4459299"/>
              <a:gd name="connsiteY1" fmla="*/ 0 h 870834"/>
              <a:gd name="connsiteX0" fmla="*/ 0 w 3270312"/>
              <a:gd name="connsiteY0" fmla="*/ 870834 h 870834"/>
              <a:gd name="connsiteX1" fmla="*/ 2839341 w 3270312"/>
              <a:gd name="connsiteY1" fmla="*/ 0 h 870834"/>
              <a:gd name="connsiteX0" fmla="*/ 0 w 3284925"/>
              <a:gd name="connsiteY0" fmla="*/ 957475 h 957475"/>
              <a:gd name="connsiteX1" fmla="*/ 2864834 w 3284925"/>
              <a:gd name="connsiteY1" fmla="*/ 0 h 957475"/>
              <a:gd name="connsiteX0" fmla="*/ 0 w 2866004"/>
              <a:gd name="connsiteY0" fmla="*/ 957475 h 957475"/>
              <a:gd name="connsiteX1" fmla="*/ 2864834 w 2866004"/>
              <a:gd name="connsiteY1" fmla="*/ 0 h 957475"/>
              <a:gd name="connsiteX0" fmla="*/ 0 w 2829601"/>
              <a:gd name="connsiteY0" fmla="*/ 933676 h 933676"/>
              <a:gd name="connsiteX1" fmla="*/ 2828370 w 2829601"/>
              <a:gd name="connsiteY1" fmla="*/ 0 h 933676"/>
              <a:gd name="connsiteX0" fmla="*/ 0 w 2832566"/>
              <a:gd name="connsiteY0" fmla="*/ 933676 h 933676"/>
              <a:gd name="connsiteX1" fmla="*/ 2828370 w 2832566"/>
              <a:gd name="connsiteY1" fmla="*/ 0 h 933676"/>
            </a:gdLst>
            <a:ahLst/>
            <a:cxnLst>
              <a:cxn ang="0">
                <a:pos x="connsiteX0" y="connsiteY0"/>
              </a:cxn>
              <a:cxn ang="0">
                <a:pos x="connsiteX1" y="connsiteY1"/>
              </a:cxn>
            </a:cxnLst>
            <a:rect l="l" t="t" r="r" b="b"/>
            <a:pathLst>
              <a:path w="2832566" h="933676">
                <a:moveTo>
                  <a:pt x="0" y="933676"/>
                </a:moveTo>
                <a:cubicBezTo>
                  <a:pt x="2761942" y="900775"/>
                  <a:pt x="2861745" y="288574"/>
                  <a:pt x="2828370" y="0"/>
                </a:cubicBezTo>
              </a:path>
            </a:pathLst>
          </a:custGeom>
          <a:noFill/>
          <a:ln w="28575">
            <a:solidFill>
              <a:srgbClr val="30B5C5"/>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椭圆 40"/>
          <p:cNvSpPr>
            <a:spLocks noChangeAspect="1"/>
          </p:cNvSpPr>
          <p:nvPr/>
        </p:nvSpPr>
        <p:spPr bwMode="gray">
          <a:xfrm>
            <a:off x="8141585" y="4415365"/>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8374065" y="4447558"/>
            <a:ext cx="2551110" cy="656590"/>
          </a:xfrm>
          <a:prstGeom prst="rect">
            <a:avLst/>
          </a:prstGeom>
          <a:noFill/>
        </p:spPr>
        <p:txBody>
          <a:bodyPr wrap="square" rtlCol="0">
            <a:spAutoFit/>
          </a:bodyPr>
          <a:lstStyle/>
          <a:p>
            <a:pPr>
              <a:lnSpc>
                <a:spcPts val="2200"/>
              </a:lnSpc>
              <a:spcAft>
                <a:spcPts val="6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主动向</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控制器发起注册。</a:t>
            </a:r>
          </a:p>
        </p:txBody>
      </p:sp>
      <p:sp>
        <p:nvSpPr>
          <p:cNvPr id="43" name="圆角矩形 42"/>
          <p:cNvSpPr/>
          <p:nvPr/>
        </p:nvSpPr>
        <p:spPr bwMode="gray">
          <a:xfrm>
            <a:off x="806824" y="5763005"/>
            <a:ext cx="10637447"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支持设备类型： </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路由器、交换机、</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5123594" y="5087574"/>
            <a:ext cx="1512168" cy="307777"/>
          </a:xfrm>
          <a:prstGeom prst="rect">
            <a:avLst/>
          </a:prstGeom>
          <a:noFill/>
        </p:spPr>
        <p:txBody>
          <a:bodyPr wrap="square" rtlCol="0">
            <a:spAutoFit/>
          </a:bodyPr>
          <a:lstStyle/>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待开局交换机</a:t>
            </a:r>
          </a:p>
        </p:txBody>
      </p:sp>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714981" y="2411680"/>
            <a:ext cx="1792651" cy="330612"/>
          </a:xfrm>
          <a:prstGeom prst="rect">
            <a:avLst/>
          </a:prstGeom>
        </p:spPr>
      </p:pic>
      <p:pic>
        <p:nvPicPr>
          <p:cNvPr id="25" name="图片 86" descr="核心交换机.png"/>
          <p:cNvPicPr>
            <a:picLocks noChangeAspect="1"/>
          </p:cNvPicPr>
          <p:nvPr/>
        </p:nvPicPr>
        <p:blipFill>
          <a:blip r:embed="rId6"/>
          <a:stretch>
            <a:fillRect/>
          </a:stretch>
        </p:blipFill>
        <p:spPr bwMode="gray">
          <a:xfrm>
            <a:off x="5608319" y="1726572"/>
            <a:ext cx="544324" cy="445357"/>
          </a:xfrm>
          <a:prstGeom prst="rect">
            <a:avLst/>
          </a:prstGeom>
        </p:spPr>
      </p:pic>
    </p:spTree>
    <p:extLst>
      <p:ext uri="{BB962C8B-B14F-4D97-AF65-F5344CB8AC3E}">
        <p14:creationId xmlns:p14="http://schemas.microsoft.com/office/powerpoint/2010/main" val="3214099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t>CloudCampus</a:t>
            </a:r>
            <a:r>
              <a:rPr lang="zh-CN" altLang="en-US" dirty="0"/>
              <a:t>关键技术：准入认证</a:t>
            </a:r>
          </a:p>
        </p:txBody>
      </p:sp>
      <p:sp>
        <p:nvSpPr>
          <p:cNvPr id="27" name="椭圆 26"/>
          <p:cNvSpPr/>
          <p:nvPr/>
        </p:nvSpPr>
        <p:spPr bwMode="gray">
          <a:xfrm>
            <a:off x="6136062" y="5917484"/>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6195328" y="5849792"/>
            <a:ext cx="850480" cy="251711"/>
          </a:xfrm>
          <a:prstGeom prst="rect">
            <a:avLst/>
          </a:prstGeom>
        </p:spPr>
        <p:txBody>
          <a:bodyPr wrap="square">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084039" y="2005567"/>
            <a:ext cx="1346845" cy="248394"/>
          </a:xfrm>
          <a:prstGeom prst="rect">
            <a:avLst/>
          </a:prstGeom>
        </p:spPr>
      </p:pic>
      <p:grpSp>
        <p:nvGrpSpPr>
          <p:cNvPr id="32" name="Group 165"/>
          <p:cNvGrpSpPr/>
          <p:nvPr/>
        </p:nvGrpSpPr>
        <p:grpSpPr bwMode="gray">
          <a:xfrm rot="10800000">
            <a:off x="2873848" y="1805865"/>
            <a:ext cx="715186" cy="837423"/>
            <a:chOff x="-1233037" y="914446"/>
            <a:chExt cx="1573823" cy="778776"/>
          </a:xfrm>
        </p:grpSpPr>
        <p:cxnSp>
          <p:nvCxnSpPr>
            <p:cNvPr id="33"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35" name="直接连接符 34"/>
          <p:cNvCxnSpPr/>
          <p:nvPr/>
        </p:nvCxnSpPr>
        <p:spPr bwMode="gray">
          <a:xfrm flipH="1" flipV="1">
            <a:off x="2172460" y="2289267"/>
            <a:ext cx="705076" cy="428307"/>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12" idx="2"/>
          </p:cNvCxnSpPr>
          <p:nvPr/>
        </p:nvCxnSpPr>
        <p:spPr bwMode="gray">
          <a:xfrm>
            <a:off x="4572726" y="4910567"/>
            <a:ext cx="0" cy="39505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0" name="任意多边形 39"/>
          <p:cNvSpPr/>
          <p:nvPr/>
        </p:nvSpPr>
        <p:spPr bwMode="gray">
          <a:xfrm>
            <a:off x="1201432" y="2569828"/>
            <a:ext cx="4092505" cy="2223824"/>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1877000" y="2171573"/>
            <a:ext cx="369473" cy="302297"/>
          </a:xfrm>
          <a:prstGeom prst="rect">
            <a:avLst/>
          </a:prstGeom>
        </p:spPr>
      </p:pic>
      <p:pic>
        <p:nvPicPr>
          <p:cNvPr id="46" name="图片 105" descr="AP.png"/>
          <p:cNvPicPr>
            <a:picLocks noChangeAspect="1"/>
          </p:cNvPicPr>
          <p:nvPr/>
        </p:nvPicPr>
        <p:blipFill>
          <a:blip r:embed="rId5"/>
          <a:stretch>
            <a:fillRect/>
          </a:stretch>
        </p:blipFill>
        <p:spPr bwMode="gray">
          <a:xfrm>
            <a:off x="5140905" y="4622982"/>
            <a:ext cx="333509" cy="272873"/>
          </a:xfrm>
          <a:prstGeom prst="rect">
            <a:avLst/>
          </a:prstGeom>
        </p:spPr>
      </p:pic>
      <p:pic>
        <p:nvPicPr>
          <p:cNvPr id="47" name="Picture 2" descr="G:\做的项目\公共\扁平图标切换\更新2015_01_21\oss扁平图标库2015_01_21更新-04.png"/>
          <p:cNvPicPr>
            <a:picLocks noChangeAspect="1" noChangeArrowheads="1"/>
          </p:cNvPicPr>
          <p:nvPr/>
        </p:nvPicPr>
        <p:blipFill>
          <a:blip r:embed="rId6"/>
          <a:stretch>
            <a:fillRect/>
          </a:stretch>
        </p:blipFill>
        <p:spPr bwMode="gray">
          <a:xfrm>
            <a:off x="3039967" y="1727899"/>
            <a:ext cx="369473" cy="302297"/>
          </a:xfrm>
          <a:prstGeom prst="rect">
            <a:avLst/>
          </a:prstGeom>
          <a:noFill/>
        </p:spPr>
      </p:pic>
      <p:sp>
        <p:nvSpPr>
          <p:cNvPr id="48" name="文本框 47"/>
          <p:cNvSpPr txBox="1"/>
          <p:nvPr/>
        </p:nvSpPr>
        <p:spPr bwMode="gray">
          <a:xfrm>
            <a:off x="2597649" y="3535445"/>
            <a:ext cx="1254108" cy="330552"/>
          </a:xfrm>
          <a:prstGeom prst="rect">
            <a:avLst/>
          </a:prstGeom>
          <a:noFill/>
        </p:spPr>
        <p:txBody>
          <a:bodyPr wrap="square" rtlCol="0">
            <a:noAutofit/>
          </a:bodyPr>
          <a:lstStyle/>
          <a:p>
            <a:pPr algn="ctr" font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p>
        </p:txBody>
      </p:sp>
      <p:pic>
        <p:nvPicPr>
          <p:cNvPr id="49" name="图片 86" descr="核心交换机.png"/>
          <p:cNvPicPr>
            <a:picLocks noChangeAspect="1"/>
          </p:cNvPicPr>
          <p:nvPr/>
        </p:nvPicPr>
        <p:blipFill>
          <a:blip r:embed="rId7"/>
          <a:stretch>
            <a:fillRect/>
          </a:stretch>
        </p:blipFill>
        <p:spPr bwMode="gray">
          <a:xfrm>
            <a:off x="2717837" y="2574721"/>
            <a:ext cx="369473" cy="302297"/>
          </a:xfrm>
          <a:prstGeom prst="rect">
            <a:avLst/>
          </a:prstGeom>
        </p:spPr>
      </p:pic>
      <p:pic>
        <p:nvPicPr>
          <p:cNvPr id="50" name="图片 86" descr="核心交换机.png"/>
          <p:cNvPicPr>
            <a:picLocks noChangeAspect="1"/>
          </p:cNvPicPr>
          <p:nvPr/>
        </p:nvPicPr>
        <p:blipFill>
          <a:blip r:embed="rId7"/>
          <a:stretch>
            <a:fillRect/>
          </a:stretch>
        </p:blipFill>
        <p:spPr bwMode="gray">
          <a:xfrm>
            <a:off x="3409440" y="2574721"/>
            <a:ext cx="369473" cy="302297"/>
          </a:xfrm>
          <a:prstGeom prst="rect">
            <a:avLst/>
          </a:prstGeom>
        </p:spPr>
      </p:pic>
      <p:cxnSp>
        <p:nvCxnSpPr>
          <p:cNvPr id="51" name="直接连接符 50"/>
          <p:cNvCxnSpPr>
            <a:stCxn id="49" idx="3"/>
            <a:endCxn id="50" idx="1"/>
          </p:cNvCxnSpPr>
          <p:nvPr/>
        </p:nvCxnSpPr>
        <p:spPr bwMode="gray">
          <a:xfrm>
            <a:off x="3087310" y="2725870"/>
            <a:ext cx="322130"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54" name="圆角矩形 53"/>
          <p:cNvSpPr/>
          <p:nvPr/>
        </p:nvSpPr>
        <p:spPr bwMode="gray">
          <a:xfrm>
            <a:off x="2621022" y="2479298"/>
            <a:ext cx="1253068" cy="476853"/>
          </a:xfrm>
          <a:prstGeom prst="roundRect">
            <a:avLst>
              <a:gd name="adj" fmla="val 24302"/>
            </a:avLst>
          </a:prstGeom>
          <a:noFill/>
          <a:ln w="19050" cap="flat" cmpd="sng" algn="ctr">
            <a:solidFill>
              <a:srgbClr val="30B5C5"/>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noAutofit/>
          </a:bodyPr>
          <a:lstStyle/>
          <a:p>
            <a:pPr fontAlgn="ctr">
              <a:spcBef>
                <a:spcPct val="0"/>
              </a:spcBef>
              <a:spcAft>
                <a:spcPct val="0"/>
              </a:spcAft>
              <a:buClr>
                <a:srgbClr val="CC9900"/>
              </a:buClr>
              <a:buSzPct val="60000"/>
              <a:buFont typeface="Wingdings" panose="05000000000000000000" pitchFamily="2" charset="2"/>
              <a:buChar char="n"/>
              <a:defRPr/>
            </a:pPr>
            <a:endParaRPr lang="en-US" altLang="zh-CN"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7" name="直接连接符 56"/>
          <p:cNvCxnSpPr>
            <a:stCxn id="100" idx="2"/>
            <a:endCxn id="59" idx="0"/>
          </p:cNvCxnSpPr>
          <p:nvPr/>
        </p:nvCxnSpPr>
        <p:spPr bwMode="gray">
          <a:xfrm>
            <a:off x="2344388" y="4910567"/>
            <a:ext cx="0" cy="39505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59" name="图片 11" descr="开放网络-蓝.png"/>
          <p:cNvPicPr>
            <a:picLocks noChangeAspect="1"/>
          </p:cNvPicPr>
          <p:nvPr/>
        </p:nvPicPr>
        <p:blipFill>
          <a:blip r:embed="rId8"/>
          <a:stretch>
            <a:fillRect/>
          </a:stretch>
        </p:blipFill>
        <p:spPr bwMode="gray">
          <a:xfrm>
            <a:off x="2141680" y="5305619"/>
            <a:ext cx="405415" cy="312082"/>
          </a:xfrm>
          <a:prstGeom prst="rect">
            <a:avLst/>
          </a:prstGeom>
        </p:spPr>
      </p:pic>
      <p:pic>
        <p:nvPicPr>
          <p:cNvPr id="61" name="图片 157" descr="故障链路.png"/>
          <p:cNvPicPr>
            <a:picLocks noChangeAspect="1"/>
          </p:cNvPicPr>
          <p:nvPr/>
        </p:nvPicPr>
        <p:blipFill>
          <a:blip r:embed="rId9"/>
          <a:stretch>
            <a:fillRect/>
          </a:stretch>
        </p:blipFill>
        <p:spPr bwMode="gray">
          <a:xfrm>
            <a:off x="5109406" y="5295269"/>
            <a:ext cx="446281" cy="332783"/>
          </a:xfrm>
          <a:prstGeom prst="rect">
            <a:avLst/>
          </a:prstGeom>
        </p:spPr>
      </p:pic>
      <p:cxnSp>
        <p:nvCxnSpPr>
          <p:cNvPr id="63" name="直接连接符 62"/>
          <p:cNvCxnSpPr>
            <a:stCxn id="112" idx="3"/>
            <a:endCxn id="46" idx="1"/>
          </p:cNvCxnSpPr>
          <p:nvPr/>
        </p:nvCxnSpPr>
        <p:spPr bwMode="gray">
          <a:xfrm>
            <a:off x="4757462" y="4759419"/>
            <a:ext cx="383443"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bwMode="gray">
          <a:xfrm>
            <a:off x="1873680" y="2571913"/>
            <a:ext cx="794451" cy="305105"/>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72" name="文本框 71"/>
          <p:cNvSpPr txBox="1"/>
          <p:nvPr/>
        </p:nvSpPr>
        <p:spPr bwMode="gray">
          <a:xfrm>
            <a:off x="677970" y="2637411"/>
            <a:ext cx="495033" cy="251711"/>
          </a:xfrm>
          <a:prstGeom prst="rect">
            <a:avLst/>
          </a:prstGeom>
          <a:noFill/>
        </p:spPr>
        <p:txBody>
          <a:bodyPr wrap="square" rtlCol="0">
            <a:noAutofit/>
          </a:bodyPr>
          <a:lstStyle/>
          <a:p>
            <a:pP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677970" y="3518100"/>
            <a:ext cx="495033" cy="251711"/>
          </a:xfrm>
          <a:prstGeom prst="rect">
            <a:avLst/>
          </a:prstGeom>
          <a:noFill/>
        </p:spPr>
        <p:txBody>
          <a:bodyPr wrap="square" rtlCol="0">
            <a:noAutofit/>
          </a:bodyPr>
          <a:lstStyle/>
          <a:p>
            <a:pP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677970" y="4633563"/>
            <a:ext cx="495033" cy="251711"/>
          </a:xfrm>
          <a:prstGeom prst="rect">
            <a:avLst/>
          </a:prstGeom>
          <a:noFill/>
        </p:spPr>
        <p:txBody>
          <a:bodyPr wrap="square" rtlCol="0">
            <a:noAutofit/>
          </a:bodyPr>
          <a:lstStyle/>
          <a:p>
            <a:pP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677970" y="2168819"/>
            <a:ext cx="495033" cy="251711"/>
          </a:xfrm>
          <a:prstGeom prst="rect">
            <a:avLst/>
          </a:prstGeom>
          <a:noFill/>
        </p:spPr>
        <p:txBody>
          <a:bodyPr wrap="square" rtlCol="0">
            <a:noAutofit/>
          </a:bodyPr>
          <a:lstStyle/>
          <a:p>
            <a:pP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a:off x="5305655" y="4602299"/>
            <a:ext cx="799292" cy="305105"/>
          </a:xfrm>
          <a:prstGeom prst="rect">
            <a:avLst/>
          </a:prstGeom>
          <a:noFill/>
        </p:spPr>
        <p:txBody>
          <a:bodyPr wrap="square" rtlCol="0">
            <a:noAutofit/>
          </a:bodyPr>
          <a:lstStyle/>
          <a:p>
            <a:pPr algn="ctr" fontAlgn="ct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2" name="图片 87" descr="汇聚交换机.png"/>
          <p:cNvPicPr>
            <a:picLocks noChangeAspect="1"/>
          </p:cNvPicPr>
          <p:nvPr/>
        </p:nvPicPr>
        <p:blipFill>
          <a:blip r:embed="rId10"/>
          <a:stretch>
            <a:fillRect/>
          </a:stretch>
        </p:blipFill>
        <p:spPr bwMode="gray">
          <a:xfrm>
            <a:off x="4370018" y="3490158"/>
            <a:ext cx="369473" cy="302297"/>
          </a:xfrm>
          <a:prstGeom prst="rect">
            <a:avLst/>
          </a:prstGeom>
        </p:spPr>
      </p:pic>
      <p:pic>
        <p:nvPicPr>
          <p:cNvPr id="93" name="图片 87" descr="汇聚交换机.png"/>
          <p:cNvPicPr>
            <a:picLocks noChangeAspect="1"/>
          </p:cNvPicPr>
          <p:nvPr/>
        </p:nvPicPr>
        <p:blipFill>
          <a:blip r:embed="rId10"/>
          <a:stretch>
            <a:fillRect/>
          </a:stretch>
        </p:blipFill>
        <p:spPr bwMode="gray">
          <a:xfrm>
            <a:off x="2159651" y="3490559"/>
            <a:ext cx="369473" cy="302297"/>
          </a:xfrm>
          <a:prstGeom prst="rect">
            <a:avLst/>
          </a:prstGeom>
        </p:spPr>
      </p:pic>
      <p:pic>
        <p:nvPicPr>
          <p:cNvPr id="100" name="图片 76" descr="接入交换机.png"/>
          <p:cNvPicPr>
            <a:picLocks noChangeAspect="1"/>
          </p:cNvPicPr>
          <p:nvPr/>
        </p:nvPicPr>
        <p:blipFill>
          <a:blip r:embed="rId11"/>
          <a:stretch>
            <a:fillRect/>
          </a:stretch>
        </p:blipFill>
        <p:spPr bwMode="gray">
          <a:xfrm>
            <a:off x="2159651" y="4608270"/>
            <a:ext cx="369473" cy="302297"/>
          </a:xfrm>
          <a:prstGeom prst="rect">
            <a:avLst/>
          </a:prstGeom>
        </p:spPr>
      </p:pic>
      <p:pic>
        <p:nvPicPr>
          <p:cNvPr id="112" name="图片 76" descr="接入交换机.png"/>
          <p:cNvPicPr>
            <a:picLocks noChangeAspect="1"/>
          </p:cNvPicPr>
          <p:nvPr/>
        </p:nvPicPr>
        <p:blipFill>
          <a:blip r:embed="rId11"/>
          <a:stretch>
            <a:fillRect/>
          </a:stretch>
        </p:blipFill>
        <p:spPr bwMode="gray">
          <a:xfrm>
            <a:off x="4387989" y="4608270"/>
            <a:ext cx="369473" cy="302297"/>
          </a:xfrm>
          <a:prstGeom prst="rect">
            <a:avLst/>
          </a:prstGeom>
        </p:spPr>
      </p:pic>
      <p:sp>
        <p:nvSpPr>
          <p:cNvPr id="115" name="文本框 114"/>
          <p:cNvSpPr txBox="1"/>
          <p:nvPr/>
        </p:nvSpPr>
        <p:spPr bwMode="gray">
          <a:xfrm>
            <a:off x="1520303" y="4532042"/>
            <a:ext cx="750603" cy="305105"/>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85" name="椭圆 84"/>
          <p:cNvSpPr/>
          <p:nvPr/>
        </p:nvSpPr>
        <p:spPr bwMode="gray">
          <a:xfrm>
            <a:off x="2285121" y="4837147"/>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椭圆 115"/>
          <p:cNvSpPr/>
          <p:nvPr/>
        </p:nvSpPr>
        <p:spPr bwMode="gray">
          <a:xfrm>
            <a:off x="4509631" y="4837147"/>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7" name="组合 758"/>
          <p:cNvGrpSpPr/>
          <p:nvPr/>
        </p:nvGrpSpPr>
        <p:grpSpPr bwMode="gray">
          <a:xfrm flipV="1">
            <a:off x="5192805" y="4978648"/>
            <a:ext cx="225699" cy="191129"/>
            <a:chOff x="7440613" y="4868863"/>
            <a:chExt cx="1019175" cy="828675"/>
          </a:xfrm>
          <a:solidFill>
            <a:schemeClr val="bg1">
              <a:lumMod val="50000"/>
            </a:schemeClr>
          </a:solidFill>
        </p:grpSpPr>
        <p:sp>
          <p:nvSpPr>
            <p:cNvPr id="118"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0" name="文本框 119"/>
          <p:cNvSpPr txBox="1"/>
          <p:nvPr/>
        </p:nvSpPr>
        <p:spPr bwMode="gray">
          <a:xfrm>
            <a:off x="3718829" y="4532042"/>
            <a:ext cx="750603" cy="305105"/>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121" name="文本框 120"/>
          <p:cNvSpPr txBox="1"/>
          <p:nvPr/>
        </p:nvSpPr>
        <p:spPr bwMode="gray">
          <a:xfrm>
            <a:off x="4287976" y="2222404"/>
            <a:ext cx="2276585" cy="461665"/>
          </a:xfrm>
          <a:prstGeom prst="rect">
            <a:avLst/>
          </a:prstGeom>
          <a:noFill/>
        </p:spPr>
        <p:txBody>
          <a:bodyPr wrap="none" rtlCol="0">
            <a:spAutoFit/>
          </a:bodyPr>
          <a:lstStyle/>
          <a:p>
            <a:r>
              <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rPr>
              <a:t>控制器内置服务器</a:t>
            </a:r>
            <a:endPar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RADIUS</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服务器 </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&amp; 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服务器</a:t>
            </a:r>
          </a:p>
        </p:txBody>
      </p:sp>
      <p:sp>
        <p:nvSpPr>
          <p:cNvPr id="122" name="任意多边形 121"/>
          <p:cNvSpPr/>
          <p:nvPr/>
        </p:nvSpPr>
        <p:spPr bwMode="gray">
          <a:xfrm>
            <a:off x="2132550" y="2326823"/>
            <a:ext cx="2062378" cy="3035431"/>
          </a:xfrm>
          <a:custGeom>
            <a:avLst/>
            <a:gdLst>
              <a:gd name="connsiteX0" fmla="*/ 214724 w 2062378"/>
              <a:gd name="connsiteY0" fmla="*/ 3035431 h 3035431"/>
              <a:gd name="connsiteX1" fmla="*/ 167590 w 2062378"/>
              <a:gd name="connsiteY1" fmla="*/ 1253765 h 3035431"/>
              <a:gd name="connsiteX2" fmla="*/ 2062378 w 2062378"/>
              <a:gd name="connsiteY2" fmla="*/ 0 h 3035431"/>
            </a:gdLst>
            <a:ahLst/>
            <a:cxnLst>
              <a:cxn ang="0">
                <a:pos x="connsiteX0" y="connsiteY0"/>
              </a:cxn>
              <a:cxn ang="0">
                <a:pos x="connsiteX1" y="connsiteY1"/>
              </a:cxn>
              <a:cxn ang="0">
                <a:pos x="connsiteX2" y="connsiteY2"/>
              </a:cxn>
            </a:cxnLst>
            <a:rect l="l" t="t" r="r" b="b"/>
            <a:pathLst>
              <a:path w="2062378" h="3035431">
                <a:moveTo>
                  <a:pt x="214724" y="3035431"/>
                </a:moveTo>
                <a:cubicBezTo>
                  <a:pt x="37186" y="2397550"/>
                  <a:pt x="-140352" y="1759670"/>
                  <a:pt x="167590" y="1253765"/>
                </a:cubicBezTo>
                <a:cubicBezTo>
                  <a:pt x="475532" y="747860"/>
                  <a:pt x="1268955" y="373930"/>
                  <a:pt x="2062378" y="0"/>
                </a:cubicBezTo>
              </a:path>
            </a:pathLst>
          </a:custGeom>
          <a:noFill/>
          <a:ln w="28575">
            <a:solidFill>
              <a:srgbClr val="00B05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任意多边形 122"/>
          <p:cNvSpPr/>
          <p:nvPr/>
        </p:nvSpPr>
        <p:spPr bwMode="gray">
          <a:xfrm>
            <a:off x="3682082" y="2559326"/>
            <a:ext cx="1705709" cy="2755794"/>
          </a:xfrm>
          <a:custGeom>
            <a:avLst/>
            <a:gdLst>
              <a:gd name="connsiteX0" fmla="*/ 1729032 w 1743545"/>
              <a:gd name="connsiteY0" fmla="*/ 2884602 h 2884602"/>
              <a:gd name="connsiteX1" fmla="*/ 1729032 w 1743545"/>
              <a:gd name="connsiteY1" fmla="*/ 2714920 h 2884602"/>
              <a:gd name="connsiteX2" fmla="*/ 1578203 w 1743545"/>
              <a:gd name="connsiteY2" fmla="*/ 2328421 h 2884602"/>
              <a:gd name="connsiteX3" fmla="*/ 937181 w 1743545"/>
              <a:gd name="connsiteY3" fmla="*/ 2290714 h 2884602"/>
              <a:gd name="connsiteX4" fmla="*/ 890047 w 1743545"/>
              <a:gd name="connsiteY4" fmla="*/ 1159497 h 2884602"/>
              <a:gd name="connsiteX5" fmla="*/ 3927 w 1743545"/>
              <a:gd name="connsiteY5" fmla="*/ 339365 h 2884602"/>
              <a:gd name="connsiteX6" fmla="*/ 626096 w 1743545"/>
              <a:gd name="connsiteY6" fmla="*/ 0 h 2884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3545" h="2884602">
                <a:moveTo>
                  <a:pt x="1729032" y="2884602"/>
                </a:moveTo>
                <a:cubicBezTo>
                  <a:pt x="1741601" y="2846109"/>
                  <a:pt x="1754170" y="2807617"/>
                  <a:pt x="1729032" y="2714920"/>
                </a:cubicBezTo>
                <a:cubicBezTo>
                  <a:pt x="1703894" y="2622223"/>
                  <a:pt x="1710178" y="2399122"/>
                  <a:pt x="1578203" y="2328421"/>
                </a:cubicBezTo>
                <a:cubicBezTo>
                  <a:pt x="1446228" y="2257720"/>
                  <a:pt x="1051874" y="2485535"/>
                  <a:pt x="937181" y="2290714"/>
                </a:cubicBezTo>
                <a:cubicBezTo>
                  <a:pt x="822488" y="2095893"/>
                  <a:pt x="1045589" y="1484722"/>
                  <a:pt x="890047" y="1159497"/>
                </a:cubicBezTo>
                <a:cubicBezTo>
                  <a:pt x="734505" y="834272"/>
                  <a:pt x="47919" y="532614"/>
                  <a:pt x="3927" y="339365"/>
                </a:cubicBezTo>
                <a:cubicBezTo>
                  <a:pt x="-40065" y="146116"/>
                  <a:pt x="293015" y="73058"/>
                  <a:pt x="626096" y="0"/>
                </a:cubicBezTo>
              </a:path>
            </a:pathLst>
          </a:custGeom>
          <a:noFill/>
          <a:ln w="28575">
            <a:solidFill>
              <a:srgbClr val="C7000B"/>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文本框 124"/>
          <p:cNvSpPr txBox="1"/>
          <p:nvPr/>
        </p:nvSpPr>
        <p:spPr bwMode="gray">
          <a:xfrm>
            <a:off x="1936263" y="5638806"/>
            <a:ext cx="816250"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p>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(802.1X)</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6" name="文本框 125"/>
          <p:cNvSpPr txBox="1"/>
          <p:nvPr/>
        </p:nvSpPr>
        <p:spPr bwMode="gray">
          <a:xfrm>
            <a:off x="4917566" y="5639190"/>
            <a:ext cx="776175"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Guest</a:t>
            </a:r>
          </a:p>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(Portal)</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27" name="直接连接符 126"/>
          <p:cNvCxnSpPr/>
          <p:nvPr/>
        </p:nvCxnSpPr>
        <p:spPr bwMode="gray">
          <a:xfrm>
            <a:off x="6638016" y="2542950"/>
            <a:ext cx="2340000"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bwMode="gray">
          <a:xfrm>
            <a:off x="6638016" y="4712034"/>
            <a:ext cx="2340000"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直接箭头连接符 129"/>
          <p:cNvCxnSpPr/>
          <p:nvPr/>
        </p:nvCxnSpPr>
        <p:spPr bwMode="gray">
          <a:xfrm flipV="1">
            <a:off x="7836100" y="4712550"/>
            <a:ext cx="0" cy="838338"/>
          </a:xfrm>
          <a:prstGeom prst="straightConnector1">
            <a:avLst/>
          </a:prstGeom>
          <a:ln w="28575">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31" name="文本框 130"/>
          <p:cNvSpPr txBox="1"/>
          <p:nvPr/>
        </p:nvSpPr>
        <p:spPr bwMode="gray">
          <a:xfrm>
            <a:off x="6890433" y="4897881"/>
            <a:ext cx="945667" cy="523220"/>
          </a:xfrm>
          <a:prstGeom prst="rect">
            <a:avLst/>
          </a:prstGeom>
          <a:noFill/>
        </p:spPr>
        <p:txBody>
          <a:bodyPr wrap="square" rtlCol="0">
            <a:spAutoFit/>
          </a:bodyPr>
          <a:lstStyle/>
          <a:p>
            <a:r>
              <a:rPr lang="zh-CN" altLang="en-US" sz="1400" dirty="0">
                <a:solidFill>
                  <a:srgbClr val="30B5C5"/>
                </a:solidFill>
              </a:rPr>
              <a:t>用户身份认证请求</a:t>
            </a:r>
          </a:p>
        </p:txBody>
      </p:sp>
      <p:cxnSp>
        <p:nvCxnSpPr>
          <p:cNvPr id="132" name="直接箭头连接符 131"/>
          <p:cNvCxnSpPr/>
          <p:nvPr/>
        </p:nvCxnSpPr>
        <p:spPr bwMode="gray">
          <a:xfrm flipV="1">
            <a:off x="8011198" y="2643041"/>
            <a:ext cx="0" cy="2069329"/>
          </a:xfrm>
          <a:prstGeom prst="straightConnector1">
            <a:avLst/>
          </a:prstGeom>
          <a:ln w="28575">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bwMode="gray">
          <a:xfrm>
            <a:off x="7130652" y="3182860"/>
            <a:ext cx="974528" cy="523220"/>
          </a:xfrm>
          <a:prstGeom prst="rect">
            <a:avLst/>
          </a:prstGeom>
          <a:noFill/>
        </p:spPr>
        <p:txBody>
          <a:bodyPr wrap="square" rtlCol="0">
            <a:spAutoFit/>
          </a:bodyPr>
          <a:lstStyle/>
          <a:p>
            <a:r>
              <a:rPr lang="zh-CN" altLang="en-US" sz="1400" dirty="0">
                <a:solidFill>
                  <a:srgbClr val="30B5C5"/>
                </a:solidFill>
              </a:rPr>
              <a:t>传递用户身份凭证</a:t>
            </a:r>
          </a:p>
        </p:txBody>
      </p:sp>
      <p:sp>
        <p:nvSpPr>
          <p:cNvPr id="134" name="弧形 133"/>
          <p:cNvSpPr/>
          <p:nvPr/>
        </p:nvSpPr>
        <p:spPr bwMode="gray">
          <a:xfrm>
            <a:off x="8022659" y="2137444"/>
            <a:ext cx="864126" cy="784153"/>
          </a:xfrm>
          <a:prstGeom prst="arc">
            <a:avLst>
              <a:gd name="adj1" fmla="val 10728388"/>
              <a:gd name="adj2" fmla="val 0"/>
            </a:avLst>
          </a:prstGeom>
          <a:ln w="28575">
            <a:solidFill>
              <a:srgbClr val="30B5C5"/>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5" name="文本框 134"/>
          <p:cNvSpPr txBox="1"/>
          <p:nvPr/>
        </p:nvSpPr>
        <p:spPr bwMode="gray">
          <a:xfrm>
            <a:off x="7816826" y="1732196"/>
            <a:ext cx="1275792" cy="307777"/>
          </a:xfrm>
          <a:prstGeom prst="rect">
            <a:avLst/>
          </a:prstGeom>
          <a:noFill/>
        </p:spPr>
        <p:txBody>
          <a:bodyPr wrap="square" rtlCol="0">
            <a:spAutoFit/>
          </a:bodyPr>
          <a:lstStyle/>
          <a:p>
            <a:r>
              <a:rPr lang="zh-CN" altLang="en-US" sz="1400" dirty="0">
                <a:solidFill>
                  <a:srgbClr val="30B5C5"/>
                </a:solidFill>
              </a:rPr>
              <a:t>用户身份校验</a:t>
            </a:r>
          </a:p>
        </p:txBody>
      </p:sp>
      <p:cxnSp>
        <p:nvCxnSpPr>
          <p:cNvPr id="136" name="直接箭头连接符 135"/>
          <p:cNvCxnSpPr/>
          <p:nvPr/>
        </p:nvCxnSpPr>
        <p:spPr bwMode="gray">
          <a:xfrm flipV="1">
            <a:off x="8886785" y="2642705"/>
            <a:ext cx="0" cy="2070000"/>
          </a:xfrm>
          <a:prstGeom prst="straightConnector1">
            <a:avLst/>
          </a:prstGeom>
          <a:ln w="28575">
            <a:solidFill>
              <a:srgbClr val="30B5C5"/>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7" name="文本框 136"/>
          <p:cNvSpPr txBox="1"/>
          <p:nvPr/>
        </p:nvSpPr>
        <p:spPr bwMode="gray">
          <a:xfrm>
            <a:off x="8886785" y="3182860"/>
            <a:ext cx="808557" cy="523220"/>
          </a:xfrm>
          <a:prstGeom prst="rect">
            <a:avLst/>
          </a:prstGeom>
          <a:noFill/>
        </p:spPr>
        <p:txBody>
          <a:bodyPr wrap="square" rtlCol="0">
            <a:spAutoFit/>
          </a:bodyPr>
          <a:lstStyle/>
          <a:p>
            <a:r>
              <a:rPr lang="zh-CN" altLang="en-US" sz="1400">
                <a:solidFill>
                  <a:srgbClr val="30B5C5"/>
                </a:solidFill>
              </a:rPr>
              <a:t>用户策略授权</a:t>
            </a:r>
            <a:endParaRPr lang="zh-CN" altLang="en-US" sz="1400" dirty="0">
              <a:solidFill>
                <a:srgbClr val="30B5C5"/>
              </a:solidFill>
            </a:endParaRPr>
          </a:p>
        </p:txBody>
      </p:sp>
      <p:sp>
        <p:nvSpPr>
          <p:cNvPr id="138" name="椭圆 137"/>
          <p:cNvSpPr>
            <a:spLocks noChangeAspect="1"/>
          </p:cNvSpPr>
          <p:nvPr/>
        </p:nvSpPr>
        <p:spPr bwMode="gray">
          <a:xfrm>
            <a:off x="7717440" y="5222703"/>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139" name="椭圆 138"/>
          <p:cNvSpPr>
            <a:spLocks noChangeAspect="1"/>
          </p:cNvSpPr>
          <p:nvPr/>
        </p:nvSpPr>
        <p:spPr bwMode="gray">
          <a:xfrm>
            <a:off x="7885198" y="2916009"/>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140" name="椭圆 139"/>
          <p:cNvSpPr>
            <a:spLocks noChangeAspect="1"/>
          </p:cNvSpPr>
          <p:nvPr/>
        </p:nvSpPr>
        <p:spPr bwMode="gray">
          <a:xfrm>
            <a:off x="8328722" y="2028859"/>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141" name="椭圆 140"/>
          <p:cNvSpPr>
            <a:spLocks noChangeAspect="1"/>
          </p:cNvSpPr>
          <p:nvPr/>
        </p:nvSpPr>
        <p:spPr bwMode="gray">
          <a:xfrm>
            <a:off x="8772245" y="2916009"/>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4</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cxnSp>
        <p:nvCxnSpPr>
          <p:cNvPr id="142" name="直接连接符 141"/>
          <p:cNvCxnSpPr/>
          <p:nvPr/>
        </p:nvCxnSpPr>
        <p:spPr bwMode="gray">
          <a:xfrm>
            <a:off x="6638016" y="5550888"/>
            <a:ext cx="2340000"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2" name="图片 61" descr="IP电话.png"/>
          <p:cNvPicPr>
            <a:picLocks noChangeAspect="1"/>
          </p:cNvPicPr>
          <p:nvPr/>
        </p:nvPicPr>
        <p:blipFill>
          <a:blip r:embed="rId12" cstate="print"/>
          <a:stretch>
            <a:fillRect/>
          </a:stretch>
        </p:blipFill>
        <p:spPr bwMode="gray">
          <a:xfrm>
            <a:off x="4397636" y="5303432"/>
            <a:ext cx="333159" cy="313200"/>
          </a:xfrm>
          <a:prstGeom prst="rect">
            <a:avLst/>
          </a:prstGeom>
        </p:spPr>
      </p:pic>
      <p:sp>
        <p:nvSpPr>
          <p:cNvPr id="64" name="文本框 63"/>
          <p:cNvSpPr txBox="1"/>
          <p:nvPr/>
        </p:nvSpPr>
        <p:spPr bwMode="gray">
          <a:xfrm>
            <a:off x="4226621" y="5639190"/>
            <a:ext cx="675186"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Phone</a:t>
            </a:r>
          </a:p>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(MAC)</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 name="任意多边形 2"/>
          <p:cNvSpPr/>
          <p:nvPr/>
        </p:nvSpPr>
        <p:spPr bwMode="gray">
          <a:xfrm>
            <a:off x="3492909" y="2447925"/>
            <a:ext cx="990049" cy="2743200"/>
          </a:xfrm>
          <a:custGeom>
            <a:avLst/>
            <a:gdLst>
              <a:gd name="connsiteX0" fmla="*/ 945741 w 1015025"/>
              <a:gd name="connsiteY0" fmla="*/ 2743200 h 2743200"/>
              <a:gd name="connsiteX1" fmla="*/ 917166 w 1015025"/>
              <a:gd name="connsiteY1" fmla="*/ 1323975 h 2743200"/>
              <a:gd name="connsiteX2" fmla="*/ 2766 w 1015025"/>
              <a:gd name="connsiteY2" fmla="*/ 409575 h 2743200"/>
              <a:gd name="connsiteX3" fmla="*/ 688566 w 1015025"/>
              <a:gd name="connsiteY3" fmla="*/ 0 h 2743200"/>
            </a:gdLst>
            <a:ahLst/>
            <a:cxnLst>
              <a:cxn ang="0">
                <a:pos x="connsiteX0" y="connsiteY0"/>
              </a:cxn>
              <a:cxn ang="0">
                <a:pos x="connsiteX1" y="connsiteY1"/>
              </a:cxn>
              <a:cxn ang="0">
                <a:pos x="connsiteX2" y="connsiteY2"/>
              </a:cxn>
              <a:cxn ang="0">
                <a:pos x="connsiteX3" y="connsiteY3"/>
              </a:cxn>
            </a:cxnLst>
            <a:rect l="l" t="t" r="r" b="b"/>
            <a:pathLst>
              <a:path w="1015025" h="2743200">
                <a:moveTo>
                  <a:pt x="945741" y="2743200"/>
                </a:moveTo>
                <a:cubicBezTo>
                  <a:pt x="1010034" y="2228056"/>
                  <a:pt x="1074328" y="1712912"/>
                  <a:pt x="917166" y="1323975"/>
                </a:cubicBezTo>
                <a:cubicBezTo>
                  <a:pt x="760004" y="935038"/>
                  <a:pt x="40866" y="630237"/>
                  <a:pt x="2766" y="409575"/>
                </a:cubicBezTo>
                <a:cubicBezTo>
                  <a:pt x="-35334" y="188913"/>
                  <a:pt x="326616" y="94456"/>
                  <a:pt x="688566" y="0"/>
                </a:cubicBezTo>
              </a:path>
            </a:pathLst>
          </a:custGeom>
          <a:noFill/>
          <a:ln w="28575">
            <a:solidFill>
              <a:srgbClr val="F28944"/>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bwMode="gray">
          <a:xfrm>
            <a:off x="6987262" y="5903868"/>
            <a:ext cx="354957" cy="384"/>
          </a:xfrm>
          <a:prstGeom prst="line">
            <a:avLst/>
          </a:prstGeom>
          <a:noFill/>
          <a:ln w="28575">
            <a:solidFill>
              <a:srgbClr val="00B05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6" name="直接连接符 65"/>
          <p:cNvCxnSpPr/>
          <p:nvPr/>
        </p:nvCxnSpPr>
        <p:spPr bwMode="gray">
          <a:xfrm>
            <a:off x="6987262" y="5990681"/>
            <a:ext cx="354957" cy="384"/>
          </a:xfrm>
          <a:prstGeom prst="line">
            <a:avLst/>
          </a:prstGeom>
          <a:noFill/>
          <a:ln w="28575">
            <a:solidFill>
              <a:srgbClr val="F28944"/>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7" name="直接连接符 66"/>
          <p:cNvCxnSpPr/>
          <p:nvPr/>
        </p:nvCxnSpPr>
        <p:spPr bwMode="gray">
          <a:xfrm>
            <a:off x="6987262" y="6077494"/>
            <a:ext cx="354957" cy="384"/>
          </a:xfrm>
          <a:prstGeom prst="line">
            <a:avLst/>
          </a:prstGeom>
          <a:noFill/>
          <a:ln w="28575">
            <a:solidFill>
              <a:srgbClr val="C7000B"/>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8" name="矩形 67"/>
          <p:cNvSpPr/>
          <p:nvPr/>
        </p:nvSpPr>
        <p:spPr bwMode="gray">
          <a:xfrm>
            <a:off x="7338926" y="5849792"/>
            <a:ext cx="850480" cy="251711"/>
          </a:xfrm>
          <a:prstGeom prst="rect">
            <a:avLst/>
          </a:prstGeom>
        </p:spPr>
        <p:txBody>
          <a:bodyPr wrap="square">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业务流量</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86596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t>CloudCampus</a:t>
            </a:r>
            <a:r>
              <a:rPr lang="zh-CN" altLang="en-US" dirty="0"/>
              <a:t>关键技术：</a:t>
            </a:r>
            <a:r>
              <a:rPr lang="zh-CN" altLang="en-US" dirty="0">
                <a:sym typeface="Huawei Sans" panose="020C0503030203020204" pitchFamily="34" charset="0"/>
              </a:rPr>
              <a:t>策略联动</a:t>
            </a:r>
          </a:p>
        </p:txBody>
      </p:sp>
      <p:sp>
        <p:nvSpPr>
          <p:cNvPr id="8" name="文本占位符 7"/>
          <p:cNvSpPr>
            <a:spLocks noGrp="1"/>
          </p:cNvSpPr>
          <p:nvPr>
            <p:ph type="body" sz="quarter" idx="4294967295"/>
          </p:nvPr>
        </p:nvSpPr>
        <p:spPr bwMode="gray">
          <a:xfrm>
            <a:off x="6100636" y="1468438"/>
            <a:ext cx="5616575" cy="3921125"/>
          </a:xfrm>
        </p:spPr>
        <p:txBody>
          <a:bodyPr/>
          <a:lstStyle/>
          <a:p>
            <a:pPr fontAlgn="base"/>
            <a:r>
              <a:rPr lang="zh-CN" altLang="en-US" sz="1800" dirty="0">
                <a:sym typeface="Huawei Sans" panose="020C0503030203020204" pitchFamily="34" charset="0"/>
              </a:rPr>
              <a:t>若接入节点不支持</a:t>
            </a:r>
            <a:r>
              <a:rPr lang="en-US" altLang="zh-CN" sz="1800" dirty="0">
                <a:sym typeface="Huawei Sans" panose="020C0503030203020204" pitchFamily="34" charset="0"/>
              </a:rPr>
              <a:t>VXLAN</a:t>
            </a:r>
            <a:r>
              <a:rPr lang="zh-CN" altLang="en-US" sz="1800" dirty="0">
                <a:sym typeface="Huawei Sans" panose="020C0503030203020204" pitchFamily="34" charset="0"/>
              </a:rPr>
              <a:t>，接入与汇聚（网关）设备间可以部署策略联动，在网关设备上统一管理用户的访问策略，在接入设备执行用户的访问策略：</a:t>
            </a:r>
            <a:endParaRPr lang="en-US" altLang="zh-CN" sz="1800" dirty="0">
              <a:sym typeface="Huawei Sans" panose="020C0503030203020204" pitchFamily="34" charset="0"/>
            </a:endParaRPr>
          </a:p>
          <a:p>
            <a:pPr lvl="1" fontAlgn="base"/>
            <a:r>
              <a:rPr lang="zh-CN" altLang="en-US" sz="1600" dirty="0">
                <a:sym typeface="Huawei Sans" panose="020C0503030203020204" pitchFamily="34" charset="0"/>
              </a:rPr>
              <a:t>认证控制点和认证执行点使用</a:t>
            </a:r>
            <a:r>
              <a:rPr lang="en-US" altLang="zh-CN" sz="1600" dirty="0">
                <a:sym typeface="Huawei Sans" panose="020C0503030203020204" pitchFamily="34" charset="0"/>
              </a:rPr>
              <a:t>CAPWAP</a:t>
            </a:r>
            <a:r>
              <a:rPr lang="zh-CN" altLang="en-US" sz="1600" dirty="0">
                <a:sym typeface="Huawei Sans" panose="020C0503030203020204" pitchFamily="34" charset="0"/>
              </a:rPr>
              <a:t>隧道建立连接（策略联动所使用的管理隧道）。</a:t>
            </a:r>
          </a:p>
          <a:p>
            <a:pPr lvl="1" fontAlgn="base"/>
            <a:r>
              <a:rPr lang="en-US" altLang="zh-CN" sz="1600" dirty="0">
                <a:sym typeface="Huawei Sans" panose="020C0503030203020204" pitchFamily="34" charset="0"/>
              </a:rPr>
              <a:t>CAPWAP</a:t>
            </a:r>
            <a:r>
              <a:rPr lang="zh-CN" altLang="en-US" sz="1600" dirty="0">
                <a:sym typeface="Huawei Sans" panose="020C0503030203020204" pitchFamily="34" charset="0"/>
              </a:rPr>
              <a:t>隧道主要完成用户关联、消息传递、用户授权策略下发、用户信息同步等功能。</a:t>
            </a:r>
          </a:p>
          <a:p>
            <a:pPr lvl="1" fontAlgn="base"/>
            <a:r>
              <a:rPr lang="zh-CN" altLang="en-US" sz="1600" dirty="0">
                <a:sym typeface="Huawei Sans" panose="020C0503030203020204" pitchFamily="34" charset="0"/>
              </a:rPr>
              <a:t>配置策略联动后，认证执行点可以透传</a:t>
            </a:r>
            <a:r>
              <a:rPr lang="en-US" altLang="zh-CN" sz="1600" dirty="0">
                <a:sym typeface="Huawei Sans" panose="020C0503030203020204" pitchFamily="34" charset="0"/>
              </a:rPr>
              <a:t>BPDU</a:t>
            </a:r>
            <a:r>
              <a:rPr lang="zh-CN" altLang="en-US" sz="1600" dirty="0">
                <a:sym typeface="Huawei Sans" panose="020C0503030203020204" pitchFamily="34" charset="0"/>
              </a:rPr>
              <a:t>报文，实时上报用户下线和用户接入位置，并执行用户访问策略，从而控制用户对网络的访问。</a:t>
            </a:r>
          </a:p>
          <a:p>
            <a:pPr fontAlgn="base"/>
            <a:endParaRPr lang="zh-CN" altLang="en-US" sz="1800" dirty="0">
              <a:sym typeface="Huawei Sans" panose="020C0503030203020204" pitchFamily="34" charset="0"/>
            </a:endParaRPr>
          </a:p>
        </p:txBody>
      </p:sp>
      <p:sp>
        <p:nvSpPr>
          <p:cNvPr id="40" name="圆角矩形 39"/>
          <p:cNvSpPr/>
          <p:nvPr/>
        </p:nvSpPr>
        <p:spPr bwMode="gray">
          <a:xfrm>
            <a:off x="8817944" y="5916397"/>
            <a:ext cx="895143" cy="246221"/>
          </a:xfrm>
          <a:prstGeom prst="roundRect">
            <a:avLst>
              <a:gd name="adj" fmla="val 24302"/>
            </a:avLst>
          </a:prstGeom>
          <a:noFill/>
          <a:ln w="19050" cap="flat" cmpd="sng" algn="ctr">
            <a:solidFill>
              <a:srgbClr val="30B5C5"/>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noAutofit/>
          </a:bodyPr>
          <a:lstStyle/>
          <a:p>
            <a:pPr fontAlgn="ctr">
              <a:spcBef>
                <a:spcPct val="0"/>
              </a:spcBef>
              <a:spcAft>
                <a:spcPct val="0"/>
              </a:spcAft>
              <a:buClr>
                <a:srgbClr val="CC9900"/>
              </a:buClr>
              <a:buSzPct val="60000"/>
              <a:buFont typeface="Wingdings" panose="05000000000000000000" pitchFamily="2" charset="2"/>
              <a:buChar char="n"/>
              <a:defRPr/>
            </a:pPr>
            <a:endParaRPr lang="en-US" altLang="zh-CN" sz="10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8791634" y="5916397"/>
            <a:ext cx="955681" cy="246221"/>
          </a:xfrm>
          <a:prstGeom prst="rect">
            <a:avLst/>
          </a:prstGeom>
          <a:noFill/>
        </p:spPr>
        <p:txBody>
          <a:bodyPr wrap="square" rtlCol="0">
            <a:noAutofit/>
          </a:bodyPr>
          <a:lstStyle/>
          <a:p>
            <a:pPr algn="ctr" fontAlgn="ctr"/>
            <a:r>
              <a:rPr lang="zh-CN" altLang="en-US"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p>
        </p:txBody>
      </p:sp>
      <p:sp>
        <p:nvSpPr>
          <p:cNvPr id="50" name="椭圆 49"/>
          <p:cNvSpPr/>
          <p:nvPr/>
        </p:nvSpPr>
        <p:spPr bwMode="gray">
          <a:xfrm>
            <a:off x="6136062" y="5703285"/>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6195328" y="5635593"/>
            <a:ext cx="992858" cy="251711"/>
          </a:xfrm>
          <a:prstGeom prst="rect">
            <a:avLst/>
          </a:prstGeom>
        </p:spPr>
        <p:txBody>
          <a:bodyPr wrap="square">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认证控制点</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椭圆 51"/>
          <p:cNvSpPr/>
          <p:nvPr/>
        </p:nvSpPr>
        <p:spPr bwMode="gray">
          <a:xfrm>
            <a:off x="6136062" y="6004053"/>
            <a:ext cx="118533" cy="118533"/>
          </a:xfrm>
          <a:prstGeom prst="ellipse">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bwMode="gray">
          <a:xfrm>
            <a:off x="6195328" y="5936361"/>
            <a:ext cx="992858" cy="251711"/>
          </a:xfrm>
          <a:prstGeom prst="rect">
            <a:avLst/>
          </a:prstGeom>
        </p:spPr>
        <p:txBody>
          <a:bodyPr wrap="square">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认证执行点</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Straight Connector 166"/>
          <p:cNvCxnSpPr/>
          <p:nvPr/>
        </p:nvCxnSpPr>
        <p:spPr bwMode="gray">
          <a:xfrm>
            <a:off x="7284587" y="5746998"/>
            <a:ext cx="506720" cy="0"/>
          </a:xfrm>
          <a:prstGeom prst="line">
            <a:avLst/>
          </a:prstGeom>
          <a:ln w="12700">
            <a:solidFill>
              <a:srgbClr val="30B5C5"/>
            </a:solidFill>
            <a:prstDash val="sysDash"/>
          </a:ln>
        </p:spPr>
        <p:style>
          <a:lnRef idx="1">
            <a:schemeClr val="accent1"/>
          </a:lnRef>
          <a:fillRef idx="0">
            <a:schemeClr val="accent1"/>
          </a:fillRef>
          <a:effectRef idx="0">
            <a:schemeClr val="accent1"/>
          </a:effectRef>
          <a:fontRef idx="minor">
            <a:schemeClr val="tx1"/>
          </a:fontRef>
        </p:style>
      </p:cxnSp>
      <p:sp>
        <p:nvSpPr>
          <p:cNvPr id="55" name="矩形 54"/>
          <p:cNvSpPr/>
          <p:nvPr/>
        </p:nvSpPr>
        <p:spPr bwMode="gray">
          <a:xfrm>
            <a:off x="7763177" y="5620040"/>
            <a:ext cx="1220567" cy="251711"/>
          </a:xfrm>
          <a:prstGeom prst="rect">
            <a:avLst/>
          </a:prstGeom>
        </p:spPr>
        <p:txBody>
          <a:bodyPr wrap="square">
            <a:no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CAPWAP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2" name="图片 9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063020" y="1403160"/>
            <a:ext cx="1346845" cy="248394"/>
          </a:xfrm>
          <a:prstGeom prst="rect">
            <a:avLst/>
          </a:prstGeom>
        </p:spPr>
      </p:pic>
      <p:grpSp>
        <p:nvGrpSpPr>
          <p:cNvPr id="69" name="Group 165"/>
          <p:cNvGrpSpPr/>
          <p:nvPr/>
        </p:nvGrpSpPr>
        <p:grpSpPr bwMode="gray">
          <a:xfrm rot="10800000">
            <a:off x="2873848" y="1194720"/>
            <a:ext cx="715186" cy="837423"/>
            <a:chOff x="-1233037" y="914446"/>
            <a:chExt cx="1573823" cy="778776"/>
          </a:xfrm>
        </p:grpSpPr>
        <p:cxnSp>
          <p:nvCxnSpPr>
            <p:cNvPr id="70"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76" name="直接连接符 75"/>
          <p:cNvCxnSpPr/>
          <p:nvPr/>
        </p:nvCxnSpPr>
        <p:spPr bwMode="gray">
          <a:xfrm flipH="1" flipV="1">
            <a:off x="2172460" y="1678122"/>
            <a:ext cx="705076" cy="428307"/>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bwMode="gray">
          <a:xfrm flipH="1">
            <a:off x="4572725" y="4331805"/>
            <a:ext cx="0" cy="152216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84" name="Group 165"/>
          <p:cNvGrpSpPr/>
          <p:nvPr/>
        </p:nvGrpSpPr>
        <p:grpSpPr bwMode="gray">
          <a:xfrm rot="10800000" flipV="1">
            <a:off x="1816590" y="4269785"/>
            <a:ext cx="715186" cy="1093839"/>
            <a:chOff x="-1233037" y="914446"/>
            <a:chExt cx="1573823" cy="778776"/>
          </a:xfrm>
        </p:grpSpPr>
        <p:cxnSp>
          <p:nvCxnSpPr>
            <p:cNvPr id="85"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7" name="任意多边形 86"/>
          <p:cNvSpPr/>
          <p:nvPr/>
        </p:nvSpPr>
        <p:spPr bwMode="gray">
          <a:xfrm>
            <a:off x="1201432" y="1958683"/>
            <a:ext cx="4092505" cy="2223824"/>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8" name="图片 87" descr="汇聚交换机.png"/>
          <p:cNvPicPr>
            <a:picLocks noChangeAspect="1"/>
          </p:cNvPicPr>
          <p:nvPr/>
        </p:nvPicPr>
        <p:blipFill>
          <a:blip r:embed="rId4"/>
          <a:stretch>
            <a:fillRect/>
          </a:stretch>
        </p:blipFill>
        <p:spPr bwMode="gray">
          <a:xfrm>
            <a:off x="2347040" y="4029508"/>
            <a:ext cx="369473" cy="302297"/>
          </a:xfrm>
          <a:prstGeom prst="rect">
            <a:avLst/>
          </a:prstGeom>
        </p:spPr>
      </p:pic>
      <p:pic>
        <p:nvPicPr>
          <p:cNvPr id="93" name="图片 76" descr="接入交换机.png"/>
          <p:cNvPicPr>
            <a:picLocks noChangeAspect="1"/>
          </p:cNvPicPr>
          <p:nvPr/>
        </p:nvPicPr>
        <p:blipFill>
          <a:blip r:embed="rId5"/>
          <a:stretch>
            <a:fillRect/>
          </a:stretch>
        </p:blipFill>
        <p:spPr bwMode="gray">
          <a:xfrm>
            <a:off x="1987725" y="5207628"/>
            <a:ext cx="369473" cy="302297"/>
          </a:xfrm>
          <a:prstGeom prst="rect">
            <a:avLst/>
          </a:prstGeom>
        </p:spPr>
      </p:pic>
      <p:pic>
        <p:nvPicPr>
          <p:cNvPr id="94"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1877000" y="1560428"/>
            <a:ext cx="369473" cy="302297"/>
          </a:xfrm>
          <a:prstGeom prst="rect">
            <a:avLst/>
          </a:prstGeom>
        </p:spPr>
      </p:pic>
      <p:pic>
        <p:nvPicPr>
          <p:cNvPr id="95" name="图片 87" descr="汇聚交换机.png"/>
          <p:cNvPicPr>
            <a:picLocks noChangeAspect="1"/>
          </p:cNvPicPr>
          <p:nvPr/>
        </p:nvPicPr>
        <p:blipFill>
          <a:blip r:embed="rId4"/>
          <a:stretch>
            <a:fillRect/>
          </a:stretch>
        </p:blipFill>
        <p:spPr bwMode="gray">
          <a:xfrm>
            <a:off x="4387989" y="4029508"/>
            <a:ext cx="369473" cy="302297"/>
          </a:xfrm>
          <a:prstGeom prst="rect">
            <a:avLst/>
          </a:prstGeom>
        </p:spPr>
      </p:pic>
      <p:pic>
        <p:nvPicPr>
          <p:cNvPr id="96" name="图片 76" descr="接入交换机.png"/>
          <p:cNvPicPr>
            <a:picLocks noChangeAspect="1"/>
          </p:cNvPicPr>
          <p:nvPr/>
        </p:nvPicPr>
        <p:blipFill>
          <a:blip r:embed="rId5"/>
          <a:stretch>
            <a:fillRect/>
          </a:stretch>
        </p:blipFill>
        <p:spPr bwMode="gray">
          <a:xfrm>
            <a:off x="4387989" y="5207628"/>
            <a:ext cx="369473" cy="302297"/>
          </a:xfrm>
          <a:prstGeom prst="rect">
            <a:avLst/>
          </a:prstGeom>
        </p:spPr>
      </p:pic>
      <p:pic>
        <p:nvPicPr>
          <p:cNvPr id="97" name="图片 105" descr="AP.png"/>
          <p:cNvPicPr>
            <a:picLocks noChangeAspect="1"/>
          </p:cNvPicPr>
          <p:nvPr/>
        </p:nvPicPr>
        <p:blipFill>
          <a:blip r:embed="rId7"/>
          <a:stretch>
            <a:fillRect/>
          </a:stretch>
        </p:blipFill>
        <p:spPr bwMode="gray">
          <a:xfrm>
            <a:off x="4999108" y="5221165"/>
            <a:ext cx="333509" cy="272873"/>
          </a:xfrm>
          <a:prstGeom prst="rect">
            <a:avLst/>
          </a:prstGeom>
        </p:spPr>
      </p:pic>
      <p:pic>
        <p:nvPicPr>
          <p:cNvPr id="98" name="Picture 2" descr="G:\做的项目\公共\扁平图标切换\更新2015_01_21\oss扁平图标库2015_01_21更新-04.png"/>
          <p:cNvPicPr>
            <a:picLocks noChangeAspect="1" noChangeArrowheads="1"/>
          </p:cNvPicPr>
          <p:nvPr/>
        </p:nvPicPr>
        <p:blipFill>
          <a:blip r:embed="rId8"/>
          <a:stretch>
            <a:fillRect/>
          </a:stretch>
        </p:blipFill>
        <p:spPr bwMode="gray">
          <a:xfrm>
            <a:off x="3039967" y="1116754"/>
            <a:ext cx="369473" cy="302297"/>
          </a:xfrm>
          <a:prstGeom prst="rect">
            <a:avLst/>
          </a:prstGeom>
          <a:noFill/>
        </p:spPr>
      </p:pic>
      <p:sp>
        <p:nvSpPr>
          <p:cNvPr id="99" name="文本框 98"/>
          <p:cNvSpPr txBox="1"/>
          <p:nvPr/>
        </p:nvSpPr>
        <p:spPr bwMode="gray">
          <a:xfrm>
            <a:off x="2597649" y="2924300"/>
            <a:ext cx="1254108" cy="330552"/>
          </a:xfrm>
          <a:prstGeom prst="rect">
            <a:avLst/>
          </a:prstGeom>
          <a:noFill/>
        </p:spPr>
        <p:txBody>
          <a:bodyPr wrap="square" rtlCol="0">
            <a:noAutofit/>
          </a:bodyPr>
          <a:lstStyle/>
          <a:p>
            <a:pPr algn="ctr" font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p>
        </p:txBody>
      </p:sp>
      <p:pic>
        <p:nvPicPr>
          <p:cNvPr id="100" name="图片 86" descr="核心交换机.png"/>
          <p:cNvPicPr>
            <a:picLocks noChangeAspect="1"/>
          </p:cNvPicPr>
          <p:nvPr/>
        </p:nvPicPr>
        <p:blipFill>
          <a:blip r:embed="rId9"/>
          <a:stretch>
            <a:fillRect/>
          </a:stretch>
        </p:blipFill>
        <p:spPr bwMode="gray">
          <a:xfrm>
            <a:off x="2717837" y="1963576"/>
            <a:ext cx="369473" cy="302297"/>
          </a:xfrm>
          <a:prstGeom prst="rect">
            <a:avLst/>
          </a:prstGeom>
        </p:spPr>
      </p:pic>
      <p:pic>
        <p:nvPicPr>
          <p:cNvPr id="101" name="图片 86" descr="核心交换机.png"/>
          <p:cNvPicPr>
            <a:picLocks noChangeAspect="1"/>
          </p:cNvPicPr>
          <p:nvPr/>
        </p:nvPicPr>
        <p:blipFill>
          <a:blip r:embed="rId9"/>
          <a:stretch>
            <a:fillRect/>
          </a:stretch>
        </p:blipFill>
        <p:spPr bwMode="gray">
          <a:xfrm>
            <a:off x="3409440" y="1963576"/>
            <a:ext cx="369473" cy="302297"/>
          </a:xfrm>
          <a:prstGeom prst="rect">
            <a:avLst/>
          </a:prstGeom>
        </p:spPr>
      </p:pic>
      <p:cxnSp>
        <p:nvCxnSpPr>
          <p:cNvPr id="102" name="直接连接符 101"/>
          <p:cNvCxnSpPr>
            <a:stCxn id="100" idx="3"/>
            <a:endCxn id="101" idx="1"/>
          </p:cNvCxnSpPr>
          <p:nvPr/>
        </p:nvCxnSpPr>
        <p:spPr bwMode="gray">
          <a:xfrm>
            <a:off x="3087310" y="2114725"/>
            <a:ext cx="322130"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03" name="图片 87" descr="汇聚交换机.png"/>
          <p:cNvPicPr>
            <a:picLocks noChangeAspect="1"/>
          </p:cNvPicPr>
          <p:nvPr/>
        </p:nvPicPr>
        <p:blipFill>
          <a:blip r:embed="rId4"/>
          <a:stretch>
            <a:fillRect/>
          </a:stretch>
        </p:blipFill>
        <p:spPr bwMode="gray">
          <a:xfrm>
            <a:off x="1628411" y="4029508"/>
            <a:ext cx="369473" cy="302297"/>
          </a:xfrm>
          <a:prstGeom prst="rect">
            <a:avLst/>
          </a:prstGeom>
        </p:spPr>
      </p:pic>
      <p:cxnSp>
        <p:nvCxnSpPr>
          <p:cNvPr id="104" name="直接连接符 103"/>
          <p:cNvCxnSpPr>
            <a:stCxn id="103" idx="3"/>
            <a:endCxn id="88" idx="1"/>
          </p:cNvCxnSpPr>
          <p:nvPr/>
        </p:nvCxnSpPr>
        <p:spPr bwMode="gray">
          <a:xfrm>
            <a:off x="1997884" y="4180657"/>
            <a:ext cx="349156"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105" name="圆角矩形 104"/>
          <p:cNvSpPr/>
          <p:nvPr/>
        </p:nvSpPr>
        <p:spPr bwMode="gray">
          <a:xfrm>
            <a:off x="2621022" y="1868153"/>
            <a:ext cx="1253068" cy="476853"/>
          </a:xfrm>
          <a:prstGeom prst="roundRect">
            <a:avLst>
              <a:gd name="adj" fmla="val 24302"/>
            </a:avLst>
          </a:prstGeom>
          <a:noFill/>
          <a:ln w="19050" cap="flat" cmpd="sng" algn="ctr">
            <a:solidFill>
              <a:srgbClr val="30B5C5"/>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noAutofit/>
          </a:bodyPr>
          <a:lstStyle/>
          <a:p>
            <a:pPr fontAlgn="ctr">
              <a:spcBef>
                <a:spcPct val="0"/>
              </a:spcBef>
              <a:spcAft>
                <a:spcPct val="0"/>
              </a:spcAft>
              <a:buClr>
                <a:srgbClr val="CC9900"/>
              </a:buClr>
              <a:buSzPct val="60000"/>
              <a:buFont typeface="Wingdings" panose="05000000000000000000" pitchFamily="2" charset="2"/>
              <a:buChar char="n"/>
              <a:defRPr/>
            </a:pPr>
            <a:endParaRPr lang="en-US" altLang="zh-CN"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圆角矩形 105"/>
          <p:cNvSpPr/>
          <p:nvPr/>
        </p:nvSpPr>
        <p:spPr bwMode="gray">
          <a:xfrm>
            <a:off x="1537636" y="3942229"/>
            <a:ext cx="1269652" cy="476853"/>
          </a:xfrm>
          <a:prstGeom prst="roundRect">
            <a:avLst>
              <a:gd name="adj" fmla="val 27853"/>
            </a:avLst>
          </a:prstGeom>
          <a:noFill/>
          <a:ln w="19050" cap="flat" cmpd="sng" algn="ctr">
            <a:solidFill>
              <a:srgbClr val="30B5C5"/>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noAutofit/>
          </a:bodyPr>
          <a:lstStyle/>
          <a:p>
            <a:pPr fontAlgn="ctr">
              <a:spcBef>
                <a:spcPct val="0"/>
              </a:spcBef>
              <a:spcAft>
                <a:spcPct val="0"/>
              </a:spcAft>
              <a:buClr>
                <a:srgbClr val="CC9900"/>
              </a:buClr>
              <a:buSzPct val="60000"/>
              <a:buFont typeface="Wingdings" panose="05000000000000000000" pitchFamily="2" charset="2"/>
              <a:buChar char="n"/>
              <a:defRPr/>
            </a:pPr>
            <a:endParaRPr lang="en-US" altLang="zh-CN"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7" name="图片 87" descr="汇聚交换机.png"/>
          <p:cNvPicPr>
            <a:picLocks noChangeAspect="1"/>
          </p:cNvPicPr>
          <p:nvPr/>
        </p:nvPicPr>
        <p:blipFill>
          <a:blip r:embed="rId4"/>
          <a:stretch>
            <a:fillRect/>
          </a:stretch>
        </p:blipFill>
        <p:spPr bwMode="gray">
          <a:xfrm>
            <a:off x="3358794" y="4029508"/>
            <a:ext cx="369473" cy="302297"/>
          </a:xfrm>
          <a:prstGeom prst="rect">
            <a:avLst/>
          </a:prstGeom>
        </p:spPr>
      </p:pic>
      <p:cxnSp>
        <p:nvCxnSpPr>
          <p:cNvPr id="108" name="直接连接符 107"/>
          <p:cNvCxnSpPr/>
          <p:nvPr/>
        </p:nvCxnSpPr>
        <p:spPr bwMode="gray">
          <a:xfrm flipH="1">
            <a:off x="3543530" y="4331805"/>
            <a:ext cx="0" cy="152216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09" name="图片 11" descr="开放网络-蓝.png"/>
          <p:cNvPicPr>
            <a:picLocks noChangeAspect="1"/>
          </p:cNvPicPr>
          <p:nvPr/>
        </p:nvPicPr>
        <p:blipFill>
          <a:blip r:embed="rId10"/>
          <a:stretch>
            <a:fillRect/>
          </a:stretch>
        </p:blipFill>
        <p:spPr bwMode="gray">
          <a:xfrm>
            <a:off x="1969753" y="5853971"/>
            <a:ext cx="405415" cy="312082"/>
          </a:xfrm>
          <a:prstGeom prst="rect">
            <a:avLst/>
          </a:prstGeom>
        </p:spPr>
      </p:pic>
      <p:pic>
        <p:nvPicPr>
          <p:cNvPr id="110" name="图片 11" descr="开放网络-蓝.png"/>
          <p:cNvPicPr>
            <a:picLocks noChangeAspect="1"/>
          </p:cNvPicPr>
          <p:nvPr/>
        </p:nvPicPr>
        <p:blipFill>
          <a:blip r:embed="rId10"/>
          <a:stretch>
            <a:fillRect/>
          </a:stretch>
        </p:blipFill>
        <p:spPr bwMode="gray">
          <a:xfrm>
            <a:off x="3314557" y="5853971"/>
            <a:ext cx="405415" cy="312082"/>
          </a:xfrm>
          <a:prstGeom prst="rect">
            <a:avLst/>
          </a:prstGeom>
        </p:spPr>
      </p:pic>
      <p:pic>
        <p:nvPicPr>
          <p:cNvPr id="111" name="图片 11" descr="开放网络-蓝.png"/>
          <p:cNvPicPr>
            <a:picLocks noChangeAspect="1"/>
          </p:cNvPicPr>
          <p:nvPr/>
        </p:nvPicPr>
        <p:blipFill>
          <a:blip r:embed="rId10"/>
          <a:stretch>
            <a:fillRect/>
          </a:stretch>
        </p:blipFill>
        <p:spPr bwMode="gray">
          <a:xfrm>
            <a:off x="4370018" y="5853971"/>
            <a:ext cx="405415" cy="312082"/>
          </a:xfrm>
          <a:prstGeom prst="rect">
            <a:avLst/>
          </a:prstGeom>
        </p:spPr>
      </p:pic>
      <p:pic>
        <p:nvPicPr>
          <p:cNvPr id="112" name="图片 157" descr="故障链路.png"/>
          <p:cNvPicPr>
            <a:picLocks noChangeAspect="1"/>
          </p:cNvPicPr>
          <p:nvPr/>
        </p:nvPicPr>
        <p:blipFill>
          <a:blip r:embed="rId11"/>
          <a:stretch>
            <a:fillRect/>
          </a:stretch>
        </p:blipFill>
        <p:spPr bwMode="gray">
          <a:xfrm>
            <a:off x="4990628" y="5843620"/>
            <a:ext cx="446281" cy="332783"/>
          </a:xfrm>
          <a:prstGeom prst="rect">
            <a:avLst/>
          </a:prstGeom>
        </p:spPr>
      </p:pic>
      <p:sp>
        <p:nvSpPr>
          <p:cNvPr id="113" name="椭圆 112"/>
          <p:cNvSpPr/>
          <p:nvPr/>
        </p:nvSpPr>
        <p:spPr bwMode="gray">
          <a:xfrm>
            <a:off x="1976974" y="4932197"/>
            <a:ext cx="394420" cy="101992"/>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4" name="直接连接符 113"/>
          <p:cNvCxnSpPr>
            <a:stCxn id="96" idx="3"/>
            <a:endCxn id="97" idx="1"/>
          </p:cNvCxnSpPr>
          <p:nvPr/>
        </p:nvCxnSpPr>
        <p:spPr bwMode="gray">
          <a:xfrm flipV="1">
            <a:off x="4757462" y="5357602"/>
            <a:ext cx="241646" cy="117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15" name="任意多边形 114"/>
          <p:cNvSpPr/>
          <p:nvPr/>
        </p:nvSpPr>
        <p:spPr bwMode="gray">
          <a:xfrm>
            <a:off x="2222243" y="4440161"/>
            <a:ext cx="356180" cy="923078"/>
          </a:xfrm>
          <a:custGeom>
            <a:avLst/>
            <a:gdLst>
              <a:gd name="connsiteX0" fmla="*/ 0 w 356180"/>
              <a:gd name="connsiteY0" fmla="*/ 0 h 923078"/>
              <a:gd name="connsiteX1" fmla="*/ 143086 w 356180"/>
              <a:gd name="connsiteY1" fmla="*/ 923078 h 923078"/>
              <a:gd name="connsiteX2" fmla="*/ 127846 w 485153"/>
              <a:gd name="connsiteY2" fmla="*/ 904028 h 904028"/>
            </a:gdLst>
            <a:ahLst/>
            <a:cxnLst>
              <a:cxn ang="0">
                <a:pos x="connsiteX0" y="connsiteY0"/>
              </a:cxn>
              <a:cxn ang="0">
                <a:pos x="connsiteX1" y="connsiteY1"/>
              </a:cxn>
            </a:cxnLst>
            <a:rect l="l" t="t" r="r" b="b"/>
            <a:pathLst>
              <a:path w="356180" h="923078">
                <a:moveTo>
                  <a:pt x="0" y="0"/>
                </a:moveTo>
                <a:cubicBezTo>
                  <a:pt x="438855" y="291818"/>
                  <a:pt x="454801" y="600780"/>
                  <a:pt x="143086" y="923078"/>
                </a:cubicBezTo>
              </a:path>
            </a:pathLst>
          </a:custGeom>
          <a:ln w="12700">
            <a:solidFill>
              <a:srgbClr val="30B5C5"/>
            </a:solidFill>
            <a:prstDash val="sysDash"/>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文本框 115"/>
          <p:cNvSpPr txBox="1"/>
          <p:nvPr/>
        </p:nvSpPr>
        <p:spPr bwMode="gray">
          <a:xfrm>
            <a:off x="3853697" y="1960768"/>
            <a:ext cx="794451" cy="305105"/>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117" name="文本框 116"/>
          <p:cNvSpPr txBox="1"/>
          <p:nvPr/>
        </p:nvSpPr>
        <p:spPr bwMode="gray">
          <a:xfrm>
            <a:off x="1807748" y="3633298"/>
            <a:ext cx="770675" cy="305105"/>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118" name="文本框 117"/>
          <p:cNvSpPr txBox="1"/>
          <p:nvPr/>
        </p:nvSpPr>
        <p:spPr bwMode="gray">
          <a:xfrm>
            <a:off x="3183791" y="3633298"/>
            <a:ext cx="750603" cy="305105"/>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119" name="文本框 118"/>
          <p:cNvSpPr txBox="1"/>
          <p:nvPr/>
        </p:nvSpPr>
        <p:spPr bwMode="gray">
          <a:xfrm>
            <a:off x="4222740" y="3633298"/>
            <a:ext cx="699970" cy="305105"/>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cxnSp>
        <p:nvCxnSpPr>
          <p:cNvPr id="120" name="直接连接符 119"/>
          <p:cNvCxnSpPr/>
          <p:nvPr/>
        </p:nvCxnSpPr>
        <p:spPr bwMode="gray">
          <a:xfrm flipH="1">
            <a:off x="1256748" y="4172240"/>
            <a:ext cx="23122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bwMode="gray">
          <a:xfrm>
            <a:off x="1152974" y="4167450"/>
            <a:ext cx="462742" cy="259339"/>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L2</a:t>
            </a:r>
          </a:p>
        </p:txBody>
      </p:sp>
      <p:sp>
        <p:nvSpPr>
          <p:cNvPr id="122" name="文本框 121"/>
          <p:cNvSpPr txBox="1"/>
          <p:nvPr/>
        </p:nvSpPr>
        <p:spPr bwMode="gray">
          <a:xfrm>
            <a:off x="1145028" y="3913413"/>
            <a:ext cx="478633" cy="259339"/>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L3</a:t>
            </a:r>
          </a:p>
        </p:txBody>
      </p:sp>
      <p:sp>
        <p:nvSpPr>
          <p:cNvPr id="123" name="文本框 122"/>
          <p:cNvSpPr txBox="1"/>
          <p:nvPr/>
        </p:nvSpPr>
        <p:spPr bwMode="gray">
          <a:xfrm>
            <a:off x="677970" y="2026266"/>
            <a:ext cx="495033" cy="251711"/>
          </a:xfrm>
          <a:prstGeom prst="rect">
            <a:avLst/>
          </a:prstGeom>
          <a:noFill/>
        </p:spPr>
        <p:txBody>
          <a:bodyPr wrap="square" rtlCol="0">
            <a:noAutofit/>
          </a:bodyPr>
          <a:lstStyle/>
          <a:p>
            <a:pP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文本框 123"/>
          <p:cNvSpPr txBox="1"/>
          <p:nvPr/>
        </p:nvSpPr>
        <p:spPr bwMode="gray">
          <a:xfrm>
            <a:off x="677970" y="4002239"/>
            <a:ext cx="495033" cy="251711"/>
          </a:xfrm>
          <a:prstGeom prst="rect">
            <a:avLst/>
          </a:prstGeom>
          <a:noFill/>
        </p:spPr>
        <p:txBody>
          <a:bodyPr wrap="square" rtlCol="0">
            <a:noAutofit/>
          </a:bodyPr>
          <a:lstStyle/>
          <a:p>
            <a:pP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bwMode="gray">
          <a:xfrm>
            <a:off x="677970" y="5230643"/>
            <a:ext cx="495033" cy="251711"/>
          </a:xfrm>
          <a:prstGeom prst="rect">
            <a:avLst/>
          </a:prstGeom>
          <a:noFill/>
        </p:spPr>
        <p:txBody>
          <a:bodyPr wrap="square" rtlCol="0">
            <a:noAutofit/>
          </a:bodyPr>
          <a:lstStyle/>
          <a:p>
            <a:pP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文本框 125"/>
          <p:cNvSpPr txBox="1"/>
          <p:nvPr/>
        </p:nvSpPr>
        <p:spPr bwMode="gray">
          <a:xfrm>
            <a:off x="677970" y="1557674"/>
            <a:ext cx="495033" cy="251711"/>
          </a:xfrm>
          <a:prstGeom prst="rect">
            <a:avLst/>
          </a:prstGeom>
          <a:noFill/>
        </p:spPr>
        <p:txBody>
          <a:bodyPr wrap="square" rtlCol="0">
            <a:noAutofit/>
          </a:bodyPr>
          <a:lstStyle/>
          <a:p>
            <a:pP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文本框 126"/>
          <p:cNvSpPr txBox="1"/>
          <p:nvPr/>
        </p:nvSpPr>
        <p:spPr bwMode="gray">
          <a:xfrm>
            <a:off x="1261139" y="5211071"/>
            <a:ext cx="776368" cy="305105"/>
          </a:xfrm>
          <a:prstGeom prst="rect">
            <a:avLst/>
          </a:prstGeom>
          <a:noFill/>
        </p:spPr>
        <p:txBody>
          <a:bodyPr wrap="square" rtlCol="0">
            <a:noAutofit/>
          </a:bodyPr>
          <a:lstStyle/>
          <a:p>
            <a:pPr algn="ctr" fontAlgn="ct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Access</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文本框 127"/>
          <p:cNvSpPr txBox="1"/>
          <p:nvPr/>
        </p:nvSpPr>
        <p:spPr bwMode="gray">
          <a:xfrm>
            <a:off x="4967147" y="4900611"/>
            <a:ext cx="799292" cy="305105"/>
          </a:xfrm>
          <a:prstGeom prst="rect">
            <a:avLst/>
          </a:prstGeom>
          <a:noFill/>
        </p:spPr>
        <p:txBody>
          <a:bodyPr wrap="square" rtlCol="0">
            <a:no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a:t>
            </a:r>
          </a:p>
        </p:txBody>
      </p:sp>
      <p:sp>
        <p:nvSpPr>
          <p:cNvPr id="129" name="文本框 128"/>
          <p:cNvSpPr txBox="1"/>
          <p:nvPr/>
        </p:nvSpPr>
        <p:spPr bwMode="gray">
          <a:xfrm>
            <a:off x="3674836" y="5211071"/>
            <a:ext cx="776368" cy="305105"/>
          </a:xfrm>
          <a:prstGeom prst="rect">
            <a:avLst/>
          </a:prstGeom>
          <a:noFill/>
        </p:spPr>
        <p:txBody>
          <a:bodyPr wrap="square" rtlCol="0">
            <a:noAutofit/>
          </a:bodyPr>
          <a:lstStyle/>
          <a:p>
            <a:pPr algn="ctr" fontAlgn="ct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Access</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任意多边形 129"/>
          <p:cNvSpPr/>
          <p:nvPr/>
        </p:nvSpPr>
        <p:spPr bwMode="gray">
          <a:xfrm flipH="1">
            <a:off x="4100008" y="4338561"/>
            <a:ext cx="256230" cy="940858"/>
          </a:xfrm>
          <a:custGeom>
            <a:avLst/>
            <a:gdLst>
              <a:gd name="connsiteX0" fmla="*/ 0 w 356180"/>
              <a:gd name="connsiteY0" fmla="*/ 0 h 923078"/>
              <a:gd name="connsiteX1" fmla="*/ 143086 w 356180"/>
              <a:gd name="connsiteY1" fmla="*/ 923078 h 923078"/>
              <a:gd name="connsiteX2" fmla="*/ 127846 w 485153"/>
              <a:gd name="connsiteY2" fmla="*/ 904028 h 904028"/>
              <a:gd name="connsiteX0" fmla="*/ 17811 w 293614"/>
              <a:gd name="connsiteY0" fmla="*/ 0 h 1024678"/>
              <a:gd name="connsiteX1" fmla="*/ 0 w 293614"/>
              <a:gd name="connsiteY1" fmla="*/ 1024678 h 1024678"/>
              <a:gd name="connsiteX0" fmla="*/ 17811 w 296916"/>
              <a:gd name="connsiteY0" fmla="*/ 0 h 1024678"/>
              <a:gd name="connsiteX1" fmla="*/ 0 w 296916"/>
              <a:gd name="connsiteY1" fmla="*/ 1024678 h 1024678"/>
              <a:gd name="connsiteX0" fmla="*/ 17811 w 288130"/>
              <a:gd name="connsiteY0" fmla="*/ 0 h 1024678"/>
              <a:gd name="connsiteX1" fmla="*/ 0 w 288130"/>
              <a:gd name="connsiteY1" fmla="*/ 1024678 h 1024678"/>
              <a:gd name="connsiteX0" fmla="*/ 0 w 286998"/>
              <a:gd name="connsiteY0" fmla="*/ 0 h 940858"/>
              <a:gd name="connsiteX1" fmla="*/ 19731 w 286998"/>
              <a:gd name="connsiteY1" fmla="*/ 940858 h 940858"/>
              <a:gd name="connsiteX0" fmla="*/ 0 w 261214"/>
              <a:gd name="connsiteY0" fmla="*/ 0 h 940858"/>
              <a:gd name="connsiteX1" fmla="*/ 19731 w 261214"/>
              <a:gd name="connsiteY1" fmla="*/ 940858 h 940858"/>
              <a:gd name="connsiteX0" fmla="*/ 0 w 246992"/>
              <a:gd name="connsiteY0" fmla="*/ 0 h 940858"/>
              <a:gd name="connsiteX1" fmla="*/ 19731 w 246992"/>
              <a:gd name="connsiteY1" fmla="*/ 940858 h 940858"/>
              <a:gd name="connsiteX0" fmla="*/ 0 w 270514"/>
              <a:gd name="connsiteY0" fmla="*/ 0 h 940858"/>
              <a:gd name="connsiteX1" fmla="*/ 19731 w 270514"/>
              <a:gd name="connsiteY1" fmla="*/ 940858 h 940858"/>
            </a:gdLst>
            <a:ahLst/>
            <a:cxnLst>
              <a:cxn ang="0">
                <a:pos x="connsiteX0" y="connsiteY0"/>
              </a:cxn>
              <a:cxn ang="0">
                <a:pos x="connsiteX1" y="connsiteY1"/>
              </a:cxn>
            </a:cxnLst>
            <a:rect l="l" t="t" r="r" b="b"/>
            <a:pathLst>
              <a:path w="270514" h="940858">
                <a:moveTo>
                  <a:pt x="0" y="0"/>
                </a:moveTo>
                <a:cubicBezTo>
                  <a:pt x="390586" y="362938"/>
                  <a:pt x="323401" y="636340"/>
                  <a:pt x="19731" y="940858"/>
                </a:cubicBezTo>
              </a:path>
            </a:pathLst>
          </a:custGeom>
          <a:ln w="12700">
            <a:solidFill>
              <a:srgbClr val="30B5C5"/>
            </a:solidFill>
            <a:prstDash val="sysDash"/>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任意多边形 130"/>
          <p:cNvSpPr/>
          <p:nvPr/>
        </p:nvSpPr>
        <p:spPr bwMode="gray">
          <a:xfrm flipH="1">
            <a:off x="4709922" y="4352977"/>
            <a:ext cx="410570" cy="900218"/>
          </a:xfrm>
          <a:custGeom>
            <a:avLst/>
            <a:gdLst>
              <a:gd name="connsiteX0" fmla="*/ 0 w 356180"/>
              <a:gd name="connsiteY0" fmla="*/ 0 h 923078"/>
              <a:gd name="connsiteX1" fmla="*/ 143086 w 356180"/>
              <a:gd name="connsiteY1" fmla="*/ 923078 h 923078"/>
              <a:gd name="connsiteX2" fmla="*/ 127846 w 485153"/>
              <a:gd name="connsiteY2" fmla="*/ 904028 h 904028"/>
              <a:gd name="connsiteX0" fmla="*/ 315469 w 499778"/>
              <a:gd name="connsiteY0" fmla="*/ 0 h 724958"/>
              <a:gd name="connsiteX1" fmla="*/ 0 w 499778"/>
              <a:gd name="connsiteY1" fmla="*/ 724958 h 724958"/>
              <a:gd name="connsiteX0" fmla="*/ 315469 w 495276"/>
              <a:gd name="connsiteY0" fmla="*/ 0 h 724958"/>
              <a:gd name="connsiteX1" fmla="*/ 0 w 495276"/>
              <a:gd name="connsiteY1" fmla="*/ 724958 h 724958"/>
              <a:gd name="connsiteX0" fmla="*/ 315469 w 495276"/>
              <a:gd name="connsiteY0" fmla="*/ 0 h 714798"/>
              <a:gd name="connsiteX1" fmla="*/ 0 w 495276"/>
              <a:gd name="connsiteY1" fmla="*/ 714798 h 714798"/>
              <a:gd name="connsiteX0" fmla="*/ 315469 w 315469"/>
              <a:gd name="connsiteY0" fmla="*/ 0 h 714798"/>
              <a:gd name="connsiteX1" fmla="*/ 0 w 315469"/>
              <a:gd name="connsiteY1" fmla="*/ 714798 h 714798"/>
              <a:gd name="connsiteX0" fmla="*/ 433460 w 433460"/>
              <a:gd name="connsiteY0" fmla="*/ 0 h 900218"/>
              <a:gd name="connsiteX1" fmla="*/ 0 w 433460"/>
              <a:gd name="connsiteY1" fmla="*/ 900218 h 900218"/>
            </a:gdLst>
            <a:ahLst/>
            <a:cxnLst>
              <a:cxn ang="0">
                <a:pos x="connsiteX0" y="connsiteY0"/>
              </a:cxn>
              <a:cxn ang="0">
                <a:pos x="connsiteX1" y="connsiteY1"/>
              </a:cxn>
            </a:cxnLst>
            <a:rect l="l" t="t" r="r" b="b"/>
            <a:pathLst>
              <a:path w="433460" h="900218">
                <a:moveTo>
                  <a:pt x="433460" y="0"/>
                </a:moveTo>
                <a:cubicBezTo>
                  <a:pt x="421806" y="497558"/>
                  <a:pt x="287580" y="885260"/>
                  <a:pt x="0" y="900218"/>
                </a:cubicBezTo>
              </a:path>
            </a:pathLst>
          </a:custGeom>
          <a:ln w="12700">
            <a:solidFill>
              <a:srgbClr val="30B5C5"/>
            </a:solidFill>
            <a:prstDash val="sysDash"/>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矩形 131"/>
          <p:cNvSpPr/>
          <p:nvPr/>
        </p:nvSpPr>
        <p:spPr bwMode="gray">
          <a:xfrm>
            <a:off x="2533814" y="4635237"/>
            <a:ext cx="506153" cy="461665"/>
          </a:xfrm>
          <a:prstGeom prst="rect">
            <a:avLst/>
          </a:prstGeom>
        </p:spPr>
        <p:txBody>
          <a:bodyPr wrap="square">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策略联动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矩形 132"/>
          <p:cNvSpPr/>
          <p:nvPr/>
        </p:nvSpPr>
        <p:spPr bwMode="gray">
          <a:xfrm>
            <a:off x="3659837" y="4669600"/>
            <a:ext cx="546145" cy="461665"/>
          </a:xfrm>
          <a:prstGeom prst="rect">
            <a:avLst/>
          </a:prstGeom>
        </p:spPr>
        <p:txBody>
          <a:bodyPr wrap="square">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策略联动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椭圆 133"/>
          <p:cNvSpPr/>
          <p:nvPr/>
        </p:nvSpPr>
        <p:spPr bwMode="gray">
          <a:xfrm>
            <a:off x="2116584" y="4259836"/>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椭圆 134"/>
          <p:cNvSpPr/>
          <p:nvPr/>
        </p:nvSpPr>
        <p:spPr bwMode="gray">
          <a:xfrm>
            <a:off x="2291182" y="5295251"/>
            <a:ext cx="118533" cy="118533"/>
          </a:xfrm>
          <a:prstGeom prst="ellipse">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椭圆 135"/>
          <p:cNvSpPr/>
          <p:nvPr/>
        </p:nvSpPr>
        <p:spPr bwMode="gray">
          <a:xfrm>
            <a:off x="3393349" y="4259836"/>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椭圆 136"/>
          <p:cNvSpPr/>
          <p:nvPr/>
        </p:nvSpPr>
        <p:spPr bwMode="gray">
          <a:xfrm>
            <a:off x="3551163" y="4259836"/>
            <a:ext cx="118533" cy="118533"/>
          </a:xfrm>
          <a:prstGeom prst="ellipse">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椭圆 137"/>
          <p:cNvSpPr/>
          <p:nvPr/>
        </p:nvSpPr>
        <p:spPr bwMode="gray">
          <a:xfrm>
            <a:off x="4411360" y="4259836"/>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椭圆 138"/>
          <p:cNvSpPr/>
          <p:nvPr/>
        </p:nvSpPr>
        <p:spPr bwMode="gray">
          <a:xfrm>
            <a:off x="5298761" y="5295251"/>
            <a:ext cx="118533" cy="118533"/>
          </a:xfrm>
          <a:prstGeom prst="ellipse">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2" name="直接连接符 71"/>
          <p:cNvCxnSpPr>
            <a:stCxn id="93" idx="2"/>
            <a:endCxn id="109" idx="0"/>
          </p:cNvCxnSpPr>
          <p:nvPr/>
        </p:nvCxnSpPr>
        <p:spPr bwMode="gray">
          <a:xfrm flipH="1">
            <a:off x="2172461" y="5509925"/>
            <a:ext cx="1" cy="34404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73" name="椭圆 72"/>
          <p:cNvSpPr/>
          <p:nvPr/>
        </p:nvSpPr>
        <p:spPr bwMode="gray">
          <a:xfrm>
            <a:off x="7331068" y="5985772"/>
            <a:ext cx="394420" cy="101992"/>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7733881" y="5919016"/>
            <a:ext cx="811835" cy="247037"/>
          </a:xfrm>
          <a:prstGeom prst="rect">
            <a:avLst/>
          </a:prstGeom>
          <a:noFill/>
        </p:spPr>
        <p:txBody>
          <a:bodyPr wrap="square" rtlCol="0">
            <a:noAutofit/>
          </a:bodyPr>
          <a:lstStyle/>
          <a:p>
            <a:pPr algn="ct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31788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CloudCampus</a:t>
            </a:r>
            <a:r>
              <a:rPr lang="zh-CN" altLang="en-US" dirty="0"/>
              <a:t>关键技术：</a:t>
            </a:r>
            <a:r>
              <a:rPr lang="zh-CN" altLang="en-US" dirty="0">
                <a:sym typeface="Huawei Sans" panose="020C0503030203020204" pitchFamily="34" charset="0"/>
              </a:rPr>
              <a:t>业务随行</a:t>
            </a:r>
          </a:p>
        </p:txBody>
      </p:sp>
      <p:sp>
        <p:nvSpPr>
          <p:cNvPr id="3" name="文本占位符 2"/>
          <p:cNvSpPr>
            <a:spLocks noGrp="1"/>
          </p:cNvSpPr>
          <p:nvPr>
            <p:ph type="body" sz="quarter" idx="10"/>
          </p:nvPr>
        </p:nvSpPr>
        <p:spPr>
          <a:xfrm>
            <a:off x="455612" y="1047750"/>
            <a:ext cx="11293475" cy="790752"/>
          </a:xfrm>
        </p:spPr>
        <p:txBody>
          <a:bodyPr/>
          <a:lstStyle/>
          <a:p>
            <a:r>
              <a:rPr lang="zh-CN" altLang="en-US" sz="1800" dirty="0">
                <a:sym typeface="Huawei Sans" panose="020C0503030203020204" pitchFamily="34" charset="0"/>
              </a:rPr>
              <a:t>业务随行基于安全组进行策略管理及权限控制，不管用户身处何地，使用哪个</a:t>
            </a:r>
            <a:r>
              <a:rPr lang="en-US" altLang="zh-CN" sz="1800" dirty="0">
                <a:sym typeface="Huawei Sans" panose="020C0503030203020204" pitchFamily="34" charset="0"/>
              </a:rPr>
              <a:t>IP</a:t>
            </a:r>
            <a:r>
              <a:rPr lang="zh-CN" altLang="en-US" sz="1800" dirty="0">
                <a:sym typeface="Huawei Sans" panose="020C0503030203020204" pitchFamily="34" charset="0"/>
              </a:rPr>
              <a:t>地址，都可以保证该用户获得相同的网络权限，对其执行对应的用户策略。</a:t>
            </a:r>
          </a:p>
        </p:txBody>
      </p:sp>
      <p:sp>
        <p:nvSpPr>
          <p:cNvPr id="4" name="Freeform 159"/>
          <p:cNvSpPr/>
          <p:nvPr/>
        </p:nvSpPr>
        <p:spPr bwMode="gray">
          <a:xfrm flipH="1">
            <a:off x="953925" y="2442718"/>
            <a:ext cx="6336264" cy="368781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Freeform 159"/>
          <p:cNvSpPr/>
          <p:nvPr/>
        </p:nvSpPr>
        <p:spPr bwMode="gray">
          <a:xfrm flipH="1">
            <a:off x="3495524" y="4062001"/>
            <a:ext cx="1253066" cy="72930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3"/>
          <p:cNvSpPr txBox="1"/>
          <p:nvPr/>
        </p:nvSpPr>
        <p:spPr bwMode="gray">
          <a:xfrm>
            <a:off x="3619355" y="4301407"/>
            <a:ext cx="1005404" cy="338554"/>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园区网络</a:t>
            </a:r>
          </a:p>
        </p:txBody>
      </p:sp>
      <p:grpSp>
        <p:nvGrpSpPr>
          <p:cNvPr id="15" name="组合 14"/>
          <p:cNvGrpSpPr>
            <a:grpSpLocks noChangeAspect="1"/>
          </p:cNvGrpSpPr>
          <p:nvPr/>
        </p:nvGrpSpPr>
        <p:grpSpPr bwMode="gray">
          <a:xfrm>
            <a:off x="2043476" y="5585310"/>
            <a:ext cx="416479" cy="416479"/>
            <a:chOff x="373063" y="2114551"/>
            <a:chExt cx="1114425" cy="1116013"/>
          </a:xfrm>
        </p:grpSpPr>
        <p:sp>
          <p:nvSpPr>
            <p:cNvPr id="46"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7" name="组合 46"/>
            <p:cNvGrpSpPr>
              <a:grpSpLocks/>
            </p:cNvGrpSpPr>
            <p:nvPr/>
          </p:nvGrpSpPr>
          <p:grpSpPr bwMode="gray">
            <a:xfrm>
              <a:off x="649288" y="2289176"/>
              <a:ext cx="561975" cy="769938"/>
              <a:chOff x="649288" y="2289176"/>
              <a:chExt cx="561975" cy="769938"/>
            </a:xfrm>
          </p:grpSpPr>
          <p:sp>
            <p:nvSpPr>
              <p:cNvPr id="48"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6" name="组合 15"/>
          <p:cNvGrpSpPr>
            <a:grpSpLocks noChangeAspect="1"/>
          </p:cNvGrpSpPr>
          <p:nvPr/>
        </p:nvGrpSpPr>
        <p:grpSpPr bwMode="gray">
          <a:xfrm>
            <a:off x="3671073" y="5585310"/>
            <a:ext cx="416479" cy="416479"/>
            <a:chOff x="373063" y="2114551"/>
            <a:chExt cx="1114425" cy="1116013"/>
          </a:xfrm>
        </p:grpSpPr>
        <p:sp>
          <p:nvSpPr>
            <p:cNvPr id="38"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9" name="组合 38"/>
            <p:cNvGrpSpPr>
              <a:grpSpLocks/>
            </p:cNvGrpSpPr>
            <p:nvPr/>
          </p:nvGrpSpPr>
          <p:grpSpPr bwMode="gray">
            <a:xfrm>
              <a:off x="649288" y="2289176"/>
              <a:ext cx="561975" cy="769938"/>
              <a:chOff x="649288" y="2289176"/>
              <a:chExt cx="561975" cy="769938"/>
            </a:xfrm>
          </p:grpSpPr>
          <p:sp>
            <p:nvSpPr>
              <p:cNvPr id="40"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7" name="组合 16"/>
          <p:cNvGrpSpPr>
            <a:grpSpLocks noChangeAspect="1"/>
          </p:cNvGrpSpPr>
          <p:nvPr/>
        </p:nvGrpSpPr>
        <p:grpSpPr bwMode="gray">
          <a:xfrm>
            <a:off x="5294943" y="5585310"/>
            <a:ext cx="416479" cy="416479"/>
            <a:chOff x="373063" y="2114551"/>
            <a:chExt cx="1114425" cy="1116013"/>
          </a:xfrm>
        </p:grpSpPr>
        <p:sp>
          <p:nvSpPr>
            <p:cNvPr id="30"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a:grpSpLocks/>
            </p:cNvGrpSpPr>
            <p:nvPr/>
          </p:nvGrpSpPr>
          <p:grpSpPr bwMode="gray">
            <a:xfrm>
              <a:off x="649288" y="2289176"/>
              <a:ext cx="561975" cy="769938"/>
              <a:chOff x="649288" y="2289176"/>
              <a:chExt cx="561975" cy="769938"/>
            </a:xfrm>
          </p:grpSpPr>
          <p:sp>
            <p:nvSpPr>
              <p:cNvPr id="32"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8" name="Freeform 222"/>
          <p:cNvSpPr/>
          <p:nvPr/>
        </p:nvSpPr>
        <p:spPr bwMode="gray">
          <a:xfrm rot="16761088">
            <a:off x="2340071" y="4801252"/>
            <a:ext cx="936838" cy="796839"/>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0">
                  <a:schemeClr val="accent1">
                    <a:lumMod val="0"/>
                    <a:lumOff val="100000"/>
                    <a:alpha val="0"/>
                  </a:schemeClr>
                </a:gs>
                <a:gs pos="86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222"/>
          <p:cNvSpPr/>
          <p:nvPr/>
        </p:nvSpPr>
        <p:spPr bwMode="gray">
          <a:xfrm rot="15742895" flipV="1">
            <a:off x="4879507" y="4827519"/>
            <a:ext cx="936838" cy="713614"/>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0">
                  <a:schemeClr val="accent1">
                    <a:lumMod val="0"/>
                    <a:lumOff val="100000"/>
                    <a:alpha val="0"/>
                  </a:schemeClr>
                </a:gs>
                <a:gs pos="86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Right Arrow 158"/>
          <p:cNvSpPr/>
          <p:nvPr/>
        </p:nvSpPr>
        <p:spPr bwMode="gray">
          <a:xfrm rot="16200000">
            <a:off x="3715044" y="4691006"/>
            <a:ext cx="845858" cy="1065456"/>
          </a:xfrm>
          <a:custGeom>
            <a:avLst/>
            <a:gdLst>
              <a:gd name="connsiteX0" fmla="*/ 0 w 633403"/>
              <a:gd name="connsiteY0" fmla="*/ 140615 h 494305"/>
              <a:gd name="connsiteX1" fmla="*/ 386251 w 633403"/>
              <a:gd name="connsiteY1" fmla="*/ 140615 h 494305"/>
              <a:gd name="connsiteX2" fmla="*/ 386251 w 633403"/>
              <a:gd name="connsiteY2" fmla="*/ 0 h 494305"/>
              <a:gd name="connsiteX3" fmla="*/ 633403 w 633403"/>
              <a:gd name="connsiteY3" fmla="*/ 247153 h 494305"/>
              <a:gd name="connsiteX4" fmla="*/ 386251 w 633403"/>
              <a:gd name="connsiteY4" fmla="*/ 494305 h 494305"/>
              <a:gd name="connsiteX5" fmla="*/ 386251 w 633403"/>
              <a:gd name="connsiteY5" fmla="*/ 353690 h 494305"/>
              <a:gd name="connsiteX6" fmla="*/ 0 w 633403"/>
              <a:gd name="connsiteY6" fmla="*/ 353690 h 494305"/>
              <a:gd name="connsiteX7" fmla="*/ 0 w 633403"/>
              <a:gd name="connsiteY7" fmla="*/ 140615 h 494305"/>
              <a:gd name="connsiteX0" fmla="*/ 0 w 637213"/>
              <a:gd name="connsiteY0" fmla="*/ 0 h 1016630"/>
              <a:gd name="connsiteX1" fmla="*/ 390061 w 637213"/>
              <a:gd name="connsiteY1" fmla="*/ 662940 h 1016630"/>
              <a:gd name="connsiteX2" fmla="*/ 390061 w 637213"/>
              <a:gd name="connsiteY2" fmla="*/ 522325 h 1016630"/>
              <a:gd name="connsiteX3" fmla="*/ 637213 w 637213"/>
              <a:gd name="connsiteY3" fmla="*/ 769478 h 1016630"/>
              <a:gd name="connsiteX4" fmla="*/ 390061 w 637213"/>
              <a:gd name="connsiteY4" fmla="*/ 1016630 h 1016630"/>
              <a:gd name="connsiteX5" fmla="*/ 390061 w 637213"/>
              <a:gd name="connsiteY5" fmla="*/ 876015 h 1016630"/>
              <a:gd name="connsiteX6" fmla="*/ 3810 w 637213"/>
              <a:gd name="connsiteY6" fmla="*/ 876015 h 1016630"/>
              <a:gd name="connsiteX7" fmla="*/ 0 w 637213"/>
              <a:gd name="connsiteY7" fmla="*/ 0 h 1016630"/>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1 w 1212477"/>
              <a:gd name="connsiteY0" fmla="*/ 0 h 1770281"/>
              <a:gd name="connsiteX1" fmla="*/ 965325 w 1212477"/>
              <a:gd name="connsiteY1" fmla="*/ 898073 h 1770281"/>
              <a:gd name="connsiteX2" fmla="*/ 965325 w 1212477"/>
              <a:gd name="connsiteY2" fmla="*/ 757458 h 1770281"/>
              <a:gd name="connsiteX3" fmla="*/ 1212477 w 1212477"/>
              <a:gd name="connsiteY3" fmla="*/ 1004611 h 1770281"/>
              <a:gd name="connsiteX4" fmla="*/ 965325 w 1212477"/>
              <a:gd name="connsiteY4" fmla="*/ 1251763 h 1770281"/>
              <a:gd name="connsiteX5" fmla="*/ 965325 w 1212477"/>
              <a:gd name="connsiteY5" fmla="*/ 1111148 h 1770281"/>
              <a:gd name="connsiteX6" fmla="*/ 582884 w 1212477"/>
              <a:gd name="connsiteY6" fmla="*/ 1770281 h 1770281"/>
              <a:gd name="connsiteX7" fmla="*/ -1 w 1212477"/>
              <a:gd name="connsiteY7" fmla="*/ 0 h 1770281"/>
              <a:gd name="connsiteX0" fmla="*/ 0 w 1212478"/>
              <a:gd name="connsiteY0" fmla="*/ 0 h 2112676"/>
              <a:gd name="connsiteX1" fmla="*/ 965326 w 1212478"/>
              <a:gd name="connsiteY1" fmla="*/ 898073 h 2112676"/>
              <a:gd name="connsiteX2" fmla="*/ 965326 w 1212478"/>
              <a:gd name="connsiteY2" fmla="*/ 757458 h 2112676"/>
              <a:gd name="connsiteX3" fmla="*/ 1212478 w 1212478"/>
              <a:gd name="connsiteY3" fmla="*/ 1004611 h 2112676"/>
              <a:gd name="connsiteX4" fmla="*/ 965326 w 1212478"/>
              <a:gd name="connsiteY4" fmla="*/ 1251763 h 2112676"/>
              <a:gd name="connsiteX5" fmla="*/ 965326 w 1212478"/>
              <a:gd name="connsiteY5" fmla="*/ 1111148 h 2112676"/>
              <a:gd name="connsiteX6" fmla="*/ 29466 w 1212478"/>
              <a:gd name="connsiteY6" fmla="*/ 2112677 h 2112676"/>
              <a:gd name="connsiteX7" fmla="*/ 0 w 1212478"/>
              <a:gd name="connsiteY7" fmla="*/ 0 h 2112676"/>
              <a:gd name="connsiteX0" fmla="*/ 0 w 1212478"/>
              <a:gd name="connsiteY0" fmla="*/ 0 h 2112678"/>
              <a:gd name="connsiteX1" fmla="*/ 965326 w 1212478"/>
              <a:gd name="connsiteY1" fmla="*/ 898073 h 2112678"/>
              <a:gd name="connsiteX2" fmla="*/ 965326 w 1212478"/>
              <a:gd name="connsiteY2" fmla="*/ 757458 h 2112678"/>
              <a:gd name="connsiteX3" fmla="*/ 1212478 w 1212478"/>
              <a:gd name="connsiteY3" fmla="*/ 1004611 h 2112678"/>
              <a:gd name="connsiteX4" fmla="*/ 965326 w 1212478"/>
              <a:gd name="connsiteY4" fmla="*/ 1251763 h 2112678"/>
              <a:gd name="connsiteX5" fmla="*/ 965326 w 1212478"/>
              <a:gd name="connsiteY5" fmla="*/ 1111148 h 2112678"/>
              <a:gd name="connsiteX6" fmla="*/ 29466 w 1212478"/>
              <a:gd name="connsiteY6" fmla="*/ 2112678 h 2112678"/>
              <a:gd name="connsiteX7" fmla="*/ 0 w 1212478"/>
              <a:gd name="connsiteY7" fmla="*/ 0 h 2112678"/>
              <a:gd name="connsiteX0" fmla="*/ 0 w 1212478"/>
              <a:gd name="connsiteY0" fmla="*/ 0 h 2112678"/>
              <a:gd name="connsiteX1" fmla="*/ 965326 w 1212478"/>
              <a:gd name="connsiteY1" fmla="*/ 898073 h 2112678"/>
              <a:gd name="connsiteX2" fmla="*/ 965326 w 1212478"/>
              <a:gd name="connsiteY2" fmla="*/ 757458 h 2112678"/>
              <a:gd name="connsiteX3" fmla="*/ 1212478 w 1212478"/>
              <a:gd name="connsiteY3" fmla="*/ 1004611 h 2112678"/>
              <a:gd name="connsiteX4" fmla="*/ 965326 w 1212478"/>
              <a:gd name="connsiteY4" fmla="*/ 1251763 h 2112678"/>
              <a:gd name="connsiteX5" fmla="*/ 965326 w 1212478"/>
              <a:gd name="connsiteY5" fmla="*/ 1111148 h 2112678"/>
              <a:gd name="connsiteX6" fmla="*/ 29466 w 1212478"/>
              <a:gd name="connsiteY6" fmla="*/ 2112678 h 2112678"/>
              <a:gd name="connsiteX7" fmla="*/ 0 w 1212478"/>
              <a:gd name="connsiteY7" fmla="*/ 0 h 211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2478" h="2112678">
                <a:moveTo>
                  <a:pt x="0" y="0"/>
                </a:moveTo>
                <a:cubicBezTo>
                  <a:pt x="76680" y="461013"/>
                  <a:pt x="698146" y="848546"/>
                  <a:pt x="965326" y="898073"/>
                </a:cubicBezTo>
                <a:lnTo>
                  <a:pt x="965326" y="757458"/>
                </a:lnTo>
                <a:lnTo>
                  <a:pt x="1212478" y="1004611"/>
                </a:lnTo>
                <a:lnTo>
                  <a:pt x="965326" y="1251763"/>
                </a:lnTo>
                <a:lnTo>
                  <a:pt x="965326" y="1111148"/>
                </a:lnTo>
                <a:cubicBezTo>
                  <a:pt x="693066" y="1208942"/>
                  <a:pt x="126972" y="1618078"/>
                  <a:pt x="29466" y="2112678"/>
                </a:cubicBezTo>
                <a:lnTo>
                  <a:pt x="0" y="0"/>
                </a:lnTo>
                <a:close/>
              </a:path>
            </a:pathLst>
          </a:cu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103"/>
          <p:cNvSpPr txBox="1"/>
          <p:nvPr/>
        </p:nvSpPr>
        <p:spPr bwMode="gray">
          <a:xfrm>
            <a:off x="2411473" y="5665430"/>
            <a:ext cx="66075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a:t>
            </a:r>
          </a:p>
        </p:txBody>
      </p:sp>
      <p:sp>
        <p:nvSpPr>
          <p:cNvPr id="22" name="文本框 104"/>
          <p:cNvSpPr txBox="1"/>
          <p:nvPr/>
        </p:nvSpPr>
        <p:spPr bwMode="gray">
          <a:xfrm>
            <a:off x="4065911" y="5665430"/>
            <a:ext cx="66075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a:t>
            </a:r>
          </a:p>
        </p:txBody>
      </p:sp>
      <p:sp>
        <p:nvSpPr>
          <p:cNvPr id="23" name="文本框 105"/>
          <p:cNvSpPr txBox="1"/>
          <p:nvPr/>
        </p:nvSpPr>
        <p:spPr bwMode="gray">
          <a:xfrm>
            <a:off x="5664614" y="5665430"/>
            <a:ext cx="66075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a:t>
            </a:r>
          </a:p>
        </p:txBody>
      </p:sp>
      <p:sp>
        <p:nvSpPr>
          <p:cNvPr id="24" name="文本框 107"/>
          <p:cNvSpPr txBox="1"/>
          <p:nvPr/>
        </p:nvSpPr>
        <p:spPr bwMode="gray">
          <a:xfrm>
            <a:off x="2011735" y="5216939"/>
            <a:ext cx="902811"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准入认证</a:t>
            </a:r>
            <a:endParaRPr lang="en-US" altLang="zh-CN" sz="140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108"/>
          <p:cNvSpPr txBox="1"/>
          <p:nvPr/>
        </p:nvSpPr>
        <p:spPr bwMode="gray">
          <a:xfrm>
            <a:off x="3670650" y="5216939"/>
            <a:ext cx="902811"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准入认证</a:t>
            </a:r>
            <a:endParaRPr lang="en-US" altLang="zh-CN" sz="140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109"/>
          <p:cNvSpPr txBox="1"/>
          <p:nvPr/>
        </p:nvSpPr>
        <p:spPr bwMode="gray">
          <a:xfrm>
            <a:off x="5219203" y="5216939"/>
            <a:ext cx="902811"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准入认证</a:t>
            </a:r>
            <a:endParaRPr lang="en-US" altLang="zh-CN" sz="140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ight Arrow 158"/>
          <p:cNvSpPr/>
          <p:nvPr/>
        </p:nvSpPr>
        <p:spPr bwMode="gray">
          <a:xfrm rot="16200000" flipH="1">
            <a:off x="3763206" y="851570"/>
            <a:ext cx="724137" cy="5696725"/>
          </a:xfrm>
          <a:custGeom>
            <a:avLst/>
            <a:gdLst>
              <a:gd name="connsiteX0" fmla="*/ 0 w 633403"/>
              <a:gd name="connsiteY0" fmla="*/ 140615 h 494305"/>
              <a:gd name="connsiteX1" fmla="*/ 386251 w 633403"/>
              <a:gd name="connsiteY1" fmla="*/ 140615 h 494305"/>
              <a:gd name="connsiteX2" fmla="*/ 386251 w 633403"/>
              <a:gd name="connsiteY2" fmla="*/ 0 h 494305"/>
              <a:gd name="connsiteX3" fmla="*/ 633403 w 633403"/>
              <a:gd name="connsiteY3" fmla="*/ 247153 h 494305"/>
              <a:gd name="connsiteX4" fmla="*/ 386251 w 633403"/>
              <a:gd name="connsiteY4" fmla="*/ 494305 h 494305"/>
              <a:gd name="connsiteX5" fmla="*/ 386251 w 633403"/>
              <a:gd name="connsiteY5" fmla="*/ 353690 h 494305"/>
              <a:gd name="connsiteX6" fmla="*/ 0 w 633403"/>
              <a:gd name="connsiteY6" fmla="*/ 353690 h 494305"/>
              <a:gd name="connsiteX7" fmla="*/ 0 w 633403"/>
              <a:gd name="connsiteY7" fmla="*/ 140615 h 494305"/>
              <a:gd name="connsiteX0" fmla="*/ 0 w 637213"/>
              <a:gd name="connsiteY0" fmla="*/ 0 h 1016630"/>
              <a:gd name="connsiteX1" fmla="*/ 390061 w 637213"/>
              <a:gd name="connsiteY1" fmla="*/ 662940 h 1016630"/>
              <a:gd name="connsiteX2" fmla="*/ 390061 w 637213"/>
              <a:gd name="connsiteY2" fmla="*/ 522325 h 1016630"/>
              <a:gd name="connsiteX3" fmla="*/ 637213 w 637213"/>
              <a:gd name="connsiteY3" fmla="*/ 769478 h 1016630"/>
              <a:gd name="connsiteX4" fmla="*/ 390061 w 637213"/>
              <a:gd name="connsiteY4" fmla="*/ 1016630 h 1016630"/>
              <a:gd name="connsiteX5" fmla="*/ 390061 w 637213"/>
              <a:gd name="connsiteY5" fmla="*/ 876015 h 1016630"/>
              <a:gd name="connsiteX6" fmla="*/ 3810 w 637213"/>
              <a:gd name="connsiteY6" fmla="*/ 876015 h 1016630"/>
              <a:gd name="connsiteX7" fmla="*/ 0 w 637213"/>
              <a:gd name="connsiteY7" fmla="*/ 0 h 1016630"/>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1 w 1212477"/>
              <a:gd name="connsiteY0" fmla="*/ 0 h 1770281"/>
              <a:gd name="connsiteX1" fmla="*/ 965325 w 1212477"/>
              <a:gd name="connsiteY1" fmla="*/ 898073 h 1770281"/>
              <a:gd name="connsiteX2" fmla="*/ 965325 w 1212477"/>
              <a:gd name="connsiteY2" fmla="*/ 757458 h 1770281"/>
              <a:gd name="connsiteX3" fmla="*/ 1212477 w 1212477"/>
              <a:gd name="connsiteY3" fmla="*/ 1004611 h 1770281"/>
              <a:gd name="connsiteX4" fmla="*/ 965325 w 1212477"/>
              <a:gd name="connsiteY4" fmla="*/ 1251763 h 1770281"/>
              <a:gd name="connsiteX5" fmla="*/ 965325 w 1212477"/>
              <a:gd name="connsiteY5" fmla="*/ 1111148 h 1770281"/>
              <a:gd name="connsiteX6" fmla="*/ 582884 w 1212477"/>
              <a:gd name="connsiteY6" fmla="*/ 1770281 h 1770281"/>
              <a:gd name="connsiteX7" fmla="*/ -1 w 1212477"/>
              <a:gd name="connsiteY7" fmla="*/ 0 h 1770281"/>
              <a:gd name="connsiteX0" fmla="*/ 0 w 1212478"/>
              <a:gd name="connsiteY0" fmla="*/ 0 h 2112676"/>
              <a:gd name="connsiteX1" fmla="*/ 965326 w 1212478"/>
              <a:gd name="connsiteY1" fmla="*/ 898073 h 2112676"/>
              <a:gd name="connsiteX2" fmla="*/ 965326 w 1212478"/>
              <a:gd name="connsiteY2" fmla="*/ 757458 h 2112676"/>
              <a:gd name="connsiteX3" fmla="*/ 1212478 w 1212478"/>
              <a:gd name="connsiteY3" fmla="*/ 1004611 h 2112676"/>
              <a:gd name="connsiteX4" fmla="*/ 965326 w 1212478"/>
              <a:gd name="connsiteY4" fmla="*/ 1251763 h 2112676"/>
              <a:gd name="connsiteX5" fmla="*/ 965326 w 1212478"/>
              <a:gd name="connsiteY5" fmla="*/ 1111148 h 2112676"/>
              <a:gd name="connsiteX6" fmla="*/ 29466 w 1212478"/>
              <a:gd name="connsiteY6" fmla="*/ 2112677 h 2112676"/>
              <a:gd name="connsiteX7" fmla="*/ 0 w 1212478"/>
              <a:gd name="connsiteY7" fmla="*/ 0 h 2112676"/>
              <a:gd name="connsiteX0" fmla="*/ 0 w 1212478"/>
              <a:gd name="connsiteY0" fmla="*/ 0 h 2112678"/>
              <a:gd name="connsiteX1" fmla="*/ 965326 w 1212478"/>
              <a:gd name="connsiteY1" fmla="*/ 898073 h 2112678"/>
              <a:gd name="connsiteX2" fmla="*/ 965326 w 1212478"/>
              <a:gd name="connsiteY2" fmla="*/ 757458 h 2112678"/>
              <a:gd name="connsiteX3" fmla="*/ 1212478 w 1212478"/>
              <a:gd name="connsiteY3" fmla="*/ 1004611 h 2112678"/>
              <a:gd name="connsiteX4" fmla="*/ 965326 w 1212478"/>
              <a:gd name="connsiteY4" fmla="*/ 1251763 h 2112678"/>
              <a:gd name="connsiteX5" fmla="*/ 965326 w 1212478"/>
              <a:gd name="connsiteY5" fmla="*/ 1111148 h 2112678"/>
              <a:gd name="connsiteX6" fmla="*/ 29466 w 1212478"/>
              <a:gd name="connsiteY6" fmla="*/ 2112678 h 2112678"/>
              <a:gd name="connsiteX7" fmla="*/ 0 w 1212478"/>
              <a:gd name="connsiteY7" fmla="*/ 0 h 2112678"/>
              <a:gd name="connsiteX0" fmla="*/ 0 w 1212478"/>
              <a:gd name="connsiteY0" fmla="*/ 0 h 2112678"/>
              <a:gd name="connsiteX1" fmla="*/ 965326 w 1212478"/>
              <a:gd name="connsiteY1" fmla="*/ 898073 h 2112678"/>
              <a:gd name="connsiteX2" fmla="*/ 965326 w 1212478"/>
              <a:gd name="connsiteY2" fmla="*/ 757458 h 2112678"/>
              <a:gd name="connsiteX3" fmla="*/ 1212478 w 1212478"/>
              <a:gd name="connsiteY3" fmla="*/ 1004611 h 2112678"/>
              <a:gd name="connsiteX4" fmla="*/ 965326 w 1212478"/>
              <a:gd name="connsiteY4" fmla="*/ 1251763 h 2112678"/>
              <a:gd name="connsiteX5" fmla="*/ 965326 w 1212478"/>
              <a:gd name="connsiteY5" fmla="*/ 1111148 h 2112678"/>
              <a:gd name="connsiteX6" fmla="*/ 29466 w 1212478"/>
              <a:gd name="connsiteY6" fmla="*/ 2112678 h 2112678"/>
              <a:gd name="connsiteX7" fmla="*/ 0 w 1212478"/>
              <a:gd name="connsiteY7" fmla="*/ 0 h 2112678"/>
              <a:gd name="connsiteX0" fmla="*/ 316036 w 1183012"/>
              <a:gd name="connsiteY0" fmla="*/ 0 h 6729497"/>
              <a:gd name="connsiteX1" fmla="*/ 935860 w 1183012"/>
              <a:gd name="connsiteY1" fmla="*/ 5514892 h 6729497"/>
              <a:gd name="connsiteX2" fmla="*/ 935860 w 1183012"/>
              <a:gd name="connsiteY2" fmla="*/ 5374277 h 6729497"/>
              <a:gd name="connsiteX3" fmla="*/ 1183012 w 1183012"/>
              <a:gd name="connsiteY3" fmla="*/ 5621430 h 6729497"/>
              <a:gd name="connsiteX4" fmla="*/ 935860 w 1183012"/>
              <a:gd name="connsiteY4" fmla="*/ 5868582 h 6729497"/>
              <a:gd name="connsiteX5" fmla="*/ 935860 w 1183012"/>
              <a:gd name="connsiteY5" fmla="*/ 5727967 h 6729497"/>
              <a:gd name="connsiteX6" fmla="*/ 0 w 1183012"/>
              <a:gd name="connsiteY6" fmla="*/ 6729497 h 6729497"/>
              <a:gd name="connsiteX7" fmla="*/ 316036 w 1183012"/>
              <a:gd name="connsiteY7" fmla="*/ 0 h 6729497"/>
              <a:gd name="connsiteX0" fmla="*/ 45646 w 912622"/>
              <a:gd name="connsiteY0" fmla="*/ 0 h 11295957"/>
              <a:gd name="connsiteX1" fmla="*/ 665470 w 912622"/>
              <a:gd name="connsiteY1" fmla="*/ 5514892 h 11295957"/>
              <a:gd name="connsiteX2" fmla="*/ 665470 w 912622"/>
              <a:gd name="connsiteY2" fmla="*/ 5374277 h 11295957"/>
              <a:gd name="connsiteX3" fmla="*/ 912622 w 912622"/>
              <a:gd name="connsiteY3" fmla="*/ 5621430 h 11295957"/>
              <a:gd name="connsiteX4" fmla="*/ 665470 w 912622"/>
              <a:gd name="connsiteY4" fmla="*/ 5868582 h 11295957"/>
              <a:gd name="connsiteX5" fmla="*/ 665470 w 912622"/>
              <a:gd name="connsiteY5" fmla="*/ 5727967 h 11295957"/>
              <a:gd name="connsiteX6" fmla="*/ 1 w 912622"/>
              <a:gd name="connsiteY6" fmla="*/ 11295956 h 11295957"/>
              <a:gd name="connsiteX7" fmla="*/ 45646 w 912622"/>
              <a:gd name="connsiteY7" fmla="*/ 0 h 11295957"/>
              <a:gd name="connsiteX0" fmla="*/ 45644 w 912620"/>
              <a:gd name="connsiteY0" fmla="*/ 0 h 11295955"/>
              <a:gd name="connsiteX1" fmla="*/ 665468 w 912620"/>
              <a:gd name="connsiteY1" fmla="*/ 5514892 h 11295955"/>
              <a:gd name="connsiteX2" fmla="*/ 665468 w 912620"/>
              <a:gd name="connsiteY2" fmla="*/ 5374277 h 11295955"/>
              <a:gd name="connsiteX3" fmla="*/ 912620 w 912620"/>
              <a:gd name="connsiteY3" fmla="*/ 5621430 h 11295955"/>
              <a:gd name="connsiteX4" fmla="*/ 665468 w 912620"/>
              <a:gd name="connsiteY4" fmla="*/ 5868582 h 11295955"/>
              <a:gd name="connsiteX5" fmla="*/ 665468 w 912620"/>
              <a:gd name="connsiteY5" fmla="*/ 5727967 h 11295955"/>
              <a:gd name="connsiteX6" fmla="*/ -1 w 912620"/>
              <a:gd name="connsiteY6" fmla="*/ 11295956 h 11295955"/>
              <a:gd name="connsiteX7" fmla="*/ 45644 w 912620"/>
              <a:gd name="connsiteY7" fmla="*/ 0 h 11295955"/>
              <a:gd name="connsiteX0" fmla="*/ 45646 w 912622"/>
              <a:gd name="connsiteY0" fmla="*/ 0 h 11295957"/>
              <a:gd name="connsiteX1" fmla="*/ 665470 w 912622"/>
              <a:gd name="connsiteY1" fmla="*/ 5514892 h 11295957"/>
              <a:gd name="connsiteX2" fmla="*/ 665470 w 912622"/>
              <a:gd name="connsiteY2" fmla="*/ 5374277 h 11295957"/>
              <a:gd name="connsiteX3" fmla="*/ 912622 w 912622"/>
              <a:gd name="connsiteY3" fmla="*/ 5621430 h 11295957"/>
              <a:gd name="connsiteX4" fmla="*/ 665470 w 912622"/>
              <a:gd name="connsiteY4" fmla="*/ 5868582 h 11295957"/>
              <a:gd name="connsiteX5" fmla="*/ 665470 w 912622"/>
              <a:gd name="connsiteY5" fmla="*/ 5727967 h 11295957"/>
              <a:gd name="connsiteX6" fmla="*/ 1 w 912622"/>
              <a:gd name="connsiteY6" fmla="*/ 11295956 h 11295957"/>
              <a:gd name="connsiteX7" fmla="*/ 45646 w 912622"/>
              <a:gd name="connsiteY7" fmla="*/ 0 h 11295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622" h="11295957">
                <a:moveTo>
                  <a:pt x="45646" y="0"/>
                </a:moveTo>
                <a:cubicBezTo>
                  <a:pt x="122326" y="461013"/>
                  <a:pt x="33260" y="5168210"/>
                  <a:pt x="665470" y="5514892"/>
                </a:cubicBezTo>
                <a:lnTo>
                  <a:pt x="665470" y="5374277"/>
                </a:lnTo>
                <a:lnTo>
                  <a:pt x="912622" y="5621430"/>
                </a:lnTo>
                <a:lnTo>
                  <a:pt x="665470" y="5868582"/>
                </a:lnTo>
                <a:lnTo>
                  <a:pt x="665470" y="5727967"/>
                </a:lnTo>
                <a:cubicBezTo>
                  <a:pt x="-48431" y="5855980"/>
                  <a:pt x="97507" y="10801356"/>
                  <a:pt x="1" y="11295956"/>
                </a:cubicBezTo>
                <a:lnTo>
                  <a:pt x="45646" y="0"/>
                </a:lnTo>
                <a:close/>
              </a:path>
            </a:pathLst>
          </a:cu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121"/>
          <p:cNvSpPr txBox="1"/>
          <p:nvPr/>
        </p:nvSpPr>
        <p:spPr bwMode="gray">
          <a:xfrm>
            <a:off x="3208984" y="3378792"/>
            <a:ext cx="1826141" cy="338554"/>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600"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安全组及策略下发</a:t>
            </a:r>
            <a:endParaRPr lang="en-US" altLang="zh-CN" sz="1600"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Oval 4"/>
          <p:cNvSpPr>
            <a:spLocks noChangeAspect="1"/>
          </p:cNvSpPr>
          <p:nvPr/>
        </p:nvSpPr>
        <p:spPr bwMode="gray">
          <a:xfrm>
            <a:off x="1729371" y="5239563"/>
            <a:ext cx="256186" cy="25618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Oval 4"/>
          <p:cNvSpPr>
            <a:spLocks noChangeAspect="1"/>
          </p:cNvSpPr>
          <p:nvPr/>
        </p:nvSpPr>
        <p:spPr bwMode="gray">
          <a:xfrm>
            <a:off x="3165917" y="4298561"/>
            <a:ext cx="256186" cy="25618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Oval 4"/>
          <p:cNvSpPr>
            <a:spLocks noChangeAspect="1"/>
          </p:cNvSpPr>
          <p:nvPr/>
        </p:nvSpPr>
        <p:spPr bwMode="gray">
          <a:xfrm>
            <a:off x="2997105" y="3403525"/>
            <a:ext cx="256186" cy="25618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圆角矩形 91"/>
          <p:cNvSpPr/>
          <p:nvPr/>
        </p:nvSpPr>
        <p:spPr bwMode="gray">
          <a:xfrm>
            <a:off x="1096534" y="1957581"/>
            <a:ext cx="5892800" cy="1356339"/>
          </a:xfrm>
          <a:prstGeom prst="roundRect">
            <a:avLst>
              <a:gd name="adj" fmla="val 7334"/>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endParaRPr lang="zh-CN" altLang="en-US" sz="1400" b="1">
              <a:solidFill>
                <a:schemeClr val="tx1"/>
              </a:solidFill>
              <a:latin typeface="Huawei Sans" panose="020C0503030203020204" pitchFamily="34" charset="0"/>
              <a:ea typeface="方正兰亭黑简体" panose="02000000000000000000" pitchFamily="2" charset="-122"/>
            </a:endParaRPr>
          </a:p>
        </p:txBody>
      </p:sp>
      <p:grpSp>
        <p:nvGrpSpPr>
          <p:cNvPr id="93" name="组合 362"/>
          <p:cNvGrpSpPr>
            <a:grpSpLocks noChangeAspect="1"/>
          </p:cNvGrpSpPr>
          <p:nvPr/>
        </p:nvGrpSpPr>
        <p:grpSpPr bwMode="gray">
          <a:xfrm>
            <a:off x="1297931" y="2134765"/>
            <a:ext cx="416479" cy="416479"/>
            <a:chOff x="373063" y="2114551"/>
            <a:chExt cx="1114425" cy="1116013"/>
          </a:xfrm>
        </p:grpSpPr>
        <p:sp>
          <p:nvSpPr>
            <p:cNvPr id="94"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nvGrpSpPr>
            <p:cNvPr id="95" name="组合 341"/>
            <p:cNvGrpSpPr>
              <a:grpSpLocks/>
            </p:cNvGrpSpPr>
            <p:nvPr/>
          </p:nvGrpSpPr>
          <p:grpSpPr bwMode="gray">
            <a:xfrm>
              <a:off x="649288" y="2289176"/>
              <a:ext cx="561975" cy="769938"/>
              <a:chOff x="649288" y="2289176"/>
              <a:chExt cx="561975" cy="769938"/>
            </a:xfrm>
          </p:grpSpPr>
          <p:sp>
            <p:nvSpPr>
              <p:cNvPr id="96"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97"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98"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99"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0"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1"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grpSp>
      <p:grpSp>
        <p:nvGrpSpPr>
          <p:cNvPr id="102" name="组合 362"/>
          <p:cNvGrpSpPr>
            <a:grpSpLocks noChangeAspect="1"/>
          </p:cNvGrpSpPr>
          <p:nvPr/>
        </p:nvGrpSpPr>
        <p:grpSpPr bwMode="gray">
          <a:xfrm>
            <a:off x="3378897" y="2134765"/>
            <a:ext cx="416479" cy="416479"/>
            <a:chOff x="373063" y="2114551"/>
            <a:chExt cx="1114425" cy="1116013"/>
          </a:xfrm>
        </p:grpSpPr>
        <p:sp>
          <p:nvSpPr>
            <p:cNvPr id="103"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nvGrpSpPr>
            <p:cNvPr id="104" name="组合 341"/>
            <p:cNvGrpSpPr>
              <a:grpSpLocks/>
            </p:cNvGrpSpPr>
            <p:nvPr/>
          </p:nvGrpSpPr>
          <p:grpSpPr bwMode="gray">
            <a:xfrm>
              <a:off x="649288" y="2289176"/>
              <a:ext cx="561975" cy="769938"/>
              <a:chOff x="649288" y="2289176"/>
              <a:chExt cx="561975" cy="769938"/>
            </a:xfrm>
          </p:grpSpPr>
          <p:sp>
            <p:nvSpPr>
              <p:cNvPr id="105"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6"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7"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8"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9"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0"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grpSp>
      <p:grpSp>
        <p:nvGrpSpPr>
          <p:cNvPr id="111" name="组合 362"/>
          <p:cNvGrpSpPr>
            <a:grpSpLocks noChangeAspect="1"/>
          </p:cNvGrpSpPr>
          <p:nvPr/>
        </p:nvGrpSpPr>
        <p:grpSpPr bwMode="gray">
          <a:xfrm>
            <a:off x="5466958" y="2134765"/>
            <a:ext cx="416479" cy="416479"/>
            <a:chOff x="373063" y="2114551"/>
            <a:chExt cx="1114425" cy="1116013"/>
          </a:xfrm>
        </p:grpSpPr>
        <p:sp>
          <p:nvSpPr>
            <p:cNvPr id="112"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nvGrpSpPr>
            <p:cNvPr id="113" name="组合 341"/>
            <p:cNvGrpSpPr>
              <a:grpSpLocks/>
            </p:cNvGrpSpPr>
            <p:nvPr/>
          </p:nvGrpSpPr>
          <p:grpSpPr bwMode="gray">
            <a:xfrm>
              <a:off x="649288" y="2289176"/>
              <a:ext cx="561975" cy="769938"/>
              <a:chOff x="649288" y="2289176"/>
              <a:chExt cx="561975" cy="769938"/>
            </a:xfrm>
          </p:grpSpPr>
          <p:sp>
            <p:nvSpPr>
              <p:cNvPr id="114"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5"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6"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7"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8"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9"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grpSp>
      <p:sp>
        <p:nvSpPr>
          <p:cNvPr id="120" name="文本框 119"/>
          <p:cNvSpPr txBox="1"/>
          <p:nvPr/>
        </p:nvSpPr>
        <p:spPr bwMode="gray">
          <a:xfrm>
            <a:off x="1671053" y="2099249"/>
            <a:ext cx="902811" cy="523220"/>
          </a:xfrm>
          <a:prstGeom prst="rect">
            <a:avLst/>
          </a:prstGeom>
          <a:noFill/>
        </p:spPr>
        <p:txBody>
          <a:bodyPr wrap="none" rtlCol="0">
            <a:spAutoFit/>
          </a:bodyPr>
          <a:lstStyle/>
          <a:p>
            <a:r>
              <a:rPr lang="zh-CN" altLang="en-US" sz="1400" dirty="0">
                <a:solidFill>
                  <a:srgbClr val="30B5C5"/>
                </a:solidFill>
              </a:rPr>
              <a:t>销售用户</a:t>
            </a:r>
            <a:endParaRPr lang="en-US" altLang="zh-CN" sz="1400" dirty="0">
              <a:solidFill>
                <a:srgbClr val="30B5C5"/>
              </a:solidFill>
            </a:endParaRPr>
          </a:p>
          <a:p>
            <a:r>
              <a:rPr lang="zh-CN" altLang="en-US" sz="1400" dirty="0">
                <a:solidFill>
                  <a:srgbClr val="30B5C5"/>
                </a:solidFill>
              </a:rPr>
              <a:t>安全组</a:t>
            </a:r>
          </a:p>
        </p:txBody>
      </p:sp>
      <p:sp>
        <p:nvSpPr>
          <p:cNvPr id="121" name="文本框 120"/>
          <p:cNvSpPr txBox="1"/>
          <p:nvPr/>
        </p:nvSpPr>
        <p:spPr bwMode="gray">
          <a:xfrm>
            <a:off x="3756109" y="2099249"/>
            <a:ext cx="902811" cy="523220"/>
          </a:xfrm>
          <a:prstGeom prst="rect">
            <a:avLst/>
          </a:prstGeom>
          <a:noFill/>
        </p:spPr>
        <p:txBody>
          <a:bodyPr wrap="none" rtlCol="0">
            <a:spAutoFit/>
          </a:bodyPr>
          <a:lstStyle/>
          <a:p>
            <a:r>
              <a:rPr lang="zh-CN" altLang="en-US" sz="1400">
                <a:solidFill>
                  <a:srgbClr val="30B5C5"/>
                </a:solidFill>
              </a:rPr>
              <a:t>研发用户</a:t>
            </a:r>
            <a:endParaRPr lang="en-US" altLang="zh-CN" sz="1400">
              <a:solidFill>
                <a:srgbClr val="30B5C5"/>
              </a:solidFill>
            </a:endParaRPr>
          </a:p>
          <a:p>
            <a:r>
              <a:rPr lang="zh-CN" altLang="en-US" sz="1400">
                <a:solidFill>
                  <a:srgbClr val="30B5C5"/>
                </a:solidFill>
              </a:rPr>
              <a:t>安全组</a:t>
            </a:r>
          </a:p>
        </p:txBody>
      </p:sp>
      <p:sp>
        <p:nvSpPr>
          <p:cNvPr id="122" name="文本框 121"/>
          <p:cNvSpPr txBox="1"/>
          <p:nvPr/>
        </p:nvSpPr>
        <p:spPr bwMode="gray">
          <a:xfrm>
            <a:off x="5871057" y="2099249"/>
            <a:ext cx="723275" cy="523220"/>
          </a:xfrm>
          <a:prstGeom prst="rect">
            <a:avLst/>
          </a:prstGeom>
          <a:noFill/>
        </p:spPr>
        <p:txBody>
          <a:bodyPr wrap="none" rtlCol="0">
            <a:spAutoFit/>
          </a:bodyPr>
          <a:lstStyle/>
          <a:p>
            <a:r>
              <a:rPr lang="zh-CN" altLang="en-US" sz="1400" dirty="0">
                <a:solidFill>
                  <a:srgbClr val="30B5C5"/>
                </a:solidFill>
              </a:rPr>
              <a:t>服务器</a:t>
            </a:r>
            <a:endParaRPr lang="en-US" altLang="zh-CN" sz="1400" dirty="0">
              <a:solidFill>
                <a:srgbClr val="30B5C5"/>
              </a:solidFill>
            </a:endParaRPr>
          </a:p>
          <a:p>
            <a:r>
              <a:rPr lang="zh-CN" altLang="en-US" sz="1400" dirty="0">
                <a:solidFill>
                  <a:srgbClr val="30B5C5"/>
                </a:solidFill>
              </a:rPr>
              <a:t>资源组</a:t>
            </a:r>
          </a:p>
        </p:txBody>
      </p:sp>
      <p:cxnSp>
        <p:nvCxnSpPr>
          <p:cNvPr id="123" name="直接连接符 122"/>
          <p:cNvCxnSpPr/>
          <p:nvPr/>
        </p:nvCxnSpPr>
        <p:spPr bwMode="gray">
          <a:xfrm>
            <a:off x="1096534" y="2767727"/>
            <a:ext cx="58928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文本框 123"/>
          <p:cNvSpPr txBox="1"/>
          <p:nvPr/>
        </p:nvSpPr>
        <p:spPr bwMode="gray">
          <a:xfrm>
            <a:off x="3454330" y="2919735"/>
            <a:ext cx="1005403" cy="338554"/>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6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权限策略</a:t>
            </a:r>
          </a:p>
        </p:txBody>
      </p:sp>
      <p:sp>
        <p:nvSpPr>
          <p:cNvPr id="90" name="Oval 4"/>
          <p:cNvSpPr>
            <a:spLocks noChangeAspect="1"/>
          </p:cNvSpPr>
          <p:nvPr/>
        </p:nvSpPr>
        <p:spPr bwMode="gray">
          <a:xfrm>
            <a:off x="907750" y="2608929"/>
            <a:ext cx="256186" cy="25618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圆角矩形 75"/>
          <p:cNvSpPr/>
          <p:nvPr/>
        </p:nvSpPr>
        <p:spPr bwMode="gray">
          <a:xfrm>
            <a:off x="7268776" y="2365904"/>
            <a:ext cx="4191387" cy="2873659"/>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342900" indent="-342900">
              <a:lnSpc>
                <a:spcPct val="1500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划分安全组，安全组即拥有相同网络访问策略的一组用户或网络资源。</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42900" indent="-342900">
              <a:lnSpc>
                <a:spcPct val="1500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定义基于安全组的权限控制策略，将策略下发到网络设备。</a:t>
            </a:r>
          </a:p>
          <a:p>
            <a:pPr marL="342900" indent="-342900">
              <a:lnSpc>
                <a:spcPct val="1500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用户执行准入认证后，获得授权的安全组。</a:t>
            </a:r>
          </a:p>
          <a:p>
            <a:pPr marL="342900" indent="-342900">
              <a:lnSpc>
                <a:spcPct val="1500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用户的流量进入网络后，网络设备根据流量对应的源、目的安全组执行策略。</a:t>
            </a:r>
          </a:p>
        </p:txBody>
      </p:sp>
    </p:spTree>
    <p:extLst>
      <p:ext uri="{BB962C8B-B14F-4D97-AF65-F5344CB8AC3E}">
        <p14:creationId xmlns:p14="http://schemas.microsoft.com/office/powerpoint/2010/main" val="2764118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t>CloudCampus</a:t>
            </a:r>
            <a:r>
              <a:rPr lang="zh-CN" altLang="en-US" dirty="0"/>
              <a:t>关键技术：终端识别</a:t>
            </a:r>
          </a:p>
        </p:txBody>
      </p:sp>
      <p:grpSp>
        <p:nvGrpSpPr>
          <p:cNvPr id="66" name="组合 65"/>
          <p:cNvGrpSpPr/>
          <p:nvPr/>
        </p:nvGrpSpPr>
        <p:grpSpPr bwMode="gray">
          <a:xfrm>
            <a:off x="4760383" y="2030716"/>
            <a:ext cx="5350772" cy="1568665"/>
            <a:chOff x="3097660" y="5314165"/>
            <a:chExt cx="715186" cy="824125"/>
          </a:xfrm>
        </p:grpSpPr>
        <p:grpSp>
          <p:nvGrpSpPr>
            <p:cNvPr id="67" name="Group 165"/>
            <p:cNvGrpSpPr/>
            <p:nvPr/>
          </p:nvGrpSpPr>
          <p:grpSpPr bwMode="gray">
            <a:xfrm rot="10800000">
              <a:off x="3097660" y="5698357"/>
              <a:ext cx="715186" cy="439933"/>
              <a:chOff x="-1233037" y="914446"/>
              <a:chExt cx="1573823" cy="778776"/>
            </a:xfrm>
          </p:grpSpPr>
          <p:cxnSp>
            <p:nvCxnSpPr>
              <p:cNvPr id="69" name="Straight Connector 166"/>
              <p:cNvCxnSpPr/>
              <p:nvPr/>
            </p:nvCxnSpPr>
            <p:spPr bwMode="gray">
              <a:xfrm flipH="1" flipV="1">
                <a:off x="-1233037" y="914446"/>
                <a:ext cx="786912" cy="7787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167"/>
              <p:cNvCxnSpPr/>
              <p:nvPr/>
            </p:nvCxnSpPr>
            <p:spPr bwMode="gray">
              <a:xfrm flipV="1">
                <a:off x="-446125" y="914446"/>
                <a:ext cx="786911" cy="778776"/>
              </a:xfrm>
              <a:prstGeom prst="line">
                <a:avLst/>
              </a:prstGeom>
              <a:ln w="190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grpSp>
        <p:cxnSp>
          <p:nvCxnSpPr>
            <p:cNvPr id="68" name="Straight Connector 166"/>
            <p:cNvCxnSpPr/>
            <p:nvPr/>
          </p:nvCxnSpPr>
          <p:spPr bwMode="gray">
            <a:xfrm>
              <a:off x="3455253" y="5314165"/>
              <a:ext cx="0" cy="824125"/>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71" name="组合 70"/>
          <p:cNvGrpSpPr/>
          <p:nvPr/>
        </p:nvGrpSpPr>
        <p:grpSpPr bwMode="gray">
          <a:xfrm>
            <a:off x="5556952" y="1600424"/>
            <a:ext cx="808050" cy="808050"/>
            <a:chOff x="1123093" y="2579479"/>
            <a:chExt cx="808050" cy="808050"/>
          </a:xfrm>
        </p:grpSpPr>
        <p:pic>
          <p:nvPicPr>
            <p:cNvPr id="76" name="图片 75"/>
            <p:cNvPicPr>
              <a:picLocks noChangeAspect="1"/>
            </p:cNvPicPr>
            <p:nvPr/>
          </p:nvPicPr>
          <p:blipFill>
            <a:blip r:embed="rId3"/>
            <a:stretch>
              <a:fillRect/>
            </a:stretch>
          </p:blipFill>
          <p:spPr bwMode="gray">
            <a:xfrm>
              <a:off x="1223395" y="2673871"/>
              <a:ext cx="608040" cy="615221"/>
            </a:xfrm>
            <a:prstGeom prst="rect">
              <a:avLst/>
            </a:prstGeom>
          </p:spPr>
        </p:pic>
        <p:sp>
          <p:nvSpPr>
            <p:cNvPr id="78" name="Oval Callout 23"/>
            <p:cNvSpPr>
              <a:spLocks noChangeAspect="1"/>
            </p:cNvSpPr>
            <p:nvPr/>
          </p:nvSpPr>
          <p:spPr bwMode="gray">
            <a:xfrm>
              <a:off x="1123093" y="2579479"/>
              <a:ext cx="808050" cy="808050"/>
            </a:xfrm>
            <a:prstGeom prst="wedgeEllipseCallout">
              <a:avLst>
                <a:gd name="adj1" fmla="val 87539"/>
                <a:gd name="adj2" fmla="val -12068"/>
              </a:avLst>
            </a:prstGeom>
            <a:solidFill>
              <a:schemeClr val="bg1">
                <a:lumMod val="85000"/>
                <a:alpha val="50000"/>
              </a:schemeClr>
            </a:solidFill>
            <a:ln w="25400" cap="flat" cmpd="sng" algn="ctr">
              <a:solidFill>
                <a:sysClr val="window" lastClr="FFFFFF"/>
              </a:solidFill>
              <a:prstDash val="solid"/>
            </a:ln>
            <a:effectLst/>
          </p:spPr>
          <p:txBody>
            <a:bodyPr wrap="none" rtlCol="0" anchor="ctr"/>
            <a:lstStyle/>
            <a:p>
              <a:pPr algn="ctr" defTabSz="1219444">
                <a:defRPr/>
              </a:pPr>
              <a:endParaRPr lang="en-US" sz="1200" b="1" kern="0" baseline="30000" dirty="0">
                <a:solidFill>
                  <a:prstClr val="white"/>
                </a:solidFill>
                <a:effectLst>
                  <a:glow rad="101600">
                    <a:prstClr val="black">
                      <a:alpha val="40000"/>
                    </a:prstClr>
                  </a:glow>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79" name="矩形 78"/>
          <p:cNvSpPr/>
          <p:nvPr/>
        </p:nvSpPr>
        <p:spPr bwMode="gray">
          <a:xfrm>
            <a:off x="1277616" y="5175069"/>
            <a:ext cx="1107996" cy="276999"/>
          </a:xfrm>
          <a:prstGeom prst="rect">
            <a:avLst/>
          </a:prstGeom>
        </p:spPr>
        <p:txBody>
          <a:bodyPr wrap="square" anchor="t" anchorCtr="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仿冒很难定位</a:t>
            </a:r>
          </a:p>
        </p:txBody>
      </p:sp>
      <p:sp>
        <p:nvSpPr>
          <p:cNvPr id="80" name="矩形 79"/>
          <p:cNvSpPr/>
          <p:nvPr/>
        </p:nvSpPr>
        <p:spPr bwMode="gray">
          <a:xfrm>
            <a:off x="460711" y="4350528"/>
            <a:ext cx="2741806" cy="338554"/>
          </a:xfrm>
          <a:prstGeom prst="rect">
            <a:avLst/>
          </a:prstGeom>
          <a:solidFill>
            <a:schemeClr val="bg1">
              <a:lumMod val="85000"/>
            </a:schemeClr>
          </a:solidFill>
        </p:spPr>
        <p:txBody>
          <a:bodyPr wrap="square" anchor="t" anchorCtr="0">
            <a:spAutoFit/>
          </a:bodyPr>
          <a:lstStyle/>
          <a:p>
            <a:pPr algn="ctr"/>
            <a:r>
              <a:rPr lang="zh-CN" altLang="en-US" sz="1600">
                <a:latin typeface="Huawei Sans" panose="020C0503030203020204" pitchFamily="34" charset="0"/>
                <a:ea typeface="方正兰亭黑简体" panose="02000000000000000000" pitchFamily="2" charset="-122"/>
                <a:cs typeface="+mn-ea"/>
                <a:sym typeface="Huawei Sans" panose="020C0503030203020204" pitchFamily="34" charset="0"/>
              </a:rPr>
              <a:t>某企业</a:t>
            </a: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 name="矩形 80"/>
          <p:cNvSpPr/>
          <p:nvPr/>
        </p:nvSpPr>
        <p:spPr bwMode="gray">
          <a:xfrm>
            <a:off x="1027979" y="4786393"/>
            <a:ext cx="1607272" cy="307777"/>
          </a:xfrm>
          <a:prstGeom prst="rect">
            <a:avLst/>
          </a:prstGeom>
        </p:spPr>
        <p:txBody>
          <a:bodyPr wrap="square" anchor="t" anchorCtr="0">
            <a:spAutoFit/>
          </a:bodyPr>
          <a:lstStyle/>
          <a:p>
            <a:pPr algn="ct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10</a:t>
            </a:r>
            <a:r>
              <a:rPr lang="en-US" altLang="zh-CN" sz="1400" b="1">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b="1">
                <a:latin typeface="Huawei Sans" panose="020C0503030203020204" pitchFamily="34" charset="0"/>
                <a:ea typeface="方正兰亭黑简体" panose="02000000000000000000" pitchFamily="2" charset="-122"/>
                <a:cs typeface="+mn-ea"/>
                <a:sym typeface="Huawei Sans" panose="020C0503030203020204" pitchFamily="34" charset="0"/>
              </a:rPr>
              <a:t>天认证</a:t>
            </a:r>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报障</a:t>
            </a:r>
          </a:p>
        </p:txBody>
      </p:sp>
      <p:sp>
        <p:nvSpPr>
          <p:cNvPr id="82" name="椭圆 81"/>
          <p:cNvSpPr/>
          <p:nvPr/>
        </p:nvSpPr>
        <p:spPr bwMode="gray">
          <a:xfrm>
            <a:off x="1701731" y="2263761"/>
            <a:ext cx="259766" cy="519351"/>
          </a:xfrm>
          <a:prstGeom prst="ellipse">
            <a:avLst/>
          </a:prstGeom>
          <a:noFill/>
          <a:ln>
            <a:solidFill>
              <a:schemeClr val="bg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endPar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 name="矩形 82"/>
          <p:cNvSpPr/>
          <p:nvPr/>
        </p:nvSpPr>
        <p:spPr bwMode="gray">
          <a:xfrm>
            <a:off x="1027979" y="2450620"/>
            <a:ext cx="1607272" cy="307777"/>
          </a:xfrm>
          <a:prstGeom prst="rect">
            <a:avLst/>
          </a:prstGeom>
        </p:spPr>
        <p:txBody>
          <a:bodyPr wrap="square" anchor="t" anchorCtr="0">
            <a:spAutoFit/>
          </a:bodyPr>
          <a:lstStyle/>
          <a:p>
            <a:pPr algn="ct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50</a:t>
            </a:r>
            <a:r>
              <a:rPr lang="en-US" altLang="zh-CN" sz="1400" b="1">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b="1">
                <a:latin typeface="Huawei Sans" panose="020C0503030203020204" pitchFamily="34" charset="0"/>
                <a:ea typeface="方正兰亭黑简体" panose="02000000000000000000" pitchFamily="2" charset="-122"/>
                <a:cs typeface="+mn-ea"/>
                <a:sym typeface="Huawei Sans" panose="020C0503030203020204" pitchFamily="34" charset="0"/>
              </a:rPr>
              <a:t>类智能终端</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 name="矩形 83"/>
          <p:cNvSpPr/>
          <p:nvPr/>
        </p:nvSpPr>
        <p:spPr bwMode="gray">
          <a:xfrm>
            <a:off x="460711" y="2049757"/>
            <a:ext cx="2741806" cy="338554"/>
          </a:xfrm>
          <a:prstGeom prst="rect">
            <a:avLst/>
          </a:prstGeom>
          <a:solidFill>
            <a:schemeClr val="bg1">
              <a:lumMod val="85000"/>
            </a:schemeClr>
          </a:solidFill>
        </p:spPr>
        <p:txBody>
          <a:bodyPr wrap="square" anchor="t" anchorCtr="0">
            <a:spAutoFit/>
          </a:bodyPr>
          <a:lstStyle/>
          <a:p>
            <a:pPr algn="ct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某高校</a:t>
            </a:r>
          </a:p>
        </p:txBody>
      </p:sp>
      <p:sp>
        <p:nvSpPr>
          <p:cNvPr id="86" name="矩形 85"/>
          <p:cNvSpPr/>
          <p:nvPr/>
        </p:nvSpPr>
        <p:spPr bwMode="gray">
          <a:xfrm>
            <a:off x="891737" y="2845758"/>
            <a:ext cx="1879753" cy="461665"/>
          </a:xfrm>
          <a:prstGeom prst="rect">
            <a:avLst/>
          </a:prstGeom>
        </p:spPr>
        <p:txBody>
          <a:bodyPr wrap="square" anchor="t" anchorCtr="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终端信息由二级学院采集</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采集难、易错</a:t>
            </a:r>
          </a:p>
        </p:txBody>
      </p:sp>
      <p:sp>
        <p:nvSpPr>
          <p:cNvPr id="87" name="圆角矩形 86"/>
          <p:cNvSpPr/>
          <p:nvPr/>
        </p:nvSpPr>
        <p:spPr bwMode="gray">
          <a:xfrm>
            <a:off x="6223005" y="4705541"/>
            <a:ext cx="2517775" cy="1239245"/>
          </a:xfrm>
          <a:prstGeom prst="roundRect">
            <a:avLst>
              <a:gd name="adj" fmla="val 3956"/>
            </a:avLst>
          </a:prstGeom>
          <a:solidFill>
            <a:sysClr val="window" lastClr="FFFFFF">
              <a:lumMod val="95000"/>
            </a:sysClr>
          </a:solidFill>
          <a:ln w="12700" cap="flat" cmpd="sng" algn="ctr">
            <a:solidFill>
              <a:sysClr val="window" lastClr="FFFFFF">
                <a:lumMod val="85000"/>
              </a:sysClr>
            </a:solid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1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 name="圆角矩形 87"/>
          <p:cNvSpPr/>
          <p:nvPr/>
        </p:nvSpPr>
        <p:spPr bwMode="gray">
          <a:xfrm>
            <a:off x="6346834" y="4542419"/>
            <a:ext cx="2270117" cy="340302"/>
          </a:xfrm>
          <a:prstGeom prst="roundRect">
            <a:avLst>
              <a:gd name="adj" fmla="val 50000"/>
            </a:avLst>
          </a:prstGeom>
          <a:solidFill>
            <a:schemeClr val="bg1">
              <a:lumMod val="85000"/>
            </a:schemeClr>
          </a:solidFill>
          <a:ln w="28575" cap="flat" cmpd="sng" algn="ctr">
            <a:solidFill>
              <a:sysClr val="window" lastClr="FFFFFF"/>
            </a:solidFill>
            <a:prstDash val="solid"/>
            <a:miter lim="800000"/>
          </a:ln>
          <a:effectLst/>
        </p:spPr>
        <p:txBody>
          <a:bodyPr lIns="36000" tIns="36000" rIns="36000" bIns="36000" rtlCol="0" anchor="ctr"/>
          <a:lstStyle/>
          <a:p>
            <a:pPr lvl="0" algn="ctr" defTabSz="914400"/>
            <a:r>
              <a:rPr lang="zh-CN" altLang="en-US" sz="1400" kern="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基于终端类型的</a:t>
            </a:r>
          </a:p>
        </p:txBody>
      </p:sp>
      <p:sp>
        <p:nvSpPr>
          <p:cNvPr id="89" name="Rectangle 16"/>
          <p:cNvSpPr/>
          <p:nvPr/>
        </p:nvSpPr>
        <p:spPr bwMode="gray">
          <a:xfrm>
            <a:off x="6223005" y="4882565"/>
            <a:ext cx="2517775" cy="930383"/>
          </a:xfrm>
          <a:prstGeom prst="rect">
            <a:avLst/>
          </a:prstGeom>
        </p:spPr>
        <p:txBody>
          <a:bodyPr wrap="square">
            <a:spAutoFit/>
          </a:bodyPr>
          <a:lstStyle/>
          <a:p>
            <a:pPr algn="ctr" defTabSz="1219028">
              <a:lnSpc>
                <a:spcPct val="140000"/>
              </a:lnSpc>
              <a:buClr>
                <a:srgbClr val="CC9900"/>
              </a:buClr>
            </a:pPr>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自动授权</a:t>
            </a:r>
          </a:p>
          <a:p>
            <a:pPr algn="ctr" defTabSz="1219028">
              <a:lnSpc>
                <a:spcPct val="140000"/>
              </a:lnSpc>
              <a:buClr>
                <a:prstClr val="white">
                  <a:lumMod val="75000"/>
                </a:prstClr>
              </a:buClr>
            </a:pPr>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识别为摄像头</a:t>
            </a:r>
          </a:p>
          <a:p>
            <a:pPr algn="ctr" defTabSz="1219028">
              <a:lnSpc>
                <a:spcPct val="140000"/>
              </a:lnSpc>
              <a:buClr>
                <a:prstClr val="white">
                  <a:lumMod val="75000"/>
                </a:prstClr>
              </a:buClr>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自动加入“视频监控”组</a:t>
            </a:r>
          </a:p>
        </p:txBody>
      </p:sp>
      <p:sp>
        <p:nvSpPr>
          <p:cNvPr id="90" name="圆角矩形 89"/>
          <p:cNvSpPr/>
          <p:nvPr/>
        </p:nvSpPr>
        <p:spPr bwMode="gray">
          <a:xfrm>
            <a:off x="3443202" y="4715166"/>
            <a:ext cx="2517775" cy="1239245"/>
          </a:xfrm>
          <a:prstGeom prst="roundRect">
            <a:avLst>
              <a:gd name="adj" fmla="val 3956"/>
            </a:avLst>
          </a:prstGeom>
          <a:solidFill>
            <a:sysClr val="window" lastClr="FFFFFF">
              <a:lumMod val="95000"/>
            </a:sysClr>
          </a:solidFill>
          <a:ln w="12700" cap="flat" cmpd="sng" algn="ctr">
            <a:solidFill>
              <a:sysClr val="window" lastClr="FFFFFF">
                <a:lumMod val="85000"/>
              </a:sysClr>
            </a:solid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1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 name="圆角矩形 90"/>
          <p:cNvSpPr/>
          <p:nvPr/>
        </p:nvSpPr>
        <p:spPr bwMode="gray">
          <a:xfrm>
            <a:off x="3567031" y="4552044"/>
            <a:ext cx="2270117" cy="340302"/>
          </a:xfrm>
          <a:prstGeom prst="roundRect">
            <a:avLst>
              <a:gd name="adj" fmla="val 50000"/>
            </a:avLst>
          </a:prstGeom>
          <a:solidFill>
            <a:schemeClr val="bg1">
              <a:lumMod val="85000"/>
            </a:schemeClr>
          </a:solidFill>
          <a:ln w="28575" cap="flat" cmpd="sng" algn="ctr">
            <a:solidFill>
              <a:sysClr val="window" lastClr="FFFFFF"/>
            </a:solidFill>
            <a:prstDash val="solid"/>
            <a:miter lim="800000"/>
          </a:ln>
          <a:effectLst/>
        </p:spPr>
        <p:txBody>
          <a:bodyPr lIns="36000" tIns="36000" rIns="36000" bIns="36000" rtlCol="0" anchor="ctr"/>
          <a:lstStyle/>
          <a:p>
            <a:pPr lvl="0" algn="ctr" defTabSz="914400"/>
            <a:r>
              <a:rPr lang="zh-CN" altLang="en-US" sz="1400" kern="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基于终端类型的</a:t>
            </a:r>
          </a:p>
        </p:txBody>
      </p:sp>
      <p:sp>
        <p:nvSpPr>
          <p:cNvPr id="94" name="Rectangle 16"/>
          <p:cNvSpPr/>
          <p:nvPr/>
        </p:nvSpPr>
        <p:spPr bwMode="gray">
          <a:xfrm>
            <a:off x="3443202" y="4892190"/>
            <a:ext cx="2517775" cy="954107"/>
          </a:xfrm>
          <a:prstGeom prst="rect">
            <a:avLst/>
          </a:prstGeom>
        </p:spPr>
        <p:txBody>
          <a:bodyPr wrap="square">
            <a:spAutoFit/>
          </a:bodyPr>
          <a:lstStyle/>
          <a:p>
            <a:pPr algn="ctr" defTabSz="1219028">
              <a:lnSpc>
                <a:spcPct val="140000"/>
              </a:lnSpc>
              <a:buClr>
                <a:srgbClr val="CC9900"/>
              </a:buClr>
            </a:pPr>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自动认证</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219028">
              <a:lnSpc>
                <a:spcPct val="140000"/>
              </a:lnSpc>
              <a:buClr>
                <a:prstClr val="white">
                  <a:lumMod val="75000"/>
                </a:prstClr>
              </a:buClr>
            </a:pPr>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识别为打印机</a:t>
            </a:r>
          </a:p>
          <a:p>
            <a:pPr algn="ctr" defTabSz="1219028">
              <a:lnSpc>
                <a:spcPct val="140000"/>
              </a:lnSpc>
              <a:buClr>
                <a:prstClr val="white">
                  <a:lumMod val="75000"/>
                </a:prstClr>
              </a:buClr>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自动（</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）认证，免</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录入</a:t>
            </a:r>
          </a:p>
        </p:txBody>
      </p:sp>
      <p:sp>
        <p:nvSpPr>
          <p:cNvPr id="95" name="圆角矩形 94"/>
          <p:cNvSpPr/>
          <p:nvPr/>
        </p:nvSpPr>
        <p:spPr bwMode="gray">
          <a:xfrm>
            <a:off x="9071701" y="4712978"/>
            <a:ext cx="2517775" cy="1231360"/>
          </a:xfrm>
          <a:prstGeom prst="roundRect">
            <a:avLst>
              <a:gd name="adj" fmla="val 3956"/>
            </a:avLst>
          </a:prstGeom>
          <a:solidFill>
            <a:sysClr val="window" lastClr="FFFFFF">
              <a:lumMod val="95000"/>
            </a:sysClr>
          </a:solidFill>
          <a:ln w="12700" cap="flat" cmpd="sng" algn="ctr">
            <a:solidFill>
              <a:sysClr val="window" lastClr="FFFFFF">
                <a:lumMod val="85000"/>
              </a:sysClr>
            </a:solid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1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 name="圆角矩形 95"/>
          <p:cNvSpPr/>
          <p:nvPr/>
        </p:nvSpPr>
        <p:spPr bwMode="gray">
          <a:xfrm>
            <a:off x="9195530" y="4542420"/>
            <a:ext cx="2270117" cy="355814"/>
          </a:xfrm>
          <a:prstGeom prst="roundRect">
            <a:avLst>
              <a:gd name="adj" fmla="val 50000"/>
            </a:avLst>
          </a:prstGeom>
          <a:solidFill>
            <a:schemeClr val="bg1">
              <a:lumMod val="85000"/>
            </a:schemeClr>
          </a:solidFill>
          <a:ln w="28575" cap="flat" cmpd="sng" algn="ctr">
            <a:solidFill>
              <a:sysClr val="window" lastClr="FFFFFF"/>
            </a:solidFill>
            <a:prstDash val="solid"/>
            <a:miter lim="800000"/>
          </a:ln>
          <a:effectLst/>
        </p:spPr>
        <p:txBody>
          <a:bodyPr lIns="36000" tIns="36000" rIns="36000" bIns="36000" rtlCol="0" anchor="ctr"/>
          <a:lstStyle/>
          <a:p>
            <a:pPr lvl="0" algn="ctr" defTabSz="914400"/>
            <a:r>
              <a:rPr lang="zh-CN" altLang="en-US" sz="1400" kern="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基于终端类型的</a:t>
            </a:r>
          </a:p>
        </p:txBody>
      </p:sp>
      <p:sp>
        <p:nvSpPr>
          <p:cNvPr id="97" name="Rectangle 16"/>
          <p:cNvSpPr/>
          <p:nvPr/>
        </p:nvSpPr>
        <p:spPr bwMode="gray">
          <a:xfrm>
            <a:off x="9071701" y="4898071"/>
            <a:ext cx="2517775" cy="930383"/>
          </a:xfrm>
          <a:prstGeom prst="rect">
            <a:avLst/>
          </a:prstGeom>
        </p:spPr>
        <p:txBody>
          <a:bodyPr wrap="square">
            <a:spAutoFit/>
          </a:bodyPr>
          <a:lstStyle/>
          <a:p>
            <a:pPr algn="ctr" defTabSz="1219028">
              <a:lnSpc>
                <a:spcPct val="140000"/>
              </a:lnSpc>
              <a:buClr>
                <a:srgbClr val="CC9900"/>
              </a:buClr>
            </a:pPr>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仿冒检测</a:t>
            </a:r>
          </a:p>
          <a:p>
            <a:pPr algn="ctr" defTabSz="1219028">
              <a:lnSpc>
                <a:spcPct val="140000"/>
              </a:lnSpc>
              <a:buClr>
                <a:prstClr val="white">
                  <a:lumMod val="75000"/>
                </a:prstClr>
              </a:buClr>
            </a:pPr>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先识别为</a:t>
            </a:r>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电话，后识别为</a:t>
            </a:r>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PC</a:t>
            </a:r>
          </a:p>
          <a:p>
            <a:pPr algn="ctr" defTabSz="1219028">
              <a:lnSpc>
                <a:spcPct val="140000"/>
              </a:lnSpc>
              <a:buClr>
                <a:prstClr val="white">
                  <a:lumMod val="75000"/>
                </a:prstClr>
              </a:buClr>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上报终端仿冒告警</a:t>
            </a:r>
          </a:p>
        </p:txBody>
      </p:sp>
      <p:sp>
        <p:nvSpPr>
          <p:cNvPr id="98" name="圆角矩形 75"/>
          <p:cNvSpPr/>
          <p:nvPr/>
        </p:nvSpPr>
        <p:spPr bwMode="gray">
          <a:xfrm>
            <a:off x="459756" y="1021374"/>
            <a:ext cx="2743716"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需求</a:t>
            </a: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&amp;</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挑战</a:t>
            </a:r>
          </a:p>
        </p:txBody>
      </p:sp>
      <p:sp>
        <p:nvSpPr>
          <p:cNvPr id="99" name="圆角矩形 75"/>
          <p:cNvSpPr/>
          <p:nvPr/>
        </p:nvSpPr>
        <p:spPr bwMode="gray">
          <a:xfrm>
            <a:off x="459756" y="1440757"/>
            <a:ext cx="2743716" cy="4696518"/>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fontAlgn="ctr">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1" name="圆角矩形 75"/>
          <p:cNvSpPr/>
          <p:nvPr/>
        </p:nvSpPr>
        <p:spPr bwMode="gray">
          <a:xfrm>
            <a:off x="3287561" y="1021374"/>
            <a:ext cx="8425014" cy="360000"/>
          </a:xfrm>
          <a:prstGeom prst="roundRect">
            <a:avLst>
              <a:gd name="adj" fmla="val 13606"/>
            </a:avLst>
          </a:prstGeom>
          <a:solidFill>
            <a:srgbClr val="56C4D2"/>
          </a:solidFill>
          <a:ln>
            <a:noFill/>
          </a:ln>
        </p:spPr>
        <p:txBody>
          <a:bodyPr wrap="square" rtlCol="0" anchor="ctr" anchorCtr="0">
            <a:noAutofit/>
          </a:bodyPr>
          <a:lstStyle/>
          <a:p>
            <a:pPr algn="ct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终端识别与策略自动化概述</a:t>
            </a:r>
          </a:p>
        </p:txBody>
      </p:sp>
      <p:sp>
        <p:nvSpPr>
          <p:cNvPr id="102" name="圆角矩形 75"/>
          <p:cNvSpPr/>
          <p:nvPr/>
        </p:nvSpPr>
        <p:spPr bwMode="gray">
          <a:xfrm>
            <a:off x="3287561" y="1440757"/>
            <a:ext cx="8425014" cy="4696518"/>
          </a:xfrm>
          <a:prstGeom prst="roundRect">
            <a:avLst>
              <a:gd name="adj" fmla="val 1158"/>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fontAlgn="ctr">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3" name="矩形 102"/>
          <p:cNvSpPr/>
          <p:nvPr/>
        </p:nvSpPr>
        <p:spPr bwMode="gray">
          <a:xfrm>
            <a:off x="4457628" y="1888489"/>
            <a:ext cx="1082348" cy="307777"/>
          </a:xfrm>
          <a:prstGeom prst="rect">
            <a:avLst/>
          </a:prstGeom>
        </p:spPr>
        <p:txBody>
          <a:bodyPr wrap="none">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终端指纹库</a:t>
            </a:r>
          </a:p>
        </p:txBody>
      </p:sp>
      <p:pic>
        <p:nvPicPr>
          <p:cNvPr id="104" name="图片 76" descr="接入交换机.png"/>
          <p:cNvPicPr>
            <a:picLocks noChangeAspect="1"/>
          </p:cNvPicPr>
          <p:nvPr/>
        </p:nvPicPr>
        <p:blipFill>
          <a:blip r:embed="rId4" cstate="print"/>
          <a:stretch>
            <a:fillRect/>
          </a:stretch>
        </p:blipFill>
        <p:spPr bwMode="gray">
          <a:xfrm>
            <a:off x="4383910" y="3576890"/>
            <a:ext cx="446281" cy="365140"/>
          </a:xfrm>
          <a:prstGeom prst="rect">
            <a:avLst/>
          </a:prstGeom>
        </p:spPr>
      </p:pic>
      <p:pic>
        <p:nvPicPr>
          <p:cNvPr id="105" name="图片 76" descr="接入交换机.png"/>
          <p:cNvPicPr>
            <a:picLocks noChangeAspect="1"/>
          </p:cNvPicPr>
          <p:nvPr/>
        </p:nvPicPr>
        <p:blipFill>
          <a:blip r:embed="rId4" cstate="print"/>
          <a:stretch>
            <a:fillRect/>
          </a:stretch>
        </p:blipFill>
        <p:spPr bwMode="gray">
          <a:xfrm>
            <a:off x="10082044" y="3576890"/>
            <a:ext cx="446281" cy="365140"/>
          </a:xfrm>
          <a:prstGeom prst="rect">
            <a:avLst/>
          </a:prstGeom>
        </p:spPr>
      </p:pic>
      <p:pic>
        <p:nvPicPr>
          <p:cNvPr id="106" name="图片 105" descr="AP.png"/>
          <p:cNvPicPr>
            <a:picLocks noChangeAspect="1"/>
          </p:cNvPicPr>
          <p:nvPr/>
        </p:nvPicPr>
        <p:blipFill>
          <a:blip r:embed="rId5" cstate="print"/>
          <a:stretch>
            <a:fillRect/>
          </a:stretch>
        </p:blipFill>
        <p:spPr bwMode="gray">
          <a:xfrm>
            <a:off x="7203342" y="3576890"/>
            <a:ext cx="446281" cy="365140"/>
          </a:xfrm>
          <a:prstGeom prst="rect">
            <a:avLst/>
          </a:prstGeom>
        </p:spPr>
      </p:pic>
      <p:pic>
        <p:nvPicPr>
          <p:cNvPr id="107" name="图片 86" descr="核心交换机.png"/>
          <p:cNvPicPr>
            <a:picLocks noChangeAspect="1"/>
          </p:cNvPicPr>
          <p:nvPr/>
        </p:nvPicPr>
        <p:blipFill>
          <a:blip r:embed="rId6" cstate="print"/>
          <a:stretch>
            <a:fillRect/>
          </a:stretch>
        </p:blipFill>
        <p:spPr bwMode="gray">
          <a:xfrm>
            <a:off x="7203342" y="2607706"/>
            <a:ext cx="446281" cy="365140"/>
          </a:xfrm>
          <a:prstGeom prst="rect">
            <a:avLst/>
          </a:prstGeom>
        </p:spPr>
      </p:pic>
      <p:pic>
        <p:nvPicPr>
          <p:cNvPr id="108" name="图片 10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6669068" y="1782323"/>
            <a:ext cx="1346845" cy="248394"/>
          </a:xfrm>
          <a:prstGeom prst="rect">
            <a:avLst/>
          </a:prstGeom>
        </p:spPr>
      </p:pic>
      <p:sp>
        <p:nvSpPr>
          <p:cNvPr id="109" name="下箭头 63"/>
          <p:cNvSpPr/>
          <p:nvPr/>
        </p:nvSpPr>
        <p:spPr bwMode="gray">
          <a:xfrm flipV="1">
            <a:off x="5950122" y="2805891"/>
            <a:ext cx="829759" cy="77358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FFD17D"/>
                </a:gs>
              </a:gsLst>
              <a:lin ang="16200000" scaled="1"/>
              <a:tileRect/>
            </a:gra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矩形 109"/>
          <p:cNvSpPr/>
          <p:nvPr/>
        </p:nvSpPr>
        <p:spPr bwMode="gray">
          <a:xfrm>
            <a:off x="5923849" y="3336090"/>
            <a:ext cx="902811" cy="307777"/>
          </a:xfrm>
          <a:prstGeom prst="rect">
            <a:avLst/>
          </a:prstGeom>
        </p:spPr>
        <p:txBody>
          <a:bodyPr wrap="none">
            <a:spAutoFit/>
          </a:bodyPr>
          <a:lstStyle/>
          <a:p>
            <a:pPr algn="ctr"/>
            <a:r>
              <a:rPr lang="zh-CN" altLang="en-US" sz="1400" b="1" dirty="0">
                <a:solidFill>
                  <a:srgbClr val="404040"/>
                </a:solidFill>
                <a:latin typeface="Huawei Sans" panose="020C0503030203020204" pitchFamily="34" charset="0"/>
                <a:ea typeface="方正兰亭黑简体" panose="02000000000000000000" pitchFamily="2" charset="-122"/>
                <a:sym typeface="Huawei Sans" panose="020C0503030203020204" pitchFamily="34" charset="0"/>
              </a:rPr>
              <a:t>信息上报</a:t>
            </a:r>
          </a:p>
        </p:txBody>
      </p:sp>
      <p:sp>
        <p:nvSpPr>
          <p:cNvPr id="111" name="下箭头 63"/>
          <p:cNvSpPr/>
          <p:nvPr/>
        </p:nvSpPr>
        <p:spPr bwMode="gray">
          <a:xfrm rot="10800000" flipV="1">
            <a:off x="7795748" y="2100743"/>
            <a:ext cx="829759" cy="77358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FFD17D"/>
                </a:gs>
              </a:gsLst>
              <a:lin ang="16200000" scaled="1"/>
              <a:tileRect/>
            </a:gra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矩形 112"/>
          <p:cNvSpPr/>
          <p:nvPr/>
        </p:nvSpPr>
        <p:spPr bwMode="gray">
          <a:xfrm>
            <a:off x="7795748" y="2140424"/>
            <a:ext cx="902811" cy="307777"/>
          </a:xfrm>
          <a:prstGeom prst="rect">
            <a:avLst/>
          </a:prstGeom>
        </p:spPr>
        <p:txBody>
          <a:bodyPr wrap="none">
            <a:spAutoFit/>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主动扫描</a:t>
            </a:r>
          </a:p>
        </p:txBody>
      </p:sp>
      <p:sp>
        <p:nvSpPr>
          <p:cNvPr id="114" name="矩形 113"/>
          <p:cNvSpPr/>
          <p:nvPr/>
        </p:nvSpPr>
        <p:spPr bwMode="gray">
          <a:xfrm rot="10800000" flipH="1" flipV="1">
            <a:off x="10118442" y="3947736"/>
            <a:ext cx="468299" cy="606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&gt;&gt;</a:t>
            </a:r>
            <a:endParaRPr lang="zh-CN" altLang="en-US"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24" name="图片 47" descr="打印机.png"/>
          <p:cNvPicPr>
            <a:picLocks noChangeAspect="1"/>
          </p:cNvPicPr>
          <p:nvPr/>
        </p:nvPicPr>
        <p:blipFill>
          <a:blip r:embed="rId8" cstate="print"/>
          <a:stretch>
            <a:fillRect/>
          </a:stretch>
        </p:blipFill>
        <p:spPr bwMode="gray">
          <a:xfrm>
            <a:off x="4404347" y="4090258"/>
            <a:ext cx="404351" cy="321864"/>
          </a:xfrm>
          <a:prstGeom prst="rect">
            <a:avLst/>
          </a:prstGeom>
        </p:spPr>
      </p:pic>
      <p:grpSp>
        <p:nvGrpSpPr>
          <p:cNvPr id="129" name="组合 211"/>
          <p:cNvGrpSpPr/>
          <p:nvPr/>
        </p:nvGrpSpPr>
        <p:grpSpPr bwMode="gray">
          <a:xfrm>
            <a:off x="7177308" y="4134724"/>
            <a:ext cx="515863" cy="232932"/>
            <a:chOff x="5310188" y="1243013"/>
            <a:chExt cx="915988" cy="414338"/>
          </a:xfrm>
          <a:solidFill>
            <a:srgbClr val="7A7B7C"/>
          </a:solidFill>
        </p:grpSpPr>
        <p:sp>
          <p:nvSpPr>
            <p:cNvPr id="143" name="Freeform 106"/>
            <p:cNvSpPr>
              <a:spLocks/>
            </p:cNvSpPr>
            <p:nvPr/>
          </p:nvSpPr>
          <p:spPr bwMode="gray">
            <a:xfrm>
              <a:off x="5310188" y="1243013"/>
              <a:ext cx="915988" cy="414338"/>
            </a:xfrm>
            <a:custGeom>
              <a:avLst/>
              <a:gdLst/>
              <a:ahLst/>
              <a:cxnLst>
                <a:cxn ang="0">
                  <a:pos x="680" y="989"/>
                </a:cxn>
                <a:cxn ang="0">
                  <a:pos x="680" y="989"/>
                </a:cxn>
                <a:cxn ang="0">
                  <a:pos x="453" y="923"/>
                </a:cxn>
                <a:cxn ang="0">
                  <a:pos x="448" y="921"/>
                </a:cxn>
                <a:cxn ang="0">
                  <a:pos x="223" y="748"/>
                </a:cxn>
                <a:cxn ang="0">
                  <a:pos x="221" y="745"/>
                </a:cxn>
                <a:cxn ang="0">
                  <a:pos x="189" y="507"/>
                </a:cxn>
                <a:cxn ang="0">
                  <a:pos x="50" y="395"/>
                </a:cxn>
                <a:cxn ang="0">
                  <a:pos x="43" y="376"/>
                </a:cxn>
                <a:cxn ang="0">
                  <a:pos x="14" y="188"/>
                </a:cxn>
                <a:cxn ang="0">
                  <a:pos x="297" y="65"/>
                </a:cxn>
                <a:cxn ang="0">
                  <a:pos x="1609" y="5"/>
                </a:cxn>
                <a:cxn ang="0">
                  <a:pos x="1900" y="18"/>
                </a:cxn>
                <a:cxn ang="0">
                  <a:pos x="1953" y="25"/>
                </a:cxn>
                <a:cxn ang="0">
                  <a:pos x="2168" y="213"/>
                </a:cxn>
                <a:cxn ang="0">
                  <a:pos x="2135" y="394"/>
                </a:cxn>
                <a:cxn ang="0">
                  <a:pos x="2100" y="409"/>
                </a:cxn>
                <a:cxn ang="0">
                  <a:pos x="2100" y="472"/>
                </a:cxn>
                <a:cxn ang="0">
                  <a:pos x="1997" y="599"/>
                </a:cxn>
                <a:cxn ang="0">
                  <a:pos x="1814" y="656"/>
                </a:cxn>
                <a:cxn ang="0">
                  <a:pos x="1773" y="634"/>
                </a:cxn>
                <a:cxn ang="0">
                  <a:pos x="1795" y="592"/>
                </a:cxn>
                <a:cxn ang="0">
                  <a:pos x="1975" y="536"/>
                </a:cxn>
                <a:cxn ang="0">
                  <a:pos x="2033" y="472"/>
                </a:cxn>
                <a:cxn ang="0">
                  <a:pos x="2033" y="384"/>
                </a:cxn>
                <a:cxn ang="0">
                  <a:pos x="2060" y="351"/>
                </a:cxn>
                <a:cxn ang="0">
                  <a:pos x="2098" y="339"/>
                </a:cxn>
                <a:cxn ang="0">
                  <a:pos x="2102" y="224"/>
                </a:cxn>
                <a:cxn ang="0">
                  <a:pos x="1944" y="91"/>
                </a:cxn>
                <a:cxn ang="0">
                  <a:pos x="1892" y="84"/>
                </a:cxn>
                <a:cxn ang="0">
                  <a:pos x="1611" y="72"/>
                </a:cxn>
                <a:cxn ang="0">
                  <a:pos x="302" y="131"/>
                </a:cxn>
                <a:cxn ang="0">
                  <a:pos x="79" y="200"/>
                </a:cxn>
                <a:cxn ang="0">
                  <a:pos x="105" y="351"/>
                </a:cxn>
                <a:cxn ang="0">
                  <a:pos x="113" y="372"/>
                </a:cxn>
                <a:cxn ang="0">
                  <a:pos x="217" y="439"/>
                </a:cxn>
                <a:cxn ang="0">
                  <a:pos x="243" y="447"/>
                </a:cxn>
                <a:cxn ang="0">
                  <a:pos x="255" y="471"/>
                </a:cxn>
                <a:cxn ang="0">
                  <a:pos x="281" y="714"/>
                </a:cxn>
                <a:cxn ang="0">
                  <a:pos x="282" y="717"/>
                </a:cxn>
                <a:cxn ang="0">
                  <a:pos x="471" y="859"/>
                </a:cxn>
                <a:cxn ang="0">
                  <a:pos x="477" y="861"/>
                </a:cxn>
                <a:cxn ang="0">
                  <a:pos x="717" y="917"/>
                </a:cxn>
                <a:cxn ang="0">
                  <a:pos x="1620" y="645"/>
                </a:cxn>
                <a:cxn ang="0">
                  <a:pos x="1662" y="668"/>
                </a:cxn>
                <a:cxn ang="0">
                  <a:pos x="1639" y="709"/>
                </a:cxn>
                <a:cxn ang="0">
                  <a:pos x="733" y="982"/>
                </a:cxn>
                <a:cxn ang="0">
                  <a:pos x="680" y="989"/>
                </a:cxn>
              </a:cxnLst>
              <a:rect l="0" t="0" r="r" b="b"/>
              <a:pathLst>
                <a:path w="2184" h="989">
                  <a:moveTo>
                    <a:pt x="680" y="989"/>
                  </a:moveTo>
                  <a:lnTo>
                    <a:pt x="680" y="989"/>
                  </a:lnTo>
                  <a:cubicBezTo>
                    <a:pt x="627" y="989"/>
                    <a:pt x="571" y="968"/>
                    <a:pt x="453" y="923"/>
                  </a:cubicBezTo>
                  <a:lnTo>
                    <a:pt x="448" y="921"/>
                  </a:lnTo>
                  <a:cubicBezTo>
                    <a:pt x="280" y="858"/>
                    <a:pt x="251" y="802"/>
                    <a:pt x="223" y="748"/>
                  </a:cubicBezTo>
                  <a:lnTo>
                    <a:pt x="221" y="745"/>
                  </a:lnTo>
                  <a:cubicBezTo>
                    <a:pt x="198" y="699"/>
                    <a:pt x="191" y="573"/>
                    <a:pt x="189" y="507"/>
                  </a:cubicBezTo>
                  <a:cubicBezTo>
                    <a:pt x="93" y="506"/>
                    <a:pt x="70" y="448"/>
                    <a:pt x="50" y="395"/>
                  </a:cubicBezTo>
                  <a:cubicBezTo>
                    <a:pt x="48" y="389"/>
                    <a:pt x="45" y="382"/>
                    <a:pt x="43" y="376"/>
                  </a:cubicBezTo>
                  <a:cubicBezTo>
                    <a:pt x="23" y="324"/>
                    <a:pt x="0" y="266"/>
                    <a:pt x="14" y="188"/>
                  </a:cubicBezTo>
                  <a:cubicBezTo>
                    <a:pt x="32" y="84"/>
                    <a:pt x="126" y="77"/>
                    <a:pt x="297" y="65"/>
                  </a:cubicBezTo>
                  <a:cubicBezTo>
                    <a:pt x="469" y="52"/>
                    <a:pt x="1427" y="11"/>
                    <a:pt x="1609" y="5"/>
                  </a:cubicBezTo>
                  <a:cubicBezTo>
                    <a:pt x="1769" y="0"/>
                    <a:pt x="1824" y="8"/>
                    <a:pt x="1900" y="18"/>
                  </a:cubicBezTo>
                  <a:cubicBezTo>
                    <a:pt x="1916" y="20"/>
                    <a:pt x="1933" y="22"/>
                    <a:pt x="1953" y="25"/>
                  </a:cubicBezTo>
                  <a:cubicBezTo>
                    <a:pt x="2065" y="39"/>
                    <a:pt x="2145" y="76"/>
                    <a:pt x="2168" y="213"/>
                  </a:cubicBezTo>
                  <a:cubicBezTo>
                    <a:pt x="2184" y="310"/>
                    <a:pt x="2174" y="368"/>
                    <a:pt x="2135" y="394"/>
                  </a:cubicBezTo>
                  <a:cubicBezTo>
                    <a:pt x="2125" y="401"/>
                    <a:pt x="2112" y="406"/>
                    <a:pt x="2100" y="409"/>
                  </a:cubicBezTo>
                  <a:lnTo>
                    <a:pt x="2100" y="472"/>
                  </a:lnTo>
                  <a:cubicBezTo>
                    <a:pt x="2100" y="531"/>
                    <a:pt x="2063" y="576"/>
                    <a:pt x="1997" y="599"/>
                  </a:cubicBezTo>
                  <a:cubicBezTo>
                    <a:pt x="1985" y="603"/>
                    <a:pt x="1924" y="622"/>
                    <a:pt x="1814" y="656"/>
                  </a:cubicBezTo>
                  <a:cubicBezTo>
                    <a:pt x="1797" y="661"/>
                    <a:pt x="1778" y="651"/>
                    <a:pt x="1773" y="634"/>
                  </a:cubicBezTo>
                  <a:cubicBezTo>
                    <a:pt x="1767" y="616"/>
                    <a:pt x="1777" y="597"/>
                    <a:pt x="1795" y="592"/>
                  </a:cubicBezTo>
                  <a:cubicBezTo>
                    <a:pt x="1937" y="548"/>
                    <a:pt x="1969" y="538"/>
                    <a:pt x="1975" y="536"/>
                  </a:cubicBezTo>
                  <a:cubicBezTo>
                    <a:pt x="2033" y="516"/>
                    <a:pt x="2033" y="483"/>
                    <a:pt x="2033" y="472"/>
                  </a:cubicBezTo>
                  <a:lnTo>
                    <a:pt x="2033" y="384"/>
                  </a:lnTo>
                  <a:cubicBezTo>
                    <a:pt x="2033" y="368"/>
                    <a:pt x="2044" y="354"/>
                    <a:pt x="2060" y="351"/>
                  </a:cubicBezTo>
                  <a:cubicBezTo>
                    <a:pt x="2073" y="348"/>
                    <a:pt x="2092" y="342"/>
                    <a:pt x="2098" y="339"/>
                  </a:cubicBezTo>
                  <a:cubicBezTo>
                    <a:pt x="2106" y="333"/>
                    <a:pt x="2116" y="303"/>
                    <a:pt x="2102" y="224"/>
                  </a:cubicBezTo>
                  <a:cubicBezTo>
                    <a:pt x="2087" y="135"/>
                    <a:pt x="2051" y="104"/>
                    <a:pt x="1944" y="91"/>
                  </a:cubicBezTo>
                  <a:cubicBezTo>
                    <a:pt x="1925" y="89"/>
                    <a:pt x="1908" y="86"/>
                    <a:pt x="1892" y="84"/>
                  </a:cubicBezTo>
                  <a:cubicBezTo>
                    <a:pt x="1815" y="74"/>
                    <a:pt x="1765" y="67"/>
                    <a:pt x="1611" y="72"/>
                  </a:cubicBezTo>
                  <a:cubicBezTo>
                    <a:pt x="1429" y="77"/>
                    <a:pt x="473" y="119"/>
                    <a:pt x="302" y="131"/>
                  </a:cubicBezTo>
                  <a:cubicBezTo>
                    <a:pt x="129" y="144"/>
                    <a:pt x="88" y="152"/>
                    <a:pt x="79" y="200"/>
                  </a:cubicBezTo>
                  <a:cubicBezTo>
                    <a:pt x="69" y="259"/>
                    <a:pt x="86" y="304"/>
                    <a:pt x="105" y="351"/>
                  </a:cubicBezTo>
                  <a:cubicBezTo>
                    <a:pt x="108" y="358"/>
                    <a:pt x="110" y="365"/>
                    <a:pt x="113" y="372"/>
                  </a:cubicBezTo>
                  <a:cubicBezTo>
                    <a:pt x="133" y="425"/>
                    <a:pt x="142" y="448"/>
                    <a:pt x="217" y="439"/>
                  </a:cubicBezTo>
                  <a:cubicBezTo>
                    <a:pt x="227" y="438"/>
                    <a:pt x="236" y="441"/>
                    <a:pt x="243" y="447"/>
                  </a:cubicBezTo>
                  <a:cubicBezTo>
                    <a:pt x="250" y="453"/>
                    <a:pt x="254" y="462"/>
                    <a:pt x="255" y="471"/>
                  </a:cubicBezTo>
                  <a:cubicBezTo>
                    <a:pt x="256" y="553"/>
                    <a:pt x="264" y="683"/>
                    <a:pt x="281" y="714"/>
                  </a:cubicBezTo>
                  <a:lnTo>
                    <a:pt x="282" y="717"/>
                  </a:lnTo>
                  <a:cubicBezTo>
                    <a:pt x="306" y="764"/>
                    <a:pt x="328" y="805"/>
                    <a:pt x="471" y="859"/>
                  </a:cubicBezTo>
                  <a:lnTo>
                    <a:pt x="477" y="861"/>
                  </a:lnTo>
                  <a:cubicBezTo>
                    <a:pt x="632" y="920"/>
                    <a:pt x="663" y="930"/>
                    <a:pt x="717" y="917"/>
                  </a:cubicBezTo>
                  <a:cubicBezTo>
                    <a:pt x="757" y="908"/>
                    <a:pt x="1217" y="769"/>
                    <a:pt x="1620" y="645"/>
                  </a:cubicBezTo>
                  <a:cubicBezTo>
                    <a:pt x="1638" y="640"/>
                    <a:pt x="1656" y="650"/>
                    <a:pt x="1662" y="668"/>
                  </a:cubicBezTo>
                  <a:cubicBezTo>
                    <a:pt x="1667" y="685"/>
                    <a:pt x="1657" y="704"/>
                    <a:pt x="1639" y="709"/>
                  </a:cubicBezTo>
                  <a:cubicBezTo>
                    <a:pt x="1290" y="816"/>
                    <a:pt x="778" y="971"/>
                    <a:pt x="733" y="982"/>
                  </a:cubicBezTo>
                  <a:cubicBezTo>
                    <a:pt x="714" y="986"/>
                    <a:pt x="697" y="989"/>
                    <a:pt x="680" y="989"/>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Freeform 107"/>
            <p:cNvSpPr>
              <a:spLocks/>
            </p:cNvSpPr>
            <p:nvPr/>
          </p:nvSpPr>
          <p:spPr bwMode="gray">
            <a:xfrm>
              <a:off x="5322888" y="1287463"/>
              <a:ext cx="868363" cy="230188"/>
            </a:xfrm>
            <a:custGeom>
              <a:avLst/>
              <a:gdLst/>
              <a:ahLst/>
              <a:cxnLst>
                <a:cxn ang="0">
                  <a:pos x="753" y="549"/>
                </a:cxn>
                <a:cxn ang="0">
                  <a:pos x="753" y="549"/>
                </a:cxn>
                <a:cxn ang="0">
                  <a:pos x="643" y="465"/>
                </a:cxn>
                <a:cxn ang="0">
                  <a:pos x="636" y="449"/>
                </a:cxn>
                <a:cxn ang="0">
                  <a:pos x="507" y="208"/>
                </a:cxn>
                <a:cxn ang="0">
                  <a:pos x="223" y="79"/>
                </a:cxn>
                <a:cxn ang="0">
                  <a:pos x="47" y="74"/>
                </a:cxn>
                <a:cxn ang="0">
                  <a:pos x="12" y="72"/>
                </a:cxn>
                <a:cxn ang="0">
                  <a:pos x="11" y="34"/>
                </a:cxn>
                <a:cxn ang="0">
                  <a:pos x="231" y="26"/>
                </a:cxn>
                <a:cxn ang="0">
                  <a:pos x="548" y="174"/>
                </a:cxn>
                <a:cxn ang="0">
                  <a:pos x="685" y="428"/>
                </a:cxn>
                <a:cxn ang="0">
                  <a:pos x="692" y="444"/>
                </a:cxn>
                <a:cxn ang="0">
                  <a:pos x="829" y="486"/>
                </a:cxn>
                <a:cxn ang="0">
                  <a:pos x="1733" y="302"/>
                </a:cxn>
                <a:cxn ang="0">
                  <a:pos x="2033" y="241"/>
                </a:cxn>
                <a:cxn ang="0">
                  <a:pos x="2065" y="261"/>
                </a:cxn>
                <a:cxn ang="0">
                  <a:pos x="2044" y="293"/>
                </a:cxn>
                <a:cxn ang="0">
                  <a:pos x="1743" y="354"/>
                </a:cxn>
                <a:cxn ang="0">
                  <a:pos x="840" y="538"/>
                </a:cxn>
                <a:cxn ang="0">
                  <a:pos x="753" y="549"/>
                </a:cxn>
              </a:cxnLst>
              <a:rect l="0" t="0" r="r" b="b"/>
              <a:pathLst>
                <a:path w="2068" h="549">
                  <a:moveTo>
                    <a:pt x="753" y="549"/>
                  </a:moveTo>
                  <a:lnTo>
                    <a:pt x="753" y="549"/>
                  </a:lnTo>
                  <a:cubicBezTo>
                    <a:pt x="687" y="549"/>
                    <a:pt x="666" y="519"/>
                    <a:pt x="643" y="465"/>
                  </a:cubicBezTo>
                  <a:lnTo>
                    <a:pt x="636" y="449"/>
                  </a:lnTo>
                  <a:cubicBezTo>
                    <a:pt x="610" y="387"/>
                    <a:pt x="561" y="272"/>
                    <a:pt x="507" y="208"/>
                  </a:cubicBezTo>
                  <a:cubicBezTo>
                    <a:pt x="457" y="147"/>
                    <a:pt x="394" y="107"/>
                    <a:pt x="223" y="79"/>
                  </a:cubicBezTo>
                  <a:cubicBezTo>
                    <a:pt x="87" y="57"/>
                    <a:pt x="51" y="71"/>
                    <a:pt x="47" y="74"/>
                  </a:cubicBezTo>
                  <a:cubicBezTo>
                    <a:pt x="36" y="82"/>
                    <a:pt x="21" y="81"/>
                    <a:pt x="12" y="72"/>
                  </a:cubicBezTo>
                  <a:cubicBezTo>
                    <a:pt x="1" y="62"/>
                    <a:pt x="0" y="45"/>
                    <a:pt x="11" y="34"/>
                  </a:cubicBezTo>
                  <a:cubicBezTo>
                    <a:pt x="24" y="20"/>
                    <a:pt x="71" y="0"/>
                    <a:pt x="231" y="26"/>
                  </a:cubicBezTo>
                  <a:cubicBezTo>
                    <a:pt x="395" y="53"/>
                    <a:pt x="481" y="93"/>
                    <a:pt x="548" y="174"/>
                  </a:cubicBezTo>
                  <a:cubicBezTo>
                    <a:pt x="607" y="244"/>
                    <a:pt x="656" y="359"/>
                    <a:pt x="685" y="428"/>
                  </a:cubicBezTo>
                  <a:lnTo>
                    <a:pt x="692" y="444"/>
                  </a:lnTo>
                  <a:cubicBezTo>
                    <a:pt x="714" y="495"/>
                    <a:pt x="719" y="509"/>
                    <a:pt x="829" y="486"/>
                  </a:cubicBezTo>
                  <a:cubicBezTo>
                    <a:pt x="922" y="466"/>
                    <a:pt x="1410" y="367"/>
                    <a:pt x="1733" y="302"/>
                  </a:cubicBezTo>
                  <a:cubicBezTo>
                    <a:pt x="1893" y="269"/>
                    <a:pt x="2020" y="243"/>
                    <a:pt x="2033" y="241"/>
                  </a:cubicBezTo>
                  <a:cubicBezTo>
                    <a:pt x="2048" y="238"/>
                    <a:pt x="2062" y="247"/>
                    <a:pt x="2065" y="261"/>
                  </a:cubicBezTo>
                  <a:cubicBezTo>
                    <a:pt x="2068" y="276"/>
                    <a:pt x="2059" y="290"/>
                    <a:pt x="2044" y="293"/>
                  </a:cubicBezTo>
                  <a:cubicBezTo>
                    <a:pt x="2031" y="296"/>
                    <a:pt x="1910" y="320"/>
                    <a:pt x="1743" y="354"/>
                  </a:cubicBezTo>
                  <a:cubicBezTo>
                    <a:pt x="1421" y="419"/>
                    <a:pt x="933" y="518"/>
                    <a:pt x="840" y="538"/>
                  </a:cubicBezTo>
                  <a:cubicBezTo>
                    <a:pt x="804" y="545"/>
                    <a:pt x="776" y="549"/>
                    <a:pt x="753" y="549"/>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Freeform 108"/>
            <p:cNvSpPr>
              <a:spLocks/>
            </p:cNvSpPr>
            <p:nvPr/>
          </p:nvSpPr>
          <p:spPr bwMode="gray">
            <a:xfrm>
              <a:off x="5564188" y="1495425"/>
              <a:ext cx="87313" cy="157163"/>
            </a:xfrm>
            <a:custGeom>
              <a:avLst/>
              <a:gdLst/>
              <a:ahLst/>
              <a:cxnLst>
                <a:cxn ang="0">
                  <a:pos x="45" y="375"/>
                </a:cxn>
                <a:cxn ang="0">
                  <a:pos x="45" y="375"/>
                </a:cxn>
                <a:cxn ang="0">
                  <a:pos x="25" y="375"/>
                </a:cxn>
                <a:cxn ang="0">
                  <a:pos x="0" y="346"/>
                </a:cxn>
                <a:cxn ang="0">
                  <a:pos x="29" y="321"/>
                </a:cxn>
                <a:cxn ang="0">
                  <a:pos x="143" y="237"/>
                </a:cxn>
                <a:cxn ang="0">
                  <a:pos x="144" y="232"/>
                </a:cxn>
                <a:cxn ang="0">
                  <a:pos x="153" y="28"/>
                </a:cxn>
                <a:cxn ang="0">
                  <a:pos x="179" y="1"/>
                </a:cxn>
                <a:cxn ang="0">
                  <a:pos x="206" y="27"/>
                </a:cxn>
                <a:cxn ang="0">
                  <a:pos x="196" y="245"/>
                </a:cxn>
                <a:cxn ang="0">
                  <a:pos x="195" y="249"/>
                </a:cxn>
                <a:cxn ang="0">
                  <a:pos x="45" y="375"/>
                </a:cxn>
              </a:cxnLst>
              <a:rect l="0" t="0" r="r" b="b"/>
              <a:pathLst>
                <a:path w="210" h="375">
                  <a:moveTo>
                    <a:pt x="45" y="375"/>
                  </a:moveTo>
                  <a:lnTo>
                    <a:pt x="45" y="375"/>
                  </a:lnTo>
                  <a:cubicBezTo>
                    <a:pt x="39" y="375"/>
                    <a:pt x="32" y="375"/>
                    <a:pt x="25" y="375"/>
                  </a:cubicBezTo>
                  <a:cubicBezTo>
                    <a:pt x="11" y="374"/>
                    <a:pt x="0" y="361"/>
                    <a:pt x="0" y="346"/>
                  </a:cubicBezTo>
                  <a:cubicBezTo>
                    <a:pt x="1" y="332"/>
                    <a:pt x="14" y="320"/>
                    <a:pt x="29" y="321"/>
                  </a:cubicBezTo>
                  <a:cubicBezTo>
                    <a:pt x="121" y="327"/>
                    <a:pt x="130" y="291"/>
                    <a:pt x="143" y="237"/>
                  </a:cubicBezTo>
                  <a:lnTo>
                    <a:pt x="144" y="232"/>
                  </a:lnTo>
                  <a:cubicBezTo>
                    <a:pt x="155" y="189"/>
                    <a:pt x="154" y="70"/>
                    <a:pt x="153" y="28"/>
                  </a:cubicBezTo>
                  <a:cubicBezTo>
                    <a:pt x="153" y="13"/>
                    <a:pt x="164" y="1"/>
                    <a:pt x="179" y="1"/>
                  </a:cubicBezTo>
                  <a:cubicBezTo>
                    <a:pt x="194" y="0"/>
                    <a:pt x="206" y="12"/>
                    <a:pt x="206" y="27"/>
                  </a:cubicBezTo>
                  <a:cubicBezTo>
                    <a:pt x="206" y="33"/>
                    <a:pt x="210" y="186"/>
                    <a:pt x="196" y="245"/>
                  </a:cubicBezTo>
                  <a:lnTo>
                    <a:pt x="195" y="249"/>
                  </a:lnTo>
                  <a:cubicBezTo>
                    <a:pt x="182" y="303"/>
                    <a:pt x="164" y="375"/>
                    <a:pt x="45" y="375"/>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Freeform 109"/>
            <p:cNvSpPr>
              <a:spLocks/>
            </p:cNvSpPr>
            <p:nvPr/>
          </p:nvSpPr>
          <p:spPr bwMode="gray">
            <a:xfrm>
              <a:off x="5394325" y="1303338"/>
              <a:ext cx="87313" cy="147638"/>
            </a:xfrm>
            <a:custGeom>
              <a:avLst/>
              <a:gdLst/>
              <a:ahLst/>
              <a:cxnLst>
                <a:cxn ang="0">
                  <a:pos x="27" y="353"/>
                </a:cxn>
                <a:cxn ang="0">
                  <a:pos x="27" y="353"/>
                </a:cxn>
                <a:cxn ang="0">
                  <a:pos x="0" y="327"/>
                </a:cxn>
                <a:cxn ang="0">
                  <a:pos x="0" y="169"/>
                </a:cxn>
                <a:cxn ang="0">
                  <a:pos x="52" y="31"/>
                </a:cxn>
                <a:cxn ang="0">
                  <a:pos x="184" y="14"/>
                </a:cxn>
                <a:cxn ang="0">
                  <a:pos x="203" y="46"/>
                </a:cxn>
                <a:cxn ang="0">
                  <a:pos x="171" y="66"/>
                </a:cxn>
                <a:cxn ang="0">
                  <a:pos x="84" y="73"/>
                </a:cxn>
                <a:cxn ang="0">
                  <a:pos x="54" y="169"/>
                </a:cxn>
                <a:cxn ang="0">
                  <a:pos x="54" y="327"/>
                </a:cxn>
                <a:cxn ang="0">
                  <a:pos x="27" y="353"/>
                </a:cxn>
              </a:cxnLst>
              <a:rect l="0" t="0" r="r" b="b"/>
              <a:pathLst>
                <a:path w="207" h="353">
                  <a:moveTo>
                    <a:pt x="27" y="353"/>
                  </a:moveTo>
                  <a:lnTo>
                    <a:pt x="27" y="353"/>
                  </a:lnTo>
                  <a:cubicBezTo>
                    <a:pt x="12" y="353"/>
                    <a:pt x="0" y="342"/>
                    <a:pt x="0" y="327"/>
                  </a:cubicBezTo>
                  <a:lnTo>
                    <a:pt x="0" y="169"/>
                  </a:lnTo>
                  <a:cubicBezTo>
                    <a:pt x="0" y="104"/>
                    <a:pt x="17" y="57"/>
                    <a:pt x="52" y="31"/>
                  </a:cubicBezTo>
                  <a:cubicBezTo>
                    <a:pt x="84" y="6"/>
                    <a:pt x="128" y="0"/>
                    <a:pt x="184" y="14"/>
                  </a:cubicBezTo>
                  <a:cubicBezTo>
                    <a:pt x="198" y="17"/>
                    <a:pt x="207" y="32"/>
                    <a:pt x="203" y="46"/>
                  </a:cubicBezTo>
                  <a:cubicBezTo>
                    <a:pt x="200" y="61"/>
                    <a:pt x="185" y="69"/>
                    <a:pt x="171" y="66"/>
                  </a:cubicBezTo>
                  <a:cubicBezTo>
                    <a:pt x="132" y="56"/>
                    <a:pt x="103" y="58"/>
                    <a:pt x="84" y="73"/>
                  </a:cubicBezTo>
                  <a:cubicBezTo>
                    <a:pt x="64" y="89"/>
                    <a:pt x="54" y="121"/>
                    <a:pt x="54" y="169"/>
                  </a:cubicBezTo>
                  <a:lnTo>
                    <a:pt x="54" y="327"/>
                  </a:lnTo>
                  <a:cubicBezTo>
                    <a:pt x="54" y="342"/>
                    <a:pt x="42" y="353"/>
                    <a:pt x="27" y="353"/>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Freeform 110"/>
            <p:cNvSpPr>
              <a:spLocks/>
            </p:cNvSpPr>
            <p:nvPr/>
          </p:nvSpPr>
          <p:spPr bwMode="gray">
            <a:xfrm>
              <a:off x="5437188" y="1339850"/>
              <a:ext cx="165100" cy="247650"/>
            </a:xfrm>
            <a:custGeom>
              <a:avLst/>
              <a:gdLst/>
              <a:ahLst/>
              <a:cxnLst>
                <a:cxn ang="0">
                  <a:pos x="233" y="591"/>
                </a:cxn>
                <a:cxn ang="0">
                  <a:pos x="233" y="591"/>
                </a:cxn>
                <a:cxn ang="0">
                  <a:pos x="108" y="521"/>
                </a:cxn>
                <a:cxn ang="0">
                  <a:pos x="26" y="326"/>
                </a:cxn>
                <a:cxn ang="0">
                  <a:pos x="157" y="5"/>
                </a:cxn>
                <a:cxn ang="0">
                  <a:pos x="243" y="23"/>
                </a:cxn>
                <a:cxn ang="0">
                  <a:pos x="250" y="50"/>
                </a:cxn>
                <a:cxn ang="0">
                  <a:pos x="223" y="57"/>
                </a:cxn>
                <a:cxn ang="0">
                  <a:pos x="163" y="44"/>
                </a:cxn>
                <a:cxn ang="0">
                  <a:pos x="66" y="320"/>
                </a:cxn>
                <a:cxn ang="0">
                  <a:pos x="139" y="495"/>
                </a:cxn>
                <a:cxn ang="0">
                  <a:pos x="245" y="550"/>
                </a:cxn>
                <a:cxn ang="0">
                  <a:pos x="329" y="465"/>
                </a:cxn>
                <a:cxn ang="0">
                  <a:pos x="343" y="275"/>
                </a:cxn>
                <a:cxn ang="0">
                  <a:pos x="337" y="247"/>
                </a:cxn>
                <a:cxn ang="0">
                  <a:pos x="352" y="223"/>
                </a:cxn>
                <a:cxn ang="0">
                  <a:pos x="376" y="238"/>
                </a:cxn>
                <a:cxn ang="0">
                  <a:pos x="382" y="268"/>
                </a:cxn>
                <a:cxn ang="0">
                  <a:pos x="366" y="479"/>
                </a:cxn>
                <a:cxn ang="0">
                  <a:pos x="252" y="590"/>
                </a:cxn>
                <a:cxn ang="0">
                  <a:pos x="233" y="591"/>
                </a:cxn>
              </a:cxnLst>
              <a:rect l="0" t="0" r="r" b="b"/>
              <a:pathLst>
                <a:path w="395" h="591">
                  <a:moveTo>
                    <a:pt x="233" y="591"/>
                  </a:moveTo>
                  <a:lnTo>
                    <a:pt x="233" y="591"/>
                  </a:lnTo>
                  <a:cubicBezTo>
                    <a:pt x="190" y="591"/>
                    <a:pt x="146" y="567"/>
                    <a:pt x="108" y="521"/>
                  </a:cubicBezTo>
                  <a:cubicBezTo>
                    <a:pt x="68" y="471"/>
                    <a:pt x="39" y="402"/>
                    <a:pt x="26" y="326"/>
                  </a:cubicBezTo>
                  <a:cubicBezTo>
                    <a:pt x="0" y="162"/>
                    <a:pt x="57" y="21"/>
                    <a:pt x="157" y="5"/>
                  </a:cubicBezTo>
                  <a:cubicBezTo>
                    <a:pt x="185" y="0"/>
                    <a:pt x="215" y="6"/>
                    <a:pt x="243" y="23"/>
                  </a:cubicBezTo>
                  <a:cubicBezTo>
                    <a:pt x="253" y="28"/>
                    <a:pt x="256" y="41"/>
                    <a:pt x="250" y="50"/>
                  </a:cubicBezTo>
                  <a:cubicBezTo>
                    <a:pt x="245" y="60"/>
                    <a:pt x="232" y="63"/>
                    <a:pt x="223" y="57"/>
                  </a:cubicBezTo>
                  <a:cubicBezTo>
                    <a:pt x="202" y="45"/>
                    <a:pt x="182" y="41"/>
                    <a:pt x="163" y="44"/>
                  </a:cubicBezTo>
                  <a:cubicBezTo>
                    <a:pt x="88" y="56"/>
                    <a:pt x="43" y="182"/>
                    <a:pt x="66" y="320"/>
                  </a:cubicBezTo>
                  <a:cubicBezTo>
                    <a:pt x="77" y="389"/>
                    <a:pt x="103" y="452"/>
                    <a:pt x="139" y="495"/>
                  </a:cubicBezTo>
                  <a:cubicBezTo>
                    <a:pt x="173" y="536"/>
                    <a:pt x="210" y="556"/>
                    <a:pt x="245" y="550"/>
                  </a:cubicBezTo>
                  <a:cubicBezTo>
                    <a:pt x="280" y="544"/>
                    <a:pt x="310" y="514"/>
                    <a:pt x="329" y="465"/>
                  </a:cubicBezTo>
                  <a:cubicBezTo>
                    <a:pt x="349" y="412"/>
                    <a:pt x="354" y="344"/>
                    <a:pt x="343" y="275"/>
                  </a:cubicBezTo>
                  <a:cubicBezTo>
                    <a:pt x="341" y="265"/>
                    <a:pt x="339" y="256"/>
                    <a:pt x="337" y="247"/>
                  </a:cubicBezTo>
                  <a:cubicBezTo>
                    <a:pt x="335" y="236"/>
                    <a:pt x="342" y="225"/>
                    <a:pt x="352" y="223"/>
                  </a:cubicBezTo>
                  <a:cubicBezTo>
                    <a:pt x="363" y="221"/>
                    <a:pt x="374" y="227"/>
                    <a:pt x="376" y="238"/>
                  </a:cubicBezTo>
                  <a:cubicBezTo>
                    <a:pt x="379" y="248"/>
                    <a:pt x="380" y="258"/>
                    <a:pt x="382" y="268"/>
                  </a:cubicBezTo>
                  <a:cubicBezTo>
                    <a:pt x="395" y="344"/>
                    <a:pt x="389" y="419"/>
                    <a:pt x="366" y="479"/>
                  </a:cubicBezTo>
                  <a:cubicBezTo>
                    <a:pt x="342" y="542"/>
                    <a:pt x="301" y="582"/>
                    <a:pt x="252" y="590"/>
                  </a:cubicBezTo>
                  <a:cubicBezTo>
                    <a:pt x="246" y="591"/>
                    <a:pt x="239" y="591"/>
                    <a:pt x="233" y="591"/>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Freeform 111"/>
            <p:cNvSpPr>
              <a:spLocks noEditPoints="1"/>
            </p:cNvSpPr>
            <p:nvPr/>
          </p:nvSpPr>
          <p:spPr bwMode="gray">
            <a:xfrm>
              <a:off x="5478463" y="1400175"/>
              <a:ext cx="87313" cy="123825"/>
            </a:xfrm>
            <a:custGeom>
              <a:avLst/>
              <a:gdLst/>
              <a:ahLst/>
              <a:cxnLst>
                <a:cxn ang="0">
                  <a:pos x="91" y="47"/>
                </a:cxn>
                <a:cxn ang="0">
                  <a:pos x="91" y="47"/>
                </a:cxn>
                <a:cxn ang="0">
                  <a:pos x="87" y="48"/>
                </a:cxn>
                <a:cxn ang="0">
                  <a:pos x="53" y="159"/>
                </a:cxn>
                <a:cxn ang="0">
                  <a:pos x="117" y="255"/>
                </a:cxn>
                <a:cxn ang="0">
                  <a:pos x="121" y="255"/>
                </a:cxn>
                <a:cxn ang="0">
                  <a:pos x="156" y="143"/>
                </a:cxn>
                <a:cxn ang="0">
                  <a:pos x="91" y="47"/>
                </a:cxn>
                <a:cxn ang="0">
                  <a:pos x="117" y="295"/>
                </a:cxn>
                <a:cxn ang="0">
                  <a:pos x="117" y="295"/>
                </a:cxn>
                <a:cxn ang="0">
                  <a:pos x="13" y="166"/>
                </a:cxn>
                <a:cxn ang="0">
                  <a:pos x="81" y="8"/>
                </a:cxn>
                <a:cxn ang="0">
                  <a:pos x="195" y="136"/>
                </a:cxn>
                <a:cxn ang="0">
                  <a:pos x="127" y="294"/>
                </a:cxn>
                <a:cxn ang="0">
                  <a:pos x="117" y="295"/>
                </a:cxn>
              </a:cxnLst>
              <a:rect l="0" t="0" r="r" b="b"/>
              <a:pathLst>
                <a:path w="208" h="295">
                  <a:moveTo>
                    <a:pt x="91" y="47"/>
                  </a:moveTo>
                  <a:lnTo>
                    <a:pt x="91" y="47"/>
                  </a:lnTo>
                  <a:cubicBezTo>
                    <a:pt x="90" y="47"/>
                    <a:pt x="89" y="47"/>
                    <a:pt x="87" y="48"/>
                  </a:cubicBezTo>
                  <a:cubicBezTo>
                    <a:pt x="63" y="52"/>
                    <a:pt x="43" y="99"/>
                    <a:pt x="53" y="159"/>
                  </a:cubicBezTo>
                  <a:cubicBezTo>
                    <a:pt x="62" y="217"/>
                    <a:pt x="94" y="255"/>
                    <a:pt x="117" y="255"/>
                  </a:cubicBezTo>
                  <a:cubicBezTo>
                    <a:pt x="119" y="255"/>
                    <a:pt x="120" y="255"/>
                    <a:pt x="121" y="255"/>
                  </a:cubicBezTo>
                  <a:cubicBezTo>
                    <a:pt x="145" y="251"/>
                    <a:pt x="166" y="204"/>
                    <a:pt x="156" y="143"/>
                  </a:cubicBezTo>
                  <a:cubicBezTo>
                    <a:pt x="147" y="86"/>
                    <a:pt x="115" y="47"/>
                    <a:pt x="91" y="47"/>
                  </a:cubicBezTo>
                  <a:close/>
                  <a:moveTo>
                    <a:pt x="117" y="295"/>
                  </a:moveTo>
                  <a:lnTo>
                    <a:pt x="117" y="295"/>
                  </a:lnTo>
                  <a:cubicBezTo>
                    <a:pt x="69" y="295"/>
                    <a:pt x="25" y="241"/>
                    <a:pt x="13" y="166"/>
                  </a:cubicBezTo>
                  <a:cubicBezTo>
                    <a:pt x="0" y="86"/>
                    <a:pt x="30" y="17"/>
                    <a:pt x="81" y="8"/>
                  </a:cubicBezTo>
                  <a:cubicBezTo>
                    <a:pt x="133" y="0"/>
                    <a:pt x="182" y="56"/>
                    <a:pt x="195" y="136"/>
                  </a:cubicBezTo>
                  <a:cubicBezTo>
                    <a:pt x="208" y="216"/>
                    <a:pt x="179" y="286"/>
                    <a:pt x="127" y="294"/>
                  </a:cubicBezTo>
                  <a:cubicBezTo>
                    <a:pt x="124" y="295"/>
                    <a:pt x="121" y="295"/>
                    <a:pt x="117" y="295"/>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Freeform 112"/>
            <p:cNvSpPr>
              <a:spLocks/>
            </p:cNvSpPr>
            <p:nvPr/>
          </p:nvSpPr>
          <p:spPr bwMode="gray">
            <a:xfrm>
              <a:off x="5953125" y="14954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3" y="21"/>
                    <a:pt x="144" y="58"/>
                  </a:cubicBezTo>
                  <a:cubicBezTo>
                    <a:pt x="155" y="95"/>
                    <a:pt x="134" y="133"/>
                    <a:pt x="97" y="144"/>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Freeform 113"/>
            <p:cNvSpPr>
              <a:spLocks/>
            </p:cNvSpPr>
            <p:nvPr/>
          </p:nvSpPr>
          <p:spPr bwMode="gray">
            <a:xfrm>
              <a:off x="6038850" y="14700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4" y="21"/>
                    <a:pt x="144" y="58"/>
                  </a:cubicBezTo>
                  <a:cubicBezTo>
                    <a:pt x="155" y="95"/>
                    <a:pt x="134" y="134"/>
                    <a:pt x="97" y="144"/>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51" name="图片 42" descr="IP电话.png"/>
          <p:cNvPicPr>
            <a:picLocks noChangeAspect="1"/>
          </p:cNvPicPr>
          <p:nvPr/>
        </p:nvPicPr>
        <p:blipFill>
          <a:blip r:embed="rId9" cstate="print"/>
          <a:stretch>
            <a:fillRect/>
          </a:stretch>
        </p:blipFill>
        <p:spPr bwMode="gray">
          <a:xfrm>
            <a:off x="9790758" y="4077841"/>
            <a:ext cx="368791" cy="346698"/>
          </a:xfrm>
          <a:prstGeom prst="rect">
            <a:avLst/>
          </a:prstGeom>
        </p:spPr>
      </p:pic>
      <p:pic>
        <p:nvPicPr>
          <p:cNvPr id="152" name="图片 151" descr="PC.png">
            <a:extLst>
              <a:ext uri="{FF2B5EF4-FFF2-40B4-BE49-F238E27FC236}">
                <a16:creationId xmlns:a16="http://schemas.microsoft.com/office/drawing/2014/main" id="{4666702E-823D-4236-BF2F-880359158C83}"/>
              </a:ext>
            </a:extLst>
          </p:cNvPr>
          <p:cNvPicPr>
            <a:picLocks noChangeAspect="1"/>
          </p:cNvPicPr>
          <p:nvPr/>
        </p:nvPicPr>
        <p:blipFill>
          <a:blip r:embed="rId10" cstate="print"/>
          <a:stretch>
            <a:fillRect/>
          </a:stretch>
        </p:blipFill>
        <p:spPr bwMode="gray">
          <a:xfrm>
            <a:off x="10525333" y="4080116"/>
            <a:ext cx="445506" cy="342149"/>
          </a:xfrm>
          <a:prstGeom prst="rect">
            <a:avLst/>
          </a:prstGeom>
        </p:spPr>
      </p:pic>
    </p:spTree>
    <p:extLst>
      <p:ext uri="{BB962C8B-B14F-4D97-AF65-F5344CB8AC3E}">
        <p14:creationId xmlns:p14="http://schemas.microsoft.com/office/powerpoint/2010/main" val="2051150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bwMode="auto">
          <a:xfrm>
            <a:off x="6190123" y="1091909"/>
            <a:ext cx="1315352" cy="357479"/>
          </a:xfrm>
          <a:prstGeom prst="roundRect">
            <a:avLst/>
          </a:prstGeom>
          <a:solidFill>
            <a:srgbClr val="56C4D2"/>
          </a:solidFill>
        </p:spPr>
        <p:txBody>
          <a:bodyPr wrap="none" anchor="ctr" anchorCtr="0">
            <a:noAutofit/>
          </a:bodyPr>
          <a:lstStyle/>
          <a:p>
            <a:pPr algn="ct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被动指纹识别</a:t>
            </a:r>
          </a:p>
        </p:txBody>
      </p:sp>
      <p:sp>
        <p:nvSpPr>
          <p:cNvPr id="489" name="圆角矩形 488"/>
          <p:cNvSpPr/>
          <p:nvPr/>
        </p:nvSpPr>
        <p:spPr bwMode="auto">
          <a:xfrm>
            <a:off x="453250" y="1091909"/>
            <a:ext cx="1300828" cy="357479"/>
          </a:xfrm>
          <a:prstGeom prst="roundRect">
            <a:avLst/>
          </a:prstGeom>
          <a:solidFill>
            <a:srgbClr val="56C4D2"/>
          </a:solidFill>
        </p:spPr>
        <p:txBody>
          <a:bodyPr wrap="none" anchor="ctr" anchorCtr="0">
            <a:noAutofit/>
          </a:bodyPr>
          <a:lstStyle/>
          <a:p>
            <a:pPr algn="ct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主动扫描识别</a:t>
            </a:r>
            <a:endParaRPr 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auto"/>
        <p:txBody>
          <a:bodyPr>
            <a:normAutofit/>
          </a:bodyPr>
          <a:lstStyle/>
          <a:p>
            <a:r>
              <a:rPr lang="zh-CN" altLang="en-US" dirty="0">
                <a:sym typeface="Huawei Sans" panose="020C0503030203020204" pitchFamily="34" charset="0"/>
              </a:rPr>
              <a:t>终端识别方式</a:t>
            </a:r>
          </a:p>
        </p:txBody>
      </p:sp>
      <p:sp>
        <p:nvSpPr>
          <p:cNvPr id="4" name="圆角矩形 3"/>
          <p:cNvSpPr/>
          <p:nvPr/>
        </p:nvSpPr>
        <p:spPr bwMode="gray">
          <a:xfrm>
            <a:off x="442913" y="4498729"/>
            <a:ext cx="11263842" cy="1616674"/>
          </a:xfrm>
          <a:prstGeom prst="roundRect">
            <a:avLst>
              <a:gd name="adj" fmla="val 3373"/>
            </a:avLst>
          </a:prstGeom>
          <a:ln>
            <a:solidFill>
              <a:schemeClr val="bg1">
                <a:lumMod val="75000"/>
              </a:schemeClr>
            </a:solidFill>
          </a:ln>
        </p:spPr>
        <p:txBody>
          <a:bodyPr wrap="square">
            <a:noAutofit/>
          </a:bodyPr>
          <a:lstStyle/>
          <a:p>
            <a:pPr marL="176213" indent="-176213">
              <a:lnSpc>
                <a:spcPts val="2400"/>
              </a:lnSpc>
              <a:spcAft>
                <a:spcPts val="600"/>
              </a:spcAft>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终端可视化：</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终端类型统计（厂商、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）、终端与接入端口关系、接入策略查看（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、认证方式）、报表导出。</a:t>
            </a:r>
          </a:p>
          <a:p>
            <a:pPr marL="176213" indent="-176213">
              <a:lnSpc>
                <a:spcPts val="2400"/>
              </a:lnSpc>
              <a:spcAft>
                <a:spcPts val="600"/>
              </a:spcAft>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终端策略自动化：</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558800" lvl="1" indent="-285750">
              <a:lnSpc>
                <a:spcPts val="2400"/>
              </a:lnSpc>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支持终端自动准入，根据终端类型进行准入，实现哑终端自动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a:t>
            </a:r>
          </a:p>
          <a:p>
            <a:pPr marL="558800" lvl="1" indent="-285750">
              <a:lnSpc>
                <a:spcPts val="2400"/>
              </a:lnSpc>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支持基于终端组授权策略（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、安全组、访问权限、</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双栈终端。</a:t>
            </a:r>
          </a:p>
        </p:txBody>
      </p:sp>
      <p:sp>
        <p:nvSpPr>
          <p:cNvPr id="490" name="圆角矩形 489"/>
          <p:cNvSpPr/>
          <p:nvPr/>
        </p:nvSpPr>
        <p:spPr bwMode="gray">
          <a:xfrm>
            <a:off x="446088" y="1084660"/>
            <a:ext cx="5554711" cy="3295403"/>
          </a:xfrm>
          <a:prstGeom prst="roundRect">
            <a:avLst>
              <a:gd name="adj" fmla="val 1831"/>
            </a:avLst>
          </a:prstGeom>
          <a:ln>
            <a:solidFill>
              <a:schemeClr val="bg1">
                <a:lumMod val="75000"/>
              </a:schemeClr>
            </a:solidFill>
          </a:ln>
        </p:spPr>
        <p:txBody>
          <a:bodyPr wrap="square">
            <a:noAutofit/>
          </a:bodyPr>
          <a:lstStyle/>
          <a:p>
            <a:pPr marL="176213" indent="-176213">
              <a:lnSpc>
                <a:spcPts val="2400"/>
              </a:lnSpc>
              <a:spcAft>
                <a:spcPts val="600"/>
              </a:spcAft>
              <a:buFont typeface="Arial" panose="020B0604020202020204" pitchFamily="34" charset="0"/>
              <a:buChar char="•"/>
            </a:pP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1" name="圆角矩形 490"/>
          <p:cNvSpPr/>
          <p:nvPr/>
        </p:nvSpPr>
        <p:spPr bwMode="gray">
          <a:xfrm>
            <a:off x="6188592" y="1084660"/>
            <a:ext cx="5523984" cy="3295403"/>
          </a:xfrm>
          <a:prstGeom prst="roundRect">
            <a:avLst>
              <a:gd name="adj" fmla="val 1318"/>
            </a:avLst>
          </a:prstGeom>
          <a:ln>
            <a:solidFill>
              <a:schemeClr val="bg1">
                <a:lumMod val="75000"/>
              </a:schemeClr>
            </a:solidFill>
          </a:ln>
        </p:spPr>
        <p:txBody>
          <a:bodyPr wrap="square">
            <a:noAutofit/>
          </a:bodyPr>
          <a:lstStyle/>
          <a:p>
            <a:pPr marL="176213" indent="-176213">
              <a:lnSpc>
                <a:spcPts val="2400"/>
              </a:lnSpc>
              <a:spcAft>
                <a:spcPts val="600"/>
              </a:spcAft>
              <a:buFont typeface="Arial" panose="020B0604020202020204" pitchFamily="34" charset="0"/>
              <a:buChar char="•"/>
            </a:pP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4" name="图片 8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2197960" y="1833012"/>
            <a:ext cx="1466798" cy="270516"/>
          </a:xfrm>
          <a:prstGeom prst="rect">
            <a:avLst/>
          </a:prstGeom>
        </p:spPr>
      </p:pic>
      <p:pic>
        <p:nvPicPr>
          <p:cNvPr id="86" name="图片 42" descr="IP电话.png"/>
          <p:cNvPicPr>
            <a:picLocks noChangeAspect="1"/>
          </p:cNvPicPr>
          <p:nvPr/>
        </p:nvPicPr>
        <p:blipFill>
          <a:blip r:embed="rId4" cstate="print"/>
          <a:stretch>
            <a:fillRect/>
          </a:stretch>
        </p:blipFill>
        <p:spPr bwMode="auto">
          <a:xfrm>
            <a:off x="2150513" y="3809181"/>
            <a:ext cx="441200" cy="414768"/>
          </a:xfrm>
          <a:prstGeom prst="rect">
            <a:avLst/>
          </a:prstGeom>
        </p:spPr>
      </p:pic>
      <p:grpSp>
        <p:nvGrpSpPr>
          <p:cNvPr id="87" name="组合 362"/>
          <p:cNvGrpSpPr>
            <a:grpSpLocks/>
          </p:cNvGrpSpPr>
          <p:nvPr/>
        </p:nvGrpSpPr>
        <p:grpSpPr bwMode="auto">
          <a:xfrm>
            <a:off x="5328240" y="1801693"/>
            <a:ext cx="390007" cy="390007"/>
            <a:chOff x="373063" y="2114551"/>
            <a:chExt cx="1114425" cy="1116013"/>
          </a:xfrm>
        </p:grpSpPr>
        <p:sp>
          <p:nvSpPr>
            <p:cNvPr id="88" name="Freeform 84"/>
            <p:cNvSpPr>
              <a:spLocks/>
            </p:cNvSpPr>
            <p:nvPr/>
          </p:nvSpPr>
          <p:spPr bwMode="auto">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9" name="组合 341"/>
            <p:cNvGrpSpPr>
              <a:grpSpLocks/>
            </p:cNvGrpSpPr>
            <p:nvPr/>
          </p:nvGrpSpPr>
          <p:grpSpPr bwMode="auto">
            <a:xfrm>
              <a:off x="649288" y="2289176"/>
              <a:ext cx="561975" cy="769938"/>
              <a:chOff x="649288" y="2289176"/>
              <a:chExt cx="561975" cy="769938"/>
            </a:xfrm>
          </p:grpSpPr>
          <p:sp>
            <p:nvSpPr>
              <p:cNvPr id="90" name="Freeform 85"/>
              <p:cNvSpPr>
                <a:spLocks noEditPoints="1"/>
              </p:cNvSpPr>
              <p:nvPr/>
            </p:nvSpPr>
            <p:spPr bwMode="auto">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Freeform 86"/>
              <p:cNvSpPr>
                <a:spLocks/>
              </p:cNvSpPr>
              <p:nvPr/>
            </p:nvSpPr>
            <p:spPr bwMode="auto">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87"/>
              <p:cNvSpPr>
                <a:spLocks/>
              </p:cNvSpPr>
              <p:nvPr/>
            </p:nvSpPr>
            <p:spPr bwMode="auto">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88"/>
              <p:cNvSpPr>
                <a:spLocks/>
              </p:cNvSpPr>
              <p:nvPr/>
            </p:nvSpPr>
            <p:spPr bwMode="auto">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Freeform 89"/>
              <p:cNvSpPr>
                <a:spLocks/>
              </p:cNvSpPr>
              <p:nvPr/>
            </p:nvSpPr>
            <p:spPr bwMode="auto">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90"/>
              <p:cNvSpPr>
                <a:spLocks/>
              </p:cNvSpPr>
              <p:nvPr/>
            </p:nvSpPr>
            <p:spPr bwMode="auto">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96" name="Group 165"/>
          <p:cNvGrpSpPr/>
          <p:nvPr/>
        </p:nvGrpSpPr>
        <p:grpSpPr bwMode="auto">
          <a:xfrm rot="5400000">
            <a:off x="900077" y="2612927"/>
            <a:ext cx="1754374" cy="746496"/>
            <a:chOff x="-1233037" y="914446"/>
            <a:chExt cx="1573823" cy="778776"/>
          </a:xfrm>
        </p:grpSpPr>
        <p:cxnSp>
          <p:nvCxnSpPr>
            <p:cNvPr id="97" name="Straight Connector 166"/>
            <p:cNvCxnSpPr/>
            <p:nvPr/>
          </p:nvCxnSpPr>
          <p:spPr bwMode="auto">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167"/>
            <p:cNvCxnSpPr/>
            <p:nvPr/>
          </p:nvCxnSpPr>
          <p:spPr bwMode="auto">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99" name="图片 76" descr="接入交换机.png"/>
          <p:cNvPicPr>
            <a:picLocks noChangeAspect="1"/>
          </p:cNvPicPr>
          <p:nvPr/>
        </p:nvPicPr>
        <p:blipFill>
          <a:blip r:embed="rId5" cstate="print"/>
          <a:stretch>
            <a:fillRect/>
          </a:stretch>
        </p:blipFill>
        <p:spPr bwMode="auto">
          <a:xfrm>
            <a:off x="1167981" y="2804991"/>
            <a:ext cx="420772" cy="344268"/>
          </a:xfrm>
          <a:prstGeom prst="rect">
            <a:avLst/>
          </a:prstGeom>
        </p:spPr>
      </p:pic>
      <p:sp>
        <p:nvSpPr>
          <p:cNvPr id="5" name="文本框 4"/>
          <p:cNvSpPr txBox="1"/>
          <p:nvPr/>
        </p:nvSpPr>
        <p:spPr bwMode="auto">
          <a:xfrm>
            <a:off x="2268250" y="2476779"/>
            <a:ext cx="708389" cy="523220"/>
          </a:xfrm>
          <a:prstGeom prst="rect">
            <a:avLst/>
          </a:prstGeom>
          <a:noFill/>
        </p:spPr>
        <p:txBody>
          <a:bodyPr wrap="square" rtlCol="0">
            <a:spAutoFit/>
          </a:bodyPr>
          <a:lstStyle/>
          <a:p>
            <a:r>
              <a:rPr lang="zh-CN" altLang="en-US" sz="140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扫描探测</a:t>
            </a:r>
          </a:p>
        </p:txBody>
      </p:sp>
      <p:sp>
        <p:nvSpPr>
          <p:cNvPr id="105" name="文本框 104"/>
          <p:cNvSpPr txBox="1"/>
          <p:nvPr/>
        </p:nvSpPr>
        <p:spPr bwMode="auto">
          <a:xfrm>
            <a:off x="3052523" y="3216437"/>
            <a:ext cx="950500" cy="307777"/>
          </a:xfrm>
          <a:prstGeom prst="rect">
            <a:avLst/>
          </a:prstGeom>
          <a:noFill/>
        </p:spPr>
        <p:txBody>
          <a:bodyPr wrap="square" rtlCol="0">
            <a:spAutoFit/>
          </a:bodyPr>
          <a:lstStyle/>
          <a:p>
            <a:r>
              <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反馈信息</a:t>
            </a:r>
          </a:p>
        </p:txBody>
      </p:sp>
      <p:cxnSp>
        <p:nvCxnSpPr>
          <p:cNvPr id="7" name="直接箭头连接符 6"/>
          <p:cNvCxnSpPr/>
          <p:nvPr/>
        </p:nvCxnSpPr>
        <p:spPr bwMode="auto">
          <a:xfrm>
            <a:off x="2201671" y="2327500"/>
            <a:ext cx="0" cy="1379269"/>
          </a:xfrm>
          <a:prstGeom prst="straightConnector1">
            <a:avLst/>
          </a:prstGeom>
          <a:ln w="19050">
            <a:solidFill>
              <a:srgbClr val="56C4D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2" name="Oval 4"/>
          <p:cNvSpPr>
            <a:spLocks noChangeAspect="1"/>
          </p:cNvSpPr>
          <p:nvPr/>
        </p:nvSpPr>
        <p:spPr bwMode="auto">
          <a:xfrm>
            <a:off x="2097539" y="2602313"/>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3" name="直接箭头连接符 112"/>
          <p:cNvCxnSpPr/>
          <p:nvPr/>
        </p:nvCxnSpPr>
        <p:spPr bwMode="auto">
          <a:xfrm>
            <a:off x="2976639" y="2327500"/>
            <a:ext cx="0" cy="1379269"/>
          </a:xfrm>
          <a:prstGeom prst="straightConnector1">
            <a:avLst/>
          </a:prstGeom>
          <a:ln w="19050">
            <a:solidFill>
              <a:srgbClr val="56C4D2"/>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114" name="Oval 4"/>
          <p:cNvSpPr>
            <a:spLocks noChangeAspect="1"/>
          </p:cNvSpPr>
          <p:nvPr/>
        </p:nvSpPr>
        <p:spPr bwMode="auto">
          <a:xfrm>
            <a:off x="2871985" y="3263541"/>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任意多边形 117"/>
          <p:cNvSpPr/>
          <p:nvPr/>
        </p:nvSpPr>
        <p:spPr bwMode="auto">
          <a:xfrm>
            <a:off x="1364351" y="1812158"/>
            <a:ext cx="774446" cy="924173"/>
          </a:xfrm>
          <a:custGeom>
            <a:avLst/>
            <a:gdLst>
              <a:gd name="connsiteX0" fmla="*/ 0 w 3365427"/>
              <a:gd name="connsiteY0" fmla="*/ 793846 h 793846"/>
              <a:gd name="connsiteX1" fmla="*/ 3365427 w 3365427"/>
              <a:gd name="connsiteY1" fmla="*/ 785536 h 793846"/>
              <a:gd name="connsiteX0" fmla="*/ 0 w 3340108"/>
              <a:gd name="connsiteY0" fmla="*/ 1202678 h 1202678"/>
              <a:gd name="connsiteX1" fmla="*/ 3340108 w 3340108"/>
              <a:gd name="connsiteY1" fmla="*/ 548197 h 1202678"/>
              <a:gd name="connsiteX0" fmla="*/ 0 w 3340108"/>
              <a:gd name="connsiteY0" fmla="*/ 712209 h 712209"/>
              <a:gd name="connsiteX1" fmla="*/ 3340108 w 3340108"/>
              <a:gd name="connsiteY1" fmla="*/ 57728 h 712209"/>
              <a:gd name="connsiteX0" fmla="*/ 15051 w 2013335"/>
              <a:gd name="connsiteY0" fmla="*/ 567849 h 567849"/>
              <a:gd name="connsiteX1" fmla="*/ 2013335 w 2013335"/>
              <a:gd name="connsiteY1" fmla="*/ 183519 h 567849"/>
              <a:gd name="connsiteX0" fmla="*/ 59912 w 2058196"/>
              <a:gd name="connsiteY0" fmla="*/ 386630 h 386630"/>
              <a:gd name="connsiteX1" fmla="*/ 2058196 w 2058196"/>
              <a:gd name="connsiteY1" fmla="*/ 2300 h 386630"/>
              <a:gd name="connsiteX0" fmla="*/ 1 w 2352729"/>
              <a:gd name="connsiteY0" fmla="*/ 397314 h 397314"/>
              <a:gd name="connsiteX1" fmla="*/ 2352729 w 2352729"/>
              <a:gd name="connsiteY1" fmla="*/ 2032 h 397314"/>
              <a:gd name="connsiteX0" fmla="*/ 1 w 2352729"/>
              <a:gd name="connsiteY0" fmla="*/ 410699 h 410699"/>
              <a:gd name="connsiteX1" fmla="*/ 2352729 w 2352729"/>
              <a:gd name="connsiteY1" fmla="*/ 15417 h 410699"/>
              <a:gd name="connsiteX0" fmla="*/ 1 w 2251460"/>
              <a:gd name="connsiteY0" fmla="*/ 387419 h 387419"/>
              <a:gd name="connsiteX1" fmla="*/ 2251460 w 2251460"/>
              <a:gd name="connsiteY1" fmla="*/ 17692 h 387419"/>
            </a:gdLst>
            <a:ahLst/>
            <a:cxnLst>
              <a:cxn ang="0">
                <a:pos x="connsiteX0" y="connsiteY0"/>
              </a:cxn>
              <a:cxn ang="0">
                <a:pos x="connsiteX1" y="connsiteY1"/>
              </a:cxn>
            </a:cxnLst>
            <a:rect l="l" t="t" r="r" b="b"/>
            <a:pathLst>
              <a:path w="2251460" h="387419">
                <a:moveTo>
                  <a:pt x="1" y="387419"/>
                </a:moveTo>
                <a:cubicBezTo>
                  <a:pt x="73125" y="37304"/>
                  <a:pt x="925811" y="-40958"/>
                  <a:pt x="2251460" y="17692"/>
                </a:cubicBezTo>
              </a:path>
            </a:pathLst>
          </a:custGeom>
          <a:ln w="19050">
            <a:solidFill>
              <a:srgbClr val="56C4D2"/>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Oval 4"/>
          <p:cNvSpPr>
            <a:spLocks noChangeAspect="1"/>
          </p:cNvSpPr>
          <p:nvPr/>
        </p:nvSpPr>
        <p:spPr bwMode="auto">
          <a:xfrm>
            <a:off x="1555338" y="1776800"/>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4</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1" name="直接箭头连接符 120"/>
          <p:cNvCxnSpPr/>
          <p:nvPr/>
        </p:nvCxnSpPr>
        <p:spPr bwMode="auto">
          <a:xfrm flipH="1">
            <a:off x="3760913" y="1999747"/>
            <a:ext cx="1532765" cy="0"/>
          </a:xfrm>
          <a:prstGeom prst="straightConnector1">
            <a:avLst/>
          </a:prstGeom>
          <a:ln w="19050">
            <a:solidFill>
              <a:srgbClr val="56C4D2"/>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124" name="Oval 4"/>
          <p:cNvSpPr>
            <a:spLocks noChangeAspect="1"/>
          </p:cNvSpPr>
          <p:nvPr/>
        </p:nvSpPr>
        <p:spPr bwMode="auto">
          <a:xfrm>
            <a:off x="3757734" y="1888226"/>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bwMode="auto">
          <a:xfrm>
            <a:off x="3899238" y="2014145"/>
            <a:ext cx="1320945" cy="307777"/>
          </a:xfrm>
          <a:prstGeom prst="rect">
            <a:avLst/>
          </a:prstGeom>
          <a:noFill/>
        </p:spPr>
        <p:txBody>
          <a:bodyPr wrap="square" rtlCol="0">
            <a:spAutoFit/>
          </a:bodyPr>
          <a:lstStyle/>
          <a:p>
            <a:r>
              <a:rPr lang="zh-CN" altLang="en-US" sz="140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识别结果呈现</a:t>
            </a:r>
          </a:p>
        </p:txBody>
      </p:sp>
      <p:sp>
        <p:nvSpPr>
          <p:cNvPr id="126" name="文本框 125"/>
          <p:cNvSpPr txBox="1"/>
          <p:nvPr/>
        </p:nvSpPr>
        <p:spPr bwMode="auto">
          <a:xfrm>
            <a:off x="5139543" y="2206596"/>
            <a:ext cx="746547" cy="276999"/>
          </a:xfrm>
          <a:prstGeom prst="rect">
            <a:avLst/>
          </a:prstGeom>
          <a:noFill/>
        </p:spPr>
        <p:txBody>
          <a:bodyPr wrap="squar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管理员</a:t>
            </a:r>
          </a:p>
        </p:txBody>
      </p:sp>
      <p:pic>
        <p:nvPicPr>
          <p:cNvPr id="155" name="图片 15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7905309" y="1833012"/>
            <a:ext cx="1466798" cy="270516"/>
          </a:xfrm>
          <a:prstGeom prst="rect">
            <a:avLst/>
          </a:prstGeom>
        </p:spPr>
      </p:pic>
      <p:pic>
        <p:nvPicPr>
          <p:cNvPr id="156" name="图片 42" descr="IP电话.png"/>
          <p:cNvPicPr>
            <a:picLocks noChangeAspect="1"/>
          </p:cNvPicPr>
          <p:nvPr/>
        </p:nvPicPr>
        <p:blipFill>
          <a:blip r:embed="rId4" cstate="print"/>
          <a:stretch>
            <a:fillRect/>
          </a:stretch>
        </p:blipFill>
        <p:spPr bwMode="auto">
          <a:xfrm>
            <a:off x="7857862" y="3809181"/>
            <a:ext cx="441200" cy="414768"/>
          </a:xfrm>
          <a:prstGeom prst="rect">
            <a:avLst/>
          </a:prstGeom>
        </p:spPr>
      </p:pic>
      <p:grpSp>
        <p:nvGrpSpPr>
          <p:cNvPr id="157" name="组合 362"/>
          <p:cNvGrpSpPr>
            <a:grpSpLocks/>
          </p:cNvGrpSpPr>
          <p:nvPr/>
        </p:nvGrpSpPr>
        <p:grpSpPr bwMode="auto">
          <a:xfrm>
            <a:off x="11035589" y="1801693"/>
            <a:ext cx="390007" cy="390007"/>
            <a:chOff x="373063" y="2114551"/>
            <a:chExt cx="1114425" cy="1116013"/>
          </a:xfrm>
        </p:grpSpPr>
        <p:sp>
          <p:nvSpPr>
            <p:cNvPr id="158" name="Freeform 84"/>
            <p:cNvSpPr>
              <a:spLocks/>
            </p:cNvSpPr>
            <p:nvPr/>
          </p:nvSpPr>
          <p:spPr bwMode="auto">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9" name="组合 341"/>
            <p:cNvGrpSpPr>
              <a:grpSpLocks/>
            </p:cNvGrpSpPr>
            <p:nvPr/>
          </p:nvGrpSpPr>
          <p:grpSpPr bwMode="auto">
            <a:xfrm>
              <a:off x="649288" y="2289176"/>
              <a:ext cx="561975" cy="769938"/>
              <a:chOff x="649288" y="2289176"/>
              <a:chExt cx="561975" cy="769938"/>
            </a:xfrm>
          </p:grpSpPr>
          <p:sp>
            <p:nvSpPr>
              <p:cNvPr id="160" name="Freeform 85"/>
              <p:cNvSpPr>
                <a:spLocks noEditPoints="1"/>
              </p:cNvSpPr>
              <p:nvPr/>
            </p:nvSpPr>
            <p:spPr bwMode="auto">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Freeform 86"/>
              <p:cNvSpPr>
                <a:spLocks/>
              </p:cNvSpPr>
              <p:nvPr/>
            </p:nvSpPr>
            <p:spPr bwMode="auto">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Freeform 87"/>
              <p:cNvSpPr>
                <a:spLocks/>
              </p:cNvSpPr>
              <p:nvPr/>
            </p:nvSpPr>
            <p:spPr bwMode="auto">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Freeform 88"/>
              <p:cNvSpPr>
                <a:spLocks/>
              </p:cNvSpPr>
              <p:nvPr/>
            </p:nvSpPr>
            <p:spPr bwMode="auto">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Freeform 89"/>
              <p:cNvSpPr>
                <a:spLocks/>
              </p:cNvSpPr>
              <p:nvPr/>
            </p:nvSpPr>
            <p:spPr bwMode="auto">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Freeform 90"/>
              <p:cNvSpPr>
                <a:spLocks/>
              </p:cNvSpPr>
              <p:nvPr/>
            </p:nvSpPr>
            <p:spPr bwMode="auto">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66" name="Group 165"/>
          <p:cNvGrpSpPr/>
          <p:nvPr/>
        </p:nvGrpSpPr>
        <p:grpSpPr bwMode="auto">
          <a:xfrm rot="5400000">
            <a:off x="6607426" y="2612927"/>
            <a:ext cx="1754374" cy="746496"/>
            <a:chOff x="-1233037" y="914446"/>
            <a:chExt cx="1573823" cy="778776"/>
          </a:xfrm>
        </p:grpSpPr>
        <p:cxnSp>
          <p:nvCxnSpPr>
            <p:cNvPr id="167" name="Straight Connector 166"/>
            <p:cNvCxnSpPr/>
            <p:nvPr/>
          </p:nvCxnSpPr>
          <p:spPr bwMode="auto">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auto">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69" name="图片 76" descr="接入交换机.png"/>
          <p:cNvPicPr>
            <a:picLocks noChangeAspect="1"/>
          </p:cNvPicPr>
          <p:nvPr/>
        </p:nvPicPr>
        <p:blipFill>
          <a:blip r:embed="rId5" cstate="print"/>
          <a:stretch>
            <a:fillRect/>
          </a:stretch>
        </p:blipFill>
        <p:spPr bwMode="auto">
          <a:xfrm>
            <a:off x="6875330" y="2804991"/>
            <a:ext cx="420772" cy="344268"/>
          </a:xfrm>
          <a:prstGeom prst="rect">
            <a:avLst/>
          </a:prstGeom>
        </p:spPr>
      </p:pic>
      <p:sp>
        <p:nvSpPr>
          <p:cNvPr id="176" name="任意多边形 175"/>
          <p:cNvSpPr/>
          <p:nvPr/>
        </p:nvSpPr>
        <p:spPr bwMode="auto">
          <a:xfrm>
            <a:off x="7071700" y="1804525"/>
            <a:ext cx="867579" cy="931806"/>
          </a:xfrm>
          <a:custGeom>
            <a:avLst/>
            <a:gdLst>
              <a:gd name="connsiteX0" fmla="*/ 0 w 3365427"/>
              <a:gd name="connsiteY0" fmla="*/ 793846 h 793846"/>
              <a:gd name="connsiteX1" fmla="*/ 3365427 w 3365427"/>
              <a:gd name="connsiteY1" fmla="*/ 785536 h 793846"/>
              <a:gd name="connsiteX0" fmla="*/ 0 w 3340108"/>
              <a:gd name="connsiteY0" fmla="*/ 1202678 h 1202678"/>
              <a:gd name="connsiteX1" fmla="*/ 3340108 w 3340108"/>
              <a:gd name="connsiteY1" fmla="*/ 548197 h 1202678"/>
              <a:gd name="connsiteX0" fmla="*/ 0 w 3340108"/>
              <a:gd name="connsiteY0" fmla="*/ 712209 h 712209"/>
              <a:gd name="connsiteX1" fmla="*/ 3340108 w 3340108"/>
              <a:gd name="connsiteY1" fmla="*/ 57728 h 712209"/>
              <a:gd name="connsiteX0" fmla="*/ 15051 w 2013335"/>
              <a:gd name="connsiteY0" fmla="*/ 567849 h 567849"/>
              <a:gd name="connsiteX1" fmla="*/ 2013335 w 2013335"/>
              <a:gd name="connsiteY1" fmla="*/ 183519 h 567849"/>
              <a:gd name="connsiteX0" fmla="*/ 59912 w 2058196"/>
              <a:gd name="connsiteY0" fmla="*/ 386630 h 386630"/>
              <a:gd name="connsiteX1" fmla="*/ 2058196 w 2058196"/>
              <a:gd name="connsiteY1" fmla="*/ 2300 h 386630"/>
              <a:gd name="connsiteX0" fmla="*/ 1 w 2352729"/>
              <a:gd name="connsiteY0" fmla="*/ 397314 h 397314"/>
              <a:gd name="connsiteX1" fmla="*/ 2352729 w 2352729"/>
              <a:gd name="connsiteY1" fmla="*/ 2032 h 397314"/>
              <a:gd name="connsiteX0" fmla="*/ 1 w 2352729"/>
              <a:gd name="connsiteY0" fmla="*/ 410699 h 410699"/>
              <a:gd name="connsiteX1" fmla="*/ 2352729 w 2352729"/>
              <a:gd name="connsiteY1" fmla="*/ 15417 h 410699"/>
              <a:gd name="connsiteX0" fmla="*/ 1 w 2251460"/>
              <a:gd name="connsiteY0" fmla="*/ 387419 h 387419"/>
              <a:gd name="connsiteX1" fmla="*/ 2251460 w 2251460"/>
              <a:gd name="connsiteY1" fmla="*/ 17692 h 387419"/>
              <a:gd name="connsiteX0" fmla="*/ 1 w 2522215"/>
              <a:gd name="connsiteY0" fmla="*/ 390619 h 390619"/>
              <a:gd name="connsiteX1" fmla="*/ 2522215 w 2522215"/>
              <a:gd name="connsiteY1" fmla="*/ 17343 h 390619"/>
            </a:gdLst>
            <a:ahLst/>
            <a:cxnLst>
              <a:cxn ang="0">
                <a:pos x="connsiteX0" y="connsiteY0"/>
              </a:cxn>
              <a:cxn ang="0">
                <a:pos x="connsiteX1" y="connsiteY1"/>
              </a:cxn>
            </a:cxnLst>
            <a:rect l="l" t="t" r="r" b="b"/>
            <a:pathLst>
              <a:path w="2522215" h="390619">
                <a:moveTo>
                  <a:pt x="1" y="390619"/>
                </a:moveTo>
                <a:cubicBezTo>
                  <a:pt x="73125" y="40504"/>
                  <a:pt x="1196566" y="-41307"/>
                  <a:pt x="2522215" y="17343"/>
                </a:cubicBezTo>
              </a:path>
            </a:pathLst>
          </a:custGeom>
          <a:ln w="19050">
            <a:solidFill>
              <a:srgbClr val="56C4D2"/>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Oval 4"/>
          <p:cNvSpPr>
            <a:spLocks noChangeAspect="1"/>
          </p:cNvSpPr>
          <p:nvPr/>
        </p:nvSpPr>
        <p:spPr bwMode="auto">
          <a:xfrm>
            <a:off x="7236556" y="1845505"/>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6</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8" name="文本框 177"/>
          <p:cNvSpPr txBox="1"/>
          <p:nvPr/>
        </p:nvSpPr>
        <p:spPr bwMode="auto">
          <a:xfrm>
            <a:off x="6324507" y="1773602"/>
            <a:ext cx="932307" cy="307777"/>
          </a:xfrm>
          <a:prstGeom prst="rect">
            <a:avLst/>
          </a:prstGeom>
          <a:noFill/>
        </p:spPr>
        <p:txBody>
          <a:bodyPr wrap="square" rtlCol="0">
            <a:spAutoFit/>
          </a:bodyPr>
          <a:lstStyle/>
          <a:p>
            <a:r>
              <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策略下发</a:t>
            </a:r>
          </a:p>
        </p:txBody>
      </p:sp>
      <p:cxnSp>
        <p:nvCxnSpPr>
          <p:cNvPr id="179" name="直接箭头连接符 178"/>
          <p:cNvCxnSpPr/>
          <p:nvPr/>
        </p:nvCxnSpPr>
        <p:spPr bwMode="auto">
          <a:xfrm flipH="1">
            <a:off x="9468262" y="1999747"/>
            <a:ext cx="1532765" cy="0"/>
          </a:xfrm>
          <a:prstGeom prst="straightConnector1">
            <a:avLst/>
          </a:prstGeom>
          <a:ln w="19050">
            <a:solidFill>
              <a:srgbClr val="56C4D2"/>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180" name="Oval 4"/>
          <p:cNvSpPr>
            <a:spLocks noChangeAspect="1"/>
          </p:cNvSpPr>
          <p:nvPr/>
        </p:nvSpPr>
        <p:spPr bwMode="auto">
          <a:xfrm>
            <a:off x="9465083" y="1888226"/>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5</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1" name="文本框 180"/>
          <p:cNvSpPr txBox="1"/>
          <p:nvPr/>
        </p:nvSpPr>
        <p:spPr bwMode="auto">
          <a:xfrm>
            <a:off x="9606587" y="2019723"/>
            <a:ext cx="1320945" cy="307777"/>
          </a:xfrm>
          <a:prstGeom prst="rect">
            <a:avLst/>
          </a:prstGeom>
          <a:noFill/>
        </p:spPr>
        <p:txBody>
          <a:bodyPr wrap="square" rtlCol="0">
            <a:spAutoFit/>
          </a:bodyPr>
          <a:lstStyle/>
          <a:p>
            <a:r>
              <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识别结果呈现</a:t>
            </a:r>
          </a:p>
        </p:txBody>
      </p:sp>
      <p:sp>
        <p:nvSpPr>
          <p:cNvPr id="182" name="文本框 181"/>
          <p:cNvSpPr txBox="1"/>
          <p:nvPr/>
        </p:nvSpPr>
        <p:spPr bwMode="auto">
          <a:xfrm>
            <a:off x="10846892" y="2206596"/>
            <a:ext cx="746547" cy="276999"/>
          </a:xfrm>
          <a:prstGeom prst="rect">
            <a:avLst/>
          </a:prstGeom>
          <a:noFill/>
        </p:spPr>
        <p:txBody>
          <a:bodyPr wrap="squar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管理员</a:t>
            </a:r>
          </a:p>
        </p:txBody>
      </p:sp>
      <p:cxnSp>
        <p:nvCxnSpPr>
          <p:cNvPr id="183" name="直接箭头连接符 182"/>
          <p:cNvCxnSpPr/>
          <p:nvPr/>
        </p:nvCxnSpPr>
        <p:spPr bwMode="auto">
          <a:xfrm>
            <a:off x="7111365" y="3263541"/>
            <a:ext cx="592523" cy="689634"/>
          </a:xfrm>
          <a:prstGeom prst="straightConnector1">
            <a:avLst/>
          </a:prstGeom>
          <a:ln w="19050">
            <a:solidFill>
              <a:srgbClr val="56C4D2"/>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185" name="Oval 4"/>
          <p:cNvSpPr>
            <a:spLocks noChangeAspect="1"/>
          </p:cNvSpPr>
          <p:nvPr/>
        </p:nvSpPr>
        <p:spPr bwMode="auto">
          <a:xfrm>
            <a:off x="7562512" y="3805086"/>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6" name="文本框 185"/>
          <p:cNvSpPr txBox="1"/>
          <p:nvPr/>
        </p:nvSpPr>
        <p:spPr bwMode="auto">
          <a:xfrm>
            <a:off x="6677982" y="3748029"/>
            <a:ext cx="913479" cy="307777"/>
          </a:xfrm>
          <a:prstGeom prst="rect">
            <a:avLst/>
          </a:prstGeom>
          <a:noFill/>
        </p:spPr>
        <p:txBody>
          <a:bodyPr wrap="square" rtlCol="0">
            <a:spAutoFit/>
          </a:bodyPr>
          <a:lstStyle/>
          <a:p>
            <a:r>
              <a:rPr lang="zh-CN" altLang="en-US" sz="140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终端流量</a:t>
            </a:r>
          </a:p>
        </p:txBody>
      </p:sp>
      <p:sp>
        <p:nvSpPr>
          <p:cNvPr id="187" name="文本框 186"/>
          <p:cNvSpPr txBox="1"/>
          <p:nvPr/>
        </p:nvSpPr>
        <p:spPr bwMode="auto">
          <a:xfrm>
            <a:off x="6224478" y="2887649"/>
            <a:ext cx="655659" cy="523220"/>
          </a:xfrm>
          <a:prstGeom prst="rect">
            <a:avLst/>
          </a:prstGeom>
          <a:noFill/>
        </p:spPr>
        <p:txBody>
          <a:bodyPr wrap="square" rtlCol="0">
            <a:spAutoFit/>
          </a:bodyPr>
          <a:lstStyle/>
          <a:p>
            <a:r>
              <a:rPr lang="zh-CN" altLang="en-US" sz="140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指纹采集</a:t>
            </a:r>
          </a:p>
        </p:txBody>
      </p:sp>
      <p:sp>
        <p:nvSpPr>
          <p:cNvPr id="188" name="Oval 4"/>
          <p:cNvSpPr>
            <a:spLocks noChangeAspect="1"/>
          </p:cNvSpPr>
          <p:nvPr/>
        </p:nvSpPr>
        <p:spPr bwMode="auto">
          <a:xfrm>
            <a:off x="6740100" y="3036420"/>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0" name="任意多边形 189"/>
          <p:cNvSpPr/>
          <p:nvPr/>
        </p:nvSpPr>
        <p:spPr bwMode="auto">
          <a:xfrm flipH="1" flipV="1">
            <a:off x="7337652" y="2137912"/>
            <a:ext cx="1035009" cy="873909"/>
          </a:xfrm>
          <a:custGeom>
            <a:avLst/>
            <a:gdLst>
              <a:gd name="connsiteX0" fmla="*/ 0 w 3365427"/>
              <a:gd name="connsiteY0" fmla="*/ 793846 h 793846"/>
              <a:gd name="connsiteX1" fmla="*/ 3365427 w 3365427"/>
              <a:gd name="connsiteY1" fmla="*/ 785536 h 793846"/>
              <a:gd name="connsiteX0" fmla="*/ 0 w 3340108"/>
              <a:gd name="connsiteY0" fmla="*/ 1202678 h 1202678"/>
              <a:gd name="connsiteX1" fmla="*/ 3340108 w 3340108"/>
              <a:gd name="connsiteY1" fmla="*/ 548197 h 1202678"/>
              <a:gd name="connsiteX0" fmla="*/ 0 w 3340108"/>
              <a:gd name="connsiteY0" fmla="*/ 712209 h 712209"/>
              <a:gd name="connsiteX1" fmla="*/ 3340108 w 3340108"/>
              <a:gd name="connsiteY1" fmla="*/ 57728 h 712209"/>
              <a:gd name="connsiteX0" fmla="*/ 15051 w 2013335"/>
              <a:gd name="connsiteY0" fmla="*/ 567849 h 567849"/>
              <a:gd name="connsiteX1" fmla="*/ 2013335 w 2013335"/>
              <a:gd name="connsiteY1" fmla="*/ 183519 h 567849"/>
              <a:gd name="connsiteX0" fmla="*/ 59912 w 2058196"/>
              <a:gd name="connsiteY0" fmla="*/ 386630 h 386630"/>
              <a:gd name="connsiteX1" fmla="*/ 2058196 w 2058196"/>
              <a:gd name="connsiteY1" fmla="*/ 2300 h 386630"/>
              <a:gd name="connsiteX0" fmla="*/ 1 w 2352729"/>
              <a:gd name="connsiteY0" fmla="*/ 397314 h 397314"/>
              <a:gd name="connsiteX1" fmla="*/ 2352729 w 2352729"/>
              <a:gd name="connsiteY1" fmla="*/ 2032 h 397314"/>
              <a:gd name="connsiteX0" fmla="*/ 1 w 2352729"/>
              <a:gd name="connsiteY0" fmla="*/ 410699 h 410699"/>
              <a:gd name="connsiteX1" fmla="*/ 2352729 w 2352729"/>
              <a:gd name="connsiteY1" fmla="*/ 15417 h 410699"/>
              <a:gd name="connsiteX0" fmla="*/ 1 w 2251460"/>
              <a:gd name="connsiteY0" fmla="*/ 387419 h 387419"/>
              <a:gd name="connsiteX1" fmla="*/ 2251460 w 2251460"/>
              <a:gd name="connsiteY1" fmla="*/ 17692 h 387419"/>
              <a:gd name="connsiteX0" fmla="*/ 0 w 1790168"/>
              <a:gd name="connsiteY0" fmla="*/ 567962 h 567962"/>
              <a:gd name="connsiteX1" fmla="*/ 1790168 w 1790168"/>
              <a:gd name="connsiteY1" fmla="*/ 8075 h 567962"/>
              <a:gd name="connsiteX0" fmla="*/ 0 w 1804147"/>
              <a:gd name="connsiteY0" fmla="*/ 620318 h 620318"/>
              <a:gd name="connsiteX1" fmla="*/ 1804147 w 1804147"/>
              <a:gd name="connsiteY1" fmla="*/ 6949 h 620318"/>
              <a:gd name="connsiteX0" fmla="*/ 0 w 1804147"/>
              <a:gd name="connsiteY0" fmla="*/ 614108 h 614108"/>
              <a:gd name="connsiteX1" fmla="*/ 1804147 w 1804147"/>
              <a:gd name="connsiteY1" fmla="*/ 739 h 614108"/>
              <a:gd name="connsiteX0" fmla="*/ 0 w 1804147"/>
              <a:gd name="connsiteY0" fmla="*/ 613369 h 613369"/>
              <a:gd name="connsiteX1" fmla="*/ 1804147 w 1804147"/>
              <a:gd name="connsiteY1" fmla="*/ 0 h 613369"/>
            </a:gdLst>
            <a:ahLst/>
            <a:cxnLst>
              <a:cxn ang="0">
                <a:pos x="connsiteX0" y="connsiteY0"/>
              </a:cxn>
              <a:cxn ang="0">
                <a:pos x="connsiteX1" y="connsiteY1"/>
              </a:cxn>
            </a:cxnLst>
            <a:rect l="l" t="t" r="r" b="b"/>
            <a:pathLst>
              <a:path w="1804147" h="613369">
                <a:moveTo>
                  <a:pt x="0" y="613369"/>
                </a:moveTo>
                <a:cubicBezTo>
                  <a:pt x="73124" y="263254"/>
                  <a:pt x="548390" y="18602"/>
                  <a:pt x="1804147" y="0"/>
                </a:cubicBezTo>
              </a:path>
            </a:pathLst>
          </a:custGeom>
          <a:ln w="19050">
            <a:solidFill>
              <a:srgbClr val="56C4D2"/>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Oval 4"/>
          <p:cNvSpPr>
            <a:spLocks noChangeAspect="1"/>
          </p:cNvSpPr>
          <p:nvPr/>
        </p:nvSpPr>
        <p:spPr bwMode="auto">
          <a:xfrm>
            <a:off x="7897016" y="2737887"/>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文本框 191"/>
          <p:cNvSpPr txBox="1"/>
          <p:nvPr/>
        </p:nvSpPr>
        <p:spPr bwMode="auto">
          <a:xfrm>
            <a:off x="8102280" y="2683518"/>
            <a:ext cx="897788" cy="307777"/>
          </a:xfrm>
          <a:prstGeom prst="rect">
            <a:avLst/>
          </a:prstGeom>
          <a:noFill/>
        </p:spPr>
        <p:txBody>
          <a:bodyPr wrap="square" rtlCol="0">
            <a:spAutoFit/>
          </a:bodyPr>
          <a:lstStyle/>
          <a:p>
            <a:r>
              <a:rPr lang="zh-CN" altLang="en-US" sz="140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指纹上报</a:t>
            </a:r>
          </a:p>
        </p:txBody>
      </p:sp>
      <p:sp>
        <p:nvSpPr>
          <p:cNvPr id="3" name="任意多边形 2"/>
          <p:cNvSpPr/>
          <p:nvPr/>
        </p:nvSpPr>
        <p:spPr bwMode="auto">
          <a:xfrm>
            <a:off x="8350180" y="1487958"/>
            <a:ext cx="743578" cy="311505"/>
          </a:xfrm>
          <a:custGeom>
            <a:avLst/>
            <a:gdLst>
              <a:gd name="connsiteX0" fmla="*/ 0 w 743578"/>
              <a:gd name="connsiteY0" fmla="*/ 311505 h 311505"/>
              <a:gd name="connsiteX1" fmla="*/ 281354 w 743578"/>
              <a:gd name="connsiteY1" fmla="*/ 6 h 311505"/>
              <a:gd name="connsiteX2" fmla="*/ 743578 w 743578"/>
              <a:gd name="connsiteY2" fmla="*/ 301457 h 311505"/>
            </a:gdLst>
            <a:ahLst/>
            <a:cxnLst>
              <a:cxn ang="0">
                <a:pos x="connsiteX0" y="connsiteY0"/>
              </a:cxn>
              <a:cxn ang="0">
                <a:pos x="connsiteX1" y="connsiteY1"/>
              </a:cxn>
              <a:cxn ang="0">
                <a:pos x="connsiteX2" y="connsiteY2"/>
              </a:cxn>
            </a:cxnLst>
            <a:rect l="l" t="t" r="r" b="b"/>
            <a:pathLst>
              <a:path w="743578" h="311505">
                <a:moveTo>
                  <a:pt x="0" y="311505"/>
                </a:moveTo>
                <a:cubicBezTo>
                  <a:pt x="78712" y="156593"/>
                  <a:pt x="157424" y="1681"/>
                  <a:pt x="281354" y="6"/>
                </a:cubicBezTo>
                <a:cubicBezTo>
                  <a:pt x="405284" y="-1669"/>
                  <a:pt x="743578" y="301457"/>
                  <a:pt x="743578" y="301457"/>
                </a:cubicBezTo>
              </a:path>
            </a:pathLst>
          </a:custGeom>
          <a:ln w="19050">
            <a:solidFill>
              <a:srgbClr val="56C4D2"/>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zh-CN" altLang="en-US">
              <a:latin typeface="Huawei Sans" panose="020C0503030203020204" pitchFamily="34" charset="0"/>
              <a:ea typeface="方正兰亭黑简体" panose="02000000000000000000" pitchFamily="2" charset="-122"/>
            </a:endParaRPr>
          </a:p>
        </p:txBody>
      </p:sp>
      <p:sp>
        <p:nvSpPr>
          <p:cNvPr id="70" name="Oval 4"/>
          <p:cNvSpPr>
            <a:spLocks noChangeAspect="1"/>
          </p:cNvSpPr>
          <p:nvPr/>
        </p:nvSpPr>
        <p:spPr bwMode="auto">
          <a:xfrm>
            <a:off x="8430443" y="1367051"/>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4</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bwMode="auto">
          <a:xfrm>
            <a:off x="8592967" y="1207966"/>
            <a:ext cx="1320945" cy="307777"/>
          </a:xfrm>
          <a:prstGeom prst="rect">
            <a:avLst/>
          </a:prstGeom>
          <a:noFill/>
        </p:spPr>
        <p:txBody>
          <a:bodyPr wrap="square" rtlCol="0">
            <a:spAutoFit/>
          </a:bodyPr>
          <a:lstStyle/>
          <a:p>
            <a:r>
              <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指纹库匹配</a:t>
            </a:r>
          </a:p>
        </p:txBody>
      </p:sp>
      <p:sp>
        <p:nvSpPr>
          <p:cNvPr id="72" name="文本框 71"/>
          <p:cNvSpPr txBox="1"/>
          <p:nvPr/>
        </p:nvSpPr>
        <p:spPr bwMode="auto">
          <a:xfrm>
            <a:off x="638440" y="1705254"/>
            <a:ext cx="932307" cy="307777"/>
          </a:xfrm>
          <a:prstGeom prst="rect">
            <a:avLst/>
          </a:prstGeom>
          <a:noFill/>
        </p:spPr>
        <p:txBody>
          <a:bodyPr wrap="square" rtlCol="0">
            <a:spAutoFit/>
          </a:bodyPr>
          <a:lstStyle/>
          <a:p>
            <a:r>
              <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策略下发</a:t>
            </a:r>
          </a:p>
        </p:txBody>
      </p:sp>
    </p:spTree>
    <p:extLst>
      <p:ext uri="{BB962C8B-B14F-4D97-AF65-F5344CB8AC3E}">
        <p14:creationId xmlns:p14="http://schemas.microsoft.com/office/powerpoint/2010/main" val="977173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Huawei Sans" panose="020C0503030203020204" pitchFamily="34" charset="0"/>
              </a:rPr>
              <a:t>终端识别方法</a:t>
            </a:r>
          </a:p>
        </p:txBody>
      </p:sp>
      <p:sp>
        <p:nvSpPr>
          <p:cNvPr id="3" name="文本占位符 2"/>
          <p:cNvSpPr>
            <a:spLocks noGrp="1"/>
          </p:cNvSpPr>
          <p:nvPr>
            <p:ph type="body" sz="quarter" idx="10"/>
          </p:nvPr>
        </p:nvSpPr>
        <p:spPr>
          <a:xfrm>
            <a:off x="455612" y="1047751"/>
            <a:ext cx="11293475" cy="961919"/>
          </a:xfrm>
        </p:spPr>
        <p:txBody>
          <a:bodyPr/>
          <a:lstStyle/>
          <a:p>
            <a:r>
              <a:rPr lang="en-US" altLang="zh-CN" sz="1800" dirty="0">
                <a:sym typeface="Huawei Sans" panose="020C0503030203020204" pitchFamily="34" charset="0"/>
              </a:rPr>
              <a:t>iMaster NCE-Campus</a:t>
            </a:r>
            <a:r>
              <a:rPr lang="zh-CN" altLang="en-US" sz="1800" dirty="0">
                <a:sym typeface="Huawei Sans" panose="020C0503030203020204" pitchFamily="34" charset="0"/>
              </a:rPr>
              <a:t>的终端管理提供终端识别功能，可呈现终端的类型、操作系统、生产厂商。</a:t>
            </a:r>
          </a:p>
          <a:p>
            <a:r>
              <a:rPr lang="zh-CN" altLang="en-US" sz="1800" dirty="0">
                <a:sym typeface="Huawei Sans" panose="020C0503030203020204" pitchFamily="34" charset="0"/>
              </a:rPr>
              <a:t>终端识别通过下列几种方法实现：</a:t>
            </a:r>
          </a:p>
          <a:p>
            <a:endParaRPr lang="zh-CN" altLang="en-US" sz="1800" dirty="0">
              <a:sym typeface="Huawei Sans" panose="020C0503030203020204" pitchFamily="34"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302167918"/>
              </p:ext>
            </p:extLst>
          </p:nvPr>
        </p:nvGraphicFramePr>
        <p:xfrm>
          <a:off x="640212" y="2028809"/>
          <a:ext cx="10924273" cy="3336640"/>
        </p:xfrm>
        <a:graphic>
          <a:graphicData uri="http://schemas.openxmlformats.org/drawingml/2006/table">
            <a:tbl>
              <a:tblPr firstRow="1" firstCol="1" lastRow="1" lastCol="1" bandRow="1" bandCol="1"/>
              <a:tblGrid>
                <a:gridCol w="1659105">
                  <a:extLst>
                    <a:ext uri="{9D8B030D-6E8A-4147-A177-3AD203B41FA5}">
                      <a16:colId xmlns:a16="http://schemas.microsoft.com/office/drawing/2014/main" val="20000"/>
                    </a:ext>
                  </a:extLst>
                </a:gridCol>
                <a:gridCol w="1659105">
                  <a:extLst>
                    <a:ext uri="{9D8B030D-6E8A-4147-A177-3AD203B41FA5}">
                      <a16:colId xmlns:a16="http://schemas.microsoft.com/office/drawing/2014/main" val="20001"/>
                    </a:ext>
                  </a:extLst>
                </a:gridCol>
                <a:gridCol w="3858028">
                  <a:extLst>
                    <a:ext uri="{9D8B030D-6E8A-4147-A177-3AD203B41FA5}">
                      <a16:colId xmlns:a16="http://schemas.microsoft.com/office/drawing/2014/main" val="20002"/>
                    </a:ext>
                  </a:extLst>
                </a:gridCol>
                <a:gridCol w="3748035">
                  <a:extLst>
                    <a:ext uri="{9D8B030D-6E8A-4147-A177-3AD203B41FA5}">
                      <a16:colId xmlns:a16="http://schemas.microsoft.com/office/drawing/2014/main" val="20003"/>
                    </a:ext>
                  </a:extLst>
                </a:gridCol>
              </a:tblGrid>
              <a:tr h="302720">
                <a:tc>
                  <a:txBody>
                    <a:bodyPr/>
                    <a:lstStyle/>
                    <a:p>
                      <a:pPr algn="ctr">
                        <a:lnSpc>
                          <a:spcPct val="100000"/>
                        </a:lnSpc>
                        <a:spcBef>
                          <a:spcPts val="0"/>
                        </a:spcBef>
                        <a:spcAft>
                          <a:spcPts val="0"/>
                        </a:spcAft>
                      </a:pPr>
                      <a:r>
                        <a:rPr lang="zh-CN" alt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类型</a:t>
                      </a:r>
                      <a:endParaRPr lang="zh-CN" sz="1400" b="1" dirty="0">
                        <a:solidFill>
                          <a:schemeClr val="bg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识别方法</a:t>
                      </a:r>
                      <a:endParaRPr lang="zh-CN" sz="1400" b="1" dirty="0">
                        <a:solidFill>
                          <a:schemeClr val="bg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识别方法说明</a:t>
                      </a:r>
                      <a:endParaRPr lang="zh-CN" sz="1400" b="1" dirty="0">
                        <a:solidFill>
                          <a:schemeClr val="bg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适用的场景</a:t>
                      </a:r>
                      <a:endParaRPr lang="zh-CN" sz="1400" b="1" dirty="0">
                        <a:solidFill>
                          <a:schemeClr val="bg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306000">
                <a:tc rowSpan="5">
                  <a:txBody>
                    <a:bodyPr/>
                    <a:lstStyle/>
                    <a:p>
                      <a:pPr algn="ctr">
                        <a:lnSpc>
                          <a:spcPct val="100000"/>
                        </a:lnSpc>
                        <a:spcBef>
                          <a:spcPts val="0"/>
                        </a:spcBef>
                        <a:spcAft>
                          <a:spcPts val="0"/>
                        </a:spcAft>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被动指纹识别</a:t>
                      </a:r>
                      <a:endPar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endParaRPr>
                    </a:p>
                    <a:p>
                      <a:pPr algn="ctr">
                        <a:lnSpc>
                          <a:spcPct val="100000"/>
                        </a:lnSpc>
                        <a:spcBef>
                          <a:spcPts val="0"/>
                        </a:spcBef>
                        <a:spcAft>
                          <a:spcPts val="0"/>
                        </a:spcAft>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（信息上报）</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MAC OUI</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地址前三字节用于表示厂商</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仅识别设备厂商</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529060">
                <a:tc vMerge="1">
                  <a:txBody>
                    <a:bodyPr/>
                    <a:lstStyle/>
                    <a:p>
                      <a:pPr algn="ctr">
                        <a:lnSpc>
                          <a:spcPct val="150000"/>
                        </a:lnSpc>
                        <a:spcBef>
                          <a:spcPts val="0"/>
                        </a:spcBef>
                        <a:spcAft>
                          <a:spcPts val="0"/>
                        </a:spcAft>
                      </a:pPr>
                      <a:endParaRPr lang="zh-CN" sz="1400">
                        <a:effectLst/>
                        <a:latin typeface="Times New Roman" panose="02020603050405020304" pitchFamily="18" charset="0"/>
                        <a:ea typeface="宋体" panose="02010600030101010101" pitchFamily="2" charset="-122"/>
                        <a:cs typeface="Arial" panose="020B0604020202020204" pitchFamily="34" charset="0"/>
                      </a:endParaRPr>
                    </a:p>
                  </a:txBody>
                  <a:tcPr marL="108000" marR="108000" marT="72000" marB="72000" anchor="ct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HTTP </a:t>
                      </a:r>
                      <a:r>
                        <a:rPr lang="en-US" sz="1400" dirty="0" err="1">
                          <a:effectLst/>
                          <a:latin typeface="Huawei Sans" panose="020C0503030203020204" pitchFamily="34" charset="0"/>
                          <a:ea typeface="方正兰亭黑简体" panose="02000000000000000000" pitchFamily="2" charset="-122"/>
                          <a:sym typeface="Huawei Sans" panose="020C0503030203020204" pitchFamily="34" charset="0"/>
                        </a:rPr>
                        <a:t>UserAgent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浏览器</a:t>
                      </a:r>
                      <a:r>
                        <a:rPr lang="en-US" sz="1400" dirty="0" err="1">
                          <a:effectLst/>
                          <a:latin typeface="Huawei Sans" panose="020C0503030203020204" pitchFamily="34" charset="0"/>
                          <a:ea typeface="方正兰亭黑简体" panose="02000000000000000000" pitchFamily="2" charset="-122"/>
                          <a:sym typeface="Huawei Sans" panose="020C0503030203020204" pitchFamily="34" charset="0"/>
                        </a:rPr>
                        <a:t>UserAgent</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信息中包含厂商、终端类型、操作系统、浏览器等信息</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sym typeface="Huawei Sans" panose="020C0503030203020204" pitchFamily="34" charset="0"/>
                        </a:rPr>
                        <a:t>手机、平板型号、</a:t>
                      </a: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PC</a:t>
                      </a:r>
                      <a:r>
                        <a:rPr lang="zh-CN" sz="1400">
                          <a:effectLst/>
                          <a:latin typeface="Huawei Sans" panose="020C0503030203020204" pitchFamily="34" charset="0"/>
                          <a:ea typeface="方正兰亭黑简体" panose="02000000000000000000" pitchFamily="2" charset="-122"/>
                          <a:sym typeface="Huawei Sans" panose="020C0503030203020204" pitchFamily="34" charset="0"/>
                        </a:rPr>
                        <a:t>、工作站</a:t>
                      </a:r>
                      <a:r>
                        <a:rPr lang="zh-CN" altLang="en-US" sz="140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400">
                          <a:effectLst/>
                          <a:latin typeface="Huawei Sans" panose="020C0503030203020204" pitchFamily="34" charset="0"/>
                          <a:ea typeface="方正兰亭黑简体" panose="02000000000000000000" pitchFamily="2" charset="-122"/>
                          <a:sym typeface="Huawei Sans" panose="020C0503030203020204" pitchFamily="34" charset="0"/>
                        </a:rPr>
                        <a:t>音视频智能终端</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529060">
                <a:tc vMerge="1">
                  <a:txBody>
                    <a:bodyPr/>
                    <a:lstStyle/>
                    <a:p>
                      <a:pPr algn="ctr">
                        <a:lnSpc>
                          <a:spcPct val="150000"/>
                        </a:lnSpc>
                        <a:spcBef>
                          <a:spcPts val="0"/>
                        </a:spcBef>
                        <a:spcAft>
                          <a:spcPts val="0"/>
                        </a:spcAft>
                      </a:pPr>
                      <a:endParaRPr lang="zh-CN" sz="1400">
                        <a:effectLst/>
                        <a:latin typeface="Times New Roman" panose="02020603050405020304" pitchFamily="18" charset="0"/>
                        <a:ea typeface="宋体" panose="02010600030101010101" pitchFamily="2" charset="-122"/>
                        <a:cs typeface="Arial" panose="020B0604020202020204" pitchFamily="34" charset="0"/>
                      </a:endParaRPr>
                    </a:p>
                  </a:txBody>
                  <a:tcPr marL="108000" marR="108000" marT="72000" marB="72000" anchor="ct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DHCP Option</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终端</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DHCP</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报文的部分属性可用于终端分类，常用属性有</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55</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60</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12</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手机、平板型号、</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PC</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、工作站</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摄像头、</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话机、打印机等</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02720">
                <a:tc vMerge="1">
                  <a:txBody>
                    <a:bodyPr/>
                    <a:lstStyle/>
                    <a:p>
                      <a:pPr algn="ctr">
                        <a:lnSpc>
                          <a:spcPct val="150000"/>
                        </a:lnSpc>
                        <a:spcBef>
                          <a:spcPts val="0"/>
                        </a:spcBef>
                        <a:spcAft>
                          <a:spcPts val="0"/>
                        </a:spcAft>
                      </a:pPr>
                      <a:endParaRPr lang="zh-CN" sz="1400">
                        <a:effectLst/>
                        <a:latin typeface="Times New Roman" panose="02020603050405020304" pitchFamily="18" charset="0"/>
                        <a:ea typeface="宋体" panose="02010600030101010101" pitchFamily="2" charset="-122"/>
                        <a:cs typeface="Arial" panose="020B0604020202020204" pitchFamily="34" charset="0"/>
                      </a:endParaRPr>
                    </a:p>
                  </a:txBody>
                  <a:tcPr marL="108000" marR="108000" marT="72000" marB="72000" anchor="ct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LLDP</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链路层设备发现协议，包携带设备型号</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话机、</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摄像头、网络设备等</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02720">
                <a:tc vMerge="1">
                  <a:txBody>
                    <a:bodyPr/>
                    <a:lstStyle/>
                    <a:p>
                      <a:pPr algn="ctr">
                        <a:lnSpc>
                          <a:spcPct val="150000"/>
                        </a:lnSpc>
                        <a:spcBef>
                          <a:spcPts val="0"/>
                        </a:spcBef>
                        <a:spcAft>
                          <a:spcPts val="0"/>
                        </a:spcAft>
                      </a:pPr>
                      <a:endParaRPr lang="zh-CN" sz="1400">
                        <a:effectLst/>
                        <a:latin typeface="Times New Roman" panose="02020603050405020304" pitchFamily="18" charset="0"/>
                        <a:ea typeface="宋体" panose="02010600030101010101" pitchFamily="2" charset="-122"/>
                        <a:cs typeface="Arial" panose="020B0604020202020204" pitchFamily="34" charset="0"/>
                      </a:endParaRPr>
                    </a:p>
                  </a:txBody>
                  <a:tcPr marL="108000" marR="108000" marT="72000" marB="72000" anchor="ct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0"/>
                        </a:spcBef>
                        <a:spcAft>
                          <a:spcPts val="0"/>
                        </a:spcAft>
                      </a:pPr>
                      <a:r>
                        <a:rPr lang="en-US" sz="1400" dirty="0" err="1">
                          <a:effectLst/>
                          <a:latin typeface="Huawei Sans" panose="020C0503030203020204" pitchFamily="34" charset="0"/>
                          <a:ea typeface="方正兰亭黑简体" panose="02000000000000000000" pitchFamily="2" charset="-122"/>
                          <a:sym typeface="Huawei Sans" panose="020C0503030203020204" pitchFamily="34" charset="0"/>
                        </a:rPr>
                        <a:t>mDNS</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en-US" sz="1400" dirty="0" err="1">
                          <a:effectLst/>
                          <a:latin typeface="Huawei Sans" panose="020C0503030203020204" pitchFamily="34" charset="0"/>
                          <a:ea typeface="方正兰亭黑简体" panose="02000000000000000000" pitchFamily="2" charset="-122"/>
                          <a:sym typeface="Huawei Sans" panose="020C0503030203020204" pitchFamily="34" charset="0"/>
                        </a:rPr>
                        <a:t>mDNS</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报文含有终端型号信息和业务信息</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打印机、</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摄像头等</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529060">
                <a:tc rowSpan="2">
                  <a:txBody>
                    <a:bodyPr/>
                    <a:lstStyle/>
                    <a:p>
                      <a:pPr algn="ctr">
                        <a:lnSpc>
                          <a:spcPct val="100000"/>
                        </a:lnSpc>
                        <a:spcBef>
                          <a:spcPts val="0"/>
                        </a:spcBef>
                        <a:spcAft>
                          <a:spcPts val="0"/>
                        </a:spcAft>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主动扫描识别</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SNMP Query</a:t>
                      </a:r>
                      <a:endPar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通过查询</a:t>
                      </a: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SNMP MIB</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节点中的设备信息相关的节点获取识别信息。</a:t>
                      </a:r>
                      <a:endPar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l">
                        <a:lnSpc>
                          <a:spcPct val="100000"/>
                        </a:lnSpc>
                        <a:spcBef>
                          <a:spcPts val="0"/>
                        </a:spcBef>
                        <a:spcAft>
                          <a:spcPts val="0"/>
                        </a:spcAft>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网络设备、打印机等</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529060">
                <a:tc vMerge="1">
                  <a:txBody>
                    <a:bodyPr/>
                    <a:lstStyle/>
                    <a:p>
                      <a:pPr algn="ctr">
                        <a:lnSpc>
                          <a:spcPct val="100000"/>
                        </a:lnSpc>
                        <a:spcBef>
                          <a:spcPts val="0"/>
                        </a:spcBef>
                        <a:spcAft>
                          <a:spcPts val="0"/>
                        </a:spcAft>
                      </a:pPr>
                      <a:endParaRPr lang="zh-CN" sz="1400">
                        <a:effectLst/>
                        <a:latin typeface="+mn-lt"/>
                        <a:ea typeface="+mn-ea"/>
                        <a:cs typeface="Arial" panose="020B0604020202020204" pitchFamily="34" charset="0"/>
                      </a:endParaRPr>
                    </a:p>
                  </a:txBody>
                  <a:tcPr marL="108000" marR="108000" marT="36000" marB="36000" anchor="ct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0"/>
                        </a:spcBef>
                        <a:spcAft>
                          <a:spcPts val="0"/>
                        </a:spcAft>
                      </a:pPr>
                      <a:r>
                        <a:rPr lang="en-US" altLang="zh-CN" sz="1400" dirty="0" err="1">
                          <a:effectLst/>
                          <a:latin typeface="Huawei Sans" panose="020C0503030203020204" pitchFamily="34" charset="0"/>
                          <a:ea typeface="方正兰亭黑简体" panose="02000000000000000000" pitchFamily="2" charset="-122"/>
                          <a:sym typeface="Huawei Sans" panose="020C0503030203020204" pitchFamily="34" charset="0"/>
                        </a:rPr>
                        <a:t>Nmap</a:t>
                      </a:r>
                      <a:endParaRPr lang="en-US" alt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l">
                        <a:lnSpc>
                          <a:spcPct val="100000"/>
                        </a:lnSpc>
                        <a:spcBef>
                          <a:spcPts val="0"/>
                        </a:spcBef>
                        <a:spcAft>
                          <a:spcPts val="0"/>
                        </a:spcAft>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err="1">
                          <a:effectLst/>
                          <a:latin typeface="Huawei Sans" panose="020C0503030203020204" pitchFamily="34" charset="0"/>
                          <a:ea typeface="方正兰亭黑简体" panose="02000000000000000000" pitchFamily="2" charset="-122"/>
                          <a:sym typeface="Huawei Sans" panose="020C0503030203020204" pitchFamily="34" charset="0"/>
                        </a:rPr>
                        <a:t>Nmap</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软件对终端进行</a:t>
                      </a: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OS</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、服务扫描，可探测终端型号和</a:t>
                      </a: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OS</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信息。</a:t>
                      </a:r>
                      <a:endPar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l">
                        <a:lnSpc>
                          <a:spcPct val="100000"/>
                        </a:lnSpc>
                        <a:spcBef>
                          <a:spcPts val="0"/>
                        </a:spcBef>
                        <a:spcAft>
                          <a:spcPts val="0"/>
                        </a:spcAft>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、工作站、如打印机、话机、</a:t>
                      </a: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摄像头等</a:t>
                      </a:r>
                      <a:endParaRPr lang="zh-CN" alt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23439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基于终端类型的策略自动下发流程</a:t>
            </a:r>
          </a:p>
        </p:txBody>
      </p:sp>
      <p:sp>
        <p:nvSpPr>
          <p:cNvPr id="3" name="文本占位符 2"/>
          <p:cNvSpPr>
            <a:spLocks noGrp="1"/>
          </p:cNvSpPr>
          <p:nvPr>
            <p:ph type="body" sz="quarter" idx="10"/>
          </p:nvPr>
        </p:nvSpPr>
        <p:spPr>
          <a:xfrm>
            <a:off x="6096000" y="1704601"/>
            <a:ext cx="5653087" cy="4222954"/>
          </a:xfrm>
        </p:spPr>
        <p:txBody>
          <a:bodyPr/>
          <a:lstStyle/>
          <a:p>
            <a:pPr marL="342900" indent="-342900">
              <a:buSzPct val="100000"/>
              <a:buFont typeface="+mj-lt"/>
              <a:buAutoNum type="arabicPeriod"/>
            </a:pPr>
            <a:r>
              <a:rPr lang="zh-CN" altLang="en-US" sz="1600" dirty="0"/>
              <a:t>管理员在</a:t>
            </a:r>
            <a:r>
              <a:rPr lang="en-US" altLang="zh-CN" sz="1600" dirty="0"/>
              <a:t>iMaster NCE-Campus</a:t>
            </a:r>
            <a:r>
              <a:rPr lang="zh-CN" altLang="en-US" sz="1600" dirty="0"/>
              <a:t>界面，开启终端识别功能，并选择终端类型，指定终端类型的策略。</a:t>
            </a:r>
          </a:p>
          <a:p>
            <a:pPr marL="342900" indent="-342900">
              <a:buSzPct val="100000"/>
              <a:buFont typeface="+mj-lt"/>
              <a:buAutoNum type="arabicPeriod"/>
            </a:pPr>
            <a:r>
              <a:rPr lang="en-US" altLang="zh-CN" sz="1600" dirty="0"/>
              <a:t>iMaster NCE-Campus</a:t>
            </a:r>
            <a:r>
              <a:rPr lang="zh-CN" altLang="en-US" sz="1600" dirty="0"/>
              <a:t>将终端识别功能相关配置下发到网络设备。</a:t>
            </a:r>
          </a:p>
          <a:p>
            <a:pPr marL="342900" indent="-342900">
              <a:buSzPct val="100000"/>
              <a:buFont typeface="+mj-lt"/>
              <a:buAutoNum type="arabicPeriod"/>
            </a:pPr>
            <a:r>
              <a:rPr lang="zh-CN" altLang="en-US" sz="1600" dirty="0"/>
              <a:t>终端接入网络时，网络设备可以采集终端的指纹信息，上报给</a:t>
            </a:r>
            <a:r>
              <a:rPr lang="en-US" altLang="zh-CN" sz="1600" dirty="0"/>
              <a:t>iMaster NCE-Campus</a:t>
            </a:r>
            <a:r>
              <a:rPr lang="zh-CN" altLang="en-US" sz="1600" dirty="0"/>
              <a:t>。</a:t>
            </a:r>
          </a:p>
          <a:p>
            <a:pPr marL="342900" indent="-342900">
              <a:buSzPct val="100000"/>
              <a:buFont typeface="+mj-lt"/>
              <a:buAutoNum type="arabicPeriod"/>
            </a:pPr>
            <a:r>
              <a:rPr lang="en-US" altLang="zh-CN" sz="1600" dirty="0"/>
              <a:t>iMaster NCE-Campus</a:t>
            </a:r>
            <a:r>
              <a:rPr lang="zh-CN" altLang="en-US" sz="1600" dirty="0"/>
              <a:t>自动匹配终端指纹库，识别终端的类型。</a:t>
            </a:r>
          </a:p>
          <a:p>
            <a:pPr marL="342900" indent="-342900">
              <a:buSzPct val="100000"/>
              <a:buFont typeface="+mj-lt"/>
              <a:buAutoNum type="arabicPeriod"/>
            </a:pPr>
            <a:r>
              <a:rPr lang="en-US" altLang="zh-CN" sz="1600" dirty="0"/>
              <a:t>iMaster NCE-Campus</a:t>
            </a:r>
            <a:r>
              <a:rPr lang="zh-CN" altLang="en-US" sz="1600" dirty="0"/>
              <a:t>根据管理员定义的策略，对终端自动下发对应的准入和授权策略。</a:t>
            </a:r>
          </a:p>
          <a:p>
            <a:pPr marL="342900" indent="-342900">
              <a:buSzPct val="100000"/>
              <a:buFont typeface="+mj-lt"/>
              <a:buAutoNum type="arabicPeriod"/>
            </a:pPr>
            <a:endParaRPr lang="zh-CN" altLang="en-US" sz="1600" dirty="0"/>
          </a:p>
        </p:txBody>
      </p:sp>
      <p:sp>
        <p:nvSpPr>
          <p:cNvPr id="4" name="Freeform 3"/>
          <p:cNvSpPr>
            <a:spLocks/>
          </p:cNvSpPr>
          <p:nvPr/>
        </p:nvSpPr>
        <p:spPr bwMode="gray">
          <a:xfrm rot="14780271">
            <a:off x="2666909" y="2489746"/>
            <a:ext cx="1785630" cy="995233"/>
          </a:xfrm>
          <a:custGeom>
            <a:avLst/>
            <a:gdLst>
              <a:gd name="T0" fmla="*/ 0 w 5016"/>
              <a:gd name="T1" fmla="*/ 2147483647 h 2256"/>
              <a:gd name="T2" fmla="*/ 2147483647 w 5016"/>
              <a:gd name="T3" fmla="*/ 2147483647 h 2256"/>
              <a:gd name="T4" fmla="*/ 2147483647 w 5016"/>
              <a:gd name="T5" fmla="*/ 2147483647 h 2256"/>
              <a:gd name="T6" fmla="*/ 2147483647 w 5016"/>
              <a:gd name="T7" fmla="*/ 2147483647 h 2256"/>
              <a:gd name="T8" fmla="*/ 2147483647 w 5016"/>
              <a:gd name="T9" fmla="*/ 2147483647 h 2256"/>
              <a:gd name="T10" fmla="*/ 2147483647 w 5016"/>
              <a:gd name="T11" fmla="*/ 2147483647 h 2256"/>
              <a:gd name="T12" fmla="*/ 2147483647 w 5016"/>
              <a:gd name="T13" fmla="*/ 2147483647 h 2256"/>
              <a:gd name="T14" fmla="*/ 2147483647 w 5016"/>
              <a:gd name="T15" fmla="*/ 2147483647 h 2256"/>
              <a:gd name="T16" fmla="*/ 2147483647 w 5016"/>
              <a:gd name="T17" fmla="*/ 2147483647 h 2256"/>
              <a:gd name="T18" fmla="*/ 2147483647 w 5016"/>
              <a:gd name="T19" fmla="*/ 0 h 2256"/>
              <a:gd name="T20" fmla="*/ 2147483647 w 5016"/>
              <a:gd name="T21" fmla="*/ 2147483647 h 2256"/>
              <a:gd name="T22" fmla="*/ 2147483647 w 5016"/>
              <a:gd name="T23" fmla="*/ 2147483647 h 2256"/>
              <a:gd name="T24" fmla="*/ 2147483647 w 5016"/>
              <a:gd name="T25" fmla="*/ 2147483647 h 2256"/>
              <a:gd name="T26" fmla="*/ 2147483647 w 5016"/>
              <a:gd name="T27" fmla="*/ 2147483647 h 2256"/>
              <a:gd name="T28" fmla="*/ 2147483647 w 5016"/>
              <a:gd name="T29" fmla="*/ 2147483647 h 2256"/>
              <a:gd name="T30" fmla="*/ 2147483647 w 5016"/>
              <a:gd name="T31" fmla="*/ 2147483647 h 2256"/>
              <a:gd name="T32" fmla="*/ 2147483647 w 5016"/>
              <a:gd name="T33" fmla="*/ 2147483647 h 2256"/>
              <a:gd name="T34" fmla="*/ 2147483647 w 5016"/>
              <a:gd name="T35" fmla="*/ 2147483647 h 2256"/>
              <a:gd name="T36" fmla="*/ 2147483647 w 5016"/>
              <a:gd name="T37" fmla="*/ 2147483647 h 2256"/>
              <a:gd name="T38" fmla="*/ 0 w 5016"/>
              <a:gd name="T39" fmla="*/ 2147483647 h 22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016"/>
              <a:gd name="T61" fmla="*/ 0 h 2256"/>
              <a:gd name="T62" fmla="*/ 5016 w 5016"/>
              <a:gd name="T63" fmla="*/ 2256 h 22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016" h="2256">
                <a:moveTo>
                  <a:pt x="0" y="2240"/>
                </a:moveTo>
                <a:cubicBezTo>
                  <a:pt x="276" y="2109"/>
                  <a:pt x="1182" y="1474"/>
                  <a:pt x="1122" y="702"/>
                </a:cubicBezTo>
                <a:lnTo>
                  <a:pt x="972" y="744"/>
                </a:lnTo>
                <a:cubicBezTo>
                  <a:pt x="988" y="702"/>
                  <a:pt x="1140" y="436"/>
                  <a:pt x="1140" y="438"/>
                </a:cubicBezTo>
                <a:lnTo>
                  <a:pt x="1422" y="642"/>
                </a:lnTo>
                <a:cubicBezTo>
                  <a:pt x="1422" y="642"/>
                  <a:pt x="1260" y="672"/>
                  <a:pt x="1272" y="672"/>
                </a:cubicBezTo>
                <a:cubicBezTo>
                  <a:pt x="1428" y="1008"/>
                  <a:pt x="1620" y="1350"/>
                  <a:pt x="1968" y="1284"/>
                </a:cubicBezTo>
                <a:cubicBezTo>
                  <a:pt x="2316" y="1218"/>
                  <a:pt x="2460" y="576"/>
                  <a:pt x="2466" y="318"/>
                </a:cubicBezTo>
                <a:lnTo>
                  <a:pt x="2280" y="318"/>
                </a:lnTo>
                <a:lnTo>
                  <a:pt x="2598" y="0"/>
                </a:lnTo>
                <a:lnTo>
                  <a:pt x="2898" y="330"/>
                </a:lnTo>
                <a:lnTo>
                  <a:pt x="2724" y="324"/>
                </a:lnTo>
                <a:cubicBezTo>
                  <a:pt x="2724" y="325"/>
                  <a:pt x="2760" y="1284"/>
                  <a:pt x="3210" y="1302"/>
                </a:cubicBezTo>
                <a:cubicBezTo>
                  <a:pt x="3660" y="1320"/>
                  <a:pt x="3816" y="912"/>
                  <a:pt x="3870" y="654"/>
                </a:cubicBezTo>
                <a:lnTo>
                  <a:pt x="3702" y="642"/>
                </a:lnTo>
                <a:lnTo>
                  <a:pt x="3984" y="420"/>
                </a:lnTo>
                <a:lnTo>
                  <a:pt x="4182" y="678"/>
                </a:lnTo>
                <a:lnTo>
                  <a:pt x="4026" y="672"/>
                </a:lnTo>
                <a:cubicBezTo>
                  <a:pt x="4032" y="678"/>
                  <a:pt x="3960" y="1862"/>
                  <a:pt x="5016" y="2225"/>
                </a:cubicBezTo>
                <a:cubicBezTo>
                  <a:pt x="3438" y="2232"/>
                  <a:pt x="1092" y="2256"/>
                  <a:pt x="0" y="2240"/>
                </a:cubicBezTo>
                <a:close/>
              </a:path>
            </a:pathLst>
          </a:custGeom>
          <a:gradFill flip="none" rotWithShape="1">
            <a:gsLst>
              <a:gs pos="15000">
                <a:schemeClr val="accent1">
                  <a:lumMod val="5000"/>
                  <a:lumOff val="95000"/>
                  <a:alpha val="0"/>
                </a:schemeClr>
              </a:gs>
              <a:gs pos="81000">
                <a:schemeClr val="accent2">
                  <a:lumMod val="40000"/>
                  <a:lumOff val="60000"/>
                </a:schemeClr>
              </a:gs>
            </a:gsLst>
            <a:lin ang="16200000" scaled="0"/>
            <a:tileRect/>
          </a:gradFill>
          <a:ln w="9525">
            <a:gradFill flip="none" rotWithShape="1">
              <a:gsLst>
                <a:gs pos="0">
                  <a:schemeClr val="accent1">
                    <a:lumMod val="5000"/>
                    <a:lumOff val="95000"/>
                  </a:schemeClr>
                </a:gs>
                <a:gs pos="100000">
                  <a:schemeClr val="accent2">
                    <a:lumMod val="75000"/>
                  </a:schemeClr>
                </a:gs>
              </a:gsLst>
              <a:lin ang="162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Straight Connector 167"/>
          <p:cNvCxnSpPr/>
          <p:nvPr/>
        </p:nvCxnSpPr>
        <p:spPr bwMode="gray">
          <a:xfrm flipH="1">
            <a:off x="2590158" y="2876232"/>
            <a:ext cx="1053275"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167"/>
          <p:cNvCxnSpPr/>
          <p:nvPr/>
        </p:nvCxnSpPr>
        <p:spPr bwMode="gray">
          <a:xfrm>
            <a:off x="849804" y="4056441"/>
            <a:ext cx="0" cy="88838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167"/>
          <p:cNvCxnSpPr/>
          <p:nvPr/>
        </p:nvCxnSpPr>
        <p:spPr bwMode="gray">
          <a:xfrm>
            <a:off x="3974005" y="4056441"/>
            <a:ext cx="0" cy="110334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nvGrpSpPr>
          <p:cNvPr id="8" name="Group 165"/>
          <p:cNvGrpSpPr/>
          <p:nvPr/>
        </p:nvGrpSpPr>
        <p:grpSpPr bwMode="gray">
          <a:xfrm rot="10800000">
            <a:off x="770335" y="2866725"/>
            <a:ext cx="3283138" cy="1176984"/>
            <a:chOff x="-1233037" y="914446"/>
            <a:chExt cx="1573823" cy="778776"/>
          </a:xfrm>
        </p:grpSpPr>
        <p:cxnSp>
          <p:nvCxnSpPr>
            <p:cNvPr id="9"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1" name="图片 86" descr="核心交换机.png"/>
          <p:cNvPicPr>
            <a:picLocks noChangeAspect="1"/>
          </p:cNvPicPr>
          <p:nvPr/>
        </p:nvPicPr>
        <p:blipFill>
          <a:blip r:embed="rId3" cstate="print"/>
          <a:stretch>
            <a:fillRect/>
          </a:stretch>
        </p:blipFill>
        <p:spPr bwMode="gray">
          <a:xfrm>
            <a:off x="2166450" y="2703297"/>
            <a:ext cx="490909" cy="401653"/>
          </a:xfrm>
          <a:prstGeom prst="rect">
            <a:avLst/>
          </a:prstGeom>
        </p:spPr>
      </p:pic>
      <p:pic>
        <p:nvPicPr>
          <p:cNvPr id="12" name="图片 87" descr="汇聚交换机.png"/>
          <p:cNvPicPr>
            <a:picLocks noChangeAspect="1"/>
          </p:cNvPicPr>
          <p:nvPr/>
        </p:nvPicPr>
        <p:blipFill>
          <a:blip r:embed="rId4" cstate="print"/>
          <a:stretch>
            <a:fillRect/>
          </a:stretch>
        </p:blipFill>
        <p:spPr bwMode="gray">
          <a:xfrm>
            <a:off x="604350" y="3770097"/>
            <a:ext cx="490909" cy="401653"/>
          </a:xfrm>
          <a:prstGeom prst="rect">
            <a:avLst/>
          </a:prstGeom>
        </p:spPr>
      </p:pic>
      <p:pic>
        <p:nvPicPr>
          <p:cNvPr id="13" name="图片 87" descr="汇聚交换机.png"/>
          <p:cNvPicPr>
            <a:picLocks noChangeAspect="1"/>
          </p:cNvPicPr>
          <p:nvPr/>
        </p:nvPicPr>
        <p:blipFill>
          <a:blip r:embed="rId4" cstate="print"/>
          <a:stretch>
            <a:fillRect/>
          </a:stretch>
        </p:blipFill>
        <p:spPr bwMode="gray">
          <a:xfrm>
            <a:off x="3728550" y="3770097"/>
            <a:ext cx="490909" cy="401653"/>
          </a:xfrm>
          <a:prstGeom prst="rect">
            <a:avLst/>
          </a:prstGeom>
        </p:spPr>
      </p:pic>
      <p:grpSp>
        <p:nvGrpSpPr>
          <p:cNvPr id="14" name="组合 758"/>
          <p:cNvGrpSpPr/>
          <p:nvPr/>
        </p:nvGrpSpPr>
        <p:grpSpPr bwMode="gray">
          <a:xfrm flipV="1">
            <a:off x="731697" y="5221084"/>
            <a:ext cx="236214" cy="200032"/>
            <a:chOff x="7440613" y="4868863"/>
            <a:chExt cx="1019175" cy="828675"/>
          </a:xfrm>
          <a:solidFill>
            <a:schemeClr val="bg1">
              <a:lumMod val="50000"/>
            </a:schemeClr>
          </a:solidFill>
        </p:grpSpPr>
        <p:sp>
          <p:nvSpPr>
            <p:cNvPr id="15"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7" name="图片 105" descr="AP.png"/>
          <p:cNvPicPr>
            <a:picLocks noChangeAspect="1"/>
          </p:cNvPicPr>
          <p:nvPr/>
        </p:nvPicPr>
        <p:blipFill>
          <a:blip r:embed="rId5" cstate="print"/>
          <a:stretch>
            <a:fillRect/>
          </a:stretch>
        </p:blipFill>
        <p:spPr bwMode="gray">
          <a:xfrm>
            <a:off x="3725905" y="4773151"/>
            <a:ext cx="490909" cy="401654"/>
          </a:xfrm>
          <a:prstGeom prst="rect">
            <a:avLst/>
          </a:prstGeom>
        </p:spPr>
      </p:pic>
      <p:grpSp>
        <p:nvGrpSpPr>
          <p:cNvPr id="18" name="组合 758"/>
          <p:cNvGrpSpPr/>
          <p:nvPr/>
        </p:nvGrpSpPr>
        <p:grpSpPr bwMode="gray">
          <a:xfrm flipV="1">
            <a:off x="3853252" y="5221084"/>
            <a:ext cx="236214" cy="200032"/>
            <a:chOff x="7440613" y="4868863"/>
            <a:chExt cx="1019175" cy="828675"/>
          </a:xfrm>
          <a:solidFill>
            <a:schemeClr val="bg1">
              <a:lumMod val="50000"/>
            </a:schemeClr>
          </a:solidFill>
        </p:grpSpPr>
        <p:sp>
          <p:nvSpPr>
            <p:cNvPr id="19"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1" name="图片 14" descr="日志告警服务器-蓝.png"/>
          <p:cNvPicPr>
            <a:picLocks noChangeAspect="1"/>
          </p:cNvPicPr>
          <p:nvPr/>
        </p:nvPicPr>
        <p:blipFill>
          <a:blip r:embed="rId6" cstate="print"/>
          <a:stretch>
            <a:fillRect/>
          </a:stretch>
        </p:blipFill>
        <p:spPr bwMode="gray">
          <a:xfrm>
            <a:off x="3163438" y="5850926"/>
            <a:ext cx="368559" cy="230136"/>
          </a:xfrm>
          <a:prstGeom prst="rect">
            <a:avLst/>
          </a:prstGeom>
        </p:spPr>
      </p:pic>
      <p:pic>
        <p:nvPicPr>
          <p:cNvPr id="22" name="图片 11" descr="开放网络-蓝.png"/>
          <p:cNvPicPr>
            <a:picLocks noChangeAspect="1"/>
          </p:cNvPicPr>
          <p:nvPr/>
        </p:nvPicPr>
        <p:blipFill>
          <a:blip r:embed="rId7" cstate="print"/>
          <a:stretch>
            <a:fillRect/>
          </a:stretch>
        </p:blipFill>
        <p:spPr bwMode="gray">
          <a:xfrm>
            <a:off x="3848255" y="5824139"/>
            <a:ext cx="368559" cy="283711"/>
          </a:xfrm>
          <a:prstGeom prst="rect">
            <a:avLst/>
          </a:prstGeom>
        </p:spPr>
      </p:pic>
      <p:pic>
        <p:nvPicPr>
          <p:cNvPr id="23" name="图片 42" descr="IP电话.png"/>
          <p:cNvPicPr>
            <a:picLocks noChangeAspect="1"/>
          </p:cNvPicPr>
          <p:nvPr/>
        </p:nvPicPr>
        <p:blipFill>
          <a:blip r:embed="rId8" cstate="print"/>
          <a:stretch>
            <a:fillRect/>
          </a:stretch>
        </p:blipFill>
        <p:spPr bwMode="gray">
          <a:xfrm>
            <a:off x="689620" y="5822731"/>
            <a:ext cx="304786" cy="286527"/>
          </a:xfrm>
          <a:prstGeom prst="rect">
            <a:avLst/>
          </a:prstGeom>
        </p:spPr>
      </p:pic>
      <p:pic>
        <p:nvPicPr>
          <p:cNvPr id="24" name="图片 158" descr="SAN网络-蓝.png"/>
          <p:cNvPicPr>
            <a:picLocks noChangeAspect="1"/>
          </p:cNvPicPr>
          <p:nvPr/>
        </p:nvPicPr>
        <p:blipFill>
          <a:blip r:embed="rId9" cstate="print"/>
          <a:stretch>
            <a:fillRect/>
          </a:stretch>
        </p:blipFill>
        <p:spPr bwMode="gray">
          <a:xfrm>
            <a:off x="1995745" y="5801339"/>
            <a:ext cx="201006" cy="329310"/>
          </a:xfrm>
          <a:prstGeom prst="rect">
            <a:avLst/>
          </a:prstGeom>
        </p:spPr>
      </p:pic>
      <p:pic>
        <p:nvPicPr>
          <p:cNvPr id="25" name="图片 157" descr="故障链路.png"/>
          <p:cNvPicPr>
            <a:picLocks noChangeAspect="1"/>
          </p:cNvPicPr>
          <p:nvPr/>
        </p:nvPicPr>
        <p:blipFill>
          <a:blip r:embed="rId10" cstate="print"/>
          <a:stretch>
            <a:fillRect/>
          </a:stretch>
        </p:blipFill>
        <p:spPr bwMode="gray">
          <a:xfrm>
            <a:off x="1310662" y="5828481"/>
            <a:ext cx="368827" cy="275027"/>
          </a:xfrm>
          <a:prstGeom prst="rect">
            <a:avLst/>
          </a:prstGeom>
        </p:spPr>
      </p:pic>
      <p:pic>
        <p:nvPicPr>
          <p:cNvPr id="26" name="图片 47" descr="打印机.png"/>
          <p:cNvPicPr>
            <a:picLocks noChangeAspect="1"/>
          </p:cNvPicPr>
          <p:nvPr/>
        </p:nvPicPr>
        <p:blipFill>
          <a:blip r:embed="rId11" cstate="print"/>
          <a:stretch>
            <a:fillRect/>
          </a:stretch>
        </p:blipFill>
        <p:spPr bwMode="gray">
          <a:xfrm>
            <a:off x="2513007" y="5832992"/>
            <a:ext cx="334175" cy="266004"/>
          </a:xfrm>
          <a:prstGeom prst="rect">
            <a:avLst/>
          </a:prstGeom>
        </p:spPr>
      </p:pic>
      <p:pic>
        <p:nvPicPr>
          <p:cNvPr id="27" name="图片 76" descr="接入交换机.png"/>
          <p:cNvPicPr>
            <a:picLocks noChangeAspect="1"/>
          </p:cNvPicPr>
          <p:nvPr/>
        </p:nvPicPr>
        <p:blipFill>
          <a:blip r:embed="rId12" cstate="print"/>
          <a:stretch>
            <a:fillRect/>
          </a:stretch>
        </p:blipFill>
        <p:spPr bwMode="gray">
          <a:xfrm>
            <a:off x="604350" y="4773152"/>
            <a:ext cx="490909" cy="401653"/>
          </a:xfrm>
          <a:prstGeom prst="rect">
            <a:avLst/>
          </a:prstGeom>
        </p:spPr>
      </p:pic>
      <p:pic>
        <p:nvPicPr>
          <p:cNvPr id="28" name="图片 27"/>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bwMode="gray">
          <a:xfrm>
            <a:off x="3691587" y="2359696"/>
            <a:ext cx="1046768" cy="595041"/>
          </a:xfrm>
          <a:prstGeom prst="rect">
            <a:avLst/>
          </a:prstGeom>
        </p:spPr>
      </p:pic>
      <p:sp>
        <p:nvSpPr>
          <p:cNvPr id="29" name="文本框 28"/>
          <p:cNvSpPr txBox="1"/>
          <p:nvPr/>
        </p:nvSpPr>
        <p:spPr bwMode="auto">
          <a:xfrm>
            <a:off x="3531997" y="1242936"/>
            <a:ext cx="1633447" cy="461665"/>
          </a:xfrm>
          <a:prstGeom prst="rect">
            <a:avLst/>
          </a:prstGeom>
          <a:noFill/>
        </p:spPr>
        <p:txBody>
          <a:bodyPr wrap="square" rtlCol="0">
            <a:spAutoFit/>
          </a:bodyPr>
          <a:lstStyle/>
          <a:p>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管理员开启终端识别，配置终端策略。</a:t>
            </a:r>
          </a:p>
        </p:txBody>
      </p:sp>
      <p:sp>
        <p:nvSpPr>
          <p:cNvPr id="30" name="文本框 29"/>
          <p:cNvSpPr txBox="1"/>
          <p:nvPr/>
        </p:nvSpPr>
        <p:spPr bwMode="auto">
          <a:xfrm>
            <a:off x="1329715" y="4963881"/>
            <a:ext cx="1552647" cy="276999"/>
          </a:xfrm>
          <a:prstGeom prst="rect">
            <a:avLst/>
          </a:prstGeom>
          <a:noFill/>
        </p:spPr>
        <p:txBody>
          <a:bodyPr wrap="square" rtlCol="0">
            <a:spAutoFit/>
          </a:bodyPr>
          <a:lstStyle/>
          <a:p>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设备指纹信息上报。</a:t>
            </a:r>
          </a:p>
        </p:txBody>
      </p:sp>
      <p:sp>
        <p:nvSpPr>
          <p:cNvPr id="31" name="任意多边形 30"/>
          <p:cNvSpPr/>
          <p:nvPr/>
        </p:nvSpPr>
        <p:spPr bwMode="gray">
          <a:xfrm>
            <a:off x="1256206" y="2243150"/>
            <a:ext cx="2834463" cy="2826787"/>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35569"/>
              <a:gd name="connsiteY0" fmla="*/ 5913905 h 5913905"/>
              <a:gd name="connsiteX1" fmla="*/ 35569 w 35569"/>
              <a:gd name="connsiteY1" fmla="*/ 19416 h 5913905"/>
              <a:gd name="connsiteX0" fmla="*/ 0 w 35569"/>
              <a:gd name="connsiteY0" fmla="*/ 5923162 h 5923162"/>
              <a:gd name="connsiteX1" fmla="*/ 35569 w 35569"/>
              <a:gd name="connsiteY1" fmla="*/ 28673 h 5923162"/>
              <a:gd name="connsiteX0" fmla="*/ 0 w 35707"/>
              <a:gd name="connsiteY0" fmla="*/ 6197658 h 6197657"/>
              <a:gd name="connsiteX1" fmla="*/ 35707 w 35707"/>
              <a:gd name="connsiteY1" fmla="*/ 27474 h 6197657"/>
              <a:gd name="connsiteX0" fmla="*/ 569 w 36276"/>
              <a:gd name="connsiteY0" fmla="*/ 6200700 h 6200699"/>
              <a:gd name="connsiteX1" fmla="*/ 36276 w 36276"/>
              <a:gd name="connsiteY1" fmla="*/ 30516 h 6200699"/>
              <a:gd name="connsiteX0" fmla="*/ 0 w 35707"/>
              <a:gd name="connsiteY0" fmla="*/ 6201787 h 6201786"/>
              <a:gd name="connsiteX1" fmla="*/ 35707 w 35707"/>
              <a:gd name="connsiteY1" fmla="*/ 31603 h 6201786"/>
              <a:gd name="connsiteX0" fmla="*/ 0 w 35707"/>
              <a:gd name="connsiteY0" fmla="*/ 6430318 h 6430318"/>
              <a:gd name="connsiteX1" fmla="*/ 35707 w 35707"/>
              <a:gd name="connsiteY1" fmla="*/ 30386 h 6430318"/>
              <a:gd name="connsiteX0" fmla="*/ 0 w 35707"/>
              <a:gd name="connsiteY0" fmla="*/ 6456148 h 6456148"/>
              <a:gd name="connsiteX1" fmla="*/ 35707 w 35707"/>
              <a:gd name="connsiteY1" fmla="*/ 56216 h 6456148"/>
              <a:gd name="connsiteX0" fmla="*/ 0 w 36398"/>
              <a:gd name="connsiteY0" fmla="*/ 6523934 h 6523934"/>
              <a:gd name="connsiteX1" fmla="*/ 36398 w 36398"/>
              <a:gd name="connsiteY1" fmla="*/ 55077 h 6523934"/>
              <a:gd name="connsiteX0" fmla="*/ 0 w 36398"/>
              <a:gd name="connsiteY0" fmla="*/ 6659098 h 6659098"/>
              <a:gd name="connsiteX1" fmla="*/ 36398 w 36398"/>
              <a:gd name="connsiteY1" fmla="*/ 190241 h 6659098"/>
              <a:gd name="connsiteX0" fmla="*/ 0 w 36398"/>
              <a:gd name="connsiteY0" fmla="*/ 6679034 h 6679034"/>
              <a:gd name="connsiteX1" fmla="*/ 36398 w 36398"/>
              <a:gd name="connsiteY1" fmla="*/ 210177 h 6679034"/>
              <a:gd name="connsiteX0" fmla="*/ 0 w 41519"/>
              <a:gd name="connsiteY0" fmla="*/ 6514554 h 6514554"/>
              <a:gd name="connsiteX1" fmla="*/ 41519 w 41519"/>
              <a:gd name="connsiteY1" fmla="*/ 218295 h 6514554"/>
              <a:gd name="connsiteX0" fmla="*/ 0 w 41519"/>
              <a:gd name="connsiteY0" fmla="*/ 6803002 h 6803002"/>
              <a:gd name="connsiteX1" fmla="*/ 41519 w 41519"/>
              <a:gd name="connsiteY1" fmla="*/ 506743 h 6803002"/>
            </a:gdLst>
            <a:ahLst/>
            <a:cxnLst>
              <a:cxn ang="0">
                <a:pos x="connsiteX0" y="connsiteY0"/>
              </a:cxn>
              <a:cxn ang="0">
                <a:pos x="connsiteX1" y="connsiteY1"/>
              </a:cxn>
            </a:cxnLst>
            <a:rect l="l" t="t" r="r" b="b"/>
            <a:pathLst>
              <a:path w="41519" h="6803002">
                <a:moveTo>
                  <a:pt x="0" y="6803002"/>
                </a:moveTo>
                <a:cubicBezTo>
                  <a:pt x="569" y="2682674"/>
                  <a:pt x="7257" y="-1467244"/>
                  <a:pt x="41519" y="506743"/>
                </a:cubicBezTo>
              </a:path>
            </a:pathLst>
          </a:custGeom>
          <a:noFill/>
          <a:ln w="19050" algn="ctr">
            <a:solidFill>
              <a:srgbClr val="56C4D2"/>
            </a:solidFill>
            <a:prstDash val="sysDot"/>
            <a:round/>
            <a:headEnd type="none" w="med" len="med"/>
            <a:tailEnd type="triangle" w="med" len="med"/>
          </a:ln>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Straight Connector 167"/>
          <p:cNvCxnSpPr/>
          <p:nvPr/>
        </p:nvCxnSpPr>
        <p:spPr bwMode="gray">
          <a:xfrm>
            <a:off x="4219459" y="1704601"/>
            <a:ext cx="0" cy="590060"/>
          </a:xfrm>
          <a:prstGeom prst="line">
            <a:avLst/>
          </a:prstGeom>
          <a:noFill/>
          <a:ln w="19050" algn="ctr">
            <a:solidFill>
              <a:srgbClr val="56C4D2"/>
            </a:solidFill>
            <a:prstDash val="sysDot"/>
            <a:round/>
            <a:headEnd type="none" w="med" len="med"/>
            <a:tailEnd type="triangle" w="med" len="med"/>
          </a:ln>
        </p:spPr>
      </p:cxnSp>
      <p:sp>
        <p:nvSpPr>
          <p:cNvPr id="33" name="文本框 32"/>
          <p:cNvSpPr txBox="1"/>
          <p:nvPr/>
        </p:nvSpPr>
        <p:spPr bwMode="auto">
          <a:xfrm>
            <a:off x="4214420" y="3154122"/>
            <a:ext cx="1347388" cy="461665"/>
          </a:xfrm>
          <a:prstGeom prst="rect">
            <a:avLst/>
          </a:prstGeom>
          <a:noFill/>
        </p:spPr>
        <p:txBody>
          <a:bodyPr wrap="square" rtlCol="0">
            <a:spAutoFit/>
          </a:bodyPr>
          <a:lstStyle/>
          <a:p>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控制器下发配置到网络设备。</a:t>
            </a:r>
          </a:p>
        </p:txBody>
      </p:sp>
      <p:sp>
        <p:nvSpPr>
          <p:cNvPr id="34" name="文本框 33"/>
          <p:cNvSpPr txBox="1"/>
          <p:nvPr/>
        </p:nvSpPr>
        <p:spPr bwMode="auto">
          <a:xfrm>
            <a:off x="4540134" y="1885389"/>
            <a:ext cx="1429721" cy="646331"/>
          </a:xfrm>
          <a:prstGeom prst="rect">
            <a:avLst/>
          </a:prstGeom>
          <a:noFill/>
        </p:spPr>
        <p:txBody>
          <a:bodyPr wrap="square" rtlCol="0">
            <a:spAutoFit/>
          </a:bodyPr>
          <a:lstStyle/>
          <a:p>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终端指纹库匹配设备上报的指纹信息，并识别终端类型。</a:t>
            </a:r>
          </a:p>
        </p:txBody>
      </p:sp>
      <p:sp>
        <p:nvSpPr>
          <p:cNvPr id="35" name="任意多边形 34"/>
          <p:cNvSpPr/>
          <p:nvPr/>
        </p:nvSpPr>
        <p:spPr bwMode="gray">
          <a:xfrm>
            <a:off x="1362900" y="3025487"/>
            <a:ext cx="2285304" cy="1799212"/>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35569"/>
              <a:gd name="connsiteY0" fmla="*/ 5913905 h 5913905"/>
              <a:gd name="connsiteX1" fmla="*/ 35569 w 35569"/>
              <a:gd name="connsiteY1" fmla="*/ 19416 h 5913905"/>
              <a:gd name="connsiteX0" fmla="*/ 0 w 35569"/>
              <a:gd name="connsiteY0" fmla="*/ 5923162 h 5923162"/>
              <a:gd name="connsiteX1" fmla="*/ 35569 w 35569"/>
              <a:gd name="connsiteY1" fmla="*/ 28673 h 5923162"/>
              <a:gd name="connsiteX0" fmla="*/ 0 w 35707"/>
              <a:gd name="connsiteY0" fmla="*/ 6197658 h 6197657"/>
              <a:gd name="connsiteX1" fmla="*/ 35707 w 35707"/>
              <a:gd name="connsiteY1" fmla="*/ 27474 h 6197657"/>
              <a:gd name="connsiteX0" fmla="*/ 569 w 36276"/>
              <a:gd name="connsiteY0" fmla="*/ 6200700 h 6200699"/>
              <a:gd name="connsiteX1" fmla="*/ 36276 w 36276"/>
              <a:gd name="connsiteY1" fmla="*/ 30516 h 6200699"/>
              <a:gd name="connsiteX0" fmla="*/ 0 w 35707"/>
              <a:gd name="connsiteY0" fmla="*/ 6201787 h 6201786"/>
              <a:gd name="connsiteX1" fmla="*/ 35707 w 35707"/>
              <a:gd name="connsiteY1" fmla="*/ 31603 h 6201786"/>
              <a:gd name="connsiteX0" fmla="*/ 0 w 35707"/>
              <a:gd name="connsiteY0" fmla="*/ 6430318 h 6430318"/>
              <a:gd name="connsiteX1" fmla="*/ 35707 w 35707"/>
              <a:gd name="connsiteY1" fmla="*/ 30386 h 6430318"/>
              <a:gd name="connsiteX0" fmla="*/ 0 w 35707"/>
              <a:gd name="connsiteY0" fmla="*/ 6456148 h 6456148"/>
              <a:gd name="connsiteX1" fmla="*/ 35707 w 35707"/>
              <a:gd name="connsiteY1" fmla="*/ 56216 h 6456148"/>
              <a:gd name="connsiteX0" fmla="*/ 0 w 36398"/>
              <a:gd name="connsiteY0" fmla="*/ 6523934 h 6523934"/>
              <a:gd name="connsiteX1" fmla="*/ 36398 w 36398"/>
              <a:gd name="connsiteY1" fmla="*/ 55077 h 6523934"/>
              <a:gd name="connsiteX0" fmla="*/ 0 w 36398"/>
              <a:gd name="connsiteY0" fmla="*/ 6659098 h 6659098"/>
              <a:gd name="connsiteX1" fmla="*/ 36398 w 36398"/>
              <a:gd name="connsiteY1" fmla="*/ 190241 h 6659098"/>
              <a:gd name="connsiteX0" fmla="*/ 0 w 36398"/>
              <a:gd name="connsiteY0" fmla="*/ 6679034 h 6679034"/>
              <a:gd name="connsiteX1" fmla="*/ 36398 w 36398"/>
              <a:gd name="connsiteY1" fmla="*/ 210177 h 6679034"/>
              <a:gd name="connsiteX0" fmla="*/ 0 w 26170"/>
              <a:gd name="connsiteY0" fmla="*/ 1967655 h 2414175"/>
              <a:gd name="connsiteX1" fmla="*/ 26170 w 26170"/>
              <a:gd name="connsiteY1" fmla="*/ 2414175 h 2414175"/>
              <a:gd name="connsiteX0" fmla="*/ 16832 w 16838"/>
              <a:gd name="connsiteY0" fmla="*/ 1113807 h 6660702"/>
              <a:gd name="connsiteX1" fmla="*/ 11766 w 16838"/>
              <a:gd name="connsiteY1" fmla="*/ 6660702 h 6660702"/>
              <a:gd name="connsiteX0" fmla="*/ 5066 w 7722"/>
              <a:gd name="connsiteY0" fmla="*/ 1143130 h 6690025"/>
              <a:gd name="connsiteX1" fmla="*/ 0 w 7722"/>
              <a:gd name="connsiteY1" fmla="*/ 6690025 h 6690025"/>
              <a:gd name="connsiteX0" fmla="*/ 7252 w 7252"/>
              <a:gd name="connsiteY0" fmla="*/ 0 h 8291"/>
              <a:gd name="connsiteX1" fmla="*/ 692 w 7252"/>
              <a:gd name="connsiteY1" fmla="*/ 8291 h 8291"/>
              <a:gd name="connsiteX0" fmla="*/ 57173 w 57173"/>
              <a:gd name="connsiteY0" fmla="*/ 0 h 6852"/>
              <a:gd name="connsiteX1" fmla="*/ 0 w 57173"/>
              <a:gd name="connsiteY1" fmla="*/ 6852 h 6852"/>
              <a:gd name="connsiteX0" fmla="*/ 10000 w 10000"/>
              <a:gd name="connsiteY0" fmla="*/ 0 h 10000"/>
              <a:gd name="connsiteX1" fmla="*/ 0 w 10000"/>
              <a:gd name="connsiteY1" fmla="*/ 10000 h 10000"/>
              <a:gd name="connsiteX0" fmla="*/ 9309 w 9309"/>
              <a:gd name="connsiteY0" fmla="*/ 0 h 10725"/>
              <a:gd name="connsiteX1" fmla="*/ 0 w 9309"/>
              <a:gd name="connsiteY1" fmla="*/ 10725 h 10725"/>
              <a:gd name="connsiteX0" fmla="*/ 10510 w 10510"/>
              <a:gd name="connsiteY0" fmla="*/ 0 h 10282"/>
              <a:gd name="connsiteX1" fmla="*/ 0 w 10510"/>
              <a:gd name="connsiteY1" fmla="*/ 10282 h 10282"/>
              <a:gd name="connsiteX0" fmla="*/ 10510 w 10510"/>
              <a:gd name="connsiteY0" fmla="*/ 0 h 10282"/>
              <a:gd name="connsiteX1" fmla="*/ 0 w 10510"/>
              <a:gd name="connsiteY1" fmla="*/ 10282 h 10282"/>
            </a:gdLst>
            <a:ahLst/>
            <a:cxnLst>
              <a:cxn ang="0">
                <a:pos x="connsiteX0" y="connsiteY0"/>
              </a:cxn>
              <a:cxn ang="0">
                <a:pos x="connsiteX1" y="connsiteY1"/>
              </a:cxn>
            </a:cxnLst>
            <a:rect l="l" t="t" r="r" b="b"/>
            <a:pathLst>
              <a:path w="10510" h="10282">
                <a:moveTo>
                  <a:pt x="10510" y="0"/>
                </a:moveTo>
                <a:cubicBezTo>
                  <a:pt x="8846" y="2741"/>
                  <a:pt x="5344" y="7445"/>
                  <a:pt x="0" y="10282"/>
                </a:cubicBezTo>
              </a:path>
            </a:pathLst>
          </a:custGeom>
          <a:noFill/>
          <a:ln w="19050" algn="ctr">
            <a:solidFill>
              <a:srgbClr val="56C4D2"/>
            </a:solidFill>
            <a:prstDash val="sysDot"/>
            <a:round/>
            <a:headEnd type="none" w="med" len="med"/>
            <a:tailEnd type="triangle" w="med" len="med"/>
          </a:ln>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auto">
          <a:xfrm>
            <a:off x="2438378" y="4230157"/>
            <a:ext cx="1414874" cy="461665"/>
          </a:xfrm>
          <a:prstGeom prst="rect">
            <a:avLst/>
          </a:prstGeom>
          <a:noFill/>
        </p:spPr>
        <p:txBody>
          <a:bodyPr wrap="square" rtlCol="0">
            <a:spAutoFit/>
          </a:bodyPr>
          <a:lstStyle/>
          <a:p>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控制器下发终端的准入和授权策略。</a:t>
            </a:r>
          </a:p>
        </p:txBody>
      </p:sp>
      <p:sp>
        <p:nvSpPr>
          <p:cNvPr id="37" name="Oval 4"/>
          <p:cNvSpPr>
            <a:spLocks noChangeAspect="1"/>
          </p:cNvSpPr>
          <p:nvPr/>
        </p:nvSpPr>
        <p:spPr bwMode="gray">
          <a:xfrm>
            <a:off x="3351459" y="1400414"/>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Oval 4"/>
          <p:cNvSpPr>
            <a:spLocks noChangeAspect="1"/>
          </p:cNvSpPr>
          <p:nvPr/>
        </p:nvSpPr>
        <p:spPr bwMode="gray">
          <a:xfrm>
            <a:off x="1152073" y="5001836"/>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Oval 4"/>
          <p:cNvSpPr>
            <a:spLocks noChangeAspect="1"/>
          </p:cNvSpPr>
          <p:nvPr/>
        </p:nvSpPr>
        <p:spPr bwMode="gray">
          <a:xfrm>
            <a:off x="4032534" y="3200375"/>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4"/>
          <p:cNvSpPr>
            <a:spLocks noChangeAspect="1"/>
          </p:cNvSpPr>
          <p:nvPr/>
        </p:nvSpPr>
        <p:spPr bwMode="gray">
          <a:xfrm>
            <a:off x="4664890" y="2520728"/>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4</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Oval 4"/>
          <p:cNvSpPr>
            <a:spLocks noChangeAspect="1"/>
          </p:cNvSpPr>
          <p:nvPr/>
        </p:nvSpPr>
        <p:spPr bwMode="gray">
          <a:xfrm>
            <a:off x="2352370" y="4083246"/>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5</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51859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Freeform 159"/>
          <p:cNvSpPr/>
          <p:nvPr/>
        </p:nvSpPr>
        <p:spPr bwMode="gray">
          <a:xfrm flipH="1">
            <a:off x="1035288" y="2935462"/>
            <a:ext cx="3663712" cy="19151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t>CloudCampus</a:t>
            </a:r>
            <a:r>
              <a:rPr lang="zh-CN" altLang="en-US" dirty="0"/>
              <a:t>关键技术：</a:t>
            </a:r>
            <a:r>
              <a:rPr lang="zh-CN" altLang="en-US" dirty="0">
                <a:sym typeface="Huawei Sans" panose="020C0503030203020204" pitchFamily="34" charset="0"/>
              </a:rPr>
              <a:t>基于</a:t>
            </a:r>
            <a:r>
              <a:rPr lang="en-US" altLang="zh-CN" dirty="0">
                <a:sym typeface="Huawei Sans" panose="020C0503030203020204" pitchFamily="34" charset="0"/>
              </a:rPr>
              <a:t>VXLAN</a:t>
            </a:r>
            <a:r>
              <a:rPr lang="zh-CN" altLang="en-US" dirty="0">
                <a:sym typeface="Huawei Sans" panose="020C0503030203020204" pitchFamily="34" charset="0"/>
              </a:rPr>
              <a:t>的网络虚拟化</a:t>
            </a:r>
          </a:p>
        </p:txBody>
      </p:sp>
      <p:cxnSp>
        <p:nvCxnSpPr>
          <p:cNvPr id="3" name="Straight Connector 166"/>
          <p:cNvCxnSpPr/>
          <p:nvPr/>
        </p:nvCxnSpPr>
        <p:spPr bwMode="gray">
          <a:xfrm flipH="1">
            <a:off x="10780207" y="4379066"/>
            <a:ext cx="4" cy="1122829"/>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 name="Straight Connector 166"/>
          <p:cNvCxnSpPr/>
          <p:nvPr/>
        </p:nvCxnSpPr>
        <p:spPr bwMode="gray">
          <a:xfrm flipH="1">
            <a:off x="8913042" y="4379066"/>
            <a:ext cx="4" cy="1122829"/>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166"/>
          <p:cNvCxnSpPr/>
          <p:nvPr/>
        </p:nvCxnSpPr>
        <p:spPr bwMode="gray">
          <a:xfrm flipH="1">
            <a:off x="7034801" y="4379066"/>
            <a:ext cx="4" cy="1122829"/>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bwMode="gray">
          <a:xfrm>
            <a:off x="7266821" y="3108268"/>
            <a:ext cx="3291114" cy="1165593"/>
            <a:chOff x="6993338" y="4944020"/>
            <a:chExt cx="823660" cy="656223"/>
          </a:xfrm>
        </p:grpSpPr>
        <p:grpSp>
          <p:nvGrpSpPr>
            <p:cNvPr id="7" name="Group 165"/>
            <p:cNvGrpSpPr/>
            <p:nvPr/>
          </p:nvGrpSpPr>
          <p:grpSpPr bwMode="gray">
            <a:xfrm rot="10800000">
              <a:off x="6993338" y="4944020"/>
              <a:ext cx="823660" cy="502927"/>
              <a:chOff x="-1233037" y="914446"/>
              <a:chExt cx="1573823" cy="778776"/>
            </a:xfrm>
          </p:grpSpPr>
          <p:cxnSp>
            <p:nvCxnSpPr>
              <p:cNvPr id="9" name="Straight Connector 166"/>
              <p:cNvCxnSpPr/>
              <p:nvPr/>
            </p:nvCxnSpPr>
            <p:spPr bwMode="gray">
              <a:xfrm flipH="1" flipV="1">
                <a:off x="-1233037" y="914446"/>
                <a:ext cx="786912" cy="778776"/>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p:nvPr/>
            </p:nvCxnSpPr>
            <p:spPr bwMode="gray">
              <a:xfrm flipV="1">
                <a:off x="-446125" y="914446"/>
                <a:ext cx="786911" cy="778776"/>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cxnSp>
          <p:nvCxnSpPr>
            <p:cNvPr id="8" name="Straight Connector 166"/>
            <p:cNvCxnSpPr/>
            <p:nvPr/>
          </p:nvCxnSpPr>
          <p:spPr bwMode="gray">
            <a:xfrm flipH="1">
              <a:off x="7405167" y="4968096"/>
              <a:ext cx="1" cy="63214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11" name="Freeform 159"/>
          <p:cNvSpPr/>
          <p:nvPr/>
        </p:nvSpPr>
        <p:spPr bwMode="gray">
          <a:xfrm flipH="1">
            <a:off x="6340898" y="3788291"/>
            <a:ext cx="1382848" cy="8121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 name="Group 165"/>
          <p:cNvGrpSpPr/>
          <p:nvPr/>
        </p:nvGrpSpPr>
        <p:grpSpPr bwMode="gray">
          <a:xfrm rot="10800000">
            <a:off x="3537800" y="4883057"/>
            <a:ext cx="823660" cy="502927"/>
            <a:chOff x="-1233037" y="914446"/>
            <a:chExt cx="1573823" cy="778776"/>
          </a:xfrm>
        </p:grpSpPr>
        <p:cxnSp>
          <p:nvCxnSpPr>
            <p:cNvPr id="13" name="Straight Connector 166"/>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67"/>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225"/>
          <p:cNvGrpSpPr>
            <a:grpSpLocks/>
          </p:cNvGrpSpPr>
          <p:nvPr/>
        </p:nvGrpSpPr>
        <p:grpSpPr bwMode="gray">
          <a:xfrm>
            <a:off x="4147682" y="5373437"/>
            <a:ext cx="504238" cy="504879"/>
            <a:chOff x="436563" y="3479800"/>
            <a:chExt cx="1114425" cy="1116013"/>
          </a:xfrm>
        </p:grpSpPr>
        <p:sp>
          <p:nvSpPr>
            <p:cNvPr id="16" name="Freeform 166"/>
            <p:cNvSpPr>
              <a:spLocks/>
            </p:cNvSpPr>
            <p:nvPr/>
          </p:nvSpPr>
          <p:spPr bwMode="gray">
            <a:xfrm>
              <a:off x="436563" y="3479800"/>
              <a:ext cx="1114425"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30"/>
                  </a:moveTo>
                  <a:lnTo>
                    <a:pt x="2658" y="1330"/>
                  </a:lnTo>
                  <a:cubicBezTo>
                    <a:pt x="2658" y="2064"/>
                    <a:pt x="2063" y="2659"/>
                    <a:pt x="1329" y="2659"/>
                  </a:cubicBezTo>
                  <a:cubicBezTo>
                    <a:pt x="595" y="2659"/>
                    <a:pt x="0" y="2064"/>
                    <a:pt x="0" y="1330"/>
                  </a:cubicBezTo>
                  <a:cubicBezTo>
                    <a:pt x="0" y="595"/>
                    <a:pt x="595" y="0"/>
                    <a:pt x="1329" y="0"/>
                  </a:cubicBezTo>
                  <a:cubicBezTo>
                    <a:pt x="2063" y="0"/>
                    <a:pt x="2658" y="595"/>
                    <a:pt x="2658" y="1330"/>
                  </a:cubicBezTo>
                  <a:close/>
                </a:path>
              </a:pathLst>
            </a:custGeom>
            <a:solidFill>
              <a:srgbClr val="FFD17D"/>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 name="组合 206"/>
            <p:cNvGrpSpPr>
              <a:grpSpLocks/>
            </p:cNvGrpSpPr>
            <p:nvPr/>
          </p:nvGrpSpPr>
          <p:grpSpPr bwMode="gray">
            <a:xfrm>
              <a:off x="512763" y="3792538"/>
              <a:ext cx="963613" cy="488950"/>
              <a:chOff x="512763" y="3792538"/>
              <a:chExt cx="963613" cy="488950"/>
            </a:xfrm>
          </p:grpSpPr>
          <p:sp>
            <p:nvSpPr>
              <p:cNvPr id="18" name="Freeform 167"/>
              <p:cNvSpPr>
                <a:spLocks noEditPoints="1"/>
              </p:cNvSpPr>
              <p:nvPr/>
            </p:nvSpPr>
            <p:spPr bwMode="gray">
              <a:xfrm>
                <a:off x="633413" y="3844925"/>
                <a:ext cx="227013" cy="163513"/>
              </a:xfrm>
              <a:custGeom>
                <a:avLst/>
                <a:gdLst>
                  <a:gd name="T0" fmla="*/ 2147483647 w 541"/>
                  <a:gd name="T1" fmla="*/ 2147483647 h 390"/>
                  <a:gd name="T2" fmla="*/ 2147483647 w 541"/>
                  <a:gd name="T3" fmla="*/ 2147483647 h 390"/>
                  <a:gd name="T4" fmla="*/ 2147483647 w 541"/>
                  <a:gd name="T5" fmla="*/ 2147483647 h 390"/>
                  <a:gd name="T6" fmla="*/ 2147483647 w 541"/>
                  <a:gd name="T7" fmla="*/ 2147483647 h 390"/>
                  <a:gd name="T8" fmla="*/ 2147483647 w 541"/>
                  <a:gd name="T9" fmla="*/ 2147483647 h 390"/>
                  <a:gd name="T10" fmla="*/ 2147483647 w 541"/>
                  <a:gd name="T11" fmla="*/ 2147483647 h 390"/>
                  <a:gd name="T12" fmla="*/ 0 w 541"/>
                  <a:gd name="T13" fmla="*/ 2147483647 h 390"/>
                  <a:gd name="T14" fmla="*/ 0 w 541"/>
                  <a:gd name="T15" fmla="*/ 2147483647 h 390"/>
                  <a:gd name="T16" fmla="*/ 2147483647 w 541"/>
                  <a:gd name="T17" fmla="*/ 2147483647 h 390"/>
                  <a:gd name="T18" fmla="*/ 2147483647 w 541"/>
                  <a:gd name="T19" fmla="*/ 0 h 390"/>
                  <a:gd name="T20" fmla="*/ 0 w 541"/>
                  <a:gd name="T21" fmla="*/ 0 h 390"/>
                  <a:gd name="T22" fmla="*/ 0 w 541"/>
                  <a:gd name="T23" fmla="*/ 2147483647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1"/>
                  <a:gd name="T37" fmla="*/ 0 h 390"/>
                  <a:gd name="T38" fmla="*/ 541 w 541"/>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1" h="390">
                    <a:moveTo>
                      <a:pt x="53" y="54"/>
                    </a:moveTo>
                    <a:lnTo>
                      <a:pt x="53" y="54"/>
                    </a:lnTo>
                    <a:lnTo>
                      <a:pt x="488" y="54"/>
                    </a:lnTo>
                    <a:lnTo>
                      <a:pt x="488" y="336"/>
                    </a:lnTo>
                    <a:lnTo>
                      <a:pt x="53" y="336"/>
                    </a:lnTo>
                    <a:lnTo>
                      <a:pt x="53" y="54"/>
                    </a:lnTo>
                    <a:close/>
                    <a:moveTo>
                      <a:pt x="0" y="390"/>
                    </a:moveTo>
                    <a:lnTo>
                      <a:pt x="0" y="390"/>
                    </a:lnTo>
                    <a:lnTo>
                      <a:pt x="541" y="390"/>
                    </a:lnTo>
                    <a:lnTo>
                      <a:pt x="541" y="0"/>
                    </a:lnTo>
                    <a:lnTo>
                      <a:pt x="0" y="0"/>
                    </a:lnTo>
                    <a:lnTo>
                      <a:pt x="0" y="39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168"/>
              <p:cNvSpPr>
                <a:spLocks noEditPoints="1"/>
              </p:cNvSpPr>
              <p:nvPr/>
            </p:nvSpPr>
            <p:spPr bwMode="gray">
              <a:xfrm>
                <a:off x="88106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8" y="336"/>
                    </a:moveTo>
                    <a:lnTo>
                      <a:pt x="488" y="336"/>
                    </a:lnTo>
                    <a:lnTo>
                      <a:pt x="54" y="336"/>
                    </a:lnTo>
                    <a:lnTo>
                      <a:pt x="54" y="54"/>
                    </a:lnTo>
                    <a:lnTo>
                      <a:pt x="488" y="54"/>
                    </a:lnTo>
                    <a:lnTo>
                      <a:pt x="488"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169"/>
              <p:cNvSpPr>
                <a:spLocks noEditPoints="1"/>
              </p:cNvSpPr>
              <p:nvPr/>
            </p:nvSpPr>
            <p:spPr bwMode="gray">
              <a:xfrm>
                <a:off x="112871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9" y="336"/>
                    </a:moveTo>
                    <a:lnTo>
                      <a:pt x="489" y="336"/>
                    </a:lnTo>
                    <a:lnTo>
                      <a:pt x="54" y="336"/>
                    </a:lnTo>
                    <a:lnTo>
                      <a:pt x="54" y="54"/>
                    </a:lnTo>
                    <a:lnTo>
                      <a:pt x="489" y="54"/>
                    </a:lnTo>
                    <a:lnTo>
                      <a:pt x="489"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170"/>
              <p:cNvSpPr>
                <a:spLocks noEditPoints="1"/>
              </p:cNvSpPr>
              <p:nvPr/>
            </p:nvSpPr>
            <p:spPr bwMode="gray">
              <a:xfrm>
                <a:off x="512763" y="3792538"/>
                <a:ext cx="963613" cy="488950"/>
              </a:xfrm>
              <a:custGeom>
                <a:avLst/>
                <a:gdLst>
                  <a:gd name="T0" fmla="*/ 2147483647 w 2298"/>
                  <a:gd name="T1" fmla="*/ 2147483647 h 1165"/>
                  <a:gd name="T2" fmla="*/ 2147483647 w 2298"/>
                  <a:gd name="T3" fmla="*/ 2147483647 h 1165"/>
                  <a:gd name="T4" fmla="*/ 2147483647 w 2298"/>
                  <a:gd name="T5" fmla="*/ 2147483647 h 1165"/>
                  <a:gd name="T6" fmla="*/ 2147483647 w 2298"/>
                  <a:gd name="T7" fmla="*/ 2147483647 h 1165"/>
                  <a:gd name="T8" fmla="*/ 2147483647 w 2298"/>
                  <a:gd name="T9" fmla="*/ 2147483647 h 1165"/>
                  <a:gd name="T10" fmla="*/ 2147483647 w 2298"/>
                  <a:gd name="T11" fmla="*/ 2147483647 h 1165"/>
                  <a:gd name="T12" fmla="*/ 2147483647 w 2298"/>
                  <a:gd name="T13" fmla="*/ 2147483647 h 1165"/>
                  <a:gd name="T14" fmla="*/ 2147483647 w 2298"/>
                  <a:gd name="T15" fmla="*/ 2147483647 h 1165"/>
                  <a:gd name="T16" fmla="*/ 2147483647 w 2298"/>
                  <a:gd name="T17" fmla="*/ 2147483647 h 1165"/>
                  <a:gd name="T18" fmla="*/ 2147483647 w 2298"/>
                  <a:gd name="T19" fmla="*/ 2147483647 h 1165"/>
                  <a:gd name="T20" fmla="*/ 2147483647 w 2298"/>
                  <a:gd name="T21" fmla="*/ 2147483647 h 1165"/>
                  <a:gd name="T22" fmla="*/ 2147483647 w 2298"/>
                  <a:gd name="T23" fmla="*/ 2147483647 h 1165"/>
                  <a:gd name="T24" fmla="*/ 2147483647 w 2298"/>
                  <a:gd name="T25" fmla="*/ 2147483647 h 1165"/>
                  <a:gd name="T26" fmla="*/ 2147483647 w 2298"/>
                  <a:gd name="T27" fmla="*/ 2147483647 h 1165"/>
                  <a:gd name="T28" fmla="*/ 2147483647 w 2298"/>
                  <a:gd name="T29" fmla="*/ 2147483647 h 1165"/>
                  <a:gd name="T30" fmla="*/ 2147483647 w 2298"/>
                  <a:gd name="T31" fmla="*/ 2147483647 h 1165"/>
                  <a:gd name="T32" fmla="*/ 2147483647 w 2298"/>
                  <a:gd name="T33" fmla="*/ 2147483647 h 1165"/>
                  <a:gd name="T34" fmla="*/ 2147483647 w 2298"/>
                  <a:gd name="T35" fmla="*/ 2147483647 h 1165"/>
                  <a:gd name="T36" fmla="*/ 2147483647 w 2298"/>
                  <a:gd name="T37" fmla="*/ 2147483647 h 1165"/>
                  <a:gd name="T38" fmla="*/ 2147483647 w 2298"/>
                  <a:gd name="T39" fmla="*/ 2147483647 h 1165"/>
                  <a:gd name="T40" fmla="*/ 2147483647 w 2298"/>
                  <a:gd name="T41" fmla="*/ 2147483647 h 1165"/>
                  <a:gd name="T42" fmla="*/ 2147483647 w 2298"/>
                  <a:gd name="T43" fmla="*/ 2147483647 h 1165"/>
                  <a:gd name="T44" fmla="*/ 2147483647 w 2298"/>
                  <a:gd name="T45" fmla="*/ 2147483647 h 1165"/>
                  <a:gd name="T46" fmla="*/ 2147483647 w 2298"/>
                  <a:gd name="T47" fmla="*/ 2147483647 h 1165"/>
                  <a:gd name="T48" fmla="*/ 2147483647 w 2298"/>
                  <a:gd name="T49" fmla="*/ 2147483647 h 1165"/>
                  <a:gd name="T50" fmla="*/ 2147483647 w 2298"/>
                  <a:gd name="T51" fmla="*/ 2147483647 h 1165"/>
                  <a:gd name="T52" fmla="*/ 2147483647 w 2298"/>
                  <a:gd name="T53" fmla="*/ 2147483647 h 1165"/>
                  <a:gd name="T54" fmla="*/ 2147483647 w 2298"/>
                  <a:gd name="T55" fmla="*/ 2147483647 h 1165"/>
                  <a:gd name="T56" fmla="*/ 2147483647 w 2298"/>
                  <a:gd name="T57" fmla="*/ 2147483647 h 1165"/>
                  <a:gd name="T58" fmla="*/ 2147483647 w 2298"/>
                  <a:gd name="T59" fmla="*/ 2147483647 h 1165"/>
                  <a:gd name="T60" fmla="*/ 2147483647 w 2298"/>
                  <a:gd name="T61" fmla="*/ 2147483647 h 1165"/>
                  <a:gd name="T62" fmla="*/ 2147483647 w 2298"/>
                  <a:gd name="T63" fmla="*/ 2147483647 h 1165"/>
                  <a:gd name="T64" fmla="*/ 2147483647 w 2298"/>
                  <a:gd name="T65" fmla="*/ 2147483647 h 1165"/>
                  <a:gd name="T66" fmla="*/ 2147483647 w 2298"/>
                  <a:gd name="T67" fmla="*/ 0 h 1165"/>
                  <a:gd name="T68" fmla="*/ 2147483647 w 2298"/>
                  <a:gd name="T69" fmla="*/ 2147483647 h 1165"/>
                  <a:gd name="T70" fmla="*/ 2147483647 w 2298"/>
                  <a:gd name="T71" fmla="*/ 2147483647 h 1165"/>
                  <a:gd name="T72" fmla="*/ 2147483647 w 2298"/>
                  <a:gd name="T73" fmla="*/ 2147483647 h 1165"/>
                  <a:gd name="T74" fmla="*/ 2147483647 w 2298"/>
                  <a:gd name="T75" fmla="*/ 2147483647 h 1165"/>
                  <a:gd name="T76" fmla="*/ 2147483647 w 2298"/>
                  <a:gd name="T77" fmla="*/ 2147483647 h 1165"/>
                  <a:gd name="T78" fmla="*/ 2147483647 w 2298"/>
                  <a:gd name="T79" fmla="*/ 2147483647 h 1165"/>
                  <a:gd name="T80" fmla="*/ 2147483647 w 2298"/>
                  <a:gd name="T81" fmla="*/ 2147483647 h 1165"/>
                  <a:gd name="T82" fmla="*/ 2147483647 w 2298"/>
                  <a:gd name="T83" fmla="*/ 2147483647 h 1165"/>
                  <a:gd name="T84" fmla="*/ 2147483647 w 2298"/>
                  <a:gd name="T85" fmla="*/ 2147483647 h 1165"/>
                  <a:gd name="T86" fmla="*/ 2147483647 w 2298"/>
                  <a:gd name="T87" fmla="*/ 2147483647 h 1165"/>
                  <a:gd name="T88" fmla="*/ 2147483647 w 2298"/>
                  <a:gd name="T89" fmla="*/ 2147483647 h 1165"/>
                  <a:gd name="T90" fmla="*/ 2147483647 w 2298"/>
                  <a:gd name="T91" fmla="*/ 2147483647 h 1165"/>
                  <a:gd name="T92" fmla="*/ 2147483647 w 2298"/>
                  <a:gd name="T93" fmla="*/ 2147483647 h 1165"/>
                  <a:gd name="T94" fmla="*/ 2147483647 w 2298"/>
                  <a:gd name="T95" fmla="*/ 2147483647 h 1165"/>
                  <a:gd name="T96" fmla="*/ 2147483647 w 2298"/>
                  <a:gd name="T97" fmla="*/ 2147483647 h 1165"/>
                  <a:gd name="T98" fmla="*/ 2147483647 w 2298"/>
                  <a:gd name="T99" fmla="*/ 2147483647 h 1165"/>
                  <a:gd name="T100" fmla="*/ 2147483647 w 2298"/>
                  <a:gd name="T101" fmla="*/ 2147483647 h 1165"/>
                  <a:gd name="T102" fmla="*/ 2147483647 w 2298"/>
                  <a:gd name="T103" fmla="*/ 2147483647 h 1165"/>
                  <a:gd name="T104" fmla="*/ 2147483647 w 2298"/>
                  <a:gd name="T105" fmla="*/ 2147483647 h 1165"/>
                  <a:gd name="T106" fmla="*/ 2147483647 w 2298"/>
                  <a:gd name="T107" fmla="*/ 2147483647 h 116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98"/>
                  <a:gd name="T163" fmla="*/ 0 h 1165"/>
                  <a:gd name="T164" fmla="*/ 2298 w 2298"/>
                  <a:gd name="T165" fmla="*/ 1165 h 116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98" h="1165">
                    <a:moveTo>
                      <a:pt x="1149" y="819"/>
                    </a:moveTo>
                    <a:lnTo>
                      <a:pt x="1149" y="819"/>
                    </a:lnTo>
                    <a:cubicBezTo>
                      <a:pt x="637" y="819"/>
                      <a:pt x="294" y="719"/>
                      <a:pt x="141" y="662"/>
                    </a:cubicBezTo>
                    <a:lnTo>
                      <a:pt x="312" y="621"/>
                    </a:lnTo>
                    <a:cubicBezTo>
                      <a:pt x="512" y="682"/>
                      <a:pt x="796" y="702"/>
                      <a:pt x="981" y="709"/>
                    </a:cubicBezTo>
                    <a:cubicBezTo>
                      <a:pt x="993" y="731"/>
                      <a:pt x="1016" y="747"/>
                      <a:pt x="1042" y="747"/>
                    </a:cubicBezTo>
                    <a:cubicBezTo>
                      <a:pt x="1081" y="747"/>
                      <a:pt x="1112" y="716"/>
                      <a:pt x="1112" y="677"/>
                    </a:cubicBezTo>
                    <a:cubicBezTo>
                      <a:pt x="1112" y="639"/>
                      <a:pt x="1081" y="608"/>
                      <a:pt x="1042" y="608"/>
                    </a:cubicBezTo>
                    <a:cubicBezTo>
                      <a:pt x="1017" y="608"/>
                      <a:pt x="995" y="622"/>
                      <a:pt x="983" y="643"/>
                    </a:cubicBezTo>
                    <a:cubicBezTo>
                      <a:pt x="798" y="636"/>
                      <a:pt x="516" y="615"/>
                      <a:pt x="323" y="555"/>
                    </a:cubicBezTo>
                    <a:cubicBezTo>
                      <a:pt x="317" y="553"/>
                      <a:pt x="311" y="553"/>
                      <a:pt x="305" y="554"/>
                    </a:cubicBezTo>
                    <a:lnTo>
                      <a:pt x="240" y="570"/>
                    </a:lnTo>
                    <a:lnTo>
                      <a:pt x="240" y="111"/>
                    </a:lnTo>
                    <a:cubicBezTo>
                      <a:pt x="240" y="87"/>
                      <a:pt x="260" y="66"/>
                      <a:pt x="285" y="66"/>
                    </a:cubicBezTo>
                    <a:lnTo>
                      <a:pt x="2013" y="66"/>
                    </a:lnTo>
                    <a:cubicBezTo>
                      <a:pt x="2038" y="66"/>
                      <a:pt x="2058" y="87"/>
                      <a:pt x="2058" y="111"/>
                    </a:cubicBezTo>
                    <a:lnTo>
                      <a:pt x="2058" y="570"/>
                    </a:lnTo>
                    <a:lnTo>
                      <a:pt x="1993" y="554"/>
                    </a:lnTo>
                    <a:cubicBezTo>
                      <a:pt x="1987" y="553"/>
                      <a:pt x="1981" y="553"/>
                      <a:pt x="1975" y="555"/>
                    </a:cubicBezTo>
                    <a:cubicBezTo>
                      <a:pt x="1781" y="615"/>
                      <a:pt x="1498" y="636"/>
                      <a:pt x="1315" y="643"/>
                    </a:cubicBezTo>
                    <a:cubicBezTo>
                      <a:pt x="1303" y="622"/>
                      <a:pt x="1281" y="608"/>
                      <a:pt x="1255" y="608"/>
                    </a:cubicBezTo>
                    <a:cubicBezTo>
                      <a:pt x="1217" y="608"/>
                      <a:pt x="1186" y="639"/>
                      <a:pt x="1186" y="677"/>
                    </a:cubicBezTo>
                    <a:cubicBezTo>
                      <a:pt x="1186" y="716"/>
                      <a:pt x="1217" y="747"/>
                      <a:pt x="1255" y="747"/>
                    </a:cubicBezTo>
                    <a:cubicBezTo>
                      <a:pt x="1282" y="747"/>
                      <a:pt x="1305" y="731"/>
                      <a:pt x="1317" y="709"/>
                    </a:cubicBezTo>
                    <a:cubicBezTo>
                      <a:pt x="1501" y="702"/>
                      <a:pt x="1785" y="682"/>
                      <a:pt x="1986" y="621"/>
                    </a:cubicBezTo>
                    <a:lnTo>
                      <a:pt x="2157" y="662"/>
                    </a:lnTo>
                    <a:cubicBezTo>
                      <a:pt x="2004" y="719"/>
                      <a:pt x="1662" y="819"/>
                      <a:pt x="1149" y="819"/>
                    </a:cubicBezTo>
                    <a:close/>
                    <a:moveTo>
                      <a:pt x="1976" y="901"/>
                    </a:moveTo>
                    <a:lnTo>
                      <a:pt x="1976" y="901"/>
                    </a:lnTo>
                    <a:cubicBezTo>
                      <a:pt x="1976" y="918"/>
                      <a:pt x="1963" y="931"/>
                      <a:pt x="1947" y="932"/>
                    </a:cubicBezTo>
                    <a:lnTo>
                      <a:pt x="1767" y="907"/>
                    </a:lnTo>
                    <a:cubicBezTo>
                      <a:pt x="1743" y="902"/>
                      <a:pt x="1730" y="891"/>
                      <a:pt x="1730" y="876"/>
                    </a:cubicBezTo>
                    <a:lnTo>
                      <a:pt x="1730" y="841"/>
                    </a:lnTo>
                    <a:cubicBezTo>
                      <a:pt x="1824" y="825"/>
                      <a:pt x="1906" y="807"/>
                      <a:pt x="1976" y="789"/>
                    </a:cubicBezTo>
                    <a:lnTo>
                      <a:pt x="1976" y="901"/>
                    </a:lnTo>
                    <a:close/>
                    <a:moveTo>
                      <a:pt x="1463" y="1079"/>
                    </a:moveTo>
                    <a:lnTo>
                      <a:pt x="1463" y="1079"/>
                    </a:lnTo>
                    <a:cubicBezTo>
                      <a:pt x="1463" y="1088"/>
                      <a:pt x="1459" y="1095"/>
                      <a:pt x="1453" y="1097"/>
                    </a:cubicBezTo>
                    <a:cubicBezTo>
                      <a:pt x="1444" y="1101"/>
                      <a:pt x="1432" y="1097"/>
                      <a:pt x="1422" y="1087"/>
                    </a:cubicBezTo>
                    <a:cubicBezTo>
                      <a:pt x="1389" y="1055"/>
                      <a:pt x="1335" y="1005"/>
                      <a:pt x="1334" y="1004"/>
                    </a:cubicBezTo>
                    <a:cubicBezTo>
                      <a:pt x="1309" y="983"/>
                      <a:pt x="1305" y="968"/>
                      <a:pt x="1305" y="942"/>
                    </a:cubicBezTo>
                    <a:lnTo>
                      <a:pt x="1305" y="883"/>
                    </a:lnTo>
                    <a:cubicBezTo>
                      <a:pt x="1360" y="881"/>
                      <a:pt x="1412" y="877"/>
                      <a:pt x="1463" y="873"/>
                    </a:cubicBezTo>
                    <a:lnTo>
                      <a:pt x="1463" y="1079"/>
                    </a:lnTo>
                    <a:close/>
                    <a:moveTo>
                      <a:pt x="993" y="942"/>
                    </a:moveTo>
                    <a:lnTo>
                      <a:pt x="993" y="942"/>
                    </a:lnTo>
                    <a:cubicBezTo>
                      <a:pt x="993" y="968"/>
                      <a:pt x="989" y="983"/>
                      <a:pt x="963" y="1005"/>
                    </a:cubicBezTo>
                    <a:cubicBezTo>
                      <a:pt x="963" y="1005"/>
                      <a:pt x="909" y="1055"/>
                      <a:pt x="876" y="1087"/>
                    </a:cubicBezTo>
                    <a:cubicBezTo>
                      <a:pt x="865" y="1097"/>
                      <a:pt x="854" y="1101"/>
                      <a:pt x="845" y="1097"/>
                    </a:cubicBezTo>
                    <a:cubicBezTo>
                      <a:pt x="839" y="1095"/>
                      <a:pt x="835" y="1088"/>
                      <a:pt x="835" y="1079"/>
                    </a:cubicBezTo>
                    <a:lnTo>
                      <a:pt x="835" y="873"/>
                    </a:lnTo>
                    <a:cubicBezTo>
                      <a:pt x="886" y="877"/>
                      <a:pt x="938" y="880"/>
                      <a:pt x="993" y="883"/>
                    </a:cubicBezTo>
                    <a:lnTo>
                      <a:pt x="993" y="942"/>
                    </a:lnTo>
                    <a:close/>
                    <a:moveTo>
                      <a:pt x="567" y="876"/>
                    </a:moveTo>
                    <a:lnTo>
                      <a:pt x="567" y="876"/>
                    </a:lnTo>
                    <a:cubicBezTo>
                      <a:pt x="567" y="891"/>
                      <a:pt x="555" y="902"/>
                      <a:pt x="531" y="907"/>
                    </a:cubicBezTo>
                    <a:lnTo>
                      <a:pt x="351" y="932"/>
                    </a:lnTo>
                    <a:cubicBezTo>
                      <a:pt x="335" y="931"/>
                      <a:pt x="322" y="918"/>
                      <a:pt x="322" y="901"/>
                    </a:cubicBezTo>
                    <a:lnTo>
                      <a:pt x="322" y="789"/>
                    </a:lnTo>
                    <a:cubicBezTo>
                      <a:pt x="392" y="807"/>
                      <a:pt x="474" y="825"/>
                      <a:pt x="567" y="841"/>
                    </a:cubicBezTo>
                    <a:lnTo>
                      <a:pt x="567" y="876"/>
                    </a:lnTo>
                    <a:close/>
                    <a:moveTo>
                      <a:pt x="2297" y="650"/>
                    </a:moveTo>
                    <a:lnTo>
                      <a:pt x="2297" y="650"/>
                    </a:lnTo>
                    <a:cubicBezTo>
                      <a:pt x="2295" y="636"/>
                      <a:pt x="2285" y="625"/>
                      <a:pt x="2271" y="621"/>
                    </a:cubicBezTo>
                    <a:lnTo>
                      <a:pt x="2125" y="586"/>
                    </a:lnTo>
                    <a:lnTo>
                      <a:pt x="2125" y="111"/>
                    </a:lnTo>
                    <a:cubicBezTo>
                      <a:pt x="2125" y="50"/>
                      <a:pt x="2075" y="0"/>
                      <a:pt x="2013" y="0"/>
                    </a:cubicBezTo>
                    <a:lnTo>
                      <a:pt x="285" y="0"/>
                    </a:lnTo>
                    <a:cubicBezTo>
                      <a:pt x="223" y="0"/>
                      <a:pt x="173" y="50"/>
                      <a:pt x="173" y="111"/>
                    </a:cubicBezTo>
                    <a:lnTo>
                      <a:pt x="173" y="586"/>
                    </a:lnTo>
                    <a:lnTo>
                      <a:pt x="27" y="621"/>
                    </a:lnTo>
                    <a:cubicBezTo>
                      <a:pt x="13" y="625"/>
                      <a:pt x="3" y="636"/>
                      <a:pt x="1" y="650"/>
                    </a:cubicBezTo>
                    <a:cubicBezTo>
                      <a:pt x="0" y="664"/>
                      <a:pt x="7" y="677"/>
                      <a:pt x="19" y="683"/>
                    </a:cubicBezTo>
                    <a:cubicBezTo>
                      <a:pt x="26" y="687"/>
                      <a:pt x="106" y="727"/>
                      <a:pt x="256" y="771"/>
                    </a:cubicBezTo>
                    <a:lnTo>
                      <a:pt x="256" y="901"/>
                    </a:lnTo>
                    <a:cubicBezTo>
                      <a:pt x="256" y="955"/>
                      <a:pt x="299" y="999"/>
                      <a:pt x="353" y="999"/>
                    </a:cubicBezTo>
                    <a:lnTo>
                      <a:pt x="355" y="999"/>
                    </a:lnTo>
                    <a:lnTo>
                      <a:pt x="541" y="973"/>
                    </a:lnTo>
                    <a:lnTo>
                      <a:pt x="543" y="972"/>
                    </a:lnTo>
                    <a:cubicBezTo>
                      <a:pt x="599" y="961"/>
                      <a:pt x="634" y="924"/>
                      <a:pt x="634" y="876"/>
                    </a:cubicBezTo>
                    <a:lnTo>
                      <a:pt x="634" y="851"/>
                    </a:lnTo>
                    <a:cubicBezTo>
                      <a:pt x="677" y="857"/>
                      <a:pt x="722" y="862"/>
                      <a:pt x="769" y="867"/>
                    </a:cubicBezTo>
                    <a:lnTo>
                      <a:pt x="769" y="1079"/>
                    </a:lnTo>
                    <a:cubicBezTo>
                      <a:pt x="769" y="1115"/>
                      <a:pt x="788" y="1146"/>
                      <a:pt x="819" y="1159"/>
                    </a:cubicBezTo>
                    <a:cubicBezTo>
                      <a:pt x="830" y="1163"/>
                      <a:pt x="840" y="1165"/>
                      <a:pt x="852" y="1165"/>
                    </a:cubicBezTo>
                    <a:cubicBezTo>
                      <a:pt x="876" y="1165"/>
                      <a:pt x="902" y="1155"/>
                      <a:pt x="922" y="1135"/>
                    </a:cubicBezTo>
                    <a:cubicBezTo>
                      <a:pt x="955" y="1103"/>
                      <a:pt x="1008" y="1055"/>
                      <a:pt x="1008" y="1055"/>
                    </a:cubicBezTo>
                    <a:cubicBezTo>
                      <a:pt x="1045" y="1023"/>
                      <a:pt x="1060" y="990"/>
                      <a:pt x="1060" y="942"/>
                    </a:cubicBezTo>
                    <a:lnTo>
                      <a:pt x="1060" y="885"/>
                    </a:lnTo>
                    <a:cubicBezTo>
                      <a:pt x="1089" y="885"/>
                      <a:pt x="1119" y="886"/>
                      <a:pt x="1149" y="886"/>
                    </a:cubicBezTo>
                    <a:cubicBezTo>
                      <a:pt x="1179" y="886"/>
                      <a:pt x="1209" y="885"/>
                      <a:pt x="1238" y="885"/>
                    </a:cubicBezTo>
                    <a:lnTo>
                      <a:pt x="1238" y="942"/>
                    </a:lnTo>
                    <a:cubicBezTo>
                      <a:pt x="1238" y="990"/>
                      <a:pt x="1253" y="1023"/>
                      <a:pt x="1289" y="1054"/>
                    </a:cubicBezTo>
                    <a:cubicBezTo>
                      <a:pt x="1290" y="1054"/>
                      <a:pt x="1343" y="1103"/>
                      <a:pt x="1375" y="1135"/>
                    </a:cubicBezTo>
                    <a:cubicBezTo>
                      <a:pt x="1396" y="1155"/>
                      <a:pt x="1422" y="1165"/>
                      <a:pt x="1446" y="1165"/>
                    </a:cubicBezTo>
                    <a:cubicBezTo>
                      <a:pt x="1457" y="1165"/>
                      <a:pt x="1468" y="1163"/>
                      <a:pt x="1479" y="1159"/>
                    </a:cubicBezTo>
                    <a:cubicBezTo>
                      <a:pt x="1510" y="1146"/>
                      <a:pt x="1529" y="1115"/>
                      <a:pt x="1529" y="1079"/>
                    </a:cubicBezTo>
                    <a:lnTo>
                      <a:pt x="1529" y="867"/>
                    </a:lnTo>
                    <a:cubicBezTo>
                      <a:pt x="1576" y="862"/>
                      <a:pt x="1621" y="857"/>
                      <a:pt x="1664" y="851"/>
                    </a:cubicBezTo>
                    <a:lnTo>
                      <a:pt x="1664" y="876"/>
                    </a:lnTo>
                    <a:cubicBezTo>
                      <a:pt x="1664" y="924"/>
                      <a:pt x="1699" y="961"/>
                      <a:pt x="1755" y="972"/>
                    </a:cubicBezTo>
                    <a:lnTo>
                      <a:pt x="1940" y="998"/>
                    </a:lnTo>
                    <a:lnTo>
                      <a:pt x="1945" y="999"/>
                    </a:lnTo>
                    <a:cubicBezTo>
                      <a:pt x="1999" y="999"/>
                      <a:pt x="2042" y="955"/>
                      <a:pt x="2042" y="901"/>
                    </a:cubicBezTo>
                    <a:lnTo>
                      <a:pt x="2042" y="771"/>
                    </a:lnTo>
                    <a:cubicBezTo>
                      <a:pt x="2192" y="727"/>
                      <a:pt x="2272" y="687"/>
                      <a:pt x="2279" y="683"/>
                    </a:cubicBezTo>
                    <a:cubicBezTo>
                      <a:pt x="2291" y="677"/>
                      <a:pt x="2298" y="664"/>
                      <a:pt x="2297" y="65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2" name="组合 247"/>
          <p:cNvGrpSpPr>
            <a:grpSpLocks/>
          </p:cNvGrpSpPr>
          <p:nvPr/>
        </p:nvGrpSpPr>
        <p:grpSpPr bwMode="gray">
          <a:xfrm>
            <a:off x="4883534" y="5373437"/>
            <a:ext cx="504879" cy="504879"/>
            <a:chOff x="7069138" y="3554413"/>
            <a:chExt cx="1114425" cy="1117600"/>
          </a:xfrm>
        </p:grpSpPr>
        <p:sp>
          <p:nvSpPr>
            <p:cNvPr id="23" name="Freeform 35"/>
            <p:cNvSpPr>
              <a:spLocks/>
            </p:cNvSpPr>
            <p:nvPr/>
          </p:nvSpPr>
          <p:spPr bwMode="gray">
            <a:xfrm>
              <a:off x="7069138" y="3554413"/>
              <a:ext cx="1114425" cy="1117600"/>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29"/>
                  </a:moveTo>
                  <a:lnTo>
                    <a:pt x="2658" y="1329"/>
                  </a:lnTo>
                  <a:cubicBezTo>
                    <a:pt x="2658" y="2064"/>
                    <a:pt x="2063" y="2659"/>
                    <a:pt x="1329" y="2659"/>
                  </a:cubicBezTo>
                  <a:cubicBezTo>
                    <a:pt x="595" y="2659"/>
                    <a:pt x="0" y="2064"/>
                    <a:pt x="0" y="1329"/>
                  </a:cubicBezTo>
                  <a:cubicBezTo>
                    <a:pt x="0" y="595"/>
                    <a:pt x="595" y="0"/>
                    <a:pt x="1329" y="0"/>
                  </a:cubicBezTo>
                  <a:cubicBezTo>
                    <a:pt x="2063" y="0"/>
                    <a:pt x="2658" y="595"/>
                    <a:pt x="2658" y="1329"/>
                  </a:cubicBezTo>
                  <a:close/>
                </a:path>
              </a:pathLst>
            </a:custGeom>
            <a:solidFill>
              <a:srgbClr val="8BC9A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 name="组合 233"/>
            <p:cNvGrpSpPr>
              <a:grpSpLocks/>
            </p:cNvGrpSpPr>
            <p:nvPr/>
          </p:nvGrpSpPr>
          <p:grpSpPr bwMode="gray">
            <a:xfrm>
              <a:off x="7288213" y="3895726"/>
              <a:ext cx="674687" cy="434975"/>
              <a:chOff x="7288213" y="3895726"/>
              <a:chExt cx="674687" cy="434975"/>
            </a:xfrm>
          </p:grpSpPr>
          <p:sp>
            <p:nvSpPr>
              <p:cNvPr id="25" name="Freeform 219"/>
              <p:cNvSpPr>
                <a:spLocks noEditPoints="1"/>
              </p:cNvSpPr>
              <p:nvPr/>
            </p:nvSpPr>
            <p:spPr bwMode="gray">
              <a:xfrm>
                <a:off x="7288213" y="3895726"/>
                <a:ext cx="623888" cy="419100"/>
              </a:xfrm>
              <a:custGeom>
                <a:avLst/>
                <a:gdLst>
                  <a:gd name="T0" fmla="*/ 2147483647 w 1486"/>
                  <a:gd name="T1" fmla="*/ 2147483647 h 997"/>
                  <a:gd name="T2" fmla="*/ 2147483647 w 1486"/>
                  <a:gd name="T3" fmla="*/ 2147483647 h 997"/>
                  <a:gd name="T4" fmla="*/ 2147483647 w 1486"/>
                  <a:gd name="T5" fmla="*/ 2147483647 h 997"/>
                  <a:gd name="T6" fmla="*/ 2147483647 w 1486"/>
                  <a:gd name="T7" fmla="*/ 2147483647 h 997"/>
                  <a:gd name="T8" fmla="*/ 2147483647 w 1486"/>
                  <a:gd name="T9" fmla="*/ 2147483647 h 997"/>
                  <a:gd name="T10" fmla="*/ 2147483647 w 1486"/>
                  <a:gd name="T11" fmla="*/ 2147483647 h 997"/>
                  <a:gd name="T12" fmla="*/ 2147483647 w 1486"/>
                  <a:gd name="T13" fmla="*/ 2147483647 h 997"/>
                  <a:gd name="T14" fmla="*/ 2147483647 w 1486"/>
                  <a:gd name="T15" fmla="*/ 2147483647 h 997"/>
                  <a:gd name="T16" fmla="*/ 2147483647 w 1486"/>
                  <a:gd name="T17" fmla="*/ 2147483647 h 997"/>
                  <a:gd name="T18" fmla="*/ 2147483647 w 1486"/>
                  <a:gd name="T19" fmla="*/ 2147483647 h 997"/>
                  <a:gd name="T20" fmla="*/ 2147483647 w 1486"/>
                  <a:gd name="T21" fmla="*/ 2147483647 h 997"/>
                  <a:gd name="T22" fmla="*/ 2147483647 w 1486"/>
                  <a:gd name="T23" fmla="*/ 2147483647 h 997"/>
                  <a:gd name="T24" fmla="*/ 2147483647 w 1486"/>
                  <a:gd name="T25" fmla="*/ 2147483647 h 997"/>
                  <a:gd name="T26" fmla="*/ 2147483647 w 1486"/>
                  <a:gd name="T27" fmla="*/ 2147483647 h 997"/>
                  <a:gd name="T28" fmla="*/ 2147483647 w 1486"/>
                  <a:gd name="T29" fmla="*/ 2147483647 h 997"/>
                  <a:gd name="T30" fmla="*/ 2147483647 w 1486"/>
                  <a:gd name="T31" fmla="*/ 2147483647 h 997"/>
                  <a:gd name="T32" fmla="*/ 2147483647 w 1486"/>
                  <a:gd name="T33" fmla="*/ 2147483647 h 997"/>
                  <a:gd name="T34" fmla="*/ 2147483647 w 1486"/>
                  <a:gd name="T35" fmla="*/ 2147483647 h 997"/>
                  <a:gd name="T36" fmla="*/ 2147483647 w 1486"/>
                  <a:gd name="T37" fmla="*/ 2147483647 h 997"/>
                  <a:gd name="T38" fmla="*/ 2147483647 w 1486"/>
                  <a:gd name="T39" fmla="*/ 2147483647 h 997"/>
                  <a:gd name="T40" fmla="*/ 2147483647 w 1486"/>
                  <a:gd name="T41" fmla="*/ 2147483647 h 997"/>
                  <a:gd name="T42" fmla="*/ 2147483647 w 1486"/>
                  <a:gd name="T43" fmla="*/ 2147483647 h 997"/>
                  <a:gd name="T44" fmla="*/ 2147483647 w 1486"/>
                  <a:gd name="T45" fmla="*/ 2147483647 h 997"/>
                  <a:gd name="T46" fmla="*/ 2147483647 w 1486"/>
                  <a:gd name="T47" fmla="*/ 2147483647 h 997"/>
                  <a:gd name="T48" fmla="*/ 2147483647 w 1486"/>
                  <a:gd name="T49" fmla="*/ 222822901 h 997"/>
                  <a:gd name="T50" fmla="*/ 2146073538 w 1486"/>
                  <a:gd name="T51" fmla="*/ 2147483647 h 997"/>
                  <a:gd name="T52" fmla="*/ 1406097026 w 1486"/>
                  <a:gd name="T53" fmla="*/ 2147483647 h 997"/>
                  <a:gd name="T54" fmla="*/ 2147483647 w 1486"/>
                  <a:gd name="T55" fmla="*/ 2147483647 h 997"/>
                  <a:gd name="T56" fmla="*/ 2147483647 w 1486"/>
                  <a:gd name="T57" fmla="*/ 2147483647 h 997"/>
                  <a:gd name="T58" fmla="*/ 2147483647 w 1486"/>
                  <a:gd name="T59" fmla="*/ 2147483647 h 997"/>
                  <a:gd name="T60" fmla="*/ 2147483647 w 1486"/>
                  <a:gd name="T61" fmla="*/ 2147483647 h 997"/>
                  <a:gd name="T62" fmla="*/ 2147483647 w 1486"/>
                  <a:gd name="T63" fmla="*/ 2147483647 h 997"/>
                  <a:gd name="T64" fmla="*/ 2147483647 w 1486"/>
                  <a:gd name="T65" fmla="*/ 2147483647 h 997"/>
                  <a:gd name="T66" fmla="*/ 2147483647 w 1486"/>
                  <a:gd name="T67" fmla="*/ 2147483647 h 997"/>
                  <a:gd name="T68" fmla="*/ 2147483647 w 1486"/>
                  <a:gd name="T69" fmla="*/ 2147483647 h 997"/>
                  <a:gd name="T70" fmla="*/ 2147483647 w 1486"/>
                  <a:gd name="T71" fmla="*/ 2147483647 h 9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86"/>
                  <a:gd name="T109" fmla="*/ 0 h 997"/>
                  <a:gd name="T110" fmla="*/ 1486 w 1486"/>
                  <a:gd name="T111" fmla="*/ 997 h 9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86" h="997">
                    <a:moveTo>
                      <a:pt x="1257" y="389"/>
                    </a:moveTo>
                    <a:lnTo>
                      <a:pt x="1257" y="389"/>
                    </a:lnTo>
                    <a:lnTo>
                      <a:pt x="1079" y="419"/>
                    </a:lnTo>
                    <a:lnTo>
                      <a:pt x="779" y="471"/>
                    </a:lnTo>
                    <a:lnTo>
                      <a:pt x="498" y="520"/>
                    </a:lnTo>
                    <a:cubicBezTo>
                      <a:pt x="516" y="464"/>
                      <a:pt x="504" y="396"/>
                      <a:pt x="493" y="354"/>
                    </a:cubicBezTo>
                    <a:lnTo>
                      <a:pt x="1377" y="185"/>
                    </a:lnTo>
                    <a:cubicBezTo>
                      <a:pt x="1396" y="328"/>
                      <a:pt x="1275" y="381"/>
                      <a:pt x="1257" y="389"/>
                    </a:cubicBezTo>
                    <a:close/>
                    <a:moveTo>
                      <a:pt x="935" y="739"/>
                    </a:moveTo>
                    <a:lnTo>
                      <a:pt x="935" y="739"/>
                    </a:lnTo>
                    <a:cubicBezTo>
                      <a:pt x="871" y="739"/>
                      <a:pt x="818" y="687"/>
                      <a:pt x="818" y="623"/>
                    </a:cubicBezTo>
                    <a:lnTo>
                      <a:pt x="818" y="532"/>
                    </a:lnTo>
                    <a:lnTo>
                      <a:pt x="1052" y="492"/>
                    </a:lnTo>
                    <a:lnTo>
                      <a:pt x="1052" y="623"/>
                    </a:lnTo>
                    <a:cubicBezTo>
                      <a:pt x="1052" y="687"/>
                      <a:pt x="999" y="739"/>
                      <a:pt x="935" y="739"/>
                    </a:cubicBezTo>
                    <a:close/>
                    <a:moveTo>
                      <a:pt x="305" y="515"/>
                    </a:moveTo>
                    <a:lnTo>
                      <a:pt x="305" y="515"/>
                    </a:lnTo>
                    <a:cubicBezTo>
                      <a:pt x="268" y="481"/>
                      <a:pt x="259" y="415"/>
                      <a:pt x="258" y="371"/>
                    </a:cubicBezTo>
                    <a:cubicBezTo>
                      <a:pt x="273" y="372"/>
                      <a:pt x="287" y="373"/>
                      <a:pt x="302" y="373"/>
                    </a:cubicBezTo>
                    <a:cubicBezTo>
                      <a:pt x="301" y="379"/>
                      <a:pt x="300" y="386"/>
                      <a:pt x="300" y="392"/>
                    </a:cubicBezTo>
                    <a:cubicBezTo>
                      <a:pt x="300" y="448"/>
                      <a:pt x="345" y="493"/>
                      <a:pt x="401" y="493"/>
                    </a:cubicBezTo>
                    <a:cubicBezTo>
                      <a:pt x="414" y="493"/>
                      <a:pt x="427" y="491"/>
                      <a:pt x="438" y="487"/>
                    </a:cubicBezTo>
                    <a:cubicBezTo>
                      <a:pt x="436" y="495"/>
                      <a:pt x="434" y="502"/>
                      <a:pt x="431" y="509"/>
                    </a:cubicBezTo>
                    <a:cubicBezTo>
                      <a:pt x="425" y="522"/>
                      <a:pt x="415" y="531"/>
                      <a:pt x="402" y="536"/>
                    </a:cubicBezTo>
                    <a:cubicBezTo>
                      <a:pt x="360" y="543"/>
                      <a:pt x="328" y="536"/>
                      <a:pt x="305" y="515"/>
                    </a:cubicBezTo>
                    <a:close/>
                    <a:moveTo>
                      <a:pt x="1394" y="68"/>
                    </a:moveTo>
                    <a:lnTo>
                      <a:pt x="1394" y="68"/>
                    </a:lnTo>
                    <a:cubicBezTo>
                      <a:pt x="1405" y="74"/>
                      <a:pt x="1407" y="80"/>
                      <a:pt x="1408" y="83"/>
                    </a:cubicBezTo>
                    <a:cubicBezTo>
                      <a:pt x="1411" y="91"/>
                      <a:pt x="1408" y="103"/>
                      <a:pt x="1405" y="112"/>
                    </a:cubicBezTo>
                    <a:lnTo>
                      <a:pt x="1397" y="113"/>
                    </a:lnTo>
                    <a:cubicBezTo>
                      <a:pt x="1397" y="113"/>
                      <a:pt x="1397" y="113"/>
                      <a:pt x="1397" y="113"/>
                    </a:cubicBezTo>
                    <a:lnTo>
                      <a:pt x="1395" y="113"/>
                    </a:lnTo>
                    <a:lnTo>
                      <a:pt x="374" y="302"/>
                    </a:lnTo>
                    <a:cubicBezTo>
                      <a:pt x="353" y="305"/>
                      <a:pt x="331" y="306"/>
                      <a:pt x="309" y="306"/>
                    </a:cubicBezTo>
                    <a:cubicBezTo>
                      <a:pt x="252" y="306"/>
                      <a:pt x="200" y="296"/>
                      <a:pt x="157" y="284"/>
                    </a:cubicBezTo>
                    <a:lnTo>
                      <a:pt x="1394" y="68"/>
                    </a:lnTo>
                    <a:close/>
                    <a:moveTo>
                      <a:pt x="435" y="400"/>
                    </a:moveTo>
                    <a:lnTo>
                      <a:pt x="435" y="400"/>
                    </a:lnTo>
                    <a:cubicBezTo>
                      <a:pt x="431" y="415"/>
                      <a:pt x="418" y="427"/>
                      <a:pt x="401" y="427"/>
                    </a:cubicBezTo>
                    <a:cubicBezTo>
                      <a:pt x="382" y="427"/>
                      <a:pt x="367" y="411"/>
                      <a:pt x="367" y="392"/>
                    </a:cubicBezTo>
                    <a:cubicBezTo>
                      <a:pt x="367" y="383"/>
                      <a:pt x="371" y="375"/>
                      <a:pt x="377" y="368"/>
                    </a:cubicBezTo>
                    <a:cubicBezTo>
                      <a:pt x="380" y="368"/>
                      <a:pt x="382" y="368"/>
                      <a:pt x="385" y="367"/>
                    </a:cubicBezTo>
                    <a:lnTo>
                      <a:pt x="425" y="360"/>
                    </a:lnTo>
                    <a:cubicBezTo>
                      <a:pt x="428" y="371"/>
                      <a:pt x="432" y="385"/>
                      <a:pt x="435" y="400"/>
                    </a:cubicBezTo>
                    <a:close/>
                    <a:moveTo>
                      <a:pt x="1442" y="171"/>
                    </a:moveTo>
                    <a:lnTo>
                      <a:pt x="1442" y="171"/>
                    </a:lnTo>
                    <a:cubicBezTo>
                      <a:pt x="1448" y="168"/>
                      <a:pt x="1453" y="164"/>
                      <a:pt x="1456" y="159"/>
                    </a:cubicBezTo>
                    <a:cubicBezTo>
                      <a:pt x="1459" y="154"/>
                      <a:pt x="1486" y="108"/>
                      <a:pt x="1471" y="62"/>
                    </a:cubicBezTo>
                    <a:cubicBezTo>
                      <a:pt x="1465" y="43"/>
                      <a:pt x="1449" y="18"/>
                      <a:pt x="1410" y="3"/>
                    </a:cubicBezTo>
                    <a:cubicBezTo>
                      <a:pt x="1404" y="0"/>
                      <a:pt x="1398" y="0"/>
                      <a:pt x="1392" y="1"/>
                    </a:cubicBezTo>
                    <a:lnTo>
                      <a:pt x="29" y="238"/>
                    </a:lnTo>
                    <a:cubicBezTo>
                      <a:pt x="16" y="241"/>
                      <a:pt x="5" y="252"/>
                      <a:pt x="2" y="266"/>
                    </a:cubicBezTo>
                    <a:cubicBezTo>
                      <a:pt x="0" y="280"/>
                      <a:pt x="7" y="293"/>
                      <a:pt x="19" y="300"/>
                    </a:cubicBezTo>
                    <a:cubicBezTo>
                      <a:pt x="23" y="303"/>
                      <a:pt x="92" y="341"/>
                      <a:pt x="192" y="361"/>
                    </a:cubicBezTo>
                    <a:cubicBezTo>
                      <a:pt x="191" y="410"/>
                      <a:pt x="199" y="507"/>
                      <a:pt x="259" y="563"/>
                    </a:cubicBezTo>
                    <a:cubicBezTo>
                      <a:pt x="289" y="591"/>
                      <a:pt x="327" y="605"/>
                      <a:pt x="373" y="605"/>
                    </a:cubicBezTo>
                    <a:cubicBezTo>
                      <a:pt x="387" y="605"/>
                      <a:pt x="402" y="604"/>
                      <a:pt x="417" y="602"/>
                    </a:cubicBezTo>
                    <a:lnTo>
                      <a:pt x="752" y="544"/>
                    </a:lnTo>
                    <a:lnTo>
                      <a:pt x="752" y="623"/>
                    </a:lnTo>
                    <a:cubicBezTo>
                      <a:pt x="752" y="714"/>
                      <a:pt x="818" y="789"/>
                      <a:pt x="905" y="803"/>
                    </a:cubicBezTo>
                    <a:cubicBezTo>
                      <a:pt x="917" y="864"/>
                      <a:pt x="966" y="945"/>
                      <a:pt x="1092" y="958"/>
                    </a:cubicBezTo>
                    <a:cubicBezTo>
                      <a:pt x="1104" y="981"/>
                      <a:pt x="1127" y="997"/>
                      <a:pt x="1154" y="997"/>
                    </a:cubicBezTo>
                    <a:cubicBezTo>
                      <a:pt x="1192" y="997"/>
                      <a:pt x="1223" y="965"/>
                      <a:pt x="1223" y="927"/>
                    </a:cubicBezTo>
                    <a:cubicBezTo>
                      <a:pt x="1223" y="889"/>
                      <a:pt x="1192" y="858"/>
                      <a:pt x="1154" y="858"/>
                    </a:cubicBezTo>
                    <a:cubicBezTo>
                      <a:pt x="1128" y="858"/>
                      <a:pt x="1106" y="871"/>
                      <a:pt x="1094" y="892"/>
                    </a:cubicBezTo>
                    <a:cubicBezTo>
                      <a:pt x="1011" y="881"/>
                      <a:pt x="983" y="834"/>
                      <a:pt x="973" y="802"/>
                    </a:cubicBezTo>
                    <a:cubicBezTo>
                      <a:pt x="1056" y="784"/>
                      <a:pt x="1118" y="711"/>
                      <a:pt x="1118" y="623"/>
                    </a:cubicBezTo>
                    <a:lnTo>
                      <a:pt x="1118" y="480"/>
                    </a:lnTo>
                    <a:lnTo>
                      <a:pt x="1271" y="454"/>
                    </a:lnTo>
                    <a:cubicBezTo>
                      <a:pt x="1273" y="454"/>
                      <a:pt x="1275" y="453"/>
                      <a:pt x="1276" y="452"/>
                    </a:cubicBezTo>
                    <a:cubicBezTo>
                      <a:pt x="1348" y="428"/>
                      <a:pt x="1468" y="338"/>
                      <a:pt x="1442" y="171"/>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Freeform 220"/>
              <p:cNvSpPr>
                <a:spLocks/>
              </p:cNvSpPr>
              <p:nvPr/>
            </p:nvSpPr>
            <p:spPr bwMode="gray">
              <a:xfrm>
                <a:off x="7832725" y="4240213"/>
                <a:ext cx="130175" cy="90488"/>
              </a:xfrm>
              <a:custGeom>
                <a:avLst/>
                <a:gdLst>
                  <a:gd name="T0" fmla="*/ 2147483647 w 312"/>
                  <a:gd name="T1" fmla="*/ 2147483647 h 215"/>
                  <a:gd name="T2" fmla="*/ 2147483647 w 312"/>
                  <a:gd name="T3" fmla="*/ 2147483647 h 215"/>
                  <a:gd name="T4" fmla="*/ 2147483647 w 312"/>
                  <a:gd name="T5" fmla="*/ 2147483647 h 215"/>
                  <a:gd name="T6" fmla="*/ 2147483647 w 312"/>
                  <a:gd name="T7" fmla="*/ 2147483647 h 215"/>
                  <a:gd name="T8" fmla="*/ 2147483647 w 312"/>
                  <a:gd name="T9" fmla="*/ 2147483647 h 215"/>
                  <a:gd name="T10" fmla="*/ 0 w 312"/>
                  <a:gd name="T11" fmla="*/ 2147483647 h 215"/>
                  <a:gd name="T12" fmla="*/ 2147483647 w 312"/>
                  <a:gd name="T13" fmla="*/ 2147483647 h 215"/>
                  <a:gd name="T14" fmla="*/ 2147483647 w 312"/>
                  <a:gd name="T15" fmla="*/ 2147483647 h 215"/>
                  <a:gd name="T16" fmla="*/ 2147483647 w 312"/>
                  <a:gd name="T17" fmla="*/ 2147483647 h 215"/>
                  <a:gd name="T18" fmla="*/ 2147483647 w 312"/>
                  <a:gd name="T19" fmla="*/ 2147483647 h 215"/>
                  <a:gd name="T20" fmla="*/ 2147483647 w 312"/>
                  <a:gd name="T21" fmla="*/ 2147483647 h 215"/>
                  <a:gd name="T22" fmla="*/ 2147483647 w 312"/>
                  <a:gd name="T23" fmla="*/ 0 h 215"/>
                  <a:gd name="T24" fmla="*/ 2147483647 w 312"/>
                  <a:gd name="T25" fmla="*/ 2147483647 h 2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2"/>
                  <a:gd name="T40" fmla="*/ 0 h 215"/>
                  <a:gd name="T41" fmla="*/ 312 w 312"/>
                  <a:gd name="T42" fmla="*/ 215 h 2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2" h="215">
                    <a:moveTo>
                      <a:pt x="210" y="74"/>
                    </a:moveTo>
                    <a:lnTo>
                      <a:pt x="210" y="74"/>
                    </a:lnTo>
                    <a:cubicBezTo>
                      <a:pt x="208" y="74"/>
                      <a:pt x="206" y="74"/>
                      <a:pt x="205" y="74"/>
                    </a:cubicBezTo>
                    <a:lnTo>
                      <a:pt x="130" y="74"/>
                    </a:lnTo>
                    <a:cubicBezTo>
                      <a:pt x="118" y="52"/>
                      <a:pt x="95" y="38"/>
                      <a:pt x="69" y="38"/>
                    </a:cubicBezTo>
                    <a:cubicBezTo>
                      <a:pt x="31" y="38"/>
                      <a:pt x="0" y="69"/>
                      <a:pt x="0" y="107"/>
                    </a:cubicBezTo>
                    <a:cubicBezTo>
                      <a:pt x="0" y="145"/>
                      <a:pt x="31" y="177"/>
                      <a:pt x="69" y="177"/>
                    </a:cubicBezTo>
                    <a:cubicBezTo>
                      <a:pt x="95" y="177"/>
                      <a:pt x="118" y="162"/>
                      <a:pt x="130" y="140"/>
                    </a:cubicBezTo>
                    <a:lnTo>
                      <a:pt x="205" y="140"/>
                    </a:lnTo>
                    <a:cubicBezTo>
                      <a:pt x="206" y="140"/>
                      <a:pt x="208" y="140"/>
                      <a:pt x="210" y="140"/>
                    </a:cubicBezTo>
                    <a:cubicBezTo>
                      <a:pt x="224" y="183"/>
                      <a:pt x="264" y="215"/>
                      <a:pt x="312" y="215"/>
                    </a:cubicBezTo>
                    <a:lnTo>
                      <a:pt x="312" y="0"/>
                    </a:lnTo>
                    <a:cubicBezTo>
                      <a:pt x="264" y="0"/>
                      <a:pt x="224" y="31"/>
                      <a:pt x="210" y="74"/>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7" name="组合 212"/>
          <p:cNvGrpSpPr>
            <a:grpSpLocks/>
          </p:cNvGrpSpPr>
          <p:nvPr/>
        </p:nvGrpSpPr>
        <p:grpSpPr bwMode="gray">
          <a:xfrm>
            <a:off x="3255339" y="5373437"/>
            <a:ext cx="504879" cy="504879"/>
            <a:chOff x="1639888" y="560388"/>
            <a:chExt cx="1114425" cy="1116013"/>
          </a:xfrm>
        </p:grpSpPr>
        <p:sp>
          <p:nvSpPr>
            <p:cNvPr id="28" name="Freeform 39"/>
            <p:cNvSpPr>
              <a:spLocks/>
            </p:cNvSpPr>
            <p:nvPr/>
          </p:nvSpPr>
          <p:spPr bwMode="gray">
            <a:xfrm>
              <a:off x="1639888" y="560388"/>
              <a:ext cx="1114425"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 name="T18" fmla="*/ 0 w 2659"/>
                <a:gd name="T19" fmla="*/ 0 h 2659"/>
                <a:gd name="T20" fmla="*/ 2659 w 2659"/>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9" h="2659">
                  <a:moveTo>
                    <a:pt x="2659" y="1330"/>
                  </a:moveTo>
                  <a:lnTo>
                    <a:pt x="2659" y="1330"/>
                  </a:lnTo>
                  <a:cubicBezTo>
                    <a:pt x="2659" y="2064"/>
                    <a:pt x="2064" y="2659"/>
                    <a:pt x="1330" y="2659"/>
                  </a:cubicBezTo>
                  <a:cubicBezTo>
                    <a:pt x="595" y="2659"/>
                    <a:pt x="0" y="2064"/>
                    <a:pt x="0" y="1330"/>
                  </a:cubicBezTo>
                  <a:cubicBezTo>
                    <a:pt x="0" y="595"/>
                    <a:pt x="595" y="0"/>
                    <a:pt x="1330" y="0"/>
                  </a:cubicBezTo>
                  <a:cubicBezTo>
                    <a:pt x="2064" y="0"/>
                    <a:pt x="2659" y="595"/>
                    <a:pt x="2659" y="1330"/>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193"/>
            <p:cNvGrpSpPr>
              <a:grpSpLocks/>
            </p:cNvGrpSpPr>
            <p:nvPr/>
          </p:nvGrpSpPr>
          <p:grpSpPr bwMode="gray">
            <a:xfrm>
              <a:off x="1836738" y="854075"/>
              <a:ext cx="720725" cy="528638"/>
              <a:chOff x="1836738" y="854075"/>
              <a:chExt cx="720725" cy="528638"/>
            </a:xfrm>
          </p:grpSpPr>
          <p:sp>
            <p:nvSpPr>
              <p:cNvPr id="30" name="Freeform 40"/>
              <p:cNvSpPr>
                <a:spLocks noEditPoints="1"/>
              </p:cNvSpPr>
              <p:nvPr/>
            </p:nvSpPr>
            <p:spPr bwMode="gray">
              <a:xfrm>
                <a:off x="2054225" y="854075"/>
                <a:ext cx="503238" cy="368300"/>
              </a:xfrm>
              <a:custGeom>
                <a:avLst/>
                <a:gdLst>
                  <a:gd name="T0" fmla="*/ 2147483647 w 1199"/>
                  <a:gd name="T1" fmla="*/ 2147483647 h 879"/>
                  <a:gd name="T2" fmla="*/ 2147483647 w 1199"/>
                  <a:gd name="T3" fmla="*/ 2147483647 h 879"/>
                  <a:gd name="T4" fmla="*/ 2147483647 w 1199"/>
                  <a:gd name="T5" fmla="*/ 2147483647 h 879"/>
                  <a:gd name="T6" fmla="*/ 2147483647 w 1199"/>
                  <a:gd name="T7" fmla="*/ 2147483647 h 879"/>
                  <a:gd name="T8" fmla="*/ 2147483647 w 1199"/>
                  <a:gd name="T9" fmla="*/ 2147483647 h 879"/>
                  <a:gd name="T10" fmla="*/ 2147483647 w 1199"/>
                  <a:gd name="T11" fmla="*/ 2147483647 h 879"/>
                  <a:gd name="T12" fmla="*/ 2147483647 w 1199"/>
                  <a:gd name="T13" fmla="*/ 2147483647 h 879"/>
                  <a:gd name="T14" fmla="*/ 2147483647 w 1199"/>
                  <a:gd name="T15" fmla="*/ 2147483647 h 879"/>
                  <a:gd name="T16" fmla="*/ 2147483647 w 1199"/>
                  <a:gd name="T17" fmla="*/ 2147483647 h 879"/>
                  <a:gd name="T18" fmla="*/ 2147483647 w 1199"/>
                  <a:gd name="T19" fmla="*/ 2147483647 h 879"/>
                  <a:gd name="T20" fmla="*/ 2147483647 w 1199"/>
                  <a:gd name="T21" fmla="*/ 0 h 879"/>
                  <a:gd name="T22" fmla="*/ 2147483647 w 1199"/>
                  <a:gd name="T23" fmla="*/ 0 h 879"/>
                  <a:gd name="T24" fmla="*/ 2147483647 w 1199"/>
                  <a:gd name="T25" fmla="*/ 0 h 879"/>
                  <a:gd name="T26" fmla="*/ 0 w 1199"/>
                  <a:gd name="T27" fmla="*/ 2147483647 h 879"/>
                  <a:gd name="T28" fmla="*/ 0 w 1199"/>
                  <a:gd name="T29" fmla="*/ 2147483647 h 879"/>
                  <a:gd name="T30" fmla="*/ 2147483647 w 1199"/>
                  <a:gd name="T31" fmla="*/ 2147483647 h 879"/>
                  <a:gd name="T32" fmla="*/ 2147483647 w 1199"/>
                  <a:gd name="T33" fmla="*/ 2147483647 h 879"/>
                  <a:gd name="T34" fmla="*/ 2147483647 w 1199"/>
                  <a:gd name="T35" fmla="*/ 2147483647 h 879"/>
                  <a:gd name="T36" fmla="*/ 2147483647 w 1199"/>
                  <a:gd name="T37" fmla="*/ 2147483647 h 879"/>
                  <a:gd name="T38" fmla="*/ 2147483647 w 1199"/>
                  <a:gd name="T39" fmla="*/ 0 h 8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9"/>
                  <a:gd name="T61" fmla="*/ 0 h 879"/>
                  <a:gd name="T62" fmla="*/ 1199 w 1199"/>
                  <a:gd name="T63" fmla="*/ 879 h 8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9" h="879">
                    <a:moveTo>
                      <a:pt x="1133" y="787"/>
                    </a:moveTo>
                    <a:lnTo>
                      <a:pt x="1133" y="787"/>
                    </a:lnTo>
                    <a:cubicBezTo>
                      <a:pt x="1133" y="801"/>
                      <a:pt x="1121" y="812"/>
                      <a:pt x="1108" y="812"/>
                    </a:cubicBezTo>
                    <a:lnTo>
                      <a:pt x="91" y="812"/>
                    </a:lnTo>
                    <a:cubicBezTo>
                      <a:pt x="78" y="812"/>
                      <a:pt x="67" y="801"/>
                      <a:pt x="67" y="787"/>
                    </a:cubicBezTo>
                    <a:lnTo>
                      <a:pt x="67" y="91"/>
                    </a:lnTo>
                    <a:cubicBezTo>
                      <a:pt x="67" y="77"/>
                      <a:pt x="78" y="66"/>
                      <a:pt x="91" y="66"/>
                    </a:cubicBezTo>
                    <a:lnTo>
                      <a:pt x="1108" y="66"/>
                    </a:lnTo>
                    <a:cubicBezTo>
                      <a:pt x="1121" y="66"/>
                      <a:pt x="1133" y="77"/>
                      <a:pt x="1133" y="91"/>
                    </a:cubicBezTo>
                    <a:lnTo>
                      <a:pt x="1133" y="787"/>
                    </a:lnTo>
                    <a:close/>
                    <a:moveTo>
                      <a:pt x="1108" y="0"/>
                    </a:moveTo>
                    <a:lnTo>
                      <a:pt x="1108" y="0"/>
                    </a:lnTo>
                    <a:lnTo>
                      <a:pt x="91" y="0"/>
                    </a:lnTo>
                    <a:cubicBezTo>
                      <a:pt x="41" y="0"/>
                      <a:pt x="0" y="41"/>
                      <a:pt x="0" y="91"/>
                    </a:cubicBezTo>
                    <a:lnTo>
                      <a:pt x="0" y="787"/>
                    </a:lnTo>
                    <a:cubicBezTo>
                      <a:pt x="0" y="838"/>
                      <a:pt x="41" y="879"/>
                      <a:pt x="91" y="879"/>
                    </a:cubicBezTo>
                    <a:lnTo>
                      <a:pt x="1108" y="879"/>
                    </a:lnTo>
                    <a:cubicBezTo>
                      <a:pt x="1158" y="879"/>
                      <a:pt x="1199" y="838"/>
                      <a:pt x="1199" y="787"/>
                    </a:cubicBezTo>
                    <a:lnTo>
                      <a:pt x="1199" y="91"/>
                    </a:lnTo>
                    <a:cubicBezTo>
                      <a:pt x="1199" y="41"/>
                      <a:pt x="1158" y="0"/>
                      <a:pt x="1108"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41"/>
              <p:cNvSpPr>
                <a:spLocks/>
              </p:cNvSpPr>
              <p:nvPr/>
            </p:nvSpPr>
            <p:spPr bwMode="gray">
              <a:xfrm>
                <a:off x="2224088" y="1238250"/>
                <a:ext cx="161925" cy="26988"/>
              </a:xfrm>
              <a:custGeom>
                <a:avLst/>
                <a:gdLst>
                  <a:gd name="T0" fmla="*/ 2147483647 w 385"/>
                  <a:gd name="T1" fmla="*/ 2147483647 h 66"/>
                  <a:gd name="T2" fmla="*/ 2147483647 w 385"/>
                  <a:gd name="T3" fmla="*/ 2147483647 h 66"/>
                  <a:gd name="T4" fmla="*/ 2147483647 w 385"/>
                  <a:gd name="T5" fmla="*/ 2147483647 h 66"/>
                  <a:gd name="T6" fmla="*/ 2147483647 w 385"/>
                  <a:gd name="T7" fmla="*/ 0 h 66"/>
                  <a:gd name="T8" fmla="*/ 2147483647 w 385"/>
                  <a:gd name="T9" fmla="*/ 0 h 66"/>
                  <a:gd name="T10" fmla="*/ 0 w 385"/>
                  <a:gd name="T11" fmla="*/ 2147483647 h 66"/>
                  <a:gd name="T12" fmla="*/ 2147483647 w 385"/>
                  <a:gd name="T13" fmla="*/ 2147483647 h 66"/>
                  <a:gd name="T14" fmla="*/ 2147483647 w 385"/>
                  <a:gd name="T15" fmla="*/ 2147483647 h 66"/>
                  <a:gd name="T16" fmla="*/ 0 60000 65536"/>
                  <a:gd name="T17" fmla="*/ 0 60000 65536"/>
                  <a:gd name="T18" fmla="*/ 0 60000 65536"/>
                  <a:gd name="T19" fmla="*/ 0 60000 65536"/>
                  <a:gd name="T20" fmla="*/ 0 60000 65536"/>
                  <a:gd name="T21" fmla="*/ 0 60000 65536"/>
                  <a:gd name="T22" fmla="*/ 0 60000 65536"/>
                  <a:gd name="T23" fmla="*/ 0 60000 65536"/>
                  <a:gd name="T24" fmla="*/ 0 w 385"/>
                  <a:gd name="T25" fmla="*/ 0 h 66"/>
                  <a:gd name="T26" fmla="*/ 385 w 385"/>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5" h="66">
                    <a:moveTo>
                      <a:pt x="352" y="66"/>
                    </a:moveTo>
                    <a:lnTo>
                      <a:pt x="352" y="66"/>
                    </a:lnTo>
                    <a:cubicBezTo>
                      <a:pt x="370" y="66"/>
                      <a:pt x="385" y="52"/>
                      <a:pt x="385" y="33"/>
                    </a:cubicBezTo>
                    <a:cubicBezTo>
                      <a:pt x="385" y="15"/>
                      <a:pt x="370" y="0"/>
                      <a:pt x="352" y="0"/>
                    </a:cubicBezTo>
                    <a:lnTo>
                      <a:pt x="33" y="0"/>
                    </a:lnTo>
                    <a:cubicBezTo>
                      <a:pt x="15" y="0"/>
                      <a:pt x="0" y="15"/>
                      <a:pt x="0" y="33"/>
                    </a:cubicBezTo>
                    <a:cubicBezTo>
                      <a:pt x="0" y="52"/>
                      <a:pt x="15" y="66"/>
                      <a:pt x="33" y="66"/>
                    </a:cubicBezTo>
                    <a:lnTo>
                      <a:pt x="352" y="66"/>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42"/>
              <p:cNvSpPr>
                <a:spLocks noEditPoints="1"/>
              </p:cNvSpPr>
              <p:nvPr/>
            </p:nvSpPr>
            <p:spPr bwMode="gray">
              <a:xfrm>
                <a:off x="2105025" y="900113"/>
                <a:ext cx="401638" cy="274638"/>
              </a:xfrm>
              <a:custGeom>
                <a:avLst/>
                <a:gdLst>
                  <a:gd name="T0" fmla="*/ 2147483647 w 957"/>
                  <a:gd name="T1" fmla="*/ 2147483647 h 653"/>
                  <a:gd name="T2" fmla="*/ 2147483647 w 957"/>
                  <a:gd name="T3" fmla="*/ 2147483647 h 653"/>
                  <a:gd name="T4" fmla="*/ 2147483647 w 957"/>
                  <a:gd name="T5" fmla="*/ 2147483647 h 653"/>
                  <a:gd name="T6" fmla="*/ 2147483647 w 957"/>
                  <a:gd name="T7" fmla="*/ 2147483647 h 653"/>
                  <a:gd name="T8" fmla="*/ 2147483647 w 957"/>
                  <a:gd name="T9" fmla="*/ 2147483647 h 653"/>
                  <a:gd name="T10" fmla="*/ 2147483647 w 957"/>
                  <a:gd name="T11" fmla="*/ 2147483647 h 653"/>
                  <a:gd name="T12" fmla="*/ 2147483647 w 957"/>
                  <a:gd name="T13" fmla="*/ 2147483647 h 653"/>
                  <a:gd name="T14" fmla="*/ 2147483647 w 957"/>
                  <a:gd name="T15" fmla="*/ 2147483647 h 653"/>
                  <a:gd name="T16" fmla="*/ 2147483647 w 957"/>
                  <a:gd name="T17" fmla="*/ 2147483647 h 653"/>
                  <a:gd name="T18" fmla="*/ 2147483647 w 957"/>
                  <a:gd name="T19" fmla="*/ 2147483647 h 653"/>
                  <a:gd name="T20" fmla="*/ 2147483647 w 957"/>
                  <a:gd name="T21" fmla="*/ 0 h 653"/>
                  <a:gd name="T22" fmla="*/ 2147483647 w 957"/>
                  <a:gd name="T23" fmla="*/ 0 h 653"/>
                  <a:gd name="T24" fmla="*/ 2147483647 w 957"/>
                  <a:gd name="T25" fmla="*/ 0 h 653"/>
                  <a:gd name="T26" fmla="*/ 0 w 957"/>
                  <a:gd name="T27" fmla="*/ 2147483647 h 653"/>
                  <a:gd name="T28" fmla="*/ 0 w 957"/>
                  <a:gd name="T29" fmla="*/ 2147483647 h 653"/>
                  <a:gd name="T30" fmla="*/ 2147483647 w 957"/>
                  <a:gd name="T31" fmla="*/ 2147483647 h 653"/>
                  <a:gd name="T32" fmla="*/ 2147483647 w 957"/>
                  <a:gd name="T33" fmla="*/ 2147483647 h 653"/>
                  <a:gd name="T34" fmla="*/ 2147483647 w 957"/>
                  <a:gd name="T35" fmla="*/ 2147483647 h 653"/>
                  <a:gd name="T36" fmla="*/ 2147483647 w 957"/>
                  <a:gd name="T37" fmla="*/ 2147483647 h 653"/>
                  <a:gd name="T38" fmla="*/ 2147483647 w 957"/>
                  <a:gd name="T39" fmla="*/ 0 h 6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7"/>
                  <a:gd name="T61" fmla="*/ 0 h 653"/>
                  <a:gd name="T62" fmla="*/ 957 w 957"/>
                  <a:gd name="T63" fmla="*/ 653 h 6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7" h="653">
                    <a:moveTo>
                      <a:pt x="917" y="580"/>
                    </a:moveTo>
                    <a:lnTo>
                      <a:pt x="917" y="580"/>
                    </a:lnTo>
                    <a:cubicBezTo>
                      <a:pt x="917" y="598"/>
                      <a:pt x="903" y="613"/>
                      <a:pt x="885" y="613"/>
                    </a:cubicBezTo>
                    <a:lnTo>
                      <a:pt x="72" y="613"/>
                    </a:lnTo>
                    <a:cubicBezTo>
                      <a:pt x="54" y="613"/>
                      <a:pt x="40" y="598"/>
                      <a:pt x="40" y="580"/>
                    </a:cubicBezTo>
                    <a:lnTo>
                      <a:pt x="40" y="72"/>
                    </a:lnTo>
                    <a:cubicBezTo>
                      <a:pt x="40" y="54"/>
                      <a:pt x="54" y="40"/>
                      <a:pt x="72" y="40"/>
                    </a:cubicBezTo>
                    <a:lnTo>
                      <a:pt x="885" y="40"/>
                    </a:lnTo>
                    <a:cubicBezTo>
                      <a:pt x="903" y="40"/>
                      <a:pt x="917" y="54"/>
                      <a:pt x="917" y="72"/>
                    </a:cubicBezTo>
                    <a:lnTo>
                      <a:pt x="917" y="580"/>
                    </a:lnTo>
                    <a:close/>
                    <a:moveTo>
                      <a:pt x="885" y="0"/>
                    </a:moveTo>
                    <a:lnTo>
                      <a:pt x="885" y="0"/>
                    </a:lnTo>
                    <a:lnTo>
                      <a:pt x="72" y="0"/>
                    </a:lnTo>
                    <a:cubicBezTo>
                      <a:pt x="32" y="0"/>
                      <a:pt x="0" y="32"/>
                      <a:pt x="0" y="72"/>
                    </a:cubicBezTo>
                    <a:lnTo>
                      <a:pt x="0" y="580"/>
                    </a:lnTo>
                    <a:cubicBezTo>
                      <a:pt x="0" y="620"/>
                      <a:pt x="32" y="653"/>
                      <a:pt x="72" y="653"/>
                    </a:cubicBezTo>
                    <a:lnTo>
                      <a:pt x="885" y="653"/>
                    </a:lnTo>
                    <a:cubicBezTo>
                      <a:pt x="925" y="653"/>
                      <a:pt x="957" y="620"/>
                      <a:pt x="957" y="580"/>
                    </a:cubicBezTo>
                    <a:lnTo>
                      <a:pt x="957" y="72"/>
                    </a:lnTo>
                    <a:cubicBezTo>
                      <a:pt x="957" y="32"/>
                      <a:pt x="925" y="0"/>
                      <a:pt x="885"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43"/>
              <p:cNvSpPr>
                <a:spLocks/>
              </p:cNvSpPr>
              <p:nvPr/>
            </p:nvSpPr>
            <p:spPr bwMode="gray">
              <a:xfrm>
                <a:off x="2063750" y="1282700"/>
                <a:ext cx="482600" cy="100013"/>
              </a:xfrm>
              <a:custGeom>
                <a:avLst/>
                <a:gdLst>
                  <a:gd name="T0" fmla="*/ 2147483647 w 1149"/>
                  <a:gd name="T1" fmla="*/ 2147483647 h 240"/>
                  <a:gd name="T2" fmla="*/ 2147483647 w 1149"/>
                  <a:gd name="T3" fmla="*/ 2147483647 h 240"/>
                  <a:gd name="T4" fmla="*/ 2147483647 w 1149"/>
                  <a:gd name="T5" fmla="*/ 0 h 240"/>
                  <a:gd name="T6" fmla="*/ 2147483647 w 1149"/>
                  <a:gd name="T7" fmla="*/ 0 h 240"/>
                  <a:gd name="T8" fmla="*/ 2147483647 w 1149"/>
                  <a:gd name="T9" fmla="*/ 2147483647 h 240"/>
                  <a:gd name="T10" fmla="*/ 2147483647 w 1149"/>
                  <a:gd name="T11" fmla="*/ 2147483647 h 240"/>
                  <a:gd name="T12" fmla="*/ 2147483647 w 1149"/>
                  <a:gd name="T13" fmla="*/ 2147483647 h 240"/>
                  <a:gd name="T14" fmla="*/ 2147483647 w 1149"/>
                  <a:gd name="T15" fmla="*/ 2147483647 h 240"/>
                  <a:gd name="T16" fmla="*/ 2147483647 w 1149"/>
                  <a:gd name="T17" fmla="*/ 2147483647 h 240"/>
                  <a:gd name="T18" fmla="*/ 2147483647 w 1149"/>
                  <a:gd name="T19" fmla="*/ 2147483647 h 240"/>
                  <a:gd name="T20" fmla="*/ 2147483647 w 1149"/>
                  <a:gd name="T21" fmla="*/ 2147483647 h 240"/>
                  <a:gd name="T22" fmla="*/ 2147483647 w 1149"/>
                  <a:gd name="T23" fmla="*/ 2147483647 h 240"/>
                  <a:gd name="T24" fmla="*/ 2147483647 w 1149"/>
                  <a:gd name="T25" fmla="*/ 2147483647 h 240"/>
                  <a:gd name="T26" fmla="*/ 2147483647 w 1149"/>
                  <a:gd name="T27" fmla="*/ 2147483647 h 240"/>
                  <a:gd name="T28" fmla="*/ 2147483647 w 1149"/>
                  <a:gd name="T29" fmla="*/ 2147483647 h 240"/>
                  <a:gd name="T30" fmla="*/ 2147483647 w 1149"/>
                  <a:gd name="T31" fmla="*/ 2147483647 h 240"/>
                  <a:gd name="T32" fmla="*/ 2147483647 w 1149"/>
                  <a:gd name="T33" fmla="*/ 2147483647 h 240"/>
                  <a:gd name="T34" fmla="*/ 2147483647 w 1149"/>
                  <a:gd name="T35" fmla="*/ 2147483647 h 240"/>
                  <a:gd name="T36" fmla="*/ 2147483647 w 1149"/>
                  <a:gd name="T37" fmla="*/ 2147483647 h 240"/>
                  <a:gd name="T38" fmla="*/ 2147483647 w 1149"/>
                  <a:gd name="T39" fmla="*/ 2147483647 h 240"/>
                  <a:gd name="T40" fmla="*/ 2147483647 w 1149"/>
                  <a:gd name="T41" fmla="*/ 2147483647 h 240"/>
                  <a:gd name="T42" fmla="*/ 2147483647 w 1149"/>
                  <a:gd name="T43" fmla="*/ 2147483647 h 240"/>
                  <a:gd name="T44" fmla="*/ 2147483647 w 1149"/>
                  <a:gd name="T45" fmla="*/ 2147483647 h 240"/>
                  <a:gd name="T46" fmla="*/ 2147483647 w 1149"/>
                  <a:gd name="T47" fmla="*/ 2147483647 h 240"/>
                  <a:gd name="T48" fmla="*/ 2147483647 w 1149"/>
                  <a:gd name="T49" fmla="*/ 2147483647 h 240"/>
                  <a:gd name="T50" fmla="*/ 2147483647 w 1149"/>
                  <a:gd name="T51" fmla="*/ 2147483647 h 2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49"/>
                  <a:gd name="T79" fmla="*/ 0 h 240"/>
                  <a:gd name="T80" fmla="*/ 1149 w 1149"/>
                  <a:gd name="T81" fmla="*/ 240 h 24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49" h="240">
                    <a:moveTo>
                      <a:pt x="1048" y="15"/>
                    </a:moveTo>
                    <a:lnTo>
                      <a:pt x="1048" y="15"/>
                    </a:lnTo>
                    <a:cubicBezTo>
                      <a:pt x="1042" y="6"/>
                      <a:pt x="1032" y="0"/>
                      <a:pt x="1021" y="0"/>
                    </a:cubicBezTo>
                    <a:lnTo>
                      <a:pt x="128" y="0"/>
                    </a:lnTo>
                    <a:cubicBezTo>
                      <a:pt x="117" y="0"/>
                      <a:pt x="107" y="6"/>
                      <a:pt x="101" y="15"/>
                    </a:cubicBezTo>
                    <a:lnTo>
                      <a:pt x="7" y="151"/>
                    </a:lnTo>
                    <a:cubicBezTo>
                      <a:pt x="0" y="162"/>
                      <a:pt x="0" y="175"/>
                      <a:pt x="5" y="186"/>
                    </a:cubicBezTo>
                    <a:cubicBezTo>
                      <a:pt x="11" y="197"/>
                      <a:pt x="22" y="204"/>
                      <a:pt x="35" y="204"/>
                    </a:cubicBezTo>
                    <a:lnTo>
                      <a:pt x="662" y="204"/>
                    </a:lnTo>
                    <a:cubicBezTo>
                      <a:pt x="674" y="225"/>
                      <a:pt x="697" y="240"/>
                      <a:pt x="723" y="240"/>
                    </a:cubicBezTo>
                    <a:cubicBezTo>
                      <a:pt x="761" y="240"/>
                      <a:pt x="792" y="208"/>
                      <a:pt x="792" y="170"/>
                    </a:cubicBezTo>
                    <a:cubicBezTo>
                      <a:pt x="792" y="132"/>
                      <a:pt x="761" y="101"/>
                      <a:pt x="723" y="101"/>
                    </a:cubicBezTo>
                    <a:cubicBezTo>
                      <a:pt x="697" y="101"/>
                      <a:pt x="674" y="115"/>
                      <a:pt x="662" y="137"/>
                    </a:cubicBezTo>
                    <a:lnTo>
                      <a:pt x="98" y="137"/>
                    </a:lnTo>
                    <a:lnTo>
                      <a:pt x="146" y="67"/>
                    </a:lnTo>
                    <a:lnTo>
                      <a:pt x="1003" y="67"/>
                    </a:lnTo>
                    <a:lnTo>
                      <a:pt x="1051" y="137"/>
                    </a:lnTo>
                    <a:lnTo>
                      <a:pt x="997" y="137"/>
                    </a:lnTo>
                    <a:cubicBezTo>
                      <a:pt x="985" y="115"/>
                      <a:pt x="962" y="101"/>
                      <a:pt x="936" y="101"/>
                    </a:cubicBezTo>
                    <a:cubicBezTo>
                      <a:pt x="897" y="101"/>
                      <a:pt x="867" y="132"/>
                      <a:pt x="867" y="170"/>
                    </a:cubicBezTo>
                    <a:cubicBezTo>
                      <a:pt x="867" y="208"/>
                      <a:pt x="897" y="240"/>
                      <a:pt x="936" y="240"/>
                    </a:cubicBezTo>
                    <a:cubicBezTo>
                      <a:pt x="962" y="240"/>
                      <a:pt x="985" y="225"/>
                      <a:pt x="997" y="204"/>
                    </a:cubicBezTo>
                    <a:lnTo>
                      <a:pt x="1114" y="204"/>
                    </a:lnTo>
                    <a:cubicBezTo>
                      <a:pt x="1127" y="204"/>
                      <a:pt x="1138" y="197"/>
                      <a:pt x="1144" y="186"/>
                    </a:cubicBezTo>
                    <a:cubicBezTo>
                      <a:pt x="1149" y="175"/>
                      <a:pt x="1149" y="162"/>
                      <a:pt x="1142" y="151"/>
                    </a:cubicBezTo>
                    <a:lnTo>
                      <a:pt x="1048" y="15"/>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44"/>
              <p:cNvSpPr>
                <a:spLocks noEditPoints="1"/>
              </p:cNvSpPr>
              <p:nvPr/>
            </p:nvSpPr>
            <p:spPr bwMode="gray">
              <a:xfrm>
                <a:off x="1836738" y="925513"/>
                <a:ext cx="193675" cy="442913"/>
              </a:xfrm>
              <a:custGeom>
                <a:avLst/>
                <a:gdLst>
                  <a:gd name="T0" fmla="*/ 2147483647 w 461"/>
                  <a:gd name="T1" fmla="*/ 2147483647 h 1055"/>
                  <a:gd name="T2" fmla="*/ 2147483647 w 461"/>
                  <a:gd name="T3" fmla="*/ 2147483647 h 1055"/>
                  <a:gd name="T4" fmla="*/ 2147483647 w 461"/>
                  <a:gd name="T5" fmla="*/ 2147483647 h 1055"/>
                  <a:gd name="T6" fmla="*/ 2147483647 w 461"/>
                  <a:gd name="T7" fmla="*/ 2147483647 h 1055"/>
                  <a:gd name="T8" fmla="*/ 2147483647 w 461"/>
                  <a:gd name="T9" fmla="*/ 2147483647 h 1055"/>
                  <a:gd name="T10" fmla="*/ 2147483647 w 461"/>
                  <a:gd name="T11" fmla="*/ 2147483647 h 1055"/>
                  <a:gd name="T12" fmla="*/ 2147483647 w 461"/>
                  <a:gd name="T13" fmla="*/ 2147483647 h 1055"/>
                  <a:gd name="T14" fmla="*/ 2147483647 w 461"/>
                  <a:gd name="T15" fmla="*/ 2147483647 h 1055"/>
                  <a:gd name="T16" fmla="*/ 2147483647 w 461"/>
                  <a:gd name="T17" fmla="*/ 2147483647 h 1055"/>
                  <a:gd name="T18" fmla="*/ 2147483647 w 461"/>
                  <a:gd name="T19" fmla="*/ 2147483647 h 1055"/>
                  <a:gd name="T20" fmla="*/ 2147483647 w 461"/>
                  <a:gd name="T21" fmla="*/ 0 h 1055"/>
                  <a:gd name="T22" fmla="*/ 2147483647 w 461"/>
                  <a:gd name="T23" fmla="*/ 0 h 1055"/>
                  <a:gd name="T24" fmla="*/ 2147483647 w 461"/>
                  <a:gd name="T25" fmla="*/ 0 h 1055"/>
                  <a:gd name="T26" fmla="*/ 0 w 461"/>
                  <a:gd name="T27" fmla="*/ 2147483647 h 1055"/>
                  <a:gd name="T28" fmla="*/ 0 w 461"/>
                  <a:gd name="T29" fmla="*/ 2147483647 h 1055"/>
                  <a:gd name="T30" fmla="*/ 2147483647 w 461"/>
                  <a:gd name="T31" fmla="*/ 2147483647 h 1055"/>
                  <a:gd name="T32" fmla="*/ 2147483647 w 461"/>
                  <a:gd name="T33" fmla="*/ 2147483647 h 1055"/>
                  <a:gd name="T34" fmla="*/ 2147483647 w 461"/>
                  <a:gd name="T35" fmla="*/ 2147483647 h 1055"/>
                  <a:gd name="T36" fmla="*/ 2147483647 w 461"/>
                  <a:gd name="T37" fmla="*/ 2147483647 h 1055"/>
                  <a:gd name="T38" fmla="*/ 2147483647 w 461"/>
                  <a:gd name="T39" fmla="*/ 0 h 10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1"/>
                  <a:gd name="T61" fmla="*/ 0 h 1055"/>
                  <a:gd name="T62" fmla="*/ 461 w 461"/>
                  <a:gd name="T63" fmla="*/ 1055 h 10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1" h="1055">
                    <a:moveTo>
                      <a:pt x="394" y="955"/>
                    </a:moveTo>
                    <a:lnTo>
                      <a:pt x="394" y="955"/>
                    </a:lnTo>
                    <a:cubicBezTo>
                      <a:pt x="394" y="973"/>
                      <a:pt x="379" y="988"/>
                      <a:pt x="361" y="988"/>
                    </a:cubicBezTo>
                    <a:lnTo>
                      <a:pt x="100" y="988"/>
                    </a:lnTo>
                    <a:cubicBezTo>
                      <a:pt x="82" y="988"/>
                      <a:pt x="67" y="973"/>
                      <a:pt x="67" y="955"/>
                    </a:cubicBezTo>
                    <a:lnTo>
                      <a:pt x="67" y="100"/>
                    </a:lnTo>
                    <a:cubicBezTo>
                      <a:pt x="67" y="82"/>
                      <a:pt x="82" y="67"/>
                      <a:pt x="100" y="67"/>
                    </a:cubicBezTo>
                    <a:lnTo>
                      <a:pt x="361" y="67"/>
                    </a:lnTo>
                    <a:cubicBezTo>
                      <a:pt x="379" y="67"/>
                      <a:pt x="394" y="82"/>
                      <a:pt x="394" y="100"/>
                    </a:cubicBezTo>
                    <a:lnTo>
                      <a:pt x="394" y="955"/>
                    </a:lnTo>
                    <a:close/>
                    <a:moveTo>
                      <a:pt x="361" y="0"/>
                    </a:moveTo>
                    <a:lnTo>
                      <a:pt x="361" y="0"/>
                    </a:lnTo>
                    <a:lnTo>
                      <a:pt x="100" y="0"/>
                    </a:lnTo>
                    <a:cubicBezTo>
                      <a:pt x="45" y="0"/>
                      <a:pt x="0" y="45"/>
                      <a:pt x="0" y="100"/>
                    </a:cubicBezTo>
                    <a:lnTo>
                      <a:pt x="0" y="955"/>
                    </a:lnTo>
                    <a:cubicBezTo>
                      <a:pt x="0" y="1010"/>
                      <a:pt x="45" y="1055"/>
                      <a:pt x="100" y="1055"/>
                    </a:cubicBezTo>
                    <a:lnTo>
                      <a:pt x="361" y="1055"/>
                    </a:lnTo>
                    <a:cubicBezTo>
                      <a:pt x="416" y="1055"/>
                      <a:pt x="461" y="1010"/>
                      <a:pt x="461" y="955"/>
                    </a:cubicBezTo>
                    <a:lnTo>
                      <a:pt x="461" y="100"/>
                    </a:lnTo>
                    <a:cubicBezTo>
                      <a:pt x="461" y="45"/>
                      <a:pt x="416" y="0"/>
                      <a:pt x="361"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45"/>
              <p:cNvSpPr>
                <a:spLocks/>
              </p:cNvSpPr>
              <p:nvPr/>
            </p:nvSpPr>
            <p:spPr bwMode="gray">
              <a:xfrm>
                <a:off x="1878013" y="1003300"/>
                <a:ext cx="112713" cy="28575"/>
              </a:xfrm>
              <a:custGeom>
                <a:avLst/>
                <a:gdLst>
                  <a:gd name="T0" fmla="*/ 2147483647 w 267"/>
                  <a:gd name="T1" fmla="*/ 0 h 66"/>
                  <a:gd name="T2" fmla="*/ 2147483647 w 267"/>
                  <a:gd name="T3" fmla="*/ 0 h 66"/>
                  <a:gd name="T4" fmla="*/ 2147483647 w 267"/>
                  <a:gd name="T5" fmla="*/ 0 h 66"/>
                  <a:gd name="T6" fmla="*/ 0 w 267"/>
                  <a:gd name="T7" fmla="*/ 2147483647 h 66"/>
                  <a:gd name="T8" fmla="*/ 2147483647 w 267"/>
                  <a:gd name="T9" fmla="*/ 2147483647 h 66"/>
                  <a:gd name="T10" fmla="*/ 2147483647 w 267"/>
                  <a:gd name="T11" fmla="*/ 2147483647 h 66"/>
                  <a:gd name="T12" fmla="*/ 2147483647 w 267"/>
                  <a:gd name="T13" fmla="*/ 2147483647 h 66"/>
                  <a:gd name="T14" fmla="*/ 2147483647 w 267"/>
                  <a:gd name="T15" fmla="*/ 0 h 66"/>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6"/>
                  <a:gd name="T26" fmla="*/ 267 w 267"/>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6">
                    <a:moveTo>
                      <a:pt x="233" y="0"/>
                    </a:moveTo>
                    <a:lnTo>
                      <a:pt x="233" y="0"/>
                    </a:lnTo>
                    <a:lnTo>
                      <a:pt x="33" y="0"/>
                    </a:lnTo>
                    <a:cubicBezTo>
                      <a:pt x="15" y="0"/>
                      <a:pt x="0" y="15"/>
                      <a:pt x="0" y="33"/>
                    </a:cubicBezTo>
                    <a:cubicBezTo>
                      <a:pt x="0" y="52"/>
                      <a:pt x="15" y="66"/>
                      <a:pt x="33" y="66"/>
                    </a:cubicBezTo>
                    <a:lnTo>
                      <a:pt x="233" y="66"/>
                    </a:lnTo>
                    <a:cubicBezTo>
                      <a:pt x="252" y="66"/>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46"/>
              <p:cNvSpPr>
                <a:spLocks/>
              </p:cNvSpPr>
              <p:nvPr/>
            </p:nvSpPr>
            <p:spPr bwMode="gray">
              <a:xfrm>
                <a:off x="1878013" y="10429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3"/>
                    </a:cubicBezTo>
                    <a:cubicBezTo>
                      <a:pt x="0" y="52"/>
                      <a:pt x="15" y="67"/>
                      <a:pt x="33" y="67"/>
                    </a:cubicBezTo>
                    <a:lnTo>
                      <a:pt x="233" y="67"/>
                    </a:lnTo>
                    <a:cubicBezTo>
                      <a:pt x="252" y="67"/>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47"/>
              <p:cNvSpPr>
                <a:spLocks/>
              </p:cNvSpPr>
              <p:nvPr/>
            </p:nvSpPr>
            <p:spPr bwMode="gray">
              <a:xfrm>
                <a:off x="1878013" y="10810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4"/>
                    </a:cubicBezTo>
                    <a:cubicBezTo>
                      <a:pt x="0" y="52"/>
                      <a:pt x="15" y="67"/>
                      <a:pt x="33" y="67"/>
                    </a:cubicBezTo>
                    <a:lnTo>
                      <a:pt x="233" y="67"/>
                    </a:lnTo>
                    <a:cubicBezTo>
                      <a:pt x="252" y="67"/>
                      <a:pt x="267" y="52"/>
                      <a:pt x="267" y="34"/>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48"/>
              <p:cNvSpPr>
                <a:spLocks noEditPoints="1"/>
              </p:cNvSpPr>
              <p:nvPr/>
            </p:nvSpPr>
            <p:spPr bwMode="gray">
              <a:xfrm>
                <a:off x="1892300" y="1227138"/>
                <a:ext cx="84138" cy="84138"/>
              </a:xfrm>
              <a:custGeom>
                <a:avLst/>
                <a:gdLst>
                  <a:gd name="T0" fmla="*/ 2147483647 w 200"/>
                  <a:gd name="T1" fmla="*/ 2147483647 h 200"/>
                  <a:gd name="T2" fmla="*/ 2147483647 w 200"/>
                  <a:gd name="T3" fmla="*/ 2147483647 h 200"/>
                  <a:gd name="T4" fmla="*/ 2147483647 w 200"/>
                  <a:gd name="T5" fmla="*/ 2147483647 h 200"/>
                  <a:gd name="T6" fmla="*/ 2147483647 w 200"/>
                  <a:gd name="T7" fmla="*/ 2147483647 h 200"/>
                  <a:gd name="T8" fmla="*/ 2147483647 w 200"/>
                  <a:gd name="T9" fmla="*/ 2147483647 h 200"/>
                  <a:gd name="T10" fmla="*/ 2147483647 w 200"/>
                  <a:gd name="T11" fmla="*/ 2147483647 h 200"/>
                  <a:gd name="T12" fmla="*/ 2147483647 w 200"/>
                  <a:gd name="T13" fmla="*/ 0 h 200"/>
                  <a:gd name="T14" fmla="*/ 2147483647 w 200"/>
                  <a:gd name="T15" fmla="*/ 0 h 200"/>
                  <a:gd name="T16" fmla="*/ 0 w 200"/>
                  <a:gd name="T17" fmla="*/ 2147483647 h 200"/>
                  <a:gd name="T18" fmla="*/ 2147483647 w 200"/>
                  <a:gd name="T19" fmla="*/ 2147483647 h 200"/>
                  <a:gd name="T20" fmla="*/ 2147483647 w 200"/>
                  <a:gd name="T21" fmla="*/ 2147483647 h 200"/>
                  <a:gd name="T22" fmla="*/ 2147483647 w 200"/>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
                  <a:gd name="T37" fmla="*/ 0 h 200"/>
                  <a:gd name="T38" fmla="*/ 200 w 200"/>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 h="200">
                    <a:moveTo>
                      <a:pt x="100" y="133"/>
                    </a:moveTo>
                    <a:lnTo>
                      <a:pt x="100" y="133"/>
                    </a:lnTo>
                    <a:cubicBezTo>
                      <a:pt x="82" y="133"/>
                      <a:pt x="67" y="118"/>
                      <a:pt x="67" y="100"/>
                    </a:cubicBezTo>
                    <a:cubicBezTo>
                      <a:pt x="67" y="82"/>
                      <a:pt x="82" y="67"/>
                      <a:pt x="100" y="67"/>
                    </a:cubicBezTo>
                    <a:cubicBezTo>
                      <a:pt x="119" y="67"/>
                      <a:pt x="134" y="82"/>
                      <a:pt x="134" y="100"/>
                    </a:cubicBezTo>
                    <a:cubicBezTo>
                      <a:pt x="134" y="118"/>
                      <a:pt x="119" y="133"/>
                      <a:pt x="100" y="133"/>
                    </a:cubicBezTo>
                    <a:close/>
                    <a:moveTo>
                      <a:pt x="100" y="0"/>
                    </a:moveTo>
                    <a:lnTo>
                      <a:pt x="100" y="0"/>
                    </a:lnTo>
                    <a:cubicBezTo>
                      <a:pt x="45" y="0"/>
                      <a:pt x="0" y="45"/>
                      <a:pt x="0" y="100"/>
                    </a:cubicBezTo>
                    <a:cubicBezTo>
                      <a:pt x="0" y="155"/>
                      <a:pt x="45" y="200"/>
                      <a:pt x="100" y="200"/>
                    </a:cubicBezTo>
                    <a:cubicBezTo>
                      <a:pt x="155" y="200"/>
                      <a:pt x="200" y="155"/>
                      <a:pt x="200" y="100"/>
                    </a:cubicBezTo>
                    <a:cubicBezTo>
                      <a:pt x="200" y="45"/>
                      <a:pt x="155" y="0"/>
                      <a:pt x="100"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39" name="文本框 38"/>
          <p:cNvSpPr txBox="1"/>
          <p:nvPr/>
        </p:nvSpPr>
        <p:spPr bwMode="gray">
          <a:xfrm>
            <a:off x="3273783"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4159477"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视讯</a:t>
            </a:r>
          </a:p>
        </p:txBody>
      </p:sp>
      <p:sp>
        <p:nvSpPr>
          <p:cNvPr id="41" name="文本框 40"/>
          <p:cNvSpPr txBox="1"/>
          <p:nvPr/>
        </p:nvSpPr>
        <p:spPr bwMode="gray">
          <a:xfrm>
            <a:off x="4889751"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安防</a:t>
            </a:r>
          </a:p>
        </p:txBody>
      </p:sp>
      <p:pic>
        <p:nvPicPr>
          <p:cNvPr id="42" name="图片 41" descr="汇聚交换机.png"/>
          <p:cNvPicPr>
            <a:picLocks noChangeAspect="1"/>
          </p:cNvPicPr>
          <p:nvPr/>
        </p:nvPicPr>
        <p:blipFill>
          <a:blip r:embed="rId3" cstate="print"/>
          <a:stretch>
            <a:fillRect/>
          </a:stretch>
        </p:blipFill>
        <p:spPr bwMode="gray">
          <a:xfrm>
            <a:off x="1376731" y="3769181"/>
            <a:ext cx="403334" cy="330001"/>
          </a:xfrm>
          <a:prstGeom prst="rect">
            <a:avLst/>
          </a:prstGeom>
        </p:spPr>
      </p:pic>
      <p:pic>
        <p:nvPicPr>
          <p:cNvPr id="43" name="图片 87" descr="汇聚交换机.png"/>
          <p:cNvPicPr>
            <a:picLocks noChangeAspect="1"/>
          </p:cNvPicPr>
          <p:nvPr/>
        </p:nvPicPr>
        <p:blipFill>
          <a:blip r:embed="rId3" cstate="print"/>
          <a:stretch>
            <a:fillRect/>
          </a:stretch>
        </p:blipFill>
        <p:spPr bwMode="gray">
          <a:xfrm>
            <a:off x="3752348" y="3769181"/>
            <a:ext cx="403334" cy="330001"/>
          </a:xfrm>
          <a:prstGeom prst="rect">
            <a:avLst/>
          </a:prstGeom>
        </p:spPr>
      </p:pic>
      <p:grpSp>
        <p:nvGrpSpPr>
          <p:cNvPr id="45" name="组合 758"/>
          <p:cNvGrpSpPr/>
          <p:nvPr/>
        </p:nvGrpSpPr>
        <p:grpSpPr bwMode="gray">
          <a:xfrm flipV="1">
            <a:off x="2627758" y="5055147"/>
            <a:ext cx="225699" cy="191129"/>
            <a:chOff x="7440613" y="4868863"/>
            <a:chExt cx="1019175" cy="828675"/>
          </a:xfrm>
          <a:solidFill>
            <a:schemeClr val="bg1">
              <a:lumMod val="50000"/>
            </a:schemeClr>
          </a:solidFill>
        </p:grpSpPr>
        <p:sp>
          <p:nvSpPr>
            <p:cNvPr id="4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8" name="直接连接符 47"/>
          <p:cNvCxnSpPr/>
          <p:nvPr/>
        </p:nvCxnSpPr>
        <p:spPr bwMode="gray">
          <a:xfrm flipH="1">
            <a:off x="1519328" y="4850693"/>
            <a:ext cx="1076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图片 105" descr="AP.png"/>
          <p:cNvPicPr>
            <a:picLocks noChangeAspect="1"/>
          </p:cNvPicPr>
          <p:nvPr/>
        </p:nvPicPr>
        <p:blipFill>
          <a:blip r:embed="rId4" cstate="print"/>
          <a:stretch>
            <a:fillRect/>
          </a:stretch>
        </p:blipFill>
        <p:spPr bwMode="gray">
          <a:xfrm>
            <a:off x="2538940" y="4685693"/>
            <a:ext cx="403334" cy="330001"/>
          </a:xfrm>
          <a:prstGeom prst="rect">
            <a:avLst/>
          </a:prstGeom>
        </p:spPr>
      </p:pic>
      <p:grpSp>
        <p:nvGrpSpPr>
          <p:cNvPr id="50" name="Group 165"/>
          <p:cNvGrpSpPr/>
          <p:nvPr/>
        </p:nvGrpSpPr>
        <p:grpSpPr bwMode="gray">
          <a:xfrm rot="10800000">
            <a:off x="1166008" y="4883057"/>
            <a:ext cx="823660" cy="502927"/>
            <a:chOff x="-1233037" y="914446"/>
            <a:chExt cx="1573823" cy="778776"/>
          </a:xfrm>
        </p:grpSpPr>
        <p:cxnSp>
          <p:nvCxnSpPr>
            <p:cNvPr id="51" name="Straight Connector 166"/>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167"/>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直接连接符 52"/>
          <p:cNvCxnSpPr/>
          <p:nvPr/>
        </p:nvCxnSpPr>
        <p:spPr bwMode="gray">
          <a:xfrm>
            <a:off x="2698353" y="1545645"/>
            <a:ext cx="0" cy="13898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4"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476520" y="2170256"/>
            <a:ext cx="443667" cy="363001"/>
          </a:xfrm>
          <a:prstGeom prst="rect">
            <a:avLst/>
          </a:prstGeom>
        </p:spPr>
      </p:pic>
      <p:grpSp>
        <p:nvGrpSpPr>
          <p:cNvPr id="55" name="组合 758"/>
          <p:cNvGrpSpPr/>
          <p:nvPr/>
        </p:nvGrpSpPr>
        <p:grpSpPr bwMode="gray">
          <a:xfrm flipV="1">
            <a:off x="5051282" y="5055147"/>
            <a:ext cx="225699" cy="191129"/>
            <a:chOff x="7440613" y="4868863"/>
            <a:chExt cx="1019175" cy="828675"/>
          </a:xfrm>
          <a:solidFill>
            <a:schemeClr val="bg1">
              <a:lumMod val="50000"/>
            </a:schemeClr>
          </a:solidFill>
        </p:grpSpPr>
        <p:sp>
          <p:nvSpPr>
            <p:cNvPr id="5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8" name="Freeform 159"/>
          <p:cNvSpPr/>
          <p:nvPr/>
        </p:nvSpPr>
        <p:spPr bwMode="gray">
          <a:xfrm flipH="1">
            <a:off x="2197804" y="1372839"/>
            <a:ext cx="997303" cy="5213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44000" rtlCol="0" anchor="ctr">
            <a:noAutofit/>
          </a:bodyPr>
          <a:lstStyle/>
          <a:p>
            <a:pPr algn="ctr"/>
            <a:r>
              <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59" name="直接连接符 58"/>
          <p:cNvCxnSpPr/>
          <p:nvPr/>
        </p:nvCxnSpPr>
        <p:spPr bwMode="gray">
          <a:xfrm flipH="1">
            <a:off x="3949630" y="4850693"/>
            <a:ext cx="10701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0" name="图片 105" descr="AP.png"/>
          <p:cNvPicPr>
            <a:picLocks noChangeAspect="1"/>
          </p:cNvPicPr>
          <p:nvPr/>
        </p:nvPicPr>
        <p:blipFill>
          <a:blip r:embed="rId4" cstate="print"/>
          <a:stretch>
            <a:fillRect/>
          </a:stretch>
        </p:blipFill>
        <p:spPr bwMode="gray">
          <a:xfrm>
            <a:off x="4962464" y="4685693"/>
            <a:ext cx="403334" cy="330001"/>
          </a:xfrm>
          <a:prstGeom prst="rect">
            <a:avLst/>
          </a:prstGeom>
        </p:spPr>
      </p:pic>
      <p:pic>
        <p:nvPicPr>
          <p:cNvPr id="61" name="图片 76" descr="接入交换机.png"/>
          <p:cNvPicPr>
            <a:picLocks noChangeAspect="1"/>
          </p:cNvPicPr>
          <p:nvPr/>
        </p:nvPicPr>
        <p:blipFill>
          <a:blip r:embed="rId6" cstate="print"/>
          <a:stretch>
            <a:fillRect/>
          </a:stretch>
        </p:blipFill>
        <p:spPr bwMode="gray">
          <a:xfrm>
            <a:off x="3747962" y="4685693"/>
            <a:ext cx="403334" cy="330001"/>
          </a:xfrm>
          <a:prstGeom prst="rect">
            <a:avLst/>
          </a:prstGeom>
        </p:spPr>
      </p:pic>
      <p:pic>
        <p:nvPicPr>
          <p:cNvPr id="62" name="图片 76" descr="接入交换机.png"/>
          <p:cNvPicPr>
            <a:picLocks noChangeAspect="1"/>
          </p:cNvPicPr>
          <p:nvPr/>
        </p:nvPicPr>
        <p:blipFill>
          <a:blip r:embed="rId6" cstate="print"/>
          <a:stretch>
            <a:fillRect/>
          </a:stretch>
        </p:blipFill>
        <p:spPr bwMode="gray">
          <a:xfrm>
            <a:off x="1372550" y="4685693"/>
            <a:ext cx="403334" cy="330001"/>
          </a:xfrm>
          <a:prstGeom prst="rect">
            <a:avLst/>
          </a:prstGeom>
        </p:spPr>
      </p:pic>
      <p:grpSp>
        <p:nvGrpSpPr>
          <p:cNvPr id="63" name="组合 225"/>
          <p:cNvGrpSpPr>
            <a:grpSpLocks/>
          </p:cNvGrpSpPr>
          <p:nvPr/>
        </p:nvGrpSpPr>
        <p:grpSpPr bwMode="gray">
          <a:xfrm>
            <a:off x="1775890" y="5373437"/>
            <a:ext cx="504238" cy="504879"/>
            <a:chOff x="436563" y="3479800"/>
            <a:chExt cx="1114425" cy="1116013"/>
          </a:xfrm>
        </p:grpSpPr>
        <p:sp>
          <p:nvSpPr>
            <p:cNvPr id="64" name="Freeform 166"/>
            <p:cNvSpPr>
              <a:spLocks/>
            </p:cNvSpPr>
            <p:nvPr/>
          </p:nvSpPr>
          <p:spPr bwMode="gray">
            <a:xfrm>
              <a:off x="436563" y="3479800"/>
              <a:ext cx="1114425"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30"/>
                  </a:moveTo>
                  <a:lnTo>
                    <a:pt x="2658" y="1330"/>
                  </a:lnTo>
                  <a:cubicBezTo>
                    <a:pt x="2658" y="2064"/>
                    <a:pt x="2063" y="2659"/>
                    <a:pt x="1329" y="2659"/>
                  </a:cubicBezTo>
                  <a:cubicBezTo>
                    <a:pt x="595" y="2659"/>
                    <a:pt x="0" y="2064"/>
                    <a:pt x="0" y="1330"/>
                  </a:cubicBezTo>
                  <a:cubicBezTo>
                    <a:pt x="0" y="595"/>
                    <a:pt x="595" y="0"/>
                    <a:pt x="1329" y="0"/>
                  </a:cubicBezTo>
                  <a:cubicBezTo>
                    <a:pt x="2063" y="0"/>
                    <a:pt x="2658" y="595"/>
                    <a:pt x="2658" y="1330"/>
                  </a:cubicBezTo>
                  <a:close/>
                </a:path>
              </a:pathLst>
            </a:custGeom>
            <a:solidFill>
              <a:srgbClr val="FFD17D"/>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5" name="组合 206"/>
            <p:cNvGrpSpPr>
              <a:grpSpLocks/>
            </p:cNvGrpSpPr>
            <p:nvPr/>
          </p:nvGrpSpPr>
          <p:grpSpPr bwMode="gray">
            <a:xfrm>
              <a:off x="512763" y="3792538"/>
              <a:ext cx="963613" cy="488950"/>
              <a:chOff x="512763" y="3792538"/>
              <a:chExt cx="963613" cy="488950"/>
            </a:xfrm>
          </p:grpSpPr>
          <p:sp>
            <p:nvSpPr>
              <p:cNvPr id="66" name="Freeform 167"/>
              <p:cNvSpPr>
                <a:spLocks noEditPoints="1"/>
              </p:cNvSpPr>
              <p:nvPr/>
            </p:nvSpPr>
            <p:spPr bwMode="gray">
              <a:xfrm>
                <a:off x="633413" y="3844925"/>
                <a:ext cx="227013" cy="163513"/>
              </a:xfrm>
              <a:custGeom>
                <a:avLst/>
                <a:gdLst>
                  <a:gd name="T0" fmla="*/ 2147483647 w 541"/>
                  <a:gd name="T1" fmla="*/ 2147483647 h 390"/>
                  <a:gd name="T2" fmla="*/ 2147483647 w 541"/>
                  <a:gd name="T3" fmla="*/ 2147483647 h 390"/>
                  <a:gd name="T4" fmla="*/ 2147483647 w 541"/>
                  <a:gd name="T5" fmla="*/ 2147483647 h 390"/>
                  <a:gd name="T6" fmla="*/ 2147483647 w 541"/>
                  <a:gd name="T7" fmla="*/ 2147483647 h 390"/>
                  <a:gd name="T8" fmla="*/ 2147483647 w 541"/>
                  <a:gd name="T9" fmla="*/ 2147483647 h 390"/>
                  <a:gd name="T10" fmla="*/ 2147483647 w 541"/>
                  <a:gd name="T11" fmla="*/ 2147483647 h 390"/>
                  <a:gd name="T12" fmla="*/ 0 w 541"/>
                  <a:gd name="T13" fmla="*/ 2147483647 h 390"/>
                  <a:gd name="T14" fmla="*/ 0 w 541"/>
                  <a:gd name="T15" fmla="*/ 2147483647 h 390"/>
                  <a:gd name="T16" fmla="*/ 2147483647 w 541"/>
                  <a:gd name="T17" fmla="*/ 2147483647 h 390"/>
                  <a:gd name="T18" fmla="*/ 2147483647 w 541"/>
                  <a:gd name="T19" fmla="*/ 0 h 390"/>
                  <a:gd name="T20" fmla="*/ 0 w 541"/>
                  <a:gd name="T21" fmla="*/ 0 h 390"/>
                  <a:gd name="T22" fmla="*/ 0 w 541"/>
                  <a:gd name="T23" fmla="*/ 2147483647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1"/>
                  <a:gd name="T37" fmla="*/ 0 h 390"/>
                  <a:gd name="T38" fmla="*/ 541 w 541"/>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1" h="390">
                    <a:moveTo>
                      <a:pt x="53" y="54"/>
                    </a:moveTo>
                    <a:lnTo>
                      <a:pt x="53" y="54"/>
                    </a:lnTo>
                    <a:lnTo>
                      <a:pt x="488" y="54"/>
                    </a:lnTo>
                    <a:lnTo>
                      <a:pt x="488" y="336"/>
                    </a:lnTo>
                    <a:lnTo>
                      <a:pt x="53" y="336"/>
                    </a:lnTo>
                    <a:lnTo>
                      <a:pt x="53" y="54"/>
                    </a:lnTo>
                    <a:close/>
                    <a:moveTo>
                      <a:pt x="0" y="390"/>
                    </a:moveTo>
                    <a:lnTo>
                      <a:pt x="0" y="390"/>
                    </a:lnTo>
                    <a:lnTo>
                      <a:pt x="541" y="390"/>
                    </a:lnTo>
                    <a:lnTo>
                      <a:pt x="541" y="0"/>
                    </a:lnTo>
                    <a:lnTo>
                      <a:pt x="0" y="0"/>
                    </a:lnTo>
                    <a:lnTo>
                      <a:pt x="0" y="39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168"/>
              <p:cNvSpPr>
                <a:spLocks noEditPoints="1"/>
              </p:cNvSpPr>
              <p:nvPr/>
            </p:nvSpPr>
            <p:spPr bwMode="gray">
              <a:xfrm>
                <a:off x="88106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8" y="336"/>
                    </a:moveTo>
                    <a:lnTo>
                      <a:pt x="488" y="336"/>
                    </a:lnTo>
                    <a:lnTo>
                      <a:pt x="54" y="336"/>
                    </a:lnTo>
                    <a:lnTo>
                      <a:pt x="54" y="54"/>
                    </a:lnTo>
                    <a:lnTo>
                      <a:pt x="488" y="54"/>
                    </a:lnTo>
                    <a:lnTo>
                      <a:pt x="488"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169"/>
              <p:cNvSpPr>
                <a:spLocks noEditPoints="1"/>
              </p:cNvSpPr>
              <p:nvPr/>
            </p:nvSpPr>
            <p:spPr bwMode="gray">
              <a:xfrm>
                <a:off x="112871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9" y="336"/>
                    </a:moveTo>
                    <a:lnTo>
                      <a:pt x="489" y="336"/>
                    </a:lnTo>
                    <a:lnTo>
                      <a:pt x="54" y="336"/>
                    </a:lnTo>
                    <a:lnTo>
                      <a:pt x="54" y="54"/>
                    </a:lnTo>
                    <a:lnTo>
                      <a:pt x="489" y="54"/>
                    </a:lnTo>
                    <a:lnTo>
                      <a:pt x="489"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170"/>
              <p:cNvSpPr>
                <a:spLocks noEditPoints="1"/>
              </p:cNvSpPr>
              <p:nvPr/>
            </p:nvSpPr>
            <p:spPr bwMode="gray">
              <a:xfrm>
                <a:off x="512763" y="3792538"/>
                <a:ext cx="963613" cy="488950"/>
              </a:xfrm>
              <a:custGeom>
                <a:avLst/>
                <a:gdLst>
                  <a:gd name="T0" fmla="*/ 2147483647 w 2298"/>
                  <a:gd name="T1" fmla="*/ 2147483647 h 1165"/>
                  <a:gd name="T2" fmla="*/ 2147483647 w 2298"/>
                  <a:gd name="T3" fmla="*/ 2147483647 h 1165"/>
                  <a:gd name="T4" fmla="*/ 2147483647 w 2298"/>
                  <a:gd name="T5" fmla="*/ 2147483647 h 1165"/>
                  <a:gd name="T6" fmla="*/ 2147483647 w 2298"/>
                  <a:gd name="T7" fmla="*/ 2147483647 h 1165"/>
                  <a:gd name="T8" fmla="*/ 2147483647 w 2298"/>
                  <a:gd name="T9" fmla="*/ 2147483647 h 1165"/>
                  <a:gd name="T10" fmla="*/ 2147483647 w 2298"/>
                  <a:gd name="T11" fmla="*/ 2147483647 h 1165"/>
                  <a:gd name="T12" fmla="*/ 2147483647 w 2298"/>
                  <a:gd name="T13" fmla="*/ 2147483647 h 1165"/>
                  <a:gd name="T14" fmla="*/ 2147483647 w 2298"/>
                  <a:gd name="T15" fmla="*/ 2147483647 h 1165"/>
                  <a:gd name="T16" fmla="*/ 2147483647 w 2298"/>
                  <a:gd name="T17" fmla="*/ 2147483647 h 1165"/>
                  <a:gd name="T18" fmla="*/ 2147483647 w 2298"/>
                  <a:gd name="T19" fmla="*/ 2147483647 h 1165"/>
                  <a:gd name="T20" fmla="*/ 2147483647 w 2298"/>
                  <a:gd name="T21" fmla="*/ 2147483647 h 1165"/>
                  <a:gd name="T22" fmla="*/ 2147483647 w 2298"/>
                  <a:gd name="T23" fmla="*/ 2147483647 h 1165"/>
                  <a:gd name="T24" fmla="*/ 2147483647 w 2298"/>
                  <a:gd name="T25" fmla="*/ 2147483647 h 1165"/>
                  <a:gd name="T26" fmla="*/ 2147483647 w 2298"/>
                  <a:gd name="T27" fmla="*/ 2147483647 h 1165"/>
                  <a:gd name="T28" fmla="*/ 2147483647 w 2298"/>
                  <a:gd name="T29" fmla="*/ 2147483647 h 1165"/>
                  <a:gd name="T30" fmla="*/ 2147483647 w 2298"/>
                  <a:gd name="T31" fmla="*/ 2147483647 h 1165"/>
                  <a:gd name="T32" fmla="*/ 2147483647 w 2298"/>
                  <a:gd name="T33" fmla="*/ 2147483647 h 1165"/>
                  <a:gd name="T34" fmla="*/ 2147483647 w 2298"/>
                  <a:gd name="T35" fmla="*/ 2147483647 h 1165"/>
                  <a:gd name="T36" fmla="*/ 2147483647 w 2298"/>
                  <a:gd name="T37" fmla="*/ 2147483647 h 1165"/>
                  <a:gd name="T38" fmla="*/ 2147483647 w 2298"/>
                  <a:gd name="T39" fmla="*/ 2147483647 h 1165"/>
                  <a:gd name="T40" fmla="*/ 2147483647 w 2298"/>
                  <a:gd name="T41" fmla="*/ 2147483647 h 1165"/>
                  <a:gd name="T42" fmla="*/ 2147483647 w 2298"/>
                  <a:gd name="T43" fmla="*/ 2147483647 h 1165"/>
                  <a:gd name="T44" fmla="*/ 2147483647 w 2298"/>
                  <a:gd name="T45" fmla="*/ 2147483647 h 1165"/>
                  <a:gd name="T46" fmla="*/ 2147483647 w 2298"/>
                  <a:gd name="T47" fmla="*/ 2147483647 h 1165"/>
                  <a:gd name="T48" fmla="*/ 2147483647 w 2298"/>
                  <a:gd name="T49" fmla="*/ 2147483647 h 1165"/>
                  <a:gd name="T50" fmla="*/ 2147483647 w 2298"/>
                  <a:gd name="T51" fmla="*/ 2147483647 h 1165"/>
                  <a:gd name="T52" fmla="*/ 2147483647 w 2298"/>
                  <a:gd name="T53" fmla="*/ 2147483647 h 1165"/>
                  <a:gd name="T54" fmla="*/ 2147483647 w 2298"/>
                  <a:gd name="T55" fmla="*/ 2147483647 h 1165"/>
                  <a:gd name="T56" fmla="*/ 2147483647 w 2298"/>
                  <a:gd name="T57" fmla="*/ 2147483647 h 1165"/>
                  <a:gd name="T58" fmla="*/ 2147483647 w 2298"/>
                  <a:gd name="T59" fmla="*/ 2147483647 h 1165"/>
                  <a:gd name="T60" fmla="*/ 2147483647 w 2298"/>
                  <a:gd name="T61" fmla="*/ 2147483647 h 1165"/>
                  <a:gd name="T62" fmla="*/ 2147483647 w 2298"/>
                  <a:gd name="T63" fmla="*/ 2147483647 h 1165"/>
                  <a:gd name="T64" fmla="*/ 2147483647 w 2298"/>
                  <a:gd name="T65" fmla="*/ 2147483647 h 1165"/>
                  <a:gd name="T66" fmla="*/ 2147483647 w 2298"/>
                  <a:gd name="T67" fmla="*/ 0 h 1165"/>
                  <a:gd name="T68" fmla="*/ 2147483647 w 2298"/>
                  <a:gd name="T69" fmla="*/ 2147483647 h 1165"/>
                  <a:gd name="T70" fmla="*/ 2147483647 w 2298"/>
                  <a:gd name="T71" fmla="*/ 2147483647 h 1165"/>
                  <a:gd name="T72" fmla="*/ 2147483647 w 2298"/>
                  <a:gd name="T73" fmla="*/ 2147483647 h 1165"/>
                  <a:gd name="T74" fmla="*/ 2147483647 w 2298"/>
                  <a:gd name="T75" fmla="*/ 2147483647 h 1165"/>
                  <a:gd name="T76" fmla="*/ 2147483647 w 2298"/>
                  <a:gd name="T77" fmla="*/ 2147483647 h 1165"/>
                  <a:gd name="T78" fmla="*/ 2147483647 w 2298"/>
                  <a:gd name="T79" fmla="*/ 2147483647 h 1165"/>
                  <a:gd name="T80" fmla="*/ 2147483647 w 2298"/>
                  <a:gd name="T81" fmla="*/ 2147483647 h 1165"/>
                  <a:gd name="T82" fmla="*/ 2147483647 w 2298"/>
                  <a:gd name="T83" fmla="*/ 2147483647 h 1165"/>
                  <a:gd name="T84" fmla="*/ 2147483647 w 2298"/>
                  <a:gd name="T85" fmla="*/ 2147483647 h 1165"/>
                  <a:gd name="T86" fmla="*/ 2147483647 w 2298"/>
                  <a:gd name="T87" fmla="*/ 2147483647 h 1165"/>
                  <a:gd name="T88" fmla="*/ 2147483647 w 2298"/>
                  <a:gd name="T89" fmla="*/ 2147483647 h 1165"/>
                  <a:gd name="T90" fmla="*/ 2147483647 w 2298"/>
                  <a:gd name="T91" fmla="*/ 2147483647 h 1165"/>
                  <a:gd name="T92" fmla="*/ 2147483647 w 2298"/>
                  <a:gd name="T93" fmla="*/ 2147483647 h 1165"/>
                  <a:gd name="T94" fmla="*/ 2147483647 w 2298"/>
                  <a:gd name="T95" fmla="*/ 2147483647 h 1165"/>
                  <a:gd name="T96" fmla="*/ 2147483647 w 2298"/>
                  <a:gd name="T97" fmla="*/ 2147483647 h 1165"/>
                  <a:gd name="T98" fmla="*/ 2147483647 w 2298"/>
                  <a:gd name="T99" fmla="*/ 2147483647 h 1165"/>
                  <a:gd name="T100" fmla="*/ 2147483647 w 2298"/>
                  <a:gd name="T101" fmla="*/ 2147483647 h 1165"/>
                  <a:gd name="T102" fmla="*/ 2147483647 w 2298"/>
                  <a:gd name="T103" fmla="*/ 2147483647 h 1165"/>
                  <a:gd name="T104" fmla="*/ 2147483647 w 2298"/>
                  <a:gd name="T105" fmla="*/ 2147483647 h 1165"/>
                  <a:gd name="T106" fmla="*/ 2147483647 w 2298"/>
                  <a:gd name="T107" fmla="*/ 2147483647 h 116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98"/>
                  <a:gd name="T163" fmla="*/ 0 h 1165"/>
                  <a:gd name="T164" fmla="*/ 2298 w 2298"/>
                  <a:gd name="T165" fmla="*/ 1165 h 116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98" h="1165">
                    <a:moveTo>
                      <a:pt x="1149" y="819"/>
                    </a:moveTo>
                    <a:lnTo>
                      <a:pt x="1149" y="819"/>
                    </a:lnTo>
                    <a:cubicBezTo>
                      <a:pt x="637" y="819"/>
                      <a:pt x="294" y="719"/>
                      <a:pt x="141" y="662"/>
                    </a:cubicBezTo>
                    <a:lnTo>
                      <a:pt x="312" y="621"/>
                    </a:lnTo>
                    <a:cubicBezTo>
                      <a:pt x="512" y="682"/>
                      <a:pt x="796" y="702"/>
                      <a:pt x="981" y="709"/>
                    </a:cubicBezTo>
                    <a:cubicBezTo>
                      <a:pt x="993" y="731"/>
                      <a:pt x="1016" y="747"/>
                      <a:pt x="1042" y="747"/>
                    </a:cubicBezTo>
                    <a:cubicBezTo>
                      <a:pt x="1081" y="747"/>
                      <a:pt x="1112" y="716"/>
                      <a:pt x="1112" y="677"/>
                    </a:cubicBezTo>
                    <a:cubicBezTo>
                      <a:pt x="1112" y="639"/>
                      <a:pt x="1081" y="608"/>
                      <a:pt x="1042" y="608"/>
                    </a:cubicBezTo>
                    <a:cubicBezTo>
                      <a:pt x="1017" y="608"/>
                      <a:pt x="995" y="622"/>
                      <a:pt x="983" y="643"/>
                    </a:cubicBezTo>
                    <a:cubicBezTo>
                      <a:pt x="798" y="636"/>
                      <a:pt x="516" y="615"/>
                      <a:pt x="323" y="555"/>
                    </a:cubicBezTo>
                    <a:cubicBezTo>
                      <a:pt x="317" y="553"/>
                      <a:pt x="311" y="553"/>
                      <a:pt x="305" y="554"/>
                    </a:cubicBezTo>
                    <a:lnTo>
                      <a:pt x="240" y="570"/>
                    </a:lnTo>
                    <a:lnTo>
                      <a:pt x="240" y="111"/>
                    </a:lnTo>
                    <a:cubicBezTo>
                      <a:pt x="240" y="87"/>
                      <a:pt x="260" y="66"/>
                      <a:pt x="285" y="66"/>
                    </a:cubicBezTo>
                    <a:lnTo>
                      <a:pt x="2013" y="66"/>
                    </a:lnTo>
                    <a:cubicBezTo>
                      <a:pt x="2038" y="66"/>
                      <a:pt x="2058" y="87"/>
                      <a:pt x="2058" y="111"/>
                    </a:cubicBezTo>
                    <a:lnTo>
                      <a:pt x="2058" y="570"/>
                    </a:lnTo>
                    <a:lnTo>
                      <a:pt x="1993" y="554"/>
                    </a:lnTo>
                    <a:cubicBezTo>
                      <a:pt x="1987" y="553"/>
                      <a:pt x="1981" y="553"/>
                      <a:pt x="1975" y="555"/>
                    </a:cubicBezTo>
                    <a:cubicBezTo>
                      <a:pt x="1781" y="615"/>
                      <a:pt x="1498" y="636"/>
                      <a:pt x="1315" y="643"/>
                    </a:cubicBezTo>
                    <a:cubicBezTo>
                      <a:pt x="1303" y="622"/>
                      <a:pt x="1281" y="608"/>
                      <a:pt x="1255" y="608"/>
                    </a:cubicBezTo>
                    <a:cubicBezTo>
                      <a:pt x="1217" y="608"/>
                      <a:pt x="1186" y="639"/>
                      <a:pt x="1186" y="677"/>
                    </a:cubicBezTo>
                    <a:cubicBezTo>
                      <a:pt x="1186" y="716"/>
                      <a:pt x="1217" y="747"/>
                      <a:pt x="1255" y="747"/>
                    </a:cubicBezTo>
                    <a:cubicBezTo>
                      <a:pt x="1282" y="747"/>
                      <a:pt x="1305" y="731"/>
                      <a:pt x="1317" y="709"/>
                    </a:cubicBezTo>
                    <a:cubicBezTo>
                      <a:pt x="1501" y="702"/>
                      <a:pt x="1785" y="682"/>
                      <a:pt x="1986" y="621"/>
                    </a:cubicBezTo>
                    <a:lnTo>
                      <a:pt x="2157" y="662"/>
                    </a:lnTo>
                    <a:cubicBezTo>
                      <a:pt x="2004" y="719"/>
                      <a:pt x="1662" y="819"/>
                      <a:pt x="1149" y="819"/>
                    </a:cubicBezTo>
                    <a:close/>
                    <a:moveTo>
                      <a:pt x="1976" y="901"/>
                    </a:moveTo>
                    <a:lnTo>
                      <a:pt x="1976" y="901"/>
                    </a:lnTo>
                    <a:cubicBezTo>
                      <a:pt x="1976" y="918"/>
                      <a:pt x="1963" y="931"/>
                      <a:pt x="1947" y="932"/>
                    </a:cubicBezTo>
                    <a:lnTo>
                      <a:pt x="1767" y="907"/>
                    </a:lnTo>
                    <a:cubicBezTo>
                      <a:pt x="1743" y="902"/>
                      <a:pt x="1730" y="891"/>
                      <a:pt x="1730" y="876"/>
                    </a:cubicBezTo>
                    <a:lnTo>
                      <a:pt x="1730" y="841"/>
                    </a:lnTo>
                    <a:cubicBezTo>
                      <a:pt x="1824" y="825"/>
                      <a:pt x="1906" y="807"/>
                      <a:pt x="1976" y="789"/>
                    </a:cubicBezTo>
                    <a:lnTo>
                      <a:pt x="1976" y="901"/>
                    </a:lnTo>
                    <a:close/>
                    <a:moveTo>
                      <a:pt x="1463" y="1079"/>
                    </a:moveTo>
                    <a:lnTo>
                      <a:pt x="1463" y="1079"/>
                    </a:lnTo>
                    <a:cubicBezTo>
                      <a:pt x="1463" y="1088"/>
                      <a:pt x="1459" y="1095"/>
                      <a:pt x="1453" y="1097"/>
                    </a:cubicBezTo>
                    <a:cubicBezTo>
                      <a:pt x="1444" y="1101"/>
                      <a:pt x="1432" y="1097"/>
                      <a:pt x="1422" y="1087"/>
                    </a:cubicBezTo>
                    <a:cubicBezTo>
                      <a:pt x="1389" y="1055"/>
                      <a:pt x="1335" y="1005"/>
                      <a:pt x="1334" y="1004"/>
                    </a:cubicBezTo>
                    <a:cubicBezTo>
                      <a:pt x="1309" y="983"/>
                      <a:pt x="1305" y="968"/>
                      <a:pt x="1305" y="942"/>
                    </a:cubicBezTo>
                    <a:lnTo>
                      <a:pt x="1305" y="883"/>
                    </a:lnTo>
                    <a:cubicBezTo>
                      <a:pt x="1360" y="881"/>
                      <a:pt x="1412" y="877"/>
                      <a:pt x="1463" y="873"/>
                    </a:cubicBezTo>
                    <a:lnTo>
                      <a:pt x="1463" y="1079"/>
                    </a:lnTo>
                    <a:close/>
                    <a:moveTo>
                      <a:pt x="993" y="942"/>
                    </a:moveTo>
                    <a:lnTo>
                      <a:pt x="993" y="942"/>
                    </a:lnTo>
                    <a:cubicBezTo>
                      <a:pt x="993" y="968"/>
                      <a:pt x="989" y="983"/>
                      <a:pt x="963" y="1005"/>
                    </a:cubicBezTo>
                    <a:cubicBezTo>
                      <a:pt x="963" y="1005"/>
                      <a:pt x="909" y="1055"/>
                      <a:pt x="876" y="1087"/>
                    </a:cubicBezTo>
                    <a:cubicBezTo>
                      <a:pt x="865" y="1097"/>
                      <a:pt x="854" y="1101"/>
                      <a:pt x="845" y="1097"/>
                    </a:cubicBezTo>
                    <a:cubicBezTo>
                      <a:pt x="839" y="1095"/>
                      <a:pt x="835" y="1088"/>
                      <a:pt x="835" y="1079"/>
                    </a:cubicBezTo>
                    <a:lnTo>
                      <a:pt x="835" y="873"/>
                    </a:lnTo>
                    <a:cubicBezTo>
                      <a:pt x="886" y="877"/>
                      <a:pt x="938" y="880"/>
                      <a:pt x="993" y="883"/>
                    </a:cubicBezTo>
                    <a:lnTo>
                      <a:pt x="993" y="942"/>
                    </a:lnTo>
                    <a:close/>
                    <a:moveTo>
                      <a:pt x="567" y="876"/>
                    </a:moveTo>
                    <a:lnTo>
                      <a:pt x="567" y="876"/>
                    </a:lnTo>
                    <a:cubicBezTo>
                      <a:pt x="567" y="891"/>
                      <a:pt x="555" y="902"/>
                      <a:pt x="531" y="907"/>
                    </a:cubicBezTo>
                    <a:lnTo>
                      <a:pt x="351" y="932"/>
                    </a:lnTo>
                    <a:cubicBezTo>
                      <a:pt x="335" y="931"/>
                      <a:pt x="322" y="918"/>
                      <a:pt x="322" y="901"/>
                    </a:cubicBezTo>
                    <a:lnTo>
                      <a:pt x="322" y="789"/>
                    </a:lnTo>
                    <a:cubicBezTo>
                      <a:pt x="392" y="807"/>
                      <a:pt x="474" y="825"/>
                      <a:pt x="567" y="841"/>
                    </a:cubicBezTo>
                    <a:lnTo>
                      <a:pt x="567" y="876"/>
                    </a:lnTo>
                    <a:close/>
                    <a:moveTo>
                      <a:pt x="2297" y="650"/>
                    </a:moveTo>
                    <a:lnTo>
                      <a:pt x="2297" y="650"/>
                    </a:lnTo>
                    <a:cubicBezTo>
                      <a:pt x="2295" y="636"/>
                      <a:pt x="2285" y="625"/>
                      <a:pt x="2271" y="621"/>
                    </a:cubicBezTo>
                    <a:lnTo>
                      <a:pt x="2125" y="586"/>
                    </a:lnTo>
                    <a:lnTo>
                      <a:pt x="2125" y="111"/>
                    </a:lnTo>
                    <a:cubicBezTo>
                      <a:pt x="2125" y="50"/>
                      <a:pt x="2075" y="0"/>
                      <a:pt x="2013" y="0"/>
                    </a:cubicBezTo>
                    <a:lnTo>
                      <a:pt x="285" y="0"/>
                    </a:lnTo>
                    <a:cubicBezTo>
                      <a:pt x="223" y="0"/>
                      <a:pt x="173" y="50"/>
                      <a:pt x="173" y="111"/>
                    </a:cubicBezTo>
                    <a:lnTo>
                      <a:pt x="173" y="586"/>
                    </a:lnTo>
                    <a:lnTo>
                      <a:pt x="27" y="621"/>
                    </a:lnTo>
                    <a:cubicBezTo>
                      <a:pt x="13" y="625"/>
                      <a:pt x="3" y="636"/>
                      <a:pt x="1" y="650"/>
                    </a:cubicBezTo>
                    <a:cubicBezTo>
                      <a:pt x="0" y="664"/>
                      <a:pt x="7" y="677"/>
                      <a:pt x="19" y="683"/>
                    </a:cubicBezTo>
                    <a:cubicBezTo>
                      <a:pt x="26" y="687"/>
                      <a:pt x="106" y="727"/>
                      <a:pt x="256" y="771"/>
                    </a:cubicBezTo>
                    <a:lnTo>
                      <a:pt x="256" y="901"/>
                    </a:lnTo>
                    <a:cubicBezTo>
                      <a:pt x="256" y="955"/>
                      <a:pt x="299" y="999"/>
                      <a:pt x="353" y="999"/>
                    </a:cubicBezTo>
                    <a:lnTo>
                      <a:pt x="355" y="999"/>
                    </a:lnTo>
                    <a:lnTo>
                      <a:pt x="541" y="973"/>
                    </a:lnTo>
                    <a:lnTo>
                      <a:pt x="543" y="972"/>
                    </a:lnTo>
                    <a:cubicBezTo>
                      <a:pt x="599" y="961"/>
                      <a:pt x="634" y="924"/>
                      <a:pt x="634" y="876"/>
                    </a:cubicBezTo>
                    <a:lnTo>
                      <a:pt x="634" y="851"/>
                    </a:lnTo>
                    <a:cubicBezTo>
                      <a:pt x="677" y="857"/>
                      <a:pt x="722" y="862"/>
                      <a:pt x="769" y="867"/>
                    </a:cubicBezTo>
                    <a:lnTo>
                      <a:pt x="769" y="1079"/>
                    </a:lnTo>
                    <a:cubicBezTo>
                      <a:pt x="769" y="1115"/>
                      <a:pt x="788" y="1146"/>
                      <a:pt x="819" y="1159"/>
                    </a:cubicBezTo>
                    <a:cubicBezTo>
                      <a:pt x="830" y="1163"/>
                      <a:pt x="840" y="1165"/>
                      <a:pt x="852" y="1165"/>
                    </a:cubicBezTo>
                    <a:cubicBezTo>
                      <a:pt x="876" y="1165"/>
                      <a:pt x="902" y="1155"/>
                      <a:pt x="922" y="1135"/>
                    </a:cubicBezTo>
                    <a:cubicBezTo>
                      <a:pt x="955" y="1103"/>
                      <a:pt x="1008" y="1055"/>
                      <a:pt x="1008" y="1055"/>
                    </a:cubicBezTo>
                    <a:cubicBezTo>
                      <a:pt x="1045" y="1023"/>
                      <a:pt x="1060" y="990"/>
                      <a:pt x="1060" y="942"/>
                    </a:cubicBezTo>
                    <a:lnTo>
                      <a:pt x="1060" y="885"/>
                    </a:lnTo>
                    <a:cubicBezTo>
                      <a:pt x="1089" y="885"/>
                      <a:pt x="1119" y="886"/>
                      <a:pt x="1149" y="886"/>
                    </a:cubicBezTo>
                    <a:cubicBezTo>
                      <a:pt x="1179" y="886"/>
                      <a:pt x="1209" y="885"/>
                      <a:pt x="1238" y="885"/>
                    </a:cubicBezTo>
                    <a:lnTo>
                      <a:pt x="1238" y="942"/>
                    </a:lnTo>
                    <a:cubicBezTo>
                      <a:pt x="1238" y="990"/>
                      <a:pt x="1253" y="1023"/>
                      <a:pt x="1289" y="1054"/>
                    </a:cubicBezTo>
                    <a:cubicBezTo>
                      <a:pt x="1290" y="1054"/>
                      <a:pt x="1343" y="1103"/>
                      <a:pt x="1375" y="1135"/>
                    </a:cubicBezTo>
                    <a:cubicBezTo>
                      <a:pt x="1396" y="1155"/>
                      <a:pt x="1422" y="1165"/>
                      <a:pt x="1446" y="1165"/>
                    </a:cubicBezTo>
                    <a:cubicBezTo>
                      <a:pt x="1457" y="1165"/>
                      <a:pt x="1468" y="1163"/>
                      <a:pt x="1479" y="1159"/>
                    </a:cubicBezTo>
                    <a:cubicBezTo>
                      <a:pt x="1510" y="1146"/>
                      <a:pt x="1529" y="1115"/>
                      <a:pt x="1529" y="1079"/>
                    </a:cubicBezTo>
                    <a:lnTo>
                      <a:pt x="1529" y="867"/>
                    </a:lnTo>
                    <a:cubicBezTo>
                      <a:pt x="1576" y="862"/>
                      <a:pt x="1621" y="857"/>
                      <a:pt x="1664" y="851"/>
                    </a:cubicBezTo>
                    <a:lnTo>
                      <a:pt x="1664" y="876"/>
                    </a:lnTo>
                    <a:cubicBezTo>
                      <a:pt x="1664" y="924"/>
                      <a:pt x="1699" y="961"/>
                      <a:pt x="1755" y="972"/>
                    </a:cubicBezTo>
                    <a:lnTo>
                      <a:pt x="1940" y="998"/>
                    </a:lnTo>
                    <a:lnTo>
                      <a:pt x="1945" y="999"/>
                    </a:lnTo>
                    <a:cubicBezTo>
                      <a:pt x="1999" y="999"/>
                      <a:pt x="2042" y="955"/>
                      <a:pt x="2042" y="901"/>
                    </a:cubicBezTo>
                    <a:lnTo>
                      <a:pt x="2042" y="771"/>
                    </a:lnTo>
                    <a:cubicBezTo>
                      <a:pt x="2192" y="727"/>
                      <a:pt x="2272" y="687"/>
                      <a:pt x="2279" y="683"/>
                    </a:cubicBezTo>
                    <a:cubicBezTo>
                      <a:pt x="2291" y="677"/>
                      <a:pt x="2298" y="664"/>
                      <a:pt x="2297" y="65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70" name="组合 247"/>
          <p:cNvGrpSpPr>
            <a:grpSpLocks/>
          </p:cNvGrpSpPr>
          <p:nvPr/>
        </p:nvGrpSpPr>
        <p:grpSpPr bwMode="gray">
          <a:xfrm>
            <a:off x="2511742" y="5373437"/>
            <a:ext cx="504879" cy="504879"/>
            <a:chOff x="7069138" y="3554413"/>
            <a:chExt cx="1114425" cy="1117600"/>
          </a:xfrm>
        </p:grpSpPr>
        <p:sp>
          <p:nvSpPr>
            <p:cNvPr id="71" name="Freeform 35"/>
            <p:cNvSpPr>
              <a:spLocks/>
            </p:cNvSpPr>
            <p:nvPr/>
          </p:nvSpPr>
          <p:spPr bwMode="gray">
            <a:xfrm>
              <a:off x="7069138" y="3554413"/>
              <a:ext cx="1114425" cy="1117600"/>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29"/>
                  </a:moveTo>
                  <a:lnTo>
                    <a:pt x="2658" y="1329"/>
                  </a:lnTo>
                  <a:cubicBezTo>
                    <a:pt x="2658" y="2064"/>
                    <a:pt x="2063" y="2659"/>
                    <a:pt x="1329" y="2659"/>
                  </a:cubicBezTo>
                  <a:cubicBezTo>
                    <a:pt x="595" y="2659"/>
                    <a:pt x="0" y="2064"/>
                    <a:pt x="0" y="1329"/>
                  </a:cubicBezTo>
                  <a:cubicBezTo>
                    <a:pt x="0" y="595"/>
                    <a:pt x="595" y="0"/>
                    <a:pt x="1329" y="0"/>
                  </a:cubicBezTo>
                  <a:cubicBezTo>
                    <a:pt x="2063" y="0"/>
                    <a:pt x="2658" y="595"/>
                    <a:pt x="2658" y="1329"/>
                  </a:cubicBezTo>
                  <a:close/>
                </a:path>
              </a:pathLst>
            </a:custGeom>
            <a:solidFill>
              <a:srgbClr val="8BC9A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2" name="组合 233"/>
            <p:cNvGrpSpPr>
              <a:grpSpLocks/>
            </p:cNvGrpSpPr>
            <p:nvPr/>
          </p:nvGrpSpPr>
          <p:grpSpPr bwMode="gray">
            <a:xfrm>
              <a:off x="7288213" y="3895726"/>
              <a:ext cx="674687" cy="434975"/>
              <a:chOff x="7288213" y="3895726"/>
              <a:chExt cx="674687" cy="434975"/>
            </a:xfrm>
          </p:grpSpPr>
          <p:sp>
            <p:nvSpPr>
              <p:cNvPr id="73" name="Freeform 219"/>
              <p:cNvSpPr>
                <a:spLocks noEditPoints="1"/>
              </p:cNvSpPr>
              <p:nvPr/>
            </p:nvSpPr>
            <p:spPr bwMode="gray">
              <a:xfrm>
                <a:off x="7288213" y="3895726"/>
                <a:ext cx="623888" cy="419100"/>
              </a:xfrm>
              <a:custGeom>
                <a:avLst/>
                <a:gdLst>
                  <a:gd name="T0" fmla="*/ 2147483647 w 1486"/>
                  <a:gd name="T1" fmla="*/ 2147483647 h 997"/>
                  <a:gd name="T2" fmla="*/ 2147483647 w 1486"/>
                  <a:gd name="T3" fmla="*/ 2147483647 h 997"/>
                  <a:gd name="T4" fmla="*/ 2147483647 w 1486"/>
                  <a:gd name="T5" fmla="*/ 2147483647 h 997"/>
                  <a:gd name="T6" fmla="*/ 2147483647 w 1486"/>
                  <a:gd name="T7" fmla="*/ 2147483647 h 997"/>
                  <a:gd name="T8" fmla="*/ 2147483647 w 1486"/>
                  <a:gd name="T9" fmla="*/ 2147483647 h 997"/>
                  <a:gd name="T10" fmla="*/ 2147483647 w 1486"/>
                  <a:gd name="T11" fmla="*/ 2147483647 h 997"/>
                  <a:gd name="T12" fmla="*/ 2147483647 w 1486"/>
                  <a:gd name="T13" fmla="*/ 2147483647 h 997"/>
                  <a:gd name="T14" fmla="*/ 2147483647 w 1486"/>
                  <a:gd name="T15" fmla="*/ 2147483647 h 997"/>
                  <a:gd name="T16" fmla="*/ 2147483647 w 1486"/>
                  <a:gd name="T17" fmla="*/ 2147483647 h 997"/>
                  <a:gd name="T18" fmla="*/ 2147483647 w 1486"/>
                  <a:gd name="T19" fmla="*/ 2147483647 h 997"/>
                  <a:gd name="T20" fmla="*/ 2147483647 w 1486"/>
                  <a:gd name="T21" fmla="*/ 2147483647 h 997"/>
                  <a:gd name="T22" fmla="*/ 2147483647 w 1486"/>
                  <a:gd name="T23" fmla="*/ 2147483647 h 997"/>
                  <a:gd name="T24" fmla="*/ 2147483647 w 1486"/>
                  <a:gd name="T25" fmla="*/ 2147483647 h 997"/>
                  <a:gd name="T26" fmla="*/ 2147483647 w 1486"/>
                  <a:gd name="T27" fmla="*/ 2147483647 h 997"/>
                  <a:gd name="T28" fmla="*/ 2147483647 w 1486"/>
                  <a:gd name="T29" fmla="*/ 2147483647 h 997"/>
                  <a:gd name="T30" fmla="*/ 2147483647 w 1486"/>
                  <a:gd name="T31" fmla="*/ 2147483647 h 997"/>
                  <a:gd name="T32" fmla="*/ 2147483647 w 1486"/>
                  <a:gd name="T33" fmla="*/ 2147483647 h 997"/>
                  <a:gd name="T34" fmla="*/ 2147483647 w 1486"/>
                  <a:gd name="T35" fmla="*/ 2147483647 h 997"/>
                  <a:gd name="T36" fmla="*/ 2147483647 w 1486"/>
                  <a:gd name="T37" fmla="*/ 2147483647 h 997"/>
                  <a:gd name="T38" fmla="*/ 2147483647 w 1486"/>
                  <a:gd name="T39" fmla="*/ 2147483647 h 997"/>
                  <a:gd name="T40" fmla="*/ 2147483647 w 1486"/>
                  <a:gd name="T41" fmla="*/ 2147483647 h 997"/>
                  <a:gd name="T42" fmla="*/ 2147483647 w 1486"/>
                  <a:gd name="T43" fmla="*/ 2147483647 h 997"/>
                  <a:gd name="T44" fmla="*/ 2147483647 w 1486"/>
                  <a:gd name="T45" fmla="*/ 2147483647 h 997"/>
                  <a:gd name="T46" fmla="*/ 2147483647 w 1486"/>
                  <a:gd name="T47" fmla="*/ 2147483647 h 997"/>
                  <a:gd name="T48" fmla="*/ 2147483647 w 1486"/>
                  <a:gd name="T49" fmla="*/ 222822901 h 997"/>
                  <a:gd name="T50" fmla="*/ 2146073538 w 1486"/>
                  <a:gd name="T51" fmla="*/ 2147483647 h 997"/>
                  <a:gd name="T52" fmla="*/ 1406097026 w 1486"/>
                  <a:gd name="T53" fmla="*/ 2147483647 h 997"/>
                  <a:gd name="T54" fmla="*/ 2147483647 w 1486"/>
                  <a:gd name="T55" fmla="*/ 2147483647 h 997"/>
                  <a:gd name="T56" fmla="*/ 2147483647 w 1486"/>
                  <a:gd name="T57" fmla="*/ 2147483647 h 997"/>
                  <a:gd name="T58" fmla="*/ 2147483647 w 1486"/>
                  <a:gd name="T59" fmla="*/ 2147483647 h 997"/>
                  <a:gd name="T60" fmla="*/ 2147483647 w 1486"/>
                  <a:gd name="T61" fmla="*/ 2147483647 h 997"/>
                  <a:gd name="T62" fmla="*/ 2147483647 w 1486"/>
                  <a:gd name="T63" fmla="*/ 2147483647 h 997"/>
                  <a:gd name="T64" fmla="*/ 2147483647 w 1486"/>
                  <a:gd name="T65" fmla="*/ 2147483647 h 997"/>
                  <a:gd name="T66" fmla="*/ 2147483647 w 1486"/>
                  <a:gd name="T67" fmla="*/ 2147483647 h 997"/>
                  <a:gd name="T68" fmla="*/ 2147483647 w 1486"/>
                  <a:gd name="T69" fmla="*/ 2147483647 h 997"/>
                  <a:gd name="T70" fmla="*/ 2147483647 w 1486"/>
                  <a:gd name="T71" fmla="*/ 2147483647 h 9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86"/>
                  <a:gd name="T109" fmla="*/ 0 h 997"/>
                  <a:gd name="T110" fmla="*/ 1486 w 1486"/>
                  <a:gd name="T111" fmla="*/ 997 h 9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86" h="997">
                    <a:moveTo>
                      <a:pt x="1257" y="389"/>
                    </a:moveTo>
                    <a:lnTo>
                      <a:pt x="1257" y="389"/>
                    </a:lnTo>
                    <a:lnTo>
                      <a:pt x="1079" y="419"/>
                    </a:lnTo>
                    <a:lnTo>
                      <a:pt x="779" y="471"/>
                    </a:lnTo>
                    <a:lnTo>
                      <a:pt x="498" y="520"/>
                    </a:lnTo>
                    <a:cubicBezTo>
                      <a:pt x="516" y="464"/>
                      <a:pt x="504" y="396"/>
                      <a:pt x="493" y="354"/>
                    </a:cubicBezTo>
                    <a:lnTo>
                      <a:pt x="1377" y="185"/>
                    </a:lnTo>
                    <a:cubicBezTo>
                      <a:pt x="1396" y="328"/>
                      <a:pt x="1275" y="381"/>
                      <a:pt x="1257" y="389"/>
                    </a:cubicBezTo>
                    <a:close/>
                    <a:moveTo>
                      <a:pt x="935" y="739"/>
                    </a:moveTo>
                    <a:lnTo>
                      <a:pt x="935" y="739"/>
                    </a:lnTo>
                    <a:cubicBezTo>
                      <a:pt x="871" y="739"/>
                      <a:pt x="818" y="687"/>
                      <a:pt x="818" y="623"/>
                    </a:cubicBezTo>
                    <a:lnTo>
                      <a:pt x="818" y="532"/>
                    </a:lnTo>
                    <a:lnTo>
                      <a:pt x="1052" y="492"/>
                    </a:lnTo>
                    <a:lnTo>
                      <a:pt x="1052" y="623"/>
                    </a:lnTo>
                    <a:cubicBezTo>
                      <a:pt x="1052" y="687"/>
                      <a:pt x="999" y="739"/>
                      <a:pt x="935" y="739"/>
                    </a:cubicBezTo>
                    <a:close/>
                    <a:moveTo>
                      <a:pt x="305" y="515"/>
                    </a:moveTo>
                    <a:lnTo>
                      <a:pt x="305" y="515"/>
                    </a:lnTo>
                    <a:cubicBezTo>
                      <a:pt x="268" y="481"/>
                      <a:pt x="259" y="415"/>
                      <a:pt x="258" y="371"/>
                    </a:cubicBezTo>
                    <a:cubicBezTo>
                      <a:pt x="273" y="372"/>
                      <a:pt x="287" y="373"/>
                      <a:pt x="302" y="373"/>
                    </a:cubicBezTo>
                    <a:cubicBezTo>
                      <a:pt x="301" y="379"/>
                      <a:pt x="300" y="386"/>
                      <a:pt x="300" y="392"/>
                    </a:cubicBezTo>
                    <a:cubicBezTo>
                      <a:pt x="300" y="448"/>
                      <a:pt x="345" y="493"/>
                      <a:pt x="401" y="493"/>
                    </a:cubicBezTo>
                    <a:cubicBezTo>
                      <a:pt x="414" y="493"/>
                      <a:pt x="427" y="491"/>
                      <a:pt x="438" y="487"/>
                    </a:cubicBezTo>
                    <a:cubicBezTo>
                      <a:pt x="436" y="495"/>
                      <a:pt x="434" y="502"/>
                      <a:pt x="431" y="509"/>
                    </a:cubicBezTo>
                    <a:cubicBezTo>
                      <a:pt x="425" y="522"/>
                      <a:pt x="415" y="531"/>
                      <a:pt x="402" y="536"/>
                    </a:cubicBezTo>
                    <a:cubicBezTo>
                      <a:pt x="360" y="543"/>
                      <a:pt x="328" y="536"/>
                      <a:pt x="305" y="515"/>
                    </a:cubicBezTo>
                    <a:close/>
                    <a:moveTo>
                      <a:pt x="1394" y="68"/>
                    </a:moveTo>
                    <a:lnTo>
                      <a:pt x="1394" y="68"/>
                    </a:lnTo>
                    <a:cubicBezTo>
                      <a:pt x="1405" y="74"/>
                      <a:pt x="1407" y="80"/>
                      <a:pt x="1408" y="83"/>
                    </a:cubicBezTo>
                    <a:cubicBezTo>
                      <a:pt x="1411" y="91"/>
                      <a:pt x="1408" y="103"/>
                      <a:pt x="1405" y="112"/>
                    </a:cubicBezTo>
                    <a:lnTo>
                      <a:pt x="1397" y="113"/>
                    </a:lnTo>
                    <a:cubicBezTo>
                      <a:pt x="1397" y="113"/>
                      <a:pt x="1397" y="113"/>
                      <a:pt x="1397" y="113"/>
                    </a:cubicBezTo>
                    <a:lnTo>
                      <a:pt x="1395" y="113"/>
                    </a:lnTo>
                    <a:lnTo>
                      <a:pt x="374" y="302"/>
                    </a:lnTo>
                    <a:cubicBezTo>
                      <a:pt x="353" y="305"/>
                      <a:pt x="331" y="306"/>
                      <a:pt x="309" y="306"/>
                    </a:cubicBezTo>
                    <a:cubicBezTo>
                      <a:pt x="252" y="306"/>
                      <a:pt x="200" y="296"/>
                      <a:pt x="157" y="284"/>
                    </a:cubicBezTo>
                    <a:lnTo>
                      <a:pt x="1394" y="68"/>
                    </a:lnTo>
                    <a:close/>
                    <a:moveTo>
                      <a:pt x="435" y="400"/>
                    </a:moveTo>
                    <a:lnTo>
                      <a:pt x="435" y="400"/>
                    </a:lnTo>
                    <a:cubicBezTo>
                      <a:pt x="431" y="415"/>
                      <a:pt x="418" y="427"/>
                      <a:pt x="401" y="427"/>
                    </a:cubicBezTo>
                    <a:cubicBezTo>
                      <a:pt x="382" y="427"/>
                      <a:pt x="367" y="411"/>
                      <a:pt x="367" y="392"/>
                    </a:cubicBezTo>
                    <a:cubicBezTo>
                      <a:pt x="367" y="383"/>
                      <a:pt x="371" y="375"/>
                      <a:pt x="377" y="368"/>
                    </a:cubicBezTo>
                    <a:cubicBezTo>
                      <a:pt x="380" y="368"/>
                      <a:pt x="382" y="368"/>
                      <a:pt x="385" y="367"/>
                    </a:cubicBezTo>
                    <a:lnTo>
                      <a:pt x="425" y="360"/>
                    </a:lnTo>
                    <a:cubicBezTo>
                      <a:pt x="428" y="371"/>
                      <a:pt x="432" y="385"/>
                      <a:pt x="435" y="400"/>
                    </a:cubicBezTo>
                    <a:close/>
                    <a:moveTo>
                      <a:pt x="1442" y="171"/>
                    </a:moveTo>
                    <a:lnTo>
                      <a:pt x="1442" y="171"/>
                    </a:lnTo>
                    <a:cubicBezTo>
                      <a:pt x="1448" y="168"/>
                      <a:pt x="1453" y="164"/>
                      <a:pt x="1456" y="159"/>
                    </a:cubicBezTo>
                    <a:cubicBezTo>
                      <a:pt x="1459" y="154"/>
                      <a:pt x="1486" y="108"/>
                      <a:pt x="1471" y="62"/>
                    </a:cubicBezTo>
                    <a:cubicBezTo>
                      <a:pt x="1465" y="43"/>
                      <a:pt x="1449" y="18"/>
                      <a:pt x="1410" y="3"/>
                    </a:cubicBezTo>
                    <a:cubicBezTo>
                      <a:pt x="1404" y="0"/>
                      <a:pt x="1398" y="0"/>
                      <a:pt x="1392" y="1"/>
                    </a:cubicBezTo>
                    <a:lnTo>
                      <a:pt x="29" y="238"/>
                    </a:lnTo>
                    <a:cubicBezTo>
                      <a:pt x="16" y="241"/>
                      <a:pt x="5" y="252"/>
                      <a:pt x="2" y="266"/>
                    </a:cubicBezTo>
                    <a:cubicBezTo>
                      <a:pt x="0" y="280"/>
                      <a:pt x="7" y="293"/>
                      <a:pt x="19" y="300"/>
                    </a:cubicBezTo>
                    <a:cubicBezTo>
                      <a:pt x="23" y="303"/>
                      <a:pt x="92" y="341"/>
                      <a:pt x="192" y="361"/>
                    </a:cubicBezTo>
                    <a:cubicBezTo>
                      <a:pt x="191" y="410"/>
                      <a:pt x="199" y="507"/>
                      <a:pt x="259" y="563"/>
                    </a:cubicBezTo>
                    <a:cubicBezTo>
                      <a:pt x="289" y="591"/>
                      <a:pt x="327" y="605"/>
                      <a:pt x="373" y="605"/>
                    </a:cubicBezTo>
                    <a:cubicBezTo>
                      <a:pt x="387" y="605"/>
                      <a:pt x="402" y="604"/>
                      <a:pt x="417" y="602"/>
                    </a:cubicBezTo>
                    <a:lnTo>
                      <a:pt x="752" y="544"/>
                    </a:lnTo>
                    <a:lnTo>
                      <a:pt x="752" y="623"/>
                    </a:lnTo>
                    <a:cubicBezTo>
                      <a:pt x="752" y="714"/>
                      <a:pt x="818" y="789"/>
                      <a:pt x="905" y="803"/>
                    </a:cubicBezTo>
                    <a:cubicBezTo>
                      <a:pt x="917" y="864"/>
                      <a:pt x="966" y="945"/>
                      <a:pt x="1092" y="958"/>
                    </a:cubicBezTo>
                    <a:cubicBezTo>
                      <a:pt x="1104" y="981"/>
                      <a:pt x="1127" y="997"/>
                      <a:pt x="1154" y="997"/>
                    </a:cubicBezTo>
                    <a:cubicBezTo>
                      <a:pt x="1192" y="997"/>
                      <a:pt x="1223" y="965"/>
                      <a:pt x="1223" y="927"/>
                    </a:cubicBezTo>
                    <a:cubicBezTo>
                      <a:pt x="1223" y="889"/>
                      <a:pt x="1192" y="858"/>
                      <a:pt x="1154" y="858"/>
                    </a:cubicBezTo>
                    <a:cubicBezTo>
                      <a:pt x="1128" y="858"/>
                      <a:pt x="1106" y="871"/>
                      <a:pt x="1094" y="892"/>
                    </a:cubicBezTo>
                    <a:cubicBezTo>
                      <a:pt x="1011" y="881"/>
                      <a:pt x="983" y="834"/>
                      <a:pt x="973" y="802"/>
                    </a:cubicBezTo>
                    <a:cubicBezTo>
                      <a:pt x="1056" y="784"/>
                      <a:pt x="1118" y="711"/>
                      <a:pt x="1118" y="623"/>
                    </a:cubicBezTo>
                    <a:lnTo>
                      <a:pt x="1118" y="480"/>
                    </a:lnTo>
                    <a:lnTo>
                      <a:pt x="1271" y="454"/>
                    </a:lnTo>
                    <a:cubicBezTo>
                      <a:pt x="1273" y="454"/>
                      <a:pt x="1275" y="453"/>
                      <a:pt x="1276" y="452"/>
                    </a:cubicBezTo>
                    <a:cubicBezTo>
                      <a:pt x="1348" y="428"/>
                      <a:pt x="1468" y="338"/>
                      <a:pt x="1442" y="171"/>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Freeform 220"/>
              <p:cNvSpPr>
                <a:spLocks/>
              </p:cNvSpPr>
              <p:nvPr/>
            </p:nvSpPr>
            <p:spPr bwMode="gray">
              <a:xfrm>
                <a:off x="7832725" y="4240213"/>
                <a:ext cx="130175" cy="90488"/>
              </a:xfrm>
              <a:custGeom>
                <a:avLst/>
                <a:gdLst>
                  <a:gd name="T0" fmla="*/ 2147483647 w 312"/>
                  <a:gd name="T1" fmla="*/ 2147483647 h 215"/>
                  <a:gd name="T2" fmla="*/ 2147483647 w 312"/>
                  <a:gd name="T3" fmla="*/ 2147483647 h 215"/>
                  <a:gd name="T4" fmla="*/ 2147483647 w 312"/>
                  <a:gd name="T5" fmla="*/ 2147483647 h 215"/>
                  <a:gd name="T6" fmla="*/ 2147483647 w 312"/>
                  <a:gd name="T7" fmla="*/ 2147483647 h 215"/>
                  <a:gd name="T8" fmla="*/ 2147483647 w 312"/>
                  <a:gd name="T9" fmla="*/ 2147483647 h 215"/>
                  <a:gd name="T10" fmla="*/ 0 w 312"/>
                  <a:gd name="T11" fmla="*/ 2147483647 h 215"/>
                  <a:gd name="T12" fmla="*/ 2147483647 w 312"/>
                  <a:gd name="T13" fmla="*/ 2147483647 h 215"/>
                  <a:gd name="T14" fmla="*/ 2147483647 w 312"/>
                  <a:gd name="T15" fmla="*/ 2147483647 h 215"/>
                  <a:gd name="T16" fmla="*/ 2147483647 w 312"/>
                  <a:gd name="T17" fmla="*/ 2147483647 h 215"/>
                  <a:gd name="T18" fmla="*/ 2147483647 w 312"/>
                  <a:gd name="T19" fmla="*/ 2147483647 h 215"/>
                  <a:gd name="T20" fmla="*/ 2147483647 w 312"/>
                  <a:gd name="T21" fmla="*/ 2147483647 h 215"/>
                  <a:gd name="T22" fmla="*/ 2147483647 w 312"/>
                  <a:gd name="T23" fmla="*/ 0 h 215"/>
                  <a:gd name="T24" fmla="*/ 2147483647 w 312"/>
                  <a:gd name="T25" fmla="*/ 2147483647 h 2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2"/>
                  <a:gd name="T40" fmla="*/ 0 h 215"/>
                  <a:gd name="T41" fmla="*/ 312 w 312"/>
                  <a:gd name="T42" fmla="*/ 215 h 2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2" h="215">
                    <a:moveTo>
                      <a:pt x="210" y="74"/>
                    </a:moveTo>
                    <a:lnTo>
                      <a:pt x="210" y="74"/>
                    </a:lnTo>
                    <a:cubicBezTo>
                      <a:pt x="208" y="74"/>
                      <a:pt x="206" y="74"/>
                      <a:pt x="205" y="74"/>
                    </a:cubicBezTo>
                    <a:lnTo>
                      <a:pt x="130" y="74"/>
                    </a:lnTo>
                    <a:cubicBezTo>
                      <a:pt x="118" y="52"/>
                      <a:pt x="95" y="38"/>
                      <a:pt x="69" y="38"/>
                    </a:cubicBezTo>
                    <a:cubicBezTo>
                      <a:pt x="31" y="38"/>
                      <a:pt x="0" y="69"/>
                      <a:pt x="0" y="107"/>
                    </a:cubicBezTo>
                    <a:cubicBezTo>
                      <a:pt x="0" y="145"/>
                      <a:pt x="31" y="177"/>
                      <a:pt x="69" y="177"/>
                    </a:cubicBezTo>
                    <a:cubicBezTo>
                      <a:pt x="95" y="177"/>
                      <a:pt x="118" y="162"/>
                      <a:pt x="130" y="140"/>
                    </a:cubicBezTo>
                    <a:lnTo>
                      <a:pt x="205" y="140"/>
                    </a:lnTo>
                    <a:cubicBezTo>
                      <a:pt x="206" y="140"/>
                      <a:pt x="208" y="140"/>
                      <a:pt x="210" y="140"/>
                    </a:cubicBezTo>
                    <a:cubicBezTo>
                      <a:pt x="224" y="183"/>
                      <a:pt x="264" y="215"/>
                      <a:pt x="312" y="215"/>
                    </a:cubicBezTo>
                    <a:lnTo>
                      <a:pt x="312" y="0"/>
                    </a:lnTo>
                    <a:cubicBezTo>
                      <a:pt x="264" y="0"/>
                      <a:pt x="224" y="31"/>
                      <a:pt x="210" y="74"/>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75" name="组合 212"/>
          <p:cNvGrpSpPr>
            <a:grpSpLocks/>
          </p:cNvGrpSpPr>
          <p:nvPr/>
        </p:nvGrpSpPr>
        <p:grpSpPr bwMode="gray">
          <a:xfrm>
            <a:off x="883547" y="5373437"/>
            <a:ext cx="504879" cy="504879"/>
            <a:chOff x="1639888" y="560388"/>
            <a:chExt cx="1114425" cy="1116013"/>
          </a:xfrm>
        </p:grpSpPr>
        <p:sp>
          <p:nvSpPr>
            <p:cNvPr id="76" name="Freeform 39"/>
            <p:cNvSpPr>
              <a:spLocks/>
            </p:cNvSpPr>
            <p:nvPr/>
          </p:nvSpPr>
          <p:spPr bwMode="gray">
            <a:xfrm>
              <a:off x="1639888" y="560388"/>
              <a:ext cx="1114425"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 name="T18" fmla="*/ 0 w 2659"/>
                <a:gd name="T19" fmla="*/ 0 h 2659"/>
                <a:gd name="T20" fmla="*/ 2659 w 2659"/>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9" h="2659">
                  <a:moveTo>
                    <a:pt x="2659" y="1330"/>
                  </a:moveTo>
                  <a:lnTo>
                    <a:pt x="2659" y="1330"/>
                  </a:lnTo>
                  <a:cubicBezTo>
                    <a:pt x="2659" y="2064"/>
                    <a:pt x="2064" y="2659"/>
                    <a:pt x="1330" y="2659"/>
                  </a:cubicBezTo>
                  <a:cubicBezTo>
                    <a:pt x="595" y="2659"/>
                    <a:pt x="0" y="2064"/>
                    <a:pt x="0" y="1330"/>
                  </a:cubicBezTo>
                  <a:cubicBezTo>
                    <a:pt x="0" y="595"/>
                    <a:pt x="595" y="0"/>
                    <a:pt x="1330" y="0"/>
                  </a:cubicBezTo>
                  <a:cubicBezTo>
                    <a:pt x="2064" y="0"/>
                    <a:pt x="2659" y="595"/>
                    <a:pt x="2659" y="1330"/>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7" name="组合 193"/>
            <p:cNvGrpSpPr>
              <a:grpSpLocks/>
            </p:cNvGrpSpPr>
            <p:nvPr/>
          </p:nvGrpSpPr>
          <p:grpSpPr bwMode="gray">
            <a:xfrm>
              <a:off x="1836738" y="854075"/>
              <a:ext cx="720725" cy="528638"/>
              <a:chOff x="1836738" y="854075"/>
              <a:chExt cx="720725" cy="528638"/>
            </a:xfrm>
          </p:grpSpPr>
          <p:sp>
            <p:nvSpPr>
              <p:cNvPr id="78" name="Freeform 40"/>
              <p:cNvSpPr>
                <a:spLocks noEditPoints="1"/>
              </p:cNvSpPr>
              <p:nvPr/>
            </p:nvSpPr>
            <p:spPr bwMode="gray">
              <a:xfrm>
                <a:off x="2054225" y="854075"/>
                <a:ext cx="503238" cy="368300"/>
              </a:xfrm>
              <a:custGeom>
                <a:avLst/>
                <a:gdLst>
                  <a:gd name="T0" fmla="*/ 2147483647 w 1199"/>
                  <a:gd name="T1" fmla="*/ 2147483647 h 879"/>
                  <a:gd name="T2" fmla="*/ 2147483647 w 1199"/>
                  <a:gd name="T3" fmla="*/ 2147483647 h 879"/>
                  <a:gd name="T4" fmla="*/ 2147483647 w 1199"/>
                  <a:gd name="T5" fmla="*/ 2147483647 h 879"/>
                  <a:gd name="T6" fmla="*/ 2147483647 w 1199"/>
                  <a:gd name="T7" fmla="*/ 2147483647 h 879"/>
                  <a:gd name="T8" fmla="*/ 2147483647 w 1199"/>
                  <a:gd name="T9" fmla="*/ 2147483647 h 879"/>
                  <a:gd name="T10" fmla="*/ 2147483647 w 1199"/>
                  <a:gd name="T11" fmla="*/ 2147483647 h 879"/>
                  <a:gd name="T12" fmla="*/ 2147483647 w 1199"/>
                  <a:gd name="T13" fmla="*/ 2147483647 h 879"/>
                  <a:gd name="T14" fmla="*/ 2147483647 w 1199"/>
                  <a:gd name="T15" fmla="*/ 2147483647 h 879"/>
                  <a:gd name="T16" fmla="*/ 2147483647 w 1199"/>
                  <a:gd name="T17" fmla="*/ 2147483647 h 879"/>
                  <a:gd name="T18" fmla="*/ 2147483647 w 1199"/>
                  <a:gd name="T19" fmla="*/ 2147483647 h 879"/>
                  <a:gd name="T20" fmla="*/ 2147483647 w 1199"/>
                  <a:gd name="T21" fmla="*/ 0 h 879"/>
                  <a:gd name="T22" fmla="*/ 2147483647 w 1199"/>
                  <a:gd name="T23" fmla="*/ 0 h 879"/>
                  <a:gd name="T24" fmla="*/ 2147483647 w 1199"/>
                  <a:gd name="T25" fmla="*/ 0 h 879"/>
                  <a:gd name="T26" fmla="*/ 0 w 1199"/>
                  <a:gd name="T27" fmla="*/ 2147483647 h 879"/>
                  <a:gd name="T28" fmla="*/ 0 w 1199"/>
                  <a:gd name="T29" fmla="*/ 2147483647 h 879"/>
                  <a:gd name="T30" fmla="*/ 2147483647 w 1199"/>
                  <a:gd name="T31" fmla="*/ 2147483647 h 879"/>
                  <a:gd name="T32" fmla="*/ 2147483647 w 1199"/>
                  <a:gd name="T33" fmla="*/ 2147483647 h 879"/>
                  <a:gd name="T34" fmla="*/ 2147483647 w 1199"/>
                  <a:gd name="T35" fmla="*/ 2147483647 h 879"/>
                  <a:gd name="T36" fmla="*/ 2147483647 w 1199"/>
                  <a:gd name="T37" fmla="*/ 2147483647 h 879"/>
                  <a:gd name="T38" fmla="*/ 2147483647 w 1199"/>
                  <a:gd name="T39" fmla="*/ 0 h 8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9"/>
                  <a:gd name="T61" fmla="*/ 0 h 879"/>
                  <a:gd name="T62" fmla="*/ 1199 w 1199"/>
                  <a:gd name="T63" fmla="*/ 879 h 8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9" h="879">
                    <a:moveTo>
                      <a:pt x="1133" y="787"/>
                    </a:moveTo>
                    <a:lnTo>
                      <a:pt x="1133" y="787"/>
                    </a:lnTo>
                    <a:cubicBezTo>
                      <a:pt x="1133" y="801"/>
                      <a:pt x="1121" y="812"/>
                      <a:pt x="1108" y="812"/>
                    </a:cubicBezTo>
                    <a:lnTo>
                      <a:pt x="91" y="812"/>
                    </a:lnTo>
                    <a:cubicBezTo>
                      <a:pt x="78" y="812"/>
                      <a:pt x="67" y="801"/>
                      <a:pt x="67" y="787"/>
                    </a:cubicBezTo>
                    <a:lnTo>
                      <a:pt x="67" y="91"/>
                    </a:lnTo>
                    <a:cubicBezTo>
                      <a:pt x="67" y="77"/>
                      <a:pt x="78" y="66"/>
                      <a:pt x="91" y="66"/>
                    </a:cubicBezTo>
                    <a:lnTo>
                      <a:pt x="1108" y="66"/>
                    </a:lnTo>
                    <a:cubicBezTo>
                      <a:pt x="1121" y="66"/>
                      <a:pt x="1133" y="77"/>
                      <a:pt x="1133" y="91"/>
                    </a:cubicBezTo>
                    <a:lnTo>
                      <a:pt x="1133" y="787"/>
                    </a:lnTo>
                    <a:close/>
                    <a:moveTo>
                      <a:pt x="1108" y="0"/>
                    </a:moveTo>
                    <a:lnTo>
                      <a:pt x="1108" y="0"/>
                    </a:lnTo>
                    <a:lnTo>
                      <a:pt x="91" y="0"/>
                    </a:lnTo>
                    <a:cubicBezTo>
                      <a:pt x="41" y="0"/>
                      <a:pt x="0" y="41"/>
                      <a:pt x="0" y="91"/>
                    </a:cubicBezTo>
                    <a:lnTo>
                      <a:pt x="0" y="787"/>
                    </a:lnTo>
                    <a:cubicBezTo>
                      <a:pt x="0" y="838"/>
                      <a:pt x="41" y="879"/>
                      <a:pt x="91" y="879"/>
                    </a:cubicBezTo>
                    <a:lnTo>
                      <a:pt x="1108" y="879"/>
                    </a:lnTo>
                    <a:cubicBezTo>
                      <a:pt x="1158" y="879"/>
                      <a:pt x="1199" y="838"/>
                      <a:pt x="1199" y="787"/>
                    </a:cubicBezTo>
                    <a:lnTo>
                      <a:pt x="1199" y="91"/>
                    </a:lnTo>
                    <a:cubicBezTo>
                      <a:pt x="1199" y="41"/>
                      <a:pt x="1158" y="0"/>
                      <a:pt x="1108"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Freeform 41"/>
              <p:cNvSpPr>
                <a:spLocks/>
              </p:cNvSpPr>
              <p:nvPr/>
            </p:nvSpPr>
            <p:spPr bwMode="gray">
              <a:xfrm>
                <a:off x="2224088" y="1238250"/>
                <a:ext cx="161925" cy="26988"/>
              </a:xfrm>
              <a:custGeom>
                <a:avLst/>
                <a:gdLst>
                  <a:gd name="T0" fmla="*/ 2147483647 w 385"/>
                  <a:gd name="T1" fmla="*/ 2147483647 h 66"/>
                  <a:gd name="T2" fmla="*/ 2147483647 w 385"/>
                  <a:gd name="T3" fmla="*/ 2147483647 h 66"/>
                  <a:gd name="T4" fmla="*/ 2147483647 w 385"/>
                  <a:gd name="T5" fmla="*/ 2147483647 h 66"/>
                  <a:gd name="T6" fmla="*/ 2147483647 w 385"/>
                  <a:gd name="T7" fmla="*/ 0 h 66"/>
                  <a:gd name="T8" fmla="*/ 2147483647 w 385"/>
                  <a:gd name="T9" fmla="*/ 0 h 66"/>
                  <a:gd name="T10" fmla="*/ 0 w 385"/>
                  <a:gd name="T11" fmla="*/ 2147483647 h 66"/>
                  <a:gd name="T12" fmla="*/ 2147483647 w 385"/>
                  <a:gd name="T13" fmla="*/ 2147483647 h 66"/>
                  <a:gd name="T14" fmla="*/ 2147483647 w 385"/>
                  <a:gd name="T15" fmla="*/ 2147483647 h 66"/>
                  <a:gd name="T16" fmla="*/ 0 60000 65536"/>
                  <a:gd name="T17" fmla="*/ 0 60000 65536"/>
                  <a:gd name="T18" fmla="*/ 0 60000 65536"/>
                  <a:gd name="T19" fmla="*/ 0 60000 65536"/>
                  <a:gd name="T20" fmla="*/ 0 60000 65536"/>
                  <a:gd name="T21" fmla="*/ 0 60000 65536"/>
                  <a:gd name="T22" fmla="*/ 0 60000 65536"/>
                  <a:gd name="T23" fmla="*/ 0 60000 65536"/>
                  <a:gd name="T24" fmla="*/ 0 w 385"/>
                  <a:gd name="T25" fmla="*/ 0 h 66"/>
                  <a:gd name="T26" fmla="*/ 385 w 385"/>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5" h="66">
                    <a:moveTo>
                      <a:pt x="352" y="66"/>
                    </a:moveTo>
                    <a:lnTo>
                      <a:pt x="352" y="66"/>
                    </a:lnTo>
                    <a:cubicBezTo>
                      <a:pt x="370" y="66"/>
                      <a:pt x="385" y="52"/>
                      <a:pt x="385" y="33"/>
                    </a:cubicBezTo>
                    <a:cubicBezTo>
                      <a:pt x="385" y="15"/>
                      <a:pt x="370" y="0"/>
                      <a:pt x="352" y="0"/>
                    </a:cubicBezTo>
                    <a:lnTo>
                      <a:pt x="33" y="0"/>
                    </a:lnTo>
                    <a:cubicBezTo>
                      <a:pt x="15" y="0"/>
                      <a:pt x="0" y="15"/>
                      <a:pt x="0" y="33"/>
                    </a:cubicBezTo>
                    <a:cubicBezTo>
                      <a:pt x="0" y="52"/>
                      <a:pt x="15" y="66"/>
                      <a:pt x="33" y="66"/>
                    </a:cubicBezTo>
                    <a:lnTo>
                      <a:pt x="352" y="66"/>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Freeform 42"/>
              <p:cNvSpPr>
                <a:spLocks noEditPoints="1"/>
              </p:cNvSpPr>
              <p:nvPr/>
            </p:nvSpPr>
            <p:spPr bwMode="gray">
              <a:xfrm>
                <a:off x="2105025" y="900113"/>
                <a:ext cx="401638" cy="274638"/>
              </a:xfrm>
              <a:custGeom>
                <a:avLst/>
                <a:gdLst>
                  <a:gd name="T0" fmla="*/ 2147483647 w 957"/>
                  <a:gd name="T1" fmla="*/ 2147483647 h 653"/>
                  <a:gd name="T2" fmla="*/ 2147483647 w 957"/>
                  <a:gd name="T3" fmla="*/ 2147483647 h 653"/>
                  <a:gd name="T4" fmla="*/ 2147483647 w 957"/>
                  <a:gd name="T5" fmla="*/ 2147483647 h 653"/>
                  <a:gd name="T6" fmla="*/ 2147483647 w 957"/>
                  <a:gd name="T7" fmla="*/ 2147483647 h 653"/>
                  <a:gd name="T8" fmla="*/ 2147483647 w 957"/>
                  <a:gd name="T9" fmla="*/ 2147483647 h 653"/>
                  <a:gd name="T10" fmla="*/ 2147483647 w 957"/>
                  <a:gd name="T11" fmla="*/ 2147483647 h 653"/>
                  <a:gd name="T12" fmla="*/ 2147483647 w 957"/>
                  <a:gd name="T13" fmla="*/ 2147483647 h 653"/>
                  <a:gd name="T14" fmla="*/ 2147483647 w 957"/>
                  <a:gd name="T15" fmla="*/ 2147483647 h 653"/>
                  <a:gd name="T16" fmla="*/ 2147483647 w 957"/>
                  <a:gd name="T17" fmla="*/ 2147483647 h 653"/>
                  <a:gd name="T18" fmla="*/ 2147483647 w 957"/>
                  <a:gd name="T19" fmla="*/ 2147483647 h 653"/>
                  <a:gd name="T20" fmla="*/ 2147483647 w 957"/>
                  <a:gd name="T21" fmla="*/ 0 h 653"/>
                  <a:gd name="T22" fmla="*/ 2147483647 w 957"/>
                  <a:gd name="T23" fmla="*/ 0 h 653"/>
                  <a:gd name="T24" fmla="*/ 2147483647 w 957"/>
                  <a:gd name="T25" fmla="*/ 0 h 653"/>
                  <a:gd name="T26" fmla="*/ 0 w 957"/>
                  <a:gd name="T27" fmla="*/ 2147483647 h 653"/>
                  <a:gd name="T28" fmla="*/ 0 w 957"/>
                  <a:gd name="T29" fmla="*/ 2147483647 h 653"/>
                  <a:gd name="T30" fmla="*/ 2147483647 w 957"/>
                  <a:gd name="T31" fmla="*/ 2147483647 h 653"/>
                  <a:gd name="T32" fmla="*/ 2147483647 w 957"/>
                  <a:gd name="T33" fmla="*/ 2147483647 h 653"/>
                  <a:gd name="T34" fmla="*/ 2147483647 w 957"/>
                  <a:gd name="T35" fmla="*/ 2147483647 h 653"/>
                  <a:gd name="T36" fmla="*/ 2147483647 w 957"/>
                  <a:gd name="T37" fmla="*/ 2147483647 h 653"/>
                  <a:gd name="T38" fmla="*/ 2147483647 w 957"/>
                  <a:gd name="T39" fmla="*/ 0 h 6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7"/>
                  <a:gd name="T61" fmla="*/ 0 h 653"/>
                  <a:gd name="T62" fmla="*/ 957 w 957"/>
                  <a:gd name="T63" fmla="*/ 653 h 6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7" h="653">
                    <a:moveTo>
                      <a:pt x="917" y="580"/>
                    </a:moveTo>
                    <a:lnTo>
                      <a:pt x="917" y="580"/>
                    </a:lnTo>
                    <a:cubicBezTo>
                      <a:pt x="917" y="598"/>
                      <a:pt x="903" y="613"/>
                      <a:pt x="885" y="613"/>
                    </a:cubicBezTo>
                    <a:lnTo>
                      <a:pt x="72" y="613"/>
                    </a:lnTo>
                    <a:cubicBezTo>
                      <a:pt x="54" y="613"/>
                      <a:pt x="40" y="598"/>
                      <a:pt x="40" y="580"/>
                    </a:cubicBezTo>
                    <a:lnTo>
                      <a:pt x="40" y="72"/>
                    </a:lnTo>
                    <a:cubicBezTo>
                      <a:pt x="40" y="54"/>
                      <a:pt x="54" y="40"/>
                      <a:pt x="72" y="40"/>
                    </a:cubicBezTo>
                    <a:lnTo>
                      <a:pt x="885" y="40"/>
                    </a:lnTo>
                    <a:cubicBezTo>
                      <a:pt x="903" y="40"/>
                      <a:pt x="917" y="54"/>
                      <a:pt x="917" y="72"/>
                    </a:cubicBezTo>
                    <a:lnTo>
                      <a:pt x="917" y="580"/>
                    </a:lnTo>
                    <a:close/>
                    <a:moveTo>
                      <a:pt x="885" y="0"/>
                    </a:moveTo>
                    <a:lnTo>
                      <a:pt x="885" y="0"/>
                    </a:lnTo>
                    <a:lnTo>
                      <a:pt x="72" y="0"/>
                    </a:lnTo>
                    <a:cubicBezTo>
                      <a:pt x="32" y="0"/>
                      <a:pt x="0" y="32"/>
                      <a:pt x="0" y="72"/>
                    </a:cubicBezTo>
                    <a:lnTo>
                      <a:pt x="0" y="580"/>
                    </a:lnTo>
                    <a:cubicBezTo>
                      <a:pt x="0" y="620"/>
                      <a:pt x="32" y="653"/>
                      <a:pt x="72" y="653"/>
                    </a:cubicBezTo>
                    <a:lnTo>
                      <a:pt x="885" y="653"/>
                    </a:lnTo>
                    <a:cubicBezTo>
                      <a:pt x="925" y="653"/>
                      <a:pt x="957" y="620"/>
                      <a:pt x="957" y="580"/>
                    </a:cubicBezTo>
                    <a:lnTo>
                      <a:pt x="957" y="72"/>
                    </a:lnTo>
                    <a:cubicBezTo>
                      <a:pt x="957" y="32"/>
                      <a:pt x="925" y="0"/>
                      <a:pt x="885"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Freeform 43"/>
              <p:cNvSpPr>
                <a:spLocks/>
              </p:cNvSpPr>
              <p:nvPr/>
            </p:nvSpPr>
            <p:spPr bwMode="gray">
              <a:xfrm>
                <a:off x="2063750" y="1282700"/>
                <a:ext cx="482600" cy="100013"/>
              </a:xfrm>
              <a:custGeom>
                <a:avLst/>
                <a:gdLst>
                  <a:gd name="T0" fmla="*/ 2147483647 w 1149"/>
                  <a:gd name="T1" fmla="*/ 2147483647 h 240"/>
                  <a:gd name="T2" fmla="*/ 2147483647 w 1149"/>
                  <a:gd name="T3" fmla="*/ 2147483647 h 240"/>
                  <a:gd name="T4" fmla="*/ 2147483647 w 1149"/>
                  <a:gd name="T5" fmla="*/ 0 h 240"/>
                  <a:gd name="T6" fmla="*/ 2147483647 w 1149"/>
                  <a:gd name="T7" fmla="*/ 0 h 240"/>
                  <a:gd name="T8" fmla="*/ 2147483647 w 1149"/>
                  <a:gd name="T9" fmla="*/ 2147483647 h 240"/>
                  <a:gd name="T10" fmla="*/ 2147483647 w 1149"/>
                  <a:gd name="T11" fmla="*/ 2147483647 h 240"/>
                  <a:gd name="T12" fmla="*/ 2147483647 w 1149"/>
                  <a:gd name="T13" fmla="*/ 2147483647 h 240"/>
                  <a:gd name="T14" fmla="*/ 2147483647 w 1149"/>
                  <a:gd name="T15" fmla="*/ 2147483647 h 240"/>
                  <a:gd name="T16" fmla="*/ 2147483647 w 1149"/>
                  <a:gd name="T17" fmla="*/ 2147483647 h 240"/>
                  <a:gd name="T18" fmla="*/ 2147483647 w 1149"/>
                  <a:gd name="T19" fmla="*/ 2147483647 h 240"/>
                  <a:gd name="T20" fmla="*/ 2147483647 w 1149"/>
                  <a:gd name="T21" fmla="*/ 2147483647 h 240"/>
                  <a:gd name="T22" fmla="*/ 2147483647 w 1149"/>
                  <a:gd name="T23" fmla="*/ 2147483647 h 240"/>
                  <a:gd name="T24" fmla="*/ 2147483647 w 1149"/>
                  <a:gd name="T25" fmla="*/ 2147483647 h 240"/>
                  <a:gd name="T26" fmla="*/ 2147483647 w 1149"/>
                  <a:gd name="T27" fmla="*/ 2147483647 h 240"/>
                  <a:gd name="T28" fmla="*/ 2147483647 w 1149"/>
                  <a:gd name="T29" fmla="*/ 2147483647 h 240"/>
                  <a:gd name="T30" fmla="*/ 2147483647 w 1149"/>
                  <a:gd name="T31" fmla="*/ 2147483647 h 240"/>
                  <a:gd name="T32" fmla="*/ 2147483647 w 1149"/>
                  <a:gd name="T33" fmla="*/ 2147483647 h 240"/>
                  <a:gd name="T34" fmla="*/ 2147483647 w 1149"/>
                  <a:gd name="T35" fmla="*/ 2147483647 h 240"/>
                  <a:gd name="T36" fmla="*/ 2147483647 w 1149"/>
                  <a:gd name="T37" fmla="*/ 2147483647 h 240"/>
                  <a:gd name="T38" fmla="*/ 2147483647 w 1149"/>
                  <a:gd name="T39" fmla="*/ 2147483647 h 240"/>
                  <a:gd name="T40" fmla="*/ 2147483647 w 1149"/>
                  <a:gd name="T41" fmla="*/ 2147483647 h 240"/>
                  <a:gd name="T42" fmla="*/ 2147483647 w 1149"/>
                  <a:gd name="T43" fmla="*/ 2147483647 h 240"/>
                  <a:gd name="T44" fmla="*/ 2147483647 w 1149"/>
                  <a:gd name="T45" fmla="*/ 2147483647 h 240"/>
                  <a:gd name="T46" fmla="*/ 2147483647 w 1149"/>
                  <a:gd name="T47" fmla="*/ 2147483647 h 240"/>
                  <a:gd name="T48" fmla="*/ 2147483647 w 1149"/>
                  <a:gd name="T49" fmla="*/ 2147483647 h 240"/>
                  <a:gd name="T50" fmla="*/ 2147483647 w 1149"/>
                  <a:gd name="T51" fmla="*/ 2147483647 h 2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49"/>
                  <a:gd name="T79" fmla="*/ 0 h 240"/>
                  <a:gd name="T80" fmla="*/ 1149 w 1149"/>
                  <a:gd name="T81" fmla="*/ 240 h 24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49" h="240">
                    <a:moveTo>
                      <a:pt x="1048" y="15"/>
                    </a:moveTo>
                    <a:lnTo>
                      <a:pt x="1048" y="15"/>
                    </a:lnTo>
                    <a:cubicBezTo>
                      <a:pt x="1042" y="6"/>
                      <a:pt x="1032" y="0"/>
                      <a:pt x="1021" y="0"/>
                    </a:cubicBezTo>
                    <a:lnTo>
                      <a:pt x="128" y="0"/>
                    </a:lnTo>
                    <a:cubicBezTo>
                      <a:pt x="117" y="0"/>
                      <a:pt x="107" y="6"/>
                      <a:pt x="101" y="15"/>
                    </a:cubicBezTo>
                    <a:lnTo>
                      <a:pt x="7" y="151"/>
                    </a:lnTo>
                    <a:cubicBezTo>
                      <a:pt x="0" y="162"/>
                      <a:pt x="0" y="175"/>
                      <a:pt x="5" y="186"/>
                    </a:cubicBezTo>
                    <a:cubicBezTo>
                      <a:pt x="11" y="197"/>
                      <a:pt x="22" y="204"/>
                      <a:pt x="35" y="204"/>
                    </a:cubicBezTo>
                    <a:lnTo>
                      <a:pt x="662" y="204"/>
                    </a:lnTo>
                    <a:cubicBezTo>
                      <a:pt x="674" y="225"/>
                      <a:pt x="697" y="240"/>
                      <a:pt x="723" y="240"/>
                    </a:cubicBezTo>
                    <a:cubicBezTo>
                      <a:pt x="761" y="240"/>
                      <a:pt x="792" y="208"/>
                      <a:pt x="792" y="170"/>
                    </a:cubicBezTo>
                    <a:cubicBezTo>
                      <a:pt x="792" y="132"/>
                      <a:pt x="761" y="101"/>
                      <a:pt x="723" y="101"/>
                    </a:cubicBezTo>
                    <a:cubicBezTo>
                      <a:pt x="697" y="101"/>
                      <a:pt x="674" y="115"/>
                      <a:pt x="662" y="137"/>
                    </a:cubicBezTo>
                    <a:lnTo>
                      <a:pt x="98" y="137"/>
                    </a:lnTo>
                    <a:lnTo>
                      <a:pt x="146" y="67"/>
                    </a:lnTo>
                    <a:lnTo>
                      <a:pt x="1003" y="67"/>
                    </a:lnTo>
                    <a:lnTo>
                      <a:pt x="1051" y="137"/>
                    </a:lnTo>
                    <a:lnTo>
                      <a:pt x="997" y="137"/>
                    </a:lnTo>
                    <a:cubicBezTo>
                      <a:pt x="985" y="115"/>
                      <a:pt x="962" y="101"/>
                      <a:pt x="936" y="101"/>
                    </a:cubicBezTo>
                    <a:cubicBezTo>
                      <a:pt x="897" y="101"/>
                      <a:pt x="867" y="132"/>
                      <a:pt x="867" y="170"/>
                    </a:cubicBezTo>
                    <a:cubicBezTo>
                      <a:pt x="867" y="208"/>
                      <a:pt x="897" y="240"/>
                      <a:pt x="936" y="240"/>
                    </a:cubicBezTo>
                    <a:cubicBezTo>
                      <a:pt x="962" y="240"/>
                      <a:pt x="985" y="225"/>
                      <a:pt x="997" y="204"/>
                    </a:cubicBezTo>
                    <a:lnTo>
                      <a:pt x="1114" y="204"/>
                    </a:lnTo>
                    <a:cubicBezTo>
                      <a:pt x="1127" y="204"/>
                      <a:pt x="1138" y="197"/>
                      <a:pt x="1144" y="186"/>
                    </a:cubicBezTo>
                    <a:cubicBezTo>
                      <a:pt x="1149" y="175"/>
                      <a:pt x="1149" y="162"/>
                      <a:pt x="1142" y="151"/>
                    </a:cubicBezTo>
                    <a:lnTo>
                      <a:pt x="1048" y="15"/>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Freeform 44"/>
              <p:cNvSpPr>
                <a:spLocks noEditPoints="1"/>
              </p:cNvSpPr>
              <p:nvPr/>
            </p:nvSpPr>
            <p:spPr bwMode="gray">
              <a:xfrm>
                <a:off x="1836738" y="925513"/>
                <a:ext cx="193675" cy="442913"/>
              </a:xfrm>
              <a:custGeom>
                <a:avLst/>
                <a:gdLst>
                  <a:gd name="T0" fmla="*/ 2147483647 w 461"/>
                  <a:gd name="T1" fmla="*/ 2147483647 h 1055"/>
                  <a:gd name="T2" fmla="*/ 2147483647 w 461"/>
                  <a:gd name="T3" fmla="*/ 2147483647 h 1055"/>
                  <a:gd name="T4" fmla="*/ 2147483647 w 461"/>
                  <a:gd name="T5" fmla="*/ 2147483647 h 1055"/>
                  <a:gd name="T6" fmla="*/ 2147483647 w 461"/>
                  <a:gd name="T7" fmla="*/ 2147483647 h 1055"/>
                  <a:gd name="T8" fmla="*/ 2147483647 w 461"/>
                  <a:gd name="T9" fmla="*/ 2147483647 h 1055"/>
                  <a:gd name="T10" fmla="*/ 2147483647 w 461"/>
                  <a:gd name="T11" fmla="*/ 2147483647 h 1055"/>
                  <a:gd name="T12" fmla="*/ 2147483647 w 461"/>
                  <a:gd name="T13" fmla="*/ 2147483647 h 1055"/>
                  <a:gd name="T14" fmla="*/ 2147483647 w 461"/>
                  <a:gd name="T15" fmla="*/ 2147483647 h 1055"/>
                  <a:gd name="T16" fmla="*/ 2147483647 w 461"/>
                  <a:gd name="T17" fmla="*/ 2147483647 h 1055"/>
                  <a:gd name="T18" fmla="*/ 2147483647 w 461"/>
                  <a:gd name="T19" fmla="*/ 2147483647 h 1055"/>
                  <a:gd name="T20" fmla="*/ 2147483647 w 461"/>
                  <a:gd name="T21" fmla="*/ 0 h 1055"/>
                  <a:gd name="T22" fmla="*/ 2147483647 w 461"/>
                  <a:gd name="T23" fmla="*/ 0 h 1055"/>
                  <a:gd name="T24" fmla="*/ 2147483647 w 461"/>
                  <a:gd name="T25" fmla="*/ 0 h 1055"/>
                  <a:gd name="T26" fmla="*/ 0 w 461"/>
                  <a:gd name="T27" fmla="*/ 2147483647 h 1055"/>
                  <a:gd name="T28" fmla="*/ 0 w 461"/>
                  <a:gd name="T29" fmla="*/ 2147483647 h 1055"/>
                  <a:gd name="T30" fmla="*/ 2147483647 w 461"/>
                  <a:gd name="T31" fmla="*/ 2147483647 h 1055"/>
                  <a:gd name="T32" fmla="*/ 2147483647 w 461"/>
                  <a:gd name="T33" fmla="*/ 2147483647 h 1055"/>
                  <a:gd name="T34" fmla="*/ 2147483647 w 461"/>
                  <a:gd name="T35" fmla="*/ 2147483647 h 1055"/>
                  <a:gd name="T36" fmla="*/ 2147483647 w 461"/>
                  <a:gd name="T37" fmla="*/ 2147483647 h 1055"/>
                  <a:gd name="T38" fmla="*/ 2147483647 w 461"/>
                  <a:gd name="T39" fmla="*/ 0 h 10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1"/>
                  <a:gd name="T61" fmla="*/ 0 h 1055"/>
                  <a:gd name="T62" fmla="*/ 461 w 461"/>
                  <a:gd name="T63" fmla="*/ 1055 h 10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1" h="1055">
                    <a:moveTo>
                      <a:pt x="394" y="955"/>
                    </a:moveTo>
                    <a:lnTo>
                      <a:pt x="394" y="955"/>
                    </a:lnTo>
                    <a:cubicBezTo>
                      <a:pt x="394" y="973"/>
                      <a:pt x="379" y="988"/>
                      <a:pt x="361" y="988"/>
                    </a:cubicBezTo>
                    <a:lnTo>
                      <a:pt x="100" y="988"/>
                    </a:lnTo>
                    <a:cubicBezTo>
                      <a:pt x="82" y="988"/>
                      <a:pt x="67" y="973"/>
                      <a:pt x="67" y="955"/>
                    </a:cubicBezTo>
                    <a:lnTo>
                      <a:pt x="67" y="100"/>
                    </a:lnTo>
                    <a:cubicBezTo>
                      <a:pt x="67" y="82"/>
                      <a:pt x="82" y="67"/>
                      <a:pt x="100" y="67"/>
                    </a:cubicBezTo>
                    <a:lnTo>
                      <a:pt x="361" y="67"/>
                    </a:lnTo>
                    <a:cubicBezTo>
                      <a:pt x="379" y="67"/>
                      <a:pt x="394" y="82"/>
                      <a:pt x="394" y="100"/>
                    </a:cubicBezTo>
                    <a:lnTo>
                      <a:pt x="394" y="955"/>
                    </a:lnTo>
                    <a:close/>
                    <a:moveTo>
                      <a:pt x="361" y="0"/>
                    </a:moveTo>
                    <a:lnTo>
                      <a:pt x="361" y="0"/>
                    </a:lnTo>
                    <a:lnTo>
                      <a:pt x="100" y="0"/>
                    </a:lnTo>
                    <a:cubicBezTo>
                      <a:pt x="45" y="0"/>
                      <a:pt x="0" y="45"/>
                      <a:pt x="0" y="100"/>
                    </a:cubicBezTo>
                    <a:lnTo>
                      <a:pt x="0" y="955"/>
                    </a:lnTo>
                    <a:cubicBezTo>
                      <a:pt x="0" y="1010"/>
                      <a:pt x="45" y="1055"/>
                      <a:pt x="100" y="1055"/>
                    </a:cubicBezTo>
                    <a:lnTo>
                      <a:pt x="361" y="1055"/>
                    </a:lnTo>
                    <a:cubicBezTo>
                      <a:pt x="416" y="1055"/>
                      <a:pt x="461" y="1010"/>
                      <a:pt x="461" y="955"/>
                    </a:cubicBezTo>
                    <a:lnTo>
                      <a:pt x="461" y="100"/>
                    </a:lnTo>
                    <a:cubicBezTo>
                      <a:pt x="461" y="45"/>
                      <a:pt x="416" y="0"/>
                      <a:pt x="361"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Freeform 45"/>
              <p:cNvSpPr>
                <a:spLocks/>
              </p:cNvSpPr>
              <p:nvPr/>
            </p:nvSpPr>
            <p:spPr bwMode="gray">
              <a:xfrm>
                <a:off x="1878013" y="1003300"/>
                <a:ext cx="112713" cy="28575"/>
              </a:xfrm>
              <a:custGeom>
                <a:avLst/>
                <a:gdLst>
                  <a:gd name="T0" fmla="*/ 2147483647 w 267"/>
                  <a:gd name="T1" fmla="*/ 0 h 66"/>
                  <a:gd name="T2" fmla="*/ 2147483647 w 267"/>
                  <a:gd name="T3" fmla="*/ 0 h 66"/>
                  <a:gd name="T4" fmla="*/ 2147483647 w 267"/>
                  <a:gd name="T5" fmla="*/ 0 h 66"/>
                  <a:gd name="T6" fmla="*/ 0 w 267"/>
                  <a:gd name="T7" fmla="*/ 2147483647 h 66"/>
                  <a:gd name="T8" fmla="*/ 2147483647 w 267"/>
                  <a:gd name="T9" fmla="*/ 2147483647 h 66"/>
                  <a:gd name="T10" fmla="*/ 2147483647 w 267"/>
                  <a:gd name="T11" fmla="*/ 2147483647 h 66"/>
                  <a:gd name="T12" fmla="*/ 2147483647 w 267"/>
                  <a:gd name="T13" fmla="*/ 2147483647 h 66"/>
                  <a:gd name="T14" fmla="*/ 2147483647 w 267"/>
                  <a:gd name="T15" fmla="*/ 0 h 66"/>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6"/>
                  <a:gd name="T26" fmla="*/ 267 w 267"/>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6">
                    <a:moveTo>
                      <a:pt x="233" y="0"/>
                    </a:moveTo>
                    <a:lnTo>
                      <a:pt x="233" y="0"/>
                    </a:lnTo>
                    <a:lnTo>
                      <a:pt x="33" y="0"/>
                    </a:lnTo>
                    <a:cubicBezTo>
                      <a:pt x="15" y="0"/>
                      <a:pt x="0" y="15"/>
                      <a:pt x="0" y="33"/>
                    </a:cubicBezTo>
                    <a:cubicBezTo>
                      <a:pt x="0" y="52"/>
                      <a:pt x="15" y="66"/>
                      <a:pt x="33" y="66"/>
                    </a:cubicBezTo>
                    <a:lnTo>
                      <a:pt x="233" y="66"/>
                    </a:lnTo>
                    <a:cubicBezTo>
                      <a:pt x="252" y="66"/>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Freeform 46"/>
              <p:cNvSpPr>
                <a:spLocks/>
              </p:cNvSpPr>
              <p:nvPr/>
            </p:nvSpPr>
            <p:spPr bwMode="gray">
              <a:xfrm>
                <a:off x="1878013" y="10429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3"/>
                    </a:cubicBezTo>
                    <a:cubicBezTo>
                      <a:pt x="0" y="52"/>
                      <a:pt x="15" y="67"/>
                      <a:pt x="33" y="67"/>
                    </a:cubicBezTo>
                    <a:lnTo>
                      <a:pt x="233" y="67"/>
                    </a:lnTo>
                    <a:cubicBezTo>
                      <a:pt x="252" y="67"/>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Freeform 47"/>
              <p:cNvSpPr>
                <a:spLocks/>
              </p:cNvSpPr>
              <p:nvPr/>
            </p:nvSpPr>
            <p:spPr bwMode="gray">
              <a:xfrm>
                <a:off x="1878013" y="10810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4"/>
                    </a:cubicBezTo>
                    <a:cubicBezTo>
                      <a:pt x="0" y="52"/>
                      <a:pt x="15" y="67"/>
                      <a:pt x="33" y="67"/>
                    </a:cubicBezTo>
                    <a:lnTo>
                      <a:pt x="233" y="67"/>
                    </a:lnTo>
                    <a:cubicBezTo>
                      <a:pt x="252" y="67"/>
                      <a:pt x="267" y="52"/>
                      <a:pt x="267" y="34"/>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Freeform 48"/>
              <p:cNvSpPr>
                <a:spLocks noEditPoints="1"/>
              </p:cNvSpPr>
              <p:nvPr/>
            </p:nvSpPr>
            <p:spPr bwMode="gray">
              <a:xfrm>
                <a:off x="1892300" y="1227138"/>
                <a:ext cx="84138" cy="84138"/>
              </a:xfrm>
              <a:custGeom>
                <a:avLst/>
                <a:gdLst>
                  <a:gd name="T0" fmla="*/ 2147483647 w 200"/>
                  <a:gd name="T1" fmla="*/ 2147483647 h 200"/>
                  <a:gd name="T2" fmla="*/ 2147483647 w 200"/>
                  <a:gd name="T3" fmla="*/ 2147483647 h 200"/>
                  <a:gd name="T4" fmla="*/ 2147483647 w 200"/>
                  <a:gd name="T5" fmla="*/ 2147483647 h 200"/>
                  <a:gd name="T6" fmla="*/ 2147483647 w 200"/>
                  <a:gd name="T7" fmla="*/ 2147483647 h 200"/>
                  <a:gd name="T8" fmla="*/ 2147483647 w 200"/>
                  <a:gd name="T9" fmla="*/ 2147483647 h 200"/>
                  <a:gd name="T10" fmla="*/ 2147483647 w 200"/>
                  <a:gd name="T11" fmla="*/ 2147483647 h 200"/>
                  <a:gd name="T12" fmla="*/ 2147483647 w 200"/>
                  <a:gd name="T13" fmla="*/ 0 h 200"/>
                  <a:gd name="T14" fmla="*/ 2147483647 w 200"/>
                  <a:gd name="T15" fmla="*/ 0 h 200"/>
                  <a:gd name="T16" fmla="*/ 0 w 200"/>
                  <a:gd name="T17" fmla="*/ 2147483647 h 200"/>
                  <a:gd name="T18" fmla="*/ 2147483647 w 200"/>
                  <a:gd name="T19" fmla="*/ 2147483647 h 200"/>
                  <a:gd name="T20" fmla="*/ 2147483647 w 200"/>
                  <a:gd name="T21" fmla="*/ 2147483647 h 200"/>
                  <a:gd name="T22" fmla="*/ 2147483647 w 200"/>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
                  <a:gd name="T37" fmla="*/ 0 h 200"/>
                  <a:gd name="T38" fmla="*/ 200 w 200"/>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 h="200">
                    <a:moveTo>
                      <a:pt x="100" y="133"/>
                    </a:moveTo>
                    <a:lnTo>
                      <a:pt x="100" y="133"/>
                    </a:lnTo>
                    <a:cubicBezTo>
                      <a:pt x="82" y="133"/>
                      <a:pt x="67" y="118"/>
                      <a:pt x="67" y="100"/>
                    </a:cubicBezTo>
                    <a:cubicBezTo>
                      <a:pt x="67" y="82"/>
                      <a:pt x="82" y="67"/>
                      <a:pt x="100" y="67"/>
                    </a:cubicBezTo>
                    <a:cubicBezTo>
                      <a:pt x="119" y="67"/>
                      <a:pt x="134" y="82"/>
                      <a:pt x="134" y="100"/>
                    </a:cubicBezTo>
                    <a:cubicBezTo>
                      <a:pt x="134" y="118"/>
                      <a:pt x="119" y="133"/>
                      <a:pt x="100" y="133"/>
                    </a:cubicBezTo>
                    <a:close/>
                    <a:moveTo>
                      <a:pt x="100" y="0"/>
                    </a:moveTo>
                    <a:lnTo>
                      <a:pt x="100" y="0"/>
                    </a:lnTo>
                    <a:cubicBezTo>
                      <a:pt x="45" y="0"/>
                      <a:pt x="0" y="45"/>
                      <a:pt x="0" y="100"/>
                    </a:cubicBezTo>
                    <a:cubicBezTo>
                      <a:pt x="0" y="155"/>
                      <a:pt x="45" y="200"/>
                      <a:pt x="100" y="200"/>
                    </a:cubicBezTo>
                    <a:cubicBezTo>
                      <a:pt x="155" y="200"/>
                      <a:pt x="200" y="155"/>
                      <a:pt x="200" y="100"/>
                    </a:cubicBezTo>
                    <a:cubicBezTo>
                      <a:pt x="200" y="45"/>
                      <a:pt x="155" y="0"/>
                      <a:pt x="100"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87" name="图片 8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175557" y="2901313"/>
            <a:ext cx="1481530" cy="273233"/>
          </a:xfrm>
          <a:prstGeom prst="rect">
            <a:avLst/>
          </a:prstGeom>
        </p:spPr>
      </p:pic>
      <p:sp>
        <p:nvSpPr>
          <p:cNvPr id="88" name="文本框 87"/>
          <p:cNvSpPr txBox="1"/>
          <p:nvPr/>
        </p:nvSpPr>
        <p:spPr bwMode="gray">
          <a:xfrm>
            <a:off x="901991"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p:cNvSpPr txBox="1"/>
          <p:nvPr/>
        </p:nvSpPr>
        <p:spPr bwMode="gray">
          <a:xfrm>
            <a:off x="1787685"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视讯</a:t>
            </a:r>
          </a:p>
        </p:txBody>
      </p:sp>
      <p:sp>
        <p:nvSpPr>
          <p:cNvPr id="90" name="文本框 89"/>
          <p:cNvSpPr txBox="1"/>
          <p:nvPr/>
        </p:nvSpPr>
        <p:spPr bwMode="gray">
          <a:xfrm>
            <a:off x="2517959"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安防</a:t>
            </a:r>
          </a:p>
        </p:txBody>
      </p:sp>
      <p:pic>
        <p:nvPicPr>
          <p:cNvPr id="92" name="图片 86" descr="核心交换机.png"/>
          <p:cNvPicPr>
            <a:picLocks noChangeAspect="1"/>
          </p:cNvPicPr>
          <p:nvPr/>
        </p:nvPicPr>
        <p:blipFill>
          <a:blip r:embed="rId8" cstate="print"/>
          <a:stretch>
            <a:fillRect/>
          </a:stretch>
        </p:blipFill>
        <p:spPr bwMode="gray">
          <a:xfrm>
            <a:off x="8690546" y="2885123"/>
            <a:ext cx="443667" cy="363001"/>
          </a:xfrm>
          <a:prstGeom prst="rect">
            <a:avLst/>
          </a:prstGeom>
        </p:spPr>
      </p:pic>
      <p:cxnSp>
        <p:nvCxnSpPr>
          <p:cNvPr id="93" name="直接连接符 92"/>
          <p:cNvCxnSpPr/>
          <p:nvPr/>
        </p:nvCxnSpPr>
        <p:spPr bwMode="gray">
          <a:xfrm>
            <a:off x="8912378" y="1545645"/>
            <a:ext cx="0" cy="13898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4"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690545" y="2170256"/>
            <a:ext cx="443667" cy="363001"/>
          </a:xfrm>
          <a:prstGeom prst="rect">
            <a:avLst/>
          </a:prstGeom>
        </p:spPr>
      </p:pic>
      <p:sp>
        <p:nvSpPr>
          <p:cNvPr id="95" name="Freeform 159"/>
          <p:cNvSpPr/>
          <p:nvPr/>
        </p:nvSpPr>
        <p:spPr bwMode="gray">
          <a:xfrm flipH="1">
            <a:off x="8411829" y="1372839"/>
            <a:ext cx="997303" cy="5213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44000" rtlCol="0" anchor="ctr">
            <a:noAutofit/>
          </a:bodyPr>
          <a:lstStyle/>
          <a:p>
            <a:pPr algn="ctr"/>
            <a:r>
              <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pic>
        <p:nvPicPr>
          <p:cNvPr id="96" name="图片 9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389582" y="2901313"/>
            <a:ext cx="1481530" cy="273233"/>
          </a:xfrm>
          <a:prstGeom prst="rect">
            <a:avLst/>
          </a:prstGeom>
        </p:spPr>
      </p:pic>
      <p:sp>
        <p:nvSpPr>
          <p:cNvPr id="97" name="Freeform 159"/>
          <p:cNvSpPr/>
          <p:nvPr/>
        </p:nvSpPr>
        <p:spPr bwMode="gray">
          <a:xfrm flipH="1">
            <a:off x="8222617" y="3788291"/>
            <a:ext cx="1382848" cy="8121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FFD17D"/>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159"/>
          <p:cNvSpPr/>
          <p:nvPr/>
        </p:nvSpPr>
        <p:spPr bwMode="gray">
          <a:xfrm flipH="1">
            <a:off x="10104336" y="3788291"/>
            <a:ext cx="1382848" cy="8121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8BC9A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9" name="组合 212"/>
          <p:cNvGrpSpPr>
            <a:grpSpLocks/>
          </p:cNvGrpSpPr>
          <p:nvPr/>
        </p:nvGrpSpPr>
        <p:grpSpPr bwMode="gray">
          <a:xfrm>
            <a:off x="6796475" y="5373437"/>
            <a:ext cx="504879" cy="504879"/>
            <a:chOff x="1639888" y="560388"/>
            <a:chExt cx="1114425" cy="1116013"/>
          </a:xfrm>
        </p:grpSpPr>
        <p:sp>
          <p:nvSpPr>
            <p:cNvPr id="100" name="Freeform 39"/>
            <p:cNvSpPr>
              <a:spLocks/>
            </p:cNvSpPr>
            <p:nvPr/>
          </p:nvSpPr>
          <p:spPr bwMode="gray">
            <a:xfrm>
              <a:off x="1639888" y="560388"/>
              <a:ext cx="1114425"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 name="T18" fmla="*/ 0 w 2659"/>
                <a:gd name="T19" fmla="*/ 0 h 2659"/>
                <a:gd name="T20" fmla="*/ 2659 w 2659"/>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9" h="2659">
                  <a:moveTo>
                    <a:pt x="2659" y="1330"/>
                  </a:moveTo>
                  <a:lnTo>
                    <a:pt x="2659" y="1330"/>
                  </a:lnTo>
                  <a:cubicBezTo>
                    <a:pt x="2659" y="2064"/>
                    <a:pt x="2064" y="2659"/>
                    <a:pt x="1330" y="2659"/>
                  </a:cubicBezTo>
                  <a:cubicBezTo>
                    <a:pt x="595" y="2659"/>
                    <a:pt x="0" y="2064"/>
                    <a:pt x="0" y="1330"/>
                  </a:cubicBezTo>
                  <a:cubicBezTo>
                    <a:pt x="0" y="595"/>
                    <a:pt x="595" y="0"/>
                    <a:pt x="1330" y="0"/>
                  </a:cubicBezTo>
                  <a:cubicBezTo>
                    <a:pt x="2064" y="0"/>
                    <a:pt x="2659" y="595"/>
                    <a:pt x="2659" y="1330"/>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1" name="组合 193"/>
            <p:cNvGrpSpPr>
              <a:grpSpLocks/>
            </p:cNvGrpSpPr>
            <p:nvPr/>
          </p:nvGrpSpPr>
          <p:grpSpPr bwMode="gray">
            <a:xfrm>
              <a:off x="1836738" y="854075"/>
              <a:ext cx="720725" cy="528638"/>
              <a:chOff x="1836738" y="854075"/>
              <a:chExt cx="720725" cy="528638"/>
            </a:xfrm>
          </p:grpSpPr>
          <p:sp>
            <p:nvSpPr>
              <p:cNvPr id="102" name="Freeform 40"/>
              <p:cNvSpPr>
                <a:spLocks noEditPoints="1"/>
              </p:cNvSpPr>
              <p:nvPr/>
            </p:nvSpPr>
            <p:spPr bwMode="gray">
              <a:xfrm>
                <a:off x="2054225" y="854075"/>
                <a:ext cx="503238" cy="368300"/>
              </a:xfrm>
              <a:custGeom>
                <a:avLst/>
                <a:gdLst>
                  <a:gd name="T0" fmla="*/ 2147483647 w 1199"/>
                  <a:gd name="T1" fmla="*/ 2147483647 h 879"/>
                  <a:gd name="T2" fmla="*/ 2147483647 w 1199"/>
                  <a:gd name="T3" fmla="*/ 2147483647 h 879"/>
                  <a:gd name="T4" fmla="*/ 2147483647 w 1199"/>
                  <a:gd name="T5" fmla="*/ 2147483647 h 879"/>
                  <a:gd name="T6" fmla="*/ 2147483647 w 1199"/>
                  <a:gd name="T7" fmla="*/ 2147483647 h 879"/>
                  <a:gd name="T8" fmla="*/ 2147483647 w 1199"/>
                  <a:gd name="T9" fmla="*/ 2147483647 h 879"/>
                  <a:gd name="T10" fmla="*/ 2147483647 w 1199"/>
                  <a:gd name="T11" fmla="*/ 2147483647 h 879"/>
                  <a:gd name="T12" fmla="*/ 2147483647 w 1199"/>
                  <a:gd name="T13" fmla="*/ 2147483647 h 879"/>
                  <a:gd name="T14" fmla="*/ 2147483647 w 1199"/>
                  <a:gd name="T15" fmla="*/ 2147483647 h 879"/>
                  <a:gd name="T16" fmla="*/ 2147483647 w 1199"/>
                  <a:gd name="T17" fmla="*/ 2147483647 h 879"/>
                  <a:gd name="T18" fmla="*/ 2147483647 w 1199"/>
                  <a:gd name="T19" fmla="*/ 2147483647 h 879"/>
                  <a:gd name="T20" fmla="*/ 2147483647 w 1199"/>
                  <a:gd name="T21" fmla="*/ 0 h 879"/>
                  <a:gd name="T22" fmla="*/ 2147483647 w 1199"/>
                  <a:gd name="T23" fmla="*/ 0 h 879"/>
                  <a:gd name="T24" fmla="*/ 2147483647 w 1199"/>
                  <a:gd name="T25" fmla="*/ 0 h 879"/>
                  <a:gd name="T26" fmla="*/ 0 w 1199"/>
                  <a:gd name="T27" fmla="*/ 2147483647 h 879"/>
                  <a:gd name="T28" fmla="*/ 0 w 1199"/>
                  <a:gd name="T29" fmla="*/ 2147483647 h 879"/>
                  <a:gd name="T30" fmla="*/ 2147483647 w 1199"/>
                  <a:gd name="T31" fmla="*/ 2147483647 h 879"/>
                  <a:gd name="T32" fmla="*/ 2147483647 w 1199"/>
                  <a:gd name="T33" fmla="*/ 2147483647 h 879"/>
                  <a:gd name="T34" fmla="*/ 2147483647 w 1199"/>
                  <a:gd name="T35" fmla="*/ 2147483647 h 879"/>
                  <a:gd name="T36" fmla="*/ 2147483647 w 1199"/>
                  <a:gd name="T37" fmla="*/ 2147483647 h 879"/>
                  <a:gd name="T38" fmla="*/ 2147483647 w 1199"/>
                  <a:gd name="T39" fmla="*/ 0 h 8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9"/>
                  <a:gd name="T61" fmla="*/ 0 h 879"/>
                  <a:gd name="T62" fmla="*/ 1199 w 1199"/>
                  <a:gd name="T63" fmla="*/ 879 h 8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9" h="879">
                    <a:moveTo>
                      <a:pt x="1133" y="787"/>
                    </a:moveTo>
                    <a:lnTo>
                      <a:pt x="1133" y="787"/>
                    </a:lnTo>
                    <a:cubicBezTo>
                      <a:pt x="1133" y="801"/>
                      <a:pt x="1121" y="812"/>
                      <a:pt x="1108" y="812"/>
                    </a:cubicBezTo>
                    <a:lnTo>
                      <a:pt x="91" y="812"/>
                    </a:lnTo>
                    <a:cubicBezTo>
                      <a:pt x="78" y="812"/>
                      <a:pt x="67" y="801"/>
                      <a:pt x="67" y="787"/>
                    </a:cubicBezTo>
                    <a:lnTo>
                      <a:pt x="67" y="91"/>
                    </a:lnTo>
                    <a:cubicBezTo>
                      <a:pt x="67" y="77"/>
                      <a:pt x="78" y="66"/>
                      <a:pt x="91" y="66"/>
                    </a:cubicBezTo>
                    <a:lnTo>
                      <a:pt x="1108" y="66"/>
                    </a:lnTo>
                    <a:cubicBezTo>
                      <a:pt x="1121" y="66"/>
                      <a:pt x="1133" y="77"/>
                      <a:pt x="1133" y="91"/>
                    </a:cubicBezTo>
                    <a:lnTo>
                      <a:pt x="1133" y="787"/>
                    </a:lnTo>
                    <a:close/>
                    <a:moveTo>
                      <a:pt x="1108" y="0"/>
                    </a:moveTo>
                    <a:lnTo>
                      <a:pt x="1108" y="0"/>
                    </a:lnTo>
                    <a:lnTo>
                      <a:pt x="91" y="0"/>
                    </a:lnTo>
                    <a:cubicBezTo>
                      <a:pt x="41" y="0"/>
                      <a:pt x="0" y="41"/>
                      <a:pt x="0" y="91"/>
                    </a:cubicBezTo>
                    <a:lnTo>
                      <a:pt x="0" y="787"/>
                    </a:lnTo>
                    <a:cubicBezTo>
                      <a:pt x="0" y="838"/>
                      <a:pt x="41" y="879"/>
                      <a:pt x="91" y="879"/>
                    </a:cubicBezTo>
                    <a:lnTo>
                      <a:pt x="1108" y="879"/>
                    </a:lnTo>
                    <a:cubicBezTo>
                      <a:pt x="1158" y="879"/>
                      <a:pt x="1199" y="838"/>
                      <a:pt x="1199" y="787"/>
                    </a:cubicBezTo>
                    <a:lnTo>
                      <a:pt x="1199" y="91"/>
                    </a:lnTo>
                    <a:cubicBezTo>
                      <a:pt x="1199" y="41"/>
                      <a:pt x="1158" y="0"/>
                      <a:pt x="1108"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Freeform 41"/>
              <p:cNvSpPr>
                <a:spLocks/>
              </p:cNvSpPr>
              <p:nvPr/>
            </p:nvSpPr>
            <p:spPr bwMode="gray">
              <a:xfrm>
                <a:off x="2224088" y="1238250"/>
                <a:ext cx="161925" cy="26988"/>
              </a:xfrm>
              <a:custGeom>
                <a:avLst/>
                <a:gdLst>
                  <a:gd name="T0" fmla="*/ 2147483647 w 385"/>
                  <a:gd name="T1" fmla="*/ 2147483647 h 66"/>
                  <a:gd name="T2" fmla="*/ 2147483647 w 385"/>
                  <a:gd name="T3" fmla="*/ 2147483647 h 66"/>
                  <a:gd name="T4" fmla="*/ 2147483647 w 385"/>
                  <a:gd name="T5" fmla="*/ 2147483647 h 66"/>
                  <a:gd name="T6" fmla="*/ 2147483647 w 385"/>
                  <a:gd name="T7" fmla="*/ 0 h 66"/>
                  <a:gd name="T8" fmla="*/ 2147483647 w 385"/>
                  <a:gd name="T9" fmla="*/ 0 h 66"/>
                  <a:gd name="T10" fmla="*/ 0 w 385"/>
                  <a:gd name="T11" fmla="*/ 2147483647 h 66"/>
                  <a:gd name="T12" fmla="*/ 2147483647 w 385"/>
                  <a:gd name="T13" fmla="*/ 2147483647 h 66"/>
                  <a:gd name="T14" fmla="*/ 2147483647 w 385"/>
                  <a:gd name="T15" fmla="*/ 2147483647 h 66"/>
                  <a:gd name="T16" fmla="*/ 0 60000 65536"/>
                  <a:gd name="T17" fmla="*/ 0 60000 65536"/>
                  <a:gd name="T18" fmla="*/ 0 60000 65536"/>
                  <a:gd name="T19" fmla="*/ 0 60000 65536"/>
                  <a:gd name="T20" fmla="*/ 0 60000 65536"/>
                  <a:gd name="T21" fmla="*/ 0 60000 65536"/>
                  <a:gd name="T22" fmla="*/ 0 60000 65536"/>
                  <a:gd name="T23" fmla="*/ 0 60000 65536"/>
                  <a:gd name="T24" fmla="*/ 0 w 385"/>
                  <a:gd name="T25" fmla="*/ 0 h 66"/>
                  <a:gd name="T26" fmla="*/ 385 w 385"/>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5" h="66">
                    <a:moveTo>
                      <a:pt x="352" y="66"/>
                    </a:moveTo>
                    <a:lnTo>
                      <a:pt x="352" y="66"/>
                    </a:lnTo>
                    <a:cubicBezTo>
                      <a:pt x="370" y="66"/>
                      <a:pt x="385" y="52"/>
                      <a:pt x="385" y="33"/>
                    </a:cubicBezTo>
                    <a:cubicBezTo>
                      <a:pt x="385" y="15"/>
                      <a:pt x="370" y="0"/>
                      <a:pt x="352" y="0"/>
                    </a:cubicBezTo>
                    <a:lnTo>
                      <a:pt x="33" y="0"/>
                    </a:lnTo>
                    <a:cubicBezTo>
                      <a:pt x="15" y="0"/>
                      <a:pt x="0" y="15"/>
                      <a:pt x="0" y="33"/>
                    </a:cubicBezTo>
                    <a:cubicBezTo>
                      <a:pt x="0" y="52"/>
                      <a:pt x="15" y="66"/>
                      <a:pt x="33" y="66"/>
                    </a:cubicBezTo>
                    <a:lnTo>
                      <a:pt x="352" y="66"/>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Freeform 42"/>
              <p:cNvSpPr>
                <a:spLocks noEditPoints="1"/>
              </p:cNvSpPr>
              <p:nvPr/>
            </p:nvSpPr>
            <p:spPr bwMode="gray">
              <a:xfrm>
                <a:off x="2105025" y="900113"/>
                <a:ext cx="401638" cy="274638"/>
              </a:xfrm>
              <a:custGeom>
                <a:avLst/>
                <a:gdLst>
                  <a:gd name="T0" fmla="*/ 2147483647 w 957"/>
                  <a:gd name="T1" fmla="*/ 2147483647 h 653"/>
                  <a:gd name="T2" fmla="*/ 2147483647 w 957"/>
                  <a:gd name="T3" fmla="*/ 2147483647 h 653"/>
                  <a:gd name="T4" fmla="*/ 2147483647 w 957"/>
                  <a:gd name="T5" fmla="*/ 2147483647 h 653"/>
                  <a:gd name="T6" fmla="*/ 2147483647 w 957"/>
                  <a:gd name="T7" fmla="*/ 2147483647 h 653"/>
                  <a:gd name="T8" fmla="*/ 2147483647 w 957"/>
                  <a:gd name="T9" fmla="*/ 2147483647 h 653"/>
                  <a:gd name="T10" fmla="*/ 2147483647 w 957"/>
                  <a:gd name="T11" fmla="*/ 2147483647 h 653"/>
                  <a:gd name="T12" fmla="*/ 2147483647 w 957"/>
                  <a:gd name="T13" fmla="*/ 2147483647 h 653"/>
                  <a:gd name="T14" fmla="*/ 2147483647 w 957"/>
                  <a:gd name="T15" fmla="*/ 2147483647 h 653"/>
                  <a:gd name="T16" fmla="*/ 2147483647 w 957"/>
                  <a:gd name="T17" fmla="*/ 2147483647 h 653"/>
                  <a:gd name="T18" fmla="*/ 2147483647 w 957"/>
                  <a:gd name="T19" fmla="*/ 2147483647 h 653"/>
                  <a:gd name="T20" fmla="*/ 2147483647 w 957"/>
                  <a:gd name="T21" fmla="*/ 0 h 653"/>
                  <a:gd name="T22" fmla="*/ 2147483647 w 957"/>
                  <a:gd name="T23" fmla="*/ 0 h 653"/>
                  <a:gd name="T24" fmla="*/ 2147483647 w 957"/>
                  <a:gd name="T25" fmla="*/ 0 h 653"/>
                  <a:gd name="T26" fmla="*/ 0 w 957"/>
                  <a:gd name="T27" fmla="*/ 2147483647 h 653"/>
                  <a:gd name="T28" fmla="*/ 0 w 957"/>
                  <a:gd name="T29" fmla="*/ 2147483647 h 653"/>
                  <a:gd name="T30" fmla="*/ 2147483647 w 957"/>
                  <a:gd name="T31" fmla="*/ 2147483647 h 653"/>
                  <a:gd name="T32" fmla="*/ 2147483647 w 957"/>
                  <a:gd name="T33" fmla="*/ 2147483647 h 653"/>
                  <a:gd name="T34" fmla="*/ 2147483647 w 957"/>
                  <a:gd name="T35" fmla="*/ 2147483647 h 653"/>
                  <a:gd name="T36" fmla="*/ 2147483647 w 957"/>
                  <a:gd name="T37" fmla="*/ 2147483647 h 653"/>
                  <a:gd name="T38" fmla="*/ 2147483647 w 957"/>
                  <a:gd name="T39" fmla="*/ 0 h 6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7"/>
                  <a:gd name="T61" fmla="*/ 0 h 653"/>
                  <a:gd name="T62" fmla="*/ 957 w 957"/>
                  <a:gd name="T63" fmla="*/ 653 h 6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7" h="653">
                    <a:moveTo>
                      <a:pt x="917" y="580"/>
                    </a:moveTo>
                    <a:lnTo>
                      <a:pt x="917" y="580"/>
                    </a:lnTo>
                    <a:cubicBezTo>
                      <a:pt x="917" y="598"/>
                      <a:pt x="903" y="613"/>
                      <a:pt x="885" y="613"/>
                    </a:cubicBezTo>
                    <a:lnTo>
                      <a:pt x="72" y="613"/>
                    </a:lnTo>
                    <a:cubicBezTo>
                      <a:pt x="54" y="613"/>
                      <a:pt x="40" y="598"/>
                      <a:pt x="40" y="580"/>
                    </a:cubicBezTo>
                    <a:lnTo>
                      <a:pt x="40" y="72"/>
                    </a:lnTo>
                    <a:cubicBezTo>
                      <a:pt x="40" y="54"/>
                      <a:pt x="54" y="40"/>
                      <a:pt x="72" y="40"/>
                    </a:cubicBezTo>
                    <a:lnTo>
                      <a:pt x="885" y="40"/>
                    </a:lnTo>
                    <a:cubicBezTo>
                      <a:pt x="903" y="40"/>
                      <a:pt x="917" y="54"/>
                      <a:pt x="917" y="72"/>
                    </a:cubicBezTo>
                    <a:lnTo>
                      <a:pt x="917" y="580"/>
                    </a:lnTo>
                    <a:close/>
                    <a:moveTo>
                      <a:pt x="885" y="0"/>
                    </a:moveTo>
                    <a:lnTo>
                      <a:pt x="885" y="0"/>
                    </a:lnTo>
                    <a:lnTo>
                      <a:pt x="72" y="0"/>
                    </a:lnTo>
                    <a:cubicBezTo>
                      <a:pt x="32" y="0"/>
                      <a:pt x="0" y="32"/>
                      <a:pt x="0" y="72"/>
                    </a:cubicBezTo>
                    <a:lnTo>
                      <a:pt x="0" y="580"/>
                    </a:lnTo>
                    <a:cubicBezTo>
                      <a:pt x="0" y="620"/>
                      <a:pt x="32" y="653"/>
                      <a:pt x="72" y="653"/>
                    </a:cubicBezTo>
                    <a:lnTo>
                      <a:pt x="885" y="653"/>
                    </a:lnTo>
                    <a:cubicBezTo>
                      <a:pt x="925" y="653"/>
                      <a:pt x="957" y="620"/>
                      <a:pt x="957" y="580"/>
                    </a:cubicBezTo>
                    <a:lnTo>
                      <a:pt x="957" y="72"/>
                    </a:lnTo>
                    <a:cubicBezTo>
                      <a:pt x="957" y="32"/>
                      <a:pt x="925" y="0"/>
                      <a:pt x="885"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43"/>
              <p:cNvSpPr>
                <a:spLocks/>
              </p:cNvSpPr>
              <p:nvPr/>
            </p:nvSpPr>
            <p:spPr bwMode="gray">
              <a:xfrm>
                <a:off x="2063750" y="1282700"/>
                <a:ext cx="482600" cy="100013"/>
              </a:xfrm>
              <a:custGeom>
                <a:avLst/>
                <a:gdLst>
                  <a:gd name="T0" fmla="*/ 2147483647 w 1149"/>
                  <a:gd name="T1" fmla="*/ 2147483647 h 240"/>
                  <a:gd name="T2" fmla="*/ 2147483647 w 1149"/>
                  <a:gd name="T3" fmla="*/ 2147483647 h 240"/>
                  <a:gd name="T4" fmla="*/ 2147483647 w 1149"/>
                  <a:gd name="T5" fmla="*/ 0 h 240"/>
                  <a:gd name="T6" fmla="*/ 2147483647 w 1149"/>
                  <a:gd name="T7" fmla="*/ 0 h 240"/>
                  <a:gd name="T8" fmla="*/ 2147483647 w 1149"/>
                  <a:gd name="T9" fmla="*/ 2147483647 h 240"/>
                  <a:gd name="T10" fmla="*/ 2147483647 w 1149"/>
                  <a:gd name="T11" fmla="*/ 2147483647 h 240"/>
                  <a:gd name="T12" fmla="*/ 2147483647 w 1149"/>
                  <a:gd name="T13" fmla="*/ 2147483647 h 240"/>
                  <a:gd name="T14" fmla="*/ 2147483647 w 1149"/>
                  <a:gd name="T15" fmla="*/ 2147483647 h 240"/>
                  <a:gd name="T16" fmla="*/ 2147483647 w 1149"/>
                  <a:gd name="T17" fmla="*/ 2147483647 h 240"/>
                  <a:gd name="T18" fmla="*/ 2147483647 w 1149"/>
                  <a:gd name="T19" fmla="*/ 2147483647 h 240"/>
                  <a:gd name="T20" fmla="*/ 2147483647 w 1149"/>
                  <a:gd name="T21" fmla="*/ 2147483647 h 240"/>
                  <a:gd name="T22" fmla="*/ 2147483647 w 1149"/>
                  <a:gd name="T23" fmla="*/ 2147483647 h 240"/>
                  <a:gd name="T24" fmla="*/ 2147483647 w 1149"/>
                  <a:gd name="T25" fmla="*/ 2147483647 h 240"/>
                  <a:gd name="T26" fmla="*/ 2147483647 w 1149"/>
                  <a:gd name="T27" fmla="*/ 2147483647 h 240"/>
                  <a:gd name="T28" fmla="*/ 2147483647 w 1149"/>
                  <a:gd name="T29" fmla="*/ 2147483647 h 240"/>
                  <a:gd name="T30" fmla="*/ 2147483647 w 1149"/>
                  <a:gd name="T31" fmla="*/ 2147483647 h 240"/>
                  <a:gd name="T32" fmla="*/ 2147483647 w 1149"/>
                  <a:gd name="T33" fmla="*/ 2147483647 h 240"/>
                  <a:gd name="T34" fmla="*/ 2147483647 w 1149"/>
                  <a:gd name="T35" fmla="*/ 2147483647 h 240"/>
                  <a:gd name="T36" fmla="*/ 2147483647 w 1149"/>
                  <a:gd name="T37" fmla="*/ 2147483647 h 240"/>
                  <a:gd name="T38" fmla="*/ 2147483647 w 1149"/>
                  <a:gd name="T39" fmla="*/ 2147483647 h 240"/>
                  <a:gd name="T40" fmla="*/ 2147483647 w 1149"/>
                  <a:gd name="T41" fmla="*/ 2147483647 h 240"/>
                  <a:gd name="T42" fmla="*/ 2147483647 w 1149"/>
                  <a:gd name="T43" fmla="*/ 2147483647 h 240"/>
                  <a:gd name="T44" fmla="*/ 2147483647 w 1149"/>
                  <a:gd name="T45" fmla="*/ 2147483647 h 240"/>
                  <a:gd name="T46" fmla="*/ 2147483647 w 1149"/>
                  <a:gd name="T47" fmla="*/ 2147483647 h 240"/>
                  <a:gd name="T48" fmla="*/ 2147483647 w 1149"/>
                  <a:gd name="T49" fmla="*/ 2147483647 h 240"/>
                  <a:gd name="T50" fmla="*/ 2147483647 w 1149"/>
                  <a:gd name="T51" fmla="*/ 2147483647 h 2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49"/>
                  <a:gd name="T79" fmla="*/ 0 h 240"/>
                  <a:gd name="T80" fmla="*/ 1149 w 1149"/>
                  <a:gd name="T81" fmla="*/ 240 h 24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49" h="240">
                    <a:moveTo>
                      <a:pt x="1048" y="15"/>
                    </a:moveTo>
                    <a:lnTo>
                      <a:pt x="1048" y="15"/>
                    </a:lnTo>
                    <a:cubicBezTo>
                      <a:pt x="1042" y="6"/>
                      <a:pt x="1032" y="0"/>
                      <a:pt x="1021" y="0"/>
                    </a:cubicBezTo>
                    <a:lnTo>
                      <a:pt x="128" y="0"/>
                    </a:lnTo>
                    <a:cubicBezTo>
                      <a:pt x="117" y="0"/>
                      <a:pt x="107" y="6"/>
                      <a:pt x="101" y="15"/>
                    </a:cubicBezTo>
                    <a:lnTo>
                      <a:pt x="7" y="151"/>
                    </a:lnTo>
                    <a:cubicBezTo>
                      <a:pt x="0" y="162"/>
                      <a:pt x="0" y="175"/>
                      <a:pt x="5" y="186"/>
                    </a:cubicBezTo>
                    <a:cubicBezTo>
                      <a:pt x="11" y="197"/>
                      <a:pt x="22" y="204"/>
                      <a:pt x="35" y="204"/>
                    </a:cubicBezTo>
                    <a:lnTo>
                      <a:pt x="662" y="204"/>
                    </a:lnTo>
                    <a:cubicBezTo>
                      <a:pt x="674" y="225"/>
                      <a:pt x="697" y="240"/>
                      <a:pt x="723" y="240"/>
                    </a:cubicBezTo>
                    <a:cubicBezTo>
                      <a:pt x="761" y="240"/>
                      <a:pt x="792" y="208"/>
                      <a:pt x="792" y="170"/>
                    </a:cubicBezTo>
                    <a:cubicBezTo>
                      <a:pt x="792" y="132"/>
                      <a:pt x="761" y="101"/>
                      <a:pt x="723" y="101"/>
                    </a:cubicBezTo>
                    <a:cubicBezTo>
                      <a:pt x="697" y="101"/>
                      <a:pt x="674" y="115"/>
                      <a:pt x="662" y="137"/>
                    </a:cubicBezTo>
                    <a:lnTo>
                      <a:pt x="98" y="137"/>
                    </a:lnTo>
                    <a:lnTo>
                      <a:pt x="146" y="67"/>
                    </a:lnTo>
                    <a:lnTo>
                      <a:pt x="1003" y="67"/>
                    </a:lnTo>
                    <a:lnTo>
                      <a:pt x="1051" y="137"/>
                    </a:lnTo>
                    <a:lnTo>
                      <a:pt x="997" y="137"/>
                    </a:lnTo>
                    <a:cubicBezTo>
                      <a:pt x="985" y="115"/>
                      <a:pt x="962" y="101"/>
                      <a:pt x="936" y="101"/>
                    </a:cubicBezTo>
                    <a:cubicBezTo>
                      <a:pt x="897" y="101"/>
                      <a:pt x="867" y="132"/>
                      <a:pt x="867" y="170"/>
                    </a:cubicBezTo>
                    <a:cubicBezTo>
                      <a:pt x="867" y="208"/>
                      <a:pt x="897" y="240"/>
                      <a:pt x="936" y="240"/>
                    </a:cubicBezTo>
                    <a:cubicBezTo>
                      <a:pt x="962" y="240"/>
                      <a:pt x="985" y="225"/>
                      <a:pt x="997" y="204"/>
                    </a:cubicBezTo>
                    <a:lnTo>
                      <a:pt x="1114" y="204"/>
                    </a:lnTo>
                    <a:cubicBezTo>
                      <a:pt x="1127" y="204"/>
                      <a:pt x="1138" y="197"/>
                      <a:pt x="1144" y="186"/>
                    </a:cubicBezTo>
                    <a:cubicBezTo>
                      <a:pt x="1149" y="175"/>
                      <a:pt x="1149" y="162"/>
                      <a:pt x="1142" y="151"/>
                    </a:cubicBezTo>
                    <a:lnTo>
                      <a:pt x="1048" y="15"/>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Freeform 44"/>
              <p:cNvSpPr>
                <a:spLocks noEditPoints="1"/>
              </p:cNvSpPr>
              <p:nvPr/>
            </p:nvSpPr>
            <p:spPr bwMode="gray">
              <a:xfrm>
                <a:off x="1836738" y="925513"/>
                <a:ext cx="193675" cy="442913"/>
              </a:xfrm>
              <a:custGeom>
                <a:avLst/>
                <a:gdLst>
                  <a:gd name="T0" fmla="*/ 2147483647 w 461"/>
                  <a:gd name="T1" fmla="*/ 2147483647 h 1055"/>
                  <a:gd name="T2" fmla="*/ 2147483647 w 461"/>
                  <a:gd name="T3" fmla="*/ 2147483647 h 1055"/>
                  <a:gd name="T4" fmla="*/ 2147483647 w 461"/>
                  <a:gd name="T5" fmla="*/ 2147483647 h 1055"/>
                  <a:gd name="T6" fmla="*/ 2147483647 w 461"/>
                  <a:gd name="T7" fmla="*/ 2147483647 h 1055"/>
                  <a:gd name="T8" fmla="*/ 2147483647 w 461"/>
                  <a:gd name="T9" fmla="*/ 2147483647 h 1055"/>
                  <a:gd name="T10" fmla="*/ 2147483647 w 461"/>
                  <a:gd name="T11" fmla="*/ 2147483647 h 1055"/>
                  <a:gd name="T12" fmla="*/ 2147483647 w 461"/>
                  <a:gd name="T13" fmla="*/ 2147483647 h 1055"/>
                  <a:gd name="T14" fmla="*/ 2147483647 w 461"/>
                  <a:gd name="T15" fmla="*/ 2147483647 h 1055"/>
                  <a:gd name="T16" fmla="*/ 2147483647 w 461"/>
                  <a:gd name="T17" fmla="*/ 2147483647 h 1055"/>
                  <a:gd name="T18" fmla="*/ 2147483647 w 461"/>
                  <a:gd name="T19" fmla="*/ 2147483647 h 1055"/>
                  <a:gd name="T20" fmla="*/ 2147483647 w 461"/>
                  <a:gd name="T21" fmla="*/ 0 h 1055"/>
                  <a:gd name="T22" fmla="*/ 2147483647 w 461"/>
                  <a:gd name="T23" fmla="*/ 0 h 1055"/>
                  <a:gd name="T24" fmla="*/ 2147483647 w 461"/>
                  <a:gd name="T25" fmla="*/ 0 h 1055"/>
                  <a:gd name="T26" fmla="*/ 0 w 461"/>
                  <a:gd name="T27" fmla="*/ 2147483647 h 1055"/>
                  <a:gd name="T28" fmla="*/ 0 w 461"/>
                  <a:gd name="T29" fmla="*/ 2147483647 h 1055"/>
                  <a:gd name="T30" fmla="*/ 2147483647 w 461"/>
                  <a:gd name="T31" fmla="*/ 2147483647 h 1055"/>
                  <a:gd name="T32" fmla="*/ 2147483647 w 461"/>
                  <a:gd name="T33" fmla="*/ 2147483647 h 1055"/>
                  <a:gd name="T34" fmla="*/ 2147483647 w 461"/>
                  <a:gd name="T35" fmla="*/ 2147483647 h 1055"/>
                  <a:gd name="T36" fmla="*/ 2147483647 w 461"/>
                  <a:gd name="T37" fmla="*/ 2147483647 h 1055"/>
                  <a:gd name="T38" fmla="*/ 2147483647 w 461"/>
                  <a:gd name="T39" fmla="*/ 0 h 10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1"/>
                  <a:gd name="T61" fmla="*/ 0 h 1055"/>
                  <a:gd name="T62" fmla="*/ 461 w 461"/>
                  <a:gd name="T63" fmla="*/ 1055 h 10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1" h="1055">
                    <a:moveTo>
                      <a:pt x="394" y="955"/>
                    </a:moveTo>
                    <a:lnTo>
                      <a:pt x="394" y="955"/>
                    </a:lnTo>
                    <a:cubicBezTo>
                      <a:pt x="394" y="973"/>
                      <a:pt x="379" y="988"/>
                      <a:pt x="361" y="988"/>
                    </a:cubicBezTo>
                    <a:lnTo>
                      <a:pt x="100" y="988"/>
                    </a:lnTo>
                    <a:cubicBezTo>
                      <a:pt x="82" y="988"/>
                      <a:pt x="67" y="973"/>
                      <a:pt x="67" y="955"/>
                    </a:cubicBezTo>
                    <a:lnTo>
                      <a:pt x="67" y="100"/>
                    </a:lnTo>
                    <a:cubicBezTo>
                      <a:pt x="67" y="82"/>
                      <a:pt x="82" y="67"/>
                      <a:pt x="100" y="67"/>
                    </a:cubicBezTo>
                    <a:lnTo>
                      <a:pt x="361" y="67"/>
                    </a:lnTo>
                    <a:cubicBezTo>
                      <a:pt x="379" y="67"/>
                      <a:pt x="394" y="82"/>
                      <a:pt x="394" y="100"/>
                    </a:cubicBezTo>
                    <a:lnTo>
                      <a:pt x="394" y="955"/>
                    </a:lnTo>
                    <a:close/>
                    <a:moveTo>
                      <a:pt x="361" y="0"/>
                    </a:moveTo>
                    <a:lnTo>
                      <a:pt x="361" y="0"/>
                    </a:lnTo>
                    <a:lnTo>
                      <a:pt x="100" y="0"/>
                    </a:lnTo>
                    <a:cubicBezTo>
                      <a:pt x="45" y="0"/>
                      <a:pt x="0" y="45"/>
                      <a:pt x="0" y="100"/>
                    </a:cubicBezTo>
                    <a:lnTo>
                      <a:pt x="0" y="955"/>
                    </a:lnTo>
                    <a:cubicBezTo>
                      <a:pt x="0" y="1010"/>
                      <a:pt x="45" y="1055"/>
                      <a:pt x="100" y="1055"/>
                    </a:cubicBezTo>
                    <a:lnTo>
                      <a:pt x="361" y="1055"/>
                    </a:lnTo>
                    <a:cubicBezTo>
                      <a:pt x="416" y="1055"/>
                      <a:pt x="461" y="1010"/>
                      <a:pt x="461" y="955"/>
                    </a:cubicBezTo>
                    <a:lnTo>
                      <a:pt x="461" y="100"/>
                    </a:lnTo>
                    <a:cubicBezTo>
                      <a:pt x="461" y="45"/>
                      <a:pt x="416" y="0"/>
                      <a:pt x="361"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Freeform 45"/>
              <p:cNvSpPr>
                <a:spLocks/>
              </p:cNvSpPr>
              <p:nvPr/>
            </p:nvSpPr>
            <p:spPr bwMode="gray">
              <a:xfrm>
                <a:off x="1878013" y="1003300"/>
                <a:ext cx="112713" cy="28575"/>
              </a:xfrm>
              <a:custGeom>
                <a:avLst/>
                <a:gdLst>
                  <a:gd name="T0" fmla="*/ 2147483647 w 267"/>
                  <a:gd name="T1" fmla="*/ 0 h 66"/>
                  <a:gd name="T2" fmla="*/ 2147483647 w 267"/>
                  <a:gd name="T3" fmla="*/ 0 h 66"/>
                  <a:gd name="T4" fmla="*/ 2147483647 w 267"/>
                  <a:gd name="T5" fmla="*/ 0 h 66"/>
                  <a:gd name="T6" fmla="*/ 0 w 267"/>
                  <a:gd name="T7" fmla="*/ 2147483647 h 66"/>
                  <a:gd name="T8" fmla="*/ 2147483647 w 267"/>
                  <a:gd name="T9" fmla="*/ 2147483647 h 66"/>
                  <a:gd name="T10" fmla="*/ 2147483647 w 267"/>
                  <a:gd name="T11" fmla="*/ 2147483647 h 66"/>
                  <a:gd name="T12" fmla="*/ 2147483647 w 267"/>
                  <a:gd name="T13" fmla="*/ 2147483647 h 66"/>
                  <a:gd name="T14" fmla="*/ 2147483647 w 267"/>
                  <a:gd name="T15" fmla="*/ 0 h 66"/>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6"/>
                  <a:gd name="T26" fmla="*/ 267 w 267"/>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6">
                    <a:moveTo>
                      <a:pt x="233" y="0"/>
                    </a:moveTo>
                    <a:lnTo>
                      <a:pt x="233" y="0"/>
                    </a:lnTo>
                    <a:lnTo>
                      <a:pt x="33" y="0"/>
                    </a:lnTo>
                    <a:cubicBezTo>
                      <a:pt x="15" y="0"/>
                      <a:pt x="0" y="15"/>
                      <a:pt x="0" y="33"/>
                    </a:cubicBezTo>
                    <a:cubicBezTo>
                      <a:pt x="0" y="52"/>
                      <a:pt x="15" y="66"/>
                      <a:pt x="33" y="66"/>
                    </a:cubicBezTo>
                    <a:lnTo>
                      <a:pt x="233" y="66"/>
                    </a:lnTo>
                    <a:cubicBezTo>
                      <a:pt x="252" y="66"/>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Freeform 46"/>
              <p:cNvSpPr>
                <a:spLocks/>
              </p:cNvSpPr>
              <p:nvPr/>
            </p:nvSpPr>
            <p:spPr bwMode="gray">
              <a:xfrm>
                <a:off x="1878013" y="10429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3"/>
                    </a:cubicBezTo>
                    <a:cubicBezTo>
                      <a:pt x="0" y="52"/>
                      <a:pt x="15" y="67"/>
                      <a:pt x="33" y="67"/>
                    </a:cubicBezTo>
                    <a:lnTo>
                      <a:pt x="233" y="67"/>
                    </a:lnTo>
                    <a:cubicBezTo>
                      <a:pt x="252" y="67"/>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Freeform 47"/>
              <p:cNvSpPr>
                <a:spLocks/>
              </p:cNvSpPr>
              <p:nvPr/>
            </p:nvSpPr>
            <p:spPr bwMode="gray">
              <a:xfrm>
                <a:off x="1878013" y="10810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4"/>
                    </a:cubicBezTo>
                    <a:cubicBezTo>
                      <a:pt x="0" y="52"/>
                      <a:pt x="15" y="67"/>
                      <a:pt x="33" y="67"/>
                    </a:cubicBezTo>
                    <a:lnTo>
                      <a:pt x="233" y="67"/>
                    </a:lnTo>
                    <a:cubicBezTo>
                      <a:pt x="252" y="67"/>
                      <a:pt x="267" y="52"/>
                      <a:pt x="267" y="34"/>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Freeform 48"/>
              <p:cNvSpPr>
                <a:spLocks noEditPoints="1"/>
              </p:cNvSpPr>
              <p:nvPr/>
            </p:nvSpPr>
            <p:spPr bwMode="gray">
              <a:xfrm>
                <a:off x="1892300" y="1227138"/>
                <a:ext cx="84138" cy="84138"/>
              </a:xfrm>
              <a:custGeom>
                <a:avLst/>
                <a:gdLst>
                  <a:gd name="T0" fmla="*/ 2147483647 w 200"/>
                  <a:gd name="T1" fmla="*/ 2147483647 h 200"/>
                  <a:gd name="T2" fmla="*/ 2147483647 w 200"/>
                  <a:gd name="T3" fmla="*/ 2147483647 h 200"/>
                  <a:gd name="T4" fmla="*/ 2147483647 w 200"/>
                  <a:gd name="T5" fmla="*/ 2147483647 h 200"/>
                  <a:gd name="T6" fmla="*/ 2147483647 w 200"/>
                  <a:gd name="T7" fmla="*/ 2147483647 h 200"/>
                  <a:gd name="T8" fmla="*/ 2147483647 w 200"/>
                  <a:gd name="T9" fmla="*/ 2147483647 h 200"/>
                  <a:gd name="T10" fmla="*/ 2147483647 w 200"/>
                  <a:gd name="T11" fmla="*/ 2147483647 h 200"/>
                  <a:gd name="T12" fmla="*/ 2147483647 w 200"/>
                  <a:gd name="T13" fmla="*/ 0 h 200"/>
                  <a:gd name="T14" fmla="*/ 2147483647 w 200"/>
                  <a:gd name="T15" fmla="*/ 0 h 200"/>
                  <a:gd name="T16" fmla="*/ 0 w 200"/>
                  <a:gd name="T17" fmla="*/ 2147483647 h 200"/>
                  <a:gd name="T18" fmla="*/ 2147483647 w 200"/>
                  <a:gd name="T19" fmla="*/ 2147483647 h 200"/>
                  <a:gd name="T20" fmla="*/ 2147483647 w 200"/>
                  <a:gd name="T21" fmla="*/ 2147483647 h 200"/>
                  <a:gd name="T22" fmla="*/ 2147483647 w 200"/>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
                  <a:gd name="T37" fmla="*/ 0 h 200"/>
                  <a:gd name="T38" fmla="*/ 200 w 200"/>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 h="200">
                    <a:moveTo>
                      <a:pt x="100" y="133"/>
                    </a:moveTo>
                    <a:lnTo>
                      <a:pt x="100" y="133"/>
                    </a:lnTo>
                    <a:cubicBezTo>
                      <a:pt x="82" y="133"/>
                      <a:pt x="67" y="118"/>
                      <a:pt x="67" y="100"/>
                    </a:cubicBezTo>
                    <a:cubicBezTo>
                      <a:pt x="67" y="82"/>
                      <a:pt x="82" y="67"/>
                      <a:pt x="100" y="67"/>
                    </a:cubicBezTo>
                    <a:cubicBezTo>
                      <a:pt x="119" y="67"/>
                      <a:pt x="134" y="82"/>
                      <a:pt x="134" y="100"/>
                    </a:cubicBezTo>
                    <a:cubicBezTo>
                      <a:pt x="134" y="118"/>
                      <a:pt x="119" y="133"/>
                      <a:pt x="100" y="133"/>
                    </a:cubicBezTo>
                    <a:close/>
                    <a:moveTo>
                      <a:pt x="100" y="0"/>
                    </a:moveTo>
                    <a:lnTo>
                      <a:pt x="100" y="0"/>
                    </a:lnTo>
                    <a:cubicBezTo>
                      <a:pt x="45" y="0"/>
                      <a:pt x="0" y="45"/>
                      <a:pt x="0" y="100"/>
                    </a:cubicBezTo>
                    <a:cubicBezTo>
                      <a:pt x="0" y="155"/>
                      <a:pt x="45" y="200"/>
                      <a:pt x="100" y="200"/>
                    </a:cubicBezTo>
                    <a:cubicBezTo>
                      <a:pt x="155" y="200"/>
                      <a:pt x="200" y="155"/>
                      <a:pt x="200" y="100"/>
                    </a:cubicBezTo>
                    <a:cubicBezTo>
                      <a:pt x="200" y="45"/>
                      <a:pt x="155" y="0"/>
                      <a:pt x="100"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11" name="文本框 110"/>
          <p:cNvSpPr txBox="1"/>
          <p:nvPr/>
        </p:nvSpPr>
        <p:spPr bwMode="gray">
          <a:xfrm>
            <a:off x="6814919"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2" name="组合 225"/>
          <p:cNvGrpSpPr>
            <a:grpSpLocks/>
          </p:cNvGrpSpPr>
          <p:nvPr/>
        </p:nvGrpSpPr>
        <p:grpSpPr bwMode="gray">
          <a:xfrm>
            <a:off x="8673128" y="5373437"/>
            <a:ext cx="504238" cy="504879"/>
            <a:chOff x="436563" y="3479800"/>
            <a:chExt cx="1114425" cy="1116013"/>
          </a:xfrm>
        </p:grpSpPr>
        <p:sp>
          <p:nvSpPr>
            <p:cNvPr id="113" name="Freeform 166"/>
            <p:cNvSpPr>
              <a:spLocks/>
            </p:cNvSpPr>
            <p:nvPr/>
          </p:nvSpPr>
          <p:spPr bwMode="gray">
            <a:xfrm>
              <a:off x="436563" y="3479800"/>
              <a:ext cx="1114425"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30"/>
                  </a:moveTo>
                  <a:lnTo>
                    <a:pt x="2658" y="1330"/>
                  </a:lnTo>
                  <a:cubicBezTo>
                    <a:pt x="2658" y="2064"/>
                    <a:pt x="2063" y="2659"/>
                    <a:pt x="1329" y="2659"/>
                  </a:cubicBezTo>
                  <a:cubicBezTo>
                    <a:pt x="595" y="2659"/>
                    <a:pt x="0" y="2064"/>
                    <a:pt x="0" y="1330"/>
                  </a:cubicBezTo>
                  <a:cubicBezTo>
                    <a:pt x="0" y="595"/>
                    <a:pt x="595" y="0"/>
                    <a:pt x="1329" y="0"/>
                  </a:cubicBezTo>
                  <a:cubicBezTo>
                    <a:pt x="2063" y="0"/>
                    <a:pt x="2658" y="595"/>
                    <a:pt x="2658" y="1330"/>
                  </a:cubicBezTo>
                  <a:close/>
                </a:path>
              </a:pathLst>
            </a:custGeom>
            <a:solidFill>
              <a:srgbClr val="FFD17D"/>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4" name="组合 206"/>
            <p:cNvGrpSpPr>
              <a:grpSpLocks/>
            </p:cNvGrpSpPr>
            <p:nvPr/>
          </p:nvGrpSpPr>
          <p:grpSpPr bwMode="gray">
            <a:xfrm>
              <a:off x="512763" y="3792538"/>
              <a:ext cx="963613" cy="488950"/>
              <a:chOff x="512763" y="3792538"/>
              <a:chExt cx="963613" cy="488950"/>
            </a:xfrm>
          </p:grpSpPr>
          <p:sp>
            <p:nvSpPr>
              <p:cNvPr id="115" name="Freeform 167"/>
              <p:cNvSpPr>
                <a:spLocks noEditPoints="1"/>
              </p:cNvSpPr>
              <p:nvPr/>
            </p:nvSpPr>
            <p:spPr bwMode="gray">
              <a:xfrm>
                <a:off x="633413" y="3844925"/>
                <a:ext cx="227013" cy="163513"/>
              </a:xfrm>
              <a:custGeom>
                <a:avLst/>
                <a:gdLst>
                  <a:gd name="T0" fmla="*/ 2147483647 w 541"/>
                  <a:gd name="T1" fmla="*/ 2147483647 h 390"/>
                  <a:gd name="T2" fmla="*/ 2147483647 w 541"/>
                  <a:gd name="T3" fmla="*/ 2147483647 h 390"/>
                  <a:gd name="T4" fmla="*/ 2147483647 w 541"/>
                  <a:gd name="T5" fmla="*/ 2147483647 h 390"/>
                  <a:gd name="T6" fmla="*/ 2147483647 w 541"/>
                  <a:gd name="T7" fmla="*/ 2147483647 h 390"/>
                  <a:gd name="T8" fmla="*/ 2147483647 w 541"/>
                  <a:gd name="T9" fmla="*/ 2147483647 h 390"/>
                  <a:gd name="T10" fmla="*/ 2147483647 w 541"/>
                  <a:gd name="T11" fmla="*/ 2147483647 h 390"/>
                  <a:gd name="T12" fmla="*/ 0 w 541"/>
                  <a:gd name="T13" fmla="*/ 2147483647 h 390"/>
                  <a:gd name="T14" fmla="*/ 0 w 541"/>
                  <a:gd name="T15" fmla="*/ 2147483647 h 390"/>
                  <a:gd name="T16" fmla="*/ 2147483647 w 541"/>
                  <a:gd name="T17" fmla="*/ 2147483647 h 390"/>
                  <a:gd name="T18" fmla="*/ 2147483647 w 541"/>
                  <a:gd name="T19" fmla="*/ 0 h 390"/>
                  <a:gd name="T20" fmla="*/ 0 w 541"/>
                  <a:gd name="T21" fmla="*/ 0 h 390"/>
                  <a:gd name="T22" fmla="*/ 0 w 541"/>
                  <a:gd name="T23" fmla="*/ 2147483647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1"/>
                  <a:gd name="T37" fmla="*/ 0 h 390"/>
                  <a:gd name="T38" fmla="*/ 541 w 541"/>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1" h="390">
                    <a:moveTo>
                      <a:pt x="53" y="54"/>
                    </a:moveTo>
                    <a:lnTo>
                      <a:pt x="53" y="54"/>
                    </a:lnTo>
                    <a:lnTo>
                      <a:pt x="488" y="54"/>
                    </a:lnTo>
                    <a:lnTo>
                      <a:pt x="488" y="336"/>
                    </a:lnTo>
                    <a:lnTo>
                      <a:pt x="53" y="336"/>
                    </a:lnTo>
                    <a:lnTo>
                      <a:pt x="53" y="54"/>
                    </a:lnTo>
                    <a:close/>
                    <a:moveTo>
                      <a:pt x="0" y="390"/>
                    </a:moveTo>
                    <a:lnTo>
                      <a:pt x="0" y="390"/>
                    </a:lnTo>
                    <a:lnTo>
                      <a:pt x="541" y="390"/>
                    </a:lnTo>
                    <a:lnTo>
                      <a:pt x="541" y="0"/>
                    </a:lnTo>
                    <a:lnTo>
                      <a:pt x="0" y="0"/>
                    </a:lnTo>
                    <a:lnTo>
                      <a:pt x="0" y="39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Freeform 168"/>
              <p:cNvSpPr>
                <a:spLocks noEditPoints="1"/>
              </p:cNvSpPr>
              <p:nvPr/>
            </p:nvSpPr>
            <p:spPr bwMode="gray">
              <a:xfrm>
                <a:off x="88106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8" y="336"/>
                    </a:moveTo>
                    <a:lnTo>
                      <a:pt x="488" y="336"/>
                    </a:lnTo>
                    <a:lnTo>
                      <a:pt x="54" y="336"/>
                    </a:lnTo>
                    <a:lnTo>
                      <a:pt x="54" y="54"/>
                    </a:lnTo>
                    <a:lnTo>
                      <a:pt x="488" y="54"/>
                    </a:lnTo>
                    <a:lnTo>
                      <a:pt x="488"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Freeform 169"/>
              <p:cNvSpPr>
                <a:spLocks noEditPoints="1"/>
              </p:cNvSpPr>
              <p:nvPr/>
            </p:nvSpPr>
            <p:spPr bwMode="gray">
              <a:xfrm>
                <a:off x="112871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9" y="336"/>
                    </a:moveTo>
                    <a:lnTo>
                      <a:pt x="489" y="336"/>
                    </a:lnTo>
                    <a:lnTo>
                      <a:pt x="54" y="336"/>
                    </a:lnTo>
                    <a:lnTo>
                      <a:pt x="54" y="54"/>
                    </a:lnTo>
                    <a:lnTo>
                      <a:pt x="489" y="54"/>
                    </a:lnTo>
                    <a:lnTo>
                      <a:pt x="489"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Freeform 170"/>
              <p:cNvSpPr>
                <a:spLocks noEditPoints="1"/>
              </p:cNvSpPr>
              <p:nvPr/>
            </p:nvSpPr>
            <p:spPr bwMode="gray">
              <a:xfrm>
                <a:off x="512763" y="3792538"/>
                <a:ext cx="963613" cy="488950"/>
              </a:xfrm>
              <a:custGeom>
                <a:avLst/>
                <a:gdLst>
                  <a:gd name="T0" fmla="*/ 2147483647 w 2298"/>
                  <a:gd name="T1" fmla="*/ 2147483647 h 1165"/>
                  <a:gd name="T2" fmla="*/ 2147483647 w 2298"/>
                  <a:gd name="T3" fmla="*/ 2147483647 h 1165"/>
                  <a:gd name="T4" fmla="*/ 2147483647 w 2298"/>
                  <a:gd name="T5" fmla="*/ 2147483647 h 1165"/>
                  <a:gd name="T6" fmla="*/ 2147483647 w 2298"/>
                  <a:gd name="T7" fmla="*/ 2147483647 h 1165"/>
                  <a:gd name="T8" fmla="*/ 2147483647 w 2298"/>
                  <a:gd name="T9" fmla="*/ 2147483647 h 1165"/>
                  <a:gd name="T10" fmla="*/ 2147483647 w 2298"/>
                  <a:gd name="T11" fmla="*/ 2147483647 h 1165"/>
                  <a:gd name="T12" fmla="*/ 2147483647 w 2298"/>
                  <a:gd name="T13" fmla="*/ 2147483647 h 1165"/>
                  <a:gd name="T14" fmla="*/ 2147483647 w 2298"/>
                  <a:gd name="T15" fmla="*/ 2147483647 h 1165"/>
                  <a:gd name="T16" fmla="*/ 2147483647 w 2298"/>
                  <a:gd name="T17" fmla="*/ 2147483647 h 1165"/>
                  <a:gd name="T18" fmla="*/ 2147483647 w 2298"/>
                  <a:gd name="T19" fmla="*/ 2147483647 h 1165"/>
                  <a:gd name="T20" fmla="*/ 2147483647 w 2298"/>
                  <a:gd name="T21" fmla="*/ 2147483647 h 1165"/>
                  <a:gd name="T22" fmla="*/ 2147483647 w 2298"/>
                  <a:gd name="T23" fmla="*/ 2147483647 h 1165"/>
                  <a:gd name="T24" fmla="*/ 2147483647 w 2298"/>
                  <a:gd name="T25" fmla="*/ 2147483647 h 1165"/>
                  <a:gd name="T26" fmla="*/ 2147483647 w 2298"/>
                  <a:gd name="T27" fmla="*/ 2147483647 h 1165"/>
                  <a:gd name="T28" fmla="*/ 2147483647 w 2298"/>
                  <a:gd name="T29" fmla="*/ 2147483647 h 1165"/>
                  <a:gd name="T30" fmla="*/ 2147483647 w 2298"/>
                  <a:gd name="T31" fmla="*/ 2147483647 h 1165"/>
                  <a:gd name="T32" fmla="*/ 2147483647 w 2298"/>
                  <a:gd name="T33" fmla="*/ 2147483647 h 1165"/>
                  <a:gd name="T34" fmla="*/ 2147483647 w 2298"/>
                  <a:gd name="T35" fmla="*/ 2147483647 h 1165"/>
                  <a:gd name="T36" fmla="*/ 2147483647 w 2298"/>
                  <a:gd name="T37" fmla="*/ 2147483647 h 1165"/>
                  <a:gd name="T38" fmla="*/ 2147483647 w 2298"/>
                  <a:gd name="T39" fmla="*/ 2147483647 h 1165"/>
                  <a:gd name="T40" fmla="*/ 2147483647 w 2298"/>
                  <a:gd name="T41" fmla="*/ 2147483647 h 1165"/>
                  <a:gd name="T42" fmla="*/ 2147483647 w 2298"/>
                  <a:gd name="T43" fmla="*/ 2147483647 h 1165"/>
                  <a:gd name="T44" fmla="*/ 2147483647 w 2298"/>
                  <a:gd name="T45" fmla="*/ 2147483647 h 1165"/>
                  <a:gd name="T46" fmla="*/ 2147483647 w 2298"/>
                  <a:gd name="T47" fmla="*/ 2147483647 h 1165"/>
                  <a:gd name="T48" fmla="*/ 2147483647 w 2298"/>
                  <a:gd name="T49" fmla="*/ 2147483647 h 1165"/>
                  <a:gd name="T50" fmla="*/ 2147483647 w 2298"/>
                  <a:gd name="T51" fmla="*/ 2147483647 h 1165"/>
                  <a:gd name="T52" fmla="*/ 2147483647 w 2298"/>
                  <a:gd name="T53" fmla="*/ 2147483647 h 1165"/>
                  <a:gd name="T54" fmla="*/ 2147483647 w 2298"/>
                  <a:gd name="T55" fmla="*/ 2147483647 h 1165"/>
                  <a:gd name="T56" fmla="*/ 2147483647 w 2298"/>
                  <a:gd name="T57" fmla="*/ 2147483647 h 1165"/>
                  <a:gd name="T58" fmla="*/ 2147483647 w 2298"/>
                  <a:gd name="T59" fmla="*/ 2147483647 h 1165"/>
                  <a:gd name="T60" fmla="*/ 2147483647 w 2298"/>
                  <a:gd name="T61" fmla="*/ 2147483647 h 1165"/>
                  <a:gd name="T62" fmla="*/ 2147483647 w 2298"/>
                  <a:gd name="T63" fmla="*/ 2147483647 h 1165"/>
                  <a:gd name="T64" fmla="*/ 2147483647 w 2298"/>
                  <a:gd name="T65" fmla="*/ 2147483647 h 1165"/>
                  <a:gd name="T66" fmla="*/ 2147483647 w 2298"/>
                  <a:gd name="T67" fmla="*/ 0 h 1165"/>
                  <a:gd name="T68" fmla="*/ 2147483647 w 2298"/>
                  <a:gd name="T69" fmla="*/ 2147483647 h 1165"/>
                  <a:gd name="T70" fmla="*/ 2147483647 w 2298"/>
                  <a:gd name="T71" fmla="*/ 2147483647 h 1165"/>
                  <a:gd name="T72" fmla="*/ 2147483647 w 2298"/>
                  <a:gd name="T73" fmla="*/ 2147483647 h 1165"/>
                  <a:gd name="T74" fmla="*/ 2147483647 w 2298"/>
                  <a:gd name="T75" fmla="*/ 2147483647 h 1165"/>
                  <a:gd name="T76" fmla="*/ 2147483647 w 2298"/>
                  <a:gd name="T77" fmla="*/ 2147483647 h 1165"/>
                  <a:gd name="T78" fmla="*/ 2147483647 w 2298"/>
                  <a:gd name="T79" fmla="*/ 2147483647 h 1165"/>
                  <a:gd name="T80" fmla="*/ 2147483647 w 2298"/>
                  <a:gd name="T81" fmla="*/ 2147483647 h 1165"/>
                  <a:gd name="T82" fmla="*/ 2147483647 w 2298"/>
                  <a:gd name="T83" fmla="*/ 2147483647 h 1165"/>
                  <a:gd name="T84" fmla="*/ 2147483647 w 2298"/>
                  <a:gd name="T85" fmla="*/ 2147483647 h 1165"/>
                  <a:gd name="T86" fmla="*/ 2147483647 w 2298"/>
                  <a:gd name="T87" fmla="*/ 2147483647 h 1165"/>
                  <a:gd name="T88" fmla="*/ 2147483647 w 2298"/>
                  <a:gd name="T89" fmla="*/ 2147483647 h 1165"/>
                  <a:gd name="T90" fmla="*/ 2147483647 w 2298"/>
                  <a:gd name="T91" fmla="*/ 2147483647 h 1165"/>
                  <a:gd name="T92" fmla="*/ 2147483647 w 2298"/>
                  <a:gd name="T93" fmla="*/ 2147483647 h 1165"/>
                  <a:gd name="T94" fmla="*/ 2147483647 w 2298"/>
                  <a:gd name="T95" fmla="*/ 2147483647 h 1165"/>
                  <a:gd name="T96" fmla="*/ 2147483647 w 2298"/>
                  <a:gd name="T97" fmla="*/ 2147483647 h 1165"/>
                  <a:gd name="T98" fmla="*/ 2147483647 w 2298"/>
                  <a:gd name="T99" fmla="*/ 2147483647 h 1165"/>
                  <a:gd name="T100" fmla="*/ 2147483647 w 2298"/>
                  <a:gd name="T101" fmla="*/ 2147483647 h 1165"/>
                  <a:gd name="T102" fmla="*/ 2147483647 w 2298"/>
                  <a:gd name="T103" fmla="*/ 2147483647 h 1165"/>
                  <a:gd name="T104" fmla="*/ 2147483647 w 2298"/>
                  <a:gd name="T105" fmla="*/ 2147483647 h 1165"/>
                  <a:gd name="T106" fmla="*/ 2147483647 w 2298"/>
                  <a:gd name="T107" fmla="*/ 2147483647 h 116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98"/>
                  <a:gd name="T163" fmla="*/ 0 h 1165"/>
                  <a:gd name="T164" fmla="*/ 2298 w 2298"/>
                  <a:gd name="T165" fmla="*/ 1165 h 116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98" h="1165">
                    <a:moveTo>
                      <a:pt x="1149" y="819"/>
                    </a:moveTo>
                    <a:lnTo>
                      <a:pt x="1149" y="819"/>
                    </a:lnTo>
                    <a:cubicBezTo>
                      <a:pt x="637" y="819"/>
                      <a:pt x="294" y="719"/>
                      <a:pt x="141" y="662"/>
                    </a:cubicBezTo>
                    <a:lnTo>
                      <a:pt x="312" y="621"/>
                    </a:lnTo>
                    <a:cubicBezTo>
                      <a:pt x="512" y="682"/>
                      <a:pt x="796" y="702"/>
                      <a:pt x="981" y="709"/>
                    </a:cubicBezTo>
                    <a:cubicBezTo>
                      <a:pt x="993" y="731"/>
                      <a:pt x="1016" y="747"/>
                      <a:pt x="1042" y="747"/>
                    </a:cubicBezTo>
                    <a:cubicBezTo>
                      <a:pt x="1081" y="747"/>
                      <a:pt x="1112" y="716"/>
                      <a:pt x="1112" y="677"/>
                    </a:cubicBezTo>
                    <a:cubicBezTo>
                      <a:pt x="1112" y="639"/>
                      <a:pt x="1081" y="608"/>
                      <a:pt x="1042" y="608"/>
                    </a:cubicBezTo>
                    <a:cubicBezTo>
                      <a:pt x="1017" y="608"/>
                      <a:pt x="995" y="622"/>
                      <a:pt x="983" y="643"/>
                    </a:cubicBezTo>
                    <a:cubicBezTo>
                      <a:pt x="798" y="636"/>
                      <a:pt x="516" y="615"/>
                      <a:pt x="323" y="555"/>
                    </a:cubicBezTo>
                    <a:cubicBezTo>
                      <a:pt x="317" y="553"/>
                      <a:pt x="311" y="553"/>
                      <a:pt x="305" y="554"/>
                    </a:cubicBezTo>
                    <a:lnTo>
                      <a:pt x="240" y="570"/>
                    </a:lnTo>
                    <a:lnTo>
                      <a:pt x="240" y="111"/>
                    </a:lnTo>
                    <a:cubicBezTo>
                      <a:pt x="240" y="87"/>
                      <a:pt x="260" y="66"/>
                      <a:pt x="285" y="66"/>
                    </a:cubicBezTo>
                    <a:lnTo>
                      <a:pt x="2013" y="66"/>
                    </a:lnTo>
                    <a:cubicBezTo>
                      <a:pt x="2038" y="66"/>
                      <a:pt x="2058" y="87"/>
                      <a:pt x="2058" y="111"/>
                    </a:cubicBezTo>
                    <a:lnTo>
                      <a:pt x="2058" y="570"/>
                    </a:lnTo>
                    <a:lnTo>
                      <a:pt x="1993" y="554"/>
                    </a:lnTo>
                    <a:cubicBezTo>
                      <a:pt x="1987" y="553"/>
                      <a:pt x="1981" y="553"/>
                      <a:pt x="1975" y="555"/>
                    </a:cubicBezTo>
                    <a:cubicBezTo>
                      <a:pt x="1781" y="615"/>
                      <a:pt x="1498" y="636"/>
                      <a:pt x="1315" y="643"/>
                    </a:cubicBezTo>
                    <a:cubicBezTo>
                      <a:pt x="1303" y="622"/>
                      <a:pt x="1281" y="608"/>
                      <a:pt x="1255" y="608"/>
                    </a:cubicBezTo>
                    <a:cubicBezTo>
                      <a:pt x="1217" y="608"/>
                      <a:pt x="1186" y="639"/>
                      <a:pt x="1186" y="677"/>
                    </a:cubicBezTo>
                    <a:cubicBezTo>
                      <a:pt x="1186" y="716"/>
                      <a:pt x="1217" y="747"/>
                      <a:pt x="1255" y="747"/>
                    </a:cubicBezTo>
                    <a:cubicBezTo>
                      <a:pt x="1282" y="747"/>
                      <a:pt x="1305" y="731"/>
                      <a:pt x="1317" y="709"/>
                    </a:cubicBezTo>
                    <a:cubicBezTo>
                      <a:pt x="1501" y="702"/>
                      <a:pt x="1785" y="682"/>
                      <a:pt x="1986" y="621"/>
                    </a:cubicBezTo>
                    <a:lnTo>
                      <a:pt x="2157" y="662"/>
                    </a:lnTo>
                    <a:cubicBezTo>
                      <a:pt x="2004" y="719"/>
                      <a:pt x="1662" y="819"/>
                      <a:pt x="1149" y="819"/>
                    </a:cubicBezTo>
                    <a:close/>
                    <a:moveTo>
                      <a:pt x="1976" y="901"/>
                    </a:moveTo>
                    <a:lnTo>
                      <a:pt x="1976" y="901"/>
                    </a:lnTo>
                    <a:cubicBezTo>
                      <a:pt x="1976" y="918"/>
                      <a:pt x="1963" y="931"/>
                      <a:pt x="1947" y="932"/>
                    </a:cubicBezTo>
                    <a:lnTo>
                      <a:pt x="1767" y="907"/>
                    </a:lnTo>
                    <a:cubicBezTo>
                      <a:pt x="1743" y="902"/>
                      <a:pt x="1730" y="891"/>
                      <a:pt x="1730" y="876"/>
                    </a:cubicBezTo>
                    <a:lnTo>
                      <a:pt x="1730" y="841"/>
                    </a:lnTo>
                    <a:cubicBezTo>
                      <a:pt x="1824" y="825"/>
                      <a:pt x="1906" y="807"/>
                      <a:pt x="1976" y="789"/>
                    </a:cubicBezTo>
                    <a:lnTo>
                      <a:pt x="1976" y="901"/>
                    </a:lnTo>
                    <a:close/>
                    <a:moveTo>
                      <a:pt x="1463" y="1079"/>
                    </a:moveTo>
                    <a:lnTo>
                      <a:pt x="1463" y="1079"/>
                    </a:lnTo>
                    <a:cubicBezTo>
                      <a:pt x="1463" y="1088"/>
                      <a:pt x="1459" y="1095"/>
                      <a:pt x="1453" y="1097"/>
                    </a:cubicBezTo>
                    <a:cubicBezTo>
                      <a:pt x="1444" y="1101"/>
                      <a:pt x="1432" y="1097"/>
                      <a:pt x="1422" y="1087"/>
                    </a:cubicBezTo>
                    <a:cubicBezTo>
                      <a:pt x="1389" y="1055"/>
                      <a:pt x="1335" y="1005"/>
                      <a:pt x="1334" y="1004"/>
                    </a:cubicBezTo>
                    <a:cubicBezTo>
                      <a:pt x="1309" y="983"/>
                      <a:pt x="1305" y="968"/>
                      <a:pt x="1305" y="942"/>
                    </a:cubicBezTo>
                    <a:lnTo>
                      <a:pt x="1305" y="883"/>
                    </a:lnTo>
                    <a:cubicBezTo>
                      <a:pt x="1360" y="881"/>
                      <a:pt x="1412" y="877"/>
                      <a:pt x="1463" y="873"/>
                    </a:cubicBezTo>
                    <a:lnTo>
                      <a:pt x="1463" y="1079"/>
                    </a:lnTo>
                    <a:close/>
                    <a:moveTo>
                      <a:pt x="993" y="942"/>
                    </a:moveTo>
                    <a:lnTo>
                      <a:pt x="993" y="942"/>
                    </a:lnTo>
                    <a:cubicBezTo>
                      <a:pt x="993" y="968"/>
                      <a:pt x="989" y="983"/>
                      <a:pt x="963" y="1005"/>
                    </a:cubicBezTo>
                    <a:cubicBezTo>
                      <a:pt x="963" y="1005"/>
                      <a:pt x="909" y="1055"/>
                      <a:pt x="876" y="1087"/>
                    </a:cubicBezTo>
                    <a:cubicBezTo>
                      <a:pt x="865" y="1097"/>
                      <a:pt x="854" y="1101"/>
                      <a:pt x="845" y="1097"/>
                    </a:cubicBezTo>
                    <a:cubicBezTo>
                      <a:pt x="839" y="1095"/>
                      <a:pt x="835" y="1088"/>
                      <a:pt x="835" y="1079"/>
                    </a:cubicBezTo>
                    <a:lnTo>
                      <a:pt x="835" y="873"/>
                    </a:lnTo>
                    <a:cubicBezTo>
                      <a:pt x="886" y="877"/>
                      <a:pt x="938" y="880"/>
                      <a:pt x="993" y="883"/>
                    </a:cubicBezTo>
                    <a:lnTo>
                      <a:pt x="993" y="942"/>
                    </a:lnTo>
                    <a:close/>
                    <a:moveTo>
                      <a:pt x="567" y="876"/>
                    </a:moveTo>
                    <a:lnTo>
                      <a:pt x="567" y="876"/>
                    </a:lnTo>
                    <a:cubicBezTo>
                      <a:pt x="567" y="891"/>
                      <a:pt x="555" y="902"/>
                      <a:pt x="531" y="907"/>
                    </a:cubicBezTo>
                    <a:lnTo>
                      <a:pt x="351" y="932"/>
                    </a:lnTo>
                    <a:cubicBezTo>
                      <a:pt x="335" y="931"/>
                      <a:pt x="322" y="918"/>
                      <a:pt x="322" y="901"/>
                    </a:cubicBezTo>
                    <a:lnTo>
                      <a:pt x="322" y="789"/>
                    </a:lnTo>
                    <a:cubicBezTo>
                      <a:pt x="392" y="807"/>
                      <a:pt x="474" y="825"/>
                      <a:pt x="567" y="841"/>
                    </a:cubicBezTo>
                    <a:lnTo>
                      <a:pt x="567" y="876"/>
                    </a:lnTo>
                    <a:close/>
                    <a:moveTo>
                      <a:pt x="2297" y="650"/>
                    </a:moveTo>
                    <a:lnTo>
                      <a:pt x="2297" y="650"/>
                    </a:lnTo>
                    <a:cubicBezTo>
                      <a:pt x="2295" y="636"/>
                      <a:pt x="2285" y="625"/>
                      <a:pt x="2271" y="621"/>
                    </a:cubicBezTo>
                    <a:lnTo>
                      <a:pt x="2125" y="586"/>
                    </a:lnTo>
                    <a:lnTo>
                      <a:pt x="2125" y="111"/>
                    </a:lnTo>
                    <a:cubicBezTo>
                      <a:pt x="2125" y="50"/>
                      <a:pt x="2075" y="0"/>
                      <a:pt x="2013" y="0"/>
                    </a:cubicBezTo>
                    <a:lnTo>
                      <a:pt x="285" y="0"/>
                    </a:lnTo>
                    <a:cubicBezTo>
                      <a:pt x="223" y="0"/>
                      <a:pt x="173" y="50"/>
                      <a:pt x="173" y="111"/>
                    </a:cubicBezTo>
                    <a:lnTo>
                      <a:pt x="173" y="586"/>
                    </a:lnTo>
                    <a:lnTo>
                      <a:pt x="27" y="621"/>
                    </a:lnTo>
                    <a:cubicBezTo>
                      <a:pt x="13" y="625"/>
                      <a:pt x="3" y="636"/>
                      <a:pt x="1" y="650"/>
                    </a:cubicBezTo>
                    <a:cubicBezTo>
                      <a:pt x="0" y="664"/>
                      <a:pt x="7" y="677"/>
                      <a:pt x="19" y="683"/>
                    </a:cubicBezTo>
                    <a:cubicBezTo>
                      <a:pt x="26" y="687"/>
                      <a:pt x="106" y="727"/>
                      <a:pt x="256" y="771"/>
                    </a:cubicBezTo>
                    <a:lnTo>
                      <a:pt x="256" y="901"/>
                    </a:lnTo>
                    <a:cubicBezTo>
                      <a:pt x="256" y="955"/>
                      <a:pt x="299" y="999"/>
                      <a:pt x="353" y="999"/>
                    </a:cubicBezTo>
                    <a:lnTo>
                      <a:pt x="355" y="999"/>
                    </a:lnTo>
                    <a:lnTo>
                      <a:pt x="541" y="973"/>
                    </a:lnTo>
                    <a:lnTo>
                      <a:pt x="543" y="972"/>
                    </a:lnTo>
                    <a:cubicBezTo>
                      <a:pt x="599" y="961"/>
                      <a:pt x="634" y="924"/>
                      <a:pt x="634" y="876"/>
                    </a:cubicBezTo>
                    <a:lnTo>
                      <a:pt x="634" y="851"/>
                    </a:lnTo>
                    <a:cubicBezTo>
                      <a:pt x="677" y="857"/>
                      <a:pt x="722" y="862"/>
                      <a:pt x="769" y="867"/>
                    </a:cubicBezTo>
                    <a:lnTo>
                      <a:pt x="769" y="1079"/>
                    </a:lnTo>
                    <a:cubicBezTo>
                      <a:pt x="769" y="1115"/>
                      <a:pt x="788" y="1146"/>
                      <a:pt x="819" y="1159"/>
                    </a:cubicBezTo>
                    <a:cubicBezTo>
                      <a:pt x="830" y="1163"/>
                      <a:pt x="840" y="1165"/>
                      <a:pt x="852" y="1165"/>
                    </a:cubicBezTo>
                    <a:cubicBezTo>
                      <a:pt x="876" y="1165"/>
                      <a:pt x="902" y="1155"/>
                      <a:pt x="922" y="1135"/>
                    </a:cubicBezTo>
                    <a:cubicBezTo>
                      <a:pt x="955" y="1103"/>
                      <a:pt x="1008" y="1055"/>
                      <a:pt x="1008" y="1055"/>
                    </a:cubicBezTo>
                    <a:cubicBezTo>
                      <a:pt x="1045" y="1023"/>
                      <a:pt x="1060" y="990"/>
                      <a:pt x="1060" y="942"/>
                    </a:cubicBezTo>
                    <a:lnTo>
                      <a:pt x="1060" y="885"/>
                    </a:lnTo>
                    <a:cubicBezTo>
                      <a:pt x="1089" y="885"/>
                      <a:pt x="1119" y="886"/>
                      <a:pt x="1149" y="886"/>
                    </a:cubicBezTo>
                    <a:cubicBezTo>
                      <a:pt x="1179" y="886"/>
                      <a:pt x="1209" y="885"/>
                      <a:pt x="1238" y="885"/>
                    </a:cubicBezTo>
                    <a:lnTo>
                      <a:pt x="1238" y="942"/>
                    </a:lnTo>
                    <a:cubicBezTo>
                      <a:pt x="1238" y="990"/>
                      <a:pt x="1253" y="1023"/>
                      <a:pt x="1289" y="1054"/>
                    </a:cubicBezTo>
                    <a:cubicBezTo>
                      <a:pt x="1290" y="1054"/>
                      <a:pt x="1343" y="1103"/>
                      <a:pt x="1375" y="1135"/>
                    </a:cubicBezTo>
                    <a:cubicBezTo>
                      <a:pt x="1396" y="1155"/>
                      <a:pt x="1422" y="1165"/>
                      <a:pt x="1446" y="1165"/>
                    </a:cubicBezTo>
                    <a:cubicBezTo>
                      <a:pt x="1457" y="1165"/>
                      <a:pt x="1468" y="1163"/>
                      <a:pt x="1479" y="1159"/>
                    </a:cubicBezTo>
                    <a:cubicBezTo>
                      <a:pt x="1510" y="1146"/>
                      <a:pt x="1529" y="1115"/>
                      <a:pt x="1529" y="1079"/>
                    </a:cubicBezTo>
                    <a:lnTo>
                      <a:pt x="1529" y="867"/>
                    </a:lnTo>
                    <a:cubicBezTo>
                      <a:pt x="1576" y="862"/>
                      <a:pt x="1621" y="857"/>
                      <a:pt x="1664" y="851"/>
                    </a:cubicBezTo>
                    <a:lnTo>
                      <a:pt x="1664" y="876"/>
                    </a:lnTo>
                    <a:cubicBezTo>
                      <a:pt x="1664" y="924"/>
                      <a:pt x="1699" y="961"/>
                      <a:pt x="1755" y="972"/>
                    </a:cubicBezTo>
                    <a:lnTo>
                      <a:pt x="1940" y="998"/>
                    </a:lnTo>
                    <a:lnTo>
                      <a:pt x="1945" y="999"/>
                    </a:lnTo>
                    <a:cubicBezTo>
                      <a:pt x="1999" y="999"/>
                      <a:pt x="2042" y="955"/>
                      <a:pt x="2042" y="901"/>
                    </a:cubicBezTo>
                    <a:lnTo>
                      <a:pt x="2042" y="771"/>
                    </a:lnTo>
                    <a:cubicBezTo>
                      <a:pt x="2192" y="727"/>
                      <a:pt x="2272" y="687"/>
                      <a:pt x="2279" y="683"/>
                    </a:cubicBezTo>
                    <a:cubicBezTo>
                      <a:pt x="2291" y="677"/>
                      <a:pt x="2298" y="664"/>
                      <a:pt x="2297" y="65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19" name="文本框 118"/>
          <p:cNvSpPr txBox="1"/>
          <p:nvPr/>
        </p:nvSpPr>
        <p:spPr bwMode="gray">
          <a:xfrm>
            <a:off x="8684923" y="5878423"/>
            <a:ext cx="492443" cy="276999"/>
          </a:xfrm>
          <a:prstGeom prst="rect">
            <a:avLst/>
          </a:prstGeom>
          <a:noFill/>
        </p:spPr>
        <p:txBody>
          <a:bodyPr wrap="non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视讯</a:t>
            </a:r>
          </a:p>
        </p:txBody>
      </p:sp>
      <p:grpSp>
        <p:nvGrpSpPr>
          <p:cNvPr id="120" name="组合 247"/>
          <p:cNvGrpSpPr>
            <a:grpSpLocks/>
          </p:cNvGrpSpPr>
          <p:nvPr/>
        </p:nvGrpSpPr>
        <p:grpSpPr bwMode="gray">
          <a:xfrm>
            <a:off x="10548710" y="5373437"/>
            <a:ext cx="504879" cy="504879"/>
            <a:chOff x="7069138" y="3554413"/>
            <a:chExt cx="1114425" cy="1117600"/>
          </a:xfrm>
        </p:grpSpPr>
        <p:sp>
          <p:nvSpPr>
            <p:cNvPr id="121" name="Freeform 35"/>
            <p:cNvSpPr>
              <a:spLocks/>
            </p:cNvSpPr>
            <p:nvPr/>
          </p:nvSpPr>
          <p:spPr bwMode="gray">
            <a:xfrm>
              <a:off x="7069138" y="3554413"/>
              <a:ext cx="1114425" cy="1117600"/>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29"/>
                  </a:moveTo>
                  <a:lnTo>
                    <a:pt x="2658" y="1329"/>
                  </a:lnTo>
                  <a:cubicBezTo>
                    <a:pt x="2658" y="2064"/>
                    <a:pt x="2063" y="2659"/>
                    <a:pt x="1329" y="2659"/>
                  </a:cubicBezTo>
                  <a:cubicBezTo>
                    <a:pt x="595" y="2659"/>
                    <a:pt x="0" y="2064"/>
                    <a:pt x="0" y="1329"/>
                  </a:cubicBezTo>
                  <a:cubicBezTo>
                    <a:pt x="0" y="595"/>
                    <a:pt x="595" y="0"/>
                    <a:pt x="1329" y="0"/>
                  </a:cubicBezTo>
                  <a:cubicBezTo>
                    <a:pt x="2063" y="0"/>
                    <a:pt x="2658" y="595"/>
                    <a:pt x="2658" y="1329"/>
                  </a:cubicBezTo>
                  <a:close/>
                </a:path>
              </a:pathLst>
            </a:custGeom>
            <a:solidFill>
              <a:srgbClr val="8BC9A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2" name="组合 233"/>
            <p:cNvGrpSpPr>
              <a:grpSpLocks/>
            </p:cNvGrpSpPr>
            <p:nvPr/>
          </p:nvGrpSpPr>
          <p:grpSpPr bwMode="gray">
            <a:xfrm>
              <a:off x="7288213" y="3895726"/>
              <a:ext cx="674687" cy="434975"/>
              <a:chOff x="7288213" y="3895726"/>
              <a:chExt cx="674687" cy="434975"/>
            </a:xfrm>
          </p:grpSpPr>
          <p:sp>
            <p:nvSpPr>
              <p:cNvPr id="123" name="Freeform 219"/>
              <p:cNvSpPr>
                <a:spLocks noEditPoints="1"/>
              </p:cNvSpPr>
              <p:nvPr/>
            </p:nvSpPr>
            <p:spPr bwMode="gray">
              <a:xfrm>
                <a:off x="7288213" y="3895726"/>
                <a:ext cx="623888" cy="419100"/>
              </a:xfrm>
              <a:custGeom>
                <a:avLst/>
                <a:gdLst>
                  <a:gd name="T0" fmla="*/ 2147483647 w 1486"/>
                  <a:gd name="T1" fmla="*/ 2147483647 h 997"/>
                  <a:gd name="T2" fmla="*/ 2147483647 w 1486"/>
                  <a:gd name="T3" fmla="*/ 2147483647 h 997"/>
                  <a:gd name="T4" fmla="*/ 2147483647 w 1486"/>
                  <a:gd name="T5" fmla="*/ 2147483647 h 997"/>
                  <a:gd name="T6" fmla="*/ 2147483647 w 1486"/>
                  <a:gd name="T7" fmla="*/ 2147483647 h 997"/>
                  <a:gd name="T8" fmla="*/ 2147483647 w 1486"/>
                  <a:gd name="T9" fmla="*/ 2147483647 h 997"/>
                  <a:gd name="T10" fmla="*/ 2147483647 w 1486"/>
                  <a:gd name="T11" fmla="*/ 2147483647 h 997"/>
                  <a:gd name="T12" fmla="*/ 2147483647 w 1486"/>
                  <a:gd name="T13" fmla="*/ 2147483647 h 997"/>
                  <a:gd name="T14" fmla="*/ 2147483647 w 1486"/>
                  <a:gd name="T15" fmla="*/ 2147483647 h 997"/>
                  <a:gd name="T16" fmla="*/ 2147483647 w 1486"/>
                  <a:gd name="T17" fmla="*/ 2147483647 h 997"/>
                  <a:gd name="T18" fmla="*/ 2147483647 w 1486"/>
                  <a:gd name="T19" fmla="*/ 2147483647 h 997"/>
                  <a:gd name="T20" fmla="*/ 2147483647 w 1486"/>
                  <a:gd name="T21" fmla="*/ 2147483647 h 997"/>
                  <a:gd name="T22" fmla="*/ 2147483647 w 1486"/>
                  <a:gd name="T23" fmla="*/ 2147483647 h 997"/>
                  <a:gd name="T24" fmla="*/ 2147483647 w 1486"/>
                  <a:gd name="T25" fmla="*/ 2147483647 h 997"/>
                  <a:gd name="T26" fmla="*/ 2147483647 w 1486"/>
                  <a:gd name="T27" fmla="*/ 2147483647 h 997"/>
                  <a:gd name="T28" fmla="*/ 2147483647 w 1486"/>
                  <a:gd name="T29" fmla="*/ 2147483647 h 997"/>
                  <a:gd name="T30" fmla="*/ 2147483647 w 1486"/>
                  <a:gd name="T31" fmla="*/ 2147483647 h 997"/>
                  <a:gd name="T32" fmla="*/ 2147483647 w 1486"/>
                  <a:gd name="T33" fmla="*/ 2147483647 h 997"/>
                  <a:gd name="T34" fmla="*/ 2147483647 w 1486"/>
                  <a:gd name="T35" fmla="*/ 2147483647 h 997"/>
                  <a:gd name="T36" fmla="*/ 2147483647 w 1486"/>
                  <a:gd name="T37" fmla="*/ 2147483647 h 997"/>
                  <a:gd name="T38" fmla="*/ 2147483647 w 1486"/>
                  <a:gd name="T39" fmla="*/ 2147483647 h 997"/>
                  <a:gd name="T40" fmla="*/ 2147483647 w 1486"/>
                  <a:gd name="T41" fmla="*/ 2147483647 h 997"/>
                  <a:gd name="T42" fmla="*/ 2147483647 w 1486"/>
                  <a:gd name="T43" fmla="*/ 2147483647 h 997"/>
                  <a:gd name="T44" fmla="*/ 2147483647 w 1486"/>
                  <a:gd name="T45" fmla="*/ 2147483647 h 997"/>
                  <a:gd name="T46" fmla="*/ 2147483647 w 1486"/>
                  <a:gd name="T47" fmla="*/ 2147483647 h 997"/>
                  <a:gd name="T48" fmla="*/ 2147483647 w 1486"/>
                  <a:gd name="T49" fmla="*/ 222822901 h 997"/>
                  <a:gd name="T50" fmla="*/ 2146073538 w 1486"/>
                  <a:gd name="T51" fmla="*/ 2147483647 h 997"/>
                  <a:gd name="T52" fmla="*/ 1406097026 w 1486"/>
                  <a:gd name="T53" fmla="*/ 2147483647 h 997"/>
                  <a:gd name="T54" fmla="*/ 2147483647 w 1486"/>
                  <a:gd name="T55" fmla="*/ 2147483647 h 997"/>
                  <a:gd name="T56" fmla="*/ 2147483647 w 1486"/>
                  <a:gd name="T57" fmla="*/ 2147483647 h 997"/>
                  <a:gd name="T58" fmla="*/ 2147483647 w 1486"/>
                  <a:gd name="T59" fmla="*/ 2147483647 h 997"/>
                  <a:gd name="T60" fmla="*/ 2147483647 w 1486"/>
                  <a:gd name="T61" fmla="*/ 2147483647 h 997"/>
                  <a:gd name="T62" fmla="*/ 2147483647 w 1486"/>
                  <a:gd name="T63" fmla="*/ 2147483647 h 997"/>
                  <a:gd name="T64" fmla="*/ 2147483647 w 1486"/>
                  <a:gd name="T65" fmla="*/ 2147483647 h 997"/>
                  <a:gd name="T66" fmla="*/ 2147483647 w 1486"/>
                  <a:gd name="T67" fmla="*/ 2147483647 h 997"/>
                  <a:gd name="T68" fmla="*/ 2147483647 w 1486"/>
                  <a:gd name="T69" fmla="*/ 2147483647 h 997"/>
                  <a:gd name="T70" fmla="*/ 2147483647 w 1486"/>
                  <a:gd name="T71" fmla="*/ 2147483647 h 9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86"/>
                  <a:gd name="T109" fmla="*/ 0 h 997"/>
                  <a:gd name="T110" fmla="*/ 1486 w 1486"/>
                  <a:gd name="T111" fmla="*/ 997 h 9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86" h="997">
                    <a:moveTo>
                      <a:pt x="1257" y="389"/>
                    </a:moveTo>
                    <a:lnTo>
                      <a:pt x="1257" y="389"/>
                    </a:lnTo>
                    <a:lnTo>
                      <a:pt x="1079" y="419"/>
                    </a:lnTo>
                    <a:lnTo>
                      <a:pt x="779" y="471"/>
                    </a:lnTo>
                    <a:lnTo>
                      <a:pt x="498" y="520"/>
                    </a:lnTo>
                    <a:cubicBezTo>
                      <a:pt x="516" y="464"/>
                      <a:pt x="504" y="396"/>
                      <a:pt x="493" y="354"/>
                    </a:cubicBezTo>
                    <a:lnTo>
                      <a:pt x="1377" y="185"/>
                    </a:lnTo>
                    <a:cubicBezTo>
                      <a:pt x="1396" y="328"/>
                      <a:pt x="1275" y="381"/>
                      <a:pt x="1257" y="389"/>
                    </a:cubicBezTo>
                    <a:close/>
                    <a:moveTo>
                      <a:pt x="935" y="739"/>
                    </a:moveTo>
                    <a:lnTo>
                      <a:pt x="935" y="739"/>
                    </a:lnTo>
                    <a:cubicBezTo>
                      <a:pt x="871" y="739"/>
                      <a:pt x="818" y="687"/>
                      <a:pt x="818" y="623"/>
                    </a:cubicBezTo>
                    <a:lnTo>
                      <a:pt x="818" y="532"/>
                    </a:lnTo>
                    <a:lnTo>
                      <a:pt x="1052" y="492"/>
                    </a:lnTo>
                    <a:lnTo>
                      <a:pt x="1052" y="623"/>
                    </a:lnTo>
                    <a:cubicBezTo>
                      <a:pt x="1052" y="687"/>
                      <a:pt x="999" y="739"/>
                      <a:pt x="935" y="739"/>
                    </a:cubicBezTo>
                    <a:close/>
                    <a:moveTo>
                      <a:pt x="305" y="515"/>
                    </a:moveTo>
                    <a:lnTo>
                      <a:pt x="305" y="515"/>
                    </a:lnTo>
                    <a:cubicBezTo>
                      <a:pt x="268" y="481"/>
                      <a:pt x="259" y="415"/>
                      <a:pt x="258" y="371"/>
                    </a:cubicBezTo>
                    <a:cubicBezTo>
                      <a:pt x="273" y="372"/>
                      <a:pt x="287" y="373"/>
                      <a:pt x="302" y="373"/>
                    </a:cubicBezTo>
                    <a:cubicBezTo>
                      <a:pt x="301" y="379"/>
                      <a:pt x="300" y="386"/>
                      <a:pt x="300" y="392"/>
                    </a:cubicBezTo>
                    <a:cubicBezTo>
                      <a:pt x="300" y="448"/>
                      <a:pt x="345" y="493"/>
                      <a:pt x="401" y="493"/>
                    </a:cubicBezTo>
                    <a:cubicBezTo>
                      <a:pt x="414" y="493"/>
                      <a:pt x="427" y="491"/>
                      <a:pt x="438" y="487"/>
                    </a:cubicBezTo>
                    <a:cubicBezTo>
                      <a:pt x="436" y="495"/>
                      <a:pt x="434" y="502"/>
                      <a:pt x="431" y="509"/>
                    </a:cubicBezTo>
                    <a:cubicBezTo>
                      <a:pt x="425" y="522"/>
                      <a:pt x="415" y="531"/>
                      <a:pt x="402" y="536"/>
                    </a:cubicBezTo>
                    <a:cubicBezTo>
                      <a:pt x="360" y="543"/>
                      <a:pt x="328" y="536"/>
                      <a:pt x="305" y="515"/>
                    </a:cubicBezTo>
                    <a:close/>
                    <a:moveTo>
                      <a:pt x="1394" y="68"/>
                    </a:moveTo>
                    <a:lnTo>
                      <a:pt x="1394" y="68"/>
                    </a:lnTo>
                    <a:cubicBezTo>
                      <a:pt x="1405" y="74"/>
                      <a:pt x="1407" y="80"/>
                      <a:pt x="1408" y="83"/>
                    </a:cubicBezTo>
                    <a:cubicBezTo>
                      <a:pt x="1411" y="91"/>
                      <a:pt x="1408" y="103"/>
                      <a:pt x="1405" y="112"/>
                    </a:cubicBezTo>
                    <a:lnTo>
                      <a:pt x="1397" y="113"/>
                    </a:lnTo>
                    <a:cubicBezTo>
                      <a:pt x="1397" y="113"/>
                      <a:pt x="1397" y="113"/>
                      <a:pt x="1397" y="113"/>
                    </a:cubicBezTo>
                    <a:lnTo>
                      <a:pt x="1395" y="113"/>
                    </a:lnTo>
                    <a:lnTo>
                      <a:pt x="374" y="302"/>
                    </a:lnTo>
                    <a:cubicBezTo>
                      <a:pt x="353" y="305"/>
                      <a:pt x="331" y="306"/>
                      <a:pt x="309" y="306"/>
                    </a:cubicBezTo>
                    <a:cubicBezTo>
                      <a:pt x="252" y="306"/>
                      <a:pt x="200" y="296"/>
                      <a:pt x="157" y="284"/>
                    </a:cubicBezTo>
                    <a:lnTo>
                      <a:pt x="1394" y="68"/>
                    </a:lnTo>
                    <a:close/>
                    <a:moveTo>
                      <a:pt x="435" y="400"/>
                    </a:moveTo>
                    <a:lnTo>
                      <a:pt x="435" y="400"/>
                    </a:lnTo>
                    <a:cubicBezTo>
                      <a:pt x="431" y="415"/>
                      <a:pt x="418" y="427"/>
                      <a:pt x="401" y="427"/>
                    </a:cubicBezTo>
                    <a:cubicBezTo>
                      <a:pt x="382" y="427"/>
                      <a:pt x="367" y="411"/>
                      <a:pt x="367" y="392"/>
                    </a:cubicBezTo>
                    <a:cubicBezTo>
                      <a:pt x="367" y="383"/>
                      <a:pt x="371" y="375"/>
                      <a:pt x="377" y="368"/>
                    </a:cubicBezTo>
                    <a:cubicBezTo>
                      <a:pt x="380" y="368"/>
                      <a:pt x="382" y="368"/>
                      <a:pt x="385" y="367"/>
                    </a:cubicBezTo>
                    <a:lnTo>
                      <a:pt x="425" y="360"/>
                    </a:lnTo>
                    <a:cubicBezTo>
                      <a:pt x="428" y="371"/>
                      <a:pt x="432" y="385"/>
                      <a:pt x="435" y="400"/>
                    </a:cubicBezTo>
                    <a:close/>
                    <a:moveTo>
                      <a:pt x="1442" y="171"/>
                    </a:moveTo>
                    <a:lnTo>
                      <a:pt x="1442" y="171"/>
                    </a:lnTo>
                    <a:cubicBezTo>
                      <a:pt x="1448" y="168"/>
                      <a:pt x="1453" y="164"/>
                      <a:pt x="1456" y="159"/>
                    </a:cubicBezTo>
                    <a:cubicBezTo>
                      <a:pt x="1459" y="154"/>
                      <a:pt x="1486" y="108"/>
                      <a:pt x="1471" y="62"/>
                    </a:cubicBezTo>
                    <a:cubicBezTo>
                      <a:pt x="1465" y="43"/>
                      <a:pt x="1449" y="18"/>
                      <a:pt x="1410" y="3"/>
                    </a:cubicBezTo>
                    <a:cubicBezTo>
                      <a:pt x="1404" y="0"/>
                      <a:pt x="1398" y="0"/>
                      <a:pt x="1392" y="1"/>
                    </a:cubicBezTo>
                    <a:lnTo>
                      <a:pt x="29" y="238"/>
                    </a:lnTo>
                    <a:cubicBezTo>
                      <a:pt x="16" y="241"/>
                      <a:pt x="5" y="252"/>
                      <a:pt x="2" y="266"/>
                    </a:cubicBezTo>
                    <a:cubicBezTo>
                      <a:pt x="0" y="280"/>
                      <a:pt x="7" y="293"/>
                      <a:pt x="19" y="300"/>
                    </a:cubicBezTo>
                    <a:cubicBezTo>
                      <a:pt x="23" y="303"/>
                      <a:pt x="92" y="341"/>
                      <a:pt x="192" y="361"/>
                    </a:cubicBezTo>
                    <a:cubicBezTo>
                      <a:pt x="191" y="410"/>
                      <a:pt x="199" y="507"/>
                      <a:pt x="259" y="563"/>
                    </a:cubicBezTo>
                    <a:cubicBezTo>
                      <a:pt x="289" y="591"/>
                      <a:pt x="327" y="605"/>
                      <a:pt x="373" y="605"/>
                    </a:cubicBezTo>
                    <a:cubicBezTo>
                      <a:pt x="387" y="605"/>
                      <a:pt x="402" y="604"/>
                      <a:pt x="417" y="602"/>
                    </a:cubicBezTo>
                    <a:lnTo>
                      <a:pt x="752" y="544"/>
                    </a:lnTo>
                    <a:lnTo>
                      <a:pt x="752" y="623"/>
                    </a:lnTo>
                    <a:cubicBezTo>
                      <a:pt x="752" y="714"/>
                      <a:pt x="818" y="789"/>
                      <a:pt x="905" y="803"/>
                    </a:cubicBezTo>
                    <a:cubicBezTo>
                      <a:pt x="917" y="864"/>
                      <a:pt x="966" y="945"/>
                      <a:pt x="1092" y="958"/>
                    </a:cubicBezTo>
                    <a:cubicBezTo>
                      <a:pt x="1104" y="981"/>
                      <a:pt x="1127" y="997"/>
                      <a:pt x="1154" y="997"/>
                    </a:cubicBezTo>
                    <a:cubicBezTo>
                      <a:pt x="1192" y="997"/>
                      <a:pt x="1223" y="965"/>
                      <a:pt x="1223" y="927"/>
                    </a:cubicBezTo>
                    <a:cubicBezTo>
                      <a:pt x="1223" y="889"/>
                      <a:pt x="1192" y="858"/>
                      <a:pt x="1154" y="858"/>
                    </a:cubicBezTo>
                    <a:cubicBezTo>
                      <a:pt x="1128" y="858"/>
                      <a:pt x="1106" y="871"/>
                      <a:pt x="1094" y="892"/>
                    </a:cubicBezTo>
                    <a:cubicBezTo>
                      <a:pt x="1011" y="881"/>
                      <a:pt x="983" y="834"/>
                      <a:pt x="973" y="802"/>
                    </a:cubicBezTo>
                    <a:cubicBezTo>
                      <a:pt x="1056" y="784"/>
                      <a:pt x="1118" y="711"/>
                      <a:pt x="1118" y="623"/>
                    </a:cubicBezTo>
                    <a:lnTo>
                      <a:pt x="1118" y="480"/>
                    </a:lnTo>
                    <a:lnTo>
                      <a:pt x="1271" y="454"/>
                    </a:lnTo>
                    <a:cubicBezTo>
                      <a:pt x="1273" y="454"/>
                      <a:pt x="1275" y="453"/>
                      <a:pt x="1276" y="452"/>
                    </a:cubicBezTo>
                    <a:cubicBezTo>
                      <a:pt x="1348" y="428"/>
                      <a:pt x="1468" y="338"/>
                      <a:pt x="1442" y="171"/>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Freeform 220"/>
              <p:cNvSpPr>
                <a:spLocks/>
              </p:cNvSpPr>
              <p:nvPr/>
            </p:nvSpPr>
            <p:spPr bwMode="gray">
              <a:xfrm>
                <a:off x="7832725" y="4240213"/>
                <a:ext cx="130175" cy="90488"/>
              </a:xfrm>
              <a:custGeom>
                <a:avLst/>
                <a:gdLst>
                  <a:gd name="T0" fmla="*/ 2147483647 w 312"/>
                  <a:gd name="T1" fmla="*/ 2147483647 h 215"/>
                  <a:gd name="T2" fmla="*/ 2147483647 w 312"/>
                  <a:gd name="T3" fmla="*/ 2147483647 h 215"/>
                  <a:gd name="T4" fmla="*/ 2147483647 w 312"/>
                  <a:gd name="T5" fmla="*/ 2147483647 h 215"/>
                  <a:gd name="T6" fmla="*/ 2147483647 w 312"/>
                  <a:gd name="T7" fmla="*/ 2147483647 h 215"/>
                  <a:gd name="T8" fmla="*/ 2147483647 w 312"/>
                  <a:gd name="T9" fmla="*/ 2147483647 h 215"/>
                  <a:gd name="T10" fmla="*/ 0 w 312"/>
                  <a:gd name="T11" fmla="*/ 2147483647 h 215"/>
                  <a:gd name="T12" fmla="*/ 2147483647 w 312"/>
                  <a:gd name="T13" fmla="*/ 2147483647 h 215"/>
                  <a:gd name="T14" fmla="*/ 2147483647 w 312"/>
                  <a:gd name="T15" fmla="*/ 2147483647 h 215"/>
                  <a:gd name="T16" fmla="*/ 2147483647 w 312"/>
                  <a:gd name="T17" fmla="*/ 2147483647 h 215"/>
                  <a:gd name="T18" fmla="*/ 2147483647 w 312"/>
                  <a:gd name="T19" fmla="*/ 2147483647 h 215"/>
                  <a:gd name="T20" fmla="*/ 2147483647 w 312"/>
                  <a:gd name="T21" fmla="*/ 2147483647 h 215"/>
                  <a:gd name="T22" fmla="*/ 2147483647 w 312"/>
                  <a:gd name="T23" fmla="*/ 0 h 215"/>
                  <a:gd name="T24" fmla="*/ 2147483647 w 312"/>
                  <a:gd name="T25" fmla="*/ 2147483647 h 2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2"/>
                  <a:gd name="T40" fmla="*/ 0 h 215"/>
                  <a:gd name="T41" fmla="*/ 312 w 312"/>
                  <a:gd name="T42" fmla="*/ 215 h 2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2" h="215">
                    <a:moveTo>
                      <a:pt x="210" y="74"/>
                    </a:moveTo>
                    <a:lnTo>
                      <a:pt x="210" y="74"/>
                    </a:lnTo>
                    <a:cubicBezTo>
                      <a:pt x="208" y="74"/>
                      <a:pt x="206" y="74"/>
                      <a:pt x="205" y="74"/>
                    </a:cubicBezTo>
                    <a:lnTo>
                      <a:pt x="130" y="74"/>
                    </a:lnTo>
                    <a:cubicBezTo>
                      <a:pt x="118" y="52"/>
                      <a:pt x="95" y="38"/>
                      <a:pt x="69" y="38"/>
                    </a:cubicBezTo>
                    <a:cubicBezTo>
                      <a:pt x="31" y="38"/>
                      <a:pt x="0" y="69"/>
                      <a:pt x="0" y="107"/>
                    </a:cubicBezTo>
                    <a:cubicBezTo>
                      <a:pt x="0" y="145"/>
                      <a:pt x="31" y="177"/>
                      <a:pt x="69" y="177"/>
                    </a:cubicBezTo>
                    <a:cubicBezTo>
                      <a:pt x="95" y="177"/>
                      <a:pt x="118" y="162"/>
                      <a:pt x="130" y="140"/>
                    </a:cubicBezTo>
                    <a:lnTo>
                      <a:pt x="205" y="140"/>
                    </a:lnTo>
                    <a:cubicBezTo>
                      <a:pt x="206" y="140"/>
                      <a:pt x="208" y="140"/>
                      <a:pt x="210" y="140"/>
                    </a:cubicBezTo>
                    <a:cubicBezTo>
                      <a:pt x="224" y="183"/>
                      <a:pt x="264" y="215"/>
                      <a:pt x="312" y="215"/>
                    </a:cubicBezTo>
                    <a:lnTo>
                      <a:pt x="312" y="0"/>
                    </a:lnTo>
                    <a:cubicBezTo>
                      <a:pt x="264" y="0"/>
                      <a:pt x="224" y="31"/>
                      <a:pt x="210" y="74"/>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25" name="文本框 124"/>
          <p:cNvSpPr txBox="1"/>
          <p:nvPr/>
        </p:nvSpPr>
        <p:spPr bwMode="gray">
          <a:xfrm>
            <a:off x="10554927"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安防</a:t>
            </a:r>
          </a:p>
        </p:txBody>
      </p:sp>
      <p:sp>
        <p:nvSpPr>
          <p:cNvPr id="126" name="文本框 125"/>
          <p:cNvSpPr txBox="1"/>
          <p:nvPr/>
        </p:nvSpPr>
        <p:spPr bwMode="gray">
          <a:xfrm>
            <a:off x="2403867" y="3816908"/>
            <a:ext cx="907621" cy="369332"/>
          </a:xfrm>
          <a:prstGeom prst="rect">
            <a:avLst/>
          </a:prstGeom>
          <a:noFill/>
        </p:spPr>
        <p:txBody>
          <a:bodyPr wrap="none" rtlCol="0">
            <a:spAutoFit/>
          </a:bodyPr>
          <a:lstStyle/>
          <a:p>
            <a:r>
              <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文本框 126"/>
          <p:cNvSpPr txBox="1"/>
          <p:nvPr/>
        </p:nvSpPr>
        <p:spPr bwMode="gray">
          <a:xfrm>
            <a:off x="6384454" y="3901553"/>
            <a:ext cx="1338828" cy="646331"/>
          </a:xfrm>
          <a:prstGeom prst="rect">
            <a:avLst/>
          </a:prstGeom>
          <a:noFill/>
        </p:spPr>
        <p:txBody>
          <a:bodyPr wrap="none" rtlCol="0">
            <a:spAutoFit/>
          </a:bodyPr>
          <a:lstStyle/>
          <a:p>
            <a:pPr algn="ct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VN1</a:t>
            </a:r>
          </a:p>
          <a:p>
            <a:pPr algn="ct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办公虚拟网</a:t>
            </a:r>
          </a:p>
        </p:txBody>
      </p:sp>
      <p:sp>
        <p:nvSpPr>
          <p:cNvPr id="128" name="文本框 127"/>
          <p:cNvSpPr txBox="1"/>
          <p:nvPr/>
        </p:nvSpPr>
        <p:spPr bwMode="gray">
          <a:xfrm>
            <a:off x="8239991" y="3901553"/>
            <a:ext cx="1338829" cy="646331"/>
          </a:xfrm>
          <a:prstGeom prst="rect">
            <a:avLst/>
          </a:prstGeom>
          <a:noFill/>
        </p:spPr>
        <p:txBody>
          <a:bodyPr wrap="none" rtlCol="0">
            <a:spAutoFit/>
          </a:bodyPr>
          <a:lstStyle/>
          <a:p>
            <a:pPr algn="ct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VN2</a:t>
            </a:r>
          </a:p>
          <a:p>
            <a:pPr algn="ct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视讯虚拟网</a:t>
            </a:r>
          </a:p>
        </p:txBody>
      </p:sp>
      <p:sp>
        <p:nvSpPr>
          <p:cNvPr id="129" name="文本框 128"/>
          <p:cNvSpPr txBox="1"/>
          <p:nvPr/>
        </p:nvSpPr>
        <p:spPr bwMode="gray">
          <a:xfrm>
            <a:off x="10126345" y="3901553"/>
            <a:ext cx="1338829" cy="646331"/>
          </a:xfrm>
          <a:prstGeom prst="rect">
            <a:avLst/>
          </a:prstGeom>
          <a:noFill/>
        </p:spPr>
        <p:txBody>
          <a:bodyPr wrap="none" rtlCol="0">
            <a:spAutoFit/>
          </a:bodyPr>
          <a:lstStyle/>
          <a:p>
            <a:pPr algn="ct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VN3</a:t>
            </a:r>
          </a:p>
          <a:p>
            <a:pPr algn="ct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安防虚拟网</a:t>
            </a:r>
          </a:p>
        </p:txBody>
      </p:sp>
      <p:sp>
        <p:nvSpPr>
          <p:cNvPr id="131" name="矩形 1437"/>
          <p:cNvSpPr>
            <a:spLocks noChangeArrowheads="1"/>
          </p:cNvSpPr>
          <p:nvPr/>
        </p:nvSpPr>
        <p:spPr bwMode="gray">
          <a:xfrm>
            <a:off x="4824100" y="1402208"/>
            <a:ext cx="2512372" cy="1580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2392" tIns="51195" rIns="102392" bIns="51195">
            <a:spAutoFit/>
          </a:bodyPr>
          <a:lstStyle>
            <a:lvl1pPr>
              <a:defRPr kumimoji="1" sz="2400">
                <a:solidFill>
                  <a:schemeClr val="tx1"/>
                </a:solidFill>
                <a:latin typeface="Calibri" panose="020F0502020204030204" pitchFamily="34" charset="0"/>
                <a:ea typeface="宋体" panose="02010600030101010101" pitchFamily="2" charset="-122"/>
              </a:defRPr>
            </a:lvl1pPr>
            <a:lvl2pPr marL="742950" indent="-285750">
              <a:defRPr kumimoji="1" sz="2400">
                <a:solidFill>
                  <a:schemeClr val="tx1"/>
                </a:solidFill>
                <a:latin typeface="Calibri" panose="020F0502020204030204" pitchFamily="34" charset="0"/>
                <a:ea typeface="宋体" panose="02010600030101010101" pitchFamily="2" charset="-122"/>
              </a:defRPr>
            </a:lvl2pPr>
            <a:lvl3pPr marL="1143000" indent="-228600">
              <a:defRPr kumimoji="1" sz="2400">
                <a:solidFill>
                  <a:schemeClr val="tx1"/>
                </a:solidFill>
                <a:latin typeface="Calibri" panose="020F0502020204030204" pitchFamily="34" charset="0"/>
                <a:ea typeface="宋体" panose="02010600030101010101" pitchFamily="2" charset="-122"/>
              </a:defRPr>
            </a:lvl3pPr>
            <a:lvl4pPr marL="1600200" indent="-228600">
              <a:defRPr kumimoji="1" sz="2400">
                <a:solidFill>
                  <a:schemeClr val="tx1"/>
                </a:solidFill>
                <a:latin typeface="Calibri" panose="020F0502020204030204" pitchFamily="34" charset="0"/>
                <a:ea typeface="宋体" panose="02010600030101010101" pitchFamily="2" charset="-122"/>
              </a:defRPr>
            </a:lvl4pPr>
            <a:lvl5pPr marL="2057400" indent="-228600">
              <a:defRPr kumimoji="1" sz="2400">
                <a:solidFill>
                  <a:schemeClr val="tx1"/>
                </a:solidFill>
                <a:latin typeface="Calibri" panose="020F0502020204030204" pitchFamily="34" charset="0"/>
                <a:ea typeface="宋体" panose="02010600030101010101" pitchFamily="2" charset="-122"/>
              </a:defRPr>
            </a:lvl5pPr>
            <a:lvl6pPr marL="2514600" indent="-228600" defTabSz="454025" fontAlgn="base">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defTabSz="454025" fontAlgn="base">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defTabSz="454025" fontAlgn="base">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defTabSz="454025" fontAlgn="base">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marL="171450" indent="-171450">
              <a:lnSpc>
                <a:spcPct val="150000"/>
              </a:lnSpc>
              <a:buFont typeface="Arial" panose="020B0604020202020204" pitchFamily="34" charset="0"/>
              <a:buChar char="•"/>
            </a:pPr>
            <a:r>
              <a:rPr kumimoji="0" lang="zh-CN" altLang="en-US" sz="1600">
                <a:latin typeface="Huawei Sans" panose="020C0503030203020204" pitchFamily="34" charset="0"/>
                <a:ea typeface="方正兰亭黑简体" panose="02000000000000000000" pitchFamily="2" charset="-122"/>
                <a:sym typeface="Huawei Sans" panose="020C0503030203020204" pitchFamily="34" charset="0"/>
              </a:rPr>
              <a:t>一张网承载多种业务</a:t>
            </a:r>
            <a:endParaRPr kumimoji="0"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50000"/>
              </a:lnSpc>
              <a:buFont typeface="Arial" panose="020B0604020202020204" pitchFamily="34" charset="0"/>
              <a:buChar char="•"/>
            </a:pPr>
            <a:r>
              <a:rPr kumimoji="0" lang="zh-CN" altLang="en-US" sz="1600">
                <a:latin typeface="Huawei Sans" panose="020C0503030203020204" pitchFamily="34" charset="0"/>
                <a:ea typeface="方正兰亭黑简体" panose="02000000000000000000" pitchFamily="2" charset="-122"/>
                <a:sym typeface="Huawei Sans" panose="020C0503030203020204" pitchFamily="34" charset="0"/>
              </a:rPr>
              <a:t>物理网络部署自动化</a:t>
            </a:r>
            <a:endParaRPr kumimoji="0"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50000"/>
              </a:lnSpc>
              <a:buFont typeface="Arial" panose="020B0604020202020204" pitchFamily="34" charset="0"/>
              <a:buChar char="•"/>
            </a:pPr>
            <a:r>
              <a:rPr kumimoji="0" lang="zh-CN" altLang="en-US" sz="1600">
                <a:latin typeface="Huawei Sans" panose="020C0503030203020204" pitchFamily="34" charset="0"/>
                <a:ea typeface="方正兰亭黑简体" panose="02000000000000000000" pitchFamily="2" charset="-122"/>
                <a:sym typeface="Huawei Sans" panose="020C0503030203020204" pitchFamily="34" charset="0"/>
              </a:rPr>
              <a:t>虚拟网络开通自动化</a:t>
            </a:r>
            <a:endParaRPr kumimoji="0"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50000"/>
              </a:lnSpc>
              <a:buFont typeface="Arial" panose="020B0604020202020204" pitchFamily="34" charset="0"/>
              <a:buChar char="•"/>
            </a:pPr>
            <a:r>
              <a:rPr kumimoji="0" lang="zh-CN" altLang="en-US" sz="1600">
                <a:latin typeface="Huawei Sans" panose="020C0503030203020204" pitchFamily="34" charset="0"/>
                <a:ea typeface="方正兰亭黑简体" panose="02000000000000000000" pitchFamily="2" charset="-122"/>
                <a:sym typeface="Huawei Sans" panose="020C0503030203020204" pitchFamily="34" charset="0"/>
              </a:rPr>
              <a:t>业务策略发放自动化</a:t>
            </a:r>
            <a:endParaRPr kumimoji="0"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4" name="图片 86" descr="核心交换机.png"/>
          <p:cNvPicPr>
            <a:picLocks noChangeAspect="1"/>
          </p:cNvPicPr>
          <p:nvPr/>
        </p:nvPicPr>
        <p:blipFill>
          <a:blip r:embed="rId8" cstate="print"/>
          <a:stretch>
            <a:fillRect/>
          </a:stretch>
        </p:blipFill>
        <p:spPr bwMode="gray">
          <a:xfrm>
            <a:off x="2476521" y="2885123"/>
            <a:ext cx="443667" cy="363001"/>
          </a:xfrm>
          <a:prstGeom prst="rect">
            <a:avLst/>
          </a:prstGeom>
        </p:spPr>
      </p:pic>
    </p:spTree>
    <p:extLst>
      <p:ext uri="{BB962C8B-B14F-4D97-AF65-F5344CB8AC3E}">
        <p14:creationId xmlns:p14="http://schemas.microsoft.com/office/powerpoint/2010/main" val="3940647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大中型虚拟化园区网络设计概述</a:t>
            </a:r>
          </a:p>
        </p:txBody>
      </p:sp>
      <p:graphicFrame>
        <p:nvGraphicFramePr>
          <p:cNvPr id="3" name="图示 2"/>
          <p:cNvGraphicFramePr/>
          <p:nvPr>
            <p:extLst>
              <p:ext uri="{D42A27DB-BD31-4B8C-83A1-F6EECF244321}">
                <p14:modId xmlns:p14="http://schemas.microsoft.com/office/powerpoint/2010/main" val="175535450"/>
              </p:ext>
            </p:extLst>
          </p:nvPr>
        </p:nvGraphicFramePr>
        <p:xfrm>
          <a:off x="772487" y="1176704"/>
          <a:ext cx="10858905" cy="45515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05230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800" dirty="0">
                <a:solidFill>
                  <a:schemeClr val="bg1">
                    <a:lumMod val="50000"/>
                  </a:schemeClr>
                </a:solidFill>
                <a:sym typeface="Huawei Sans" panose="020C0503030203020204" pitchFamily="34" charset="0"/>
              </a:rPr>
              <a:t>CloudCampus</a:t>
            </a:r>
            <a:r>
              <a:rPr lang="zh-CN" altLang="en-US" sz="1800" dirty="0">
                <a:solidFill>
                  <a:schemeClr val="bg1">
                    <a:lumMod val="50000"/>
                  </a:schemeClr>
                </a:solidFill>
                <a:sym typeface="Huawei Sans" panose="020C0503030203020204" pitchFamily="34" charset="0"/>
              </a:rPr>
              <a:t>解决方案及虚拟化园区网络概述</a:t>
            </a:r>
          </a:p>
          <a:p>
            <a:r>
              <a:rPr lang="zh-CN" altLang="en-US" sz="1800" b="1" dirty="0">
                <a:sym typeface="Huawei Sans" panose="020C0503030203020204" pitchFamily="34" charset="0"/>
              </a:rPr>
              <a:t>网络架构设计</a:t>
            </a:r>
            <a:endParaRPr lang="en-US" altLang="zh-CN" sz="1800" b="1" dirty="0">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Underlay</a:t>
            </a:r>
            <a:r>
              <a:rPr lang="zh-CN" altLang="en-US" sz="1800" dirty="0">
                <a:solidFill>
                  <a:schemeClr val="bg1">
                    <a:lumMod val="50000"/>
                  </a:schemeClr>
                </a:solidFill>
                <a:sym typeface="Huawei Sans" panose="020C0503030203020204" pitchFamily="34" charset="0"/>
              </a:rPr>
              <a:t>网络设计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Fabric</a:t>
            </a:r>
            <a:r>
              <a:rPr lang="zh-CN" altLang="en-US" sz="1800" dirty="0">
                <a:solidFill>
                  <a:schemeClr val="bg1">
                    <a:lumMod val="50000"/>
                  </a:schemeClr>
                </a:solidFill>
                <a:sym typeface="Huawei Sans" panose="020C0503030203020204" pitchFamily="34" charset="0"/>
              </a:rPr>
              <a:t>与</a:t>
            </a:r>
            <a:r>
              <a:rPr lang="en-US" altLang="zh-CN" sz="1800" dirty="0">
                <a:solidFill>
                  <a:schemeClr val="bg1">
                    <a:lumMod val="50000"/>
                  </a:schemeClr>
                </a:solidFill>
                <a:sym typeface="Huawei Sans" panose="020C0503030203020204" pitchFamily="34" charset="0"/>
              </a:rPr>
              <a:t>Overlay</a:t>
            </a:r>
            <a:r>
              <a:rPr lang="zh-CN" altLang="en-US" sz="1800" dirty="0">
                <a:solidFill>
                  <a:schemeClr val="bg1">
                    <a:lumMod val="50000"/>
                  </a:schemeClr>
                </a:solidFill>
                <a:sym typeface="Huawei Sans" panose="020C0503030203020204" pitchFamily="34" charset="0"/>
              </a:rPr>
              <a:t>网络设计</a:t>
            </a:r>
          </a:p>
          <a:p>
            <a:r>
              <a:rPr lang="zh-CN" altLang="en-US" sz="1800" dirty="0">
                <a:solidFill>
                  <a:schemeClr val="bg1">
                    <a:lumMod val="50000"/>
                  </a:schemeClr>
                </a:solidFill>
                <a:sym typeface="Huawei Sans" panose="020C0503030203020204" pitchFamily="34" charset="0"/>
              </a:rPr>
              <a:t>准入控制及业务随行设计</a:t>
            </a:r>
          </a:p>
          <a:p>
            <a:r>
              <a:rPr lang="en-US" altLang="zh-CN" sz="1800" dirty="0">
                <a:solidFill>
                  <a:schemeClr val="bg1">
                    <a:lumMod val="50000"/>
                  </a:schemeClr>
                </a:solidFill>
                <a:sym typeface="Huawei Sans" panose="020C0503030203020204" pitchFamily="34" charset="0"/>
              </a:rPr>
              <a:t>WLAN</a:t>
            </a:r>
            <a:r>
              <a:rPr lang="zh-CN" altLang="en-US" sz="1800" dirty="0">
                <a:solidFill>
                  <a:schemeClr val="bg1">
                    <a:lumMod val="50000"/>
                  </a:schemeClr>
                </a:solidFill>
                <a:sym typeface="Huawei Sans" panose="020C0503030203020204" pitchFamily="34" charset="0"/>
              </a:rPr>
              <a:t>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出口网络设计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网络安全与服务质量设计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运维管理设计</a:t>
            </a:r>
            <a:endParaRPr lang="en-US" altLang="zh-CN"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799745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网络架构设计概述</a:t>
            </a:r>
          </a:p>
        </p:txBody>
      </p:sp>
      <p:sp>
        <p:nvSpPr>
          <p:cNvPr id="7" name="文本占位符 6"/>
          <p:cNvSpPr>
            <a:spLocks noGrp="1"/>
          </p:cNvSpPr>
          <p:nvPr>
            <p:ph type="body" sz="quarter" idx="10"/>
          </p:nvPr>
        </p:nvSpPr>
        <p:spPr>
          <a:xfrm>
            <a:off x="5998241" y="1576821"/>
            <a:ext cx="5750846" cy="3710796"/>
          </a:xfrm>
        </p:spPr>
        <p:txBody>
          <a:bodyPr/>
          <a:lstStyle/>
          <a:p>
            <a:r>
              <a:rPr lang="zh-CN" altLang="en-US" sz="1800" dirty="0">
                <a:sym typeface="Huawei Sans" panose="020C0503030203020204" pitchFamily="34" charset="0"/>
              </a:rPr>
              <a:t>整体设计原则：</a:t>
            </a:r>
          </a:p>
          <a:p>
            <a:pPr lvl="1"/>
            <a:r>
              <a:rPr lang="zh-CN" altLang="en-US" sz="1600" dirty="0">
                <a:sym typeface="Huawei Sans" panose="020C0503030203020204" pitchFamily="34" charset="0"/>
              </a:rPr>
              <a:t>树形组网、环形组网（核心设备）。</a:t>
            </a:r>
          </a:p>
          <a:p>
            <a:r>
              <a:rPr lang="zh-CN" altLang="en-US" sz="1800" dirty="0">
                <a:sym typeface="Huawei Sans" panose="020C0503030203020204" pitchFamily="34" charset="0"/>
              </a:rPr>
              <a:t>可靠性考虑：</a:t>
            </a:r>
          </a:p>
          <a:p>
            <a:pPr lvl="1"/>
            <a:r>
              <a:rPr lang="zh-CN" altLang="en-US" sz="1600" dirty="0">
                <a:sym typeface="Huawei Sans" panose="020C0503030203020204" pitchFamily="34" charset="0"/>
              </a:rPr>
              <a:t>节点高可靠性：集群、堆叠、双机热备（</a:t>
            </a:r>
            <a:r>
              <a:rPr lang="en-US" altLang="zh-CN" sz="1600" dirty="0">
                <a:sym typeface="Huawei Sans" panose="020C0503030203020204" pitchFamily="34" charset="0"/>
              </a:rPr>
              <a:t>AC</a:t>
            </a:r>
            <a:r>
              <a:rPr lang="zh-CN" altLang="en-US" sz="1600" dirty="0">
                <a:sym typeface="Huawei Sans" panose="020C0503030203020204" pitchFamily="34" charset="0"/>
              </a:rPr>
              <a:t>或</a:t>
            </a:r>
            <a:r>
              <a:rPr lang="en-US" altLang="zh-CN" sz="1600" dirty="0">
                <a:sym typeface="Huawei Sans" panose="020C0503030203020204" pitchFamily="34" charset="0"/>
              </a:rPr>
              <a:t>FW</a:t>
            </a:r>
            <a:r>
              <a:rPr lang="zh-CN" altLang="en-US" sz="1600" dirty="0">
                <a:sym typeface="Huawei Sans" panose="020C0503030203020204" pitchFamily="34" charset="0"/>
              </a:rPr>
              <a:t>等）。</a:t>
            </a:r>
          </a:p>
          <a:p>
            <a:pPr lvl="1"/>
            <a:r>
              <a:rPr lang="zh-CN" altLang="en-US" sz="1600" dirty="0">
                <a:sym typeface="Huawei Sans" panose="020C0503030203020204" pitchFamily="34" charset="0"/>
              </a:rPr>
              <a:t>链路高可靠性：冗余链路、</a:t>
            </a:r>
            <a:r>
              <a:rPr lang="en-US" altLang="zh-CN" sz="1600" dirty="0">
                <a:sym typeface="Huawei Sans" panose="020C0503030203020204" pitchFamily="34" charset="0"/>
              </a:rPr>
              <a:t>Eth-Trunk</a:t>
            </a:r>
            <a:r>
              <a:rPr lang="zh-CN" altLang="en-US" sz="1600" dirty="0">
                <a:sym typeface="Huawei Sans" panose="020C0503030203020204" pitchFamily="34" charset="0"/>
              </a:rPr>
              <a:t>。</a:t>
            </a:r>
          </a:p>
          <a:p>
            <a:r>
              <a:rPr lang="zh-CN" altLang="en-US" sz="1800" dirty="0">
                <a:sym typeface="Huawei Sans" panose="020C0503030203020204" pitchFamily="34" charset="0"/>
              </a:rPr>
              <a:t>组网层次设计原则：</a:t>
            </a:r>
          </a:p>
          <a:p>
            <a:pPr lvl="1"/>
            <a:r>
              <a:rPr lang="zh-CN" altLang="en-US" sz="1600" dirty="0">
                <a:sym typeface="Huawei Sans" panose="020C0503030203020204" pitchFamily="34" charset="0"/>
              </a:rPr>
              <a:t>两层组网：网络层次简单，问题易定位。</a:t>
            </a:r>
          </a:p>
          <a:p>
            <a:pPr lvl="1"/>
            <a:r>
              <a:rPr lang="zh-CN" altLang="en-US" sz="1600" dirty="0">
                <a:sym typeface="Huawei Sans" panose="020C0503030203020204" pitchFamily="34" charset="0"/>
              </a:rPr>
              <a:t>三层组网：适用于多楼栋或多区域的园区场景。</a:t>
            </a:r>
          </a:p>
        </p:txBody>
      </p:sp>
      <p:cxnSp>
        <p:nvCxnSpPr>
          <p:cNvPr id="8" name="Straight Connector 79"/>
          <p:cNvCxnSpPr/>
          <p:nvPr/>
        </p:nvCxnSpPr>
        <p:spPr bwMode="gray">
          <a:xfrm flipH="1">
            <a:off x="3581378" y="2686309"/>
            <a:ext cx="309238" cy="330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79"/>
          <p:cNvCxnSpPr/>
          <p:nvPr/>
        </p:nvCxnSpPr>
        <p:spPr bwMode="gray">
          <a:xfrm flipH="1">
            <a:off x="3884728" y="2688532"/>
            <a:ext cx="11855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79"/>
          <p:cNvCxnSpPr/>
          <p:nvPr/>
        </p:nvCxnSpPr>
        <p:spPr bwMode="gray">
          <a:xfrm flipH="1">
            <a:off x="2755793" y="2623836"/>
            <a:ext cx="309238" cy="330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79"/>
          <p:cNvCxnSpPr/>
          <p:nvPr/>
        </p:nvCxnSpPr>
        <p:spPr bwMode="gray">
          <a:xfrm flipH="1" flipV="1">
            <a:off x="3144005" y="2568613"/>
            <a:ext cx="343673" cy="363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79"/>
          <p:cNvCxnSpPr/>
          <p:nvPr/>
        </p:nvCxnSpPr>
        <p:spPr bwMode="gray">
          <a:xfrm flipH="1" flipV="1">
            <a:off x="2388566" y="2626059"/>
            <a:ext cx="343673" cy="363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76"/>
          <p:cNvCxnSpPr/>
          <p:nvPr/>
        </p:nvCxnSpPr>
        <p:spPr bwMode="gray">
          <a:xfrm>
            <a:off x="754062" y="2391386"/>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77"/>
          <p:cNvCxnSpPr/>
          <p:nvPr/>
        </p:nvCxnSpPr>
        <p:spPr bwMode="gray">
          <a:xfrm>
            <a:off x="754062" y="1496273"/>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78"/>
          <p:cNvCxnSpPr/>
          <p:nvPr/>
        </p:nvCxnSpPr>
        <p:spPr bwMode="gray">
          <a:xfrm>
            <a:off x="754062" y="3554222"/>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80"/>
          <p:cNvCxnSpPr/>
          <p:nvPr/>
        </p:nvCxnSpPr>
        <p:spPr bwMode="gray">
          <a:xfrm>
            <a:off x="754062" y="4243239"/>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81"/>
          <p:cNvCxnSpPr/>
          <p:nvPr/>
        </p:nvCxnSpPr>
        <p:spPr bwMode="gray">
          <a:xfrm>
            <a:off x="754062" y="5443194"/>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82"/>
          <p:cNvCxnSpPr/>
          <p:nvPr/>
        </p:nvCxnSpPr>
        <p:spPr bwMode="gray">
          <a:xfrm>
            <a:off x="754062" y="5943757"/>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9" name="图片 105" descr="AP.png"/>
          <p:cNvPicPr>
            <a:picLocks noChangeAspect="1"/>
          </p:cNvPicPr>
          <p:nvPr/>
        </p:nvPicPr>
        <p:blipFill>
          <a:blip r:embed="rId3" cstate="print"/>
          <a:stretch>
            <a:fillRect/>
          </a:stretch>
        </p:blipFill>
        <p:spPr bwMode="gray">
          <a:xfrm>
            <a:off x="4394743" y="5143311"/>
            <a:ext cx="335297" cy="274335"/>
          </a:xfrm>
          <a:prstGeom prst="rect">
            <a:avLst/>
          </a:prstGeom>
        </p:spPr>
      </p:pic>
      <p:cxnSp>
        <p:nvCxnSpPr>
          <p:cNvPr id="20" name="Straight Connector 74"/>
          <p:cNvCxnSpPr>
            <a:stCxn id="19" idx="0"/>
            <a:endCxn id="49" idx="2"/>
          </p:cNvCxnSpPr>
          <p:nvPr/>
        </p:nvCxnSpPr>
        <p:spPr bwMode="gray">
          <a:xfrm flipV="1">
            <a:off x="4562392" y="4911214"/>
            <a:ext cx="927" cy="2320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图片 105" descr="AP.png"/>
          <p:cNvPicPr>
            <a:picLocks noChangeAspect="1"/>
          </p:cNvPicPr>
          <p:nvPr/>
        </p:nvPicPr>
        <p:blipFill>
          <a:blip r:embed="rId3" cstate="print"/>
          <a:stretch>
            <a:fillRect/>
          </a:stretch>
        </p:blipFill>
        <p:spPr bwMode="gray">
          <a:xfrm>
            <a:off x="2380177" y="5143311"/>
            <a:ext cx="335297" cy="274335"/>
          </a:xfrm>
          <a:prstGeom prst="rect">
            <a:avLst/>
          </a:prstGeom>
        </p:spPr>
      </p:pic>
      <p:pic>
        <p:nvPicPr>
          <p:cNvPr id="22" name="图片 86" descr="核心交换机.png"/>
          <p:cNvPicPr>
            <a:picLocks noChangeAspect="1"/>
          </p:cNvPicPr>
          <p:nvPr/>
        </p:nvPicPr>
        <p:blipFill>
          <a:blip r:embed="rId4" cstate="print"/>
          <a:stretch>
            <a:fillRect/>
          </a:stretch>
        </p:blipFill>
        <p:spPr bwMode="gray">
          <a:xfrm>
            <a:off x="2566695" y="2852058"/>
            <a:ext cx="335297" cy="274335"/>
          </a:xfrm>
          <a:prstGeom prst="rect">
            <a:avLst/>
          </a:prstGeom>
        </p:spPr>
      </p:pic>
      <p:pic>
        <p:nvPicPr>
          <p:cNvPr id="23" name="图片 86" descr="核心交换机.png"/>
          <p:cNvPicPr>
            <a:picLocks noChangeAspect="1"/>
          </p:cNvPicPr>
          <p:nvPr/>
        </p:nvPicPr>
        <p:blipFill>
          <a:blip r:embed="rId4" cstate="print"/>
          <a:stretch>
            <a:fillRect/>
          </a:stretch>
        </p:blipFill>
        <p:spPr bwMode="gray">
          <a:xfrm>
            <a:off x="3388417" y="2852058"/>
            <a:ext cx="335297" cy="274335"/>
          </a:xfrm>
          <a:prstGeom prst="rect">
            <a:avLst/>
          </a:prstGeom>
        </p:spPr>
      </p:pic>
      <p:cxnSp>
        <p:nvCxnSpPr>
          <p:cNvPr id="24" name="Straight Connector 13"/>
          <p:cNvCxnSpPr>
            <a:stCxn id="22" idx="3"/>
            <a:endCxn id="23" idx="1"/>
          </p:cNvCxnSpPr>
          <p:nvPr/>
        </p:nvCxnSpPr>
        <p:spPr bwMode="gray">
          <a:xfrm>
            <a:off x="2901992" y="2989226"/>
            <a:ext cx="486425"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pic>
        <p:nvPicPr>
          <p:cNvPr id="25" name="图片 87" descr="汇聚交换机.png"/>
          <p:cNvPicPr>
            <a:picLocks noChangeAspect="1"/>
          </p:cNvPicPr>
          <p:nvPr/>
        </p:nvPicPr>
        <p:blipFill>
          <a:blip r:embed="rId5" cstate="print"/>
          <a:stretch>
            <a:fillRect/>
          </a:stretch>
        </p:blipFill>
        <p:spPr bwMode="gray">
          <a:xfrm>
            <a:off x="1561415" y="3754819"/>
            <a:ext cx="335297" cy="274335"/>
          </a:xfrm>
          <a:prstGeom prst="rect">
            <a:avLst/>
          </a:prstGeom>
        </p:spPr>
      </p:pic>
      <p:pic>
        <p:nvPicPr>
          <p:cNvPr id="26" name="图片 87" descr="汇聚交换机.png"/>
          <p:cNvPicPr>
            <a:picLocks noChangeAspect="1"/>
          </p:cNvPicPr>
          <p:nvPr/>
        </p:nvPicPr>
        <p:blipFill>
          <a:blip r:embed="rId5" cstate="print"/>
          <a:stretch>
            <a:fillRect/>
          </a:stretch>
        </p:blipFill>
        <p:spPr bwMode="gray">
          <a:xfrm>
            <a:off x="2381164" y="3754819"/>
            <a:ext cx="335297" cy="274335"/>
          </a:xfrm>
          <a:prstGeom prst="rect">
            <a:avLst/>
          </a:prstGeom>
        </p:spPr>
      </p:pic>
      <p:cxnSp>
        <p:nvCxnSpPr>
          <p:cNvPr id="27" name="Straight Connector 16"/>
          <p:cNvCxnSpPr>
            <a:stCxn id="25" idx="3"/>
            <a:endCxn id="26" idx="1"/>
          </p:cNvCxnSpPr>
          <p:nvPr/>
        </p:nvCxnSpPr>
        <p:spPr bwMode="gray">
          <a:xfrm>
            <a:off x="1896712" y="3891987"/>
            <a:ext cx="484452"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8" name="Straight Connector 19"/>
          <p:cNvCxnSpPr/>
          <p:nvPr/>
        </p:nvCxnSpPr>
        <p:spPr bwMode="gray">
          <a:xfrm>
            <a:off x="3474101" y="6066867"/>
            <a:ext cx="268482"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sp>
        <p:nvSpPr>
          <p:cNvPr id="29" name="TextBox 20"/>
          <p:cNvSpPr txBox="1"/>
          <p:nvPr/>
        </p:nvSpPr>
        <p:spPr bwMode="gray">
          <a:xfrm>
            <a:off x="3742583" y="5926339"/>
            <a:ext cx="859531"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堆叠</a:t>
            </a:r>
          </a:p>
        </p:txBody>
      </p:sp>
      <p:pic>
        <p:nvPicPr>
          <p:cNvPr id="30" name="图片 87" descr="汇聚交换机.png"/>
          <p:cNvPicPr>
            <a:picLocks noChangeAspect="1"/>
          </p:cNvPicPr>
          <p:nvPr/>
        </p:nvPicPr>
        <p:blipFill>
          <a:blip r:embed="rId5" cstate="print"/>
          <a:stretch>
            <a:fillRect/>
          </a:stretch>
        </p:blipFill>
        <p:spPr bwMode="gray">
          <a:xfrm>
            <a:off x="3574934" y="3754819"/>
            <a:ext cx="335297" cy="274335"/>
          </a:xfrm>
          <a:prstGeom prst="rect">
            <a:avLst/>
          </a:prstGeom>
        </p:spPr>
      </p:pic>
      <p:pic>
        <p:nvPicPr>
          <p:cNvPr id="31" name="图片 87" descr="汇聚交换机.png"/>
          <p:cNvPicPr>
            <a:picLocks noChangeAspect="1"/>
          </p:cNvPicPr>
          <p:nvPr/>
        </p:nvPicPr>
        <p:blipFill>
          <a:blip r:embed="rId5" cstate="print"/>
          <a:stretch>
            <a:fillRect/>
          </a:stretch>
        </p:blipFill>
        <p:spPr bwMode="gray">
          <a:xfrm>
            <a:off x="4395670" y="3754819"/>
            <a:ext cx="335297" cy="274335"/>
          </a:xfrm>
          <a:prstGeom prst="rect">
            <a:avLst/>
          </a:prstGeom>
        </p:spPr>
      </p:pic>
      <p:cxnSp>
        <p:nvCxnSpPr>
          <p:cNvPr id="32" name="Straight Connector 29"/>
          <p:cNvCxnSpPr>
            <a:stCxn id="30" idx="3"/>
            <a:endCxn id="31" idx="1"/>
          </p:cNvCxnSpPr>
          <p:nvPr/>
        </p:nvCxnSpPr>
        <p:spPr bwMode="gray">
          <a:xfrm>
            <a:off x="3910231" y="3891987"/>
            <a:ext cx="485439"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33" name="Straight Connector 30"/>
          <p:cNvCxnSpPr>
            <a:stCxn id="25" idx="0"/>
            <a:endCxn id="22" idx="2"/>
          </p:cNvCxnSpPr>
          <p:nvPr/>
        </p:nvCxnSpPr>
        <p:spPr bwMode="gray">
          <a:xfrm flipV="1">
            <a:off x="1729064" y="3126393"/>
            <a:ext cx="1005280"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26" idx="0"/>
            <a:endCxn id="23" idx="2"/>
          </p:cNvCxnSpPr>
          <p:nvPr/>
        </p:nvCxnSpPr>
        <p:spPr bwMode="gray">
          <a:xfrm flipV="1">
            <a:off x="2548813" y="3126393"/>
            <a:ext cx="1007253"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6"/>
          <p:cNvCxnSpPr>
            <a:stCxn id="30" idx="0"/>
            <a:endCxn id="22" idx="2"/>
          </p:cNvCxnSpPr>
          <p:nvPr/>
        </p:nvCxnSpPr>
        <p:spPr bwMode="gray">
          <a:xfrm flipH="1" flipV="1">
            <a:off x="2734344" y="3126393"/>
            <a:ext cx="1008239"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9"/>
          <p:cNvCxnSpPr>
            <a:stCxn id="31" idx="0"/>
            <a:endCxn id="23" idx="2"/>
          </p:cNvCxnSpPr>
          <p:nvPr/>
        </p:nvCxnSpPr>
        <p:spPr bwMode="gray">
          <a:xfrm flipH="1" flipV="1">
            <a:off x="3556066" y="3126393"/>
            <a:ext cx="1007253"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Oval 42"/>
          <p:cNvSpPr/>
          <p:nvPr/>
        </p:nvSpPr>
        <p:spPr bwMode="gray">
          <a:xfrm rot="3077028">
            <a:off x="2342372" y="3405132"/>
            <a:ext cx="580554"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图片 106" descr="堆叠交换机蓝.png"/>
          <p:cNvPicPr>
            <a:picLocks noChangeAspect="1"/>
          </p:cNvPicPr>
          <p:nvPr/>
        </p:nvPicPr>
        <p:blipFill>
          <a:blip r:embed="rId6" cstate="print"/>
          <a:stretch>
            <a:fillRect/>
          </a:stretch>
        </p:blipFill>
        <p:spPr bwMode="gray">
          <a:xfrm>
            <a:off x="1560518" y="4635412"/>
            <a:ext cx="337091" cy="275802"/>
          </a:xfrm>
          <a:prstGeom prst="rect">
            <a:avLst/>
          </a:prstGeom>
        </p:spPr>
      </p:pic>
      <p:pic>
        <p:nvPicPr>
          <p:cNvPr id="39" name="图片 106" descr="堆叠交换机蓝.png"/>
          <p:cNvPicPr>
            <a:picLocks noChangeAspect="1"/>
          </p:cNvPicPr>
          <p:nvPr/>
        </p:nvPicPr>
        <p:blipFill>
          <a:blip r:embed="rId6" cstate="print"/>
          <a:stretch>
            <a:fillRect/>
          </a:stretch>
        </p:blipFill>
        <p:spPr bwMode="gray">
          <a:xfrm>
            <a:off x="2380267" y="4635412"/>
            <a:ext cx="337091" cy="275802"/>
          </a:xfrm>
          <a:prstGeom prst="rect">
            <a:avLst/>
          </a:prstGeom>
        </p:spPr>
      </p:pic>
      <p:cxnSp>
        <p:nvCxnSpPr>
          <p:cNvPr id="40" name="Straight Connector 34"/>
          <p:cNvCxnSpPr>
            <a:stCxn id="38" idx="0"/>
            <a:endCxn id="25" idx="2"/>
          </p:cNvCxnSpPr>
          <p:nvPr/>
        </p:nvCxnSpPr>
        <p:spPr bwMode="gray">
          <a:xfrm flipV="1">
            <a:off x="1729064" y="4029154"/>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35"/>
          <p:cNvCxnSpPr>
            <a:stCxn id="38" idx="0"/>
            <a:endCxn id="26" idx="2"/>
          </p:cNvCxnSpPr>
          <p:nvPr/>
        </p:nvCxnSpPr>
        <p:spPr bwMode="gray">
          <a:xfrm flipV="1">
            <a:off x="1729064" y="4029154"/>
            <a:ext cx="819749"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37"/>
          <p:cNvCxnSpPr>
            <a:stCxn id="39" idx="0"/>
            <a:endCxn id="25" idx="2"/>
          </p:cNvCxnSpPr>
          <p:nvPr/>
        </p:nvCxnSpPr>
        <p:spPr bwMode="gray">
          <a:xfrm flipH="1" flipV="1">
            <a:off x="1729064" y="4029154"/>
            <a:ext cx="819749"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38"/>
          <p:cNvCxnSpPr>
            <a:stCxn id="39" idx="0"/>
            <a:endCxn id="26" idx="2"/>
          </p:cNvCxnSpPr>
          <p:nvPr/>
        </p:nvCxnSpPr>
        <p:spPr bwMode="gray">
          <a:xfrm flipV="1">
            <a:off x="2548813" y="4029154"/>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 name="Group 40"/>
          <p:cNvGrpSpPr/>
          <p:nvPr/>
        </p:nvGrpSpPr>
        <p:grpSpPr bwMode="gray">
          <a:xfrm>
            <a:off x="2007955" y="4741515"/>
            <a:ext cx="261965" cy="61979"/>
            <a:chOff x="559282" y="6488261"/>
            <a:chExt cx="261965" cy="61979"/>
          </a:xfrm>
          <a:solidFill>
            <a:schemeClr val="bg1">
              <a:lumMod val="50000"/>
            </a:schemeClr>
          </a:solidFill>
        </p:grpSpPr>
        <p:sp>
          <p:nvSpPr>
            <p:cNvPr id="45" name="Oval 4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Oval 4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Oval 4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48" name="图片 106" descr="堆叠交换机蓝.png"/>
          <p:cNvPicPr>
            <a:picLocks noChangeAspect="1"/>
          </p:cNvPicPr>
          <p:nvPr/>
        </p:nvPicPr>
        <p:blipFill>
          <a:blip r:embed="rId6" cstate="print"/>
          <a:stretch>
            <a:fillRect/>
          </a:stretch>
        </p:blipFill>
        <p:spPr bwMode="gray">
          <a:xfrm>
            <a:off x="3574037" y="4635412"/>
            <a:ext cx="337091" cy="275802"/>
          </a:xfrm>
          <a:prstGeom prst="rect">
            <a:avLst/>
          </a:prstGeom>
        </p:spPr>
      </p:pic>
      <p:pic>
        <p:nvPicPr>
          <p:cNvPr id="49" name="图片 106" descr="堆叠交换机蓝.png"/>
          <p:cNvPicPr>
            <a:picLocks noChangeAspect="1"/>
          </p:cNvPicPr>
          <p:nvPr/>
        </p:nvPicPr>
        <p:blipFill>
          <a:blip r:embed="rId6" cstate="print"/>
          <a:stretch>
            <a:fillRect/>
          </a:stretch>
        </p:blipFill>
        <p:spPr bwMode="gray">
          <a:xfrm>
            <a:off x="4394773" y="4635412"/>
            <a:ext cx="337091" cy="275802"/>
          </a:xfrm>
          <a:prstGeom prst="rect">
            <a:avLst/>
          </a:prstGeom>
        </p:spPr>
      </p:pic>
      <p:grpSp>
        <p:nvGrpSpPr>
          <p:cNvPr id="50" name="Group 54"/>
          <p:cNvGrpSpPr/>
          <p:nvPr/>
        </p:nvGrpSpPr>
        <p:grpSpPr bwMode="gray">
          <a:xfrm>
            <a:off x="4022461" y="4741515"/>
            <a:ext cx="261965" cy="61979"/>
            <a:chOff x="559282" y="6488261"/>
            <a:chExt cx="261965" cy="61979"/>
          </a:xfrm>
          <a:solidFill>
            <a:schemeClr val="bg1">
              <a:lumMod val="50000"/>
            </a:schemeClr>
          </a:solidFill>
        </p:grpSpPr>
        <p:sp>
          <p:nvSpPr>
            <p:cNvPr id="51" name="Oval 55"/>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Oval 56"/>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Oval 57"/>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4" name="Straight Connector 58"/>
          <p:cNvCxnSpPr>
            <a:stCxn id="48" idx="0"/>
            <a:endCxn id="30" idx="2"/>
          </p:cNvCxnSpPr>
          <p:nvPr/>
        </p:nvCxnSpPr>
        <p:spPr bwMode="gray">
          <a:xfrm flipV="1">
            <a:off x="3742583" y="4029154"/>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61"/>
          <p:cNvCxnSpPr>
            <a:stCxn id="49" idx="0"/>
            <a:endCxn id="31" idx="2"/>
          </p:cNvCxnSpPr>
          <p:nvPr/>
        </p:nvCxnSpPr>
        <p:spPr bwMode="gray">
          <a:xfrm flipV="1">
            <a:off x="4563319" y="4029154"/>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64"/>
          <p:cNvCxnSpPr>
            <a:stCxn id="48" idx="0"/>
            <a:endCxn id="31" idx="2"/>
          </p:cNvCxnSpPr>
          <p:nvPr/>
        </p:nvCxnSpPr>
        <p:spPr bwMode="gray">
          <a:xfrm flipV="1">
            <a:off x="3742583" y="4029154"/>
            <a:ext cx="820736"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67"/>
          <p:cNvCxnSpPr>
            <a:stCxn id="49" idx="0"/>
            <a:endCxn id="30" idx="2"/>
          </p:cNvCxnSpPr>
          <p:nvPr/>
        </p:nvCxnSpPr>
        <p:spPr bwMode="gray">
          <a:xfrm flipH="1" flipV="1">
            <a:off x="3742583" y="4029154"/>
            <a:ext cx="820736"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70"/>
          <p:cNvCxnSpPr>
            <a:stCxn id="21" idx="0"/>
            <a:endCxn id="39" idx="2"/>
          </p:cNvCxnSpPr>
          <p:nvPr/>
        </p:nvCxnSpPr>
        <p:spPr bwMode="gray">
          <a:xfrm flipV="1">
            <a:off x="2547826" y="4911214"/>
            <a:ext cx="987" cy="2320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9"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2563694" y="1576821"/>
            <a:ext cx="337091" cy="275801"/>
          </a:xfrm>
          <a:prstGeom prst="rect">
            <a:avLst/>
          </a:prstGeom>
          <a:noFill/>
        </p:spPr>
      </p:pic>
      <p:pic>
        <p:nvPicPr>
          <p:cNvPr id="60"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3387520" y="1576821"/>
            <a:ext cx="337091" cy="275801"/>
          </a:xfrm>
          <a:prstGeom prst="rect">
            <a:avLst/>
          </a:prstGeom>
          <a:noFill/>
        </p:spPr>
      </p:pic>
      <p:cxnSp>
        <p:nvCxnSpPr>
          <p:cNvPr id="61" name="Straight Connector 98"/>
          <p:cNvCxnSpPr>
            <a:stCxn id="60" idx="2"/>
            <a:endCxn id="23" idx="0"/>
          </p:cNvCxnSpPr>
          <p:nvPr/>
        </p:nvCxnSpPr>
        <p:spPr bwMode="gray">
          <a:xfrm>
            <a:off x="3556066" y="1852622"/>
            <a:ext cx="0" cy="999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101"/>
          <p:cNvCxnSpPr>
            <a:stCxn id="59" idx="2"/>
            <a:endCxn id="22" idx="0"/>
          </p:cNvCxnSpPr>
          <p:nvPr/>
        </p:nvCxnSpPr>
        <p:spPr bwMode="gray">
          <a:xfrm>
            <a:off x="2732240" y="1852622"/>
            <a:ext cx="2104" cy="999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104"/>
          <p:cNvCxnSpPr>
            <a:stCxn id="59" idx="3"/>
            <a:endCxn id="60" idx="1"/>
          </p:cNvCxnSpPr>
          <p:nvPr/>
        </p:nvCxnSpPr>
        <p:spPr bwMode="gray">
          <a:xfrm>
            <a:off x="2900785" y="1714722"/>
            <a:ext cx="4867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Oval 59"/>
          <p:cNvSpPr/>
          <p:nvPr/>
        </p:nvSpPr>
        <p:spPr bwMode="gray">
          <a:xfrm rot="1782887">
            <a:off x="1651880" y="4430871"/>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Oval 62"/>
          <p:cNvSpPr/>
          <p:nvPr/>
        </p:nvSpPr>
        <p:spPr bwMode="gray">
          <a:xfrm rot="19401600">
            <a:off x="2309781" y="4443622"/>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Oval 63"/>
          <p:cNvSpPr/>
          <p:nvPr/>
        </p:nvSpPr>
        <p:spPr bwMode="gray">
          <a:xfrm rot="1782887">
            <a:off x="3653294" y="4462750"/>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Oval 65"/>
          <p:cNvSpPr/>
          <p:nvPr/>
        </p:nvSpPr>
        <p:spPr bwMode="gray">
          <a:xfrm rot="19401600">
            <a:off x="4348118" y="4437938"/>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8" name="图片 14" descr="日志告警服务器-蓝.png"/>
          <p:cNvPicPr>
            <a:picLocks noChangeAspect="1"/>
          </p:cNvPicPr>
          <p:nvPr/>
        </p:nvPicPr>
        <p:blipFill>
          <a:blip r:embed="rId8" cstate="print"/>
          <a:stretch>
            <a:fillRect/>
          </a:stretch>
        </p:blipFill>
        <p:spPr bwMode="gray">
          <a:xfrm>
            <a:off x="1465107" y="5614191"/>
            <a:ext cx="304595" cy="190195"/>
          </a:xfrm>
          <a:prstGeom prst="rect">
            <a:avLst/>
          </a:prstGeom>
        </p:spPr>
      </p:pic>
      <p:pic>
        <p:nvPicPr>
          <p:cNvPr id="69" name="图片 42" descr="IP电话.png"/>
          <p:cNvPicPr>
            <a:picLocks noChangeAspect="1"/>
          </p:cNvPicPr>
          <p:nvPr/>
        </p:nvPicPr>
        <p:blipFill>
          <a:blip r:embed="rId9" cstate="print"/>
          <a:stretch>
            <a:fillRect/>
          </a:stretch>
        </p:blipFill>
        <p:spPr bwMode="gray">
          <a:xfrm>
            <a:off x="2320751" y="5551698"/>
            <a:ext cx="335265" cy="315180"/>
          </a:xfrm>
          <a:prstGeom prst="rect">
            <a:avLst/>
          </a:prstGeom>
        </p:spPr>
      </p:pic>
      <p:pic>
        <p:nvPicPr>
          <p:cNvPr id="70" name="图片 11" descr="开放网络-蓝.png"/>
          <p:cNvPicPr>
            <a:picLocks noChangeAspect="1"/>
          </p:cNvPicPr>
          <p:nvPr/>
        </p:nvPicPr>
        <p:blipFill>
          <a:blip r:embed="rId10" cstate="print"/>
          <a:stretch>
            <a:fillRect/>
          </a:stretch>
        </p:blipFill>
        <p:spPr bwMode="gray">
          <a:xfrm>
            <a:off x="3509317" y="5592052"/>
            <a:ext cx="304595" cy="234472"/>
          </a:xfrm>
          <a:prstGeom prst="rect">
            <a:avLst/>
          </a:prstGeom>
        </p:spPr>
      </p:pic>
      <p:pic>
        <p:nvPicPr>
          <p:cNvPr id="71" name="图片 158" descr="SAN网络-蓝.png"/>
          <p:cNvPicPr>
            <a:picLocks noChangeAspect="1"/>
          </p:cNvPicPr>
          <p:nvPr/>
        </p:nvPicPr>
        <p:blipFill>
          <a:blip r:embed="rId11" cstate="print"/>
          <a:stretch>
            <a:fillRect/>
          </a:stretch>
        </p:blipFill>
        <p:spPr bwMode="gray">
          <a:xfrm>
            <a:off x="1962166" y="5573210"/>
            <a:ext cx="166121" cy="272157"/>
          </a:xfrm>
          <a:prstGeom prst="rect">
            <a:avLst/>
          </a:prstGeom>
        </p:spPr>
      </p:pic>
      <p:pic>
        <p:nvPicPr>
          <p:cNvPr id="72" name="图片 47" descr="打印机.png"/>
          <p:cNvPicPr>
            <a:picLocks noChangeAspect="1"/>
          </p:cNvPicPr>
          <p:nvPr/>
        </p:nvPicPr>
        <p:blipFill>
          <a:blip r:embed="rId12" cstate="print"/>
          <a:stretch>
            <a:fillRect/>
          </a:stretch>
        </p:blipFill>
        <p:spPr bwMode="gray">
          <a:xfrm>
            <a:off x="4385218" y="5576286"/>
            <a:ext cx="334175" cy="266004"/>
          </a:xfrm>
          <a:prstGeom prst="rect">
            <a:avLst/>
          </a:prstGeom>
        </p:spPr>
      </p:pic>
      <p:pic>
        <p:nvPicPr>
          <p:cNvPr id="73" name="图片 157" descr="故障链路.png"/>
          <p:cNvPicPr>
            <a:picLocks noChangeAspect="1"/>
          </p:cNvPicPr>
          <p:nvPr/>
        </p:nvPicPr>
        <p:blipFill>
          <a:blip r:embed="rId13" cstate="print"/>
          <a:stretch>
            <a:fillRect/>
          </a:stretch>
        </p:blipFill>
        <p:spPr bwMode="gray">
          <a:xfrm>
            <a:off x="3931917" y="5584276"/>
            <a:ext cx="335297" cy="250025"/>
          </a:xfrm>
          <a:prstGeom prst="rect">
            <a:avLst/>
          </a:prstGeom>
        </p:spPr>
      </p:pic>
      <p:sp>
        <p:nvSpPr>
          <p:cNvPr id="74" name="TextBox 85"/>
          <p:cNvSpPr txBox="1"/>
          <p:nvPr/>
        </p:nvSpPr>
        <p:spPr bwMode="gray">
          <a:xfrm>
            <a:off x="666333" y="2098066"/>
            <a:ext cx="723275"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出口区</a:t>
            </a:r>
          </a:p>
        </p:txBody>
      </p:sp>
      <p:sp>
        <p:nvSpPr>
          <p:cNvPr id="75" name="TextBox 86"/>
          <p:cNvSpPr txBox="1"/>
          <p:nvPr/>
        </p:nvSpPr>
        <p:spPr bwMode="gray">
          <a:xfrm>
            <a:off x="666333" y="3298020"/>
            <a:ext cx="723275"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76" name="TextBox 88"/>
          <p:cNvSpPr txBox="1"/>
          <p:nvPr/>
        </p:nvSpPr>
        <p:spPr bwMode="gray">
          <a:xfrm>
            <a:off x="666333" y="3937676"/>
            <a:ext cx="723275"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77" name="TextBox 89"/>
          <p:cNvSpPr txBox="1"/>
          <p:nvPr/>
        </p:nvSpPr>
        <p:spPr bwMode="gray">
          <a:xfrm>
            <a:off x="666333" y="5155723"/>
            <a:ext cx="723275"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78" name="TextBox 91"/>
          <p:cNvSpPr txBox="1"/>
          <p:nvPr/>
        </p:nvSpPr>
        <p:spPr bwMode="gray">
          <a:xfrm>
            <a:off x="666333" y="5656285"/>
            <a:ext cx="723275"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终端层</a:t>
            </a:r>
          </a:p>
        </p:txBody>
      </p:sp>
      <p:sp>
        <p:nvSpPr>
          <p:cNvPr id="79" name="Oval 92"/>
          <p:cNvSpPr/>
          <p:nvPr/>
        </p:nvSpPr>
        <p:spPr bwMode="gray">
          <a:xfrm rot="18651691">
            <a:off x="3386680" y="3422620"/>
            <a:ext cx="580554"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0" name="Group 17"/>
          <p:cNvGrpSpPr/>
          <p:nvPr/>
        </p:nvGrpSpPr>
        <p:grpSpPr bwMode="gray">
          <a:xfrm>
            <a:off x="2372154" y="1074890"/>
            <a:ext cx="740908" cy="375207"/>
            <a:chOff x="8023910" y="4961247"/>
            <a:chExt cx="740908" cy="375207"/>
          </a:xfrm>
        </p:grpSpPr>
        <p:grpSp>
          <p:nvGrpSpPr>
            <p:cNvPr id="81" name="组合 35"/>
            <p:cNvGrpSpPr/>
            <p:nvPr/>
          </p:nvGrpSpPr>
          <p:grpSpPr bwMode="gray">
            <a:xfrm>
              <a:off x="8077829" y="4961247"/>
              <a:ext cx="633070" cy="358898"/>
              <a:chOff x="3269076" y="1744970"/>
              <a:chExt cx="1860118" cy="1054529"/>
            </a:xfrm>
            <a:solidFill>
              <a:schemeClr val="bg1">
                <a:lumMod val="75000"/>
              </a:schemeClr>
            </a:solidFill>
          </p:grpSpPr>
          <p:sp>
            <p:nvSpPr>
              <p:cNvPr id="83"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2" name="TextBox 114"/>
            <p:cNvSpPr txBox="1"/>
            <p:nvPr/>
          </p:nvSpPr>
          <p:spPr bwMode="gray">
            <a:xfrm>
              <a:off x="8023910" y="5059455"/>
              <a:ext cx="740908"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9" name="Group 115"/>
          <p:cNvGrpSpPr/>
          <p:nvPr/>
        </p:nvGrpSpPr>
        <p:grpSpPr bwMode="gray">
          <a:xfrm>
            <a:off x="3239530" y="1074890"/>
            <a:ext cx="633070" cy="375207"/>
            <a:chOff x="8077829" y="4961247"/>
            <a:chExt cx="633070" cy="375207"/>
          </a:xfrm>
        </p:grpSpPr>
        <p:grpSp>
          <p:nvGrpSpPr>
            <p:cNvPr id="90" name="组合 35"/>
            <p:cNvGrpSpPr/>
            <p:nvPr/>
          </p:nvGrpSpPr>
          <p:grpSpPr bwMode="gray">
            <a:xfrm>
              <a:off x="8077829" y="4961247"/>
              <a:ext cx="633070" cy="358898"/>
              <a:chOff x="3269076" y="1744970"/>
              <a:chExt cx="1860118" cy="1054529"/>
            </a:xfrm>
            <a:solidFill>
              <a:schemeClr val="bg1">
                <a:lumMod val="75000"/>
              </a:schemeClr>
            </a:solidFill>
          </p:grpSpPr>
          <p:sp>
            <p:nvSpPr>
              <p:cNvPr id="92"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1" name="TextBox 117"/>
            <p:cNvSpPr txBox="1"/>
            <p:nvPr/>
          </p:nvSpPr>
          <p:spPr bwMode="gray">
            <a:xfrm>
              <a:off x="8118489" y="5059455"/>
              <a:ext cx="551754"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98" name="图片 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gray">
          <a:xfrm>
            <a:off x="2553225" y="2000173"/>
            <a:ext cx="337091" cy="275801"/>
          </a:xfrm>
          <a:prstGeom prst="rect">
            <a:avLst/>
          </a:prstGeom>
        </p:spPr>
      </p:pic>
      <p:pic>
        <p:nvPicPr>
          <p:cNvPr id="99" name="图片 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gray">
          <a:xfrm>
            <a:off x="3387520" y="2000173"/>
            <a:ext cx="337091" cy="275801"/>
          </a:xfrm>
          <a:prstGeom prst="rect">
            <a:avLst/>
          </a:prstGeom>
        </p:spPr>
      </p:pic>
      <p:cxnSp>
        <p:nvCxnSpPr>
          <p:cNvPr id="100" name="Straight Connector 127"/>
          <p:cNvCxnSpPr>
            <a:stCxn id="98" idx="3"/>
            <a:endCxn id="99" idx="1"/>
          </p:cNvCxnSpPr>
          <p:nvPr/>
        </p:nvCxnSpPr>
        <p:spPr bwMode="gray">
          <a:xfrm>
            <a:off x="2890316" y="2138074"/>
            <a:ext cx="49720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1" name="圆角矩形 100"/>
          <p:cNvSpPr/>
          <p:nvPr/>
        </p:nvSpPr>
        <p:spPr bwMode="gray">
          <a:xfrm>
            <a:off x="4244662" y="2464868"/>
            <a:ext cx="1250521" cy="634302"/>
          </a:xfrm>
          <a:prstGeom prst="roundRect">
            <a:avLst>
              <a:gd name="adj" fmla="val 2563"/>
            </a:avLst>
          </a:prstGeom>
          <a:solidFill>
            <a:schemeClr val="bg1">
              <a:lumMod val="9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TextBox 20"/>
          <p:cNvSpPr txBox="1"/>
          <p:nvPr/>
        </p:nvSpPr>
        <p:spPr bwMode="gray">
          <a:xfrm>
            <a:off x="4392869" y="2800849"/>
            <a:ext cx="954107"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管理运维区</a:t>
            </a:r>
          </a:p>
        </p:txBody>
      </p:sp>
      <p:cxnSp>
        <p:nvCxnSpPr>
          <p:cNvPr id="103" name="Straight Connector 79"/>
          <p:cNvCxnSpPr/>
          <p:nvPr/>
        </p:nvCxnSpPr>
        <p:spPr bwMode="gray">
          <a:xfrm flipH="1">
            <a:off x="1964668" y="2566688"/>
            <a:ext cx="119014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79"/>
          <p:cNvCxnSpPr/>
          <p:nvPr/>
        </p:nvCxnSpPr>
        <p:spPr bwMode="gray">
          <a:xfrm flipH="1">
            <a:off x="1964668" y="2626059"/>
            <a:ext cx="4305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Freeform 159"/>
          <p:cNvSpPr/>
          <p:nvPr/>
        </p:nvSpPr>
        <p:spPr bwMode="gray">
          <a:xfrm flipH="1">
            <a:off x="1318050" y="2273725"/>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 rtlCol="0" anchor="ctr">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Straight Connector 79"/>
          <p:cNvCxnSpPr/>
          <p:nvPr/>
        </p:nvCxnSpPr>
        <p:spPr bwMode="gray">
          <a:xfrm flipH="1">
            <a:off x="3059143" y="2626059"/>
            <a:ext cx="11855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7" name="图片 10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4328586" y="2547101"/>
            <a:ext cx="1082673" cy="199674"/>
          </a:xfrm>
          <a:prstGeom prst="rect">
            <a:avLst/>
          </a:prstGeom>
        </p:spPr>
      </p:pic>
    </p:spTree>
    <p:extLst>
      <p:ext uri="{BB962C8B-B14F-4D97-AF65-F5344CB8AC3E}">
        <p14:creationId xmlns:p14="http://schemas.microsoft.com/office/powerpoint/2010/main" val="30413809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18418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网络架构设计 </a:t>
            </a:r>
            <a:r>
              <a:rPr lang="en-US" altLang="zh-CN">
                <a:sym typeface="Huawei Sans" panose="020C0503030203020204" pitchFamily="34" charset="0"/>
              </a:rPr>
              <a:t>(1)</a:t>
            </a:r>
            <a:endParaRPr lang="zh-CN" altLang="en-US" dirty="0">
              <a:sym typeface="Huawei Sans" panose="020C0503030203020204" pitchFamily="34" charset="0"/>
            </a:endParaRPr>
          </a:p>
        </p:txBody>
      </p:sp>
      <p:sp>
        <p:nvSpPr>
          <p:cNvPr id="224" name="文本占位符 223"/>
          <p:cNvSpPr>
            <a:spLocks noGrp="1"/>
          </p:cNvSpPr>
          <p:nvPr>
            <p:ph type="body" sz="quarter" idx="10"/>
          </p:nvPr>
        </p:nvSpPr>
        <p:spPr>
          <a:xfrm>
            <a:off x="455612" y="1047751"/>
            <a:ext cx="11293475" cy="431832"/>
          </a:xfrm>
        </p:spPr>
        <p:txBody>
          <a:bodyPr/>
          <a:lstStyle/>
          <a:p>
            <a:r>
              <a:rPr lang="zh-CN" altLang="en-US" sz="1800">
                <a:sym typeface="Huawei Sans" panose="020C0503030203020204" pitchFamily="34" charset="0"/>
              </a:rPr>
              <a:t>在实际应用中，可以根据网络规模或业务需要灵活选择三层或二层架构。</a:t>
            </a:r>
            <a:endParaRPr lang="zh-CN" altLang="en-US" sz="1800" dirty="0">
              <a:sym typeface="Huawei Sans" panose="020C0503030203020204" pitchFamily="34" charset="0"/>
            </a:endParaRPr>
          </a:p>
        </p:txBody>
      </p:sp>
      <p:sp>
        <p:nvSpPr>
          <p:cNvPr id="112" name="Rounded Rectangle 97"/>
          <p:cNvSpPr/>
          <p:nvPr/>
        </p:nvSpPr>
        <p:spPr bwMode="gray">
          <a:xfrm>
            <a:off x="3041714" y="3754131"/>
            <a:ext cx="1434966" cy="1596296"/>
          </a:xfrm>
          <a:prstGeom prst="roundRect">
            <a:avLst>
              <a:gd name="adj" fmla="val 7423"/>
            </a:avLst>
          </a:prstGeom>
          <a:noFill/>
          <a:ln w="190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Rounded Rectangle 96"/>
          <p:cNvSpPr/>
          <p:nvPr/>
        </p:nvSpPr>
        <p:spPr bwMode="gray">
          <a:xfrm>
            <a:off x="1563063" y="3754131"/>
            <a:ext cx="1434966" cy="1596296"/>
          </a:xfrm>
          <a:prstGeom prst="roundRect">
            <a:avLst>
              <a:gd name="adj" fmla="val 7423"/>
            </a:avLst>
          </a:prstGeom>
          <a:noFill/>
          <a:ln w="190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4" name="图片 105" descr="AP.png"/>
          <p:cNvPicPr>
            <a:picLocks noChangeAspect="1"/>
          </p:cNvPicPr>
          <p:nvPr/>
        </p:nvPicPr>
        <p:blipFill>
          <a:blip r:embed="rId3" cstate="print"/>
          <a:stretch>
            <a:fillRect/>
          </a:stretch>
        </p:blipFill>
        <p:spPr bwMode="gray">
          <a:xfrm>
            <a:off x="3984672" y="5024081"/>
            <a:ext cx="335297" cy="274335"/>
          </a:xfrm>
          <a:prstGeom prst="rect">
            <a:avLst/>
          </a:prstGeom>
        </p:spPr>
      </p:pic>
      <p:cxnSp>
        <p:nvCxnSpPr>
          <p:cNvPr id="115" name="Straight Connector 9"/>
          <p:cNvCxnSpPr>
            <a:stCxn id="114" idx="0"/>
            <a:endCxn id="142" idx="2"/>
          </p:cNvCxnSpPr>
          <p:nvPr/>
        </p:nvCxnSpPr>
        <p:spPr bwMode="gray">
          <a:xfrm flipV="1">
            <a:off x="4152321" y="4836954"/>
            <a:ext cx="927" cy="187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6" name="图片 105" descr="AP.png"/>
          <p:cNvPicPr>
            <a:picLocks noChangeAspect="1"/>
          </p:cNvPicPr>
          <p:nvPr/>
        </p:nvPicPr>
        <p:blipFill>
          <a:blip r:embed="rId3" cstate="print"/>
          <a:stretch>
            <a:fillRect/>
          </a:stretch>
        </p:blipFill>
        <p:spPr bwMode="gray">
          <a:xfrm>
            <a:off x="2496577" y="5024081"/>
            <a:ext cx="335297" cy="274335"/>
          </a:xfrm>
          <a:prstGeom prst="rect">
            <a:avLst/>
          </a:prstGeom>
        </p:spPr>
      </p:pic>
      <p:pic>
        <p:nvPicPr>
          <p:cNvPr id="117" name="图片 86" descr="核心交换机.png"/>
          <p:cNvPicPr>
            <a:picLocks noChangeAspect="1"/>
          </p:cNvPicPr>
          <p:nvPr/>
        </p:nvPicPr>
        <p:blipFill>
          <a:blip r:embed="rId4" cstate="print"/>
          <a:stretch>
            <a:fillRect/>
          </a:stretch>
        </p:blipFill>
        <p:spPr bwMode="gray">
          <a:xfrm>
            <a:off x="2442953" y="3166159"/>
            <a:ext cx="335297" cy="274335"/>
          </a:xfrm>
          <a:prstGeom prst="rect">
            <a:avLst/>
          </a:prstGeom>
        </p:spPr>
      </p:pic>
      <p:pic>
        <p:nvPicPr>
          <p:cNvPr id="118" name="图片 86" descr="核心交换机.png"/>
          <p:cNvPicPr>
            <a:picLocks noChangeAspect="1"/>
          </p:cNvPicPr>
          <p:nvPr/>
        </p:nvPicPr>
        <p:blipFill>
          <a:blip r:embed="rId4" cstate="print"/>
          <a:stretch>
            <a:fillRect/>
          </a:stretch>
        </p:blipFill>
        <p:spPr bwMode="gray">
          <a:xfrm>
            <a:off x="3264675" y="3166159"/>
            <a:ext cx="335297" cy="274335"/>
          </a:xfrm>
          <a:prstGeom prst="rect">
            <a:avLst/>
          </a:prstGeom>
        </p:spPr>
      </p:pic>
      <p:cxnSp>
        <p:nvCxnSpPr>
          <p:cNvPr id="119" name="Straight Connector 14"/>
          <p:cNvCxnSpPr>
            <a:stCxn id="117" idx="3"/>
            <a:endCxn id="118" idx="1"/>
          </p:cNvCxnSpPr>
          <p:nvPr/>
        </p:nvCxnSpPr>
        <p:spPr bwMode="gray">
          <a:xfrm>
            <a:off x="2778250" y="3303327"/>
            <a:ext cx="486425"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pic>
        <p:nvPicPr>
          <p:cNvPr id="120" name="图片 87" descr="汇聚交换机.png"/>
          <p:cNvPicPr>
            <a:picLocks noChangeAspect="1"/>
          </p:cNvPicPr>
          <p:nvPr/>
        </p:nvPicPr>
        <p:blipFill>
          <a:blip r:embed="rId5" cstate="print"/>
          <a:stretch>
            <a:fillRect/>
          </a:stretch>
        </p:blipFill>
        <p:spPr bwMode="gray">
          <a:xfrm>
            <a:off x="1677815" y="3902663"/>
            <a:ext cx="335297" cy="274335"/>
          </a:xfrm>
          <a:prstGeom prst="rect">
            <a:avLst/>
          </a:prstGeom>
        </p:spPr>
      </p:pic>
      <p:pic>
        <p:nvPicPr>
          <p:cNvPr id="121" name="图片 87" descr="汇聚交换机.png"/>
          <p:cNvPicPr>
            <a:picLocks noChangeAspect="1"/>
          </p:cNvPicPr>
          <p:nvPr/>
        </p:nvPicPr>
        <p:blipFill>
          <a:blip r:embed="rId5" cstate="print"/>
          <a:stretch>
            <a:fillRect/>
          </a:stretch>
        </p:blipFill>
        <p:spPr bwMode="gray">
          <a:xfrm>
            <a:off x="2497564" y="3902663"/>
            <a:ext cx="335297" cy="274335"/>
          </a:xfrm>
          <a:prstGeom prst="rect">
            <a:avLst/>
          </a:prstGeom>
        </p:spPr>
      </p:pic>
      <p:cxnSp>
        <p:nvCxnSpPr>
          <p:cNvPr id="122" name="Straight Connector 17"/>
          <p:cNvCxnSpPr>
            <a:stCxn id="120" idx="3"/>
            <a:endCxn id="121" idx="1"/>
          </p:cNvCxnSpPr>
          <p:nvPr/>
        </p:nvCxnSpPr>
        <p:spPr bwMode="gray">
          <a:xfrm>
            <a:off x="2013112" y="4039831"/>
            <a:ext cx="484452"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pic>
        <p:nvPicPr>
          <p:cNvPr id="123" name="图片 87" descr="汇聚交换机.png"/>
          <p:cNvPicPr>
            <a:picLocks noChangeAspect="1"/>
          </p:cNvPicPr>
          <p:nvPr/>
        </p:nvPicPr>
        <p:blipFill>
          <a:blip r:embed="rId5" cstate="print"/>
          <a:stretch>
            <a:fillRect/>
          </a:stretch>
        </p:blipFill>
        <p:spPr bwMode="gray">
          <a:xfrm>
            <a:off x="3164863" y="3902663"/>
            <a:ext cx="335297" cy="274335"/>
          </a:xfrm>
          <a:prstGeom prst="rect">
            <a:avLst/>
          </a:prstGeom>
        </p:spPr>
      </p:pic>
      <p:pic>
        <p:nvPicPr>
          <p:cNvPr id="124" name="图片 87" descr="汇聚交换机.png"/>
          <p:cNvPicPr>
            <a:picLocks noChangeAspect="1"/>
          </p:cNvPicPr>
          <p:nvPr/>
        </p:nvPicPr>
        <p:blipFill>
          <a:blip r:embed="rId5" cstate="print"/>
          <a:stretch>
            <a:fillRect/>
          </a:stretch>
        </p:blipFill>
        <p:spPr bwMode="gray">
          <a:xfrm>
            <a:off x="3985599" y="3902663"/>
            <a:ext cx="335297" cy="274335"/>
          </a:xfrm>
          <a:prstGeom prst="rect">
            <a:avLst/>
          </a:prstGeom>
        </p:spPr>
      </p:pic>
      <p:cxnSp>
        <p:nvCxnSpPr>
          <p:cNvPr id="125" name="Straight Connector 22"/>
          <p:cNvCxnSpPr>
            <a:stCxn id="123" idx="3"/>
            <a:endCxn id="124" idx="1"/>
          </p:cNvCxnSpPr>
          <p:nvPr/>
        </p:nvCxnSpPr>
        <p:spPr bwMode="gray">
          <a:xfrm>
            <a:off x="3500160" y="4039831"/>
            <a:ext cx="485439"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26" name="Straight Connector 23"/>
          <p:cNvCxnSpPr>
            <a:stCxn id="120" idx="0"/>
            <a:endCxn id="117" idx="2"/>
          </p:cNvCxnSpPr>
          <p:nvPr/>
        </p:nvCxnSpPr>
        <p:spPr bwMode="gray">
          <a:xfrm flipV="1">
            <a:off x="1845464" y="3440494"/>
            <a:ext cx="765138" cy="462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24"/>
          <p:cNvCxnSpPr>
            <a:stCxn id="121" idx="0"/>
            <a:endCxn id="118" idx="2"/>
          </p:cNvCxnSpPr>
          <p:nvPr/>
        </p:nvCxnSpPr>
        <p:spPr bwMode="gray">
          <a:xfrm flipV="1">
            <a:off x="2665213" y="3440494"/>
            <a:ext cx="767111" cy="462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25"/>
          <p:cNvCxnSpPr>
            <a:stCxn id="123" idx="0"/>
            <a:endCxn id="117" idx="2"/>
          </p:cNvCxnSpPr>
          <p:nvPr/>
        </p:nvCxnSpPr>
        <p:spPr bwMode="gray">
          <a:xfrm flipH="1" flipV="1">
            <a:off x="2610602" y="3440494"/>
            <a:ext cx="721910" cy="462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26"/>
          <p:cNvCxnSpPr>
            <a:stCxn id="124" idx="0"/>
            <a:endCxn id="118" idx="2"/>
          </p:cNvCxnSpPr>
          <p:nvPr/>
        </p:nvCxnSpPr>
        <p:spPr bwMode="gray">
          <a:xfrm flipH="1" flipV="1">
            <a:off x="3432324" y="3440494"/>
            <a:ext cx="720924" cy="462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Oval 27"/>
          <p:cNvSpPr/>
          <p:nvPr/>
        </p:nvSpPr>
        <p:spPr bwMode="gray">
          <a:xfrm rot="2387647">
            <a:off x="2347519" y="3643156"/>
            <a:ext cx="527776"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1" name="图片 106" descr="堆叠交换机蓝.png"/>
          <p:cNvPicPr>
            <a:picLocks noChangeAspect="1"/>
          </p:cNvPicPr>
          <p:nvPr/>
        </p:nvPicPr>
        <p:blipFill>
          <a:blip r:embed="rId6" cstate="print"/>
          <a:stretch>
            <a:fillRect/>
          </a:stretch>
        </p:blipFill>
        <p:spPr bwMode="gray">
          <a:xfrm>
            <a:off x="1676918" y="4561152"/>
            <a:ext cx="337091" cy="275802"/>
          </a:xfrm>
          <a:prstGeom prst="rect">
            <a:avLst/>
          </a:prstGeom>
        </p:spPr>
      </p:pic>
      <p:pic>
        <p:nvPicPr>
          <p:cNvPr id="132" name="图片 106" descr="堆叠交换机蓝.png"/>
          <p:cNvPicPr>
            <a:picLocks noChangeAspect="1"/>
          </p:cNvPicPr>
          <p:nvPr/>
        </p:nvPicPr>
        <p:blipFill>
          <a:blip r:embed="rId6" cstate="print"/>
          <a:stretch>
            <a:fillRect/>
          </a:stretch>
        </p:blipFill>
        <p:spPr bwMode="gray">
          <a:xfrm>
            <a:off x="2496667" y="4561152"/>
            <a:ext cx="337091" cy="275802"/>
          </a:xfrm>
          <a:prstGeom prst="rect">
            <a:avLst/>
          </a:prstGeom>
        </p:spPr>
      </p:pic>
      <p:cxnSp>
        <p:nvCxnSpPr>
          <p:cNvPr id="133" name="Straight Connector 30"/>
          <p:cNvCxnSpPr>
            <a:stCxn id="131" idx="0"/>
            <a:endCxn id="120" idx="2"/>
          </p:cNvCxnSpPr>
          <p:nvPr/>
        </p:nvCxnSpPr>
        <p:spPr bwMode="gray">
          <a:xfrm flipV="1">
            <a:off x="1845464" y="4176998"/>
            <a:ext cx="0"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31"/>
          <p:cNvCxnSpPr>
            <a:stCxn id="131" idx="0"/>
            <a:endCxn id="121" idx="2"/>
          </p:cNvCxnSpPr>
          <p:nvPr/>
        </p:nvCxnSpPr>
        <p:spPr bwMode="gray">
          <a:xfrm flipV="1">
            <a:off x="1845464" y="4176998"/>
            <a:ext cx="819749"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32"/>
          <p:cNvCxnSpPr>
            <a:stCxn id="132" idx="0"/>
            <a:endCxn id="120" idx="2"/>
          </p:cNvCxnSpPr>
          <p:nvPr/>
        </p:nvCxnSpPr>
        <p:spPr bwMode="gray">
          <a:xfrm flipH="1" flipV="1">
            <a:off x="1845464" y="4176998"/>
            <a:ext cx="819749"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33"/>
          <p:cNvCxnSpPr>
            <a:stCxn id="132" idx="0"/>
            <a:endCxn id="121" idx="2"/>
          </p:cNvCxnSpPr>
          <p:nvPr/>
        </p:nvCxnSpPr>
        <p:spPr bwMode="gray">
          <a:xfrm flipV="1">
            <a:off x="2665213" y="4176998"/>
            <a:ext cx="0"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7" name="Group 34"/>
          <p:cNvGrpSpPr/>
          <p:nvPr/>
        </p:nvGrpSpPr>
        <p:grpSpPr bwMode="gray">
          <a:xfrm>
            <a:off x="2124355" y="4667255"/>
            <a:ext cx="261965" cy="61979"/>
            <a:chOff x="559282" y="6488261"/>
            <a:chExt cx="261965" cy="61979"/>
          </a:xfrm>
          <a:solidFill>
            <a:schemeClr val="bg1">
              <a:lumMod val="50000"/>
            </a:schemeClr>
          </a:solidFill>
        </p:grpSpPr>
        <p:sp>
          <p:nvSpPr>
            <p:cNvPr id="138" name="Oval 35"/>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Oval 36"/>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Oval 37"/>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41" name="图片 106" descr="堆叠交换机蓝.png"/>
          <p:cNvPicPr>
            <a:picLocks noChangeAspect="1"/>
          </p:cNvPicPr>
          <p:nvPr/>
        </p:nvPicPr>
        <p:blipFill>
          <a:blip r:embed="rId6" cstate="print"/>
          <a:stretch>
            <a:fillRect/>
          </a:stretch>
        </p:blipFill>
        <p:spPr bwMode="gray">
          <a:xfrm>
            <a:off x="3163966" y="4561152"/>
            <a:ext cx="337091" cy="275802"/>
          </a:xfrm>
          <a:prstGeom prst="rect">
            <a:avLst/>
          </a:prstGeom>
        </p:spPr>
      </p:pic>
      <p:pic>
        <p:nvPicPr>
          <p:cNvPr id="142" name="图片 106" descr="堆叠交换机蓝.png"/>
          <p:cNvPicPr>
            <a:picLocks noChangeAspect="1"/>
          </p:cNvPicPr>
          <p:nvPr/>
        </p:nvPicPr>
        <p:blipFill>
          <a:blip r:embed="rId6" cstate="print"/>
          <a:stretch>
            <a:fillRect/>
          </a:stretch>
        </p:blipFill>
        <p:spPr bwMode="gray">
          <a:xfrm>
            <a:off x="3984702" y="4561152"/>
            <a:ext cx="337091" cy="275802"/>
          </a:xfrm>
          <a:prstGeom prst="rect">
            <a:avLst/>
          </a:prstGeom>
        </p:spPr>
      </p:pic>
      <p:grpSp>
        <p:nvGrpSpPr>
          <p:cNvPr id="143" name="Group 40"/>
          <p:cNvGrpSpPr/>
          <p:nvPr/>
        </p:nvGrpSpPr>
        <p:grpSpPr bwMode="gray">
          <a:xfrm>
            <a:off x="3612390" y="4667255"/>
            <a:ext cx="261965" cy="61979"/>
            <a:chOff x="559282" y="6488261"/>
            <a:chExt cx="261965" cy="61979"/>
          </a:xfrm>
          <a:solidFill>
            <a:schemeClr val="bg1">
              <a:lumMod val="50000"/>
            </a:schemeClr>
          </a:solidFill>
        </p:grpSpPr>
        <p:sp>
          <p:nvSpPr>
            <p:cNvPr id="144" name="Oval 4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Oval 42"/>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Oval 43"/>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47" name="Straight Connector 44"/>
          <p:cNvCxnSpPr>
            <a:stCxn id="141" idx="0"/>
            <a:endCxn id="123" idx="2"/>
          </p:cNvCxnSpPr>
          <p:nvPr/>
        </p:nvCxnSpPr>
        <p:spPr bwMode="gray">
          <a:xfrm flipV="1">
            <a:off x="3332512" y="4176998"/>
            <a:ext cx="0"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45"/>
          <p:cNvCxnSpPr>
            <a:stCxn id="142" idx="0"/>
            <a:endCxn id="124" idx="2"/>
          </p:cNvCxnSpPr>
          <p:nvPr/>
        </p:nvCxnSpPr>
        <p:spPr bwMode="gray">
          <a:xfrm flipV="1">
            <a:off x="4153248" y="4176998"/>
            <a:ext cx="0"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46"/>
          <p:cNvCxnSpPr>
            <a:stCxn id="141" idx="0"/>
            <a:endCxn id="124" idx="2"/>
          </p:cNvCxnSpPr>
          <p:nvPr/>
        </p:nvCxnSpPr>
        <p:spPr bwMode="gray">
          <a:xfrm flipV="1">
            <a:off x="3332512" y="4176998"/>
            <a:ext cx="820736"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47"/>
          <p:cNvCxnSpPr>
            <a:stCxn id="142" idx="0"/>
            <a:endCxn id="123" idx="2"/>
          </p:cNvCxnSpPr>
          <p:nvPr/>
        </p:nvCxnSpPr>
        <p:spPr bwMode="gray">
          <a:xfrm flipH="1" flipV="1">
            <a:off x="3332512" y="4176998"/>
            <a:ext cx="820736"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48"/>
          <p:cNvCxnSpPr>
            <a:stCxn id="116" idx="0"/>
            <a:endCxn id="132" idx="2"/>
          </p:cNvCxnSpPr>
          <p:nvPr/>
        </p:nvCxnSpPr>
        <p:spPr bwMode="gray">
          <a:xfrm flipV="1">
            <a:off x="2664226" y="4836954"/>
            <a:ext cx="987" cy="187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52"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2439952" y="2159265"/>
            <a:ext cx="337091" cy="275801"/>
          </a:xfrm>
          <a:prstGeom prst="rect">
            <a:avLst/>
          </a:prstGeom>
          <a:noFill/>
        </p:spPr>
      </p:pic>
      <p:pic>
        <p:nvPicPr>
          <p:cNvPr id="153"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3263778" y="2159265"/>
            <a:ext cx="337091" cy="275801"/>
          </a:xfrm>
          <a:prstGeom prst="rect">
            <a:avLst/>
          </a:prstGeom>
          <a:noFill/>
        </p:spPr>
      </p:pic>
      <p:cxnSp>
        <p:nvCxnSpPr>
          <p:cNvPr id="154" name="Straight Connector 52"/>
          <p:cNvCxnSpPr>
            <a:stCxn id="153" idx="2"/>
            <a:endCxn id="118" idx="0"/>
          </p:cNvCxnSpPr>
          <p:nvPr/>
        </p:nvCxnSpPr>
        <p:spPr bwMode="gray">
          <a:xfrm>
            <a:off x="3432324" y="2435066"/>
            <a:ext cx="0" cy="7310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53"/>
          <p:cNvCxnSpPr>
            <a:stCxn id="152" idx="2"/>
            <a:endCxn id="117" idx="0"/>
          </p:cNvCxnSpPr>
          <p:nvPr/>
        </p:nvCxnSpPr>
        <p:spPr bwMode="gray">
          <a:xfrm>
            <a:off x="2608498" y="2435066"/>
            <a:ext cx="2104" cy="7310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54"/>
          <p:cNvCxnSpPr>
            <a:stCxn id="152" idx="3"/>
            <a:endCxn id="153" idx="1"/>
          </p:cNvCxnSpPr>
          <p:nvPr/>
        </p:nvCxnSpPr>
        <p:spPr bwMode="gray">
          <a:xfrm>
            <a:off x="2777043" y="2297166"/>
            <a:ext cx="4867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Oval 57"/>
          <p:cNvSpPr/>
          <p:nvPr/>
        </p:nvSpPr>
        <p:spPr bwMode="gray">
          <a:xfrm rot="1782887">
            <a:off x="1778586" y="4380888"/>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Oval 58"/>
          <p:cNvSpPr/>
          <p:nvPr/>
        </p:nvSpPr>
        <p:spPr bwMode="gray">
          <a:xfrm rot="19401600">
            <a:off x="2426181" y="4369362"/>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Oval 59"/>
          <p:cNvSpPr/>
          <p:nvPr/>
        </p:nvSpPr>
        <p:spPr bwMode="gray">
          <a:xfrm rot="1782887">
            <a:off x="3251690" y="4392411"/>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Oval 60"/>
          <p:cNvSpPr/>
          <p:nvPr/>
        </p:nvSpPr>
        <p:spPr bwMode="gray">
          <a:xfrm rot="19401600">
            <a:off x="3915403" y="4387657"/>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Oval 72"/>
          <p:cNvSpPr/>
          <p:nvPr/>
        </p:nvSpPr>
        <p:spPr bwMode="gray">
          <a:xfrm rot="19137847">
            <a:off x="3119363" y="3631385"/>
            <a:ext cx="555162"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2"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429483" y="2677400"/>
            <a:ext cx="337091" cy="275801"/>
          </a:xfrm>
          <a:prstGeom prst="rect">
            <a:avLst/>
          </a:prstGeom>
        </p:spPr>
      </p:pic>
      <p:pic>
        <p:nvPicPr>
          <p:cNvPr id="163"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3263778" y="2677400"/>
            <a:ext cx="337091" cy="275801"/>
          </a:xfrm>
          <a:prstGeom prst="rect">
            <a:avLst/>
          </a:prstGeom>
        </p:spPr>
      </p:pic>
      <p:cxnSp>
        <p:nvCxnSpPr>
          <p:cNvPr id="164" name="Straight Connector 93"/>
          <p:cNvCxnSpPr>
            <a:stCxn id="162" idx="3"/>
            <a:endCxn id="163" idx="1"/>
          </p:cNvCxnSpPr>
          <p:nvPr/>
        </p:nvCxnSpPr>
        <p:spPr bwMode="gray">
          <a:xfrm>
            <a:off x="2766574" y="2815301"/>
            <a:ext cx="49720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5" name="TextBox 98"/>
          <p:cNvSpPr txBox="1"/>
          <p:nvPr/>
        </p:nvSpPr>
        <p:spPr bwMode="gray">
          <a:xfrm>
            <a:off x="1563063" y="4997846"/>
            <a:ext cx="694421"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Block 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TextBox 99"/>
          <p:cNvSpPr txBox="1"/>
          <p:nvPr/>
        </p:nvSpPr>
        <p:spPr bwMode="gray">
          <a:xfrm>
            <a:off x="3080878" y="4997846"/>
            <a:ext cx="72487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Block N</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7" name="图片 105" descr="AP.png"/>
          <p:cNvPicPr>
            <a:picLocks noChangeAspect="1"/>
          </p:cNvPicPr>
          <p:nvPr/>
        </p:nvPicPr>
        <p:blipFill>
          <a:blip r:embed="rId3" cstate="print"/>
          <a:stretch>
            <a:fillRect/>
          </a:stretch>
        </p:blipFill>
        <p:spPr bwMode="gray">
          <a:xfrm>
            <a:off x="7652075" y="5024081"/>
            <a:ext cx="335297" cy="274335"/>
          </a:xfrm>
          <a:prstGeom prst="rect">
            <a:avLst/>
          </a:prstGeom>
        </p:spPr>
      </p:pic>
      <p:pic>
        <p:nvPicPr>
          <p:cNvPr id="168" name="图片 86" descr="核心交换机.png"/>
          <p:cNvPicPr>
            <a:picLocks noChangeAspect="1"/>
          </p:cNvPicPr>
          <p:nvPr/>
        </p:nvPicPr>
        <p:blipFill>
          <a:blip r:embed="rId4" cstate="print"/>
          <a:stretch>
            <a:fillRect/>
          </a:stretch>
        </p:blipFill>
        <p:spPr bwMode="gray">
          <a:xfrm>
            <a:off x="6289036" y="3166159"/>
            <a:ext cx="335297" cy="274335"/>
          </a:xfrm>
          <a:prstGeom prst="rect">
            <a:avLst/>
          </a:prstGeom>
        </p:spPr>
      </p:pic>
      <p:pic>
        <p:nvPicPr>
          <p:cNvPr id="169" name="图片 86" descr="核心交换机.png"/>
          <p:cNvPicPr>
            <a:picLocks noChangeAspect="1"/>
          </p:cNvPicPr>
          <p:nvPr/>
        </p:nvPicPr>
        <p:blipFill>
          <a:blip r:embed="rId4" cstate="print"/>
          <a:stretch>
            <a:fillRect/>
          </a:stretch>
        </p:blipFill>
        <p:spPr bwMode="gray">
          <a:xfrm>
            <a:off x="7653959" y="3166159"/>
            <a:ext cx="335297" cy="274335"/>
          </a:xfrm>
          <a:prstGeom prst="rect">
            <a:avLst/>
          </a:prstGeom>
        </p:spPr>
      </p:pic>
      <p:pic>
        <p:nvPicPr>
          <p:cNvPr id="170" name="图片 106" descr="堆叠交换机蓝.png"/>
          <p:cNvPicPr>
            <a:picLocks noChangeAspect="1"/>
          </p:cNvPicPr>
          <p:nvPr/>
        </p:nvPicPr>
        <p:blipFill>
          <a:blip r:embed="rId6" cstate="print"/>
          <a:stretch>
            <a:fillRect/>
          </a:stretch>
        </p:blipFill>
        <p:spPr bwMode="gray">
          <a:xfrm>
            <a:off x="6289215" y="4561152"/>
            <a:ext cx="337091" cy="275802"/>
          </a:xfrm>
          <a:prstGeom prst="rect">
            <a:avLst/>
          </a:prstGeom>
        </p:spPr>
      </p:pic>
      <p:pic>
        <p:nvPicPr>
          <p:cNvPr id="171" name="图片 106" descr="堆叠交换机蓝.png"/>
          <p:cNvPicPr>
            <a:picLocks noChangeAspect="1"/>
          </p:cNvPicPr>
          <p:nvPr/>
        </p:nvPicPr>
        <p:blipFill>
          <a:blip r:embed="rId6" cstate="print"/>
          <a:stretch>
            <a:fillRect/>
          </a:stretch>
        </p:blipFill>
        <p:spPr bwMode="gray">
          <a:xfrm>
            <a:off x="7652165" y="4561152"/>
            <a:ext cx="337091" cy="275802"/>
          </a:xfrm>
          <a:prstGeom prst="rect">
            <a:avLst/>
          </a:prstGeom>
        </p:spPr>
      </p:pic>
      <p:grpSp>
        <p:nvGrpSpPr>
          <p:cNvPr id="172" name="Group 142"/>
          <p:cNvGrpSpPr/>
          <p:nvPr/>
        </p:nvGrpSpPr>
        <p:grpSpPr bwMode="gray">
          <a:xfrm>
            <a:off x="6736652" y="4667255"/>
            <a:ext cx="261965" cy="61979"/>
            <a:chOff x="559282" y="6488261"/>
            <a:chExt cx="261965" cy="61979"/>
          </a:xfrm>
          <a:solidFill>
            <a:schemeClr val="bg1">
              <a:lumMod val="50000"/>
            </a:schemeClr>
          </a:solidFill>
        </p:grpSpPr>
        <p:sp>
          <p:nvSpPr>
            <p:cNvPr id="173" name="Oval 143"/>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Oval 14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Oval 14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76" name="Straight Connector 156"/>
          <p:cNvCxnSpPr>
            <a:stCxn id="167" idx="0"/>
            <a:endCxn id="171" idx="2"/>
          </p:cNvCxnSpPr>
          <p:nvPr/>
        </p:nvCxnSpPr>
        <p:spPr bwMode="gray">
          <a:xfrm flipV="1">
            <a:off x="7819724" y="4836954"/>
            <a:ext cx="987" cy="187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77"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6286035" y="2159265"/>
            <a:ext cx="337091" cy="275801"/>
          </a:xfrm>
          <a:prstGeom prst="rect">
            <a:avLst/>
          </a:prstGeom>
          <a:noFill/>
        </p:spPr>
      </p:pic>
      <p:pic>
        <p:nvPicPr>
          <p:cNvPr id="178"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7653062" y="2159265"/>
            <a:ext cx="337091" cy="275801"/>
          </a:xfrm>
          <a:prstGeom prst="rect">
            <a:avLst/>
          </a:prstGeom>
          <a:noFill/>
        </p:spPr>
      </p:pic>
      <p:cxnSp>
        <p:nvCxnSpPr>
          <p:cNvPr id="179" name="Straight Connector 160"/>
          <p:cNvCxnSpPr>
            <a:stCxn id="178" idx="2"/>
            <a:endCxn id="169" idx="0"/>
          </p:cNvCxnSpPr>
          <p:nvPr/>
        </p:nvCxnSpPr>
        <p:spPr bwMode="gray">
          <a:xfrm>
            <a:off x="7821608" y="2435066"/>
            <a:ext cx="0" cy="7310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61"/>
          <p:cNvCxnSpPr>
            <a:stCxn id="177" idx="2"/>
            <a:endCxn id="168" idx="0"/>
          </p:cNvCxnSpPr>
          <p:nvPr/>
        </p:nvCxnSpPr>
        <p:spPr bwMode="gray">
          <a:xfrm>
            <a:off x="6454581" y="2435066"/>
            <a:ext cx="2104" cy="7310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62"/>
          <p:cNvCxnSpPr>
            <a:stCxn id="177" idx="3"/>
            <a:endCxn id="178" idx="1"/>
          </p:cNvCxnSpPr>
          <p:nvPr/>
        </p:nvCxnSpPr>
        <p:spPr bwMode="gray">
          <a:xfrm>
            <a:off x="6623126" y="2297166"/>
            <a:ext cx="10299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82"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6275566" y="2677400"/>
            <a:ext cx="337091" cy="275801"/>
          </a:xfrm>
          <a:prstGeom prst="rect">
            <a:avLst/>
          </a:prstGeom>
        </p:spPr>
      </p:pic>
      <p:pic>
        <p:nvPicPr>
          <p:cNvPr id="183"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7653062" y="2677400"/>
            <a:ext cx="337091" cy="275801"/>
          </a:xfrm>
          <a:prstGeom prst="rect">
            <a:avLst/>
          </a:prstGeom>
        </p:spPr>
      </p:pic>
      <p:cxnSp>
        <p:nvCxnSpPr>
          <p:cNvPr id="184" name="Straight Connector 188"/>
          <p:cNvCxnSpPr>
            <a:stCxn id="182" idx="3"/>
            <a:endCxn id="183" idx="1"/>
          </p:cNvCxnSpPr>
          <p:nvPr/>
        </p:nvCxnSpPr>
        <p:spPr bwMode="gray">
          <a:xfrm>
            <a:off x="6612657" y="2815301"/>
            <a:ext cx="1040405"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5" name="Straight Connector 191"/>
          <p:cNvCxnSpPr>
            <a:stCxn id="168" idx="3"/>
            <a:endCxn id="169" idx="1"/>
          </p:cNvCxnSpPr>
          <p:nvPr/>
        </p:nvCxnSpPr>
        <p:spPr bwMode="gray">
          <a:xfrm>
            <a:off x="6624333" y="3303327"/>
            <a:ext cx="1029626"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86" name="Straight Connector 194"/>
          <p:cNvCxnSpPr>
            <a:stCxn id="168" idx="2"/>
            <a:endCxn id="170" idx="0"/>
          </p:cNvCxnSpPr>
          <p:nvPr/>
        </p:nvCxnSpPr>
        <p:spPr bwMode="gray">
          <a:xfrm>
            <a:off x="6456685" y="3440494"/>
            <a:ext cx="1076" cy="11206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Straight Connector 197"/>
          <p:cNvCxnSpPr>
            <a:stCxn id="169" idx="2"/>
            <a:endCxn id="170" idx="0"/>
          </p:cNvCxnSpPr>
          <p:nvPr/>
        </p:nvCxnSpPr>
        <p:spPr bwMode="gray">
          <a:xfrm flipH="1">
            <a:off x="6457761" y="3440494"/>
            <a:ext cx="1363847" cy="11206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Straight Connector 200"/>
          <p:cNvCxnSpPr>
            <a:stCxn id="168" idx="2"/>
            <a:endCxn id="171" idx="0"/>
          </p:cNvCxnSpPr>
          <p:nvPr/>
        </p:nvCxnSpPr>
        <p:spPr bwMode="gray">
          <a:xfrm>
            <a:off x="6456685" y="3440494"/>
            <a:ext cx="1364026" cy="11206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203"/>
          <p:cNvCxnSpPr>
            <a:stCxn id="169" idx="2"/>
            <a:endCxn id="171" idx="0"/>
          </p:cNvCxnSpPr>
          <p:nvPr/>
        </p:nvCxnSpPr>
        <p:spPr bwMode="gray">
          <a:xfrm flipH="1">
            <a:off x="7820711" y="3440494"/>
            <a:ext cx="897" cy="11206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0" name="Oval 251"/>
          <p:cNvSpPr/>
          <p:nvPr/>
        </p:nvSpPr>
        <p:spPr bwMode="gray">
          <a:xfrm rot="870246">
            <a:off x="6375966" y="4295595"/>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Oval 252"/>
          <p:cNvSpPr/>
          <p:nvPr/>
        </p:nvSpPr>
        <p:spPr bwMode="gray">
          <a:xfrm rot="20219392">
            <a:off x="7604332" y="4295595"/>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TextBox 321"/>
          <p:cNvSpPr txBox="1"/>
          <p:nvPr/>
        </p:nvSpPr>
        <p:spPr bwMode="gray">
          <a:xfrm>
            <a:off x="564249" y="1474915"/>
            <a:ext cx="432000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三层架构</a:t>
            </a:r>
            <a:endParaRPr lang="zh-CN" altLang="en-US" dirty="0">
              <a:sym typeface="Huawei Sans" panose="020C0503030203020204" pitchFamily="34" charset="0"/>
            </a:endParaRPr>
          </a:p>
        </p:txBody>
      </p:sp>
      <p:sp>
        <p:nvSpPr>
          <p:cNvPr id="208" name="TextBox 322"/>
          <p:cNvSpPr txBox="1"/>
          <p:nvPr/>
        </p:nvSpPr>
        <p:spPr bwMode="gray">
          <a:xfrm>
            <a:off x="5005119" y="1474915"/>
            <a:ext cx="432000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两层架构</a:t>
            </a:r>
            <a:endParaRPr lang="zh-CN" altLang="en-US" dirty="0">
              <a:sym typeface="Huawei Sans" panose="020C0503030203020204" pitchFamily="34" charset="0"/>
            </a:endParaRPr>
          </a:p>
        </p:txBody>
      </p:sp>
      <p:sp>
        <p:nvSpPr>
          <p:cNvPr id="210" name="TextBox 86"/>
          <p:cNvSpPr txBox="1"/>
          <p:nvPr/>
        </p:nvSpPr>
        <p:spPr bwMode="gray">
          <a:xfrm>
            <a:off x="913664" y="3194273"/>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211" name="TextBox 88"/>
          <p:cNvSpPr txBox="1"/>
          <p:nvPr/>
        </p:nvSpPr>
        <p:spPr bwMode="gray">
          <a:xfrm>
            <a:off x="913664" y="3925194"/>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212" name="TextBox 89"/>
          <p:cNvSpPr txBox="1"/>
          <p:nvPr/>
        </p:nvSpPr>
        <p:spPr bwMode="gray">
          <a:xfrm>
            <a:off x="913664" y="4583107"/>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213" name="TextBox 86"/>
          <p:cNvSpPr txBox="1"/>
          <p:nvPr/>
        </p:nvSpPr>
        <p:spPr bwMode="gray">
          <a:xfrm>
            <a:off x="5616346" y="3194273"/>
            <a:ext cx="646331"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214" name="TextBox 89"/>
          <p:cNvSpPr txBox="1"/>
          <p:nvPr/>
        </p:nvSpPr>
        <p:spPr bwMode="gray">
          <a:xfrm>
            <a:off x="5616346" y="4583107"/>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216" name="圆角矩形 75"/>
          <p:cNvSpPr/>
          <p:nvPr/>
        </p:nvSpPr>
        <p:spPr bwMode="gray">
          <a:xfrm>
            <a:off x="564250" y="1904730"/>
            <a:ext cx="4320000" cy="4296045"/>
          </a:xfrm>
          <a:prstGeom prst="roundRect">
            <a:avLst>
              <a:gd name="adj" fmla="val 1534"/>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200"/>
              </a:lnSpc>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7" name="圆角矩形 75"/>
          <p:cNvSpPr/>
          <p:nvPr/>
        </p:nvSpPr>
        <p:spPr bwMode="gray">
          <a:xfrm>
            <a:off x="5002665" y="1904730"/>
            <a:ext cx="4320000" cy="4296045"/>
          </a:xfrm>
          <a:prstGeom prst="roundRect">
            <a:avLst>
              <a:gd name="adj" fmla="val 1534"/>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200"/>
              </a:lnSpc>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9" name="TextBox 89"/>
          <p:cNvSpPr txBox="1"/>
          <p:nvPr/>
        </p:nvSpPr>
        <p:spPr bwMode="gray">
          <a:xfrm>
            <a:off x="564249" y="5546818"/>
            <a:ext cx="4320000" cy="605294"/>
          </a:xfrm>
          <a:prstGeom prst="rect">
            <a:avLst/>
          </a:prstGeom>
          <a:noFill/>
        </p:spPr>
        <p:txBody>
          <a:bodyPr wrap="square" rtlCol="0">
            <a:spAutoFit/>
          </a:bodyPr>
          <a:lstStyle/>
          <a:p>
            <a:pPr>
              <a:lnSpc>
                <a:spcPts val="2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适用场景：用户规模较大，或涉及多栋楼的大型园区网络（例如高校园区网）的大型园区。</a:t>
            </a:r>
          </a:p>
        </p:txBody>
      </p:sp>
      <p:sp>
        <p:nvSpPr>
          <p:cNvPr id="220" name="TextBox 89"/>
          <p:cNvSpPr txBox="1"/>
          <p:nvPr/>
        </p:nvSpPr>
        <p:spPr bwMode="gray">
          <a:xfrm>
            <a:off x="5002663" y="5546818"/>
            <a:ext cx="4320002" cy="332463"/>
          </a:xfrm>
          <a:prstGeom prst="rect">
            <a:avLst/>
          </a:prstGeom>
          <a:noFill/>
        </p:spPr>
        <p:txBody>
          <a:bodyPr wrap="square" rtlCol="0">
            <a:spAutoFit/>
          </a:bodyPr>
          <a:lstStyle/>
          <a:p>
            <a:pPr>
              <a:lnSpc>
                <a:spcPts val="2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适用场景：涉及一栋楼的中小型园区网络。 </a:t>
            </a:r>
          </a:p>
        </p:txBody>
      </p:sp>
      <p:sp>
        <p:nvSpPr>
          <p:cNvPr id="223" name="圆角矩形标注 222"/>
          <p:cNvSpPr/>
          <p:nvPr/>
        </p:nvSpPr>
        <p:spPr bwMode="gray">
          <a:xfrm>
            <a:off x="9630803" y="3104479"/>
            <a:ext cx="1864103" cy="1792687"/>
          </a:xfrm>
          <a:prstGeom prst="wedgeRoundRectCallout">
            <a:avLst>
              <a:gd name="adj1" fmla="val -48889"/>
              <a:gd name="adj2" fmla="val -59513"/>
              <a:gd name="adj3" fmla="val 16667"/>
            </a:avLst>
          </a:prstGeom>
          <a:solidFill>
            <a:srgbClr val="FEF6DE"/>
          </a:solidFill>
          <a:ln w="12700">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33" indent="-171433" defTabSz="1219150">
              <a:lnSpc>
                <a:spcPts val="2800"/>
              </a:lnSpc>
              <a:spcAft>
                <a:spcPts val="600"/>
              </a:spcAft>
              <a:buFont typeface="Arial" panose="020B0604020202020204" pitchFamily="34" charset="0"/>
              <a:buChar char="•"/>
            </a:pPr>
            <a:r>
              <a:rPr lang="zh-CN" altLang="en-US" sz="16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层次化设计</a:t>
            </a:r>
          </a:p>
          <a:p>
            <a:pPr marL="171433" indent="-171433" defTabSz="1219150">
              <a:lnSpc>
                <a:spcPts val="2800"/>
              </a:lnSpc>
              <a:spcAft>
                <a:spcPts val="600"/>
              </a:spcAft>
              <a:buFont typeface="Arial" panose="020B0604020202020204" pitchFamily="34" charset="0"/>
              <a:buChar char="•"/>
            </a:pPr>
            <a:r>
              <a:rPr lang="zh-CN" altLang="en-US" sz="16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模块化设计</a:t>
            </a:r>
          </a:p>
          <a:p>
            <a:pPr marL="171433" indent="-171433" defTabSz="1219150">
              <a:lnSpc>
                <a:spcPts val="2800"/>
              </a:lnSpc>
              <a:spcAft>
                <a:spcPts val="600"/>
              </a:spcAft>
              <a:buFont typeface="Arial" panose="020B0604020202020204" pitchFamily="34" charset="0"/>
              <a:buChar char="•"/>
            </a:pPr>
            <a:r>
              <a:rPr lang="zh-CN" altLang="en-US" sz="16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冗余设计</a:t>
            </a:r>
            <a:endParaRPr lang="en-US" altLang="zh-CN" sz="16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33" indent="-171433" defTabSz="1219150">
              <a:lnSpc>
                <a:spcPts val="2800"/>
              </a:lnSpc>
              <a:spcAft>
                <a:spcPts val="600"/>
              </a:spcAft>
              <a:buFont typeface="Arial" panose="020B0604020202020204" pitchFamily="34" charset="0"/>
              <a:buChar char="•"/>
            </a:pPr>
            <a:r>
              <a:rPr lang="zh-CN" altLang="en-US" sz="16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对称性设计</a:t>
            </a:r>
            <a:endParaRPr lang="en-US" altLang="zh-CN" sz="1600" dirty="0">
              <a:solidFill>
                <a:srgbClr val="ED6D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3876956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箭头连接符 24"/>
          <p:cNvCxnSpPr/>
          <p:nvPr/>
        </p:nvCxnSpPr>
        <p:spPr bwMode="gray">
          <a:xfrm>
            <a:off x="7552556" y="5421432"/>
            <a:ext cx="740533" cy="0"/>
          </a:xfrm>
          <a:prstGeom prst="straightConnector1">
            <a:avLst/>
          </a:pr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36" name="任意多边形 35"/>
          <p:cNvSpPr/>
          <p:nvPr/>
        </p:nvSpPr>
        <p:spPr bwMode="gray">
          <a:xfrm>
            <a:off x="6931218" y="5755276"/>
            <a:ext cx="1384917" cy="230819"/>
          </a:xfrm>
          <a:custGeom>
            <a:avLst/>
            <a:gdLst>
              <a:gd name="connsiteX0" fmla="*/ 0 w 1384917"/>
              <a:gd name="connsiteY0" fmla="*/ 0 h 230819"/>
              <a:gd name="connsiteX1" fmla="*/ 0 w 1384917"/>
              <a:gd name="connsiteY1" fmla="*/ 230819 h 230819"/>
              <a:gd name="connsiteX2" fmla="*/ 1384917 w 1384917"/>
              <a:gd name="connsiteY2" fmla="*/ 230819 h 230819"/>
            </a:gdLst>
            <a:ahLst/>
            <a:cxnLst>
              <a:cxn ang="0">
                <a:pos x="connsiteX0" y="connsiteY0"/>
              </a:cxn>
              <a:cxn ang="0">
                <a:pos x="connsiteX1" y="connsiteY1"/>
              </a:cxn>
              <a:cxn ang="0">
                <a:pos x="connsiteX2" y="connsiteY2"/>
              </a:cxn>
            </a:cxnLst>
            <a:rect l="l" t="t" r="r" b="b"/>
            <a:pathLst>
              <a:path w="1384917" h="230819">
                <a:moveTo>
                  <a:pt x="0" y="0"/>
                </a:moveTo>
                <a:lnTo>
                  <a:pt x="0" y="230819"/>
                </a:lnTo>
                <a:lnTo>
                  <a:pt x="1384917" y="230819"/>
                </a:lnTo>
              </a:path>
            </a:pathLst>
          </a:cu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zh-CN" altLang="en-US">
                <a:sym typeface="Huawei Sans" panose="020C0503030203020204" pitchFamily="34" charset="0"/>
              </a:rPr>
              <a:t>网络架构设计 </a:t>
            </a:r>
            <a:r>
              <a:rPr lang="en-US" altLang="zh-CN">
                <a:sym typeface="Huawei Sans" panose="020C0503030203020204" pitchFamily="34" charset="0"/>
              </a:rPr>
              <a:t>(2)</a:t>
            </a:r>
            <a:endParaRPr lang="zh-CN" altLang="en-US" dirty="0">
              <a:sym typeface="Huawei Sans" panose="020C0503030203020204" pitchFamily="34" charset="0"/>
            </a:endParaRPr>
          </a:p>
        </p:txBody>
      </p:sp>
      <p:sp>
        <p:nvSpPr>
          <p:cNvPr id="14" name="文本占位符 13"/>
          <p:cNvSpPr>
            <a:spLocks noGrp="1"/>
          </p:cNvSpPr>
          <p:nvPr>
            <p:ph type="body" sz="quarter" idx="10"/>
          </p:nvPr>
        </p:nvSpPr>
        <p:spPr>
          <a:xfrm>
            <a:off x="455612" y="1047750"/>
            <a:ext cx="11293475" cy="421399"/>
          </a:xfrm>
        </p:spPr>
        <p:txBody>
          <a:bodyPr/>
          <a:lstStyle/>
          <a:p>
            <a:r>
              <a:rPr lang="zh-CN" altLang="en-US" sz="1800" dirty="0">
                <a:sym typeface="Huawei Sans" panose="020C0503030203020204" pitchFamily="34" charset="0"/>
              </a:rPr>
              <a:t>网络设计时，一般会根据网络规模采用自底向上的方法来确定采用的基层架构。</a:t>
            </a:r>
          </a:p>
        </p:txBody>
      </p:sp>
      <p:sp>
        <p:nvSpPr>
          <p:cNvPr id="4" name="圆角矩形 3"/>
          <p:cNvSpPr/>
          <p:nvPr/>
        </p:nvSpPr>
        <p:spPr bwMode="gray">
          <a:xfrm>
            <a:off x="455713" y="1524688"/>
            <a:ext cx="5428239" cy="360000"/>
          </a:xfrm>
          <a:prstGeom prst="roundRect">
            <a:avLst>
              <a:gd name="adj" fmla="val 15000"/>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确定接入接口数量</a:t>
            </a:r>
          </a:p>
        </p:txBody>
      </p:sp>
      <p:sp>
        <p:nvSpPr>
          <p:cNvPr id="5" name="圆角矩形 4"/>
          <p:cNvSpPr/>
          <p:nvPr/>
        </p:nvSpPr>
        <p:spPr bwMode="gray">
          <a:xfrm>
            <a:off x="455713" y="2799428"/>
            <a:ext cx="5428239" cy="360000"/>
          </a:xfrm>
          <a:prstGeom prst="roundRect">
            <a:avLst>
              <a:gd name="adj" fmla="val 15000"/>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选择接入交换机</a:t>
            </a:r>
          </a:p>
        </p:txBody>
      </p:sp>
      <p:sp>
        <p:nvSpPr>
          <p:cNvPr id="6" name="圆角矩形 5"/>
          <p:cNvSpPr/>
          <p:nvPr/>
        </p:nvSpPr>
        <p:spPr bwMode="gray">
          <a:xfrm>
            <a:off x="455713" y="4074168"/>
            <a:ext cx="5428239" cy="360000"/>
          </a:xfrm>
          <a:prstGeom prst="roundRect">
            <a:avLst>
              <a:gd name="adj" fmla="val 15000"/>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3.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计算接入交换机的数量</a:t>
            </a:r>
          </a:p>
        </p:txBody>
      </p:sp>
      <p:sp>
        <p:nvSpPr>
          <p:cNvPr id="2" name="菱形 1"/>
          <p:cNvSpPr/>
          <p:nvPr/>
        </p:nvSpPr>
        <p:spPr bwMode="gray">
          <a:xfrm>
            <a:off x="4616946" y="5035834"/>
            <a:ext cx="1246910" cy="771196"/>
          </a:xfrm>
          <a:prstGeom prst="diamond">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数量</a:t>
            </a: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&gt;1</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7" name="圆角矩形 6"/>
          <p:cNvSpPr/>
          <p:nvPr/>
        </p:nvSpPr>
        <p:spPr bwMode="gray">
          <a:xfrm>
            <a:off x="6288238" y="1524688"/>
            <a:ext cx="5428800" cy="360000"/>
          </a:xfrm>
          <a:prstGeom prst="roundRect">
            <a:avLst>
              <a:gd name="adj" fmla="val 15000"/>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4.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选择汇聚交换机</a:t>
            </a:r>
          </a:p>
        </p:txBody>
      </p:sp>
      <p:sp>
        <p:nvSpPr>
          <p:cNvPr id="8" name="圆角矩形 7"/>
          <p:cNvSpPr/>
          <p:nvPr/>
        </p:nvSpPr>
        <p:spPr bwMode="gray">
          <a:xfrm>
            <a:off x="6288238" y="2797954"/>
            <a:ext cx="5428800" cy="360000"/>
          </a:xfrm>
          <a:prstGeom prst="roundRect">
            <a:avLst>
              <a:gd name="adj" fmla="val 15000"/>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5.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计算接入交换机的上行链路数</a:t>
            </a:r>
          </a:p>
        </p:txBody>
      </p:sp>
      <p:sp>
        <p:nvSpPr>
          <p:cNvPr id="9" name="圆角矩形 8"/>
          <p:cNvSpPr/>
          <p:nvPr/>
        </p:nvSpPr>
        <p:spPr bwMode="gray">
          <a:xfrm>
            <a:off x="6288238" y="4083151"/>
            <a:ext cx="5428800" cy="360000"/>
          </a:xfrm>
          <a:prstGeom prst="roundRect">
            <a:avLst>
              <a:gd name="adj" fmla="val 15000"/>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6.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计算汇聚交换机的数量</a:t>
            </a:r>
          </a:p>
        </p:txBody>
      </p:sp>
      <p:sp>
        <p:nvSpPr>
          <p:cNvPr id="10" name="菱形 9"/>
          <p:cNvSpPr/>
          <p:nvPr/>
        </p:nvSpPr>
        <p:spPr bwMode="gray">
          <a:xfrm>
            <a:off x="6305646" y="5035834"/>
            <a:ext cx="1246910" cy="771196"/>
          </a:xfrm>
          <a:prstGeom prst="diamond">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数量</a:t>
            </a: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&gt;1</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1" name="圆角矩形 10"/>
          <p:cNvSpPr/>
          <p:nvPr/>
        </p:nvSpPr>
        <p:spPr bwMode="gray">
          <a:xfrm>
            <a:off x="8325139" y="5243733"/>
            <a:ext cx="1410420" cy="360000"/>
          </a:xfrm>
          <a:prstGeom prst="roundRect">
            <a:avLst>
              <a:gd name="adj" fmla="val 15000"/>
            </a:avLst>
          </a:prstGeom>
          <a:solidFill>
            <a:srgbClr val="FEF6DE"/>
          </a:solidFill>
          <a:ln w="12700" cap="flat" cmpd="sng" algn="ctr">
            <a:solidFill>
              <a:srgbClr val="F6B78C"/>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采用三层结构</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1"/>
          <p:cNvSpPr/>
          <p:nvPr/>
        </p:nvSpPr>
        <p:spPr bwMode="gray">
          <a:xfrm>
            <a:off x="8309909" y="5755276"/>
            <a:ext cx="1410420" cy="360000"/>
          </a:xfrm>
          <a:prstGeom prst="roundRect">
            <a:avLst>
              <a:gd name="adj" fmla="val 15000"/>
            </a:avLst>
          </a:prstGeom>
          <a:solidFill>
            <a:srgbClr val="FEF6DE"/>
          </a:solidFill>
          <a:ln w="12700" cap="flat" cmpd="sng" algn="ctr">
            <a:solidFill>
              <a:srgbClr val="F6B78C"/>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采用两层结构</a:t>
            </a:r>
          </a:p>
        </p:txBody>
      </p:sp>
      <p:sp>
        <p:nvSpPr>
          <p:cNvPr id="13" name="圆角矩形 12"/>
          <p:cNvSpPr/>
          <p:nvPr/>
        </p:nvSpPr>
        <p:spPr bwMode="gray">
          <a:xfrm>
            <a:off x="2413823" y="5241432"/>
            <a:ext cx="1410420" cy="360000"/>
          </a:xfrm>
          <a:prstGeom prst="roundRect">
            <a:avLst>
              <a:gd name="adj" fmla="val 15000"/>
            </a:avLst>
          </a:prstGeom>
          <a:solidFill>
            <a:srgbClr val="FEF6DE"/>
          </a:solidFill>
          <a:ln w="12700" cap="flat" cmpd="sng" algn="ctr">
            <a:solidFill>
              <a:srgbClr val="F6B78C"/>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采用一层结构</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箭头连接符 14"/>
          <p:cNvCxnSpPr/>
          <p:nvPr/>
        </p:nvCxnSpPr>
        <p:spPr bwMode="gray">
          <a:xfrm>
            <a:off x="5240401" y="1884688"/>
            <a:ext cx="0" cy="914740"/>
          </a:xfrm>
          <a:prstGeom prst="straightConnector1">
            <a:avLst/>
          </a:pr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bwMode="gray">
          <a:xfrm>
            <a:off x="5240401" y="3168411"/>
            <a:ext cx="0" cy="914740"/>
          </a:xfrm>
          <a:prstGeom prst="straightConnector1">
            <a:avLst/>
          </a:pr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2" idx="0"/>
          </p:cNvCxnSpPr>
          <p:nvPr/>
        </p:nvCxnSpPr>
        <p:spPr bwMode="gray">
          <a:xfrm>
            <a:off x="5240401" y="4434168"/>
            <a:ext cx="0" cy="601666"/>
          </a:xfrm>
          <a:prstGeom prst="straightConnector1">
            <a:avLst/>
          </a:pr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19" name="任意多边形 18"/>
          <p:cNvSpPr/>
          <p:nvPr/>
        </p:nvSpPr>
        <p:spPr bwMode="gray">
          <a:xfrm>
            <a:off x="5837770" y="1704155"/>
            <a:ext cx="461819" cy="3717277"/>
          </a:xfrm>
          <a:custGeom>
            <a:avLst/>
            <a:gdLst>
              <a:gd name="connsiteX0" fmla="*/ 0 w 461819"/>
              <a:gd name="connsiteY0" fmla="*/ 4017818 h 4017818"/>
              <a:gd name="connsiteX1" fmla="*/ 286328 w 461819"/>
              <a:gd name="connsiteY1" fmla="*/ 4017818 h 4017818"/>
              <a:gd name="connsiteX2" fmla="*/ 286328 w 461819"/>
              <a:gd name="connsiteY2" fmla="*/ 0 h 4017818"/>
              <a:gd name="connsiteX3" fmla="*/ 461819 w 461819"/>
              <a:gd name="connsiteY3" fmla="*/ 0 h 4017818"/>
            </a:gdLst>
            <a:ahLst/>
            <a:cxnLst>
              <a:cxn ang="0">
                <a:pos x="connsiteX0" y="connsiteY0"/>
              </a:cxn>
              <a:cxn ang="0">
                <a:pos x="connsiteX1" y="connsiteY1"/>
              </a:cxn>
              <a:cxn ang="0">
                <a:pos x="connsiteX2" y="connsiteY2"/>
              </a:cxn>
              <a:cxn ang="0">
                <a:pos x="connsiteX3" y="connsiteY3"/>
              </a:cxn>
            </a:cxnLst>
            <a:rect l="l" t="t" r="r" b="b"/>
            <a:pathLst>
              <a:path w="461819" h="4017818">
                <a:moveTo>
                  <a:pt x="0" y="4017818"/>
                </a:moveTo>
                <a:lnTo>
                  <a:pt x="286328" y="4017818"/>
                </a:lnTo>
                <a:lnTo>
                  <a:pt x="286328" y="0"/>
                </a:lnTo>
                <a:lnTo>
                  <a:pt x="461819" y="0"/>
                </a:lnTo>
              </a:path>
            </a:pathLst>
          </a:cu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直接箭头连接符 19"/>
          <p:cNvCxnSpPr/>
          <p:nvPr/>
        </p:nvCxnSpPr>
        <p:spPr bwMode="gray">
          <a:xfrm>
            <a:off x="6929101" y="1884688"/>
            <a:ext cx="0" cy="914740"/>
          </a:xfrm>
          <a:prstGeom prst="straightConnector1">
            <a:avLst/>
          </a:pr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bwMode="gray">
          <a:xfrm>
            <a:off x="6929101" y="3168411"/>
            <a:ext cx="0" cy="914740"/>
          </a:xfrm>
          <a:prstGeom prst="straightConnector1">
            <a:avLst/>
          </a:pr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endCxn id="10" idx="0"/>
          </p:cNvCxnSpPr>
          <p:nvPr/>
        </p:nvCxnSpPr>
        <p:spPr bwMode="gray">
          <a:xfrm>
            <a:off x="6929101" y="4434168"/>
            <a:ext cx="0" cy="601666"/>
          </a:xfrm>
          <a:prstGeom prst="straightConnector1">
            <a:avLst/>
          </a:pr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bwMode="gray">
          <a:xfrm flipH="1">
            <a:off x="3902751" y="5421432"/>
            <a:ext cx="714195" cy="0"/>
          </a:xfrm>
          <a:prstGeom prst="straightConnector1">
            <a:avLst/>
          </a:prstGeom>
          <a:ln w="28575">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89"/>
          <p:cNvSpPr txBox="1"/>
          <p:nvPr/>
        </p:nvSpPr>
        <p:spPr bwMode="gray">
          <a:xfrm>
            <a:off x="440724" y="1936653"/>
            <a:ext cx="4540395" cy="605294"/>
          </a:xfrm>
          <a:prstGeom prst="rect">
            <a:avLst/>
          </a:prstGeom>
          <a:noFill/>
        </p:spPr>
        <p:txBody>
          <a:bodyPr wrap="square" rtlCol="0">
            <a:spAutoFit/>
          </a:bodyPr>
          <a:lstStyle/>
          <a:p>
            <a:pPr>
              <a:lnSpc>
                <a:spcPts val="2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方法：根据网络规模需求确定接入接口数量。</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前提：假设单个接口与单个或具体数量的用户对应。</a:t>
            </a:r>
          </a:p>
        </p:txBody>
      </p:sp>
      <p:sp>
        <p:nvSpPr>
          <p:cNvPr id="28" name="TextBox 89"/>
          <p:cNvSpPr txBox="1"/>
          <p:nvPr/>
        </p:nvSpPr>
        <p:spPr bwMode="gray">
          <a:xfrm>
            <a:off x="440724" y="3168411"/>
            <a:ext cx="4540395" cy="605294"/>
          </a:xfrm>
          <a:prstGeom prst="rect">
            <a:avLst/>
          </a:prstGeom>
          <a:noFill/>
        </p:spPr>
        <p:txBody>
          <a:bodyPr wrap="square" rtlCol="0">
            <a:spAutoFit/>
          </a:bodyPr>
          <a:lstStyle/>
          <a:p>
            <a:pPr>
              <a:lnSpc>
                <a:spcPts val="2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方法：根据终端网卡的接口速率初步选定交换机，即交换机的接入能力、接口密度和上行方式。</a:t>
            </a:r>
          </a:p>
        </p:txBody>
      </p:sp>
      <p:sp>
        <p:nvSpPr>
          <p:cNvPr id="29" name="TextBox 89"/>
          <p:cNvSpPr txBox="1"/>
          <p:nvPr/>
        </p:nvSpPr>
        <p:spPr bwMode="gray">
          <a:xfrm>
            <a:off x="440724" y="4407334"/>
            <a:ext cx="4540395" cy="325602"/>
          </a:xfrm>
          <a:prstGeom prst="rect">
            <a:avLst/>
          </a:prstGeom>
          <a:noFill/>
        </p:spPr>
        <p:txBody>
          <a:bodyPr wrap="square" rtlCol="0">
            <a:spAutoFit/>
          </a:bodyPr>
          <a:lstStyle/>
          <a:p>
            <a:pPr>
              <a:lnSpc>
                <a:spcPts val="2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数量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接入接口数量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交换机下行接口数量</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89"/>
          <p:cNvSpPr txBox="1"/>
          <p:nvPr/>
        </p:nvSpPr>
        <p:spPr bwMode="gray">
          <a:xfrm>
            <a:off x="7176643" y="1936653"/>
            <a:ext cx="4540395" cy="348813"/>
          </a:xfrm>
          <a:prstGeom prst="rect">
            <a:avLst/>
          </a:prstGeom>
          <a:noFill/>
        </p:spPr>
        <p:txBody>
          <a:bodyPr wrap="square" rtlCol="0">
            <a:spAutoFit/>
          </a:bodyPr>
          <a:lstStyle/>
          <a:p>
            <a:pPr>
              <a:lnSpc>
                <a:spcPts val="2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方法：根据接入交换机的上行接口速率选择汇聚交换机。</a:t>
            </a:r>
          </a:p>
        </p:txBody>
      </p:sp>
      <p:sp>
        <p:nvSpPr>
          <p:cNvPr id="31" name="TextBox 89"/>
          <p:cNvSpPr txBox="1"/>
          <p:nvPr/>
        </p:nvSpPr>
        <p:spPr bwMode="gray">
          <a:xfrm>
            <a:off x="7176643" y="3168411"/>
            <a:ext cx="4540395" cy="861774"/>
          </a:xfrm>
          <a:prstGeom prst="rect">
            <a:avLst/>
          </a:prstGeom>
          <a:noFill/>
        </p:spPr>
        <p:txBody>
          <a:bodyPr wrap="square" rtlCol="0">
            <a:spAutoFit/>
          </a:bodyPr>
          <a:lstStyle/>
          <a:p>
            <a:pPr marL="228600" indent="-228600">
              <a:lnSpc>
                <a:spcPts val="2000"/>
              </a:lnSpc>
              <a:buFont typeface="+mj-lt"/>
              <a:buAutoNum type="arabicPeriod"/>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数量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网络带宽需求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接入交换机上行接口速率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p>
          <a:p>
            <a:pPr marL="228600" indent="-228600">
              <a:lnSpc>
                <a:spcPts val="2000"/>
              </a:lnSpc>
              <a:buFont typeface="+mj-lt"/>
              <a:buAutoNum type="arabicPeriod"/>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数量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（接入接口数量</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接入接口速率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带宽收敛比）</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接入交换机上行接口速率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89"/>
          <p:cNvSpPr txBox="1"/>
          <p:nvPr/>
        </p:nvSpPr>
        <p:spPr bwMode="gray">
          <a:xfrm>
            <a:off x="7176643" y="4407334"/>
            <a:ext cx="4540395" cy="325602"/>
          </a:xfrm>
          <a:prstGeom prst="rect">
            <a:avLst/>
          </a:prstGeom>
          <a:noFill/>
        </p:spPr>
        <p:txBody>
          <a:bodyPr wrap="square" rtlCol="0">
            <a:spAutoFit/>
          </a:bodyPr>
          <a:lstStyle/>
          <a:p>
            <a:pPr>
              <a:lnSpc>
                <a:spcPts val="2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数量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接入交换机上行链路数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汇聚交换机下行接口数量</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4350167" y="5106565"/>
            <a:ext cx="322524" cy="307777"/>
          </a:xfrm>
          <a:prstGeom prst="rect">
            <a:avLst/>
          </a:prstGeom>
          <a:noFill/>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5830579" y="5106565"/>
            <a:ext cx="285656" cy="307777"/>
          </a:xfrm>
          <a:prstGeom prst="rect">
            <a:avLst/>
          </a:prstGeom>
          <a:noFill/>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Y</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7491858" y="5106565"/>
            <a:ext cx="285656" cy="307777"/>
          </a:xfrm>
          <a:prstGeom prst="rect">
            <a:avLst/>
          </a:prstGeom>
          <a:noFill/>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Y</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7491858" y="5688556"/>
            <a:ext cx="322524"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370373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70482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800" dirty="0">
                <a:solidFill>
                  <a:schemeClr val="bg1">
                    <a:lumMod val="50000"/>
                  </a:schemeClr>
                </a:solidFill>
                <a:sym typeface="Huawei Sans" panose="020C0503030203020204" pitchFamily="34" charset="0"/>
              </a:rPr>
              <a:t>CloudCampus</a:t>
            </a:r>
            <a:r>
              <a:rPr lang="zh-CN" altLang="en-US" sz="1800" dirty="0">
                <a:solidFill>
                  <a:schemeClr val="bg1">
                    <a:lumMod val="50000"/>
                  </a:schemeClr>
                </a:solidFill>
                <a:sym typeface="Huawei Sans" panose="020C0503030203020204" pitchFamily="34" charset="0"/>
              </a:rPr>
              <a:t>解决方案及虚拟化园区网络概述</a:t>
            </a:r>
          </a:p>
          <a:p>
            <a:r>
              <a:rPr lang="zh-CN" altLang="en-US" sz="1800" dirty="0">
                <a:solidFill>
                  <a:schemeClr val="bg1">
                    <a:lumMod val="50000"/>
                  </a:schemeClr>
                </a:solidFill>
                <a:sym typeface="Huawei Sans" panose="020C0503030203020204" pitchFamily="34" charset="0"/>
              </a:rPr>
              <a:t>网络架构设计</a:t>
            </a:r>
            <a:endParaRPr lang="en-US" altLang="zh-CN" sz="1800" dirty="0">
              <a:solidFill>
                <a:schemeClr val="bg1">
                  <a:lumMod val="50000"/>
                </a:schemeClr>
              </a:solidFill>
              <a:sym typeface="Huawei Sans" panose="020C0503030203020204" pitchFamily="34" charset="0"/>
            </a:endParaRPr>
          </a:p>
          <a:p>
            <a:r>
              <a:rPr lang="en-US" altLang="zh-CN" sz="1800" b="1" dirty="0">
                <a:sym typeface="Huawei Sans" panose="020C0503030203020204" pitchFamily="34" charset="0"/>
              </a:rPr>
              <a:t>Underlay</a:t>
            </a:r>
            <a:r>
              <a:rPr lang="zh-CN" altLang="en-US" sz="1800" b="1" dirty="0">
                <a:sym typeface="Huawei Sans" panose="020C0503030203020204" pitchFamily="34" charset="0"/>
              </a:rPr>
              <a:t>网络设计</a:t>
            </a:r>
            <a:endParaRPr lang="en-US" altLang="zh-CN" sz="1800" b="1" dirty="0">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Fabric</a:t>
            </a:r>
            <a:r>
              <a:rPr lang="zh-CN" altLang="en-US" sz="1800" dirty="0">
                <a:solidFill>
                  <a:schemeClr val="bg1">
                    <a:lumMod val="50000"/>
                  </a:schemeClr>
                </a:solidFill>
                <a:sym typeface="Huawei Sans" panose="020C0503030203020204" pitchFamily="34" charset="0"/>
              </a:rPr>
              <a:t>与</a:t>
            </a:r>
            <a:r>
              <a:rPr lang="en-US" altLang="zh-CN" sz="1800" dirty="0">
                <a:solidFill>
                  <a:schemeClr val="bg1">
                    <a:lumMod val="50000"/>
                  </a:schemeClr>
                </a:solidFill>
                <a:sym typeface="Huawei Sans" panose="020C0503030203020204" pitchFamily="34" charset="0"/>
              </a:rPr>
              <a:t>Overlay</a:t>
            </a:r>
            <a:r>
              <a:rPr lang="zh-CN" altLang="en-US" sz="1800" dirty="0">
                <a:solidFill>
                  <a:schemeClr val="bg1">
                    <a:lumMod val="50000"/>
                  </a:schemeClr>
                </a:solidFill>
                <a:sym typeface="Huawei Sans" panose="020C0503030203020204" pitchFamily="34" charset="0"/>
              </a:rPr>
              <a:t>网络设计</a:t>
            </a:r>
          </a:p>
          <a:p>
            <a:r>
              <a:rPr lang="zh-CN" altLang="en-US" sz="1800" dirty="0">
                <a:solidFill>
                  <a:schemeClr val="bg1">
                    <a:lumMod val="50000"/>
                  </a:schemeClr>
                </a:solidFill>
                <a:sym typeface="Huawei Sans" panose="020C0503030203020204" pitchFamily="34" charset="0"/>
              </a:rPr>
              <a:t>准入控制及业务随行设计</a:t>
            </a:r>
          </a:p>
          <a:p>
            <a:r>
              <a:rPr lang="en-US" altLang="zh-CN" sz="1800" dirty="0">
                <a:solidFill>
                  <a:schemeClr val="bg1">
                    <a:lumMod val="50000"/>
                  </a:schemeClr>
                </a:solidFill>
                <a:sym typeface="Huawei Sans" panose="020C0503030203020204" pitchFamily="34" charset="0"/>
              </a:rPr>
              <a:t>WLAN</a:t>
            </a:r>
            <a:r>
              <a:rPr lang="zh-CN" altLang="en-US" sz="1800" dirty="0">
                <a:solidFill>
                  <a:schemeClr val="bg1">
                    <a:lumMod val="50000"/>
                  </a:schemeClr>
                </a:solidFill>
                <a:sym typeface="Huawei Sans" panose="020C0503030203020204" pitchFamily="34" charset="0"/>
              </a:rPr>
              <a:t>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出口网络设计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网络安全与服务质量设计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运维管理设计</a:t>
            </a:r>
            <a:endParaRPr lang="en-US" altLang="zh-CN"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1663206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dirty="0">
                <a:sym typeface="Huawei Sans" panose="020C0503030203020204" pitchFamily="34" charset="0"/>
              </a:rPr>
              <a:t>Underlay</a:t>
            </a:r>
            <a:r>
              <a:rPr lang="zh-CN" altLang="en-US" dirty="0">
                <a:sym typeface="Huawei Sans" panose="020C0503030203020204" pitchFamily="34" charset="0"/>
              </a:rPr>
              <a:t>网络设计大纲</a:t>
            </a:r>
          </a:p>
        </p:txBody>
      </p:sp>
      <p:sp>
        <p:nvSpPr>
          <p:cNvPr id="4" name="圆角矩形 3"/>
          <p:cNvSpPr/>
          <p:nvPr/>
        </p:nvSpPr>
        <p:spPr bwMode="gray">
          <a:xfrm>
            <a:off x="2158142" y="1735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基础业务设计</a:t>
            </a:r>
          </a:p>
        </p:txBody>
      </p:sp>
      <p:sp>
        <p:nvSpPr>
          <p:cNvPr id="5" name="圆角矩形 4"/>
          <p:cNvSpPr/>
          <p:nvPr/>
        </p:nvSpPr>
        <p:spPr bwMode="gray">
          <a:xfrm>
            <a:off x="2158142" y="2226518"/>
            <a:ext cx="2789367" cy="250070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6096000" y="1735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LAN</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自动化设计</a:t>
            </a:r>
          </a:p>
        </p:txBody>
      </p:sp>
      <p:sp>
        <p:nvSpPr>
          <p:cNvPr id="11" name="圆角矩形 10"/>
          <p:cNvSpPr/>
          <p:nvPr/>
        </p:nvSpPr>
        <p:spPr bwMode="gray">
          <a:xfrm>
            <a:off x="6096000" y="2226518"/>
            <a:ext cx="2789367" cy="250070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bwMode="gray">
          <a:xfrm>
            <a:off x="2374015" y="242867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规划</a:t>
            </a:r>
          </a:p>
        </p:txBody>
      </p:sp>
      <p:sp>
        <p:nvSpPr>
          <p:cNvPr id="21" name="圆角矩形 20"/>
          <p:cNvSpPr/>
          <p:nvPr/>
        </p:nvSpPr>
        <p:spPr bwMode="gray">
          <a:xfrm>
            <a:off x="2374015" y="2993510"/>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22" name="圆角矩形 21"/>
          <p:cNvSpPr/>
          <p:nvPr/>
        </p:nvSpPr>
        <p:spPr bwMode="gray">
          <a:xfrm>
            <a:off x="2374015" y="3558346"/>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服务设计</a:t>
            </a:r>
          </a:p>
        </p:txBody>
      </p:sp>
      <p:sp>
        <p:nvSpPr>
          <p:cNvPr id="23" name="圆角矩形 22"/>
          <p:cNvSpPr/>
          <p:nvPr/>
        </p:nvSpPr>
        <p:spPr bwMode="gray">
          <a:xfrm>
            <a:off x="2374015" y="4123182"/>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24" name="圆角矩形 23"/>
          <p:cNvSpPr/>
          <p:nvPr/>
        </p:nvSpPr>
        <p:spPr bwMode="gray">
          <a:xfrm>
            <a:off x="6248684" y="2428674"/>
            <a:ext cx="248400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网络开局设计</a:t>
            </a:r>
          </a:p>
        </p:txBody>
      </p:sp>
      <p:sp>
        <p:nvSpPr>
          <p:cNvPr id="25" name="圆角矩形 24"/>
          <p:cNvSpPr/>
          <p:nvPr/>
        </p:nvSpPr>
        <p:spPr bwMode="gray">
          <a:xfrm>
            <a:off x="6248684" y="2993510"/>
            <a:ext cx="248400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网络自动化</a:t>
            </a:r>
          </a:p>
        </p:txBody>
      </p:sp>
    </p:spTree>
    <p:extLst>
      <p:ext uri="{BB962C8B-B14F-4D97-AF65-F5344CB8AC3E}">
        <p14:creationId xmlns:p14="http://schemas.microsoft.com/office/powerpoint/2010/main" val="2696457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椭圆 27"/>
          <p:cNvSpPr/>
          <p:nvPr/>
        </p:nvSpPr>
        <p:spPr bwMode="gray">
          <a:xfrm>
            <a:off x="7606572" y="3980366"/>
            <a:ext cx="2504806" cy="1566885"/>
          </a:xfrm>
          <a:prstGeom prst="ellipse">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 name="组合 23"/>
          <p:cNvGrpSpPr/>
          <p:nvPr/>
        </p:nvGrpSpPr>
        <p:grpSpPr bwMode="gray">
          <a:xfrm>
            <a:off x="7784125" y="4204361"/>
            <a:ext cx="2149700" cy="917104"/>
            <a:chOff x="6600056" y="4353447"/>
            <a:chExt cx="1296144" cy="833967"/>
          </a:xfrm>
        </p:grpSpPr>
        <p:cxnSp>
          <p:nvCxnSpPr>
            <p:cNvPr id="26" name="直接连接符 25"/>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VLAN</a:t>
            </a:r>
            <a:r>
              <a:rPr lang="zh-CN" altLang="en-US" dirty="0">
                <a:sym typeface="Huawei Sans" panose="020C0503030203020204" pitchFamily="34" charset="0"/>
              </a:rPr>
              <a:t>设计</a:t>
            </a:r>
          </a:p>
        </p:txBody>
      </p:sp>
      <p:sp>
        <p:nvSpPr>
          <p:cNvPr id="8" name="文本占位符 7"/>
          <p:cNvSpPr>
            <a:spLocks noGrp="1"/>
          </p:cNvSpPr>
          <p:nvPr>
            <p:ph type="body" sz="quarter" idx="10"/>
          </p:nvPr>
        </p:nvSpPr>
        <p:spPr bwMode="gray">
          <a:xfrm>
            <a:off x="455613" y="1047750"/>
            <a:ext cx="11255741" cy="2240573"/>
          </a:xfrm>
        </p:spPr>
        <p:txBody>
          <a:bodyPr/>
          <a:lstStyle/>
          <a:p>
            <a:pPr fontAlgn="base"/>
            <a:r>
              <a:rPr lang="en-US" altLang="zh-CN" sz="1800" dirty="0">
                <a:sym typeface="Huawei Sans" panose="020C0503030203020204" pitchFamily="34" charset="0"/>
              </a:rPr>
              <a:t>VLAN</a:t>
            </a:r>
            <a:r>
              <a:rPr lang="zh-CN" altLang="en-US" sz="1800" dirty="0">
                <a:sym typeface="Huawei Sans" panose="020C0503030203020204" pitchFamily="34" charset="0"/>
              </a:rPr>
              <a:t>编号建议连续分配，以保证</a:t>
            </a:r>
            <a:r>
              <a:rPr lang="en-US" altLang="zh-CN" sz="1800" dirty="0">
                <a:sym typeface="Huawei Sans" panose="020C0503030203020204" pitchFamily="34" charset="0"/>
              </a:rPr>
              <a:t>VLAN</a:t>
            </a:r>
            <a:r>
              <a:rPr lang="zh-CN" altLang="en-US" sz="1800" dirty="0">
                <a:sym typeface="Huawei Sans" panose="020C0503030203020204" pitchFamily="34" charset="0"/>
              </a:rPr>
              <a:t>资源合理利用。</a:t>
            </a:r>
          </a:p>
          <a:p>
            <a:pPr fontAlgn="base"/>
            <a:r>
              <a:rPr lang="zh-CN" altLang="en-US" sz="1800" dirty="0">
                <a:sym typeface="Huawei Sans" panose="020C0503030203020204" pitchFamily="34" charset="0"/>
              </a:rPr>
              <a:t>建议预留一定数量的</a:t>
            </a:r>
            <a:r>
              <a:rPr lang="en-US" altLang="zh-CN" sz="1800" dirty="0">
                <a:sym typeface="Huawei Sans" panose="020C0503030203020204" pitchFamily="34" charset="0"/>
              </a:rPr>
              <a:t>VLAN</a:t>
            </a:r>
            <a:r>
              <a:rPr lang="zh-CN" altLang="en-US" sz="1800" dirty="0">
                <a:sym typeface="Huawei Sans" panose="020C0503030203020204" pitchFamily="34" charset="0"/>
              </a:rPr>
              <a:t>以方便后续扩展。 </a:t>
            </a:r>
          </a:p>
          <a:p>
            <a:pPr fontAlgn="base"/>
            <a:r>
              <a:rPr lang="en-US" altLang="zh-CN" sz="1800" dirty="0">
                <a:sym typeface="Huawei Sans" panose="020C0503030203020204" pitchFamily="34" charset="0"/>
              </a:rPr>
              <a:t>VLAN</a:t>
            </a:r>
            <a:r>
              <a:rPr lang="zh-CN" altLang="en-US" sz="1800" dirty="0">
                <a:sym typeface="Huawei Sans" panose="020C0503030203020204" pitchFamily="34" charset="0"/>
              </a:rPr>
              <a:t>划分需要区分业务</a:t>
            </a:r>
            <a:r>
              <a:rPr lang="en-US" altLang="zh-CN" sz="1800" dirty="0">
                <a:sym typeface="Huawei Sans" panose="020C0503030203020204" pitchFamily="34" charset="0"/>
              </a:rPr>
              <a:t>VLAN</a:t>
            </a:r>
            <a:r>
              <a:rPr lang="zh-CN" altLang="en-US" sz="1800" dirty="0">
                <a:sym typeface="Huawei Sans" panose="020C0503030203020204" pitchFamily="34" charset="0"/>
              </a:rPr>
              <a:t>、管理</a:t>
            </a:r>
            <a:r>
              <a:rPr lang="en-US" altLang="zh-CN" sz="1800" dirty="0">
                <a:sym typeface="Huawei Sans" panose="020C0503030203020204" pitchFamily="34" charset="0"/>
              </a:rPr>
              <a:t>VLAN</a:t>
            </a:r>
            <a:r>
              <a:rPr lang="zh-CN" altLang="en-US" sz="1800" dirty="0">
                <a:sym typeface="Huawei Sans" panose="020C0503030203020204" pitchFamily="34" charset="0"/>
              </a:rPr>
              <a:t>和互联</a:t>
            </a:r>
            <a:r>
              <a:rPr lang="en-US" altLang="zh-CN" sz="1800" dirty="0">
                <a:sym typeface="Huawei Sans" panose="020C0503030203020204" pitchFamily="34" charset="0"/>
              </a:rPr>
              <a:t>VLAN</a:t>
            </a:r>
            <a:r>
              <a:rPr lang="zh-CN" altLang="en-US" sz="1800" dirty="0">
                <a:sym typeface="Huawei Sans" panose="020C0503030203020204" pitchFamily="34" charset="0"/>
              </a:rPr>
              <a:t>。 </a:t>
            </a:r>
          </a:p>
          <a:p>
            <a:pPr fontAlgn="base"/>
            <a:r>
              <a:rPr lang="zh-CN" altLang="en-US" sz="1800" dirty="0">
                <a:sym typeface="Huawei Sans" panose="020C0503030203020204" pitchFamily="34" charset="0"/>
              </a:rPr>
              <a:t>最常用的划分方式是基于接口的方式进行划分，根据不同的设计原则，将接入交换机不同接口划分到不同的</a:t>
            </a:r>
            <a:r>
              <a:rPr lang="en-US" altLang="zh-CN" sz="1800" dirty="0">
                <a:sym typeface="Huawei Sans" panose="020C0503030203020204" pitchFamily="34" charset="0"/>
              </a:rPr>
              <a:t>VLAN</a:t>
            </a:r>
            <a:r>
              <a:rPr lang="zh-CN" altLang="en-US" sz="1800" dirty="0">
                <a:sym typeface="Huawei Sans" panose="020C0503030203020204" pitchFamily="34" charset="0"/>
              </a:rPr>
              <a:t>，从而实现不同业务类型用户的隔离需求。</a:t>
            </a:r>
          </a:p>
          <a:p>
            <a:pPr fontAlgn="base"/>
            <a:endParaRPr lang="zh-CN" altLang="en-US" sz="1800" dirty="0">
              <a:sym typeface="Huawei Sans" panose="020C0503030203020204" pitchFamily="34" charset="0"/>
            </a:endParaRPr>
          </a:p>
        </p:txBody>
      </p:sp>
      <p:sp>
        <p:nvSpPr>
          <p:cNvPr id="3" name="圆角矩形 2"/>
          <p:cNvSpPr/>
          <p:nvPr/>
        </p:nvSpPr>
        <p:spPr bwMode="gray">
          <a:xfrm>
            <a:off x="811878" y="3354281"/>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4" name="圆角矩形 3"/>
          <p:cNvSpPr/>
          <p:nvPr/>
        </p:nvSpPr>
        <p:spPr bwMode="gray">
          <a:xfrm>
            <a:off x="811877" y="3790248"/>
            <a:ext cx="5163736" cy="241052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6137154" y="3354281"/>
            <a:ext cx="5242970"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管理</a:t>
            </a: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设计 </a:t>
            </a:r>
          </a:p>
        </p:txBody>
      </p:sp>
      <p:sp>
        <p:nvSpPr>
          <p:cNvPr id="6" name="圆角矩形 5"/>
          <p:cNvSpPr/>
          <p:nvPr/>
        </p:nvSpPr>
        <p:spPr bwMode="gray">
          <a:xfrm>
            <a:off x="6137153" y="3790248"/>
            <a:ext cx="5242972" cy="241052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13"/>
          <p:cNvSpPr/>
          <p:nvPr/>
        </p:nvSpPr>
        <p:spPr bwMode="gray">
          <a:xfrm>
            <a:off x="2332208" y="4058934"/>
            <a:ext cx="2178568" cy="364249"/>
          </a:xfrm>
          <a:prstGeom prst="roundRect">
            <a:avLst/>
          </a:prstGeom>
          <a:solidFill>
            <a:srgbClr val="FEF6DE"/>
          </a:solidFill>
          <a:ln w="12700">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按地理区域划分</a:t>
            </a:r>
            <a:r>
              <a:rPr lang="en-US" altLang="zh-CN" sz="16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grpSp>
        <p:nvGrpSpPr>
          <p:cNvPr id="17" name="组合 16"/>
          <p:cNvGrpSpPr/>
          <p:nvPr/>
        </p:nvGrpSpPr>
        <p:grpSpPr bwMode="gray">
          <a:xfrm>
            <a:off x="965190" y="4799715"/>
            <a:ext cx="4912604" cy="364249"/>
            <a:chOff x="947434" y="4556886"/>
            <a:chExt cx="4912604" cy="364249"/>
          </a:xfrm>
          <a:solidFill>
            <a:schemeClr val="bg1">
              <a:lumMod val="85000"/>
            </a:schemeClr>
          </a:solidFill>
        </p:grpSpPr>
        <p:sp>
          <p:nvSpPr>
            <p:cNvPr id="10" name="圆角矩形 9"/>
            <p:cNvSpPr/>
            <p:nvPr/>
          </p:nvSpPr>
          <p:spPr bwMode="gray">
            <a:xfrm>
              <a:off x="947434" y="4556886"/>
              <a:ext cx="2178568" cy="364249"/>
            </a:xfrm>
            <a:prstGeom prst="roundRect">
              <a:avLst/>
            </a:prstGeom>
            <a:solidFill>
              <a:srgbClr val="FEF6DE"/>
            </a:solidFill>
            <a:ln w="12700">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按逻辑区域划分</a:t>
              </a:r>
              <a:r>
                <a:rPr lang="en-US" altLang="zh-CN" sz="16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sp>
          <p:nvSpPr>
            <p:cNvPr id="15" name="圆角矩形 14"/>
            <p:cNvSpPr/>
            <p:nvPr/>
          </p:nvSpPr>
          <p:spPr bwMode="gray">
            <a:xfrm>
              <a:off x="3681470" y="4556886"/>
              <a:ext cx="2178568" cy="364249"/>
            </a:xfrm>
            <a:prstGeom prst="roundRect">
              <a:avLst/>
            </a:prstGeom>
            <a:solidFill>
              <a:srgbClr val="FEF6DE"/>
            </a:solidFill>
            <a:ln w="12700">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按人员结构划分</a:t>
              </a:r>
              <a:r>
                <a:rPr lang="en-US" altLang="zh-CN"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grpSp>
      <p:sp>
        <p:nvSpPr>
          <p:cNvPr id="16" name="圆角矩形 15"/>
          <p:cNvSpPr/>
          <p:nvPr/>
        </p:nvSpPr>
        <p:spPr bwMode="gray">
          <a:xfrm>
            <a:off x="2332208" y="5661616"/>
            <a:ext cx="2178568" cy="364249"/>
          </a:xfrm>
          <a:prstGeom prst="roundRect">
            <a:avLst/>
          </a:prstGeom>
          <a:solidFill>
            <a:srgbClr val="FEF6DE"/>
          </a:solidFill>
          <a:ln w="12700">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按业务类型划分</a:t>
            </a:r>
            <a:r>
              <a:rPr lang="en-US" altLang="zh-CN" sz="16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grpSp>
        <p:nvGrpSpPr>
          <p:cNvPr id="22" name="组合 21"/>
          <p:cNvGrpSpPr/>
          <p:nvPr/>
        </p:nvGrpSpPr>
        <p:grpSpPr bwMode="gray">
          <a:xfrm>
            <a:off x="7618388" y="4096119"/>
            <a:ext cx="2457480" cy="1212360"/>
            <a:chOff x="7320136" y="3890337"/>
            <a:chExt cx="2844256" cy="1403169"/>
          </a:xfrm>
        </p:grpSpPr>
        <p:pic>
          <p:nvPicPr>
            <p:cNvPr id="19" name="图片 18" descr="接入交换机.png"/>
            <p:cNvPicPr>
              <a:picLocks noChangeAspect="1"/>
            </p:cNvPicPr>
            <p:nvPr/>
          </p:nvPicPr>
          <p:blipFill>
            <a:blip r:embed="rId3" cstate="print"/>
            <a:stretch>
              <a:fillRect/>
            </a:stretch>
          </p:blipFill>
          <p:spPr bwMode="gray">
            <a:xfrm>
              <a:off x="8472264" y="3890337"/>
              <a:ext cx="540000" cy="441818"/>
            </a:xfrm>
            <a:prstGeom prst="rect">
              <a:avLst/>
            </a:prstGeom>
          </p:spPr>
        </p:pic>
        <p:pic>
          <p:nvPicPr>
            <p:cNvPr id="20" name="图片 19" descr="接入交换机.png"/>
            <p:cNvPicPr>
              <a:picLocks noChangeAspect="1"/>
            </p:cNvPicPr>
            <p:nvPr/>
          </p:nvPicPr>
          <p:blipFill>
            <a:blip r:embed="rId3" cstate="print"/>
            <a:stretch>
              <a:fillRect/>
            </a:stretch>
          </p:blipFill>
          <p:spPr bwMode="gray">
            <a:xfrm>
              <a:off x="7320136" y="4851688"/>
              <a:ext cx="540000" cy="441818"/>
            </a:xfrm>
            <a:prstGeom prst="rect">
              <a:avLst/>
            </a:prstGeom>
          </p:spPr>
        </p:pic>
        <p:pic>
          <p:nvPicPr>
            <p:cNvPr id="21" name="图片 20" descr="接入交换机.png"/>
            <p:cNvPicPr>
              <a:picLocks noChangeAspect="1"/>
            </p:cNvPicPr>
            <p:nvPr/>
          </p:nvPicPr>
          <p:blipFill>
            <a:blip r:embed="rId3" cstate="print"/>
            <a:stretch>
              <a:fillRect/>
            </a:stretch>
          </p:blipFill>
          <p:spPr bwMode="gray">
            <a:xfrm>
              <a:off x="9624392" y="4851688"/>
              <a:ext cx="540000" cy="441818"/>
            </a:xfrm>
            <a:prstGeom prst="rect">
              <a:avLst/>
            </a:prstGeom>
          </p:spPr>
        </p:pic>
      </p:grpSp>
      <p:sp>
        <p:nvSpPr>
          <p:cNvPr id="29" name="文本框 28"/>
          <p:cNvSpPr txBox="1"/>
          <p:nvPr/>
        </p:nvSpPr>
        <p:spPr bwMode="gray">
          <a:xfrm>
            <a:off x="8194618" y="5082303"/>
            <a:ext cx="1340432" cy="307777"/>
          </a:xfrm>
          <a:prstGeom prst="rect">
            <a:avLst/>
          </a:prstGeom>
          <a:noFill/>
        </p:spPr>
        <p:txBody>
          <a:bodyPr wrap="none" rtlCol="0">
            <a:spAutoFit/>
          </a:bodyPr>
          <a:lstStyle/>
          <a:p>
            <a:pPr algn="ctr"/>
            <a:r>
              <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管理</a:t>
            </a:r>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VLAN100</a:t>
            </a:r>
            <a:endPar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6253797" y="4818291"/>
            <a:ext cx="1366080" cy="523220"/>
          </a:xfrm>
          <a:prstGeom prst="rect">
            <a:avLst/>
          </a:prstGeom>
          <a:noFill/>
        </p:spPr>
        <p:txBody>
          <a:bodyPr wrap="none" rtlCol="0">
            <a:spAutoFit/>
          </a:bodyPr>
          <a:lstStyle/>
          <a:p>
            <a:pPr algn="r"/>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VLANIF100</a:t>
            </a:r>
          </a:p>
          <a:p>
            <a:pPr algn="r"/>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192.168.100.1</a:t>
            </a:r>
            <a:endPar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10036742" y="4818291"/>
            <a:ext cx="1366080" cy="523220"/>
          </a:xfrm>
          <a:prstGeom prst="rect">
            <a:avLst/>
          </a:prstGeom>
          <a:noFill/>
        </p:spPr>
        <p:txBody>
          <a:bodyPr wrap="none" rtlCol="0">
            <a:spAutoFit/>
          </a:bodyPr>
          <a:lstStyle/>
          <a:p>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VLANIF100</a:t>
            </a:r>
          </a:p>
          <a:p>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192.168.100.2</a:t>
            </a:r>
            <a:endPar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9082123" y="3893212"/>
            <a:ext cx="1574470" cy="523220"/>
          </a:xfrm>
          <a:prstGeom prst="rect">
            <a:avLst/>
          </a:prstGeom>
          <a:noFill/>
        </p:spPr>
        <p:txBody>
          <a:bodyPr wrap="none" rtlCol="0">
            <a:spAutoFit/>
          </a:bodyPr>
          <a:lstStyle/>
          <a:p>
            <a:r>
              <a:rPr lang="en-US" altLang="zh-CN"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VLANIF100</a:t>
            </a:r>
          </a:p>
          <a:p>
            <a:r>
              <a:rPr lang="en-US" altLang="zh-CN"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192.168.100.254</a:t>
            </a:r>
            <a:endParaRPr lang="zh-CN" altLang="en-US"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6137152" y="5593917"/>
            <a:ext cx="5242971" cy="605294"/>
          </a:xfrm>
          <a:prstGeom prst="rect">
            <a:avLst/>
          </a:prstGeom>
        </p:spPr>
        <p:txBody>
          <a:bodyPr wrap="square">
            <a:spAutoFit/>
          </a:bodyPr>
          <a:lstStyle/>
          <a:p>
            <a:pPr>
              <a:lnSpc>
                <a:spcPts val="2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通常，二层交换机使用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接口地址作为管理地址。建议所有的二层交换机使用同一管理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管理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地址处于同一网段。</a:t>
            </a:r>
          </a:p>
        </p:txBody>
      </p:sp>
      <p:sp>
        <p:nvSpPr>
          <p:cNvPr id="33" name="五边形 32"/>
          <p:cNvSpPr/>
          <p:nvPr/>
        </p:nvSpPr>
        <p:spPr bwMode="gray">
          <a:xfrm>
            <a:off x="6730479" y="114957"/>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gray">
          <a:xfrm>
            <a:off x="736713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800379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40" name="燕尾形 39"/>
          <p:cNvSpPr/>
          <p:nvPr/>
        </p:nvSpPr>
        <p:spPr bwMode="gray">
          <a:xfrm>
            <a:off x="8640453"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277111" y="114957"/>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341461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251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IP</a:t>
            </a:r>
            <a:r>
              <a:rPr lang="zh-CN" altLang="en-US" dirty="0">
                <a:sym typeface="Huawei Sans" panose="020C0503030203020204" pitchFamily="34" charset="0"/>
              </a:rPr>
              <a:t>地址设计</a:t>
            </a:r>
          </a:p>
        </p:txBody>
      </p:sp>
      <p:sp>
        <p:nvSpPr>
          <p:cNvPr id="23" name="文本占位符 22"/>
          <p:cNvSpPr>
            <a:spLocks noGrp="1"/>
          </p:cNvSpPr>
          <p:nvPr>
            <p:ph type="body" sz="quarter" idx="10"/>
          </p:nvPr>
        </p:nvSpPr>
        <p:spPr>
          <a:xfrm>
            <a:off x="455612" y="1047751"/>
            <a:ext cx="11293475" cy="453084"/>
          </a:xfrm>
        </p:spPr>
        <p:txBody>
          <a:bodyPr/>
          <a:lstStyle/>
          <a:p>
            <a:r>
              <a:rPr lang="zh-CN" altLang="en-US" sz="1800" dirty="0">
                <a:sym typeface="Huawei Sans" panose="020C0503030203020204" pitchFamily="34" charset="0"/>
              </a:rPr>
              <a:t>园区网的</a:t>
            </a:r>
            <a:r>
              <a:rPr lang="en-US" altLang="zh-CN" sz="1800" dirty="0">
                <a:sym typeface="Huawei Sans" panose="020C0503030203020204" pitchFamily="34" charset="0"/>
              </a:rPr>
              <a:t>IP</a:t>
            </a:r>
            <a:r>
              <a:rPr lang="zh-CN" altLang="en-US" sz="1800" dirty="0">
                <a:sym typeface="Huawei Sans" panose="020C0503030203020204" pitchFamily="34" charset="0"/>
              </a:rPr>
              <a:t>地址主要分为业务</a:t>
            </a:r>
            <a:r>
              <a:rPr lang="en-US" altLang="zh-CN" sz="1800" dirty="0">
                <a:sym typeface="Huawei Sans" panose="020C0503030203020204" pitchFamily="34" charset="0"/>
              </a:rPr>
              <a:t>IP</a:t>
            </a:r>
            <a:r>
              <a:rPr lang="zh-CN" altLang="en-US" sz="1800" dirty="0">
                <a:sym typeface="Huawei Sans" panose="020C0503030203020204" pitchFamily="34" charset="0"/>
              </a:rPr>
              <a:t>地址、管理</a:t>
            </a:r>
            <a:r>
              <a:rPr lang="en-US" altLang="zh-CN" sz="1800" dirty="0">
                <a:sym typeface="Huawei Sans" panose="020C0503030203020204" pitchFamily="34" charset="0"/>
              </a:rPr>
              <a:t>IP</a:t>
            </a:r>
            <a:r>
              <a:rPr lang="zh-CN" altLang="en-US" sz="1800" dirty="0">
                <a:sym typeface="Huawei Sans" panose="020C0503030203020204" pitchFamily="34" charset="0"/>
              </a:rPr>
              <a:t>地址和互联</a:t>
            </a:r>
            <a:r>
              <a:rPr lang="en-US" altLang="zh-CN" sz="1800" dirty="0">
                <a:sym typeface="Huawei Sans" panose="020C0503030203020204" pitchFamily="34" charset="0"/>
              </a:rPr>
              <a:t>IP</a:t>
            </a:r>
            <a:r>
              <a:rPr lang="zh-CN" altLang="en-US" sz="1800" dirty="0">
                <a:sym typeface="Huawei Sans" panose="020C0503030203020204" pitchFamily="34" charset="0"/>
              </a:rPr>
              <a:t>地址。</a:t>
            </a:r>
          </a:p>
        </p:txBody>
      </p:sp>
      <p:sp>
        <p:nvSpPr>
          <p:cNvPr id="70" name="椭圆 69"/>
          <p:cNvSpPr/>
          <p:nvPr/>
        </p:nvSpPr>
        <p:spPr bwMode="gray">
          <a:xfrm>
            <a:off x="8621280" y="2363189"/>
            <a:ext cx="414291" cy="601617"/>
          </a:xfrm>
          <a:prstGeom prst="ellipse">
            <a:avLst/>
          </a:pr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圆角矩形 70"/>
          <p:cNvSpPr/>
          <p:nvPr/>
        </p:nvSpPr>
        <p:spPr bwMode="gray">
          <a:xfrm>
            <a:off x="709080" y="1480315"/>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管理</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a:t>
            </a:r>
          </a:p>
        </p:txBody>
      </p:sp>
      <p:sp>
        <p:nvSpPr>
          <p:cNvPr id="72" name="圆角矩形 71"/>
          <p:cNvSpPr/>
          <p:nvPr/>
        </p:nvSpPr>
        <p:spPr bwMode="gray">
          <a:xfrm>
            <a:off x="709079" y="1916280"/>
            <a:ext cx="5163736" cy="428449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72"/>
          <p:cNvSpPr/>
          <p:nvPr/>
        </p:nvSpPr>
        <p:spPr bwMode="gray">
          <a:xfrm>
            <a:off x="709079" y="4865728"/>
            <a:ext cx="5163735" cy="678712"/>
          </a:xfrm>
          <a:prstGeom prst="rect">
            <a:avLst/>
          </a:prstGeom>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二层设备使用VLANIF地址作为管理IP地址，建议网关以下的所有二层交换机使用同一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网段。</a:t>
            </a:r>
          </a:p>
        </p:txBody>
      </p:sp>
      <p:sp>
        <p:nvSpPr>
          <p:cNvPr id="74" name="椭圆 73"/>
          <p:cNvSpPr/>
          <p:nvPr/>
        </p:nvSpPr>
        <p:spPr bwMode="gray">
          <a:xfrm>
            <a:off x="2077232" y="2426053"/>
            <a:ext cx="2504806" cy="1566885"/>
          </a:xfrm>
          <a:prstGeom prst="ellipse">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5" name="组合 74"/>
          <p:cNvGrpSpPr/>
          <p:nvPr/>
        </p:nvGrpSpPr>
        <p:grpSpPr bwMode="gray">
          <a:xfrm>
            <a:off x="2254785" y="2650048"/>
            <a:ext cx="2149700" cy="917104"/>
            <a:chOff x="6600056" y="4353447"/>
            <a:chExt cx="1296144" cy="833967"/>
          </a:xfrm>
        </p:grpSpPr>
        <p:cxnSp>
          <p:nvCxnSpPr>
            <p:cNvPr id="76" name="直接连接符 75"/>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bwMode="gray">
          <a:xfrm>
            <a:off x="2089048" y="2541806"/>
            <a:ext cx="2457480" cy="1212360"/>
            <a:chOff x="7320136" y="3890337"/>
            <a:chExt cx="2844256" cy="1403169"/>
          </a:xfrm>
        </p:grpSpPr>
        <p:pic>
          <p:nvPicPr>
            <p:cNvPr id="79" name="图片 78" descr="接入交换机.png"/>
            <p:cNvPicPr>
              <a:picLocks noChangeAspect="1"/>
            </p:cNvPicPr>
            <p:nvPr/>
          </p:nvPicPr>
          <p:blipFill>
            <a:blip r:embed="rId3" cstate="print"/>
            <a:stretch>
              <a:fillRect/>
            </a:stretch>
          </p:blipFill>
          <p:spPr bwMode="gray">
            <a:xfrm>
              <a:off x="8472264" y="3890337"/>
              <a:ext cx="540000" cy="441818"/>
            </a:xfrm>
            <a:prstGeom prst="rect">
              <a:avLst/>
            </a:prstGeom>
          </p:spPr>
        </p:pic>
        <p:pic>
          <p:nvPicPr>
            <p:cNvPr id="80" name="图片 79" descr="接入交换机.png"/>
            <p:cNvPicPr>
              <a:picLocks noChangeAspect="1"/>
            </p:cNvPicPr>
            <p:nvPr/>
          </p:nvPicPr>
          <p:blipFill>
            <a:blip r:embed="rId3" cstate="print"/>
            <a:stretch>
              <a:fillRect/>
            </a:stretch>
          </p:blipFill>
          <p:spPr bwMode="gray">
            <a:xfrm>
              <a:off x="7320136" y="4851688"/>
              <a:ext cx="540000" cy="441818"/>
            </a:xfrm>
            <a:prstGeom prst="rect">
              <a:avLst/>
            </a:prstGeom>
          </p:spPr>
        </p:pic>
        <p:pic>
          <p:nvPicPr>
            <p:cNvPr id="81" name="图片 80" descr="接入交换机.png"/>
            <p:cNvPicPr>
              <a:picLocks noChangeAspect="1"/>
            </p:cNvPicPr>
            <p:nvPr/>
          </p:nvPicPr>
          <p:blipFill>
            <a:blip r:embed="rId3" cstate="print"/>
            <a:stretch>
              <a:fillRect/>
            </a:stretch>
          </p:blipFill>
          <p:spPr bwMode="gray">
            <a:xfrm>
              <a:off x="9624392" y="4851688"/>
              <a:ext cx="540000" cy="441818"/>
            </a:xfrm>
            <a:prstGeom prst="rect">
              <a:avLst/>
            </a:prstGeom>
          </p:spPr>
        </p:pic>
      </p:grpSp>
      <p:sp>
        <p:nvSpPr>
          <p:cNvPr id="82" name="文本框 81"/>
          <p:cNvSpPr txBox="1"/>
          <p:nvPr/>
        </p:nvSpPr>
        <p:spPr bwMode="gray">
          <a:xfrm>
            <a:off x="2679705" y="3548501"/>
            <a:ext cx="1311578" cy="307777"/>
          </a:xfrm>
          <a:prstGeom prst="rect">
            <a:avLst/>
          </a:prstGeom>
          <a:noFill/>
        </p:spPr>
        <p:txBody>
          <a:bodyPr wrap="none" rtlCol="0">
            <a:spAutoFit/>
          </a:bodyPr>
          <a:lstStyle>
            <a:defPPr>
              <a:defRPr lang="en-US"/>
            </a:defPPr>
            <a:lvl1pPr>
              <a:defRPr sz="1400">
                <a:solidFill>
                  <a:srgbClr val="30B5C5"/>
                </a:solidFill>
                <a:latin typeface="Huawei Sans" panose="020C0503030203020204" pitchFamily="34" charset="0"/>
                <a:ea typeface="方正兰亭黑简体" panose="02000000000000000000" pitchFamily="2" charset="-122"/>
              </a:defRPr>
            </a:lvl1pPr>
          </a:lstStyle>
          <a:p>
            <a:pPr algn="ctr"/>
            <a:r>
              <a:rPr lang="zh-CN" altLang="en-US" dirty="0">
                <a:sym typeface="Huawei Sans" panose="020C0503030203020204" pitchFamily="34" charset="0"/>
              </a:rPr>
              <a:t>管理</a:t>
            </a:r>
            <a:r>
              <a:rPr lang="en-US" altLang="zh-CN" dirty="0">
                <a:sym typeface="Huawei Sans" panose="020C0503030203020204" pitchFamily="34" charset="0"/>
              </a:rPr>
              <a:t>VLAN100</a:t>
            </a:r>
            <a:endParaRPr lang="zh-CN" altLang="en-US" dirty="0">
              <a:sym typeface="Huawei Sans" panose="020C0503030203020204" pitchFamily="34" charset="0"/>
            </a:endParaRPr>
          </a:p>
        </p:txBody>
      </p:sp>
      <p:sp>
        <p:nvSpPr>
          <p:cNvPr id="83" name="文本框 82"/>
          <p:cNvSpPr txBox="1"/>
          <p:nvPr/>
        </p:nvSpPr>
        <p:spPr bwMode="gray">
          <a:xfrm>
            <a:off x="762929" y="3263978"/>
            <a:ext cx="1327608" cy="523220"/>
          </a:xfrm>
          <a:prstGeom prst="rect">
            <a:avLst/>
          </a:prstGeom>
          <a:noFill/>
        </p:spPr>
        <p:txBody>
          <a:bodyPr wrap="none" rtlCol="0">
            <a:spAutoFit/>
          </a:bodyPr>
          <a:lstStyle>
            <a:defPPr>
              <a:defRPr lang="en-US"/>
            </a:defPPr>
            <a:lvl1pPr>
              <a:defRPr sz="1400">
                <a:solidFill>
                  <a:srgbClr val="30B5C5"/>
                </a:solidFill>
                <a:latin typeface="Huawei Sans" panose="020C0503030203020204" pitchFamily="34" charset="0"/>
                <a:ea typeface="方正兰亭黑简体" panose="02000000000000000000" pitchFamily="2" charset="-122"/>
              </a:defRPr>
            </a:lvl1pPr>
          </a:lstStyle>
          <a:p>
            <a:pPr algn="r"/>
            <a:r>
              <a:rPr lang="en-US" altLang="zh-CN" dirty="0">
                <a:sym typeface="Huawei Sans" panose="020C0503030203020204" pitchFamily="34" charset="0"/>
              </a:rPr>
              <a:t>VLANIF100</a:t>
            </a:r>
          </a:p>
          <a:p>
            <a:pPr algn="r"/>
            <a:r>
              <a:rPr lang="en-US" altLang="zh-CN" dirty="0">
                <a:sym typeface="Huawei Sans" panose="020C0503030203020204" pitchFamily="34" charset="0"/>
              </a:rPr>
              <a:t>192.168.100.1</a:t>
            </a:r>
            <a:endParaRPr lang="zh-CN" altLang="en-US" dirty="0">
              <a:sym typeface="Huawei Sans" panose="020C0503030203020204" pitchFamily="34" charset="0"/>
            </a:endParaRPr>
          </a:p>
        </p:txBody>
      </p:sp>
      <p:sp>
        <p:nvSpPr>
          <p:cNvPr id="84" name="文本框 83"/>
          <p:cNvSpPr txBox="1"/>
          <p:nvPr/>
        </p:nvSpPr>
        <p:spPr bwMode="gray">
          <a:xfrm>
            <a:off x="4507402" y="3263978"/>
            <a:ext cx="1327608" cy="523220"/>
          </a:xfrm>
          <a:prstGeom prst="rect">
            <a:avLst/>
          </a:prstGeom>
          <a:noFill/>
        </p:spPr>
        <p:txBody>
          <a:bodyPr wrap="none" rtlCol="0">
            <a:spAutoFit/>
          </a:bodyPr>
          <a:lstStyle>
            <a:defPPr>
              <a:defRPr lang="en-US"/>
            </a:defPPr>
            <a:lvl1pPr>
              <a:defRPr sz="1400">
                <a:solidFill>
                  <a:srgbClr val="30B5C5"/>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VLANIF100</a:t>
            </a:r>
          </a:p>
          <a:p>
            <a:r>
              <a:rPr lang="en-US" altLang="zh-CN" dirty="0">
                <a:sym typeface="Huawei Sans" panose="020C0503030203020204" pitchFamily="34" charset="0"/>
              </a:rPr>
              <a:t>192.168.100.2</a:t>
            </a:r>
            <a:endParaRPr lang="zh-CN" altLang="en-US" dirty="0">
              <a:sym typeface="Huawei Sans" panose="020C0503030203020204" pitchFamily="34" charset="0"/>
            </a:endParaRPr>
          </a:p>
        </p:txBody>
      </p:sp>
      <p:sp>
        <p:nvSpPr>
          <p:cNvPr id="85" name="文本框 84"/>
          <p:cNvSpPr txBox="1"/>
          <p:nvPr/>
        </p:nvSpPr>
        <p:spPr bwMode="gray">
          <a:xfrm>
            <a:off x="3552783" y="2338899"/>
            <a:ext cx="1526380" cy="523220"/>
          </a:xfrm>
          <a:prstGeom prst="rect">
            <a:avLst/>
          </a:prstGeom>
          <a:noFill/>
        </p:spPr>
        <p:txBody>
          <a:bodyPr wrap="none" rtlCol="0">
            <a:spAutoFit/>
          </a:bodyPr>
          <a:lstStyle>
            <a:defPPr>
              <a:defRPr lang="en-US"/>
            </a:defPPr>
            <a:lvl1pPr>
              <a:defRPr sz="1400">
                <a:solidFill>
                  <a:srgbClr val="30B5C5"/>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VLANIF100</a:t>
            </a:r>
          </a:p>
          <a:p>
            <a:r>
              <a:rPr lang="en-US" altLang="zh-CN" dirty="0">
                <a:sym typeface="Huawei Sans" panose="020C0503030203020204" pitchFamily="34" charset="0"/>
              </a:rPr>
              <a:t>192.168.100.254</a:t>
            </a:r>
            <a:endParaRPr lang="zh-CN" altLang="en-US" dirty="0">
              <a:sym typeface="Huawei Sans" panose="020C0503030203020204" pitchFamily="34" charset="0"/>
            </a:endParaRPr>
          </a:p>
        </p:txBody>
      </p:sp>
      <p:sp>
        <p:nvSpPr>
          <p:cNvPr id="86" name="圆角矩形 85"/>
          <p:cNvSpPr/>
          <p:nvPr/>
        </p:nvSpPr>
        <p:spPr bwMode="gray">
          <a:xfrm>
            <a:off x="6139279" y="1480315"/>
            <a:ext cx="5486663"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及互联</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a:t>
            </a:r>
          </a:p>
        </p:txBody>
      </p:sp>
      <p:sp>
        <p:nvSpPr>
          <p:cNvPr id="87" name="圆角矩形 86"/>
          <p:cNvSpPr/>
          <p:nvPr/>
        </p:nvSpPr>
        <p:spPr bwMode="gray">
          <a:xfrm>
            <a:off x="6139278" y="1916282"/>
            <a:ext cx="5486665" cy="4284494"/>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矩形 87"/>
          <p:cNvSpPr/>
          <p:nvPr/>
        </p:nvSpPr>
        <p:spPr bwMode="gray">
          <a:xfrm>
            <a:off x="6139278" y="4590362"/>
            <a:ext cx="5573295" cy="1631216"/>
          </a:xfrm>
          <a:prstGeom prst="rect">
            <a:avLst/>
          </a:prstGeom>
        </p:spPr>
        <p:txBody>
          <a:bodyPr wrap="square">
            <a:spAutoFit/>
          </a:bodyPr>
          <a:lstStyle/>
          <a:p>
            <a:pPr>
              <a:lnSpc>
                <a:spcPts val="24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地址是服务器、主机以及网关的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地址推荐统一使用相同的末位数字，如</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各业务</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地址范围要清晰区分，每一类业务终端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地址连续、可聚合。</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建议使用掩码为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24</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位的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地址段。</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地址推荐使用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位掩码的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地址，核心设备可使用主机地址较小的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a:t>
            </a:r>
          </a:p>
        </p:txBody>
      </p:sp>
      <p:grpSp>
        <p:nvGrpSpPr>
          <p:cNvPr id="89" name="组合 88"/>
          <p:cNvGrpSpPr/>
          <p:nvPr/>
        </p:nvGrpSpPr>
        <p:grpSpPr bwMode="gray">
          <a:xfrm>
            <a:off x="7999902" y="3103907"/>
            <a:ext cx="1657166" cy="708608"/>
            <a:chOff x="6600056" y="4353447"/>
            <a:chExt cx="1296144" cy="833967"/>
          </a:xfrm>
        </p:grpSpPr>
        <p:cxnSp>
          <p:nvCxnSpPr>
            <p:cNvPr id="90" name="直接连接符 89"/>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 name="直接连接符 91"/>
          <p:cNvCxnSpPr/>
          <p:nvPr/>
        </p:nvCxnSpPr>
        <p:spPr bwMode="gray">
          <a:xfrm flipV="1">
            <a:off x="8828485" y="3096548"/>
            <a:ext cx="0" cy="381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4" name="组合 93"/>
          <p:cNvGrpSpPr/>
          <p:nvPr/>
        </p:nvGrpSpPr>
        <p:grpSpPr bwMode="gray">
          <a:xfrm>
            <a:off x="8702663" y="3846837"/>
            <a:ext cx="276904" cy="75240"/>
            <a:chOff x="3074810" y="3664575"/>
            <a:chExt cx="276904" cy="75240"/>
          </a:xfrm>
        </p:grpSpPr>
        <p:sp>
          <p:nvSpPr>
            <p:cNvPr id="95" name="椭圆 94"/>
            <p:cNvSpPr>
              <a:spLocks noChangeAspect="1"/>
            </p:cNvSpPr>
            <p:nvPr/>
          </p:nvSpPr>
          <p:spPr bwMode="gray">
            <a:xfrm>
              <a:off x="3074810" y="3664575"/>
              <a:ext cx="75240" cy="7524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椭圆 95"/>
            <p:cNvSpPr>
              <a:spLocks noChangeAspect="1"/>
            </p:cNvSpPr>
            <p:nvPr/>
          </p:nvSpPr>
          <p:spPr bwMode="gray">
            <a:xfrm>
              <a:off x="3175642" y="3664575"/>
              <a:ext cx="75240" cy="7524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椭圆 96"/>
            <p:cNvSpPr>
              <a:spLocks noChangeAspect="1"/>
            </p:cNvSpPr>
            <p:nvPr/>
          </p:nvSpPr>
          <p:spPr bwMode="gray">
            <a:xfrm>
              <a:off x="3276474" y="3664575"/>
              <a:ext cx="75240" cy="7524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00" name="直接连接符 99"/>
          <p:cNvCxnSpPr>
            <a:stCxn id="105" idx="2"/>
            <a:endCxn id="93" idx="0"/>
          </p:cNvCxnSpPr>
          <p:nvPr/>
        </p:nvCxnSpPr>
        <p:spPr bwMode="gray">
          <a:xfrm>
            <a:off x="8828426" y="2437307"/>
            <a:ext cx="60" cy="4766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bwMode="gray">
          <a:xfrm>
            <a:off x="6544663" y="4083290"/>
            <a:ext cx="1489511" cy="523220"/>
          </a:xfrm>
          <a:prstGeom prst="rect">
            <a:avLst/>
          </a:prstGeom>
          <a:noFill/>
        </p:spPr>
        <p:txBody>
          <a:bodyPr wrap="none" rtlCol="0">
            <a:sp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店员</a:t>
            </a:r>
            <a:endParaRPr lang="en-US" altLang="zh-CN" dirty="0">
              <a:sym typeface="Huawei Sans" panose="020C0503030203020204" pitchFamily="34" charset="0"/>
            </a:endParaRPr>
          </a:p>
          <a:p>
            <a:r>
              <a:rPr lang="en-US" altLang="zh-CN" dirty="0">
                <a:sym typeface="Huawei Sans" panose="020C0503030203020204" pitchFamily="34" charset="0"/>
              </a:rPr>
              <a:t>192.168.40.0/24</a:t>
            </a:r>
            <a:endParaRPr lang="zh-CN" altLang="en-US" dirty="0">
              <a:sym typeface="Huawei Sans" panose="020C0503030203020204" pitchFamily="34" charset="0"/>
            </a:endParaRPr>
          </a:p>
        </p:txBody>
      </p:sp>
      <p:sp>
        <p:nvSpPr>
          <p:cNvPr id="102" name="文本框 101"/>
          <p:cNvSpPr txBox="1"/>
          <p:nvPr/>
        </p:nvSpPr>
        <p:spPr bwMode="gray">
          <a:xfrm>
            <a:off x="8103263" y="4083290"/>
            <a:ext cx="1489511" cy="523220"/>
          </a:xfrm>
          <a:prstGeom prst="rect">
            <a:avLst/>
          </a:prstGeom>
          <a:noFill/>
        </p:spPr>
        <p:txBody>
          <a:bodyPr wrap="none" rtlCol="0">
            <a:sp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合作伙伴</a:t>
            </a:r>
            <a:endParaRPr lang="en-US" altLang="zh-CN" dirty="0">
              <a:sym typeface="Huawei Sans" panose="020C0503030203020204" pitchFamily="34" charset="0"/>
            </a:endParaRPr>
          </a:p>
          <a:p>
            <a:r>
              <a:rPr lang="en-US" altLang="zh-CN" dirty="0">
                <a:sym typeface="Huawei Sans" panose="020C0503030203020204" pitchFamily="34" charset="0"/>
              </a:rPr>
              <a:t>192.168.50.0/24</a:t>
            </a:r>
            <a:endParaRPr lang="zh-CN" altLang="en-US" dirty="0">
              <a:sym typeface="Huawei Sans" panose="020C0503030203020204" pitchFamily="34" charset="0"/>
            </a:endParaRPr>
          </a:p>
        </p:txBody>
      </p:sp>
      <p:sp>
        <p:nvSpPr>
          <p:cNvPr id="103" name="文本框 102"/>
          <p:cNvSpPr txBox="1"/>
          <p:nvPr/>
        </p:nvSpPr>
        <p:spPr bwMode="gray">
          <a:xfrm>
            <a:off x="9661863" y="4083290"/>
            <a:ext cx="1576073" cy="523220"/>
          </a:xfrm>
          <a:prstGeom prst="rect">
            <a:avLst/>
          </a:prstGeom>
          <a:noFill/>
        </p:spPr>
        <p:txBody>
          <a:bodyPr wrap="none" rtlCol="0">
            <a:sp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访客</a:t>
            </a:r>
            <a:endParaRPr lang="en-US" altLang="zh-CN" dirty="0">
              <a:sym typeface="Huawei Sans" panose="020C0503030203020204" pitchFamily="34" charset="0"/>
            </a:endParaRPr>
          </a:p>
          <a:p>
            <a:r>
              <a:rPr lang="en-US" altLang="zh-CN" dirty="0">
                <a:sym typeface="Huawei Sans" panose="020C0503030203020204" pitchFamily="34" charset="0"/>
              </a:rPr>
              <a:t>192.168.100.0/24</a:t>
            </a:r>
            <a:endParaRPr lang="zh-CN" altLang="en-US" dirty="0">
              <a:sym typeface="Huawei Sans" panose="020C0503030203020204" pitchFamily="34" charset="0"/>
            </a:endParaRPr>
          </a:p>
        </p:txBody>
      </p:sp>
      <p:pic>
        <p:nvPicPr>
          <p:cNvPr id="105" name="图片 86" descr="核心交换机.png"/>
          <p:cNvPicPr>
            <a:picLocks noChangeAspect="1"/>
          </p:cNvPicPr>
          <p:nvPr/>
        </p:nvPicPr>
        <p:blipFill>
          <a:blip r:embed="rId4" cstate="print"/>
          <a:stretch>
            <a:fillRect/>
          </a:stretch>
        </p:blipFill>
        <p:spPr bwMode="gray">
          <a:xfrm>
            <a:off x="8605226" y="2072069"/>
            <a:ext cx="446400" cy="365238"/>
          </a:xfrm>
          <a:prstGeom prst="rect">
            <a:avLst/>
          </a:prstGeom>
        </p:spPr>
      </p:pic>
      <p:sp>
        <p:nvSpPr>
          <p:cNvPr id="106" name="文本框 105"/>
          <p:cNvSpPr txBox="1"/>
          <p:nvPr/>
        </p:nvSpPr>
        <p:spPr bwMode="gray">
          <a:xfrm>
            <a:off x="6300688" y="2288498"/>
            <a:ext cx="2369559" cy="276999"/>
          </a:xfrm>
          <a:prstGeom prst="rect">
            <a:avLst/>
          </a:prstGeom>
          <a:noFill/>
        </p:spPr>
        <p:txBody>
          <a:bodyPr wrap="none" rtlCol="0">
            <a:spAutoFit/>
          </a:bodyPr>
          <a:lstStyle>
            <a:defPPr>
              <a:defRPr lang="en-US"/>
            </a:defPPr>
            <a:lvl1pPr>
              <a:defRPr sz="1400">
                <a:solidFill>
                  <a:srgbClr val="30B5C5"/>
                </a:solidFill>
                <a:latin typeface="Huawei Sans" panose="020C0503030203020204" pitchFamily="34" charset="0"/>
                <a:ea typeface="方正兰亭黑简体" panose="02000000000000000000" pitchFamily="2" charset="-122"/>
              </a:defRPr>
            </a:lvl1pPr>
          </a:lstStyle>
          <a:p>
            <a:r>
              <a:rPr lang="en-US" altLang="zh-CN" sz="1200" dirty="0">
                <a:solidFill>
                  <a:schemeClr val="tx1"/>
                </a:solidFill>
                <a:sym typeface="Huawei Sans" panose="020C0503030203020204" pitchFamily="34" charset="0"/>
              </a:rPr>
              <a:t>VLANIF200</a:t>
            </a:r>
            <a:r>
              <a:rPr lang="zh-CN" altLang="en-US" sz="1200" dirty="0">
                <a:solidFill>
                  <a:schemeClr val="tx1"/>
                </a:solidFill>
                <a:sym typeface="Huawei Sans" panose="020C0503030203020204" pitchFamily="34" charset="0"/>
              </a:rPr>
              <a:t>： </a:t>
            </a:r>
            <a:r>
              <a:rPr lang="en-US" altLang="zh-CN" sz="1200" dirty="0">
                <a:solidFill>
                  <a:schemeClr val="tx1"/>
                </a:solidFill>
                <a:sym typeface="Huawei Sans" panose="020C0503030203020204" pitchFamily="34" charset="0"/>
              </a:rPr>
              <a:t>192.168.200.1/30</a:t>
            </a:r>
          </a:p>
        </p:txBody>
      </p:sp>
      <p:sp>
        <p:nvSpPr>
          <p:cNvPr id="107" name="文本框 106"/>
          <p:cNvSpPr txBox="1"/>
          <p:nvPr/>
        </p:nvSpPr>
        <p:spPr bwMode="gray">
          <a:xfrm>
            <a:off x="6300688" y="2858657"/>
            <a:ext cx="2321469" cy="276999"/>
          </a:xfrm>
          <a:prstGeom prst="rect">
            <a:avLst/>
          </a:prstGeom>
          <a:noFill/>
        </p:spPr>
        <p:txBody>
          <a:bodyPr wrap="none" rtlCol="0">
            <a:spAutoFit/>
          </a:bodyPr>
          <a:lstStyle>
            <a:defPPr>
              <a:defRPr lang="en-US"/>
            </a:defPPr>
            <a:lvl1pPr>
              <a:defRPr sz="1200">
                <a:solidFill>
                  <a:srgbClr val="30B5C5"/>
                </a:solidFill>
                <a:latin typeface="Huawei Sans" panose="020C0503030203020204" pitchFamily="34" charset="0"/>
                <a:ea typeface="方正兰亭黑简体" panose="02000000000000000000" pitchFamily="2" charset="-122"/>
              </a:defRPr>
            </a:lvl1pPr>
          </a:lstStyle>
          <a:p>
            <a:r>
              <a:rPr lang="en-US" altLang="zh-CN" dirty="0">
                <a:solidFill>
                  <a:schemeClr val="tx1"/>
                </a:solidFill>
                <a:sym typeface="Huawei Sans" panose="020C0503030203020204" pitchFamily="34" charset="0"/>
              </a:rPr>
              <a:t>VLANIF200</a:t>
            </a:r>
            <a:r>
              <a:rPr lang="zh-CN" altLang="en-US" dirty="0">
                <a:solidFill>
                  <a:schemeClr val="tx1"/>
                </a:solidFill>
                <a:sym typeface="Huawei Sans" panose="020C0503030203020204" pitchFamily="34" charset="0"/>
              </a:rPr>
              <a:t>：</a:t>
            </a:r>
            <a:r>
              <a:rPr lang="en-US" altLang="zh-CN" dirty="0">
                <a:solidFill>
                  <a:schemeClr val="tx1"/>
                </a:solidFill>
                <a:sym typeface="Huawei Sans" panose="020C0503030203020204" pitchFamily="34" charset="0"/>
              </a:rPr>
              <a:t>192.168.200.2/30</a:t>
            </a:r>
          </a:p>
        </p:txBody>
      </p:sp>
      <p:sp>
        <p:nvSpPr>
          <p:cNvPr id="108" name="文本框 107"/>
          <p:cNvSpPr txBox="1"/>
          <p:nvPr/>
        </p:nvSpPr>
        <p:spPr bwMode="gray">
          <a:xfrm>
            <a:off x="8802376" y="2465621"/>
            <a:ext cx="1306768" cy="307777"/>
          </a:xfrm>
          <a:prstGeom prst="rect">
            <a:avLst/>
          </a:prstGeom>
          <a:noFill/>
        </p:spPr>
        <p:txBody>
          <a:bodyPr wrap="none" rtlCol="0">
            <a:sp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stStyle>
          <a:p>
            <a:r>
              <a:rPr lang="zh-CN" altLang="en-US" dirty="0">
                <a:solidFill>
                  <a:schemeClr val="tx1"/>
                </a:solidFill>
                <a:sym typeface="Huawei Sans" panose="020C0503030203020204" pitchFamily="34" charset="0"/>
              </a:rPr>
              <a:t>互联</a:t>
            </a:r>
            <a:r>
              <a:rPr lang="en-US" altLang="zh-CN" dirty="0">
                <a:solidFill>
                  <a:schemeClr val="tx1"/>
                </a:solidFill>
                <a:sym typeface="Huawei Sans" panose="020C0503030203020204" pitchFamily="34" charset="0"/>
              </a:rPr>
              <a:t>VLAN200</a:t>
            </a:r>
          </a:p>
        </p:txBody>
      </p:sp>
      <p:sp>
        <p:nvSpPr>
          <p:cNvPr id="109" name="椭圆 108"/>
          <p:cNvSpPr/>
          <p:nvPr/>
        </p:nvSpPr>
        <p:spPr bwMode="gray">
          <a:xfrm rot="3127321">
            <a:off x="8128751" y="3103034"/>
            <a:ext cx="414291" cy="806027"/>
          </a:xfrm>
          <a:prstGeom prst="ellipse">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椭圆 109"/>
          <p:cNvSpPr/>
          <p:nvPr/>
        </p:nvSpPr>
        <p:spPr bwMode="gray">
          <a:xfrm rot="18399782">
            <a:off x="9080939" y="3089808"/>
            <a:ext cx="414291" cy="806027"/>
          </a:xfrm>
          <a:prstGeom prst="ellipse">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椭圆 110"/>
          <p:cNvSpPr/>
          <p:nvPr/>
        </p:nvSpPr>
        <p:spPr bwMode="gray">
          <a:xfrm>
            <a:off x="8613035" y="3235944"/>
            <a:ext cx="414291" cy="630662"/>
          </a:xfrm>
          <a:prstGeom prst="ellipse">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文本框 111"/>
          <p:cNvSpPr txBox="1"/>
          <p:nvPr/>
        </p:nvSpPr>
        <p:spPr bwMode="gray">
          <a:xfrm>
            <a:off x="7895803" y="3386943"/>
            <a:ext cx="1848583" cy="307777"/>
          </a:xfrm>
          <a:prstGeom prst="rect">
            <a:avLst/>
          </a:prstGeom>
          <a:noFill/>
        </p:spPr>
        <p:txBody>
          <a:bodyPr wrap="none" rtlCol="0">
            <a:sp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业务</a:t>
            </a:r>
            <a:r>
              <a:rPr lang="en-US" altLang="zh-CN" dirty="0">
                <a:sym typeface="Huawei Sans" panose="020C0503030203020204" pitchFamily="34" charset="0"/>
              </a:rPr>
              <a:t>VLAN40/50/100</a:t>
            </a:r>
          </a:p>
        </p:txBody>
      </p:sp>
      <p:pic>
        <p:nvPicPr>
          <p:cNvPr id="93" name="图片 92" descr="接入交换机.png"/>
          <p:cNvPicPr>
            <a:picLocks noChangeAspect="1"/>
          </p:cNvPicPr>
          <p:nvPr/>
        </p:nvPicPr>
        <p:blipFill>
          <a:blip r:embed="rId3" cstate="print"/>
          <a:stretch>
            <a:fillRect/>
          </a:stretch>
        </p:blipFill>
        <p:spPr bwMode="gray">
          <a:xfrm>
            <a:off x="8605345" y="2913979"/>
            <a:ext cx="446281" cy="365139"/>
          </a:xfrm>
          <a:prstGeom prst="rect">
            <a:avLst/>
          </a:prstGeom>
        </p:spPr>
      </p:pic>
      <p:pic>
        <p:nvPicPr>
          <p:cNvPr id="98" name="图片 97" descr="云AP蓝.png"/>
          <p:cNvPicPr>
            <a:picLocks noChangeAspect="1"/>
          </p:cNvPicPr>
          <p:nvPr/>
        </p:nvPicPr>
        <p:blipFill>
          <a:blip r:embed="rId5" cstate="print"/>
          <a:stretch>
            <a:fillRect/>
          </a:stretch>
        </p:blipFill>
        <p:spPr bwMode="gray">
          <a:xfrm>
            <a:off x="7744712" y="3711878"/>
            <a:ext cx="421859" cy="345157"/>
          </a:xfrm>
          <a:prstGeom prst="rect">
            <a:avLst/>
          </a:prstGeom>
        </p:spPr>
      </p:pic>
      <p:pic>
        <p:nvPicPr>
          <p:cNvPr id="99" name="图片 98" descr="云AP蓝.png"/>
          <p:cNvPicPr>
            <a:picLocks noChangeAspect="1"/>
          </p:cNvPicPr>
          <p:nvPr/>
        </p:nvPicPr>
        <p:blipFill>
          <a:blip r:embed="rId5" cstate="print"/>
          <a:stretch>
            <a:fillRect/>
          </a:stretch>
        </p:blipFill>
        <p:spPr bwMode="gray">
          <a:xfrm>
            <a:off x="9484550" y="3711878"/>
            <a:ext cx="421859" cy="345157"/>
          </a:xfrm>
          <a:prstGeom prst="rect">
            <a:avLst/>
          </a:prstGeom>
        </p:spPr>
      </p:pic>
      <p:sp>
        <p:nvSpPr>
          <p:cNvPr id="104" name="文本框 103"/>
          <p:cNvSpPr txBox="1"/>
          <p:nvPr/>
        </p:nvSpPr>
        <p:spPr bwMode="gray">
          <a:xfrm>
            <a:off x="9242776" y="2799393"/>
            <a:ext cx="2262158" cy="646331"/>
          </a:xfrm>
          <a:prstGeom prst="rect">
            <a:avLst/>
          </a:prstGeom>
          <a:noFill/>
        </p:spPr>
        <p:txBody>
          <a:bodyPr wrap="none" rtlCol="0">
            <a:spAutoFit/>
          </a:bodyPr>
          <a:lstStyle>
            <a:defPPr>
              <a:defRPr lang="en-US"/>
            </a:defPPr>
            <a:lvl1pPr>
              <a:defRPr sz="1200">
                <a:solidFill>
                  <a:srgbClr val="30B5C5"/>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VLANIF40</a:t>
            </a:r>
            <a:r>
              <a:rPr lang="zh-CN" altLang="en-US" dirty="0">
                <a:sym typeface="Huawei Sans" panose="020C0503030203020204" pitchFamily="34" charset="0"/>
              </a:rPr>
              <a:t>：</a:t>
            </a:r>
            <a:r>
              <a:rPr lang="en-US" altLang="zh-CN" dirty="0">
                <a:sym typeface="Huawei Sans" panose="020C0503030203020204" pitchFamily="34" charset="0"/>
              </a:rPr>
              <a:t>192.168.40.254</a:t>
            </a:r>
          </a:p>
          <a:p>
            <a:r>
              <a:rPr lang="en-US" altLang="zh-CN" dirty="0">
                <a:sym typeface="Huawei Sans" panose="020C0503030203020204" pitchFamily="34" charset="0"/>
              </a:rPr>
              <a:t>VLANIF50</a:t>
            </a:r>
            <a:r>
              <a:rPr lang="zh-CN" altLang="en-US" dirty="0">
                <a:sym typeface="Huawei Sans" panose="020C0503030203020204" pitchFamily="34" charset="0"/>
              </a:rPr>
              <a:t>：</a:t>
            </a:r>
            <a:r>
              <a:rPr lang="en-US" altLang="zh-CN" dirty="0">
                <a:sym typeface="Huawei Sans" panose="020C0503030203020204" pitchFamily="34" charset="0"/>
              </a:rPr>
              <a:t>192.168.50.254</a:t>
            </a:r>
          </a:p>
          <a:p>
            <a:r>
              <a:rPr lang="en-US" altLang="zh-CN" dirty="0">
                <a:sym typeface="Huawei Sans" panose="020C0503030203020204" pitchFamily="34" charset="0"/>
              </a:rPr>
              <a:t>VLANIF100</a:t>
            </a:r>
            <a:r>
              <a:rPr lang="zh-CN" altLang="en-US" dirty="0">
                <a:sym typeface="Huawei Sans" panose="020C0503030203020204" pitchFamily="34" charset="0"/>
              </a:rPr>
              <a:t>：</a:t>
            </a:r>
            <a:r>
              <a:rPr lang="en-US" altLang="zh-CN" dirty="0">
                <a:sym typeface="Huawei Sans" panose="020C0503030203020204" pitchFamily="34" charset="0"/>
              </a:rPr>
              <a:t>192.168.100.254</a:t>
            </a:r>
          </a:p>
        </p:txBody>
      </p:sp>
      <p:sp>
        <p:nvSpPr>
          <p:cNvPr id="53" name="五边形 52"/>
          <p:cNvSpPr/>
          <p:nvPr/>
        </p:nvSpPr>
        <p:spPr bwMode="gray">
          <a:xfrm>
            <a:off x="6730479"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7367137" y="114957"/>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800379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56" name="燕尾形 55"/>
          <p:cNvSpPr/>
          <p:nvPr/>
        </p:nvSpPr>
        <p:spPr bwMode="gray">
          <a:xfrm>
            <a:off x="8640453"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9277111" y="114957"/>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923205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面向终端的</a:t>
            </a:r>
            <a:r>
              <a:rPr lang="en-US" altLang="zh-CN" dirty="0">
                <a:sym typeface="Huawei Sans" panose="020C0503030203020204" pitchFamily="34" charset="0"/>
              </a:rPr>
              <a:t>DHCP</a:t>
            </a:r>
            <a:r>
              <a:rPr lang="zh-CN" altLang="en-US" dirty="0">
                <a:sym typeface="Huawei Sans" panose="020C0503030203020204" pitchFamily="34" charset="0"/>
              </a:rPr>
              <a:t>服务设计</a:t>
            </a:r>
          </a:p>
        </p:txBody>
      </p:sp>
      <p:sp>
        <p:nvSpPr>
          <p:cNvPr id="6" name="文本占位符 5"/>
          <p:cNvSpPr>
            <a:spLocks noGrp="1"/>
          </p:cNvSpPr>
          <p:nvPr>
            <p:ph type="body" sz="quarter" idx="4294967295"/>
          </p:nvPr>
        </p:nvSpPr>
        <p:spPr bwMode="gray">
          <a:xfrm>
            <a:off x="6096000" y="1052513"/>
            <a:ext cx="5616575" cy="5148262"/>
          </a:xfrm>
        </p:spPr>
        <p:txBody>
          <a:bodyPr/>
          <a:lstStyle/>
          <a:p>
            <a:r>
              <a:rPr lang="zh-CN" altLang="en-US" sz="1600" dirty="0">
                <a:sym typeface="Huawei Sans" panose="020C0503030203020204" pitchFamily="34" charset="0"/>
              </a:rPr>
              <a:t>规划独立的</a:t>
            </a:r>
            <a:r>
              <a:rPr lang="en-US" altLang="zh-CN" sz="1600" dirty="0">
                <a:sym typeface="Huawei Sans" panose="020C0503030203020204" pitchFamily="34" charset="0"/>
              </a:rPr>
              <a:t>DHCP</a:t>
            </a:r>
            <a:r>
              <a:rPr lang="zh-CN" altLang="en-US" sz="1600" dirty="0">
                <a:sym typeface="Huawei Sans" panose="020C0503030203020204" pitchFamily="34" charset="0"/>
              </a:rPr>
              <a:t> </a:t>
            </a:r>
            <a:r>
              <a:rPr lang="en-US" altLang="zh-CN" sz="1600" dirty="0">
                <a:sym typeface="Huawei Sans" panose="020C0503030203020204" pitchFamily="34" charset="0"/>
              </a:rPr>
              <a:t>Server</a:t>
            </a:r>
            <a:r>
              <a:rPr lang="zh-CN" altLang="en-US" sz="1600" dirty="0">
                <a:sym typeface="Huawei Sans" panose="020C0503030203020204" pitchFamily="34" charset="0"/>
              </a:rPr>
              <a:t>为终端用户分配</a:t>
            </a:r>
            <a:r>
              <a:rPr lang="en-US" altLang="zh-CN" sz="1600" dirty="0">
                <a:sym typeface="Huawei Sans" panose="020C0503030203020204" pitchFamily="34" charset="0"/>
              </a:rPr>
              <a:t>IP</a:t>
            </a:r>
            <a:r>
              <a:rPr lang="zh-CN" altLang="en-US" sz="1600" dirty="0">
                <a:sym typeface="Huawei Sans" panose="020C0503030203020204" pitchFamily="34" charset="0"/>
              </a:rPr>
              <a:t>地址。</a:t>
            </a:r>
            <a:endParaRPr lang="en-US" altLang="zh-CN" sz="1600" dirty="0">
              <a:sym typeface="Huawei Sans" panose="020C0503030203020204" pitchFamily="34" charset="0"/>
            </a:endParaRPr>
          </a:p>
          <a:p>
            <a:r>
              <a:rPr lang="zh-CN" altLang="en-US" sz="1600" dirty="0">
                <a:sym typeface="Huawei Sans" panose="020C0503030203020204" pitchFamily="34" charset="0"/>
              </a:rPr>
              <a:t>建议在接入层设备配置</a:t>
            </a:r>
            <a:r>
              <a:rPr lang="en-US" altLang="zh-CN" sz="1600" dirty="0">
                <a:sym typeface="Huawei Sans" panose="020C0503030203020204" pitchFamily="34" charset="0"/>
              </a:rPr>
              <a:t>DHCP Snooping</a:t>
            </a:r>
            <a:r>
              <a:rPr lang="zh-CN" altLang="en-US" sz="1600" dirty="0">
                <a:sym typeface="Huawei Sans" panose="020C0503030203020204" pitchFamily="34" charset="0"/>
              </a:rPr>
              <a:t>，以避免非法攻击。</a:t>
            </a:r>
            <a:endParaRPr lang="en-US" altLang="zh-CN" sz="1600" dirty="0">
              <a:sym typeface="Huawei Sans" panose="020C0503030203020204" pitchFamily="34" charset="0"/>
            </a:endParaRPr>
          </a:p>
          <a:p>
            <a:r>
              <a:rPr lang="zh-CN" altLang="en-US" sz="1600" dirty="0">
                <a:sym typeface="Huawei Sans" panose="020C0503030203020204" pitchFamily="34" charset="0"/>
              </a:rPr>
              <a:t>网络管理员可以根据网络需求为不同的主机选择不同的分配策略：</a:t>
            </a:r>
          </a:p>
          <a:p>
            <a:pPr lvl="1"/>
            <a:r>
              <a:rPr lang="zh-CN" altLang="en-US" sz="1400" dirty="0">
                <a:sym typeface="Huawei Sans" panose="020C0503030203020204" pitchFamily="34" charset="0"/>
              </a:rPr>
              <a:t>动态分配机制：为主机分配一个有限期限（租期）的</a:t>
            </a:r>
            <a:r>
              <a:rPr lang="en-US" altLang="zh-CN" sz="1400" dirty="0">
                <a:sym typeface="Huawei Sans" panose="020C0503030203020204" pitchFamily="34" charset="0"/>
              </a:rPr>
              <a:t>IP</a:t>
            </a:r>
            <a:r>
              <a:rPr lang="zh-CN" altLang="en-US" sz="1400" dirty="0">
                <a:sym typeface="Huawei Sans" panose="020C0503030203020204" pitchFamily="34" charset="0"/>
              </a:rPr>
              <a:t>地址。适用于主机需要临时接入或者</a:t>
            </a:r>
            <a:r>
              <a:rPr lang="en-US" altLang="zh-CN" sz="1400" dirty="0">
                <a:sym typeface="Huawei Sans" panose="020C0503030203020204" pitchFamily="34" charset="0"/>
              </a:rPr>
              <a:t>IP</a:t>
            </a:r>
            <a:r>
              <a:rPr lang="zh-CN" altLang="en-US" sz="1400" dirty="0">
                <a:sym typeface="Huawei Sans" panose="020C0503030203020204" pitchFamily="34" charset="0"/>
              </a:rPr>
              <a:t>地址不足的场景，例如企业办事处的出差员工便携机、咖啡厅的移动终端。</a:t>
            </a:r>
          </a:p>
          <a:p>
            <a:pPr lvl="1"/>
            <a:r>
              <a:rPr lang="zh-CN" altLang="en-US" sz="1400" dirty="0">
                <a:sym typeface="Huawei Sans" panose="020C0503030203020204" pitchFamily="34" charset="0"/>
              </a:rPr>
              <a:t>静态分配机制：为指定主机或服务器分配固定的</a:t>
            </a:r>
            <a:r>
              <a:rPr lang="en-US" altLang="zh-CN" sz="1400" dirty="0">
                <a:sym typeface="Huawei Sans" panose="020C0503030203020204" pitchFamily="34" charset="0"/>
              </a:rPr>
              <a:t>IP</a:t>
            </a:r>
            <a:r>
              <a:rPr lang="zh-CN" altLang="en-US" sz="1400" dirty="0">
                <a:sym typeface="Huawei Sans" panose="020C0503030203020204" pitchFamily="34" charset="0"/>
              </a:rPr>
              <a:t>地址，例如</a:t>
            </a:r>
            <a:r>
              <a:rPr lang="en-US" altLang="zh-CN" sz="1400" dirty="0">
                <a:sym typeface="Huawei Sans" panose="020C0503030203020204" pitchFamily="34" charset="0"/>
              </a:rPr>
              <a:t>DNS</a:t>
            </a:r>
            <a:r>
              <a:rPr lang="zh-CN" altLang="en-US" sz="1400" dirty="0">
                <a:sym typeface="Huawei Sans" panose="020C0503030203020204" pitchFamily="34" charset="0"/>
              </a:rPr>
              <a:t>服务器。</a:t>
            </a:r>
          </a:p>
          <a:p>
            <a:r>
              <a:rPr lang="zh-CN" altLang="en-US" sz="1600" dirty="0">
                <a:sym typeface="Huawei Sans" panose="020C0503030203020204" pitchFamily="34" charset="0"/>
              </a:rPr>
              <a:t>地址池规划需要将静态配置的</a:t>
            </a:r>
            <a:r>
              <a:rPr lang="en-US" altLang="zh-CN" sz="1600" dirty="0">
                <a:sym typeface="Huawei Sans" panose="020C0503030203020204" pitchFamily="34" charset="0"/>
              </a:rPr>
              <a:t>IP</a:t>
            </a:r>
            <a:r>
              <a:rPr lang="zh-CN" altLang="en-US" sz="1600" dirty="0">
                <a:sym typeface="Huawei Sans" panose="020C0503030203020204" pitchFamily="34" charset="0"/>
              </a:rPr>
              <a:t>地址过滤掉。</a:t>
            </a:r>
          </a:p>
          <a:p>
            <a:r>
              <a:rPr lang="zh-CN" altLang="en-US" sz="1600" dirty="0">
                <a:sym typeface="Huawei Sans" panose="020C0503030203020204" pitchFamily="34" charset="0"/>
              </a:rPr>
              <a:t>根据客户端在线时间合理规划租期。</a:t>
            </a:r>
          </a:p>
          <a:p>
            <a:r>
              <a:rPr lang="zh-CN" altLang="en-US" sz="1600" dirty="0">
                <a:sym typeface="Huawei Sans" panose="020C0503030203020204" pitchFamily="34" charset="0"/>
              </a:rPr>
              <a:t>大中型园区</a:t>
            </a:r>
            <a:r>
              <a:rPr lang="en-US" altLang="zh-CN" sz="1600" dirty="0">
                <a:sym typeface="Huawei Sans" panose="020C0503030203020204" pitchFamily="34" charset="0"/>
              </a:rPr>
              <a:t>DHCP</a:t>
            </a:r>
            <a:r>
              <a:rPr lang="zh-CN" altLang="en-US" sz="1600" dirty="0">
                <a:sym typeface="Huawei Sans" panose="020C0503030203020204" pitchFamily="34" charset="0"/>
              </a:rPr>
              <a:t>服务器和园区主机通常不在同一个网段，网关需开启</a:t>
            </a:r>
            <a:r>
              <a:rPr lang="en-US" altLang="zh-CN" sz="1600" dirty="0">
                <a:sym typeface="Huawei Sans" panose="020C0503030203020204" pitchFamily="34" charset="0"/>
              </a:rPr>
              <a:t>DHCP</a:t>
            </a:r>
            <a:r>
              <a:rPr lang="zh-CN" altLang="en-US" sz="1600" dirty="0">
                <a:sym typeface="Huawei Sans" panose="020C0503030203020204" pitchFamily="34" charset="0"/>
              </a:rPr>
              <a:t>中继功能。</a:t>
            </a:r>
          </a:p>
          <a:p>
            <a:pPr lvl="1"/>
            <a:endParaRPr lang="zh-CN" altLang="en-US" sz="1400" dirty="0">
              <a:sym typeface="Huawei Sans" panose="020C0503030203020204" pitchFamily="34" charset="0"/>
            </a:endParaRPr>
          </a:p>
        </p:txBody>
      </p:sp>
      <p:cxnSp>
        <p:nvCxnSpPr>
          <p:cNvPr id="3" name="Straight Connector 79"/>
          <p:cNvCxnSpPr/>
          <p:nvPr/>
        </p:nvCxnSpPr>
        <p:spPr bwMode="gray">
          <a:xfrm flipH="1">
            <a:off x="3303604" y="1775223"/>
            <a:ext cx="309238" cy="33026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79"/>
          <p:cNvCxnSpPr/>
          <p:nvPr/>
        </p:nvCxnSpPr>
        <p:spPr bwMode="gray">
          <a:xfrm flipH="1">
            <a:off x="3606954" y="1777446"/>
            <a:ext cx="118552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79"/>
          <p:cNvCxnSpPr/>
          <p:nvPr/>
        </p:nvCxnSpPr>
        <p:spPr bwMode="gray">
          <a:xfrm flipH="1">
            <a:off x="2390862" y="1677416"/>
            <a:ext cx="309238" cy="33026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图片 105" descr="AP.png"/>
          <p:cNvPicPr>
            <a:picLocks noChangeAspect="1"/>
          </p:cNvPicPr>
          <p:nvPr/>
        </p:nvPicPr>
        <p:blipFill>
          <a:blip r:embed="rId3" cstate="print"/>
          <a:stretch>
            <a:fillRect/>
          </a:stretch>
        </p:blipFill>
        <p:spPr bwMode="gray">
          <a:xfrm>
            <a:off x="4364085" y="4719990"/>
            <a:ext cx="399310" cy="326710"/>
          </a:xfrm>
          <a:prstGeom prst="rect">
            <a:avLst/>
          </a:prstGeom>
        </p:spPr>
      </p:pic>
      <p:cxnSp>
        <p:nvCxnSpPr>
          <p:cNvPr id="15" name="Straight Connector 74"/>
          <p:cNvCxnSpPr>
            <a:stCxn id="14" idx="0"/>
            <a:endCxn id="44" idx="2"/>
          </p:cNvCxnSpPr>
          <p:nvPr/>
        </p:nvCxnSpPr>
        <p:spPr bwMode="gray">
          <a:xfrm flipV="1">
            <a:off x="4563740" y="4443583"/>
            <a:ext cx="1104" cy="2764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图片 105" descr="AP.png"/>
          <p:cNvPicPr>
            <a:picLocks noChangeAspect="1"/>
          </p:cNvPicPr>
          <p:nvPr/>
        </p:nvPicPr>
        <p:blipFill>
          <a:blip r:embed="rId3" cstate="print"/>
          <a:stretch>
            <a:fillRect/>
          </a:stretch>
        </p:blipFill>
        <p:spPr bwMode="gray">
          <a:xfrm>
            <a:off x="1964909" y="4719990"/>
            <a:ext cx="399310" cy="326710"/>
          </a:xfrm>
          <a:prstGeom prst="rect">
            <a:avLst/>
          </a:prstGeom>
        </p:spPr>
      </p:pic>
      <p:pic>
        <p:nvPicPr>
          <p:cNvPr id="17" name="图片 86" descr="核心交换机.png"/>
          <p:cNvPicPr>
            <a:picLocks noChangeAspect="1"/>
          </p:cNvPicPr>
          <p:nvPr/>
        </p:nvPicPr>
        <p:blipFill>
          <a:blip r:embed="rId4" cstate="print"/>
          <a:stretch>
            <a:fillRect/>
          </a:stretch>
        </p:blipFill>
        <p:spPr bwMode="gray">
          <a:xfrm>
            <a:off x="2187036" y="1991304"/>
            <a:ext cx="399310" cy="326710"/>
          </a:xfrm>
          <a:prstGeom prst="rect">
            <a:avLst/>
          </a:prstGeom>
        </p:spPr>
      </p:pic>
      <p:pic>
        <p:nvPicPr>
          <p:cNvPr id="18" name="图片 86" descr="核心交换机.png"/>
          <p:cNvPicPr>
            <a:picLocks noChangeAspect="1"/>
          </p:cNvPicPr>
          <p:nvPr/>
        </p:nvPicPr>
        <p:blipFill>
          <a:blip r:embed="rId4" cstate="print"/>
          <a:stretch>
            <a:fillRect/>
          </a:stretch>
        </p:blipFill>
        <p:spPr bwMode="gray">
          <a:xfrm>
            <a:off x="3165636" y="1991304"/>
            <a:ext cx="399310" cy="326710"/>
          </a:xfrm>
          <a:prstGeom prst="rect">
            <a:avLst/>
          </a:prstGeom>
        </p:spPr>
      </p:pic>
      <p:cxnSp>
        <p:nvCxnSpPr>
          <p:cNvPr id="19" name="Straight Connector 13"/>
          <p:cNvCxnSpPr>
            <a:stCxn id="17" idx="3"/>
            <a:endCxn id="18" idx="1"/>
          </p:cNvCxnSpPr>
          <p:nvPr/>
        </p:nvCxnSpPr>
        <p:spPr bwMode="gray">
          <a:xfrm>
            <a:off x="2586346" y="2154659"/>
            <a:ext cx="579291"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pic>
        <p:nvPicPr>
          <p:cNvPr id="20" name="图片 87" descr="汇聚交换机.png"/>
          <p:cNvPicPr>
            <a:picLocks noChangeAspect="1"/>
          </p:cNvPicPr>
          <p:nvPr/>
        </p:nvPicPr>
        <p:blipFill>
          <a:blip r:embed="rId5" cstate="print"/>
          <a:stretch>
            <a:fillRect/>
          </a:stretch>
        </p:blipFill>
        <p:spPr bwMode="gray">
          <a:xfrm>
            <a:off x="989833" y="3066415"/>
            <a:ext cx="399310" cy="326710"/>
          </a:xfrm>
          <a:prstGeom prst="rect">
            <a:avLst/>
          </a:prstGeom>
        </p:spPr>
      </p:pic>
      <p:pic>
        <p:nvPicPr>
          <p:cNvPr id="21" name="图片 87" descr="汇聚交换机.png"/>
          <p:cNvPicPr>
            <a:picLocks noChangeAspect="1"/>
          </p:cNvPicPr>
          <p:nvPr/>
        </p:nvPicPr>
        <p:blipFill>
          <a:blip r:embed="rId5" cstate="print"/>
          <a:stretch>
            <a:fillRect/>
          </a:stretch>
        </p:blipFill>
        <p:spPr bwMode="gray">
          <a:xfrm>
            <a:off x="1966084" y="3066415"/>
            <a:ext cx="399310" cy="326710"/>
          </a:xfrm>
          <a:prstGeom prst="rect">
            <a:avLst/>
          </a:prstGeom>
        </p:spPr>
      </p:pic>
      <p:cxnSp>
        <p:nvCxnSpPr>
          <p:cNvPr id="22" name="Straight Connector 16"/>
          <p:cNvCxnSpPr>
            <a:stCxn id="20" idx="3"/>
            <a:endCxn id="21" idx="1"/>
          </p:cNvCxnSpPr>
          <p:nvPr/>
        </p:nvCxnSpPr>
        <p:spPr bwMode="gray">
          <a:xfrm>
            <a:off x="1389143" y="3229770"/>
            <a:ext cx="57694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5" name="图片 87" descr="汇聚交换机.png"/>
          <p:cNvPicPr>
            <a:picLocks noChangeAspect="1"/>
          </p:cNvPicPr>
          <p:nvPr/>
        </p:nvPicPr>
        <p:blipFill>
          <a:blip r:embed="rId5" cstate="print"/>
          <a:stretch>
            <a:fillRect/>
          </a:stretch>
        </p:blipFill>
        <p:spPr bwMode="gray">
          <a:xfrm>
            <a:off x="3387762" y="3066415"/>
            <a:ext cx="399310" cy="326710"/>
          </a:xfrm>
          <a:prstGeom prst="rect">
            <a:avLst/>
          </a:prstGeom>
        </p:spPr>
      </p:pic>
      <p:pic>
        <p:nvPicPr>
          <p:cNvPr id="26" name="图片 87" descr="汇聚交换机.png"/>
          <p:cNvPicPr>
            <a:picLocks noChangeAspect="1"/>
          </p:cNvPicPr>
          <p:nvPr/>
        </p:nvPicPr>
        <p:blipFill>
          <a:blip r:embed="rId5" cstate="print"/>
          <a:stretch>
            <a:fillRect/>
          </a:stretch>
        </p:blipFill>
        <p:spPr bwMode="gray">
          <a:xfrm>
            <a:off x="4365189" y="3066415"/>
            <a:ext cx="399310" cy="326710"/>
          </a:xfrm>
          <a:prstGeom prst="rect">
            <a:avLst/>
          </a:prstGeom>
        </p:spPr>
      </p:pic>
      <p:cxnSp>
        <p:nvCxnSpPr>
          <p:cNvPr id="27" name="Straight Connector 29"/>
          <p:cNvCxnSpPr>
            <a:stCxn id="25" idx="3"/>
            <a:endCxn id="26" idx="1"/>
          </p:cNvCxnSpPr>
          <p:nvPr/>
        </p:nvCxnSpPr>
        <p:spPr bwMode="gray">
          <a:xfrm>
            <a:off x="3787072" y="3229770"/>
            <a:ext cx="57811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30"/>
          <p:cNvCxnSpPr>
            <a:stCxn id="20" idx="0"/>
            <a:endCxn id="17" idx="2"/>
          </p:cNvCxnSpPr>
          <p:nvPr/>
        </p:nvCxnSpPr>
        <p:spPr bwMode="gray">
          <a:xfrm flipV="1">
            <a:off x="1189489" y="2318014"/>
            <a:ext cx="1197203" cy="7484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33"/>
          <p:cNvCxnSpPr>
            <a:stCxn id="21" idx="0"/>
            <a:endCxn id="18" idx="2"/>
          </p:cNvCxnSpPr>
          <p:nvPr/>
        </p:nvCxnSpPr>
        <p:spPr bwMode="gray">
          <a:xfrm flipV="1">
            <a:off x="2165740" y="2318014"/>
            <a:ext cx="1199552" cy="7484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36"/>
          <p:cNvCxnSpPr>
            <a:stCxn id="25" idx="0"/>
            <a:endCxn id="17" idx="2"/>
          </p:cNvCxnSpPr>
          <p:nvPr/>
        </p:nvCxnSpPr>
        <p:spPr bwMode="gray">
          <a:xfrm flipH="1" flipV="1">
            <a:off x="2386691" y="2318014"/>
            <a:ext cx="1200726" cy="7484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9"/>
          <p:cNvCxnSpPr>
            <a:stCxn id="26" idx="0"/>
            <a:endCxn id="18" idx="2"/>
          </p:cNvCxnSpPr>
          <p:nvPr/>
        </p:nvCxnSpPr>
        <p:spPr bwMode="gray">
          <a:xfrm flipH="1" flipV="1">
            <a:off x="3365292" y="2318014"/>
            <a:ext cx="1199552" cy="7484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2" name="Oval 42"/>
          <p:cNvSpPr/>
          <p:nvPr/>
        </p:nvSpPr>
        <p:spPr bwMode="gray">
          <a:xfrm rot="3077028">
            <a:off x="1919886" y="2649968"/>
            <a:ext cx="691390" cy="108844"/>
          </a:xfrm>
          <a:prstGeom prst="ellips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106" descr="堆叠交换机蓝.png"/>
          <p:cNvPicPr>
            <a:picLocks noChangeAspect="1"/>
          </p:cNvPicPr>
          <p:nvPr/>
        </p:nvPicPr>
        <p:blipFill>
          <a:blip r:embed="rId6" cstate="print"/>
          <a:stretch>
            <a:fillRect/>
          </a:stretch>
        </p:blipFill>
        <p:spPr bwMode="gray">
          <a:xfrm>
            <a:off x="988765" y="4115126"/>
            <a:ext cx="401447" cy="328457"/>
          </a:xfrm>
          <a:prstGeom prst="rect">
            <a:avLst/>
          </a:prstGeom>
        </p:spPr>
      </p:pic>
      <p:pic>
        <p:nvPicPr>
          <p:cNvPr id="34" name="图片 106" descr="堆叠交换机蓝.png"/>
          <p:cNvPicPr>
            <a:picLocks noChangeAspect="1"/>
          </p:cNvPicPr>
          <p:nvPr/>
        </p:nvPicPr>
        <p:blipFill>
          <a:blip r:embed="rId6" cstate="print"/>
          <a:stretch>
            <a:fillRect/>
          </a:stretch>
        </p:blipFill>
        <p:spPr bwMode="gray">
          <a:xfrm>
            <a:off x="1965016" y="4115126"/>
            <a:ext cx="401447" cy="328457"/>
          </a:xfrm>
          <a:prstGeom prst="rect">
            <a:avLst/>
          </a:prstGeom>
        </p:spPr>
      </p:pic>
      <p:cxnSp>
        <p:nvCxnSpPr>
          <p:cNvPr id="35" name="Straight Connector 34"/>
          <p:cNvCxnSpPr>
            <a:stCxn id="33" idx="0"/>
            <a:endCxn id="20" idx="2"/>
          </p:cNvCxnSpPr>
          <p:nvPr/>
        </p:nvCxnSpPr>
        <p:spPr bwMode="gray">
          <a:xfrm flipV="1">
            <a:off x="1189489" y="3393125"/>
            <a:ext cx="0" cy="7220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33" idx="0"/>
            <a:endCxn id="21" idx="2"/>
          </p:cNvCxnSpPr>
          <p:nvPr/>
        </p:nvCxnSpPr>
        <p:spPr bwMode="gray">
          <a:xfrm flipV="1">
            <a:off x="1189489" y="3393125"/>
            <a:ext cx="976251" cy="7220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7"/>
          <p:cNvCxnSpPr>
            <a:stCxn id="34" idx="0"/>
            <a:endCxn id="20" idx="2"/>
          </p:cNvCxnSpPr>
          <p:nvPr/>
        </p:nvCxnSpPr>
        <p:spPr bwMode="gray">
          <a:xfrm flipH="1" flipV="1">
            <a:off x="1189489" y="3393125"/>
            <a:ext cx="976251" cy="7220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8"/>
          <p:cNvCxnSpPr>
            <a:stCxn id="34" idx="0"/>
            <a:endCxn id="21" idx="2"/>
          </p:cNvCxnSpPr>
          <p:nvPr/>
        </p:nvCxnSpPr>
        <p:spPr bwMode="gray">
          <a:xfrm flipV="1">
            <a:off x="2165740" y="3393125"/>
            <a:ext cx="0" cy="7220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9" name="Group 40"/>
          <p:cNvGrpSpPr/>
          <p:nvPr/>
        </p:nvGrpSpPr>
        <p:grpSpPr bwMode="gray">
          <a:xfrm>
            <a:off x="1521624" y="4241486"/>
            <a:ext cx="311978" cy="73812"/>
            <a:chOff x="559282" y="6488261"/>
            <a:chExt cx="261965" cy="61979"/>
          </a:xfrm>
          <a:solidFill>
            <a:schemeClr val="bg1">
              <a:lumMod val="50000"/>
            </a:schemeClr>
          </a:solidFill>
        </p:grpSpPr>
        <p:sp>
          <p:nvSpPr>
            <p:cNvPr id="40" name="Oval 4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Oval 4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Oval 4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43" name="图片 106" descr="堆叠交换机蓝.png"/>
          <p:cNvPicPr>
            <a:picLocks noChangeAspect="1"/>
          </p:cNvPicPr>
          <p:nvPr/>
        </p:nvPicPr>
        <p:blipFill>
          <a:blip r:embed="rId6" cstate="print"/>
          <a:stretch>
            <a:fillRect/>
          </a:stretch>
        </p:blipFill>
        <p:spPr bwMode="gray">
          <a:xfrm>
            <a:off x="3386694" y="4115126"/>
            <a:ext cx="401447" cy="328457"/>
          </a:xfrm>
          <a:prstGeom prst="rect">
            <a:avLst/>
          </a:prstGeom>
        </p:spPr>
      </p:pic>
      <p:pic>
        <p:nvPicPr>
          <p:cNvPr id="44" name="图片 106" descr="堆叠交换机蓝.png"/>
          <p:cNvPicPr>
            <a:picLocks noChangeAspect="1"/>
          </p:cNvPicPr>
          <p:nvPr/>
        </p:nvPicPr>
        <p:blipFill>
          <a:blip r:embed="rId6" cstate="print"/>
          <a:stretch>
            <a:fillRect/>
          </a:stretch>
        </p:blipFill>
        <p:spPr bwMode="gray">
          <a:xfrm>
            <a:off x="4364120" y="4115126"/>
            <a:ext cx="401447" cy="328457"/>
          </a:xfrm>
          <a:prstGeom prst="rect">
            <a:avLst/>
          </a:prstGeom>
        </p:spPr>
      </p:pic>
      <p:grpSp>
        <p:nvGrpSpPr>
          <p:cNvPr id="45" name="Group 54"/>
          <p:cNvGrpSpPr/>
          <p:nvPr/>
        </p:nvGrpSpPr>
        <p:grpSpPr bwMode="gray">
          <a:xfrm>
            <a:off x="3920729" y="4241486"/>
            <a:ext cx="311978" cy="73812"/>
            <a:chOff x="559282" y="6488261"/>
            <a:chExt cx="261965" cy="61979"/>
          </a:xfrm>
          <a:solidFill>
            <a:schemeClr val="bg1">
              <a:lumMod val="50000"/>
            </a:schemeClr>
          </a:solidFill>
        </p:grpSpPr>
        <p:sp>
          <p:nvSpPr>
            <p:cNvPr id="46" name="Oval 55"/>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Oval 56"/>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Oval 57"/>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9" name="Straight Connector 58"/>
          <p:cNvCxnSpPr>
            <a:stCxn id="43" idx="0"/>
            <a:endCxn id="25" idx="2"/>
          </p:cNvCxnSpPr>
          <p:nvPr/>
        </p:nvCxnSpPr>
        <p:spPr bwMode="gray">
          <a:xfrm flipV="1">
            <a:off x="3587418" y="3393125"/>
            <a:ext cx="0" cy="7220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61"/>
          <p:cNvCxnSpPr>
            <a:stCxn id="44" idx="0"/>
            <a:endCxn id="26" idx="2"/>
          </p:cNvCxnSpPr>
          <p:nvPr/>
        </p:nvCxnSpPr>
        <p:spPr bwMode="gray">
          <a:xfrm flipV="1">
            <a:off x="4564844" y="3393125"/>
            <a:ext cx="0" cy="7220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64"/>
          <p:cNvCxnSpPr>
            <a:stCxn id="43" idx="0"/>
            <a:endCxn id="26" idx="2"/>
          </p:cNvCxnSpPr>
          <p:nvPr/>
        </p:nvCxnSpPr>
        <p:spPr bwMode="gray">
          <a:xfrm flipV="1">
            <a:off x="3587418" y="3393125"/>
            <a:ext cx="977426" cy="7220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67"/>
          <p:cNvCxnSpPr>
            <a:stCxn id="44" idx="0"/>
            <a:endCxn id="25" idx="2"/>
          </p:cNvCxnSpPr>
          <p:nvPr/>
        </p:nvCxnSpPr>
        <p:spPr bwMode="gray">
          <a:xfrm flipH="1" flipV="1">
            <a:off x="3587418" y="3393125"/>
            <a:ext cx="977426" cy="7220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70"/>
          <p:cNvCxnSpPr>
            <a:stCxn id="16" idx="0"/>
            <a:endCxn id="34" idx="2"/>
          </p:cNvCxnSpPr>
          <p:nvPr/>
        </p:nvCxnSpPr>
        <p:spPr bwMode="gray">
          <a:xfrm flipV="1">
            <a:off x="2164564" y="4443583"/>
            <a:ext cx="1175" cy="2764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Oval 59"/>
          <p:cNvSpPr/>
          <p:nvPr/>
        </p:nvSpPr>
        <p:spPr bwMode="gray">
          <a:xfrm rot="1782887">
            <a:off x="1082622" y="3816649"/>
            <a:ext cx="449045" cy="143949"/>
          </a:xfrm>
          <a:prstGeom prst="ellips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Oval 62"/>
          <p:cNvSpPr/>
          <p:nvPr/>
        </p:nvSpPr>
        <p:spPr bwMode="gray">
          <a:xfrm rot="19401600">
            <a:off x="1845543" y="3831835"/>
            <a:ext cx="449045" cy="143949"/>
          </a:xfrm>
          <a:prstGeom prst="ellips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Oval 63"/>
          <p:cNvSpPr/>
          <p:nvPr/>
        </p:nvSpPr>
        <p:spPr bwMode="gray">
          <a:xfrm rot="1782887">
            <a:off x="3466135" y="3854614"/>
            <a:ext cx="449045" cy="143949"/>
          </a:xfrm>
          <a:prstGeom prst="ellips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Oval 65"/>
          <p:cNvSpPr/>
          <p:nvPr/>
        </p:nvSpPr>
        <p:spPr bwMode="gray">
          <a:xfrm rot="19401600">
            <a:off x="4250600" y="3825065"/>
            <a:ext cx="449045" cy="143949"/>
          </a:xfrm>
          <a:prstGeom prst="ellips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14" descr="日志告警服务器-蓝.png"/>
          <p:cNvPicPr>
            <a:picLocks noChangeAspect="1"/>
          </p:cNvPicPr>
          <p:nvPr/>
        </p:nvPicPr>
        <p:blipFill>
          <a:blip r:embed="rId7" cstate="print"/>
          <a:stretch>
            <a:fillRect/>
          </a:stretch>
        </p:blipFill>
        <p:spPr bwMode="gray">
          <a:xfrm>
            <a:off x="1727902" y="5435074"/>
            <a:ext cx="362747" cy="226506"/>
          </a:xfrm>
          <a:prstGeom prst="rect">
            <a:avLst/>
          </a:prstGeom>
        </p:spPr>
      </p:pic>
      <p:pic>
        <p:nvPicPr>
          <p:cNvPr id="65" name="图片 11" descr="开放网络-蓝.png"/>
          <p:cNvPicPr>
            <a:picLocks noChangeAspect="1"/>
          </p:cNvPicPr>
          <p:nvPr/>
        </p:nvPicPr>
        <p:blipFill>
          <a:blip r:embed="rId8" cstate="print"/>
          <a:stretch>
            <a:fillRect/>
          </a:stretch>
        </p:blipFill>
        <p:spPr bwMode="gray">
          <a:xfrm>
            <a:off x="3038723" y="5408709"/>
            <a:ext cx="362747" cy="279236"/>
          </a:xfrm>
          <a:prstGeom prst="rect">
            <a:avLst/>
          </a:prstGeom>
        </p:spPr>
      </p:pic>
      <p:pic>
        <p:nvPicPr>
          <p:cNvPr id="66" name="图片 158" descr="SAN网络-蓝.png"/>
          <p:cNvPicPr>
            <a:picLocks noChangeAspect="1"/>
          </p:cNvPicPr>
          <p:nvPr/>
        </p:nvPicPr>
        <p:blipFill>
          <a:blip r:embed="rId9" cstate="print"/>
          <a:stretch>
            <a:fillRect/>
          </a:stretch>
        </p:blipFill>
        <p:spPr bwMode="gray">
          <a:xfrm>
            <a:off x="2465768" y="5386269"/>
            <a:ext cx="197836" cy="324116"/>
          </a:xfrm>
          <a:prstGeom prst="rect">
            <a:avLst/>
          </a:prstGeom>
        </p:spPr>
      </p:pic>
      <p:pic>
        <p:nvPicPr>
          <p:cNvPr id="68" name="图片 157" descr="故障链路.png"/>
          <p:cNvPicPr>
            <a:picLocks noChangeAspect="1"/>
          </p:cNvPicPr>
          <p:nvPr/>
        </p:nvPicPr>
        <p:blipFill>
          <a:blip r:embed="rId10" cstate="print"/>
          <a:stretch>
            <a:fillRect/>
          </a:stretch>
        </p:blipFill>
        <p:spPr bwMode="gray">
          <a:xfrm>
            <a:off x="3776588" y="5399448"/>
            <a:ext cx="399310" cy="297758"/>
          </a:xfrm>
          <a:prstGeom prst="rect">
            <a:avLst/>
          </a:prstGeom>
        </p:spPr>
      </p:pic>
      <p:sp>
        <p:nvSpPr>
          <p:cNvPr id="74" name="Oval 92"/>
          <p:cNvSpPr/>
          <p:nvPr/>
        </p:nvSpPr>
        <p:spPr bwMode="gray">
          <a:xfrm rot="18651691">
            <a:off x="3163568" y="2670795"/>
            <a:ext cx="691390" cy="108844"/>
          </a:xfrm>
          <a:prstGeom prst="ellips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1" name="Straight Connector 79"/>
          <p:cNvCxnSpPr/>
          <p:nvPr/>
        </p:nvCxnSpPr>
        <p:spPr bwMode="gray">
          <a:xfrm flipH="1">
            <a:off x="2694213" y="1679639"/>
            <a:ext cx="209826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5" name="圆角矩形 104"/>
          <p:cNvSpPr/>
          <p:nvPr/>
        </p:nvSpPr>
        <p:spPr bwMode="gray">
          <a:xfrm>
            <a:off x="4278682" y="1427756"/>
            <a:ext cx="1569768" cy="1157260"/>
          </a:xfrm>
          <a:prstGeom prst="roundRect">
            <a:avLst>
              <a:gd name="adj" fmla="val 2563"/>
            </a:avLst>
          </a:prstGeom>
          <a:solidFill>
            <a:schemeClr val="bg1">
              <a:lumMod val="9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6" name="图片 72" descr="交换机.png"/>
          <p:cNvPicPr>
            <a:picLocks noChangeAspect="1"/>
          </p:cNvPicPr>
          <p:nvPr/>
        </p:nvPicPr>
        <p:blipFill>
          <a:blip r:embed="rId11" cstate="print"/>
          <a:stretch>
            <a:fillRect/>
          </a:stretch>
        </p:blipFill>
        <p:spPr bwMode="gray">
          <a:xfrm>
            <a:off x="4518752" y="1707550"/>
            <a:ext cx="489285" cy="401651"/>
          </a:xfrm>
          <a:prstGeom prst="rect">
            <a:avLst/>
          </a:prstGeom>
        </p:spPr>
      </p:pic>
      <p:sp>
        <p:nvSpPr>
          <p:cNvPr id="107" name="文本框 106"/>
          <p:cNvSpPr txBox="1"/>
          <p:nvPr/>
        </p:nvSpPr>
        <p:spPr bwMode="gray">
          <a:xfrm>
            <a:off x="4428445" y="2161173"/>
            <a:ext cx="1377300" cy="338554"/>
          </a:xfrm>
          <a:prstGeom prst="rect">
            <a:avLst/>
          </a:prstGeom>
          <a:noFill/>
        </p:spPr>
        <p:txBody>
          <a:bodyPr wrap="none" rtlCol="0">
            <a:spAutoFit/>
          </a:bodyPr>
          <a:lstStyle/>
          <a:p>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文本框 108"/>
          <p:cNvSpPr txBox="1"/>
          <p:nvPr/>
        </p:nvSpPr>
        <p:spPr bwMode="gray">
          <a:xfrm>
            <a:off x="2187036" y="5772584"/>
            <a:ext cx="1334020" cy="338554"/>
          </a:xfrm>
          <a:prstGeom prst="rect">
            <a:avLst/>
          </a:prstGeom>
          <a:noFill/>
        </p:spPr>
        <p:txBody>
          <a:bodyPr wrap="none" rtlCol="0">
            <a:spAutoFit/>
          </a:bodyPr>
          <a:lstStyle/>
          <a:p>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五边形 63"/>
          <p:cNvSpPr/>
          <p:nvPr/>
        </p:nvSpPr>
        <p:spPr bwMode="gray">
          <a:xfrm>
            <a:off x="6730479"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66"/>
          <p:cNvSpPr/>
          <p:nvPr/>
        </p:nvSpPr>
        <p:spPr bwMode="gray">
          <a:xfrm>
            <a:off x="736713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68"/>
          <p:cNvSpPr/>
          <p:nvPr/>
        </p:nvSpPr>
        <p:spPr bwMode="gray">
          <a:xfrm>
            <a:off x="8003795" y="114957"/>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73" name="燕尾形 72"/>
          <p:cNvSpPr/>
          <p:nvPr/>
        </p:nvSpPr>
        <p:spPr bwMode="gray">
          <a:xfrm>
            <a:off x="8640453"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燕尾形 74"/>
          <p:cNvSpPr/>
          <p:nvPr/>
        </p:nvSpPr>
        <p:spPr bwMode="gray">
          <a:xfrm>
            <a:off x="9277111" y="114957"/>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438935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椭圆 63"/>
          <p:cNvSpPr/>
          <p:nvPr/>
        </p:nvSpPr>
        <p:spPr bwMode="gray">
          <a:xfrm>
            <a:off x="6999689" y="1514966"/>
            <a:ext cx="4680552" cy="3104122"/>
          </a:xfrm>
          <a:prstGeom prst="ellipse">
            <a:avLst/>
          </a:prstGeom>
          <a:solidFill>
            <a:schemeClr val="accent2">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椭圆 61"/>
          <p:cNvSpPr/>
          <p:nvPr/>
        </p:nvSpPr>
        <p:spPr bwMode="gray">
          <a:xfrm rot="3310622">
            <a:off x="1848708" y="1524817"/>
            <a:ext cx="1918477" cy="3436328"/>
          </a:xfrm>
          <a:prstGeom prst="ellipse">
            <a:avLst/>
          </a:prstGeom>
          <a:solidFill>
            <a:schemeClr val="accent6">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62"/>
          <p:cNvSpPr/>
          <p:nvPr/>
        </p:nvSpPr>
        <p:spPr bwMode="gray">
          <a:xfrm rot="18289378" flipV="1">
            <a:off x="3195424" y="1524818"/>
            <a:ext cx="1918477" cy="3436328"/>
          </a:xfrm>
          <a:prstGeom prst="ellipse">
            <a:avLst/>
          </a:prstGeom>
          <a:solidFill>
            <a:srgbClr val="94DAE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椭圆 60"/>
          <p:cNvSpPr/>
          <p:nvPr/>
        </p:nvSpPr>
        <p:spPr bwMode="gray">
          <a:xfrm>
            <a:off x="2778098" y="1430419"/>
            <a:ext cx="1525484" cy="618059"/>
          </a:xfrm>
          <a:prstGeom prst="ellipse">
            <a:avLst/>
          </a:prstGeom>
          <a:solidFill>
            <a:schemeClr val="accent2">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路由设计</a:t>
            </a:r>
          </a:p>
        </p:txBody>
      </p:sp>
      <p:sp>
        <p:nvSpPr>
          <p:cNvPr id="4" name="圆角矩形 75"/>
          <p:cNvSpPr/>
          <p:nvPr/>
        </p:nvSpPr>
        <p:spPr bwMode="gray">
          <a:xfrm>
            <a:off x="477521" y="1002925"/>
            <a:ext cx="5508000" cy="360000"/>
          </a:xfrm>
          <a:prstGeom prst="roundRect">
            <a:avLst>
              <a:gd name="adj" fmla="val 867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三层组网：场景</a:t>
            </a: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6206479" y="1002925"/>
            <a:ext cx="550800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三层组网：场景</a:t>
            </a: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477521" y="1406883"/>
            <a:ext cx="5508000" cy="3293324"/>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圆角矩形 75"/>
          <p:cNvSpPr/>
          <p:nvPr/>
        </p:nvSpPr>
        <p:spPr bwMode="gray">
          <a:xfrm>
            <a:off x="6206479" y="1406883"/>
            <a:ext cx="5508000" cy="3293324"/>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8" name="图片 86" descr="核心交换机.png"/>
          <p:cNvPicPr>
            <a:picLocks noChangeAspect="1"/>
          </p:cNvPicPr>
          <p:nvPr/>
        </p:nvPicPr>
        <p:blipFill>
          <a:blip r:embed="rId3"/>
          <a:stretch>
            <a:fillRect/>
          </a:stretch>
        </p:blipFill>
        <p:spPr bwMode="gray">
          <a:xfrm>
            <a:off x="2972169" y="1761859"/>
            <a:ext cx="406420" cy="332527"/>
          </a:xfrm>
          <a:prstGeom prst="rect">
            <a:avLst/>
          </a:prstGeom>
        </p:spPr>
      </p:pic>
      <p:pic>
        <p:nvPicPr>
          <p:cNvPr id="9" name="图片 86" descr="核心交换机.png"/>
          <p:cNvPicPr>
            <a:picLocks noChangeAspect="1"/>
          </p:cNvPicPr>
          <p:nvPr/>
        </p:nvPicPr>
        <p:blipFill>
          <a:blip r:embed="rId3"/>
          <a:stretch>
            <a:fillRect/>
          </a:stretch>
        </p:blipFill>
        <p:spPr bwMode="gray">
          <a:xfrm>
            <a:off x="3690798" y="1761859"/>
            <a:ext cx="406420" cy="332527"/>
          </a:xfrm>
          <a:prstGeom prst="rect">
            <a:avLst/>
          </a:prstGeom>
        </p:spPr>
      </p:pic>
      <p:cxnSp>
        <p:nvCxnSpPr>
          <p:cNvPr id="10" name="直接连接符 9"/>
          <p:cNvCxnSpPr>
            <a:stCxn id="8" idx="3"/>
            <a:endCxn id="9" idx="1"/>
          </p:cNvCxnSpPr>
          <p:nvPr/>
        </p:nvCxnSpPr>
        <p:spPr bwMode="gray">
          <a:xfrm>
            <a:off x="3378589" y="1928123"/>
            <a:ext cx="31220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1" name="图片 87" descr="汇聚交换机.png"/>
          <p:cNvPicPr>
            <a:picLocks noChangeAspect="1"/>
          </p:cNvPicPr>
          <p:nvPr/>
        </p:nvPicPr>
        <p:blipFill>
          <a:blip r:embed="rId4"/>
          <a:stretch>
            <a:fillRect/>
          </a:stretch>
        </p:blipFill>
        <p:spPr bwMode="gray">
          <a:xfrm>
            <a:off x="2363927" y="2858737"/>
            <a:ext cx="406420" cy="332527"/>
          </a:xfrm>
          <a:prstGeom prst="rect">
            <a:avLst/>
          </a:prstGeom>
        </p:spPr>
      </p:pic>
      <p:pic>
        <p:nvPicPr>
          <p:cNvPr id="12" name="图片 87" descr="汇聚交换机.png"/>
          <p:cNvPicPr>
            <a:picLocks noChangeAspect="1"/>
          </p:cNvPicPr>
          <p:nvPr/>
        </p:nvPicPr>
        <p:blipFill>
          <a:blip r:embed="rId4"/>
          <a:stretch>
            <a:fillRect/>
          </a:stretch>
        </p:blipFill>
        <p:spPr bwMode="gray">
          <a:xfrm>
            <a:off x="1645298" y="2858737"/>
            <a:ext cx="406420" cy="332527"/>
          </a:xfrm>
          <a:prstGeom prst="rect">
            <a:avLst/>
          </a:prstGeom>
        </p:spPr>
      </p:pic>
      <p:cxnSp>
        <p:nvCxnSpPr>
          <p:cNvPr id="13" name="直接连接符 12"/>
          <p:cNvCxnSpPr>
            <a:stCxn id="12" idx="3"/>
            <a:endCxn id="11" idx="1"/>
          </p:cNvCxnSpPr>
          <p:nvPr/>
        </p:nvCxnSpPr>
        <p:spPr bwMode="gray">
          <a:xfrm>
            <a:off x="2051718" y="3025001"/>
            <a:ext cx="31220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4" name="图片 76" descr="接入交换机.png"/>
          <p:cNvPicPr>
            <a:picLocks noChangeAspect="1"/>
          </p:cNvPicPr>
          <p:nvPr/>
        </p:nvPicPr>
        <p:blipFill>
          <a:blip r:embed="rId5"/>
          <a:stretch>
            <a:fillRect/>
          </a:stretch>
        </p:blipFill>
        <p:spPr bwMode="gray">
          <a:xfrm>
            <a:off x="1646521" y="3943237"/>
            <a:ext cx="406420" cy="332527"/>
          </a:xfrm>
          <a:prstGeom prst="rect">
            <a:avLst/>
          </a:prstGeom>
        </p:spPr>
      </p:pic>
      <p:pic>
        <p:nvPicPr>
          <p:cNvPr id="15" name="图片 76" descr="接入交换机.png"/>
          <p:cNvPicPr>
            <a:picLocks noChangeAspect="1"/>
          </p:cNvPicPr>
          <p:nvPr/>
        </p:nvPicPr>
        <p:blipFill>
          <a:blip r:embed="rId5"/>
          <a:stretch>
            <a:fillRect/>
          </a:stretch>
        </p:blipFill>
        <p:spPr bwMode="gray">
          <a:xfrm>
            <a:off x="2362705" y="3943237"/>
            <a:ext cx="406420" cy="332527"/>
          </a:xfrm>
          <a:prstGeom prst="rect">
            <a:avLst/>
          </a:prstGeom>
        </p:spPr>
      </p:pic>
      <p:cxnSp>
        <p:nvCxnSpPr>
          <p:cNvPr id="16" name="直接连接符 15"/>
          <p:cNvCxnSpPr>
            <a:stCxn id="14" idx="3"/>
            <a:endCxn id="15" idx="1"/>
          </p:cNvCxnSpPr>
          <p:nvPr/>
        </p:nvCxnSpPr>
        <p:spPr bwMode="gray">
          <a:xfrm>
            <a:off x="2052941" y="4109501"/>
            <a:ext cx="30976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7" name="图片 87" descr="汇聚交换机.png"/>
          <p:cNvPicPr>
            <a:picLocks noChangeAspect="1"/>
          </p:cNvPicPr>
          <p:nvPr/>
        </p:nvPicPr>
        <p:blipFill>
          <a:blip r:embed="rId4"/>
          <a:stretch>
            <a:fillRect/>
          </a:stretch>
        </p:blipFill>
        <p:spPr bwMode="gray">
          <a:xfrm>
            <a:off x="5017668" y="2858737"/>
            <a:ext cx="406420" cy="332527"/>
          </a:xfrm>
          <a:prstGeom prst="rect">
            <a:avLst/>
          </a:prstGeom>
        </p:spPr>
      </p:pic>
      <p:pic>
        <p:nvPicPr>
          <p:cNvPr id="18" name="图片 87" descr="汇聚交换机.png"/>
          <p:cNvPicPr>
            <a:picLocks noChangeAspect="1"/>
          </p:cNvPicPr>
          <p:nvPr/>
        </p:nvPicPr>
        <p:blipFill>
          <a:blip r:embed="rId4"/>
          <a:stretch>
            <a:fillRect/>
          </a:stretch>
        </p:blipFill>
        <p:spPr bwMode="gray">
          <a:xfrm>
            <a:off x="4299039" y="2858737"/>
            <a:ext cx="406420" cy="332527"/>
          </a:xfrm>
          <a:prstGeom prst="rect">
            <a:avLst/>
          </a:prstGeom>
        </p:spPr>
      </p:pic>
      <p:cxnSp>
        <p:nvCxnSpPr>
          <p:cNvPr id="19" name="直接连接符 18"/>
          <p:cNvCxnSpPr>
            <a:stCxn id="18" idx="3"/>
            <a:endCxn id="17" idx="1"/>
          </p:cNvCxnSpPr>
          <p:nvPr/>
        </p:nvCxnSpPr>
        <p:spPr bwMode="gray">
          <a:xfrm>
            <a:off x="4705459" y="3025001"/>
            <a:ext cx="31220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20" name="图片 76" descr="接入交换机.png"/>
          <p:cNvPicPr>
            <a:picLocks noChangeAspect="1"/>
          </p:cNvPicPr>
          <p:nvPr/>
        </p:nvPicPr>
        <p:blipFill>
          <a:blip r:embed="rId5"/>
          <a:stretch>
            <a:fillRect/>
          </a:stretch>
        </p:blipFill>
        <p:spPr bwMode="gray">
          <a:xfrm>
            <a:off x="4300262" y="3943237"/>
            <a:ext cx="406420" cy="332527"/>
          </a:xfrm>
          <a:prstGeom prst="rect">
            <a:avLst/>
          </a:prstGeom>
        </p:spPr>
      </p:pic>
      <p:pic>
        <p:nvPicPr>
          <p:cNvPr id="21" name="图片 76" descr="接入交换机.png"/>
          <p:cNvPicPr>
            <a:picLocks noChangeAspect="1"/>
          </p:cNvPicPr>
          <p:nvPr/>
        </p:nvPicPr>
        <p:blipFill>
          <a:blip r:embed="rId5"/>
          <a:stretch>
            <a:fillRect/>
          </a:stretch>
        </p:blipFill>
        <p:spPr bwMode="gray">
          <a:xfrm>
            <a:off x="5016446" y="3943237"/>
            <a:ext cx="406420" cy="332527"/>
          </a:xfrm>
          <a:prstGeom prst="rect">
            <a:avLst/>
          </a:prstGeom>
        </p:spPr>
      </p:pic>
      <p:cxnSp>
        <p:nvCxnSpPr>
          <p:cNvPr id="22" name="直接连接符 21"/>
          <p:cNvCxnSpPr>
            <a:stCxn id="20" idx="3"/>
            <a:endCxn id="21" idx="1"/>
          </p:cNvCxnSpPr>
          <p:nvPr/>
        </p:nvCxnSpPr>
        <p:spPr bwMode="gray">
          <a:xfrm>
            <a:off x="4706682" y="4109501"/>
            <a:ext cx="30976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bwMode="gray">
          <a:xfrm>
            <a:off x="2894142" y="1456754"/>
            <a:ext cx="1281101" cy="305105"/>
          </a:xfrm>
          <a:prstGeom prst="rect">
            <a:avLst/>
          </a:prstGeom>
          <a:noFill/>
        </p:spPr>
        <p:txBody>
          <a:bodyPr wrap="square" rtlCol="0">
            <a:noAutofit/>
          </a:bodyPr>
          <a:lstStyle/>
          <a:p>
            <a:pPr algn="ctr" font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0</a:t>
            </a:r>
          </a:p>
        </p:txBody>
      </p:sp>
      <p:sp>
        <p:nvSpPr>
          <p:cNvPr id="31" name="文本框 30"/>
          <p:cNvSpPr txBox="1"/>
          <p:nvPr/>
        </p:nvSpPr>
        <p:spPr bwMode="gray">
          <a:xfrm>
            <a:off x="1606989" y="3418579"/>
            <a:ext cx="1365180" cy="305105"/>
          </a:xfrm>
          <a:prstGeom prst="rect">
            <a:avLst/>
          </a:prstGeom>
          <a:noFill/>
        </p:spPr>
        <p:txBody>
          <a:bodyPr wrap="square" rtlCol="0">
            <a:noAutofit/>
          </a:bodyPr>
          <a:lstStyle/>
          <a:p>
            <a:pPr algn="ctr" font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OSPF Area 1</a:t>
            </a:r>
          </a:p>
        </p:txBody>
      </p:sp>
      <p:sp>
        <p:nvSpPr>
          <p:cNvPr id="32" name="文本框 31"/>
          <p:cNvSpPr txBox="1"/>
          <p:nvPr/>
        </p:nvSpPr>
        <p:spPr bwMode="gray">
          <a:xfrm>
            <a:off x="4300456" y="3418579"/>
            <a:ext cx="1282825" cy="305105"/>
          </a:xfrm>
          <a:prstGeom prst="rect">
            <a:avLst/>
          </a:prstGeom>
          <a:noFill/>
        </p:spPr>
        <p:txBody>
          <a:bodyPr wrap="square" rtlCol="0">
            <a:noAutofit/>
          </a:bodyPr>
          <a:lstStyle/>
          <a:p>
            <a:pPr algn="ctr" font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OSPF Area 2</a:t>
            </a:r>
          </a:p>
        </p:txBody>
      </p:sp>
      <p:sp>
        <p:nvSpPr>
          <p:cNvPr id="33" name="文本框 32"/>
          <p:cNvSpPr txBox="1"/>
          <p:nvPr/>
        </p:nvSpPr>
        <p:spPr bwMode="gray">
          <a:xfrm>
            <a:off x="488849" y="1838270"/>
            <a:ext cx="1446230" cy="307777"/>
          </a:xfrm>
          <a:prstGeom prst="rect">
            <a:avLst/>
          </a:prstGeom>
          <a:noFill/>
        </p:spPr>
        <p:txBody>
          <a:bodyPr wrap="none" rtlCol="0">
            <a:spAutoFit/>
          </a:bodyPr>
          <a:lstStyle/>
          <a:p>
            <a:pPr fontAlgn="ctr">
              <a:spcBef>
                <a:spcPct val="0"/>
              </a:spcBef>
              <a:spcAft>
                <a:spcPct val="0"/>
              </a:spcAft>
              <a:defRPr/>
            </a:pPr>
            <a:r>
              <a:rPr lang="en-US" sz="14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488849" y="2867428"/>
            <a:ext cx="543739" cy="307777"/>
          </a:xfrm>
          <a:prstGeom prst="rect">
            <a:avLst/>
          </a:prstGeom>
          <a:noFill/>
        </p:spPr>
        <p:txBody>
          <a:bodyPr wrap="none" rtlCol="0">
            <a:spAutoFit/>
          </a:bodyPr>
          <a:lstStyle/>
          <a:p>
            <a:pPr fontAlgn="ctr">
              <a:spcBef>
                <a:spcPct val="0"/>
              </a:spcBef>
              <a:spcAft>
                <a:spcPct val="0"/>
              </a:spcAft>
              <a:defRP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a:t>
            </a:r>
            <a:endParaRPr 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488849" y="3981256"/>
            <a:ext cx="1300356" cy="307777"/>
          </a:xfrm>
          <a:prstGeom prst="rect">
            <a:avLst/>
          </a:prstGeom>
          <a:noFill/>
        </p:spPr>
        <p:txBody>
          <a:bodyPr wrap="none" rtlCol="0">
            <a:spAutoFit/>
          </a:bodyPr>
          <a:lstStyle/>
          <a:p>
            <a:pPr fontAlgn="ctr">
              <a:spcBef>
                <a:spcPct val="0"/>
              </a:spcBef>
              <a:spcAft>
                <a:spcPct val="0"/>
              </a:spcAft>
              <a:defRPr/>
            </a:pPr>
            <a:r>
              <a:rPr lang="en-US" sz="14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86" descr="核心交换机.png"/>
          <p:cNvPicPr>
            <a:picLocks noChangeAspect="1"/>
          </p:cNvPicPr>
          <p:nvPr/>
        </p:nvPicPr>
        <p:blipFill>
          <a:blip r:embed="rId3"/>
          <a:stretch>
            <a:fillRect/>
          </a:stretch>
        </p:blipFill>
        <p:spPr bwMode="gray">
          <a:xfrm>
            <a:off x="8780267" y="1794517"/>
            <a:ext cx="406420" cy="332527"/>
          </a:xfrm>
          <a:prstGeom prst="rect">
            <a:avLst/>
          </a:prstGeom>
        </p:spPr>
      </p:pic>
      <p:pic>
        <p:nvPicPr>
          <p:cNvPr id="38" name="图片 86" descr="核心交换机.png"/>
          <p:cNvPicPr>
            <a:picLocks noChangeAspect="1"/>
          </p:cNvPicPr>
          <p:nvPr/>
        </p:nvPicPr>
        <p:blipFill>
          <a:blip r:embed="rId3"/>
          <a:stretch>
            <a:fillRect/>
          </a:stretch>
        </p:blipFill>
        <p:spPr bwMode="gray">
          <a:xfrm>
            <a:off x="9498896" y="1794517"/>
            <a:ext cx="406420" cy="332527"/>
          </a:xfrm>
          <a:prstGeom prst="rect">
            <a:avLst/>
          </a:prstGeom>
        </p:spPr>
      </p:pic>
      <p:cxnSp>
        <p:nvCxnSpPr>
          <p:cNvPr id="39" name="直接连接符 38"/>
          <p:cNvCxnSpPr>
            <a:stCxn id="37" idx="3"/>
            <a:endCxn id="38" idx="1"/>
          </p:cNvCxnSpPr>
          <p:nvPr/>
        </p:nvCxnSpPr>
        <p:spPr bwMode="gray">
          <a:xfrm>
            <a:off x="9186687" y="1960781"/>
            <a:ext cx="31220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40" name="图片 87" descr="汇聚交换机.png"/>
          <p:cNvPicPr>
            <a:picLocks noChangeAspect="1"/>
          </p:cNvPicPr>
          <p:nvPr/>
        </p:nvPicPr>
        <p:blipFill>
          <a:blip r:embed="rId4"/>
          <a:stretch>
            <a:fillRect/>
          </a:stretch>
        </p:blipFill>
        <p:spPr bwMode="gray">
          <a:xfrm>
            <a:off x="8172025" y="2891395"/>
            <a:ext cx="406420" cy="332527"/>
          </a:xfrm>
          <a:prstGeom prst="rect">
            <a:avLst/>
          </a:prstGeom>
        </p:spPr>
      </p:pic>
      <p:pic>
        <p:nvPicPr>
          <p:cNvPr id="41" name="图片 87" descr="汇聚交换机.png"/>
          <p:cNvPicPr>
            <a:picLocks noChangeAspect="1"/>
          </p:cNvPicPr>
          <p:nvPr/>
        </p:nvPicPr>
        <p:blipFill>
          <a:blip r:embed="rId4"/>
          <a:stretch>
            <a:fillRect/>
          </a:stretch>
        </p:blipFill>
        <p:spPr bwMode="gray">
          <a:xfrm>
            <a:off x="7453396" y="2891395"/>
            <a:ext cx="406420" cy="332527"/>
          </a:xfrm>
          <a:prstGeom prst="rect">
            <a:avLst/>
          </a:prstGeom>
        </p:spPr>
      </p:pic>
      <p:cxnSp>
        <p:nvCxnSpPr>
          <p:cNvPr id="42" name="直接连接符 41"/>
          <p:cNvCxnSpPr>
            <a:stCxn id="41" idx="3"/>
            <a:endCxn id="40" idx="1"/>
          </p:cNvCxnSpPr>
          <p:nvPr/>
        </p:nvCxnSpPr>
        <p:spPr bwMode="gray">
          <a:xfrm>
            <a:off x="7859816" y="3057659"/>
            <a:ext cx="31220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43" name="图片 76" descr="接入交换机.png"/>
          <p:cNvPicPr>
            <a:picLocks noChangeAspect="1"/>
          </p:cNvPicPr>
          <p:nvPr/>
        </p:nvPicPr>
        <p:blipFill>
          <a:blip r:embed="rId5"/>
          <a:stretch>
            <a:fillRect/>
          </a:stretch>
        </p:blipFill>
        <p:spPr bwMode="gray">
          <a:xfrm>
            <a:off x="7454619" y="3975895"/>
            <a:ext cx="406420" cy="332527"/>
          </a:xfrm>
          <a:prstGeom prst="rect">
            <a:avLst/>
          </a:prstGeom>
        </p:spPr>
      </p:pic>
      <p:pic>
        <p:nvPicPr>
          <p:cNvPr id="44" name="图片 76" descr="接入交换机.png"/>
          <p:cNvPicPr>
            <a:picLocks noChangeAspect="1"/>
          </p:cNvPicPr>
          <p:nvPr/>
        </p:nvPicPr>
        <p:blipFill>
          <a:blip r:embed="rId5"/>
          <a:stretch>
            <a:fillRect/>
          </a:stretch>
        </p:blipFill>
        <p:spPr bwMode="gray">
          <a:xfrm>
            <a:off x="8170803" y="3975895"/>
            <a:ext cx="406420" cy="332527"/>
          </a:xfrm>
          <a:prstGeom prst="rect">
            <a:avLst/>
          </a:prstGeom>
        </p:spPr>
      </p:pic>
      <p:cxnSp>
        <p:nvCxnSpPr>
          <p:cNvPr id="45" name="直接连接符 44"/>
          <p:cNvCxnSpPr>
            <a:stCxn id="43" idx="3"/>
            <a:endCxn id="44" idx="1"/>
          </p:cNvCxnSpPr>
          <p:nvPr/>
        </p:nvCxnSpPr>
        <p:spPr bwMode="gray">
          <a:xfrm>
            <a:off x="7861039" y="4142159"/>
            <a:ext cx="30976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46" name="图片 87" descr="汇聚交换机.png"/>
          <p:cNvPicPr>
            <a:picLocks noChangeAspect="1"/>
          </p:cNvPicPr>
          <p:nvPr/>
        </p:nvPicPr>
        <p:blipFill>
          <a:blip r:embed="rId4"/>
          <a:stretch>
            <a:fillRect/>
          </a:stretch>
        </p:blipFill>
        <p:spPr bwMode="gray">
          <a:xfrm>
            <a:off x="10825766" y="2891395"/>
            <a:ext cx="406420" cy="332527"/>
          </a:xfrm>
          <a:prstGeom prst="rect">
            <a:avLst/>
          </a:prstGeom>
        </p:spPr>
      </p:pic>
      <p:pic>
        <p:nvPicPr>
          <p:cNvPr id="47" name="图片 87" descr="汇聚交换机.png"/>
          <p:cNvPicPr>
            <a:picLocks noChangeAspect="1"/>
          </p:cNvPicPr>
          <p:nvPr/>
        </p:nvPicPr>
        <p:blipFill>
          <a:blip r:embed="rId4"/>
          <a:stretch>
            <a:fillRect/>
          </a:stretch>
        </p:blipFill>
        <p:spPr bwMode="gray">
          <a:xfrm>
            <a:off x="10107137" y="2891395"/>
            <a:ext cx="406420" cy="332527"/>
          </a:xfrm>
          <a:prstGeom prst="rect">
            <a:avLst/>
          </a:prstGeom>
        </p:spPr>
      </p:pic>
      <p:cxnSp>
        <p:nvCxnSpPr>
          <p:cNvPr id="48" name="直接连接符 47"/>
          <p:cNvCxnSpPr>
            <a:stCxn id="47" idx="3"/>
            <a:endCxn id="46" idx="1"/>
          </p:cNvCxnSpPr>
          <p:nvPr/>
        </p:nvCxnSpPr>
        <p:spPr bwMode="gray">
          <a:xfrm>
            <a:off x="10513557" y="3057659"/>
            <a:ext cx="31220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49" name="图片 76" descr="接入交换机.png"/>
          <p:cNvPicPr>
            <a:picLocks noChangeAspect="1"/>
          </p:cNvPicPr>
          <p:nvPr/>
        </p:nvPicPr>
        <p:blipFill>
          <a:blip r:embed="rId5"/>
          <a:stretch>
            <a:fillRect/>
          </a:stretch>
        </p:blipFill>
        <p:spPr bwMode="gray">
          <a:xfrm>
            <a:off x="10108360" y="3975895"/>
            <a:ext cx="406420" cy="332527"/>
          </a:xfrm>
          <a:prstGeom prst="rect">
            <a:avLst/>
          </a:prstGeom>
        </p:spPr>
      </p:pic>
      <p:pic>
        <p:nvPicPr>
          <p:cNvPr id="50" name="图片 76" descr="接入交换机.png"/>
          <p:cNvPicPr>
            <a:picLocks noChangeAspect="1"/>
          </p:cNvPicPr>
          <p:nvPr/>
        </p:nvPicPr>
        <p:blipFill>
          <a:blip r:embed="rId5"/>
          <a:stretch>
            <a:fillRect/>
          </a:stretch>
        </p:blipFill>
        <p:spPr bwMode="gray">
          <a:xfrm>
            <a:off x="10824544" y="3975895"/>
            <a:ext cx="406420" cy="332527"/>
          </a:xfrm>
          <a:prstGeom prst="rect">
            <a:avLst/>
          </a:prstGeom>
        </p:spPr>
      </p:pic>
      <p:cxnSp>
        <p:nvCxnSpPr>
          <p:cNvPr id="51" name="直接连接符 50"/>
          <p:cNvCxnSpPr>
            <a:stCxn id="49" idx="3"/>
            <a:endCxn id="50" idx="1"/>
          </p:cNvCxnSpPr>
          <p:nvPr/>
        </p:nvCxnSpPr>
        <p:spPr bwMode="gray">
          <a:xfrm>
            <a:off x="10514780" y="4142159"/>
            <a:ext cx="30976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bwMode="gray">
          <a:xfrm>
            <a:off x="8665436" y="3278108"/>
            <a:ext cx="1286346" cy="305105"/>
          </a:xfrm>
          <a:prstGeom prst="rect">
            <a:avLst/>
          </a:prstGeom>
          <a:noFill/>
        </p:spPr>
        <p:txBody>
          <a:bodyPr wrap="square" rtlCol="0">
            <a:noAutofit/>
          </a:bodyPr>
          <a:lstStyle/>
          <a:p>
            <a:pPr algn="ctr" font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OSPF Area 0</a:t>
            </a:r>
          </a:p>
          <a:p>
            <a:pPr algn="ctr" fontAlgn="ctr"/>
            <a:endPar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6223855" y="1838270"/>
            <a:ext cx="1446230" cy="307777"/>
          </a:xfrm>
          <a:prstGeom prst="rect">
            <a:avLst/>
          </a:prstGeom>
          <a:noFill/>
        </p:spPr>
        <p:txBody>
          <a:bodyPr wrap="none" rtlCol="0">
            <a:spAutoFit/>
          </a:bodyPr>
          <a:lstStyle/>
          <a:p>
            <a:pPr fontAlgn="ctr">
              <a:spcBef>
                <a:spcPct val="0"/>
              </a:spcBef>
              <a:spcAft>
                <a:spcPct val="0"/>
              </a:spcAft>
              <a:defRPr/>
            </a:pPr>
            <a:r>
              <a:rPr lang="en-US" sz="14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bwMode="gray">
          <a:xfrm>
            <a:off x="6223855" y="2867428"/>
            <a:ext cx="543739" cy="307777"/>
          </a:xfrm>
          <a:prstGeom prst="rect">
            <a:avLst/>
          </a:prstGeom>
          <a:noFill/>
        </p:spPr>
        <p:txBody>
          <a:bodyPr wrap="none" rtlCol="0">
            <a:spAutoFit/>
          </a:bodyPr>
          <a:lstStyle/>
          <a:p>
            <a:pPr fontAlgn="ctr">
              <a:spcBef>
                <a:spcPct val="0"/>
              </a:spcBef>
              <a:spcAft>
                <a:spcPct val="0"/>
              </a:spcAft>
              <a:defRP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a:t>
            </a:r>
            <a:endParaRPr 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6223855" y="3981256"/>
            <a:ext cx="1300356" cy="307777"/>
          </a:xfrm>
          <a:prstGeom prst="rect">
            <a:avLst/>
          </a:prstGeom>
          <a:noFill/>
        </p:spPr>
        <p:txBody>
          <a:bodyPr wrap="none" rtlCol="0">
            <a:spAutoFit/>
          </a:bodyPr>
          <a:lstStyle/>
          <a:p>
            <a:pPr fontAlgn="ctr">
              <a:spcBef>
                <a:spcPct val="0"/>
              </a:spcBef>
              <a:spcAft>
                <a:spcPct val="0"/>
              </a:spcAft>
              <a:defRP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a:t>
            </a:r>
            <a:r>
              <a:rPr 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入</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75"/>
          <p:cNvSpPr/>
          <p:nvPr/>
        </p:nvSpPr>
        <p:spPr bwMode="gray">
          <a:xfrm>
            <a:off x="477521" y="4788541"/>
            <a:ext cx="11236958" cy="1330688"/>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marL="302279" indent="-302279" defTabSz="914034" fontAlgn="ctr">
              <a:lnSpc>
                <a:spcPts val="12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三层组网：</a:t>
            </a:r>
          </a:p>
          <a:p>
            <a:pPr marL="654938" lvl="1" indent="-251899" defTabSz="914034" fontAlgn="ctr">
              <a:lnSpc>
                <a:spcPts val="1200"/>
              </a:lnSpc>
              <a:spcBef>
                <a:spcPts val="720"/>
              </a:spcBef>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场景</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多区域：核心层交换机的互联链路规划在</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Area 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，且与每个汇聚层交换机单独规划一个独立的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Area</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p>
            <a:pPr marL="654938" lvl="1" indent="-251899" defTabSz="914034" fontAlgn="ctr">
              <a:lnSpc>
                <a:spcPts val="1200"/>
              </a:lnSpc>
              <a:spcBef>
                <a:spcPts val="720"/>
              </a:spcBef>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场景</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单区域：核心层、汇聚层及接入层交换机工作在</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Area 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。当需要部署路由的网络区域小于</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台交换机时推荐场景</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单区域部署。</a:t>
            </a:r>
          </a:p>
          <a:p>
            <a:pPr marL="302279" indent="-302279" defTabSz="914034" fontAlgn="ctr">
              <a:lnSpc>
                <a:spcPts val="12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两层组网：</a:t>
            </a:r>
          </a:p>
          <a:p>
            <a:pPr marL="654938" lvl="1" indent="-251899" defTabSz="914034" fontAlgn="ctr">
              <a:lnSpc>
                <a:spcPts val="1200"/>
              </a:lnSpc>
              <a:spcBef>
                <a:spcPts val="720"/>
              </a:spcBef>
              <a:buSzPct val="50000"/>
              <a:buFont typeface="Wingdings" panose="05000000000000000000" pitchFamily="2" charset="2"/>
              <a:buChar char="p"/>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只在核心层交换机与接入层交换机之间工作，此时全网仅需规划</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Area0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25" name="直接连接符 24"/>
          <p:cNvCxnSpPr/>
          <p:nvPr/>
        </p:nvCxnSpPr>
        <p:spPr bwMode="gray">
          <a:xfrm>
            <a:off x="10191952" y="5918186"/>
            <a:ext cx="349156"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bwMode="gray">
          <a:xfrm>
            <a:off x="10565377" y="5768949"/>
            <a:ext cx="931298" cy="244084"/>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堆叠</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五边形 57"/>
          <p:cNvSpPr/>
          <p:nvPr/>
        </p:nvSpPr>
        <p:spPr bwMode="gray">
          <a:xfrm>
            <a:off x="6730479"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gray">
          <a:xfrm>
            <a:off x="736713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59"/>
          <p:cNvSpPr/>
          <p:nvPr/>
        </p:nvSpPr>
        <p:spPr bwMode="gray">
          <a:xfrm>
            <a:off x="800379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68" name="燕尾形 67"/>
          <p:cNvSpPr/>
          <p:nvPr/>
        </p:nvSpPr>
        <p:spPr bwMode="gray">
          <a:xfrm>
            <a:off x="8640453" y="114957"/>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68"/>
          <p:cNvSpPr/>
          <p:nvPr/>
        </p:nvSpPr>
        <p:spPr bwMode="gray">
          <a:xfrm>
            <a:off x="9277111" y="114957"/>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燕尾形 69"/>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257772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27"/>
          <p:cNvSpPr/>
          <p:nvPr/>
        </p:nvSpPr>
        <p:spPr bwMode="gray">
          <a:xfrm>
            <a:off x="1063802" y="3365426"/>
            <a:ext cx="10064397" cy="2731097"/>
          </a:xfrm>
          <a:prstGeom prst="roundRect">
            <a:avLst>
              <a:gd name="adj" fmla="val 2446"/>
            </a:avLst>
          </a:prstGeom>
          <a:gradFill flip="none" rotWithShape="1">
            <a:gsLst>
              <a:gs pos="100000">
                <a:schemeClr val="bg1"/>
              </a:gs>
              <a:gs pos="0">
                <a:srgbClr val="E3F6F8"/>
              </a:gs>
            </a:gsLst>
            <a:lin ang="0" scaled="1"/>
          </a:gradFill>
          <a:ln w="19050">
            <a:gradFill flip="none" rotWithShape="1">
              <a:gsLst>
                <a:gs pos="32000">
                  <a:srgbClr val="56C4D2"/>
                </a:gs>
                <a:gs pos="100000">
                  <a:schemeClr val="bg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lIns="287916" tIns="45705" rIns="91413" bIns="45705" rtlCol="0" anchor="ctr">
            <a:noAutofit/>
          </a:bodyPr>
          <a:lstStyle/>
          <a:p>
            <a:pPr fontAlgn="ctr"/>
            <a:endParaRPr lang="en-US" altLang="zh-CN" sz="2400" dirty="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网络开局设计</a:t>
            </a:r>
          </a:p>
        </p:txBody>
      </p:sp>
      <p:cxnSp>
        <p:nvCxnSpPr>
          <p:cNvPr id="3" name="直接连接符 2"/>
          <p:cNvCxnSpPr/>
          <p:nvPr/>
        </p:nvCxnSpPr>
        <p:spPr bwMode="gray">
          <a:xfrm>
            <a:off x="8663650" y="5890637"/>
            <a:ext cx="349156"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bwMode="gray">
          <a:xfrm>
            <a:off x="9060114" y="5748477"/>
            <a:ext cx="1304265" cy="244084"/>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堆叠</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86" descr="核心交换机.png"/>
          <p:cNvPicPr>
            <a:picLocks noChangeAspect="1"/>
          </p:cNvPicPr>
          <p:nvPr/>
        </p:nvPicPr>
        <p:blipFill>
          <a:blip r:embed="rId3"/>
          <a:stretch>
            <a:fillRect/>
          </a:stretch>
        </p:blipFill>
        <p:spPr bwMode="gray">
          <a:xfrm>
            <a:off x="10551226" y="5774464"/>
            <a:ext cx="277591" cy="227120"/>
          </a:xfrm>
          <a:prstGeom prst="rect">
            <a:avLst/>
          </a:prstGeom>
        </p:spPr>
      </p:pic>
      <p:sp>
        <p:nvSpPr>
          <p:cNvPr id="6" name="圆角矩形 5"/>
          <p:cNvSpPr/>
          <p:nvPr/>
        </p:nvSpPr>
        <p:spPr bwMode="gray">
          <a:xfrm>
            <a:off x="10462134" y="5880102"/>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10729410" y="5767527"/>
            <a:ext cx="763820" cy="244084"/>
          </a:xfrm>
          <a:prstGeom prst="rect">
            <a:avLst/>
          </a:prstGeom>
          <a:noFill/>
        </p:spPr>
        <p:txBody>
          <a:bodyPr wrap="square" rtlCol="0">
            <a:noAutofit/>
          </a:bodyPr>
          <a:lstStyle/>
          <a:p>
            <a:pPr algn="ct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a:t>
            </a:r>
          </a:p>
        </p:txBody>
      </p:sp>
      <p:sp>
        <p:nvSpPr>
          <p:cNvPr id="9" name="Rounded Rectangle 27"/>
          <p:cNvSpPr/>
          <p:nvPr/>
        </p:nvSpPr>
        <p:spPr bwMode="gray">
          <a:xfrm>
            <a:off x="1063802" y="1008551"/>
            <a:ext cx="10064397" cy="2264995"/>
          </a:xfrm>
          <a:prstGeom prst="roundRect">
            <a:avLst>
              <a:gd name="adj" fmla="val 2446"/>
            </a:avLst>
          </a:prstGeom>
          <a:gradFill flip="none" rotWithShape="1">
            <a:gsLst>
              <a:gs pos="53400">
                <a:srgbClr val="EDEDED"/>
              </a:gs>
              <a:gs pos="100000">
                <a:schemeClr val="bg1"/>
              </a:gs>
              <a:gs pos="0">
                <a:schemeClr val="bg1">
                  <a:lumMod val="85000"/>
                </a:schemeClr>
              </a:gs>
            </a:gsLst>
            <a:lin ang="0" scaled="1"/>
          </a:gradFill>
          <a:ln w="19050">
            <a:gradFill flip="none" rotWithShape="1">
              <a:gsLst>
                <a:gs pos="32000">
                  <a:schemeClr val="bg1">
                    <a:lumMod val="65000"/>
                  </a:schemeClr>
                </a:gs>
                <a:gs pos="100000">
                  <a:schemeClr val="bg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lIns="287916" tIns="45705" rIns="91413" bIns="45705" rtlCol="0" anchor="ctr">
            <a:noAutofit/>
          </a:bodyPr>
          <a:lstStyle/>
          <a:p>
            <a:pPr fontAlgn="ctr"/>
            <a:endParaRPr lang="en-US" altLang="zh-CN" sz="2400" dirty="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86" descr="核心交换机.png"/>
          <p:cNvPicPr>
            <a:picLocks noChangeAspect="1"/>
          </p:cNvPicPr>
          <p:nvPr/>
        </p:nvPicPr>
        <p:blipFill>
          <a:blip r:embed="rId3"/>
          <a:stretch>
            <a:fillRect/>
          </a:stretch>
        </p:blipFill>
        <p:spPr bwMode="gray">
          <a:xfrm>
            <a:off x="4561088" y="2643131"/>
            <a:ext cx="369473" cy="302297"/>
          </a:xfrm>
          <a:prstGeom prst="rect">
            <a:avLst/>
          </a:prstGeom>
        </p:spPr>
      </p:pic>
      <p:pic>
        <p:nvPicPr>
          <p:cNvPr id="11" name="图片 86" descr="核心交换机.png"/>
          <p:cNvPicPr>
            <a:picLocks noChangeAspect="1"/>
          </p:cNvPicPr>
          <p:nvPr/>
        </p:nvPicPr>
        <p:blipFill>
          <a:blip r:embed="rId3"/>
          <a:stretch>
            <a:fillRect/>
          </a:stretch>
        </p:blipFill>
        <p:spPr bwMode="gray">
          <a:xfrm>
            <a:off x="5279717" y="2643131"/>
            <a:ext cx="369473" cy="302297"/>
          </a:xfrm>
          <a:prstGeom prst="rect">
            <a:avLst/>
          </a:prstGeom>
        </p:spPr>
      </p:pic>
      <p:cxnSp>
        <p:nvCxnSpPr>
          <p:cNvPr id="12" name="直接连接符 11"/>
          <p:cNvCxnSpPr>
            <a:stCxn id="10" idx="3"/>
            <a:endCxn id="11" idx="1"/>
          </p:cNvCxnSpPr>
          <p:nvPr/>
        </p:nvCxnSpPr>
        <p:spPr bwMode="gray">
          <a:xfrm>
            <a:off x="4930561" y="2794280"/>
            <a:ext cx="349156"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3" name="图片 87" descr="汇聚交换机.png"/>
          <p:cNvPicPr>
            <a:picLocks noChangeAspect="1"/>
          </p:cNvPicPr>
          <p:nvPr/>
        </p:nvPicPr>
        <p:blipFill>
          <a:blip r:embed="rId4"/>
          <a:stretch>
            <a:fillRect/>
          </a:stretch>
        </p:blipFill>
        <p:spPr bwMode="gray">
          <a:xfrm>
            <a:off x="3952846" y="3807745"/>
            <a:ext cx="369473" cy="302297"/>
          </a:xfrm>
          <a:prstGeom prst="rect">
            <a:avLst/>
          </a:prstGeom>
        </p:spPr>
      </p:pic>
      <p:pic>
        <p:nvPicPr>
          <p:cNvPr id="14" name="图片 87" descr="汇聚交换机.png"/>
          <p:cNvPicPr>
            <a:picLocks noChangeAspect="1"/>
          </p:cNvPicPr>
          <p:nvPr/>
        </p:nvPicPr>
        <p:blipFill>
          <a:blip r:embed="rId4"/>
          <a:stretch>
            <a:fillRect/>
          </a:stretch>
        </p:blipFill>
        <p:spPr bwMode="gray">
          <a:xfrm>
            <a:off x="3234217" y="3807745"/>
            <a:ext cx="369473" cy="302297"/>
          </a:xfrm>
          <a:prstGeom prst="rect">
            <a:avLst/>
          </a:prstGeom>
        </p:spPr>
      </p:pic>
      <p:cxnSp>
        <p:nvCxnSpPr>
          <p:cNvPr id="15" name="直接连接符 14"/>
          <p:cNvCxnSpPr>
            <a:stCxn id="14" idx="3"/>
            <a:endCxn id="13" idx="1"/>
          </p:cNvCxnSpPr>
          <p:nvPr/>
        </p:nvCxnSpPr>
        <p:spPr bwMode="gray">
          <a:xfrm>
            <a:off x="3603690" y="3958894"/>
            <a:ext cx="349156"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6" name="图片 76" descr="接入交换机.png"/>
          <p:cNvPicPr>
            <a:picLocks noChangeAspect="1"/>
          </p:cNvPicPr>
          <p:nvPr/>
        </p:nvPicPr>
        <p:blipFill>
          <a:blip r:embed="rId5"/>
          <a:stretch>
            <a:fillRect/>
          </a:stretch>
        </p:blipFill>
        <p:spPr bwMode="gray">
          <a:xfrm>
            <a:off x="3235440" y="4672110"/>
            <a:ext cx="369473" cy="302297"/>
          </a:xfrm>
          <a:prstGeom prst="rect">
            <a:avLst/>
          </a:prstGeom>
        </p:spPr>
      </p:pic>
      <p:pic>
        <p:nvPicPr>
          <p:cNvPr id="17" name="图片 76" descr="接入交换机.png"/>
          <p:cNvPicPr>
            <a:picLocks noChangeAspect="1"/>
          </p:cNvPicPr>
          <p:nvPr/>
        </p:nvPicPr>
        <p:blipFill>
          <a:blip r:embed="rId5"/>
          <a:stretch>
            <a:fillRect/>
          </a:stretch>
        </p:blipFill>
        <p:spPr bwMode="gray">
          <a:xfrm>
            <a:off x="3951624" y="4672110"/>
            <a:ext cx="369473" cy="302297"/>
          </a:xfrm>
          <a:prstGeom prst="rect">
            <a:avLst/>
          </a:prstGeom>
        </p:spPr>
      </p:pic>
      <p:cxnSp>
        <p:nvCxnSpPr>
          <p:cNvPr id="18" name="直接连接符 17"/>
          <p:cNvCxnSpPr>
            <a:stCxn id="16" idx="3"/>
            <a:endCxn id="17" idx="1"/>
          </p:cNvCxnSpPr>
          <p:nvPr/>
        </p:nvCxnSpPr>
        <p:spPr bwMode="gray">
          <a:xfrm>
            <a:off x="3604913" y="4823259"/>
            <a:ext cx="346711"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9" name="图片 87" descr="汇聚交换机.png"/>
          <p:cNvPicPr>
            <a:picLocks noChangeAspect="1"/>
          </p:cNvPicPr>
          <p:nvPr/>
        </p:nvPicPr>
        <p:blipFill>
          <a:blip r:embed="rId4"/>
          <a:stretch>
            <a:fillRect/>
          </a:stretch>
        </p:blipFill>
        <p:spPr bwMode="gray">
          <a:xfrm>
            <a:off x="6606587" y="3807745"/>
            <a:ext cx="369473" cy="302297"/>
          </a:xfrm>
          <a:prstGeom prst="rect">
            <a:avLst/>
          </a:prstGeom>
        </p:spPr>
      </p:pic>
      <p:pic>
        <p:nvPicPr>
          <p:cNvPr id="20" name="图片 87" descr="汇聚交换机.png"/>
          <p:cNvPicPr>
            <a:picLocks noChangeAspect="1"/>
          </p:cNvPicPr>
          <p:nvPr/>
        </p:nvPicPr>
        <p:blipFill>
          <a:blip r:embed="rId4"/>
          <a:stretch>
            <a:fillRect/>
          </a:stretch>
        </p:blipFill>
        <p:spPr bwMode="gray">
          <a:xfrm>
            <a:off x="5887958" y="3807745"/>
            <a:ext cx="369473" cy="302297"/>
          </a:xfrm>
          <a:prstGeom prst="rect">
            <a:avLst/>
          </a:prstGeom>
        </p:spPr>
      </p:pic>
      <p:cxnSp>
        <p:nvCxnSpPr>
          <p:cNvPr id="21" name="直接连接符 20"/>
          <p:cNvCxnSpPr>
            <a:stCxn id="20" idx="3"/>
            <a:endCxn id="19" idx="1"/>
          </p:cNvCxnSpPr>
          <p:nvPr/>
        </p:nvCxnSpPr>
        <p:spPr bwMode="gray">
          <a:xfrm>
            <a:off x="6257431" y="3958894"/>
            <a:ext cx="349156"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22" name="图片 76" descr="接入交换机.png"/>
          <p:cNvPicPr>
            <a:picLocks noChangeAspect="1"/>
          </p:cNvPicPr>
          <p:nvPr/>
        </p:nvPicPr>
        <p:blipFill>
          <a:blip r:embed="rId5"/>
          <a:stretch>
            <a:fillRect/>
          </a:stretch>
        </p:blipFill>
        <p:spPr bwMode="gray">
          <a:xfrm>
            <a:off x="5889181" y="4672110"/>
            <a:ext cx="369473" cy="302297"/>
          </a:xfrm>
          <a:prstGeom prst="rect">
            <a:avLst/>
          </a:prstGeom>
        </p:spPr>
      </p:pic>
      <p:pic>
        <p:nvPicPr>
          <p:cNvPr id="23" name="图片 76" descr="接入交换机.png"/>
          <p:cNvPicPr>
            <a:picLocks noChangeAspect="1"/>
          </p:cNvPicPr>
          <p:nvPr/>
        </p:nvPicPr>
        <p:blipFill>
          <a:blip r:embed="rId5"/>
          <a:stretch>
            <a:fillRect/>
          </a:stretch>
        </p:blipFill>
        <p:spPr bwMode="gray">
          <a:xfrm>
            <a:off x="6605365" y="4672110"/>
            <a:ext cx="369473" cy="302297"/>
          </a:xfrm>
          <a:prstGeom prst="rect">
            <a:avLst/>
          </a:prstGeom>
        </p:spPr>
      </p:pic>
      <p:cxnSp>
        <p:nvCxnSpPr>
          <p:cNvPr id="24" name="直接连接符 23"/>
          <p:cNvCxnSpPr>
            <a:stCxn id="22" idx="3"/>
            <a:endCxn id="23" idx="1"/>
          </p:cNvCxnSpPr>
          <p:nvPr/>
        </p:nvCxnSpPr>
        <p:spPr bwMode="gray">
          <a:xfrm>
            <a:off x="6258654" y="4823259"/>
            <a:ext cx="346711"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bwMode="gray">
          <a:xfrm>
            <a:off x="4868298" y="2514410"/>
            <a:ext cx="495033" cy="251711"/>
          </a:xfrm>
          <a:prstGeom prst="rect">
            <a:avLst/>
          </a:prstGeom>
          <a:noFill/>
        </p:spPr>
        <p:txBody>
          <a:bodyPr wrap="square" rtlCol="0">
            <a:noAutofit/>
          </a:bodyPr>
          <a:lstStyle/>
          <a:p>
            <a:pPr algn="ct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4843546" y="3833037"/>
            <a:ext cx="544536" cy="251711"/>
          </a:xfrm>
          <a:prstGeom prst="rect">
            <a:avLst/>
          </a:prstGeom>
          <a:noFill/>
        </p:spPr>
        <p:txBody>
          <a:bodyPr wrap="square" rtlCol="0">
            <a:noAutofit/>
          </a:bodyPr>
          <a:lstStyle/>
          <a:p>
            <a:pPr algn="ct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4843546" y="4695014"/>
            <a:ext cx="544536" cy="251711"/>
          </a:xfrm>
          <a:prstGeom prst="rect">
            <a:avLst/>
          </a:prstGeom>
          <a:noFill/>
        </p:spPr>
        <p:txBody>
          <a:bodyPr wrap="square" rtlCol="0">
            <a:noAutofit/>
          </a:bodyPr>
          <a:lstStyle/>
          <a:p>
            <a:pPr algn="ct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p:cNvCxnSpPr>
            <a:stCxn id="10" idx="2"/>
            <a:endCxn id="14" idx="0"/>
          </p:cNvCxnSpPr>
          <p:nvPr/>
        </p:nvCxnSpPr>
        <p:spPr bwMode="gray">
          <a:xfrm flipH="1">
            <a:off x="3418954" y="2945428"/>
            <a:ext cx="1326871" cy="8623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1" idx="2"/>
            <a:endCxn id="13" idx="0"/>
          </p:cNvCxnSpPr>
          <p:nvPr/>
        </p:nvCxnSpPr>
        <p:spPr bwMode="gray">
          <a:xfrm flipH="1">
            <a:off x="4137583" y="2945428"/>
            <a:ext cx="1326871" cy="8623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0" idx="2"/>
            <a:endCxn id="20" idx="0"/>
          </p:cNvCxnSpPr>
          <p:nvPr/>
        </p:nvCxnSpPr>
        <p:spPr bwMode="gray">
          <a:xfrm>
            <a:off x="4745825" y="2945428"/>
            <a:ext cx="1326870" cy="8623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1" idx="2"/>
            <a:endCxn id="19" idx="0"/>
          </p:cNvCxnSpPr>
          <p:nvPr/>
        </p:nvCxnSpPr>
        <p:spPr bwMode="gray">
          <a:xfrm>
            <a:off x="5464454" y="2945428"/>
            <a:ext cx="1326870" cy="8623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4" idx="2"/>
            <a:endCxn id="16" idx="0"/>
          </p:cNvCxnSpPr>
          <p:nvPr/>
        </p:nvCxnSpPr>
        <p:spPr bwMode="gray">
          <a:xfrm>
            <a:off x="3418954" y="4110042"/>
            <a:ext cx="1223" cy="5620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3" idx="2"/>
            <a:endCxn id="17" idx="0"/>
          </p:cNvCxnSpPr>
          <p:nvPr/>
        </p:nvCxnSpPr>
        <p:spPr bwMode="gray">
          <a:xfrm flipH="1">
            <a:off x="4136361" y="4110042"/>
            <a:ext cx="1222" cy="5620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0" idx="2"/>
            <a:endCxn id="22" idx="0"/>
          </p:cNvCxnSpPr>
          <p:nvPr/>
        </p:nvCxnSpPr>
        <p:spPr bwMode="gray">
          <a:xfrm>
            <a:off x="6072695" y="4110042"/>
            <a:ext cx="1223" cy="5620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9" idx="2"/>
            <a:endCxn id="23" idx="0"/>
          </p:cNvCxnSpPr>
          <p:nvPr/>
        </p:nvCxnSpPr>
        <p:spPr bwMode="gray">
          <a:xfrm flipH="1">
            <a:off x="6790102" y="4110042"/>
            <a:ext cx="1222" cy="5620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4561087" y="1888926"/>
            <a:ext cx="369473" cy="302297"/>
          </a:xfrm>
          <a:prstGeom prst="rect">
            <a:avLst/>
          </a:prstGeom>
        </p:spPr>
      </p:pic>
      <p:pic>
        <p:nvPicPr>
          <p:cNvPr id="37"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5279717" y="1888926"/>
            <a:ext cx="369473" cy="302297"/>
          </a:xfrm>
          <a:prstGeom prst="rect">
            <a:avLst/>
          </a:prstGeom>
        </p:spPr>
      </p:pic>
      <p:cxnSp>
        <p:nvCxnSpPr>
          <p:cNvPr id="38" name="直接连接符 37"/>
          <p:cNvCxnSpPr>
            <a:stCxn id="37" idx="1"/>
            <a:endCxn id="36" idx="3"/>
          </p:cNvCxnSpPr>
          <p:nvPr/>
        </p:nvCxnSpPr>
        <p:spPr bwMode="gray">
          <a:xfrm flipH="1">
            <a:off x="4930560" y="2040075"/>
            <a:ext cx="349157"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6" idx="2"/>
            <a:endCxn id="10" idx="0"/>
          </p:cNvCxnSpPr>
          <p:nvPr/>
        </p:nvCxnSpPr>
        <p:spPr bwMode="gray">
          <a:xfrm>
            <a:off x="4745824" y="2191223"/>
            <a:ext cx="1" cy="4519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7" idx="2"/>
            <a:endCxn id="11" idx="0"/>
          </p:cNvCxnSpPr>
          <p:nvPr/>
        </p:nvCxnSpPr>
        <p:spPr bwMode="gray">
          <a:xfrm flipH="1">
            <a:off x="5464454" y="2191223"/>
            <a:ext cx="0" cy="4519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2" descr="G:\做的项目\公共\扁平图标切换\更新2015_01_21\oss扁平图标库2015_01_21更新-04.png"/>
          <p:cNvPicPr>
            <a:picLocks noChangeAspect="1" noChangeArrowheads="1"/>
          </p:cNvPicPr>
          <p:nvPr/>
        </p:nvPicPr>
        <p:blipFill>
          <a:blip r:embed="rId7"/>
          <a:stretch>
            <a:fillRect/>
          </a:stretch>
        </p:blipFill>
        <p:spPr bwMode="gray">
          <a:xfrm>
            <a:off x="4561086" y="1185523"/>
            <a:ext cx="369473" cy="302297"/>
          </a:xfrm>
          <a:prstGeom prst="rect">
            <a:avLst/>
          </a:prstGeom>
          <a:noFill/>
        </p:spPr>
      </p:pic>
      <p:pic>
        <p:nvPicPr>
          <p:cNvPr id="42" name="Picture 2" descr="G:\做的项目\公共\扁平图标切换\更新2015_01_21\oss扁平图标库2015_01_21更新-04.png"/>
          <p:cNvPicPr>
            <a:picLocks noChangeAspect="1" noChangeArrowheads="1"/>
          </p:cNvPicPr>
          <p:nvPr/>
        </p:nvPicPr>
        <p:blipFill>
          <a:blip r:embed="rId7"/>
          <a:stretch>
            <a:fillRect/>
          </a:stretch>
        </p:blipFill>
        <p:spPr bwMode="gray">
          <a:xfrm>
            <a:off x="5279717" y="1185523"/>
            <a:ext cx="369473" cy="302297"/>
          </a:xfrm>
          <a:prstGeom prst="rect">
            <a:avLst/>
          </a:prstGeom>
          <a:noFill/>
        </p:spPr>
      </p:pic>
      <p:cxnSp>
        <p:nvCxnSpPr>
          <p:cNvPr id="43" name="直接连接符 42"/>
          <p:cNvCxnSpPr>
            <a:stCxn id="41" idx="3"/>
            <a:endCxn id="42" idx="1"/>
          </p:cNvCxnSpPr>
          <p:nvPr/>
        </p:nvCxnSpPr>
        <p:spPr bwMode="gray">
          <a:xfrm>
            <a:off x="4930559" y="1336672"/>
            <a:ext cx="34915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1" idx="2"/>
            <a:endCxn id="36" idx="0"/>
          </p:cNvCxnSpPr>
          <p:nvPr/>
        </p:nvCxnSpPr>
        <p:spPr bwMode="gray">
          <a:xfrm>
            <a:off x="4745823" y="1487820"/>
            <a:ext cx="1" cy="4011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42" idx="2"/>
            <a:endCxn id="37" idx="0"/>
          </p:cNvCxnSpPr>
          <p:nvPr/>
        </p:nvCxnSpPr>
        <p:spPr bwMode="gray">
          <a:xfrm flipH="1">
            <a:off x="5464454" y="1487820"/>
            <a:ext cx="0" cy="4011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6" name="图片 105" descr="AP.png"/>
          <p:cNvPicPr>
            <a:picLocks noChangeAspect="1"/>
          </p:cNvPicPr>
          <p:nvPr/>
        </p:nvPicPr>
        <p:blipFill>
          <a:blip r:embed="rId8"/>
          <a:stretch>
            <a:fillRect/>
          </a:stretch>
        </p:blipFill>
        <p:spPr bwMode="gray">
          <a:xfrm>
            <a:off x="3952270" y="5400268"/>
            <a:ext cx="368827" cy="301768"/>
          </a:xfrm>
          <a:prstGeom prst="rect">
            <a:avLst/>
          </a:prstGeom>
        </p:spPr>
      </p:pic>
      <p:pic>
        <p:nvPicPr>
          <p:cNvPr id="47" name="图片 105" descr="AP.png"/>
          <p:cNvPicPr>
            <a:picLocks noChangeAspect="1"/>
          </p:cNvPicPr>
          <p:nvPr/>
        </p:nvPicPr>
        <p:blipFill>
          <a:blip r:embed="rId8"/>
          <a:stretch>
            <a:fillRect/>
          </a:stretch>
        </p:blipFill>
        <p:spPr bwMode="gray">
          <a:xfrm>
            <a:off x="5888604" y="5400268"/>
            <a:ext cx="368827" cy="301768"/>
          </a:xfrm>
          <a:prstGeom prst="rect">
            <a:avLst/>
          </a:prstGeom>
        </p:spPr>
      </p:pic>
      <p:cxnSp>
        <p:nvCxnSpPr>
          <p:cNvPr id="48" name="直接连接符 47"/>
          <p:cNvCxnSpPr>
            <a:stCxn id="17" idx="2"/>
            <a:endCxn id="46" idx="0"/>
          </p:cNvCxnSpPr>
          <p:nvPr/>
        </p:nvCxnSpPr>
        <p:spPr bwMode="gray">
          <a:xfrm>
            <a:off x="4136361" y="4974407"/>
            <a:ext cx="323" cy="4258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22" idx="2"/>
            <a:endCxn id="47" idx="0"/>
          </p:cNvCxnSpPr>
          <p:nvPr/>
        </p:nvCxnSpPr>
        <p:spPr bwMode="gray">
          <a:xfrm flipH="1">
            <a:off x="6073018" y="4974407"/>
            <a:ext cx="900" cy="4258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bwMode="gray">
          <a:xfrm>
            <a:off x="1123072" y="1918356"/>
            <a:ext cx="1016122" cy="346672"/>
          </a:xfrm>
          <a:prstGeom prst="rect">
            <a:avLst/>
          </a:prstGeom>
          <a:noFill/>
        </p:spPr>
        <p:txBody>
          <a:bodyPr wrap="square" rtlCol="0">
            <a:noAutofit/>
          </a:bodyPr>
          <a:lstStyle/>
          <a:p>
            <a:pPr fontAlgn="ctr">
              <a:spcBef>
                <a:spcPct val="0"/>
              </a:spcBef>
              <a:spcAft>
                <a:spcPct val="0"/>
              </a:spcAft>
              <a:defRPr/>
            </a:pPr>
            <a:r>
              <a:rPr lang="en-US" sz="1400" b="1" dirty="0" err="1">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传统</a:t>
            </a:r>
            <a:r>
              <a:rPr lang="zh-CN" altLang="en-US" sz="1400" b="1"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开局</a:t>
            </a:r>
            <a:endParaRPr lang="en-US" sz="1400" b="1"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1123071" y="4330895"/>
            <a:ext cx="1016122" cy="341215"/>
          </a:xfrm>
          <a:prstGeom prst="rect">
            <a:avLst/>
          </a:prstGeom>
          <a:noFill/>
        </p:spPr>
        <p:txBody>
          <a:bodyPr wrap="square" rtlCol="0">
            <a:noAutofit/>
          </a:bodyPr>
          <a:lstStyle/>
          <a:p>
            <a:pPr fontAlgn="ctr">
              <a:spcBef>
                <a:spcPct val="0"/>
              </a:spcBef>
              <a:spcAft>
                <a:spcPct val="0"/>
              </a:spcAft>
              <a:defRPr/>
            </a:pPr>
            <a:r>
              <a:rPr lang="en-US" sz="1400" b="1" dirty="0" err="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即插即用</a:t>
            </a:r>
            <a:endParaRPr 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圆角矩形 51"/>
          <p:cNvSpPr/>
          <p:nvPr/>
        </p:nvSpPr>
        <p:spPr bwMode="gray">
          <a:xfrm>
            <a:off x="5532542" y="2755877"/>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52"/>
          <p:cNvSpPr/>
          <p:nvPr/>
        </p:nvSpPr>
        <p:spPr bwMode="gray">
          <a:xfrm>
            <a:off x="4461647" y="2755877"/>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75"/>
          <p:cNvSpPr/>
          <p:nvPr/>
        </p:nvSpPr>
        <p:spPr bwMode="gray">
          <a:xfrm>
            <a:off x="7237465" y="1387889"/>
            <a:ext cx="3159573" cy="1627077"/>
          </a:xfrm>
          <a:prstGeom prst="roundRect">
            <a:avLst>
              <a:gd name="adj" fmla="val 874"/>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a:lnSpc>
                <a:spcPts val="2200"/>
              </a:lnSpc>
              <a:spcAft>
                <a:spcPts val="300"/>
              </a:spcAft>
            </a:pP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传统开局（</a:t>
            </a:r>
            <a:r>
              <a:rPr lang="en-US" altLang="zh-CN"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CLI</a:t>
            </a: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网管）：</a:t>
            </a:r>
          </a:p>
          <a:p>
            <a:pPr marL="176213" indent="-176213">
              <a:lnSpc>
                <a:spcPts val="22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出口路由器</a:t>
            </a:r>
          </a:p>
          <a:p>
            <a:pPr marL="176213" indent="-176213">
              <a:lnSpc>
                <a:spcPts val="22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出口防火墙</a:t>
            </a:r>
          </a:p>
          <a:p>
            <a:pPr marL="176213" indent="-176213">
              <a:lnSpc>
                <a:spcPts val="22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核心交换机</a:t>
            </a:r>
            <a:endPar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独立</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sp>
        <p:nvSpPr>
          <p:cNvPr id="55" name="圆角矩形 75"/>
          <p:cNvSpPr/>
          <p:nvPr/>
        </p:nvSpPr>
        <p:spPr bwMode="gray">
          <a:xfrm>
            <a:off x="7237465" y="3871691"/>
            <a:ext cx="3159573" cy="1600838"/>
          </a:xfrm>
          <a:prstGeom prst="roundRect">
            <a:avLst>
              <a:gd name="adj" fmla="val 874"/>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a:lnSpc>
                <a:spcPts val="2200"/>
              </a:lnSpc>
              <a:spcAft>
                <a:spcPts val="300"/>
              </a:spcAft>
            </a:pP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即插即用：</a:t>
            </a:r>
          </a:p>
          <a:p>
            <a:pPr marL="176213" indent="-176213">
              <a:lnSpc>
                <a:spcPts val="22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汇聚交换机</a:t>
            </a:r>
          </a:p>
          <a:p>
            <a:pPr marL="176213" indent="-176213">
              <a:lnSpc>
                <a:spcPts val="22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接入交换机</a:t>
            </a:r>
          </a:p>
          <a:p>
            <a:pPr marL="176213" indent="-176213">
              <a:lnSpc>
                <a:spcPts val="2200"/>
              </a:lnSpc>
              <a:spcAft>
                <a:spcPts val="300"/>
              </a:spcAft>
              <a:buFont typeface="Arial" panose="020B0604020202020204" pitchFamily="34" charset="0"/>
              <a:buChar char="•"/>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p>
        </p:txBody>
      </p:sp>
      <p:pic>
        <p:nvPicPr>
          <p:cNvPr id="67" name="图片 6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762547" y="2684355"/>
            <a:ext cx="1792651" cy="330612"/>
          </a:xfrm>
          <a:prstGeom prst="rect">
            <a:avLst/>
          </a:prstGeom>
        </p:spPr>
      </p:pic>
      <p:sp>
        <p:nvSpPr>
          <p:cNvPr id="60" name="五边形 59"/>
          <p:cNvSpPr/>
          <p:nvPr/>
        </p:nvSpPr>
        <p:spPr bwMode="gray">
          <a:xfrm>
            <a:off x="6730479"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gray">
          <a:xfrm>
            <a:off x="736713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61"/>
          <p:cNvSpPr/>
          <p:nvPr/>
        </p:nvSpPr>
        <p:spPr bwMode="gray">
          <a:xfrm>
            <a:off x="800379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66" name="燕尾形 65"/>
          <p:cNvSpPr/>
          <p:nvPr/>
        </p:nvSpPr>
        <p:spPr bwMode="gray">
          <a:xfrm>
            <a:off x="8640453"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67"/>
          <p:cNvSpPr/>
          <p:nvPr/>
        </p:nvSpPr>
        <p:spPr bwMode="gray">
          <a:xfrm>
            <a:off x="9277111" y="114957"/>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68"/>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192908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基于</a:t>
            </a:r>
            <a:r>
              <a:rPr lang="en-US" altLang="zh-CN" dirty="0"/>
              <a:t>DHCP</a:t>
            </a:r>
            <a:r>
              <a:rPr lang="zh-CN" altLang="en-US" dirty="0"/>
              <a:t>的设备即插即用开局流程</a:t>
            </a:r>
          </a:p>
        </p:txBody>
      </p:sp>
      <p:sp>
        <p:nvSpPr>
          <p:cNvPr id="3" name="文本占位符 2"/>
          <p:cNvSpPr>
            <a:spLocks noGrp="1"/>
          </p:cNvSpPr>
          <p:nvPr>
            <p:ph type="body" sz="quarter" idx="10"/>
          </p:nvPr>
        </p:nvSpPr>
        <p:spPr bwMode="gray">
          <a:xfrm>
            <a:off x="455612" y="1047751"/>
            <a:ext cx="11293475" cy="491146"/>
          </a:xfrm>
        </p:spPr>
        <p:txBody>
          <a:bodyPr/>
          <a:lstStyle/>
          <a:p>
            <a:r>
              <a:rPr lang="zh-CN" altLang="en-US" sz="1600"/>
              <a:t>待开局设备通过</a:t>
            </a:r>
            <a:r>
              <a:rPr lang="en-US" altLang="zh-CN" sz="1600"/>
              <a:t>DHCP</a:t>
            </a:r>
            <a:r>
              <a:rPr lang="zh-CN" altLang="en-US" sz="1600"/>
              <a:t>服务器获取设备</a:t>
            </a:r>
            <a:r>
              <a:rPr lang="en-US" altLang="zh-CN" sz="1600"/>
              <a:t>NETCONF</a:t>
            </a:r>
            <a:r>
              <a:rPr lang="zh-CN" altLang="en-US" sz="1600"/>
              <a:t>使能状态和</a:t>
            </a:r>
            <a:r>
              <a:rPr lang="en-US" altLang="zh-CN" sz="1600"/>
              <a:t>iMaster NCE-Campus</a:t>
            </a:r>
            <a:r>
              <a:rPr lang="zh-CN" altLang="en-US" sz="1600"/>
              <a:t>地址过程：</a:t>
            </a:r>
            <a:endParaRPr lang="zh-CN" altLang="en-US" sz="1600" dirty="0"/>
          </a:p>
        </p:txBody>
      </p:sp>
      <p:sp>
        <p:nvSpPr>
          <p:cNvPr id="10" name="五边形 9"/>
          <p:cNvSpPr/>
          <p:nvPr/>
        </p:nvSpPr>
        <p:spPr bwMode="gray">
          <a:xfrm>
            <a:off x="6730479"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gray">
          <a:xfrm>
            <a:off x="736713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800379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13" name="燕尾形 12"/>
          <p:cNvSpPr/>
          <p:nvPr/>
        </p:nvSpPr>
        <p:spPr bwMode="gray">
          <a:xfrm>
            <a:off x="8640453"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9277111" y="114957"/>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占位符 2"/>
          <p:cNvSpPr txBox="1">
            <a:spLocks/>
          </p:cNvSpPr>
          <p:nvPr/>
        </p:nvSpPr>
        <p:spPr bwMode="gray">
          <a:xfrm>
            <a:off x="455613" y="1538898"/>
            <a:ext cx="6723786" cy="417392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745939" lvl="1" indent="-342900">
              <a:buSzPct val="100000"/>
              <a:buFont typeface="+mj-lt"/>
              <a:buAutoNum type="arabicPeriod"/>
            </a:pPr>
            <a:r>
              <a:rPr lang="zh-CN" altLang="en-US" sz="1400" dirty="0"/>
              <a:t>管理员在网络的核心设备部署</a:t>
            </a:r>
            <a:r>
              <a:rPr lang="en-US" altLang="zh-CN" sz="1400" dirty="0"/>
              <a:t>DHCP</a:t>
            </a:r>
            <a:r>
              <a:rPr lang="zh-CN" altLang="en-US" sz="1400" dirty="0"/>
              <a:t>服务器功能，配置</a:t>
            </a:r>
            <a:r>
              <a:rPr lang="en-US" altLang="zh-CN" sz="1400" dirty="0"/>
              <a:t>DHCP Option 148</a:t>
            </a:r>
            <a:r>
              <a:rPr lang="zh-CN" altLang="en-US" sz="1400" dirty="0"/>
              <a:t>选项，其中包含设备的</a:t>
            </a:r>
            <a:r>
              <a:rPr lang="en-US" altLang="zh-CN" sz="1400" dirty="0"/>
              <a:t>NETCONF</a:t>
            </a:r>
            <a:r>
              <a:rPr lang="zh-CN" altLang="en-US" sz="1400" dirty="0"/>
              <a:t>使能状态、</a:t>
            </a:r>
            <a:r>
              <a:rPr lang="en-US" altLang="zh-CN" sz="1400" dirty="0" err="1"/>
              <a:t>iMaster</a:t>
            </a:r>
            <a:r>
              <a:rPr lang="en-US" altLang="zh-CN" sz="1400" dirty="0"/>
              <a:t> NCE-Campus</a:t>
            </a:r>
            <a:r>
              <a:rPr lang="zh-CN" altLang="en-US" sz="1400" dirty="0"/>
              <a:t>的</a:t>
            </a:r>
            <a:r>
              <a:rPr lang="en-US" altLang="zh-CN" sz="1400" dirty="0"/>
              <a:t>URL/IP</a:t>
            </a:r>
            <a:r>
              <a:rPr lang="zh-CN" altLang="en-US" sz="1400" dirty="0"/>
              <a:t>和端口号信息。</a:t>
            </a:r>
          </a:p>
          <a:p>
            <a:pPr marL="745939" lvl="1" indent="-342900">
              <a:buSzPct val="100000"/>
              <a:buFont typeface="+mj-lt"/>
              <a:buAutoNum type="arabicPeriod"/>
            </a:pPr>
            <a:r>
              <a:rPr lang="zh-CN" altLang="en-US" sz="1400" dirty="0"/>
              <a:t>待开局设备（如图为</a:t>
            </a:r>
            <a:r>
              <a:rPr lang="en-US" altLang="zh-CN" sz="1400" dirty="0"/>
              <a:t>SW1</a:t>
            </a:r>
            <a:r>
              <a:rPr lang="zh-CN" altLang="en-US" sz="1400" dirty="0"/>
              <a:t>）空配置启动后，先使用</a:t>
            </a:r>
            <a:r>
              <a:rPr lang="en-US" altLang="zh-CN" sz="1400" dirty="0"/>
              <a:t>VLAN 1</a:t>
            </a:r>
            <a:r>
              <a:rPr lang="zh-CN" altLang="en-US" sz="1400" dirty="0"/>
              <a:t>（缺省情况，交换机的</a:t>
            </a:r>
            <a:r>
              <a:rPr lang="en-US" altLang="zh-CN" sz="1400" dirty="0">
                <a:solidFill>
                  <a:srgbClr val="C7000B"/>
                </a:solidFill>
              </a:rPr>
              <a:t>PnP VLAN</a:t>
            </a:r>
            <a:r>
              <a:rPr lang="zh-CN" altLang="en-US" sz="1400" dirty="0"/>
              <a:t>为</a:t>
            </a:r>
            <a:r>
              <a:rPr lang="en-US" altLang="zh-CN" sz="1400" dirty="0"/>
              <a:t>VLAN 1</a:t>
            </a:r>
            <a:r>
              <a:rPr lang="zh-CN" altLang="en-US" sz="1400" dirty="0"/>
              <a:t>）主动向</a:t>
            </a:r>
            <a:r>
              <a:rPr lang="en-US" altLang="zh-CN" sz="1400" dirty="0"/>
              <a:t>DHCP</a:t>
            </a:r>
            <a:r>
              <a:rPr lang="zh-CN" altLang="en-US" sz="1400" dirty="0"/>
              <a:t>服务器发起请求。</a:t>
            </a:r>
            <a:endParaRPr lang="en-US" altLang="zh-CN" sz="1400" dirty="0"/>
          </a:p>
          <a:p>
            <a:pPr marL="745939" lvl="1" indent="-342900">
              <a:buSzPct val="100000"/>
              <a:buFont typeface="+mj-lt"/>
              <a:buAutoNum type="arabicPeriod"/>
            </a:pPr>
            <a:r>
              <a:rPr lang="en-US" altLang="zh-CN" sz="1400" dirty="0"/>
              <a:t>DHCP</a:t>
            </a:r>
            <a:r>
              <a:rPr lang="zh-CN" altLang="en-US" sz="1400" dirty="0"/>
              <a:t>服务器收到请求后，就会向</a:t>
            </a:r>
            <a:r>
              <a:rPr lang="en-US" altLang="zh-CN" sz="1400" dirty="0"/>
              <a:t>SW1</a:t>
            </a:r>
            <a:r>
              <a:rPr lang="zh-CN" altLang="en-US" sz="1400" dirty="0"/>
              <a:t>回应一个携带</a:t>
            </a:r>
            <a:r>
              <a:rPr lang="en-US" altLang="zh-CN" sz="1400" dirty="0"/>
              <a:t>Option 148</a:t>
            </a:r>
            <a:r>
              <a:rPr lang="zh-CN" altLang="en-US" sz="1400" dirty="0"/>
              <a:t>选项的</a:t>
            </a:r>
            <a:r>
              <a:rPr lang="en-US" altLang="zh-CN" sz="1400" dirty="0"/>
              <a:t>DHCP</a:t>
            </a:r>
            <a:r>
              <a:rPr lang="zh-CN" altLang="en-US" sz="1400" dirty="0"/>
              <a:t>报文。</a:t>
            </a:r>
          </a:p>
          <a:p>
            <a:pPr marL="745939" lvl="1" indent="-342900">
              <a:buSzPct val="100000"/>
              <a:buFont typeface="+mj-lt"/>
              <a:buAutoNum type="arabicPeriod"/>
            </a:pPr>
            <a:r>
              <a:rPr lang="en-US" altLang="zh-CN" sz="1400" dirty="0"/>
              <a:t>SW1</a:t>
            </a:r>
            <a:r>
              <a:rPr lang="zh-CN" altLang="en-US" sz="1400" dirty="0"/>
              <a:t>根据</a:t>
            </a:r>
            <a:r>
              <a:rPr lang="en-US" altLang="zh-CN" sz="1400" dirty="0"/>
              <a:t>Option 148</a:t>
            </a:r>
            <a:r>
              <a:rPr lang="zh-CN" altLang="en-US" sz="1400" dirty="0"/>
              <a:t>选项中的内容（</a:t>
            </a:r>
            <a:r>
              <a:rPr lang="en-US" altLang="zh-CN" sz="1400" dirty="0"/>
              <a:t>NETCONF</a:t>
            </a:r>
            <a:r>
              <a:rPr lang="zh-CN" altLang="en-US" sz="1400" dirty="0"/>
              <a:t>使能状态，</a:t>
            </a:r>
            <a:r>
              <a:rPr lang="en-US" altLang="zh-CN" sz="1400" dirty="0" err="1"/>
              <a:t>iMaster</a:t>
            </a:r>
            <a:r>
              <a:rPr lang="en-US" altLang="zh-CN" sz="1400" dirty="0"/>
              <a:t> NCE-Campus</a:t>
            </a:r>
            <a:r>
              <a:rPr lang="zh-CN" altLang="en-US" sz="1400" dirty="0"/>
              <a:t>的</a:t>
            </a:r>
            <a:r>
              <a:rPr lang="en-US" altLang="zh-CN" sz="1400" dirty="0"/>
              <a:t>URL/IP</a:t>
            </a:r>
            <a:r>
              <a:rPr lang="zh-CN" altLang="en-US" sz="1400" dirty="0"/>
              <a:t>和端口号）向控制器注册上线。</a:t>
            </a:r>
            <a:endParaRPr lang="en-US" altLang="zh-CN" sz="1400" dirty="0"/>
          </a:p>
        </p:txBody>
      </p:sp>
      <p:grpSp>
        <p:nvGrpSpPr>
          <p:cNvPr id="58" name="组合 57"/>
          <p:cNvGrpSpPr/>
          <p:nvPr/>
        </p:nvGrpSpPr>
        <p:grpSpPr bwMode="gray">
          <a:xfrm>
            <a:off x="8556597" y="1696108"/>
            <a:ext cx="2063413" cy="2749728"/>
            <a:chOff x="8652268" y="1864561"/>
            <a:chExt cx="2063413" cy="2749728"/>
          </a:xfrm>
        </p:grpSpPr>
        <p:cxnSp>
          <p:nvCxnSpPr>
            <p:cNvPr id="16" name="Straight Connector 167"/>
            <p:cNvCxnSpPr>
              <a:stCxn id="26" idx="0"/>
              <a:endCxn id="18" idx="2"/>
            </p:cNvCxnSpPr>
            <p:nvPr/>
          </p:nvCxnSpPr>
          <p:spPr bwMode="gray">
            <a:xfrm flipV="1">
              <a:off x="9405658" y="3516456"/>
              <a:ext cx="0" cy="64939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22" idx="2"/>
              <a:endCxn id="18" idx="0"/>
            </p:cNvCxnSpPr>
            <p:nvPr/>
          </p:nvCxnSpPr>
          <p:spPr bwMode="gray">
            <a:xfrm>
              <a:off x="9405658" y="2405507"/>
              <a:ext cx="0" cy="70929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8" name="图片 86" descr="核心交换机.png"/>
            <p:cNvPicPr>
              <a:picLocks noChangeAspect="1"/>
            </p:cNvPicPr>
            <p:nvPr/>
          </p:nvPicPr>
          <p:blipFill>
            <a:blip r:embed="rId3" cstate="print"/>
            <a:stretch>
              <a:fillRect/>
            </a:stretch>
          </p:blipFill>
          <p:spPr bwMode="gray">
            <a:xfrm>
              <a:off x="9160203" y="3114803"/>
              <a:ext cx="490909" cy="401653"/>
            </a:xfrm>
            <a:prstGeom prst="rect">
              <a:avLst/>
            </a:prstGeom>
          </p:spPr>
        </p:pic>
        <p:sp>
          <p:nvSpPr>
            <p:cNvPr id="19" name="文本框 18"/>
            <p:cNvSpPr txBox="1"/>
            <p:nvPr/>
          </p:nvSpPr>
          <p:spPr bwMode="gray">
            <a:xfrm>
              <a:off x="9657378" y="3083897"/>
              <a:ext cx="1058303"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Core</a:t>
              </a:r>
            </a:p>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9657378" y="4152624"/>
              <a:ext cx="954107"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 name="图片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929854" y="1864561"/>
              <a:ext cx="951607" cy="540946"/>
            </a:xfrm>
            <a:prstGeom prst="rect">
              <a:avLst/>
            </a:prstGeom>
          </p:spPr>
        </p:pic>
        <p:pic>
          <p:nvPicPr>
            <p:cNvPr id="26" name="图片 100" descr="汇聚交换机.png"/>
            <p:cNvPicPr>
              <a:picLocks noChangeAspect="1"/>
            </p:cNvPicPr>
            <p:nvPr/>
          </p:nvPicPr>
          <p:blipFill>
            <a:blip r:embed="rId5" cstate="print"/>
            <a:stretch>
              <a:fillRect/>
            </a:stretch>
          </p:blipFill>
          <p:spPr bwMode="gray">
            <a:xfrm>
              <a:off x="9160203" y="4165852"/>
              <a:ext cx="490909" cy="401653"/>
            </a:xfrm>
            <a:prstGeom prst="rect">
              <a:avLst/>
            </a:prstGeom>
          </p:spPr>
        </p:pic>
        <p:sp>
          <p:nvSpPr>
            <p:cNvPr id="31" name="椭圆 30"/>
            <p:cNvSpPr/>
            <p:nvPr/>
          </p:nvSpPr>
          <p:spPr bwMode="gray">
            <a:xfrm>
              <a:off x="9874755" y="2777580"/>
              <a:ext cx="144000" cy="144000"/>
            </a:xfrm>
            <a:prstGeom prst="ellipse">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1</a:t>
              </a:r>
              <a:endParaRPr lang="zh-CN" altLang="en-US" sz="1200" dirty="0"/>
            </a:p>
          </p:txBody>
        </p:sp>
        <p:cxnSp>
          <p:nvCxnSpPr>
            <p:cNvPr id="32" name="直接箭头连接符 31"/>
            <p:cNvCxnSpPr/>
            <p:nvPr/>
          </p:nvCxnSpPr>
          <p:spPr bwMode="gray">
            <a:xfrm>
              <a:off x="9256106" y="3595783"/>
              <a:ext cx="0" cy="470180"/>
            </a:xfrm>
            <a:prstGeom prst="straightConnector1">
              <a:avLst/>
            </a:prstGeom>
            <a:noFill/>
            <a:ln w="19050">
              <a:solidFill>
                <a:srgbClr val="30B5C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4" name="椭圆 33"/>
            <p:cNvSpPr/>
            <p:nvPr/>
          </p:nvSpPr>
          <p:spPr bwMode="gray">
            <a:xfrm>
              <a:off x="9034554" y="3728125"/>
              <a:ext cx="144000" cy="144000"/>
            </a:xfrm>
            <a:prstGeom prst="ellipse">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3</a:t>
              </a:r>
              <a:endParaRPr lang="zh-CN" altLang="en-US" sz="1200" dirty="0"/>
            </a:p>
          </p:txBody>
        </p:sp>
        <p:cxnSp>
          <p:nvCxnSpPr>
            <p:cNvPr id="35" name="直接箭头连接符 34"/>
            <p:cNvCxnSpPr/>
            <p:nvPr/>
          </p:nvCxnSpPr>
          <p:spPr bwMode="gray">
            <a:xfrm flipV="1">
              <a:off x="9559876" y="3595783"/>
              <a:ext cx="0" cy="470180"/>
            </a:xfrm>
            <a:prstGeom prst="straightConnector1">
              <a:avLst/>
            </a:prstGeom>
            <a:noFill/>
            <a:ln w="19050">
              <a:solidFill>
                <a:srgbClr val="30B5C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6" name="椭圆 35"/>
            <p:cNvSpPr/>
            <p:nvPr/>
          </p:nvSpPr>
          <p:spPr bwMode="gray">
            <a:xfrm>
              <a:off x="9642093" y="3728125"/>
              <a:ext cx="144000" cy="144000"/>
            </a:xfrm>
            <a:prstGeom prst="ellipse">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2</a:t>
              </a:r>
              <a:endParaRPr lang="zh-CN" altLang="en-US" sz="1200" dirty="0"/>
            </a:p>
          </p:txBody>
        </p:sp>
        <p:sp>
          <p:nvSpPr>
            <p:cNvPr id="39" name="任意多边形 38"/>
            <p:cNvSpPr/>
            <p:nvPr/>
          </p:nvSpPr>
          <p:spPr bwMode="gray">
            <a:xfrm>
              <a:off x="9515719" y="2932240"/>
              <a:ext cx="365742" cy="219323"/>
            </a:xfrm>
            <a:custGeom>
              <a:avLst/>
              <a:gdLst>
                <a:gd name="connsiteX0" fmla="*/ 0 w 246359"/>
                <a:gd name="connsiteY0" fmla="*/ 83944 h 182556"/>
                <a:gd name="connsiteX1" fmla="*/ 233082 w 246359"/>
                <a:gd name="connsiteY1" fmla="*/ 3262 h 182556"/>
                <a:gd name="connsiteX2" fmla="*/ 197224 w 246359"/>
                <a:gd name="connsiteY2" fmla="*/ 182556 h 182556"/>
              </a:gdLst>
              <a:ahLst/>
              <a:cxnLst>
                <a:cxn ang="0">
                  <a:pos x="connsiteX0" y="connsiteY0"/>
                </a:cxn>
                <a:cxn ang="0">
                  <a:pos x="connsiteX1" y="connsiteY1"/>
                </a:cxn>
                <a:cxn ang="0">
                  <a:pos x="connsiteX2" y="connsiteY2"/>
                </a:cxn>
              </a:cxnLst>
              <a:rect l="l" t="t" r="r" b="b"/>
              <a:pathLst>
                <a:path w="246359" h="182556">
                  <a:moveTo>
                    <a:pt x="0" y="83944"/>
                  </a:moveTo>
                  <a:cubicBezTo>
                    <a:pt x="100105" y="35385"/>
                    <a:pt x="200211" y="-13173"/>
                    <a:pt x="233082" y="3262"/>
                  </a:cubicBezTo>
                  <a:cubicBezTo>
                    <a:pt x="265953" y="19697"/>
                    <a:pt x="231588" y="101126"/>
                    <a:pt x="197224" y="182556"/>
                  </a:cubicBezTo>
                </a:path>
              </a:pathLst>
            </a:custGeom>
            <a:noFill/>
            <a:ln w="19050">
              <a:solidFill>
                <a:srgbClr val="30B5C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40"/>
            <p:cNvSpPr/>
            <p:nvPr/>
          </p:nvSpPr>
          <p:spPr bwMode="gray">
            <a:xfrm>
              <a:off x="8701981" y="2506104"/>
              <a:ext cx="379408" cy="1976808"/>
            </a:xfrm>
            <a:custGeom>
              <a:avLst/>
              <a:gdLst>
                <a:gd name="connsiteX0" fmla="*/ 356435 w 634341"/>
                <a:gd name="connsiteY0" fmla="*/ 2088776 h 2088776"/>
                <a:gd name="connsiteX1" fmla="*/ 6811 w 634341"/>
                <a:gd name="connsiteY1" fmla="*/ 1102659 h 2088776"/>
                <a:gd name="connsiteX2" fmla="*/ 634341 w 634341"/>
                <a:gd name="connsiteY2" fmla="*/ 0 h 2088776"/>
                <a:gd name="connsiteX0" fmla="*/ 706932 w 706932"/>
                <a:gd name="connsiteY0" fmla="*/ 1976808 h 1976808"/>
                <a:gd name="connsiteX1" fmla="*/ 2745 w 706932"/>
                <a:gd name="connsiteY1" fmla="*/ 1102659 h 1976808"/>
                <a:gd name="connsiteX2" fmla="*/ 630275 w 706932"/>
                <a:gd name="connsiteY2" fmla="*/ 0 h 1976808"/>
                <a:gd name="connsiteX0" fmla="*/ 707163 w 707163"/>
                <a:gd name="connsiteY0" fmla="*/ 1976808 h 1976808"/>
                <a:gd name="connsiteX1" fmla="*/ 2976 w 707163"/>
                <a:gd name="connsiteY1" fmla="*/ 1102659 h 1976808"/>
                <a:gd name="connsiteX2" fmla="*/ 630506 w 707163"/>
                <a:gd name="connsiteY2" fmla="*/ 0 h 1976808"/>
                <a:gd name="connsiteX0" fmla="*/ 384931 w 384931"/>
                <a:gd name="connsiteY0" fmla="*/ 1976808 h 1976808"/>
                <a:gd name="connsiteX1" fmla="*/ 7315 w 384931"/>
                <a:gd name="connsiteY1" fmla="*/ 1083997 h 1976808"/>
                <a:gd name="connsiteX2" fmla="*/ 308274 w 384931"/>
                <a:gd name="connsiteY2" fmla="*/ 0 h 1976808"/>
                <a:gd name="connsiteX0" fmla="*/ 377616 w 377616"/>
                <a:gd name="connsiteY0" fmla="*/ 1976808 h 1976808"/>
                <a:gd name="connsiteX1" fmla="*/ 0 w 377616"/>
                <a:gd name="connsiteY1" fmla="*/ 1083997 h 1976808"/>
                <a:gd name="connsiteX2" fmla="*/ 300959 w 377616"/>
                <a:gd name="connsiteY2" fmla="*/ 0 h 1976808"/>
                <a:gd name="connsiteX0" fmla="*/ 379408 w 379408"/>
                <a:gd name="connsiteY0" fmla="*/ 1976808 h 1976808"/>
                <a:gd name="connsiteX1" fmla="*/ 1792 w 379408"/>
                <a:gd name="connsiteY1" fmla="*/ 1083997 h 1976808"/>
                <a:gd name="connsiteX2" fmla="*/ 302751 w 379408"/>
                <a:gd name="connsiteY2" fmla="*/ 0 h 1976808"/>
              </a:gdLst>
              <a:ahLst/>
              <a:cxnLst>
                <a:cxn ang="0">
                  <a:pos x="connsiteX0" y="connsiteY0"/>
                </a:cxn>
                <a:cxn ang="0">
                  <a:pos x="connsiteX1" y="connsiteY1"/>
                </a:cxn>
                <a:cxn ang="0">
                  <a:pos x="connsiteX2" y="connsiteY2"/>
                </a:cxn>
              </a:cxnLst>
              <a:rect l="l" t="t" r="r" b="b"/>
              <a:pathLst>
                <a:path w="379408" h="1976808">
                  <a:moveTo>
                    <a:pt x="379408" y="1976808"/>
                  </a:moveTo>
                  <a:cubicBezTo>
                    <a:pt x="134784" y="1667145"/>
                    <a:pt x="39450" y="1441457"/>
                    <a:pt x="1792" y="1083997"/>
                  </a:cubicBezTo>
                  <a:cubicBezTo>
                    <a:pt x="-7874" y="717206"/>
                    <a:pt x="12145" y="377265"/>
                    <a:pt x="302751" y="0"/>
                  </a:cubicBezTo>
                </a:path>
              </a:pathLst>
            </a:custGeom>
            <a:noFill/>
            <a:ln w="19050">
              <a:solidFill>
                <a:srgbClr val="30B5C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bwMode="gray">
            <a:xfrm>
              <a:off x="8652268" y="3728125"/>
              <a:ext cx="144000" cy="144000"/>
            </a:xfrm>
            <a:prstGeom prst="ellipse">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4</a:t>
              </a:r>
              <a:endParaRPr lang="zh-CN" altLang="en-US" sz="1200" dirty="0"/>
            </a:p>
          </p:txBody>
        </p:sp>
      </p:grpSp>
    </p:spTree>
    <p:extLst>
      <p:ext uri="{BB962C8B-B14F-4D97-AF65-F5344CB8AC3E}">
        <p14:creationId xmlns:p14="http://schemas.microsoft.com/office/powerpoint/2010/main" val="22434868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图片 5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88020" y="5527121"/>
            <a:ext cx="471550" cy="386671"/>
          </a:xfrm>
          <a:prstGeom prst="rect">
            <a:avLst/>
          </a:prstGeom>
        </p:spPr>
      </p:pic>
      <p:sp>
        <p:nvSpPr>
          <p:cNvPr id="2" name="标题 1"/>
          <p:cNvSpPr>
            <a:spLocks noGrp="1"/>
          </p:cNvSpPr>
          <p:nvPr>
            <p:ph type="title"/>
          </p:nvPr>
        </p:nvSpPr>
        <p:spPr bwMode="gray"/>
        <p:txBody>
          <a:bodyPr/>
          <a:lstStyle/>
          <a:p>
            <a:r>
              <a:rPr lang="en-US" altLang="zh-CN" dirty="0"/>
              <a:t>PnP VLAN</a:t>
            </a:r>
            <a:endParaRPr lang="zh-CN" altLang="en-US" dirty="0"/>
          </a:p>
        </p:txBody>
      </p:sp>
      <p:sp>
        <p:nvSpPr>
          <p:cNvPr id="3" name="文本占位符 2"/>
          <p:cNvSpPr>
            <a:spLocks noGrp="1"/>
          </p:cNvSpPr>
          <p:nvPr>
            <p:ph type="body" sz="quarter" idx="10"/>
          </p:nvPr>
        </p:nvSpPr>
        <p:spPr bwMode="gray">
          <a:xfrm>
            <a:off x="455612" y="1047749"/>
            <a:ext cx="11293475" cy="1215053"/>
          </a:xfrm>
        </p:spPr>
        <p:txBody>
          <a:bodyPr/>
          <a:lstStyle/>
          <a:p>
            <a:r>
              <a:rPr lang="en-US" altLang="zh-CN" sz="1600" dirty="0"/>
              <a:t>PnP VLAN</a:t>
            </a:r>
            <a:r>
              <a:rPr lang="zh-CN" altLang="en-US" sz="1600" dirty="0"/>
              <a:t>（</a:t>
            </a:r>
            <a:r>
              <a:rPr lang="en-US" altLang="zh-CN" sz="1600" dirty="0"/>
              <a:t>Plug and Play VLAN</a:t>
            </a:r>
            <a:r>
              <a:rPr lang="zh-CN" altLang="en-US" sz="1600" dirty="0"/>
              <a:t>），是为了完成交换机即插即用定义的</a:t>
            </a:r>
            <a:r>
              <a:rPr lang="en-US" altLang="zh-CN" sz="1600" dirty="0"/>
              <a:t>VLAN</a:t>
            </a:r>
            <a:r>
              <a:rPr lang="zh-CN" altLang="en-US" sz="1600" dirty="0"/>
              <a:t>，缺省为</a:t>
            </a:r>
            <a:r>
              <a:rPr lang="en-US" altLang="zh-CN" sz="1600" dirty="0"/>
              <a:t>VLAN 1</a:t>
            </a:r>
            <a:r>
              <a:rPr lang="zh-CN" altLang="en-US" sz="1600" dirty="0"/>
              <a:t>。</a:t>
            </a:r>
            <a:endParaRPr lang="en-US" altLang="zh-CN" sz="1600" dirty="0"/>
          </a:p>
          <a:p>
            <a:r>
              <a:rPr lang="en-US" altLang="zh-CN" sz="1600" dirty="0"/>
              <a:t>PnP VLAN</a:t>
            </a:r>
            <a:r>
              <a:rPr lang="zh-CN" altLang="en-US" sz="1600" dirty="0"/>
              <a:t>分为有线</a:t>
            </a:r>
            <a:r>
              <a:rPr lang="en-US" altLang="zh-CN" sz="1600" dirty="0"/>
              <a:t>PnP VLAN</a:t>
            </a:r>
            <a:r>
              <a:rPr lang="zh-CN" altLang="en-US" sz="1600" dirty="0"/>
              <a:t>和无线</a:t>
            </a:r>
            <a:r>
              <a:rPr lang="en-US" altLang="zh-CN" sz="1600" dirty="0"/>
              <a:t>PnP VLAN</a:t>
            </a:r>
            <a:r>
              <a:rPr lang="zh-CN" altLang="en-US" sz="1600" dirty="0"/>
              <a:t>，统一由</a:t>
            </a:r>
            <a:r>
              <a:rPr lang="en-US" altLang="zh-CN" sz="1600" dirty="0" err="1"/>
              <a:t>iMaster</a:t>
            </a:r>
            <a:r>
              <a:rPr lang="en-US" altLang="zh-CN" sz="1600" dirty="0"/>
              <a:t> NCE-Campus</a:t>
            </a:r>
            <a:r>
              <a:rPr lang="zh-CN" altLang="en-US" sz="1600" dirty="0"/>
              <a:t>负责维护，通过在</a:t>
            </a:r>
            <a:r>
              <a:rPr lang="en-US" altLang="zh-CN" sz="1600" dirty="0" err="1"/>
              <a:t>iMaster</a:t>
            </a:r>
            <a:r>
              <a:rPr lang="en-US" altLang="zh-CN" sz="1600" dirty="0"/>
              <a:t> NCE-Campus</a:t>
            </a:r>
            <a:r>
              <a:rPr lang="zh-CN" altLang="en-US" sz="1600" dirty="0"/>
              <a:t>上预配置，在核心交换机向</a:t>
            </a:r>
            <a:r>
              <a:rPr lang="en-US" altLang="zh-CN" sz="1600" dirty="0" err="1"/>
              <a:t>iMaster</a:t>
            </a:r>
            <a:r>
              <a:rPr lang="en-US" altLang="zh-CN" sz="1600" dirty="0"/>
              <a:t> NCE-Campus</a:t>
            </a:r>
            <a:r>
              <a:rPr lang="zh-CN" altLang="en-US" sz="1600" dirty="0"/>
              <a:t>注册后，自动下发到核心交换机。</a:t>
            </a:r>
            <a:endParaRPr lang="en-US" altLang="zh-CN" sz="1600" dirty="0"/>
          </a:p>
        </p:txBody>
      </p:sp>
      <p:sp>
        <p:nvSpPr>
          <p:cNvPr id="10" name="五边形 9"/>
          <p:cNvSpPr/>
          <p:nvPr/>
        </p:nvSpPr>
        <p:spPr bwMode="gray">
          <a:xfrm>
            <a:off x="6730479"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gray">
          <a:xfrm>
            <a:off x="736713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800379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13" name="燕尾形 12"/>
          <p:cNvSpPr/>
          <p:nvPr/>
        </p:nvSpPr>
        <p:spPr bwMode="gray">
          <a:xfrm>
            <a:off x="8640453"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9277111" y="114957"/>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圆角矩形 75"/>
          <p:cNvSpPr/>
          <p:nvPr/>
        </p:nvSpPr>
        <p:spPr bwMode="gray">
          <a:xfrm>
            <a:off x="6161203" y="2346510"/>
            <a:ext cx="5325402" cy="360000"/>
          </a:xfrm>
          <a:prstGeom prst="roundRect">
            <a:avLst>
              <a:gd name="adj" fmla="val 867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待开局设备的</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PnP VLAN</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不为</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75"/>
          <p:cNvSpPr/>
          <p:nvPr/>
        </p:nvSpPr>
        <p:spPr bwMode="gray">
          <a:xfrm>
            <a:off x="6161203" y="2750468"/>
            <a:ext cx="5325402" cy="3293324"/>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8" name="直接连接符 17"/>
          <p:cNvCxnSpPr/>
          <p:nvPr/>
        </p:nvCxnSpPr>
        <p:spPr bwMode="gray">
          <a:xfrm>
            <a:off x="7541425" y="3769816"/>
            <a:ext cx="1139367"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9" name="图片 86" descr="核心交换机.png"/>
          <p:cNvPicPr>
            <a:picLocks noChangeAspect="1"/>
          </p:cNvPicPr>
          <p:nvPr/>
        </p:nvPicPr>
        <p:blipFill>
          <a:blip r:embed="rId4" cstate="print"/>
          <a:stretch>
            <a:fillRect/>
          </a:stretch>
        </p:blipFill>
        <p:spPr bwMode="gray">
          <a:xfrm>
            <a:off x="8484515" y="3545018"/>
            <a:ext cx="490909" cy="401653"/>
          </a:xfrm>
          <a:prstGeom prst="rect">
            <a:avLst/>
          </a:prstGeom>
        </p:spPr>
      </p:pic>
      <p:sp>
        <p:nvSpPr>
          <p:cNvPr id="20" name="文本框 19"/>
          <p:cNvSpPr txBox="1"/>
          <p:nvPr/>
        </p:nvSpPr>
        <p:spPr bwMode="gray">
          <a:xfrm>
            <a:off x="8963613" y="3501949"/>
            <a:ext cx="1067921"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Core</a:t>
            </a:r>
          </a:p>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8981689" y="4854501"/>
            <a:ext cx="954107"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6957466" y="3523252"/>
            <a:ext cx="951607" cy="540946"/>
          </a:xfrm>
          <a:prstGeom prst="rect">
            <a:avLst/>
          </a:prstGeom>
        </p:spPr>
      </p:pic>
      <p:pic>
        <p:nvPicPr>
          <p:cNvPr id="25" name="图片 100" descr="汇聚交换机.png"/>
          <p:cNvPicPr>
            <a:picLocks noChangeAspect="1"/>
          </p:cNvPicPr>
          <p:nvPr/>
        </p:nvPicPr>
        <p:blipFill>
          <a:blip r:embed="rId6" cstate="print"/>
          <a:stretch>
            <a:fillRect/>
          </a:stretch>
        </p:blipFill>
        <p:spPr bwMode="gray">
          <a:xfrm>
            <a:off x="8484515" y="4867729"/>
            <a:ext cx="490909" cy="401653"/>
          </a:xfrm>
          <a:prstGeom prst="rect">
            <a:avLst/>
          </a:prstGeom>
        </p:spPr>
      </p:pic>
      <p:cxnSp>
        <p:nvCxnSpPr>
          <p:cNvPr id="29" name="直接连接符 28"/>
          <p:cNvCxnSpPr>
            <a:stCxn id="25" idx="0"/>
            <a:endCxn id="19" idx="2"/>
          </p:cNvCxnSpPr>
          <p:nvPr/>
        </p:nvCxnSpPr>
        <p:spPr bwMode="gray">
          <a:xfrm flipV="1">
            <a:off x="8729970" y="3946671"/>
            <a:ext cx="0" cy="921058"/>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6994542" y="3004115"/>
            <a:ext cx="2497799" cy="461665"/>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 Core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在控制器注册上线，控制器下发待开局设备的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PnP VLAN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6" name="直接箭头连接符 35"/>
          <p:cNvCxnSpPr/>
          <p:nvPr/>
        </p:nvCxnSpPr>
        <p:spPr bwMode="gray">
          <a:xfrm>
            <a:off x="8994780" y="4046898"/>
            <a:ext cx="0" cy="720604"/>
          </a:xfrm>
          <a:prstGeom prst="straightConnector1">
            <a:avLst/>
          </a:prstGeom>
          <a:noFill/>
          <a:ln w="19050">
            <a:solidFill>
              <a:srgbClr val="30B5C5"/>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8" name="文本框 37"/>
          <p:cNvSpPr txBox="1"/>
          <p:nvPr/>
        </p:nvSpPr>
        <p:spPr bwMode="gray">
          <a:xfrm>
            <a:off x="8994780" y="4168339"/>
            <a:ext cx="2272736" cy="461665"/>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 Core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LLDP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发送</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PnP VLAN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（非</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 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任意多边形 38"/>
          <p:cNvSpPr/>
          <p:nvPr/>
        </p:nvSpPr>
        <p:spPr bwMode="gray">
          <a:xfrm>
            <a:off x="6586287" y="4052218"/>
            <a:ext cx="1723364" cy="1116623"/>
          </a:xfrm>
          <a:custGeom>
            <a:avLst/>
            <a:gdLst>
              <a:gd name="connsiteX0" fmla="*/ 1723364 w 1723364"/>
              <a:gd name="connsiteY0" fmla="*/ 1116623 h 1116623"/>
              <a:gd name="connsiteX1" fmla="*/ 123164 w 1723364"/>
              <a:gd name="connsiteY1" fmla="*/ 729761 h 1116623"/>
              <a:gd name="connsiteX2" fmla="*/ 228672 w 1723364"/>
              <a:gd name="connsiteY2" fmla="*/ 0 h 1116623"/>
            </a:gdLst>
            <a:ahLst/>
            <a:cxnLst>
              <a:cxn ang="0">
                <a:pos x="connsiteX0" y="connsiteY0"/>
              </a:cxn>
              <a:cxn ang="0">
                <a:pos x="connsiteX1" y="connsiteY1"/>
              </a:cxn>
              <a:cxn ang="0">
                <a:pos x="connsiteX2" y="connsiteY2"/>
              </a:cxn>
            </a:cxnLst>
            <a:rect l="l" t="t" r="r" b="b"/>
            <a:pathLst>
              <a:path w="1723364" h="1116623">
                <a:moveTo>
                  <a:pt x="1723364" y="1116623"/>
                </a:moveTo>
                <a:cubicBezTo>
                  <a:pt x="1047821" y="1016244"/>
                  <a:pt x="372279" y="915865"/>
                  <a:pt x="123164" y="729761"/>
                </a:cubicBezTo>
                <a:cubicBezTo>
                  <a:pt x="-125951" y="543657"/>
                  <a:pt x="51360" y="271828"/>
                  <a:pt x="228672" y="0"/>
                </a:cubicBezTo>
              </a:path>
            </a:pathLst>
          </a:custGeom>
          <a:noFill/>
          <a:ln w="19050">
            <a:solidFill>
              <a:srgbClr val="30B5C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bwMode="gray">
          <a:xfrm>
            <a:off x="6239375" y="5131451"/>
            <a:ext cx="1712701" cy="646331"/>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 SW1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PnP VLAN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通信，并在控制器注册上线。</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箭头连接符 26"/>
          <p:cNvCxnSpPr/>
          <p:nvPr/>
        </p:nvCxnSpPr>
        <p:spPr bwMode="gray">
          <a:xfrm flipH="1">
            <a:off x="7689668" y="3553895"/>
            <a:ext cx="644935" cy="0"/>
          </a:xfrm>
          <a:prstGeom prst="straightConnector1">
            <a:avLst/>
          </a:prstGeom>
          <a:noFill/>
          <a:ln w="19050">
            <a:solidFill>
              <a:srgbClr val="30B5C5"/>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7" name="文本占位符 2"/>
          <p:cNvSpPr txBox="1">
            <a:spLocks/>
          </p:cNvSpPr>
          <p:nvPr/>
        </p:nvSpPr>
        <p:spPr bwMode="gray">
          <a:xfrm>
            <a:off x="455612" y="2276030"/>
            <a:ext cx="5705591" cy="235397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lvl="1"/>
            <a:r>
              <a:rPr lang="zh-CN" altLang="en-US" sz="1400" dirty="0"/>
              <a:t>有线</a:t>
            </a:r>
            <a:r>
              <a:rPr lang="en-US" altLang="zh-CN" sz="1400" dirty="0"/>
              <a:t>PnP VLAN</a:t>
            </a:r>
            <a:r>
              <a:rPr lang="zh-CN" altLang="en-US" sz="1400" dirty="0"/>
              <a:t>是用来进行交换机管理</a:t>
            </a:r>
            <a:r>
              <a:rPr lang="en-US" altLang="zh-CN" sz="1400" dirty="0"/>
              <a:t>IP</a:t>
            </a:r>
            <a:r>
              <a:rPr lang="zh-CN" altLang="en-US" sz="1400" dirty="0"/>
              <a:t>地址的申请。</a:t>
            </a:r>
          </a:p>
          <a:p>
            <a:pPr lvl="1"/>
            <a:r>
              <a:rPr lang="zh-CN" altLang="en-US" sz="1400" dirty="0"/>
              <a:t>无线</a:t>
            </a:r>
            <a:r>
              <a:rPr lang="en-US" altLang="zh-CN" sz="1400" dirty="0"/>
              <a:t>PnP VLAN</a:t>
            </a:r>
            <a:r>
              <a:rPr lang="zh-CN" altLang="en-US" sz="1400" dirty="0"/>
              <a:t>是用来设置</a:t>
            </a:r>
            <a:r>
              <a:rPr lang="en-US" altLang="zh-CN" sz="1400" dirty="0"/>
              <a:t>AP</a:t>
            </a:r>
            <a:r>
              <a:rPr lang="zh-CN" altLang="en-US" sz="1400" dirty="0"/>
              <a:t>的管理</a:t>
            </a:r>
            <a:r>
              <a:rPr lang="en-US" altLang="zh-CN" sz="1400" dirty="0"/>
              <a:t>VLAN</a:t>
            </a:r>
            <a:r>
              <a:rPr lang="zh-CN" altLang="en-US" sz="1400" dirty="0"/>
              <a:t>。交换机下联设备是</a:t>
            </a:r>
            <a:r>
              <a:rPr lang="en-US" altLang="zh-CN" sz="1400" dirty="0"/>
              <a:t>AP</a:t>
            </a:r>
            <a:r>
              <a:rPr lang="zh-CN" altLang="en-US" sz="1400" dirty="0"/>
              <a:t>时，交换机自动将与</a:t>
            </a:r>
            <a:r>
              <a:rPr lang="en-US" altLang="zh-CN" sz="1400" dirty="0"/>
              <a:t>AP</a:t>
            </a:r>
            <a:r>
              <a:rPr lang="zh-CN" altLang="en-US" sz="1400" dirty="0"/>
              <a:t>相连端口的</a:t>
            </a:r>
            <a:r>
              <a:rPr lang="en-US" altLang="zh-CN" sz="1400" dirty="0"/>
              <a:t>PVID</a:t>
            </a:r>
            <a:r>
              <a:rPr lang="zh-CN" altLang="en-US" sz="1400" dirty="0"/>
              <a:t>修改为无线</a:t>
            </a:r>
            <a:r>
              <a:rPr lang="en-US" altLang="zh-CN" sz="1400" dirty="0"/>
              <a:t>PnP VLAN</a:t>
            </a:r>
            <a:r>
              <a:rPr lang="zh-CN" altLang="en-US" sz="1400" dirty="0"/>
              <a:t>。</a:t>
            </a:r>
          </a:p>
          <a:p>
            <a:pPr lvl="1"/>
            <a:r>
              <a:rPr lang="zh-CN" altLang="en-US" sz="1400" dirty="0"/>
              <a:t>对于交换机来讲，有线和无线</a:t>
            </a:r>
            <a:r>
              <a:rPr lang="en-US" altLang="zh-CN" sz="1400" dirty="0"/>
              <a:t>PnP VLAN</a:t>
            </a:r>
            <a:r>
              <a:rPr lang="zh-CN" altLang="en-US" sz="1400" dirty="0"/>
              <a:t>可以不同，但是是同时协商的。如果仅配置有线</a:t>
            </a:r>
            <a:r>
              <a:rPr lang="en-US" altLang="zh-CN" sz="1400" dirty="0"/>
              <a:t>PnP VLAN</a:t>
            </a:r>
            <a:r>
              <a:rPr lang="zh-CN" altLang="en-US" sz="1400" dirty="0"/>
              <a:t>，交换机与</a:t>
            </a:r>
            <a:r>
              <a:rPr lang="en-US" altLang="zh-CN" sz="1400" dirty="0"/>
              <a:t>AP</a:t>
            </a:r>
            <a:r>
              <a:rPr lang="zh-CN" altLang="en-US" sz="1400" dirty="0"/>
              <a:t>相连端口的</a:t>
            </a:r>
            <a:r>
              <a:rPr lang="en-US" altLang="zh-CN" sz="1400" dirty="0"/>
              <a:t>PVID</a:t>
            </a:r>
            <a:r>
              <a:rPr lang="zh-CN" altLang="en-US" sz="1400" dirty="0"/>
              <a:t>将修改为有线</a:t>
            </a:r>
            <a:r>
              <a:rPr lang="en-US" altLang="zh-CN" sz="1400" dirty="0"/>
              <a:t>PnP VLAN</a:t>
            </a:r>
            <a:r>
              <a:rPr lang="zh-CN" altLang="en-US" sz="1400" dirty="0"/>
              <a:t>。</a:t>
            </a:r>
          </a:p>
        </p:txBody>
      </p:sp>
      <p:cxnSp>
        <p:nvCxnSpPr>
          <p:cNvPr id="49" name="Straight Connector 167"/>
          <p:cNvCxnSpPr>
            <a:endCxn id="25" idx="2"/>
          </p:cNvCxnSpPr>
          <p:nvPr/>
        </p:nvCxnSpPr>
        <p:spPr bwMode="gray">
          <a:xfrm flipV="1">
            <a:off x="8729970" y="5269382"/>
            <a:ext cx="0" cy="25773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bwMode="gray">
          <a:xfrm>
            <a:off x="8981690" y="5490940"/>
            <a:ext cx="954107"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椭圆 57"/>
          <p:cNvSpPr/>
          <p:nvPr/>
        </p:nvSpPr>
        <p:spPr bwMode="gray">
          <a:xfrm>
            <a:off x="8665484" y="5187553"/>
            <a:ext cx="144000" cy="144000"/>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Tree>
    <p:extLst>
      <p:ext uri="{BB962C8B-B14F-4D97-AF65-F5344CB8AC3E}">
        <p14:creationId xmlns:p14="http://schemas.microsoft.com/office/powerpoint/2010/main" val="6347538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网络开局流程：设备先上线，再完成规划</a:t>
            </a:r>
          </a:p>
        </p:txBody>
      </p:sp>
      <p:cxnSp>
        <p:nvCxnSpPr>
          <p:cNvPr id="10" name="Straight Connector 167"/>
          <p:cNvCxnSpPr>
            <a:stCxn id="28" idx="0"/>
          </p:cNvCxnSpPr>
          <p:nvPr/>
        </p:nvCxnSpPr>
        <p:spPr bwMode="gray">
          <a:xfrm flipH="1" flipV="1">
            <a:off x="2337213" y="1391175"/>
            <a:ext cx="1" cy="389731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a:off x="1146807" y="3436185"/>
            <a:ext cx="1139367"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2" name="图片 86" descr="核心交换机.png"/>
          <p:cNvPicPr>
            <a:picLocks noChangeAspect="1"/>
          </p:cNvPicPr>
          <p:nvPr/>
        </p:nvPicPr>
        <p:blipFill>
          <a:blip r:embed="rId3" cstate="print"/>
          <a:stretch>
            <a:fillRect/>
          </a:stretch>
        </p:blipFill>
        <p:spPr bwMode="gray">
          <a:xfrm>
            <a:off x="2091759" y="3211387"/>
            <a:ext cx="490909" cy="401653"/>
          </a:xfrm>
          <a:prstGeom prst="rect">
            <a:avLst/>
          </a:prstGeom>
        </p:spPr>
      </p:pic>
      <p:sp>
        <p:nvSpPr>
          <p:cNvPr id="21" name="文本框 20"/>
          <p:cNvSpPr txBox="1"/>
          <p:nvPr/>
        </p:nvSpPr>
        <p:spPr bwMode="gray">
          <a:xfrm>
            <a:off x="2634335" y="3180481"/>
            <a:ext cx="1317990"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2587071" y="4249208"/>
            <a:ext cx="1047082"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Aggregation</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159"/>
          <p:cNvSpPr/>
          <p:nvPr/>
        </p:nvSpPr>
        <p:spPr bwMode="gray">
          <a:xfrm flipH="1">
            <a:off x="1882472" y="1153469"/>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pic>
        <p:nvPicPr>
          <p:cNvPr id="42" name="图片 4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2848" y="3189621"/>
            <a:ext cx="951607" cy="540946"/>
          </a:xfrm>
          <a:prstGeom prst="rect">
            <a:avLst/>
          </a:prstGeom>
        </p:spPr>
      </p:pic>
      <p:sp>
        <p:nvSpPr>
          <p:cNvPr id="71" name="文本框 70"/>
          <p:cNvSpPr txBox="1"/>
          <p:nvPr/>
        </p:nvSpPr>
        <p:spPr bwMode="gray">
          <a:xfrm>
            <a:off x="2587071" y="2409798"/>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出口网关</a:t>
            </a:r>
          </a:p>
        </p:txBody>
      </p:sp>
      <p:sp>
        <p:nvSpPr>
          <p:cNvPr id="23" name="圆角矩形 75"/>
          <p:cNvSpPr/>
          <p:nvPr/>
        </p:nvSpPr>
        <p:spPr bwMode="gray">
          <a:xfrm>
            <a:off x="3975594" y="1153469"/>
            <a:ext cx="7736982" cy="360000"/>
          </a:xfrm>
          <a:prstGeom prst="roundRect">
            <a:avLst>
              <a:gd name="adj" fmla="val 10604"/>
            </a:avLst>
          </a:prstGeom>
          <a:gradFill>
            <a:gsLst>
              <a:gs pos="0">
                <a:schemeClr val="bg1"/>
              </a:gs>
              <a:gs pos="100000">
                <a:schemeClr val="bg1">
                  <a:lumMod val="75000"/>
                </a:schemeClr>
              </a:gs>
            </a:gsLst>
            <a:lin ang="5400000" scaled="1"/>
          </a:gra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准备工作</a:t>
            </a:r>
          </a:p>
        </p:txBody>
      </p:sp>
      <p:sp>
        <p:nvSpPr>
          <p:cNvPr id="24" name="圆角矩形 75"/>
          <p:cNvSpPr/>
          <p:nvPr/>
        </p:nvSpPr>
        <p:spPr bwMode="gray">
          <a:xfrm>
            <a:off x="3975594" y="1557428"/>
            <a:ext cx="7736982" cy="1442130"/>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管理员在核心交换机（</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Core</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）部署</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DHCP</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服务器功能，配置</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Option 148</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管理员在</a:t>
            </a:r>
            <a:r>
              <a:rPr lang="en-US" altLang="zh-CN" sz="12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NCE-Campus</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创建园区站点。</a:t>
            </a:r>
            <a:endPar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300"/>
              </a:spcAft>
              <a:buFont typeface="Arial" panose="020B0604020202020204" pitchFamily="34" charset="0"/>
              <a:buChar char="•"/>
            </a:pP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管理员将交换机的信息（</a:t>
            </a:r>
            <a:r>
              <a:rPr lang="en-US" altLang="zh-CN"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ESN</a:t>
            </a: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号、设备型号等）导入到</a:t>
            </a:r>
            <a:r>
              <a:rPr lang="en-US" altLang="zh-CN"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NCE-Campus</a:t>
            </a: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（可批量导入）。</a:t>
            </a:r>
            <a:endParaRPr lang="en-US" altLang="zh-CN"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管理员配置</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Core</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，使其被</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纳管。</a:t>
            </a:r>
          </a:p>
        </p:txBody>
      </p:sp>
      <p:sp>
        <p:nvSpPr>
          <p:cNvPr id="25" name="圆角矩形 75"/>
          <p:cNvSpPr/>
          <p:nvPr/>
        </p:nvSpPr>
        <p:spPr bwMode="gray">
          <a:xfrm>
            <a:off x="3975594" y="3132346"/>
            <a:ext cx="7736982"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待开局设备的上线过程</a:t>
            </a:r>
          </a:p>
        </p:txBody>
      </p:sp>
      <p:sp>
        <p:nvSpPr>
          <p:cNvPr id="26" name="圆角矩形 75"/>
          <p:cNvSpPr/>
          <p:nvPr/>
        </p:nvSpPr>
        <p:spPr bwMode="gray">
          <a:xfrm>
            <a:off x="3975594" y="3536303"/>
            <a:ext cx="7736982" cy="2411824"/>
          </a:xfrm>
          <a:prstGeom prst="roundRect">
            <a:avLst>
              <a:gd name="adj" fmla="val 1463"/>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342900" lvl="0" indent="-342900" algn="just" defTabSz="914034">
              <a:lnSpc>
                <a:spcPct val="130000"/>
              </a:lnSpc>
              <a:spcBef>
                <a:spcPts val="300"/>
              </a:spcBef>
              <a:spcAft>
                <a:spcPts val="300"/>
              </a:spcAft>
              <a:buSzPct val="100000"/>
              <a:buFont typeface="+mj-lt"/>
              <a:buAutoNum type="arabicPeriod"/>
            </a:pP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Aggregation</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交换机加电，使用</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PnP VLAN</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（如</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VLAN 1</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）向</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DHCP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服务器获取</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地址、</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Option 148</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参数。</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Aggregation</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交换机根据从</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DHCP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服务器获取到的</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信息，向控制器注册上线。</a:t>
            </a:r>
            <a:endPar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42900" lvl="0" indent="-342900" algn="just" defTabSz="914034">
              <a:lnSpc>
                <a:spcPct val="130000"/>
              </a:lnSpc>
              <a:spcBef>
                <a:spcPts val="300"/>
              </a:spcBef>
              <a:spcAft>
                <a:spcPts val="300"/>
              </a:spcAft>
              <a:buSzPct val="100000"/>
              <a:buFont typeface="+mj-lt"/>
              <a:buAutoNum type="arabicPeriod"/>
            </a:pP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Access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交换机加电后的工作过程类似（与步骤</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1</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类似）。</a:t>
            </a:r>
            <a:endPar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42900" lvl="0" indent="-342900" algn="just" defTabSz="914034">
              <a:lnSpc>
                <a:spcPct val="130000"/>
              </a:lnSpc>
              <a:spcBef>
                <a:spcPts val="300"/>
              </a:spcBef>
              <a:spcAft>
                <a:spcPts val="300"/>
              </a:spcAft>
              <a:buSzPct val="100000"/>
              <a:buFont typeface="+mj-lt"/>
              <a:buAutoNum type="arabicPeriod"/>
            </a:pP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Access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交换机识别出下联设备是</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，将与</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相连端口的</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PVID</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修改为无线</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PnP VLAN</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通过</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Option 43</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获取</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AC</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地址，在</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AC</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关联了</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、并将</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VLANIF 1</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配置为</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CAPWAP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源接口后，</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在</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AC</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上线。</a:t>
            </a:r>
            <a:endPar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42900" lvl="0" indent="-342900" algn="just" defTabSz="914034">
              <a:lnSpc>
                <a:spcPct val="130000"/>
              </a:lnSpc>
              <a:spcBef>
                <a:spcPts val="300"/>
              </a:spcBef>
              <a:spcAft>
                <a:spcPts val="300"/>
              </a:spcAft>
              <a:buSzPct val="100000"/>
              <a:buFont typeface="+mj-lt"/>
              <a:buAutoNum type="arabicPeriod"/>
            </a:pP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交换机通过</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LLDP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发现网络拓扑，并各自将拓扑信息上报</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（通过</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NETCONF</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可根据这些信息发现网络拓扑。</a:t>
            </a:r>
            <a:endPar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42900" lvl="0" indent="-342900" algn="just" defTabSz="914034">
              <a:lnSpc>
                <a:spcPct val="130000"/>
              </a:lnSpc>
              <a:spcBef>
                <a:spcPts val="300"/>
              </a:spcBef>
              <a:spcAft>
                <a:spcPts val="300"/>
              </a:spcAft>
              <a:buSzPct val="100000"/>
              <a:buFont typeface="+mj-lt"/>
              <a:buAutoNum type="arabicPeriod"/>
            </a:pP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管理员在</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上对网络进行规划、配置发放。</a:t>
            </a:r>
            <a:endPar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7" name="文本框 26"/>
          <p:cNvSpPr txBox="1"/>
          <p:nvPr/>
        </p:nvSpPr>
        <p:spPr bwMode="gray">
          <a:xfrm>
            <a:off x="2587071" y="5262038"/>
            <a:ext cx="954107"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Access</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97" descr="接入交换机.png"/>
          <p:cNvPicPr>
            <a:picLocks noChangeAspect="1"/>
          </p:cNvPicPr>
          <p:nvPr/>
        </p:nvPicPr>
        <p:blipFill>
          <a:blip r:embed="rId5" cstate="print"/>
          <a:stretch>
            <a:fillRect/>
          </a:stretch>
        </p:blipFill>
        <p:spPr bwMode="gray">
          <a:xfrm>
            <a:off x="2091759" y="5288494"/>
            <a:ext cx="490909" cy="401653"/>
          </a:xfrm>
          <a:prstGeom prst="rect">
            <a:avLst/>
          </a:prstGeom>
        </p:spPr>
      </p:pic>
      <p:pic>
        <p:nvPicPr>
          <p:cNvPr id="30" name="图片 100" descr="汇聚交换机.png"/>
          <p:cNvPicPr>
            <a:picLocks noChangeAspect="1"/>
          </p:cNvPicPr>
          <p:nvPr/>
        </p:nvPicPr>
        <p:blipFill>
          <a:blip r:embed="rId6" cstate="print"/>
          <a:stretch>
            <a:fillRect/>
          </a:stretch>
        </p:blipFill>
        <p:spPr bwMode="gray">
          <a:xfrm>
            <a:off x="2088035" y="4262436"/>
            <a:ext cx="490909" cy="401653"/>
          </a:xfrm>
          <a:prstGeom prst="rect">
            <a:avLst/>
          </a:prstGeom>
        </p:spPr>
      </p:pic>
      <p:pic>
        <p:nvPicPr>
          <p:cNvPr id="29" name="图片 28"/>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2091759" y="2364768"/>
            <a:ext cx="487185" cy="399492"/>
          </a:xfrm>
          <a:prstGeom prst="rect">
            <a:avLst/>
          </a:prstGeom>
        </p:spPr>
      </p:pic>
      <p:sp>
        <p:nvSpPr>
          <p:cNvPr id="34" name="五边形 33"/>
          <p:cNvSpPr/>
          <p:nvPr/>
        </p:nvSpPr>
        <p:spPr bwMode="gray">
          <a:xfrm>
            <a:off x="6730479"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gray">
          <a:xfrm>
            <a:off x="736713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800379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37" name="燕尾形 36"/>
          <p:cNvSpPr/>
          <p:nvPr/>
        </p:nvSpPr>
        <p:spPr bwMode="gray">
          <a:xfrm>
            <a:off x="8640453"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gray">
          <a:xfrm>
            <a:off x="9277111" y="114957"/>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Straight Connector 74"/>
          <p:cNvCxnSpPr>
            <a:endCxn id="28" idx="1"/>
          </p:cNvCxnSpPr>
          <p:nvPr/>
        </p:nvCxnSpPr>
        <p:spPr bwMode="gray">
          <a:xfrm>
            <a:off x="1238306" y="5489321"/>
            <a:ext cx="8534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560348" y="5640776"/>
            <a:ext cx="954107"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a:t>
            </a:r>
          </a:p>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40"/>
          <p:cNvSpPr/>
          <p:nvPr/>
        </p:nvSpPr>
        <p:spPr bwMode="gray">
          <a:xfrm>
            <a:off x="2404526" y="3360585"/>
            <a:ext cx="254203" cy="126781"/>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42"/>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788260" y="5295985"/>
            <a:ext cx="471550" cy="386671"/>
          </a:xfrm>
          <a:prstGeom prst="rect">
            <a:avLst/>
          </a:prstGeom>
        </p:spPr>
      </p:pic>
    </p:spTree>
    <p:extLst>
      <p:ext uri="{BB962C8B-B14F-4D97-AF65-F5344CB8AC3E}">
        <p14:creationId xmlns:p14="http://schemas.microsoft.com/office/powerpoint/2010/main" val="16131093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网络开局流程：先完成规划，设备再上线</a:t>
            </a:r>
          </a:p>
        </p:txBody>
      </p:sp>
      <p:sp>
        <p:nvSpPr>
          <p:cNvPr id="23" name="圆角矩形 75"/>
          <p:cNvSpPr/>
          <p:nvPr/>
        </p:nvSpPr>
        <p:spPr bwMode="gray">
          <a:xfrm>
            <a:off x="4132122" y="1164446"/>
            <a:ext cx="7264805" cy="360000"/>
          </a:xfrm>
          <a:prstGeom prst="roundRect">
            <a:avLst>
              <a:gd name="adj" fmla="val 10604"/>
            </a:avLst>
          </a:prstGeom>
          <a:gradFill>
            <a:gsLst>
              <a:gs pos="0">
                <a:schemeClr val="bg1"/>
              </a:gs>
              <a:gs pos="100000">
                <a:schemeClr val="bg1">
                  <a:lumMod val="75000"/>
                </a:schemeClr>
              </a:gs>
            </a:gsLst>
            <a:lin ang="5400000" scaled="1"/>
          </a:gra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准备工作</a:t>
            </a:r>
          </a:p>
        </p:txBody>
      </p:sp>
      <p:sp>
        <p:nvSpPr>
          <p:cNvPr id="24" name="圆角矩形 75"/>
          <p:cNvSpPr/>
          <p:nvPr/>
        </p:nvSpPr>
        <p:spPr bwMode="gray">
          <a:xfrm>
            <a:off x="4132122" y="1568405"/>
            <a:ext cx="7264805" cy="1746636"/>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管理员在核心交换机（</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Core</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）部署</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DHCP</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服务器功能，配置</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Option 148</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管理员在</a:t>
            </a:r>
            <a:r>
              <a:rPr lang="en-US" altLang="zh-CN" sz="12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NCE-Campus</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创建园区站点。</a:t>
            </a:r>
            <a:endPar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300"/>
              </a:spcAft>
              <a:buFont typeface="Arial" panose="020B0604020202020204" pitchFamily="34" charset="0"/>
              <a:buChar char="•"/>
            </a:pP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管理员根据</a:t>
            </a:r>
            <a:r>
              <a:rPr lang="en-US" altLang="zh-CN"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NCE-Campus</a:t>
            </a: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提供的模板（</a:t>
            </a:r>
            <a:r>
              <a:rPr lang="en-US" altLang="zh-CN"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Excel</a:t>
            </a: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文档）进行网络拓扑规划，完成后将该模板导入</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管理员配置</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Core</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，使其被</a:t>
            </a:r>
            <a:r>
              <a:rPr lang="en-US" altLang="zh-CN" sz="12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NCE-Campus</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纳管。</a:t>
            </a:r>
            <a:endPar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5" name="圆角矩形 75"/>
          <p:cNvSpPr/>
          <p:nvPr/>
        </p:nvSpPr>
        <p:spPr bwMode="gray">
          <a:xfrm>
            <a:off x="4132122" y="3483967"/>
            <a:ext cx="7264805"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待开局设备的上线过程</a:t>
            </a:r>
          </a:p>
        </p:txBody>
      </p:sp>
      <p:sp>
        <p:nvSpPr>
          <p:cNvPr id="26" name="圆角矩形 75"/>
          <p:cNvSpPr/>
          <p:nvPr/>
        </p:nvSpPr>
        <p:spPr bwMode="gray">
          <a:xfrm>
            <a:off x="4132122" y="3887926"/>
            <a:ext cx="7264805" cy="1855323"/>
          </a:xfrm>
          <a:prstGeom prst="roundRect">
            <a:avLst>
              <a:gd name="adj" fmla="val 1463"/>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342900" lvl="0" indent="-342900" algn="just" defTabSz="914034">
              <a:lnSpc>
                <a:spcPct val="130000"/>
              </a:lnSpc>
              <a:spcBef>
                <a:spcPts val="300"/>
              </a:spcBef>
              <a:spcAft>
                <a:spcPts val="300"/>
              </a:spcAft>
              <a:buSzPct val="100000"/>
              <a:buFont typeface="+mj-lt"/>
              <a:buAutoNum type="arabicPeriod"/>
            </a:pP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Aggregation</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Access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加电，分别完成</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PnP VLAN</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协商、</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DHCP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报文交互过程，然后向</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注册。</a:t>
            </a:r>
            <a:endPar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42900" lvl="0" indent="-342900" algn="just" defTabSz="914034">
              <a:lnSpc>
                <a:spcPct val="130000"/>
              </a:lnSpc>
              <a:spcBef>
                <a:spcPts val="300"/>
              </a:spcBef>
              <a:spcAft>
                <a:spcPts val="300"/>
              </a:spcAft>
              <a:buSzPct val="100000"/>
              <a:buFont typeface="+mj-lt"/>
              <a:buAutoNum type="arabicPeriod"/>
            </a:pP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Aggregation</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Access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被</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纳管，向其上报</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LLDP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邻居信息，</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根据设备上报的</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LLDP</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信息与此前管理员上传的网络拓扑规划文档进行比对，如果发现拓扑不一致则进行报错，</a:t>
            </a:r>
            <a:r>
              <a:rPr lang="zh-CN" altLang="en-US" sz="1200"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管理员可根据报错提示进行拓扑纠错。</a:t>
            </a:r>
            <a:endParaRPr lang="en-US" altLang="zh-CN" sz="1200"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42900" indent="-342900" algn="just" defTabSz="914034">
              <a:lnSpc>
                <a:spcPct val="130000"/>
              </a:lnSpc>
              <a:spcBef>
                <a:spcPts val="300"/>
              </a:spcBef>
              <a:spcAft>
                <a:spcPts val="300"/>
              </a:spcAft>
              <a:buSzPct val="100000"/>
              <a:buFont typeface="+mj-lt"/>
              <a:buAutoNum type="arabicPeriod"/>
            </a:pP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管理员在</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上对设备进行离线预配置。设备上线后，自动获得相应配置。</a:t>
            </a:r>
          </a:p>
        </p:txBody>
      </p:sp>
      <p:sp>
        <p:nvSpPr>
          <p:cNvPr id="34" name="五边形 33"/>
          <p:cNvSpPr/>
          <p:nvPr/>
        </p:nvSpPr>
        <p:spPr bwMode="gray">
          <a:xfrm>
            <a:off x="6730479"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gray">
          <a:xfrm>
            <a:off x="736713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800379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37" name="燕尾形 36"/>
          <p:cNvSpPr/>
          <p:nvPr/>
        </p:nvSpPr>
        <p:spPr bwMode="gray">
          <a:xfrm>
            <a:off x="8640453"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gray">
          <a:xfrm>
            <a:off x="9277111" y="114957"/>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gray">
          <a:xfrm>
            <a:off x="10093767" y="114957"/>
            <a:ext cx="1656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Straight Connector 167"/>
          <p:cNvCxnSpPr>
            <a:stCxn id="54" idx="0"/>
          </p:cNvCxnSpPr>
          <p:nvPr/>
        </p:nvCxnSpPr>
        <p:spPr bwMode="gray">
          <a:xfrm flipH="1" flipV="1">
            <a:off x="2337213" y="1391175"/>
            <a:ext cx="1" cy="389731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gray">
          <a:xfrm>
            <a:off x="1146807" y="3436185"/>
            <a:ext cx="1139367"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29" name="图片 86" descr="核心交换机.png"/>
          <p:cNvPicPr>
            <a:picLocks noChangeAspect="1"/>
          </p:cNvPicPr>
          <p:nvPr/>
        </p:nvPicPr>
        <p:blipFill>
          <a:blip r:embed="rId3" cstate="print"/>
          <a:stretch>
            <a:fillRect/>
          </a:stretch>
        </p:blipFill>
        <p:spPr bwMode="gray">
          <a:xfrm>
            <a:off x="2091759" y="3211387"/>
            <a:ext cx="490909" cy="401653"/>
          </a:xfrm>
          <a:prstGeom prst="rect">
            <a:avLst/>
          </a:prstGeom>
        </p:spPr>
      </p:pic>
      <p:sp>
        <p:nvSpPr>
          <p:cNvPr id="30" name="文本框 29"/>
          <p:cNvSpPr txBox="1"/>
          <p:nvPr/>
        </p:nvSpPr>
        <p:spPr bwMode="gray">
          <a:xfrm>
            <a:off x="2634335" y="3180481"/>
            <a:ext cx="1317990"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2587071" y="4249208"/>
            <a:ext cx="1047082"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Aggregation</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159"/>
          <p:cNvSpPr/>
          <p:nvPr/>
        </p:nvSpPr>
        <p:spPr bwMode="gray">
          <a:xfrm flipH="1">
            <a:off x="1882472" y="1153469"/>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2848" y="3189621"/>
            <a:ext cx="951607" cy="540946"/>
          </a:xfrm>
          <a:prstGeom prst="rect">
            <a:avLst/>
          </a:prstGeom>
        </p:spPr>
      </p:pic>
      <p:sp>
        <p:nvSpPr>
          <p:cNvPr id="38" name="文本框 37"/>
          <p:cNvSpPr txBox="1"/>
          <p:nvPr/>
        </p:nvSpPr>
        <p:spPr bwMode="gray">
          <a:xfrm>
            <a:off x="2587071" y="2409798"/>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出口网关</a:t>
            </a:r>
          </a:p>
        </p:txBody>
      </p:sp>
      <p:sp>
        <p:nvSpPr>
          <p:cNvPr id="42" name="文本框 41"/>
          <p:cNvSpPr txBox="1"/>
          <p:nvPr/>
        </p:nvSpPr>
        <p:spPr bwMode="gray">
          <a:xfrm>
            <a:off x="2587071" y="5262038"/>
            <a:ext cx="954107"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Access</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4" name="图片 97" descr="接入交换机.png"/>
          <p:cNvPicPr>
            <a:picLocks noChangeAspect="1"/>
          </p:cNvPicPr>
          <p:nvPr/>
        </p:nvPicPr>
        <p:blipFill>
          <a:blip r:embed="rId5" cstate="print"/>
          <a:stretch>
            <a:fillRect/>
          </a:stretch>
        </p:blipFill>
        <p:spPr bwMode="gray">
          <a:xfrm>
            <a:off x="2091759" y="5288494"/>
            <a:ext cx="490909" cy="401653"/>
          </a:xfrm>
          <a:prstGeom prst="rect">
            <a:avLst/>
          </a:prstGeom>
        </p:spPr>
      </p:pic>
      <p:pic>
        <p:nvPicPr>
          <p:cNvPr id="55" name="图片 100" descr="汇聚交换机.png"/>
          <p:cNvPicPr>
            <a:picLocks noChangeAspect="1"/>
          </p:cNvPicPr>
          <p:nvPr/>
        </p:nvPicPr>
        <p:blipFill>
          <a:blip r:embed="rId6" cstate="print"/>
          <a:stretch>
            <a:fillRect/>
          </a:stretch>
        </p:blipFill>
        <p:spPr bwMode="gray">
          <a:xfrm>
            <a:off x="2088035" y="4262436"/>
            <a:ext cx="490909" cy="401653"/>
          </a:xfrm>
          <a:prstGeom prst="rect">
            <a:avLst/>
          </a:prstGeom>
        </p:spPr>
      </p:pic>
      <p:pic>
        <p:nvPicPr>
          <p:cNvPr id="56" name="图片 55"/>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2091759" y="2364768"/>
            <a:ext cx="487185" cy="399492"/>
          </a:xfrm>
          <a:prstGeom prst="rect">
            <a:avLst/>
          </a:prstGeom>
        </p:spPr>
      </p:pic>
      <p:cxnSp>
        <p:nvCxnSpPr>
          <p:cNvPr id="58" name="Straight Connector 74"/>
          <p:cNvCxnSpPr>
            <a:endCxn id="54" idx="1"/>
          </p:cNvCxnSpPr>
          <p:nvPr/>
        </p:nvCxnSpPr>
        <p:spPr bwMode="gray">
          <a:xfrm>
            <a:off x="1238306" y="5489321"/>
            <a:ext cx="8534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圆角矩形 59"/>
          <p:cNvSpPr/>
          <p:nvPr/>
        </p:nvSpPr>
        <p:spPr bwMode="gray">
          <a:xfrm>
            <a:off x="2404526" y="3360585"/>
            <a:ext cx="254203" cy="126781"/>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560348" y="5640776"/>
            <a:ext cx="954107"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a:t>
            </a:r>
          </a:p>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待开局设备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42"/>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788260" y="5295985"/>
            <a:ext cx="471550" cy="386671"/>
          </a:xfrm>
          <a:prstGeom prst="rect">
            <a:avLst/>
          </a:prstGeom>
        </p:spPr>
      </p:pic>
    </p:spTree>
    <p:extLst>
      <p:ext uri="{BB962C8B-B14F-4D97-AF65-F5344CB8AC3E}">
        <p14:creationId xmlns:p14="http://schemas.microsoft.com/office/powerpoint/2010/main" val="810211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圆角矩形 75"/>
          <p:cNvSpPr/>
          <p:nvPr/>
        </p:nvSpPr>
        <p:spPr bwMode="gray">
          <a:xfrm>
            <a:off x="6204575" y="1109668"/>
            <a:ext cx="5508000" cy="4991735"/>
          </a:xfrm>
          <a:prstGeom prst="roundRect">
            <a:avLst>
              <a:gd name="adj" fmla="val 874"/>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04" name="图片 103"/>
          <p:cNvPicPr/>
          <p:nvPr/>
        </p:nvPicPr>
        <p:blipFill rotWithShape="1">
          <a:blip r:embed="rId3"/>
          <a:srcRect r="22201" b="31673"/>
          <a:stretch/>
        </p:blipFill>
        <p:spPr>
          <a:xfrm>
            <a:off x="6440105" y="1865983"/>
            <a:ext cx="5155999" cy="2765567"/>
          </a:xfrm>
          <a:prstGeom prst="rect">
            <a:avLst/>
          </a:prstGeom>
          <a:ln w="12700">
            <a:solidFill>
              <a:schemeClr val="bg1">
                <a:lumMod val="85000"/>
              </a:schemeClr>
            </a:solidFill>
          </a:ln>
        </p:spPr>
      </p:pic>
      <p:sp>
        <p:nvSpPr>
          <p:cNvPr id="72" name="圆角矩形 75"/>
          <p:cNvSpPr/>
          <p:nvPr/>
        </p:nvSpPr>
        <p:spPr bwMode="gray">
          <a:xfrm>
            <a:off x="455613" y="3793497"/>
            <a:ext cx="5442082" cy="2307906"/>
          </a:xfrm>
          <a:prstGeom prst="roundRect">
            <a:avLst>
              <a:gd name="adj" fmla="val 874"/>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7" name="Freeform 159"/>
          <p:cNvSpPr/>
          <p:nvPr/>
        </p:nvSpPr>
        <p:spPr bwMode="gray">
          <a:xfrm flipH="1">
            <a:off x="1916784" y="4221306"/>
            <a:ext cx="2701623" cy="154656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Underlay</a:t>
            </a:r>
            <a:r>
              <a:rPr lang="zh-CN" altLang="en-US" dirty="0">
                <a:sym typeface="Huawei Sans" panose="020C0503030203020204" pitchFamily="34" charset="0"/>
              </a:rPr>
              <a:t>网络自动化</a:t>
            </a:r>
          </a:p>
        </p:txBody>
      </p:sp>
      <p:sp>
        <p:nvSpPr>
          <p:cNvPr id="38" name="圆角矩形 75"/>
          <p:cNvSpPr/>
          <p:nvPr/>
        </p:nvSpPr>
        <p:spPr bwMode="gray">
          <a:xfrm>
            <a:off x="455613" y="1106556"/>
            <a:ext cx="5442082" cy="2307906"/>
          </a:xfrm>
          <a:prstGeom prst="roundRect">
            <a:avLst>
              <a:gd name="adj" fmla="val 874"/>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45" name="Straight Connector 166"/>
          <p:cNvCxnSpPr/>
          <p:nvPr/>
        </p:nvCxnSpPr>
        <p:spPr bwMode="gray">
          <a:xfrm flipH="1">
            <a:off x="1903895" y="2239516"/>
            <a:ext cx="1" cy="567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166"/>
          <p:cNvCxnSpPr/>
          <p:nvPr/>
        </p:nvCxnSpPr>
        <p:spPr bwMode="gray">
          <a:xfrm flipH="1">
            <a:off x="4556059" y="2239516"/>
            <a:ext cx="1" cy="567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 name="Group 165"/>
          <p:cNvGrpSpPr/>
          <p:nvPr/>
        </p:nvGrpSpPr>
        <p:grpSpPr bwMode="gray">
          <a:xfrm rot="10800000">
            <a:off x="2072410" y="1388631"/>
            <a:ext cx="2316710" cy="567668"/>
            <a:chOff x="-1233037" y="914446"/>
            <a:chExt cx="1573823" cy="778776"/>
          </a:xfrm>
        </p:grpSpPr>
        <p:cxnSp>
          <p:nvCxnSpPr>
            <p:cNvPr id="56"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60" name="直接箭头连接符 59"/>
          <p:cNvCxnSpPr/>
          <p:nvPr/>
        </p:nvCxnSpPr>
        <p:spPr bwMode="gray">
          <a:xfrm flipV="1">
            <a:off x="7826254" y="4250397"/>
            <a:ext cx="0" cy="795043"/>
          </a:xfrm>
          <a:prstGeom prst="straightConnector1">
            <a:avLst/>
          </a:prstGeom>
          <a:ln w="38100">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179"/>
          <p:cNvSpPr txBox="1"/>
          <p:nvPr/>
        </p:nvSpPr>
        <p:spPr bwMode="gray">
          <a:xfrm>
            <a:off x="6911021" y="4788305"/>
            <a:ext cx="3939859" cy="555930"/>
          </a:xfrm>
          <a:prstGeom prst="roundRect">
            <a:avLst>
              <a:gd name="adj" fmla="val 12806"/>
            </a:avLst>
          </a:prstGeom>
          <a:solidFill>
            <a:srgbClr val="C7000B"/>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lnSpc>
                <a:spcPts val="1800"/>
              </a:lnSpc>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使能自动配置路由域：</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algn="l">
              <a:lnSpc>
                <a:spcPts val="1800"/>
              </a:lnSpc>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可定义</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区域（单区域或多区域）及报文认证功能。</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a:off x="6692105" y="1445623"/>
            <a:ext cx="4738955" cy="325602"/>
          </a:xfrm>
          <a:prstGeom prst="rect">
            <a:avLst/>
          </a:prstGeom>
        </p:spPr>
        <p:txBody>
          <a:bodyPr wrap="square">
            <a:spAutoFit/>
          </a:bodyPr>
          <a:lstStyle/>
          <a:p>
            <a:pPr algn="just">
              <a:lnSpc>
                <a:spcPts val="2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可完成</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网络自动化部署：</a:t>
            </a:r>
          </a:p>
        </p:txBody>
      </p:sp>
      <p:pic>
        <p:nvPicPr>
          <p:cNvPr id="63" name="图片 86" descr="核心交换机.png"/>
          <p:cNvPicPr>
            <a:picLocks noChangeAspect="1"/>
          </p:cNvPicPr>
          <p:nvPr/>
        </p:nvPicPr>
        <p:blipFill>
          <a:blip r:embed="rId4"/>
          <a:stretch>
            <a:fillRect/>
          </a:stretch>
        </p:blipFill>
        <p:spPr bwMode="gray">
          <a:xfrm>
            <a:off x="3027556" y="1258436"/>
            <a:ext cx="406420" cy="332527"/>
          </a:xfrm>
          <a:prstGeom prst="rect">
            <a:avLst/>
          </a:prstGeom>
        </p:spPr>
      </p:pic>
      <p:pic>
        <p:nvPicPr>
          <p:cNvPr id="64" name="图片 87" descr="汇聚交换机.png"/>
          <p:cNvPicPr>
            <a:picLocks noChangeAspect="1"/>
          </p:cNvPicPr>
          <p:nvPr/>
        </p:nvPicPr>
        <p:blipFill>
          <a:blip r:embed="rId5"/>
          <a:stretch>
            <a:fillRect/>
          </a:stretch>
        </p:blipFill>
        <p:spPr bwMode="gray">
          <a:xfrm>
            <a:off x="1700685" y="1947141"/>
            <a:ext cx="406420" cy="332527"/>
          </a:xfrm>
          <a:prstGeom prst="rect">
            <a:avLst/>
          </a:prstGeom>
        </p:spPr>
      </p:pic>
      <p:pic>
        <p:nvPicPr>
          <p:cNvPr id="65" name="图片 76" descr="接入交换机.png"/>
          <p:cNvPicPr>
            <a:picLocks noChangeAspect="1"/>
          </p:cNvPicPr>
          <p:nvPr/>
        </p:nvPicPr>
        <p:blipFill>
          <a:blip r:embed="rId6"/>
          <a:stretch>
            <a:fillRect/>
          </a:stretch>
        </p:blipFill>
        <p:spPr bwMode="gray">
          <a:xfrm>
            <a:off x="1701908" y="2742027"/>
            <a:ext cx="406420" cy="332527"/>
          </a:xfrm>
          <a:prstGeom prst="rect">
            <a:avLst/>
          </a:prstGeom>
        </p:spPr>
      </p:pic>
      <p:pic>
        <p:nvPicPr>
          <p:cNvPr id="66" name="图片 87" descr="汇聚交换机.png"/>
          <p:cNvPicPr>
            <a:picLocks noChangeAspect="1"/>
          </p:cNvPicPr>
          <p:nvPr/>
        </p:nvPicPr>
        <p:blipFill>
          <a:blip r:embed="rId5"/>
          <a:stretch>
            <a:fillRect/>
          </a:stretch>
        </p:blipFill>
        <p:spPr bwMode="gray">
          <a:xfrm>
            <a:off x="4354426" y="1947141"/>
            <a:ext cx="406420" cy="332527"/>
          </a:xfrm>
          <a:prstGeom prst="rect">
            <a:avLst/>
          </a:prstGeom>
        </p:spPr>
      </p:pic>
      <p:pic>
        <p:nvPicPr>
          <p:cNvPr id="67" name="图片 76" descr="接入交换机.png"/>
          <p:cNvPicPr>
            <a:picLocks noChangeAspect="1"/>
          </p:cNvPicPr>
          <p:nvPr/>
        </p:nvPicPr>
        <p:blipFill>
          <a:blip r:embed="rId6"/>
          <a:stretch>
            <a:fillRect/>
          </a:stretch>
        </p:blipFill>
        <p:spPr bwMode="gray">
          <a:xfrm>
            <a:off x="4355649" y="2742027"/>
            <a:ext cx="406420" cy="332527"/>
          </a:xfrm>
          <a:prstGeom prst="rect">
            <a:avLst/>
          </a:prstGeom>
        </p:spPr>
      </p:pic>
      <p:sp>
        <p:nvSpPr>
          <p:cNvPr id="68" name="文本框 67"/>
          <p:cNvSpPr txBox="1"/>
          <p:nvPr/>
        </p:nvSpPr>
        <p:spPr bwMode="gray">
          <a:xfrm>
            <a:off x="2265809" y="1230712"/>
            <a:ext cx="761747" cy="307777"/>
          </a:xfrm>
          <a:prstGeom prst="rect">
            <a:avLst/>
          </a:prstGeom>
          <a:noFill/>
        </p:spPr>
        <p:txBody>
          <a:bodyPr wrap="none" rtlCol="0">
            <a:spAutoFit/>
          </a:bodyPr>
          <a:lstStyle/>
          <a:p>
            <a:pPr algn="ctr" font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69" name="文本框 68"/>
          <p:cNvSpPr txBox="1"/>
          <p:nvPr/>
        </p:nvSpPr>
        <p:spPr bwMode="gray">
          <a:xfrm>
            <a:off x="1079312" y="2737534"/>
            <a:ext cx="604653" cy="307777"/>
          </a:xfrm>
          <a:prstGeom prst="rect">
            <a:avLst/>
          </a:prstGeom>
          <a:noFill/>
        </p:spPr>
        <p:txBody>
          <a:bodyPr wrap="none" rtlCol="0">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bwMode="gray">
          <a:xfrm>
            <a:off x="4725228" y="2737534"/>
            <a:ext cx="604653" cy="307777"/>
          </a:xfrm>
          <a:prstGeom prst="rect">
            <a:avLst/>
          </a:prstGeom>
          <a:noFill/>
        </p:spPr>
        <p:txBody>
          <a:bodyPr wrap="none" rtlCol="0">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70"/>
          <p:cNvSpPr/>
          <p:nvPr/>
        </p:nvSpPr>
        <p:spPr bwMode="gray">
          <a:xfrm>
            <a:off x="2237481" y="1956299"/>
            <a:ext cx="1949000" cy="1374735"/>
          </a:xfrm>
          <a:prstGeom prst="rect">
            <a:avLst/>
          </a:prstGeom>
        </p:spPr>
        <p:txBody>
          <a:bodyPr wrap="square">
            <a:spAutoFit/>
          </a:bodyPr>
          <a:lstStyle/>
          <a:p>
            <a:pPr marL="171450" indent="-171450" algn="just">
              <a:lnSpc>
                <a:spcPts val="20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管理员在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控制器上指定</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节点角色。</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gn="just">
              <a:lnSpc>
                <a:spcPts val="2000"/>
              </a:lnSpc>
              <a:buFont typeface="Arial" panose="020B0604020202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自动发现网络拓扑。</a:t>
            </a:r>
          </a:p>
        </p:txBody>
      </p:sp>
      <p:sp>
        <p:nvSpPr>
          <p:cNvPr id="73" name="Oval 4"/>
          <p:cNvSpPr>
            <a:spLocks noChangeAspect="1"/>
          </p:cNvSpPr>
          <p:nvPr/>
        </p:nvSpPr>
        <p:spPr bwMode="gray">
          <a:xfrm>
            <a:off x="3114029" y="1739983"/>
            <a:ext cx="252000" cy="25200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Oval 4"/>
          <p:cNvSpPr>
            <a:spLocks noChangeAspect="1"/>
          </p:cNvSpPr>
          <p:nvPr/>
        </p:nvSpPr>
        <p:spPr bwMode="gray">
          <a:xfrm>
            <a:off x="6440105" y="1494029"/>
            <a:ext cx="252000" cy="25200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5" name="Straight Connector 166"/>
          <p:cNvCxnSpPr/>
          <p:nvPr/>
        </p:nvCxnSpPr>
        <p:spPr bwMode="gray">
          <a:xfrm flipH="1">
            <a:off x="1903895" y="5005288"/>
            <a:ext cx="1" cy="567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166"/>
          <p:cNvCxnSpPr/>
          <p:nvPr/>
        </p:nvCxnSpPr>
        <p:spPr bwMode="gray">
          <a:xfrm flipH="1">
            <a:off x="4556059" y="5005288"/>
            <a:ext cx="1" cy="567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7" name="Group 165"/>
          <p:cNvGrpSpPr/>
          <p:nvPr/>
        </p:nvGrpSpPr>
        <p:grpSpPr bwMode="gray">
          <a:xfrm rot="10800000">
            <a:off x="2072410" y="4154403"/>
            <a:ext cx="2316710" cy="567668"/>
            <a:chOff x="-1233037" y="914446"/>
            <a:chExt cx="1573823" cy="778776"/>
          </a:xfrm>
        </p:grpSpPr>
        <p:cxnSp>
          <p:nvCxnSpPr>
            <p:cNvPr id="78"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80" name="图片 86" descr="核心交换机.png"/>
          <p:cNvPicPr>
            <a:picLocks noChangeAspect="1"/>
          </p:cNvPicPr>
          <p:nvPr/>
        </p:nvPicPr>
        <p:blipFill>
          <a:blip r:embed="rId4"/>
          <a:stretch>
            <a:fillRect/>
          </a:stretch>
        </p:blipFill>
        <p:spPr bwMode="gray">
          <a:xfrm>
            <a:off x="3027556" y="4024208"/>
            <a:ext cx="406420" cy="332527"/>
          </a:xfrm>
          <a:prstGeom prst="rect">
            <a:avLst/>
          </a:prstGeom>
        </p:spPr>
      </p:pic>
      <p:pic>
        <p:nvPicPr>
          <p:cNvPr id="81" name="图片 87" descr="汇聚交换机.png"/>
          <p:cNvPicPr>
            <a:picLocks noChangeAspect="1"/>
          </p:cNvPicPr>
          <p:nvPr/>
        </p:nvPicPr>
        <p:blipFill>
          <a:blip r:embed="rId5"/>
          <a:stretch>
            <a:fillRect/>
          </a:stretch>
        </p:blipFill>
        <p:spPr bwMode="gray">
          <a:xfrm>
            <a:off x="1700685" y="4712913"/>
            <a:ext cx="406420" cy="332527"/>
          </a:xfrm>
          <a:prstGeom prst="rect">
            <a:avLst/>
          </a:prstGeom>
        </p:spPr>
      </p:pic>
      <p:pic>
        <p:nvPicPr>
          <p:cNvPr id="82" name="图片 76" descr="接入交换机.png"/>
          <p:cNvPicPr>
            <a:picLocks noChangeAspect="1"/>
          </p:cNvPicPr>
          <p:nvPr/>
        </p:nvPicPr>
        <p:blipFill>
          <a:blip r:embed="rId6"/>
          <a:stretch>
            <a:fillRect/>
          </a:stretch>
        </p:blipFill>
        <p:spPr bwMode="gray">
          <a:xfrm>
            <a:off x="1701908" y="5507799"/>
            <a:ext cx="406420" cy="332527"/>
          </a:xfrm>
          <a:prstGeom prst="rect">
            <a:avLst/>
          </a:prstGeom>
        </p:spPr>
      </p:pic>
      <p:pic>
        <p:nvPicPr>
          <p:cNvPr id="83" name="图片 87" descr="汇聚交换机.png"/>
          <p:cNvPicPr>
            <a:picLocks noChangeAspect="1"/>
          </p:cNvPicPr>
          <p:nvPr/>
        </p:nvPicPr>
        <p:blipFill>
          <a:blip r:embed="rId5"/>
          <a:stretch>
            <a:fillRect/>
          </a:stretch>
        </p:blipFill>
        <p:spPr bwMode="gray">
          <a:xfrm>
            <a:off x="4354426" y="4712913"/>
            <a:ext cx="406420" cy="332527"/>
          </a:xfrm>
          <a:prstGeom prst="rect">
            <a:avLst/>
          </a:prstGeom>
        </p:spPr>
      </p:pic>
      <p:pic>
        <p:nvPicPr>
          <p:cNvPr id="84" name="图片 76" descr="接入交换机.png"/>
          <p:cNvPicPr>
            <a:picLocks noChangeAspect="1"/>
          </p:cNvPicPr>
          <p:nvPr/>
        </p:nvPicPr>
        <p:blipFill>
          <a:blip r:embed="rId6"/>
          <a:stretch>
            <a:fillRect/>
          </a:stretch>
        </p:blipFill>
        <p:spPr bwMode="gray">
          <a:xfrm>
            <a:off x="4355649" y="5507799"/>
            <a:ext cx="406420" cy="332527"/>
          </a:xfrm>
          <a:prstGeom prst="rect">
            <a:avLst/>
          </a:prstGeom>
        </p:spPr>
      </p:pic>
      <p:sp>
        <p:nvSpPr>
          <p:cNvPr id="85" name="文本框 84"/>
          <p:cNvSpPr txBox="1"/>
          <p:nvPr/>
        </p:nvSpPr>
        <p:spPr bwMode="gray">
          <a:xfrm>
            <a:off x="2265809" y="3996484"/>
            <a:ext cx="761747" cy="307777"/>
          </a:xfrm>
          <a:prstGeom prst="rect">
            <a:avLst/>
          </a:prstGeom>
          <a:noFill/>
        </p:spPr>
        <p:txBody>
          <a:bodyPr wrap="none" rtlCol="0">
            <a:spAutoFit/>
          </a:bodyPr>
          <a:lstStyle/>
          <a:p>
            <a:pPr algn="ctr" font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86" name="文本框 85"/>
          <p:cNvSpPr txBox="1"/>
          <p:nvPr/>
        </p:nvSpPr>
        <p:spPr bwMode="gray">
          <a:xfrm>
            <a:off x="1079312" y="5503306"/>
            <a:ext cx="604653" cy="307777"/>
          </a:xfrm>
          <a:prstGeom prst="rect">
            <a:avLst/>
          </a:prstGeom>
          <a:noFill/>
        </p:spPr>
        <p:txBody>
          <a:bodyPr wrap="none" rtlCol="0">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p:cNvSpPr txBox="1"/>
          <p:nvPr/>
        </p:nvSpPr>
        <p:spPr bwMode="gray">
          <a:xfrm>
            <a:off x="4725228" y="5503306"/>
            <a:ext cx="604653" cy="307777"/>
          </a:xfrm>
          <a:prstGeom prst="rect">
            <a:avLst/>
          </a:prstGeom>
          <a:noFill/>
        </p:spPr>
        <p:txBody>
          <a:bodyPr wrap="none" rtlCol="0">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p:cNvSpPr txBox="1"/>
          <p:nvPr/>
        </p:nvSpPr>
        <p:spPr bwMode="gray">
          <a:xfrm>
            <a:off x="2585848" y="5010616"/>
            <a:ext cx="1252266" cy="307777"/>
          </a:xfrm>
          <a:prstGeom prst="rect">
            <a:avLst/>
          </a:prstGeom>
          <a:noFill/>
        </p:spPr>
        <p:txBody>
          <a:bodyPr wrap="none" rtlCol="0">
            <a:spAutoFit/>
          </a:bodyPr>
          <a:lstStyle/>
          <a:p>
            <a:pPr algn="ctr" font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OSPF Area 0</a:t>
            </a:r>
          </a:p>
        </p:txBody>
      </p:sp>
      <p:cxnSp>
        <p:nvCxnSpPr>
          <p:cNvPr id="89" name="直接箭头连接符 88"/>
          <p:cNvCxnSpPr/>
          <p:nvPr/>
        </p:nvCxnSpPr>
        <p:spPr bwMode="gray">
          <a:xfrm flipV="1">
            <a:off x="2228724" y="4390196"/>
            <a:ext cx="770344" cy="396686"/>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p:nvPr/>
        </p:nvCxnSpPr>
        <p:spPr bwMode="gray">
          <a:xfrm flipH="1" flipV="1">
            <a:off x="3467012" y="4400356"/>
            <a:ext cx="747676" cy="365336"/>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p:nvPr/>
        </p:nvCxnSpPr>
        <p:spPr bwMode="gray">
          <a:xfrm flipV="1">
            <a:off x="2003972" y="5099842"/>
            <a:ext cx="0" cy="393304"/>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bwMode="gray">
          <a:xfrm flipV="1">
            <a:off x="4432212" y="5099842"/>
            <a:ext cx="0" cy="393304"/>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bwMode="gray">
          <a:xfrm flipH="1" flipV="1">
            <a:off x="4903905" y="4282789"/>
            <a:ext cx="684967" cy="0"/>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文本框 93"/>
          <p:cNvSpPr txBox="1"/>
          <p:nvPr/>
        </p:nvSpPr>
        <p:spPr bwMode="gray">
          <a:xfrm>
            <a:off x="4762069" y="3929640"/>
            <a:ext cx="992579" cy="307777"/>
          </a:xfrm>
          <a:prstGeom prst="rect">
            <a:avLst/>
          </a:prstGeom>
          <a:noFill/>
        </p:spPr>
        <p:txBody>
          <a:bodyPr wrap="none" rtlCol="0">
            <a:spAutoFit/>
          </a:bodyPr>
          <a:lstStyle/>
          <a:p>
            <a:pPr algn="ctr" font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邻接</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Oval 4"/>
          <p:cNvSpPr>
            <a:spLocks noChangeAspect="1"/>
          </p:cNvSpPr>
          <p:nvPr/>
        </p:nvSpPr>
        <p:spPr bwMode="gray">
          <a:xfrm>
            <a:off x="2487896" y="5624281"/>
            <a:ext cx="252000" cy="25200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矩形 95"/>
          <p:cNvSpPr/>
          <p:nvPr/>
        </p:nvSpPr>
        <p:spPr bwMode="gray">
          <a:xfrm>
            <a:off x="2060114" y="5780314"/>
            <a:ext cx="2399833" cy="348813"/>
          </a:xfrm>
          <a:prstGeom prst="rect">
            <a:avLst/>
          </a:prstGeom>
        </p:spPr>
        <p:txBody>
          <a:bodyPr wrap="square">
            <a:spAutoFit/>
          </a:bodyPr>
          <a:lstStyle/>
          <a:p>
            <a:pPr algn="ctr">
              <a:lnSpc>
                <a:spcPts val="2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自动完成</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a:t>
            </a:r>
          </a:p>
        </p:txBody>
      </p:sp>
      <p:sp>
        <p:nvSpPr>
          <p:cNvPr id="98" name="五边形 97"/>
          <p:cNvSpPr/>
          <p:nvPr/>
        </p:nvSpPr>
        <p:spPr bwMode="gray">
          <a:xfrm>
            <a:off x="6731061" y="114957"/>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燕尾形 98"/>
          <p:cNvSpPr/>
          <p:nvPr/>
        </p:nvSpPr>
        <p:spPr bwMode="gray">
          <a:xfrm>
            <a:off x="7367719"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燕尾形 99"/>
          <p:cNvSpPr/>
          <p:nvPr/>
        </p:nvSpPr>
        <p:spPr bwMode="gray">
          <a:xfrm>
            <a:off x="8004377"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DHCP</a:t>
            </a:r>
          </a:p>
        </p:txBody>
      </p:sp>
      <p:sp>
        <p:nvSpPr>
          <p:cNvPr id="101" name="燕尾形 100"/>
          <p:cNvSpPr/>
          <p:nvPr/>
        </p:nvSpPr>
        <p:spPr bwMode="gray">
          <a:xfrm>
            <a:off x="8641035" y="114957"/>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燕尾形 101"/>
          <p:cNvSpPr/>
          <p:nvPr/>
        </p:nvSpPr>
        <p:spPr bwMode="gray">
          <a:xfrm>
            <a:off x="9277693" y="114957"/>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网络开局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燕尾形 102"/>
          <p:cNvSpPr/>
          <p:nvPr/>
        </p:nvSpPr>
        <p:spPr bwMode="gray">
          <a:xfrm>
            <a:off x="10094349" y="114957"/>
            <a:ext cx="1656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网络自动化</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0644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800" dirty="0">
                <a:solidFill>
                  <a:schemeClr val="bg1">
                    <a:lumMod val="50000"/>
                  </a:schemeClr>
                </a:solidFill>
                <a:sym typeface="Huawei Sans" panose="020C0503030203020204" pitchFamily="34" charset="0"/>
              </a:rPr>
              <a:t>CloudCampus</a:t>
            </a:r>
            <a:r>
              <a:rPr lang="zh-CN" altLang="en-US" sz="1800" dirty="0">
                <a:solidFill>
                  <a:schemeClr val="bg1">
                    <a:lumMod val="50000"/>
                  </a:schemeClr>
                </a:solidFill>
                <a:sym typeface="Huawei Sans" panose="020C0503030203020204" pitchFamily="34" charset="0"/>
              </a:rPr>
              <a:t>解决方案及虚拟化园区网络概述</a:t>
            </a:r>
          </a:p>
          <a:p>
            <a:r>
              <a:rPr lang="zh-CN" altLang="en-US" sz="1800" dirty="0">
                <a:solidFill>
                  <a:schemeClr val="bg1">
                    <a:lumMod val="50000"/>
                  </a:schemeClr>
                </a:solidFill>
                <a:sym typeface="Huawei Sans" panose="020C0503030203020204" pitchFamily="34" charset="0"/>
              </a:rPr>
              <a:t>网络架构设计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Underlay</a:t>
            </a:r>
            <a:r>
              <a:rPr lang="zh-CN" altLang="en-US" sz="1800" dirty="0">
                <a:solidFill>
                  <a:schemeClr val="bg1">
                    <a:lumMod val="50000"/>
                  </a:schemeClr>
                </a:solidFill>
                <a:sym typeface="Huawei Sans" panose="020C0503030203020204" pitchFamily="34" charset="0"/>
              </a:rPr>
              <a:t>网络设计</a:t>
            </a:r>
            <a:endParaRPr lang="en-US" altLang="zh-CN" sz="1800" dirty="0">
              <a:solidFill>
                <a:schemeClr val="bg1">
                  <a:lumMod val="50000"/>
                </a:schemeClr>
              </a:solidFill>
              <a:sym typeface="Huawei Sans" panose="020C0503030203020204" pitchFamily="34" charset="0"/>
            </a:endParaRPr>
          </a:p>
          <a:p>
            <a:r>
              <a:rPr lang="en-US" altLang="zh-CN" sz="1800" b="1" dirty="0">
                <a:sym typeface="Huawei Sans" panose="020C0503030203020204" pitchFamily="34" charset="0"/>
              </a:rPr>
              <a:t>Fabric</a:t>
            </a:r>
            <a:r>
              <a:rPr lang="zh-CN" altLang="en-US" sz="1800" b="1" dirty="0">
                <a:sym typeface="Huawei Sans" panose="020C0503030203020204" pitchFamily="34" charset="0"/>
              </a:rPr>
              <a:t>与</a:t>
            </a:r>
            <a:r>
              <a:rPr lang="en-US" altLang="zh-CN" sz="1800" b="1" dirty="0">
                <a:sym typeface="Huawei Sans" panose="020C0503030203020204" pitchFamily="34" charset="0"/>
              </a:rPr>
              <a:t>Overlay</a:t>
            </a:r>
            <a:r>
              <a:rPr lang="zh-CN" altLang="en-US" sz="1800" b="1" dirty="0">
                <a:sym typeface="Huawei Sans" panose="020C0503030203020204" pitchFamily="34" charset="0"/>
              </a:rPr>
              <a:t>网络设计</a:t>
            </a:r>
          </a:p>
          <a:p>
            <a:r>
              <a:rPr lang="zh-CN" altLang="en-US" sz="1800" dirty="0">
                <a:solidFill>
                  <a:schemeClr val="bg1">
                    <a:lumMod val="50000"/>
                  </a:schemeClr>
                </a:solidFill>
                <a:sym typeface="Huawei Sans" panose="020C0503030203020204" pitchFamily="34" charset="0"/>
              </a:rPr>
              <a:t>准入控制及业务随行设计</a:t>
            </a:r>
          </a:p>
          <a:p>
            <a:r>
              <a:rPr lang="en-US" altLang="zh-CN" sz="1800" dirty="0">
                <a:solidFill>
                  <a:schemeClr val="bg1">
                    <a:lumMod val="50000"/>
                  </a:schemeClr>
                </a:solidFill>
                <a:sym typeface="Huawei Sans" panose="020C0503030203020204" pitchFamily="34" charset="0"/>
              </a:rPr>
              <a:t>WLAN</a:t>
            </a:r>
            <a:r>
              <a:rPr lang="zh-CN" altLang="en-US" sz="1800" dirty="0">
                <a:solidFill>
                  <a:schemeClr val="bg1">
                    <a:lumMod val="50000"/>
                  </a:schemeClr>
                </a:solidFill>
                <a:sym typeface="Huawei Sans" panose="020C0503030203020204" pitchFamily="34" charset="0"/>
              </a:rPr>
              <a:t>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出口网络设计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网络安全与服务质量设计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运维管理设计</a:t>
            </a:r>
            <a:endParaRPr lang="en-US" altLang="zh-CN"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7528657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en-US" altLang="zh-CN" dirty="0">
                <a:sym typeface="Huawei Sans" panose="020C0503030203020204" pitchFamily="34" charset="0"/>
              </a:rPr>
              <a:t>Fabric</a:t>
            </a:r>
            <a:r>
              <a:rPr lang="zh-CN" altLang="en-US" dirty="0">
                <a:sym typeface="Huawei Sans" panose="020C0503030203020204" pitchFamily="34" charset="0"/>
              </a:rPr>
              <a:t>设计概述</a:t>
            </a:r>
          </a:p>
        </p:txBody>
      </p:sp>
      <p:sp>
        <p:nvSpPr>
          <p:cNvPr id="8" name="梯形 7"/>
          <p:cNvSpPr/>
          <p:nvPr/>
        </p:nvSpPr>
        <p:spPr bwMode="gray">
          <a:xfrm>
            <a:off x="538752" y="3437164"/>
            <a:ext cx="6050762" cy="1685757"/>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82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梯形 8"/>
          <p:cNvSpPr/>
          <p:nvPr/>
        </p:nvSpPr>
        <p:spPr bwMode="gray">
          <a:xfrm>
            <a:off x="538752" y="1794596"/>
            <a:ext cx="6050762" cy="1685757"/>
          </a:xfrm>
          <a:prstGeom prst="trapezoid">
            <a:avLst>
              <a:gd name="adj" fmla="val 22961"/>
            </a:avLst>
          </a:prstGeom>
          <a:gradFill flip="none" rotWithShape="1">
            <a:gsLst>
              <a:gs pos="0">
                <a:schemeClr val="bg1">
                  <a:alpha val="4000"/>
                </a:schemeClr>
              </a:gs>
              <a:gs pos="100000">
                <a:srgbClr val="E3F6F8"/>
              </a:gs>
            </a:gsLst>
            <a:lin ang="5400000" scaled="1"/>
            <a:tileRect/>
          </a:gradFill>
          <a:ln>
            <a:gradFill flip="none" rotWithShape="1">
              <a:gsLst>
                <a:gs pos="0">
                  <a:schemeClr val="accent1">
                    <a:lumMod val="5000"/>
                    <a:lumOff val="95000"/>
                    <a:alpha val="0"/>
                  </a:schemeClr>
                </a:gs>
                <a:gs pos="82000">
                  <a:srgbClr val="94DAE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 name="直接连接符 9"/>
          <p:cNvCxnSpPr/>
          <p:nvPr/>
        </p:nvCxnSpPr>
        <p:spPr bwMode="gray">
          <a:xfrm flipH="1" flipV="1">
            <a:off x="2819961" y="4294391"/>
            <a:ext cx="1283264" cy="36647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flipH="1">
            <a:off x="2845800" y="3755951"/>
            <a:ext cx="1025914" cy="552357"/>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bwMode="gray">
          <a:xfrm flipV="1">
            <a:off x="3679461" y="3824691"/>
            <a:ext cx="2450448" cy="839468"/>
            <a:chOff x="3911288" y="4456131"/>
            <a:chExt cx="2450448" cy="674979"/>
          </a:xfrm>
        </p:grpSpPr>
        <p:cxnSp>
          <p:nvCxnSpPr>
            <p:cNvPr id="13" name="直接连接符 12"/>
            <p:cNvCxnSpPr/>
            <p:nvPr/>
          </p:nvCxnSpPr>
          <p:spPr bwMode="gray">
            <a:xfrm>
              <a:off x="4393093" y="4456131"/>
              <a:ext cx="1323508"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gray">
            <a:xfrm flipV="1">
              <a:off x="3911288" y="5131110"/>
              <a:ext cx="1582732"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gray">
            <a:xfrm>
              <a:off x="5800440" y="4456131"/>
              <a:ext cx="561296"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图片 87" descr="汇聚交换机.png"/>
          <p:cNvPicPr>
            <a:picLocks noChangeAspect="1"/>
          </p:cNvPicPr>
          <p:nvPr/>
        </p:nvPicPr>
        <p:blipFill>
          <a:blip r:embed="rId3"/>
          <a:stretch>
            <a:fillRect/>
          </a:stretch>
        </p:blipFill>
        <p:spPr bwMode="gray">
          <a:xfrm>
            <a:off x="3557258" y="3715017"/>
            <a:ext cx="343433" cy="280992"/>
          </a:xfrm>
          <a:prstGeom prst="rect">
            <a:avLst/>
          </a:prstGeom>
        </p:spPr>
      </p:pic>
      <p:pic>
        <p:nvPicPr>
          <p:cNvPr id="17" name="图片 87" descr="汇聚交换机.png"/>
          <p:cNvPicPr>
            <a:picLocks noChangeAspect="1"/>
          </p:cNvPicPr>
          <p:nvPr/>
        </p:nvPicPr>
        <p:blipFill>
          <a:blip r:embed="rId3"/>
          <a:stretch>
            <a:fillRect/>
          </a:stretch>
        </p:blipFill>
        <p:spPr bwMode="gray">
          <a:xfrm>
            <a:off x="3901785" y="4510485"/>
            <a:ext cx="343433" cy="280992"/>
          </a:xfrm>
          <a:prstGeom prst="rect">
            <a:avLst/>
          </a:prstGeom>
        </p:spPr>
      </p:pic>
      <p:pic>
        <p:nvPicPr>
          <p:cNvPr id="18" name="图片 76" descr="接入交换机.png"/>
          <p:cNvPicPr>
            <a:picLocks noChangeAspect="1"/>
          </p:cNvPicPr>
          <p:nvPr/>
        </p:nvPicPr>
        <p:blipFill>
          <a:blip r:embed="rId4"/>
          <a:stretch>
            <a:fillRect/>
          </a:stretch>
        </p:blipFill>
        <p:spPr bwMode="gray">
          <a:xfrm>
            <a:off x="5335990" y="4510485"/>
            <a:ext cx="343433" cy="280992"/>
          </a:xfrm>
          <a:prstGeom prst="rect">
            <a:avLst/>
          </a:prstGeom>
        </p:spPr>
      </p:pic>
      <p:pic>
        <p:nvPicPr>
          <p:cNvPr id="19" name="图片 18" descr="接入交换机.png"/>
          <p:cNvPicPr>
            <a:picLocks noChangeAspect="1"/>
          </p:cNvPicPr>
          <p:nvPr/>
        </p:nvPicPr>
        <p:blipFill>
          <a:blip r:embed="rId4"/>
          <a:stretch>
            <a:fillRect/>
          </a:stretch>
        </p:blipFill>
        <p:spPr bwMode="gray">
          <a:xfrm>
            <a:off x="4992557" y="3715017"/>
            <a:ext cx="343433" cy="280992"/>
          </a:xfrm>
          <a:prstGeom prst="rect">
            <a:avLst/>
          </a:prstGeom>
        </p:spPr>
      </p:pic>
      <p:cxnSp>
        <p:nvCxnSpPr>
          <p:cNvPr id="20" name="直接连接符 19"/>
          <p:cNvCxnSpPr/>
          <p:nvPr/>
        </p:nvCxnSpPr>
        <p:spPr bwMode="gray">
          <a:xfrm>
            <a:off x="2278850" y="4294395"/>
            <a:ext cx="586749"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1" name="图片 86" descr="核心交换机.png"/>
          <p:cNvPicPr>
            <a:picLocks noChangeAspect="1"/>
          </p:cNvPicPr>
          <p:nvPr/>
        </p:nvPicPr>
        <p:blipFill>
          <a:blip r:embed="rId5"/>
          <a:stretch>
            <a:fillRect/>
          </a:stretch>
        </p:blipFill>
        <p:spPr bwMode="gray">
          <a:xfrm>
            <a:off x="2668401" y="4157897"/>
            <a:ext cx="343433" cy="280992"/>
          </a:xfrm>
          <a:prstGeom prst="rect">
            <a:avLst/>
          </a:prstGeom>
        </p:spPr>
      </p:pic>
      <p:pic>
        <p:nvPicPr>
          <p:cNvPr id="22"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1924457" y="4161226"/>
            <a:ext cx="335297" cy="274335"/>
          </a:xfrm>
          <a:prstGeom prst="rect">
            <a:avLst/>
          </a:prstGeom>
        </p:spPr>
      </p:pic>
      <p:sp>
        <p:nvSpPr>
          <p:cNvPr id="24" name="矩形 23"/>
          <p:cNvSpPr/>
          <p:nvPr/>
        </p:nvSpPr>
        <p:spPr bwMode="gray">
          <a:xfrm>
            <a:off x="649726" y="4768520"/>
            <a:ext cx="2317207" cy="305105"/>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（物理网络层）</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649726" y="3144812"/>
            <a:ext cx="681597" cy="307777"/>
          </a:xfrm>
          <a:prstGeom prst="rect">
            <a:avLst/>
          </a:prstGeom>
        </p:spPr>
        <p:txBody>
          <a:bodyPr wrap="square">
            <a:no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Fabric</a:t>
            </a:r>
          </a:p>
        </p:txBody>
      </p:sp>
      <p:pic>
        <p:nvPicPr>
          <p:cNvPr id="51" name="图片 105" descr="AP.png"/>
          <p:cNvPicPr>
            <a:picLocks noChangeAspect="1"/>
          </p:cNvPicPr>
          <p:nvPr/>
        </p:nvPicPr>
        <p:blipFill>
          <a:blip r:embed="rId7"/>
          <a:stretch>
            <a:fillRect/>
          </a:stretch>
        </p:blipFill>
        <p:spPr bwMode="gray">
          <a:xfrm>
            <a:off x="6010814" y="4513814"/>
            <a:ext cx="335297" cy="274335"/>
          </a:xfrm>
          <a:prstGeom prst="rect">
            <a:avLst/>
          </a:prstGeom>
        </p:spPr>
      </p:pic>
      <p:sp>
        <p:nvSpPr>
          <p:cNvPr id="52" name="椭圆 51"/>
          <p:cNvSpPr/>
          <p:nvPr/>
        </p:nvSpPr>
        <p:spPr bwMode="gray">
          <a:xfrm>
            <a:off x="3428019" y="2343359"/>
            <a:ext cx="863585" cy="62129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p>
        </p:txBody>
      </p:sp>
      <p:sp>
        <p:nvSpPr>
          <p:cNvPr id="53" name="圆角矩形 75"/>
          <p:cNvSpPr/>
          <p:nvPr/>
        </p:nvSpPr>
        <p:spPr bwMode="gray">
          <a:xfrm>
            <a:off x="1858343" y="1784478"/>
            <a:ext cx="1296000" cy="257648"/>
          </a:xfrm>
          <a:prstGeom prst="roundRect">
            <a:avLst>
              <a:gd name="adj" fmla="val 10604"/>
            </a:avLst>
          </a:prstGeom>
          <a:solidFill>
            <a:srgbClr val="1262A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外部网络</a:t>
            </a:r>
            <a:endParaRPr lang="en-US" altLang="zh-CN"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4" name="圆角矩形 75"/>
          <p:cNvSpPr/>
          <p:nvPr/>
        </p:nvSpPr>
        <p:spPr bwMode="gray">
          <a:xfrm>
            <a:off x="4570753" y="1784478"/>
            <a:ext cx="1296000" cy="257648"/>
          </a:xfrm>
          <a:prstGeom prst="roundRect">
            <a:avLst>
              <a:gd name="adj" fmla="val 10604"/>
            </a:avLst>
          </a:prstGeom>
          <a:solidFill>
            <a:srgbClr val="1262A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网络服务资源</a:t>
            </a:r>
            <a:endParaRPr lang="en-US" altLang="zh-CN"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55" name="直接箭头连接符 54"/>
          <p:cNvCxnSpPr>
            <a:stCxn id="53" idx="2"/>
          </p:cNvCxnSpPr>
          <p:nvPr/>
        </p:nvCxnSpPr>
        <p:spPr bwMode="gray">
          <a:xfrm>
            <a:off x="2506343" y="2042126"/>
            <a:ext cx="921676" cy="533004"/>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bwMode="gray">
          <a:xfrm flipH="1">
            <a:off x="4286782" y="2042126"/>
            <a:ext cx="898103" cy="533004"/>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圆角矩形 75"/>
          <p:cNvSpPr/>
          <p:nvPr/>
        </p:nvSpPr>
        <p:spPr bwMode="gray">
          <a:xfrm>
            <a:off x="1722263" y="3026748"/>
            <a:ext cx="1568160" cy="257648"/>
          </a:xfrm>
          <a:prstGeom prst="roundRect">
            <a:avLst>
              <a:gd name="adj" fmla="val 10604"/>
            </a:avLst>
          </a:prstGeom>
          <a:solidFill>
            <a:srgbClr val="1262A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有线接入</a:t>
            </a:r>
          </a:p>
        </p:txBody>
      </p:sp>
      <p:sp>
        <p:nvSpPr>
          <p:cNvPr id="58" name="圆角矩形 75"/>
          <p:cNvSpPr/>
          <p:nvPr/>
        </p:nvSpPr>
        <p:spPr bwMode="gray">
          <a:xfrm>
            <a:off x="4434673" y="3026748"/>
            <a:ext cx="1568160" cy="257648"/>
          </a:xfrm>
          <a:prstGeom prst="roundRect">
            <a:avLst>
              <a:gd name="adj" fmla="val 10604"/>
            </a:avLst>
          </a:prstGeom>
          <a:solidFill>
            <a:srgbClr val="1262A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无线接入</a:t>
            </a:r>
          </a:p>
        </p:txBody>
      </p:sp>
      <p:cxnSp>
        <p:nvCxnSpPr>
          <p:cNvPr id="59" name="直接箭头连接符 58"/>
          <p:cNvCxnSpPr>
            <a:stCxn id="57" idx="3"/>
            <a:endCxn id="52" idx="3"/>
          </p:cNvCxnSpPr>
          <p:nvPr/>
        </p:nvCxnSpPr>
        <p:spPr bwMode="gray">
          <a:xfrm flipV="1">
            <a:off x="3290423" y="2873669"/>
            <a:ext cx="264065" cy="281903"/>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58" idx="1"/>
            <a:endCxn id="52" idx="5"/>
          </p:cNvCxnSpPr>
          <p:nvPr/>
        </p:nvCxnSpPr>
        <p:spPr bwMode="gray">
          <a:xfrm flipH="1" flipV="1">
            <a:off x="4165135" y="2873669"/>
            <a:ext cx="269538" cy="281903"/>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圆角矩形 75"/>
          <p:cNvSpPr/>
          <p:nvPr/>
        </p:nvSpPr>
        <p:spPr bwMode="gray">
          <a:xfrm>
            <a:off x="6848995" y="1589996"/>
            <a:ext cx="4797765"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65" name="圆角矩形 75"/>
          <p:cNvSpPr/>
          <p:nvPr/>
        </p:nvSpPr>
        <p:spPr bwMode="gray">
          <a:xfrm>
            <a:off x="6848995" y="2000482"/>
            <a:ext cx="4797765" cy="2513332"/>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2200"/>
              </a:lnSpc>
              <a:spcAft>
                <a:spcPts val="3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园区</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是对</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Underlay</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网络抽象后的资源池化网络，</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将</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Underlay</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网络资源池化，以便实现“一网多用”。</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just">
              <a:lnSpc>
                <a:spcPts val="2200"/>
              </a:lnSpc>
              <a:spcAft>
                <a:spcPts val="300"/>
              </a:spcAft>
            </a:pP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设计主要包含以下部分：</a:t>
            </a:r>
          </a:p>
          <a:p>
            <a:pPr marL="176213" indent="-176213" algn="just">
              <a:lnSpc>
                <a:spcPts val="2200"/>
              </a:lnSpc>
              <a:spcAft>
                <a:spcPts val="3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网络资源规划</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6213" indent="-176213" algn="just">
              <a:lnSpc>
                <a:spcPts val="2200"/>
              </a:lnSpc>
              <a:spcAft>
                <a:spcPts val="3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组网及节点设计</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6213" indent="-176213" algn="just">
              <a:lnSpc>
                <a:spcPts val="2200"/>
              </a:lnSpc>
              <a:spcAft>
                <a:spcPts val="3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与外部网络互联设计</a:t>
            </a:r>
          </a:p>
          <a:p>
            <a:pPr marL="176213" indent="-176213" algn="just">
              <a:lnSpc>
                <a:spcPts val="2200"/>
              </a:lnSpc>
              <a:spcAft>
                <a:spcPts val="3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网络服务资源规划</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6213" indent="-176213" algn="just">
              <a:lnSpc>
                <a:spcPts val="2200"/>
              </a:lnSpc>
              <a:spcAft>
                <a:spcPts val="3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接入管理设计</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2" name="圆角矩形 71"/>
          <p:cNvSpPr/>
          <p:nvPr/>
        </p:nvSpPr>
        <p:spPr bwMode="gray">
          <a:xfrm>
            <a:off x="610016" y="2250917"/>
            <a:ext cx="954963" cy="164058"/>
          </a:xfrm>
          <a:prstGeom prst="roundRect">
            <a:avLst/>
          </a:prstGeom>
          <a:solidFill>
            <a:schemeClr val="bg1">
              <a:lumMod val="8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外部网络</a:t>
            </a:r>
          </a:p>
        </p:txBody>
      </p:sp>
      <p:sp>
        <p:nvSpPr>
          <p:cNvPr id="73" name="圆角矩形 72"/>
          <p:cNvSpPr/>
          <p:nvPr/>
        </p:nvSpPr>
        <p:spPr bwMode="gray">
          <a:xfrm>
            <a:off x="610016" y="2000279"/>
            <a:ext cx="954963" cy="204400"/>
          </a:xfrm>
          <a:prstGeom prst="roundRect">
            <a:avLst>
              <a:gd name="adj" fmla="val 6984"/>
            </a:avLst>
          </a:prstGeom>
          <a:solidFill>
            <a:schemeClr val="bg1">
              <a:lumMod val="8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IP/VLAN</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段</a:t>
            </a:r>
          </a:p>
        </p:txBody>
      </p:sp>
      <p:sp>
        <p:nvSpPr>
          <p:cNvPr id="74" name="圆角矩形 73"/>
          <p:cNvSpPr/>
          <p:nvPr/>
        </p:nvSpPr>
        <p:spPr bwMode="gray">
          <a:xfrm>
            <a:off x="610016" y="2671509"/>
            <a:ext cx="954963" cy="164058"/>
          </a:xfrm>
          <a:prstGeom prst="roundRect">
            <a:avLst/>
          </a:prstGeom>
          <a:solidFill>
            <a:schemeClr val="bg1">
              <a:lumMod val="8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接入点</a:t>
            </a:r>
          </a:p>
        </p:txBody>
      </p:sp>
      <p:sp>
        <p:nvSpPr>
          <p:cNvPr id="75" name="圆角矩形 74"/>
          <p:cNvSpPr/>
          <p:nvPr/>
        </p:nvSpPr>
        <p:spPr bwMode="gray">
          <a:xfrm>
            <a:off x="768241" y="1836221"/>
            <a:ext cx="638512" cy="164058"/>
          </a:xfrm>
          <a:prstGeom prst="round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noAutofit/>
          </a:bodyPr>
          <a:lstStyle/>
          <a:p>
            <a:pPr algn="ctr">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VN</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536340" y="1821985"/>
            <a:ext cx="1102314" cy="1067137"/>
          </a:xfrm>
          <a:prstGeom prst="rect">
            <a:avLst/>
          </a:prstGeom>
          <a:noFill/>
          <a:ln w="9525" cap="flat" cmpd="sng" algn="ctr">
            <a:solidFill>
              <a:schemeClr val="tx1"/>
            </a:solidFill>
            <a:prstDash val="dash"/>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noAutofit/>
          </a:bodyPr>
          <a:lstStyle/>
          <a:p>
            <a:pPr algn="ctr">
              <a:buClr>
                <a:srgbClr val="CC9900"/>
              </a:buClr>
            </a:pP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圆角矩形 76"/>
          <p:cNvSpPr/>
          <p:nvPr/>
        </p:nvSpPr>
        <p:spPr bwMode="gray">
          <a:xfrm>
            <a:off x="610016" y="2461213"/>
            <a:ext cx="954963" cy="164058"/>
          </a:xfrm>
          <a:prstGeom prst="roundRect">
            <a:avLst/>
          </a:prstGeom>
          <a:solidFill>
            <a:schemeClr val="bg1">
              <a:lumMod val="8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网络服务资源</a:t>
            </a:r>
          </a:p>
        </p:txBody>
      </p:sp>
      <p:sp>
        <p:nvSpPr>
          <p:cNvPr id="38" name="五边形 37"/>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39" name="燕尾形 38"/>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952998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Huawei Sans" panose="020C0503030203020204" pitchFamily="34" charset="0"/>
              </a:rPr>
              <a:t>Fabric</a:t>
            </a:r>
            <a:r>
              <a:rPr lang="zh-CN" altLang="en-US">
                <a:sym typeface="Huawei Sans" panose="020C0503030203020204" pitchFamily="34" charset="0"/>
              </a:rPr>
              <a:t>组网场景汇总</a:t>
            </a:r>
          </a:p>
        </p:txBody>
      </p:sp>
      <p:sp>
        <p:nvSpPr>
          <p:cNvPr id="3" name="文本占位符 2"/>
          <p:cNvSpPr>
            <a:spLocks noGrp="1"/>
          </p:cNvSpPr>
          <p:nvPr>
            <p:ph type="body" sz="quarter" idx="10"/>
          </p:nvPr>
        </p:nvSpPr>
        <p:spPr>
          <a:xfrm>
            <a:off x="455612" y="1047751"/>
            <a:ext cx="11293475" cy="2668588"/>
          </a:xfrm>
        </p:spPr>
        <p:txBody>
          <a:bodyPr/>
          <a:lstStyle/>
          <a:p>
            <a:pPr fontAlgn="base"/>
            <a:r>
              <a:rPr lang="zh-CN" altLang="en-US" sz="1800" dirty="0">
                <a:sym typeface="Huawei Sans" panose="020C0503030203020204" pitchFamily="34" charset="0"/>
              </a:rPr>
              <a:t>针对二层或三层组网架构，可选</a:t>
            </a:r>
            <a:r>
              <a:rPr lang="en-US" altLang="zh-CN" sz="1800" dirty="0">
                <a:sym typeface="Huawei Sans" panose="020C0503030203020204" pitchFamily="34" charset="0"/>
              </a:rPr>
              <a:t>Border</a:t>
            </a:r>
            <a:r>
              <a:rPr lang="zh-CN" altLang="en-US" sz="1800" dirty="0">
                <a:sym typeface="Huawei Sans" panose="020C0503030203020204" pitchFamily="34" charset="0"/>
              </a:rPr>
              <a:t>或</a:t>
            </a:r>
            <a:r>
              <a:rPr lang="en-US" altLang="zh-CN" sz="1800" dirty="0">
                <a:sym typeface="Huawei Sans" panose="020C0503030203020204" pitchFamily="34" charset="0"/>
              </a:rPr>
              <a:t>Edge</a:t>
            </a:r>
            <a:r>
              <a:rPr lang="zh-CN" altLang="en-US" sz="1800" dirty="0">
                <a:sym typeface="Huawei Sans" panose="020C0503030203020204" pitchFamily="34" charset="0"/>
              </a:rPr>
              <a:t>作为网关。</a:t>
            </a:r>
            <a:endParaRPr lang="en-US" altLang="zh-CN" sz="1800" dirty="0">
              <a:sym typeface="Huawei Sans" panose="020C0503030203020204" pitchFamily="34" charset="0"/>
            </a:endParaRPr>
          </a:p>
          <a:p>
            <a:pPr lvl="1" fontAlgn="base"/>
            <a:r>
              <a:rPr lang="zh-CN" altLang="en-US" sz="1600" dirty="0">
                <a:sym typeface="Huawei Sans" panose="020C0503030203020204" pitchFamily="34" charset="0"/>
              </a:rPr>
              <a:t>集中式网关：</a:t>
            </a:r>
            <a:r>
              <a:rPr lang="en-US" altLang="zh-CN" sz="1600" dirty="0">
                <a:sym typeface="Huawei Sans" panose="020C0503030203020204" pitchFamily="34" charset="0"/>
              </a:rPr>
              <a:t>Border</a:t>
            </a:r>
            <a:r>
              <a:rPr lang="zh-CN" altLang="en-US" sz="1600" dirty="0">
                <a:sym typeface="Huawei Sans" panose="020C0503030203020204" pitchFamily="34" charset="0"/>
              </a:rPr>
              <a:t>做网关可统一集中管理、简化运维。</a:t>
            </a:r>
            <a:endParaRPr lang="en-US" altLang="zh-CN" sz="1600" dirty="0">
              <a:sym typeface="Huawei Sans" panose="020C0503030203020204" pitchFamily="34" charset="0"/>
            </a:endParaRPr>
          </a:p>
          <a:p>
            <a:pPr lvl="1" fontAlgn="base"/>
            <a:r>
              <a:rPr lang="zh-CN" altLang="en-US" sz="1600" dirty="0">
                <a:sym typeface="Huawei Sans" panose="020C0503030203020204" pitchFamily="34" charset="0"/>
              </a:rPr>
              <a:t>分布式网关：</a:t>
            </a:r>
            <a:r>
              <a:rPr lang="en-US" altLang="zh-CN" sz="1600" dirty="0">
                <a:sym typeface="Huawei Sans" panose="020C0503030203020204" pitchFamily="34" charset="0"/>
              </a:rPr>
              <a:t>Edge</a:t>
            </a:r>
            <a:r>
              <a:rPr lang="zh-CN" altLang="en-US" sz="1600" dirty="0">
                <a:sym typeface="Huawei Sans" panose="020C0503030203020204" pitchFamily="34" charset="0"/>
              </a:rPr>
              <a:t>做网关方便扩展网络规模。</a:t>
            </a:r>
            <a:endParaRPr lang="en-US" altLang="zh-CN" sz="1600" dirty="0">
              <a:sym typeface="Huawei Sans" panose="020C0503030203020204" pitchFamily="34" charset="0"/>
            </a:endParaRPr>
          </a:p>
          <a:p>
            <a:pPr fontAlgn="base"/>
            <a:r>
              <a:rPr lang="zh-CN" altLang="en-US" sz="1800" dirty="0">
                <a:sym typeface="Huawei Sans" panose="020C0503030203020204" pitchFamily="34" charset="0"/>
              </a:rPr>
              <a:t>优先推荐组网场景：</a:t>
            </a:r>
            <a:endParaRPr lang="en-US" altLang="zh-CN" sz="1800" dirty="0">
              <a:sym typeface="Huawei Sans" panose="020C0503030203020204" pitchFamily="34" charset="0"/>
            </a:endParaRPr>
          </a:p>
          <a:p>
            <a:pPr lvl="1" fontAlgn="base"/>
            <a:r>
              <a:rPr lang="zh-CN" altLang="en-US" sz="1600" dirty="0">
                <a:sym typeface="Huawei Sans" panose="020C0503030203020204" pitchFamily="34" charset="0"/>
              </a:rPr>
              <a:t>集中式网关，</a:t>
            </a:r>
            <a:r>
              <a:rPr lang="en-US" altLang="zh-CN" sz="1600" dirty="0">
                <a:sym typeface="Huawei Sans" panose="020C0503030203020204" pitchFamily="34" charset="0"/>
              </a:rPr>
              <a:t>VXLAN</a:t>
            </a:r>
            <a:r>
              <a:rPr lang="zh-CN" altLang="en-US" sz="1600" dirty="0">
                <a:sym typeface="Huawei Sans" panose="020C0503030203020204" pitchFamily="34" charset="0"/>
              </a:rPr>
              <a:t>到汇聚，核心随板</a:t>
            </a:r>
            <a:r>
              <a:rPr lang="en-US" altLang="zh-CN" sz="1600" dirty="0">
                <a:sym typeface="Huawei Sans" panose="020C0503030203020204" pitchFamily="34" charset="0"/>
              </a:rPr>
              <a:t>AC</a:t>
            </a:r>
            <a:r>
              <a:rPr lang="zh-CN" altLang="en-US" sz="1600" dirty="0">
                <a:sym typeface="Huawei Sans" panose="020C0503030203020204" pitchFamily="34" charset="0"/>
              </a:rPr>
              <a:t>部署，或核心旁挂独立</a:t>
            </a:r>
            <a:r>
              <a:rPr lang="en-US" altLang="zh-CN" sz="1600" dirty="0">
                <a:sym typeface="Huawei Sans" panose="020C0503030203020204" pitchFamily="34" charset="0"/>
              </a:rPr>
              <a:t>AC</a:t>
            </a:r>
            <a:r>
              <a:rPr lang="zh-CN" altLang="en-US" sz="1600" dirty="0">
                <a:sym typeface="Huawei Sans" panose="020C0503030203020204" pitchFamily="34" charset="0"/>
              </a:rPr>
              <a:t>。</a:t>
            </a:r>
            <a:endParaRPr lang="en-US" altLang="zh-CN" sz="1600" dirty="0">
              <a:sym typeface="Huawei Sans" panose="020C0503030203020204" pitchFamily="34" charset="0"/>
            </a:endParaRPr>
          </a:p>
          <a:p>
            <a:pPr lvl="1" fontAlgn="base"/>
            <a:r>
              <a:rPr lang="zh-CN" altLang="en-US" sz="1600" dirty="0">
                <a:sym typeface="Huawei Sans" panose="020C0503030203020204" pitchFamily="34" charset="0"/>
              </a:rPr>
              <a:t>分布式网关，</a:t>
            </a:r>
            <a:r>
              <a:rPr lang="en-US" altLang="zh-CN" sz="1600" dirty="0">
                <a:sym typeface="Huawei Sans" panose="020C0503030203020204" pitchFamily="34" charset="0"/>
              </a:rPr>
              <a:t>VXLAN</a:t>
            </a:r>
            <a:r>
              <a:rPr lang="zh-CN" altLang="en-US" sz="1600" dirty="0">
                <a:sym typeface="Huawei Sans" panose="020C0503030203020204" pitchFamily="34" charset="0"/>
              </a:rPr>
              <a:t>到汇聚，核心随板</a:t>
            </a:r>
            <a:r>
              <a:rPr lang="en-US" altLang="zh-CN" sz="1600" dirty="0">
                <a:sym typeface="Huawei Sans" panose="020C0503030203020204" pitchFamily="34" charset="0"/>
              </a:rPr>
              <a:t>AC</a:t>
            </a:r>
            <a:r>
              <a:rPr lang="zh-CN" altLang="en-US" sz="1600" dirty="0">
                <a:sym typeface="Huawei Sans" panose="020C0503030203020204" pitchFamily="34" charset="0"/>
              </a:rPr>
              <a:t>部署，或核心旁挂独立</a:t>
            </a:r>
            <a:r>
              <a:rPr lang="en-US" altLang="zh-CN" sz="1600" dirty="0">
                <a:sym typeface="Huawei Sans" panose="020C0503030203020204" pitchFamily="34" charset="0"/>
              </a:rPr>
              <a:t>AC </a:t>
            </a:r>
            <a:r>
              <a:rPr lang="zh-CN" altLang="en-US" sz="1600" dirty="0">
                <a:sym typeface="Huawei Sans" panose="020C0503030203020204" pitchFamily="34" charset="0"/>
              </a:rPr>
              <a:t>。</a:t>
            </a:r>
          </a:p>
        </p:txBody>
      </p:sp>
      <p:graphicFrame>
        <p:nvGraphicFramePr>
          <p:cNvPr id="5" name="内容占位符 3"/>
          <p:cNvGraphicFramePr>
            <a:graphicFrameLocks/>
          </p:cNvGraphicFramePr>
          <p:nvPr>
            <p:extLst>
              <p:ext uri="{D42A27DB-BD31-4B8C-83A1-F6EECF244321}">
                <p14:modId xmlns:p14="http://schemas.microsoft.com/office/powerpoint/2010/main" val="2827433722"/>
              </p:ext>
            </p:extLst>
          </p:nvPr>
        </p:nvGraphicFramePr>
        <p:xfrm>
          <a:off x="1743940" y="3718178"/>
          <a:ext cx="8704119" cy="2438400"/>
        </p:xfrm>
        <a:graphic>
          <a:graphicData uri="http://schemas.openxmlformats.org/drawingml/2006/table">
            <a:tbl>
              <a:tblPr firstRow="1" bandRow="1"/>
              <a:tblGrid>
                <a:gridCol w="1908000">
                  <a:extLst>
                    <a:ext uri="{9D8B030D-6E8A-4147-A177-3AD203B41FA5}">
                      <a16:colId xmlns:a16="http://schemas.microsoft.com/office/drawing/2014/main" val="20000"/>
                    </a:ext>
                  </a:extLst>
                </a:gridCol>
                <a:gridCol w="1866928">
                  <a:extLst>
                    <a:ext uri="{9D8B030D-6E8A-4147-A177-3AD203B41FA5}">
                      <a16:colId xmlns:a16="http://schemas.microsoft.com/office/drawing/2014/main" val="20001"/>
                    </a:ext>
                  </a:extLst>
                </a:gridCol>
                <a:gridCol w="1866928">
                  <a:extLst>
                    <a:ext uri="{9D8B030D-6E8A-4147-A177-3AD203B41FA5}">
                      <a16:colId xmlns:a16="http://schemas.microsoft.com/office/drawing/2014/main" val="20002"/>
                    </a:ext>
                  </a:extLst>
                </a:gridCol>
                <a:gridCol w="1866928">
                  <a:extLst>
                    <a:ext uri="{9D8B030D-6E8A-4147-A177-3AD203B41FA5}">
                      <a16:colId xmlns:a16="http://schemas.microsoft.com/office/drawing/2014/main" val="20003"/>
                    </a:ext>
                  </a:extLst>
                </a:gridCol>
                <a:gridCol w="1195335">
                  <a:extLst>
                    <a:ext uri="{9D8B030D-6E8A-4147-A177-3AD203B41FA5}">
                      <a16:colId xmlns:a16="http://schemas.microsoft.com/office/drawing/2014/main" val="20004"/>
                    </a:ext>
                  </a:extLst>
                </a:gridCol>
              </a:tblGrid>
              <a:tr h="0">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组网</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位置</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位置</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部署方式</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优先推荐</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rowSpan="4">
                  <a:txBody>
                    <a:bodyPr/>
                    <a:lstStyle/>
                    <a:p>
                      <a:pPr algn="ctr"/>
                      <a:r>
                        <a:rPr lang="zh-CN" altLang="en-US" sz="1400" kern="1200" dirty="0">
                          <a:effectLst/>
                          <a:latin typeface="Huawei Sans" panose="020C0503030203020204" pitchFamily="34" charset="0"/>
                          <a:ea typeface="方正兰亭黑简体" panose="02000000000000000000" pitchFamily="2" charset="-122"/>
                          <a:sym typeface="Huawei Sans" panose="020C0503030203020204" pitchFamily="34" charset="0"/>
                        </a:rPr>
                        <a:t>集中式网关</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rowSpan="4">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a:t>
                      </a:r>
                    </a:p>
                  </a:txBody>
                  <a:tcPr anchor="ctr"/>
                </a:tc>
                <a:tc rowSpan="2">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a:t>
                      </a:r>
                    </a:p>
                  </a:txBody>
                  <a:tcPr anchor="ct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核心随板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否</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0">
                <a:tc vMerge="1">
                  <a:txBody>
                    <a:bodyPr/>
                    <a:lstStyle/>
                    <a:p>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16" marR="91416" marT="45708" marB="45708" anchor="ctr"/>
                </a:tc>
                <a:tc vMerge="1">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lang="zh-CN" altLang="en-US" sz="1400" dirty="0">
                        <a:latin typeface="+mn-ea"/>
                        <a:ea typeface="+mn-ea"/>
                        <a:sym typeface="Huawei Sans" panose="020C0503030203020204" pitchFamily="34" charset="0"/>
                      </a:endParaRPr>
                    </a:p>
                  </a:txBody>
                  <a:tcPr anchor="ctr"/>
                </a:tc>
                <a:tc vMerge="1">
                  <a:txBody>
                    <a:bodyPr/>
                    <a:lstStyle/>
                    <a:p>
                      <a:pPr algn="ctr"/>
                      <a:endParaRPr lang="zh-CN" altLang="en-US" sz="1400" dirty="0">
                        <a:latin typeface="+mn-ea"/>
                        <a:ea typeface="+mn-ea"/>
                        <a:sym typeface="Huawei Sans" panose="020C0503030203020204" pitchFamily="34" charset="0"/>
                      </a:endParaRPr>
                    </a:p>
                  </a:txBody>
                  <a:tcPr anchor="ct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核心旁挂独立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否</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0">
                <a:tc vMerge="1">
                  <a:txBody>
                    <a:bodyPr/>
                    <a:lstStyle/>
                    <a:p>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16" marR="91416" marT="45708" marB="45708" anchor="ctr"/>
                </a:tc>
                <a:tc vMerge="1">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lang="zh-CN" altLang="en-US" sz="1400" dirty="0">
                        <a:latin typeface="+mn-ea"/>
                        <a:ea typeface="+mn-ea"/>
                        <a:sym typeface="Huawei Sans" panose="020C0503030203020204" pitchFamily="34" charset="0"/>
                      </a:endParaRPr>
                    </a:p>
                  </a:txBody>
                  <a:tcPr anchor="ctr"/>
                </a:tc>
                <a:tc rowSpan="2">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a:t>
                      </a:r>
                    </a:p>
                  </a:txBody>
                  <a:tcPr anchor="ct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核心随板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是</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0">
                <a:tc vMerge="1">
                  <a:txBody>
                    <a:bodyPr/>
                    <a:lstStyle/>
                    <a:p>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16" marR="91416" marT="45708" marB="45708" anchor="ctr"/>
                </a:tc>
                <a:tc vMerge="1">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lang="zh-CN" altLang="en-US" sz="1400" dirty="0">
                        <a:latin typeface="+mn-ea"/>
                        <a:ea typeface="+mn-ea"/>
                        <a:sym typeface="Huawei Sans" panose="020C0503030203020204" pitchFamily="34" charset="0"/>
                      </a:endParaRPr>
                    </a:p>
                  </a:txBody>
                  <a:tcPr anchor="ctr"/>
                </a:tc>
                <a:tc vMerge="1">
                  <a:txBody>
                    <a:bodyPr/>
                    <a:lstStyle/>
                    <a:p>
                      <a:pPr algn="ctr"/>
                      <a:endParaRPr lang="zh-CN" altLang="en-US" sz="1400" dirty="0">
                        <a:latin typeface="+mn-ea"/>
                        <a:ea typeface="+mn-ea"/>
                        <a:sym typeface="Huawei Sans" panose="020C0503030203020204" pitchFamily="34" charset="0"/>
                      </a:endParaRPr>
                    </a:p>
                  </a:txBody>
                  <a:tcPr anchor="ct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核心旁挂独立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是</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0">
                <a:tc rowSpan="3">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分布式网关</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rowSpan="3">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a:t>
                      </a:r>
                    </a:p>
                  </a:txBody>
                  <a:tcPr anchor="ctr">
                    <a:lnB w="28575" cap="flat" cmpd="sng" algn="ctr">
                      <a:solidFill>
                        <a:schemeClr val="tx1"/>
                      </a:solidFill>
                      <a:prstDash val="solid"/>
                      <a:round/>
                      <a:headEnd type="none" w="med" len="med"/>
                      <a:tailEnd type="none" w="med" len="med"/>
                    </a:lnB>
                  </a:tcPr>
                </a:tc>
                <a:tc rowSpan="2">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a:t>
                      </a:r>
                    </a:p>
                  </a:txBody>
                  <a:tcPr anchor="ct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核心随板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是</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0">
                <a:tc vMerge="1">
                  <a:txBody>
                    <a:bodyPr/>
                    <a:lstStyle/>
                    <a:p>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16" marR="91416" marT="45708" marB="45708" anchor="ctr"/>
                </a:tc>
                <a:tc vMerge="1">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lang="zh-CN" altLang="en-US" sz="1400" dirty="0">
                        <a:latin typeface="+mn-ea"/>
                        <a:ea typeface="+mn-ea"/>
                        <a:sym typeface="Huawei Sans" panose="020C0503030203020204" pitchFamily="34" charset="0"/>
                      </a:endParaRPr>
                    </a:p>
                  </a:txBody>
                  <a:tcPr anchor="ctr"/>
                </a:tc>
                <a:tc vMerge="1">
                  <a:txBody>
                    <a:bodyPr/>
                    <a:lstStyle/>
                    <a:p>
                      <a:pPr algn="ctr"/>
                      <a:endParaRPr lang="zh-CN" altLang="en-US" sz="1400" dirty="0">
                        <a:latin typeface="+mn-ea"/>
                        <a:ea typeface="+mn-ea"/>
                        <a:sym typeface="Huawei Sans" panose="020C0503030203020204" pitchFamily="34" charset="0"/>
                      </a:endParaRPr>
                    </a:p>
                  </a:txBody>
                  <a:tcPr anchor="ctr"/>
                </a:tc>
                <a:tc>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核心旁挂独立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是</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0">
                <a:tc vMerge="1">
                  <a:txBody>
                    <a:bodyPr/>
                    <a:lstStyle/>
                    <a:p>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16" marR="91416" marT="45708" marB="45708" anchor="ctr"/>
                </a:tc>
                <a:tc vMerge="1">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lang="zh-CN" altLang="en-US" sz="1400" dirty="0">
                        <a:latin typeface="+mn-ea"/>
                        <a:ea typeface="+mn-ea"/>
                        <a:sym typeface="Huawei Sans" panose="020C0503030203020204" pitchFamily="34" charset="0"/>
                      </a:endParaRPr>
                    </a:p>
                  </a:txBody>
                  <a:tcPr anchor="ct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a:t>
                      </a:r>
                    </a:p>
                  </a:txBody>
                  <a:tcPr anchor="ctr">
                    <a:lnB w="28575" cap="flat" cmpd="sng" algn="ctr">
                      <a:solidFill>
                        <a:schemeClr val="tx1"/>
                      </a:solidFill>
                      <a:prstDash val="solid"/>
                      <a:round/>
                      <a:headEnd type="none" w="med" len="med"/>
                      <a:tailEnd type="none" w="med" len="med"/>
                    </a:lnB>
                  </a:tcPr>
                </a:tc>
                <a:tc>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核心旁挂独立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否</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五边形 5"/>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7" name="燕尾形 6"/>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885362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Fabric</a:t>
            </a:r>
            <a:r>
              <a:rPr lang="zh-CN" altLang="en-US" dirty="0">
                <a:sym typeface="Huawei Sans" panose="020C0503030203020204" pitchFamily="34" charset="0"/>
              </a:rPr>
              <a:t>组网设计：</a:t>
            </a:r>
            <a:r>
              <a:rPr lang="en-US" altLang="zh-CN" dirty="0">
                <a:sym typeface="Huawei Sans" panose="020C0503030203020204" pitchFamily="34" charset="0"/>
              </a:rPr>
              <a:t>VXLAN</a:t>
            </a:r>
            <a:r>
              <a:rPr lang="zh-CN" altLang="en-US" dirty="0">
                <a:sym typeface="Huawei Sans" panose="020C0503030203020204" pitchFamily="34" charset="0"/>
              </a:rPr>
              <a:t>覆盖范围选择</a:t>
            </a:r>
          </a:p>
        </p:txBody>
      </p:sp>
      <p:sp>
        <p:nvSpPr>
          <p:cNvPr id="92" name="任意多边形 91"/>
          <p:cNvSpPr/>
          <p:nvPr/>
        </p:nvSpPr>
        <p:spPr>
          <a:xfrm>
            <a:off x="9851715" y="2352203"/>
            <a:ext cx="632712" cy="673750"/>
          </a:xfrm>
          <a:custGeom>
            <a:avLst/>
            <a:gdLst>
              <a:gd name="connsiteX0" fmla="*/ 0 w 1517072"/>
              <a:gd name="connsiteY0" fmla="*/ 0 h 1153391"/>
              <a:gd name="connsiteX1" fmla="*/ 1517072 w 1517072"/>
              <a:gd name="connsiteY1" fmla="*/ 1153391 h 1153391"/>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Lst>
            <a:ahLst/>
            <a:cxnLst>
              <a:cxn ang="0">
                <a:pos x="connsiteX0" y="connsiteY0"/>
              </a:cxn>
              <a:cxn ang="0">
                <a:pos x="connsiteX1" y="connsiteY1"/>
              </a:cxn>
            </a:cxnLst>
            <a:rect l="l" t="t" r="r" b="b"/>
            <a:pathLst>
              <a:path w="1454727" h="1143000">
                <a:moveTo>
                  <a:pt x="0" y="0"/>
                </a:moveTo>
                <a:cubicBezTo>
                  <a:pt x="1127189" y="253907"/>
                  <a:pt x="1364672" y="668482"/>
                  <a:pt x="1454727" y="1143000"/>
                </a:cubicBezTo>
              </a:path>
            </a:pathLst>
          </a:cu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Straight Connector 166"/>
          <p:cNvCxnSpPr/>
          <p:nvPr/>
        </p:nvCxnSpPr>
        <p:spPr>
          <a:xfrm flipH="1">
            <a:off x="9832878" y="3140640"/>
            <a:ext cx="50935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94" name="图片 105" descr="AP.png"/>
          <p:cNvPicPr>
            <a:picLocks noChangeAspect="1"/>
          </p:cNvPicPr>
          <p:nvPr/>
        </p:nvPicPr>
        <p:blipFill>
          <a:blip r:embed="rId3" cstate="print"/>
          <a:stretch>
            <a:fillRect/>
          </a:stretch>
        </p:blipFill>
        <p:spPr>
          <a:xfrm>
            <a:off x="10288906" y="2989756"/>
            <a:ext cx="368827" cy="301768"/>
          </a:xfrm>
          <a:prstGeom prst="rect">
            <a:avLst/>
          </a:prstGeom>
        </p:spPr>
      </p:pic>
      <p:sp>
        <p:nvSpPr>
          <p:cNvPr id="95" name="圆角矩形 94"/>
          <p:cNvSpPr/>
          <p:nvPr/>
        </p:nvSpPr>
        <p:spPr>
          <a:xfrm>
            <a:off x="2994262" y="1474478"/>
            <a:ext cx="2450574" cy="1666162"/>
          </a:xfrm>
          <a:prstGeom prst="roundRect">
            <a:avLst>
              <a:gd name="adj" fmla="val 4971"/>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6" name="Straight Connector 166"/>
          <p:cNvCxnSpPr/>
          <p:nvPr/>
        </p:nvCxnSpPr>
        <p:spPr>
          <a:xfrm flipH="1">
            <a:off x="5229880" y="3140640"/>
            <a:ext cx="50935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166"/>
          <p:cNvCxnSpPr/>
          <p:nvPr/>
        </p:nvCxnSpPr>
        <p:spPr>
          <a:xfrm>
            <a:off x="5112127" y="2314286"/>
            <a:ext cx="0" cy="77490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166"/>
          <p:cNvCxnSpPr/>
          <p:nvPr/>
        </p:nvCxnSpPr>
        <p:spPr>
          <a:xfrm>
            <a:off x="3326970" y="2314286"/>
            <a:ext cx="0" cy="77490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9" name="Group 165"/>
          <p:cNvGrpSpPr/>
          <p:nvPr/>
        </p:nvGrpSpPr>
        <p:grpSpPr>
          <a:xfrm rot="10800000">
            <a:off x="3229873" y="1435005"/>
            <a:ext cx="1987662" cy="998820"/>
            <a:chOff x="-1233037" y="914446"/>
            <a:chExt cx="1573823" cy="778776"/>
          </a:xfrm>
        </p:grpSpPr>
        <p:cxnSp>
          <p:nvCxnSpPr>
            <p:cNvPr id="100" name="Straight Connector 166"/>
            <p:cNvCxnSpPr/>
            <p:nvPr/>
          </p:nvCxnSpPr>
          <p:spPr>
            <a:xfrm flipH="1" flipV="1">
              <a:off x="-1233037" y="914446"/>
              <a:ext cx="786912" cy="77877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67"/>
            <p:cNvCxnSpPr/>
            <p:nvPr/>
          </p:nvCxnSpPr>
          <p:spPr>
            <a:xfrm flipV="1">
              <a:off x="-446125" y="914446"/>
              <a:ext cx="786911" cy="778776"/>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02" name="图片 86" descr="核心交换机.png"/>
          <p:cNvPicPr>
            <a:picLocks noChangeAspect="1"/>
          </p:cNvPicPr>
          <p:nvPr/>
        </p:nvPicPr>
        <p:blipFill>
          <a:blip r:embed="rId4"/>
          <a:stretch>
            <a:fillRect/>
          </a:stretch>
        </p:blipFill>
        <p:spPr>
          <a:xfrm>
            <a:off x="4034266" y="1313562"/>
            <a:ext cx="378876" cy="309991"/>
          </a:xfrm>
          <a:prstGeom prst="rect">
            <a:avLst/>
          </a:prstGeom>
        </p:spPr>
      </p:pic>
      <p:pic>
        <p:nvPicPr>
          <p:cNvPr id="103" name="图片 87" descr="汇聚交换机.png"/>
          <p:cNvPicPr>
            <a:picLocks noChangeAspect="1"/>
          </p:cNvPicPr>
          <p:nvPr/>
        </p:nvPicPr>
        <p:blipFill>
          <a:blip r:embed="rId5"/>
          <a:stretch>
            <a:fillRect/>
          </a:stretch>
        </p:blipFill>
        <p:spPr>
          <a:xfrm>
            <a:off x="3145843" y="2140363"/>
            <a:ext cx="378876" cy="309991"/>
          </a:xfrm>
          <a:prstGeom prst="rect">
            <a:avLst/>
          </a:prstGeom>
        </p:spPr>
      </p:pic>
      <p:pic>
        <p:nvPicPr>
          <p:cNvPr id="104" name="图片 87" descr="汇聚交换机.png"/>
          <p:cNvPicPr>
            <a:picLocks noChangeAspect="1"/>
          </p:cNvPicPr>
          <p:nvPr/>
        </p:nvPicPr>
        <p:blipFill>
          <a:blip r:embed="rId5"/>
          <a:stretch>
            <a:fillRect/>
          </a:stretch>
        </p:blipFill>
        <p:spPr>
          <a:xfrm>
            <a:off x="4922689" y="2140363"/>
            <a:ext cx="378876" cy="309991"/>
          </a:xfrm>
          <a:prstGeom prst="rect">
            <a:avLst/>
          </a:prstGeom>
        </p:spPr>
      </p:pic>
      <p:pic>
        <p:nvPicPr>
          <p:cNvPr id="105" name="图片 76" descr="接入交换机.png"/>
          <p:cNvPicPr>
            <a:picLocks noChangeAspect="1"/>
          </p:cNvPicPr>
          <p:nvPr/>
        </p:nvPicPr>
        <p:blipFill>
          <a:blip r:embed="rId6" cstate="print"/>
          <a:stretch>
            <a:fillRect/>
          </a:stretch>
        </p:blipFill>
        <p:spPr>
          <a:xfrm>
            <a:off x="3155892" y="2989756"/>
            <a:ext cx="368827" cy="301768"/>
          </a:xfrm>
          <a:prstGeom prst="rect">
            <a:avLst/>
          </a:prstGeom>
        </p:spPr>
      </p:pic>
      <p:pic>
        <p:nvPicPr>
          <p:cNvPr id="106" name="图片 76" descr="接入交换机.png"/>
          <p:cNvPicPr>
            <a:picLocks noChangeAspect="1"/>
          </p:cNvPicPr>
          <p:nvPr/>
        </p:nvPicPr>
        <p:blipFill>
          <a:blip r:embed="rId6" cstate="print"/>
          <a:stretch>
            <a:fillRect/>
          </a:stretch>
        </p:blipFill>
        <p:spPr>
          <a:xfrm>
            <a:off x="4927714" y="2989756"/>
            <a:ext cx="368827" cy="301768"/>
          </a:xfrm>
          <a:prstGeom prst="rect">
            <a:avLst/>
          </a:prstGeom>
        </p:spPr>
      </p:pic>
      <p:sp>
        <p:nvSpPr>
          <p:cNvPr id="107" name="文本框 106"/>
          <p:cNvSpPr txBox="1"/>
          <p:nvPr/>
        </p:nvSpPr>
        <p:spPr>
          <a:xfrm>
            <a:off x="808074" y="1346554"/>
            <a:ext cx="646331" cy="276999"/>
          </a:xfrm>
          <a:prstGeom prst="rect">
            <a:avLst/>
          </a:prstGeom>
          <a:noFill/>
        </p:spPr>
        <p:txBody>
          <a:bodyPr wrap="none" rtlCol="0">
            <a:spAutoFit/>
          </a:bodyPr>
          <a:lstStyle/>
          <a:p>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108" name="文本框 107"/>
          <p:cNvSpPr txBox="1"/>
          <p:nvPr/>
        </p:nvSpPr>
        <p:spPr>
          <a:xfrm>
            <a:off x="808074" y="2156859"/>
            <a:ext cx="646331" cy="276999"/>
          </a:xfrm>
          <a:prstGeom prst="rect">
            <a:avLst/>
          </a:prstGeom>
          <a:noFill/>
        </p:spPr>
        <p:txBody>
          <a:bodyPr wrap="none" rtlCol="0">
            <a:spAutoFit/>
          </a:bodyPr>
          <a:lstStyle/>
          <a:p>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109" name="文本框 108"/>
          <p:cNvSpPr txBox="1"/>
          <p:nvPr/>
        </p:nvSpPr>
        <p:spPr>
          <a:xfrm>
            <a:off x="808074" y="3002141"/>
            <a:ext cx="646331" cy="276999"/>
          </a:xfrm>
          <a:prstGeom prst="rect">
            <a:avLst/>
          </a:prstGeom>
          <a:noFill/>
        </p:spPr>
        <p:txBody>
          <a:bodyPr wrap="none" rtlCol="0">
            <a:spAutoFit/>
          </a:bodyPr>
          <a:lstStyle/>
          <a:p>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110" name="文本框 109"/>
          <p:cNvSpPr txBox="1"/>
          <p:nvPr/>
        </p:nvSpPr>
        <p:spPr>
          <a:xfrm>
            <a:off x="3831425" y="2396652"/>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VXLAN</a:t>
            </a:r>
            <a:endParaRPr lang="zh-CN" altLang="en-US" dirty="0">
              <a:sym typeface="Huawei Sans" panose="020C0503030203020204" pitchFamily="34" charset="0"/>
            </a:endParaRPr>
          </a:p>
        </p:txBody>
      </p:sp>
      <p:sp>
        <p:nvSpPr>
          <p:cNvPr id="111" name="圆角矩形 110"/>
          <p:cNvSpPr/>
          <p:nvPr/>
        </p:nvSpPr>
        <p:spPr>
          <a:xfrm>
            <a:off x="7637700" y="1474477"/>
            <a:ext cx="2450574" cy="791193"/>
          </a:xfrm>
          <a:prstGeom prst="roundRect">
            <a:avLst>
              <a:gd name="adj" fmla="val 9269"/>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2" name="Straight Connector 166"/>
          <p:cNvCxnSpPr/>
          <p:nvPr/>
        </p:nvCxnSpPr>
        <p:spPr>
          <a:xfrm>
            <a:off x="9755565" y="2314286"/>
            <a:ext cx="0" cy="77490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66"/>
          <p:cNvCxnSpPr/>
          <p:nvPr/>
        </p:nvCxnSpPr>
        <p:spPr>
          <a:xfrm>
            <a:off x="7970408" y="2314286"/>
            <a:ext cx="0" cy="77490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4" name="Group 165"/>
          <p:cNvGrpSpPr/>
          <p:nvPr/>
        </p:nvGrpSpPr>
        <p:grpSpPr>
          <a:xfrm rot="10800000">
            <a:off x="7873311" y="1435005"/>
            <a:ext cx="1987662" cy="998820"/>
            <a:chOff x="-1233037" y="914446"/>
            <a:chExt cx="1573823" cy="778776"/>
          </a:xfrm>
        </p:grpSpPr>
        <p:cxnSp>
          <p:nvCxnSpPr>
            <p:cNvPr id="115" name="Straight Connector 166"/>
            <p:cNvCxnSpPr/>
            <p:nvPr/>
          </p:nvCxnSpPr>
          <p:spPr>
            <a:xfrm flipH="1" flipV="1">
              <a:off x="-1233037" y="914446"/>
              <a:ext cx="786912" cy="77877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67"/>
            <p:cNvCxnSpPr/>
            <p:nvPr/>
          </p:nvCxnSpPr>
          <p:spPr>
            <a:xfrm flipV="1">
              <a:off x="-446125" y="914446"/>
              <a:ext cx="786911" cy="778776"/>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17" name="图片 86" descr="核心交换机.png"/>
          <p:cNvPicPr>
            <a:picLocks noChangeAspect="1"/>
          </p:cNvPicPr>
          <p:nvPr/>
        </p:nvPicPr>
        <p:blipFill>
          <a:blip r:embed="rId4"/>
          <a:stretch>
            <a:fillRect/>
          </a:stretch>
        </p:blipFill>
        <p:spPr>
          <a:xfrm>
            <a:off x="8677704" y="1313562"/>
            <a:ext cx="378876" cy="309991"/>
          </a:xfrm>
          <a:prstGeom prst="rect">
            <a:avLst/>
          </a:prstGeom>
        </p:spPr>
      </p:pic>
      <p:pic>
        <p:nvPicPr>
          <p:cNvPr id="118" name="图片 87" descr="汇聚交换机.png"/>
          <p:cNvPicPr>
            <a:picLocks noChangeAspect="1"/>
          </p:cNvPicPr>
          <p:nvPr/>
        </p:nvPicPr>
        <p:blipFill>
          <a:blip r:embed="rId5"/>
          <a:stretch>
            <a:fillRect/>
          </a:stretch>
        </p:blipFill>
        <p:spPr>
          <a:xfrm>
            <a:off x="7789281" y="2140363"/>
            <a:ext cx="378876" cy="309991"/>
          </a:xfrm>
          <a:prstGeom prst="rect">
            <a:avLst/>
          </a:prstGeom>
        </p:spPr>
      </p:pic>
      <p:pic>
        <p:nvPicPr>
          <p:cNvPr id="119" name="图片 87" descr="汇聚交换机.png"/>
          <p:cNvPicPr>
            <a:picLocks noChangeAspect="1"/>
          </p:cNvPicPr>
          <p:nvPr/>
        </p:nvPicPr>
        <p:blipFill>
          <a:blip r:embed="rId5"/>
          <a:stretch>
            <a:fillRect/>
          </a:stretch>
        </p:blipFill>
        <p:spPr>
          <a:xfrm>
            <a:off x="9566127" y="2140363"/>
            <a:ext cx="378876" cy="309991"/>
          </a:xfrm>
          <a:prstGeom prst="rect">
            <a:avLst/>
          </a:prstGeom>
        </p:spPr>
      </p:pic>
      <p:pic>
        <p:nvPicPr>
          <p:cNvPr id="120" name="图片 76" descr="接入交换机.png"/>
          <p:cNvPicPr>
            <a:picLocks noChangeAspect="1"/>
          </p:cNvPicPr>
          <p:nvPr/>
        </p:nvPicPr>
        <p:blipFill>
          <a:blip r:embed="rId6" cstate="print"/>
          <a:stretch>
            <a:fillRect/>
          </a:stretch>
        </p:blipFill>
        <p:spPr>
          <a:xfrm>
            <a:off x="7799330" y="2989756"/>
            <a:ext cx="368827" cy="301768"/>
          </a:xfrm>
          <a:prstGeom prst="rect">
            <a:avLst/>
          </a:prstGeom>
        </p:spPr>
      </p:pic>
      <p:pic>
        <p:nvPicPr>
          <p:cNvPr id="121" name="图片 76" descr="接入交换机.png"/>
          <p:cNvPicPr>
            <a:picLocks noChangeAspect="1"/>
          </p:cNvPicPr>
          <p:nvPr/>
        </p:nvPicPr>
        <p:blipFill>
          <a:blip r:embed="rId6" cstate="print"/>
          <a:stretch>
            <a:fillRect/>
          </a:stretch>
        </p:blipFill>
        <p:spPr>
          <a:xfrm>
            <a:off x="9571152" y="2989756"/>
            <a:ext cx="368827" cy="301768"/>
          </a:xfrm>
          <a:prstGeom prst="rect">
            <a:avLst/>
          </a:prstGeom>
        </p:spPr>
      </p:pic>
      <p:sp>
        <p:nvSpPr>
          <p:cNvPr id="122" name="文本框 121"/>
          <p:cNvSpPr txBox="1"/>
          <p:nvPr/>
        </p:nvSpPr>
        <p:spPr>
          <a:xfrm>
            <a:off x="8474863" y="1827753"/>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a:sym typeface="Huawei Sans" panose="020C0503030203020204" pitchFamily="34" charset="0"/>
              </a:rPr>
              <a:t>VXLAN</a:t>
            </a:r>
            <a:endParaRPr lang="zh-CN" altLang="en-US">
              <a:sym typeface="Huawei Sans" panose="020C0503030203020204" pitchFamily="34" charset="0"/>
            </a:endParaRPr>
          </a:p>
        </p:txBody>
      </p:sp>
      <p:pic>
        <p:nvPicPr>
          <p:cNvPr id="123" name="图片 105" descr="AP.png"/>
          <p:cNvPicPr>
            <a:picLocks noChangeAspect="1"/>
          </p:cNvPicPr>
          <p:nvPr/>
        </p:nvPicPr>
        <p:blipFill>
          <a:blip r:embed="rId3" cstate="print"/>
          <a:stretch>
            <a:fillRect/>
          </a:stretch>
        </p:blipFill>
        <p:spPr>
          <a:xfrm>
            <a:off x="5685908" y="2989756"/>
            <a:ext cx="368827" cy="301768"/>
          </a:xfrm>
          <a:prstGeom prst="rect">
            <a:avLst/>
          </a:prstGeom>
        </p:spPr>
      </p:pic>
      <p:sp>
        <p:nvSpPr>
          <p:cNvPr id="124" name="任意多边形 123"/>
          <p:cNvSpPr/>
          <p:nvPr/>
        </p:nvSpPr>
        <p:spPr>
          <a:xfrm>
            <a:off x="4457700" y="1534319"/>
            <a:ext cx="1454727" cy="1467821"/>
          </a:xfrm>
          <a:custGeom>
            <a:avLst/>
            <a:gdLst>
              <a:gd name="connsiteX0" fmla="*/ 0 w 1517072"/>
              <a:gd name="connsiteY0" fmla="*/ 0 h 1153391"/>
              <a:gd name="connsiteX1" fmla="*/ 1517072 w 1517072"/>
              <a:gd name="connsiteY1" fmla="*/ 1153391 h 1153391"/>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Lst>
            <a:ahLst/>
            <a:cxnLst>
              <a:cxn ang="0">
                <a:pos x="connsiteX0" y="connsiteY0"/>
              </a:cxn>
              <a:cxn ang="0">
                <a:pos x="connsiteX1" y="connsiteY1"/>
              </a:cxn>
            </a:cxnLst>
            <a:rect l="l" t="t" r="r" b="b"/>
            <a:pathLst>
              <a:path w="1454727" h="1143000">
                <a:moveTo>
                  <a:pt x="0" y="0"/>
                </a:moveTo>
                <a:cubicBezTo>
                  <a:pt x="1160318" y="121227"/>
                  <a:pt x="1364672" y="668482"/>
                  <a:pt x="1454727" y="1143000"/>
                </a:cubicBezTo>
              </a:path>
            </a:pathLst>
          </a:cu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a:xfrm>
            <a:off x="5561537" y="1858531"/>
            <a:ext cx="838692" cy="276999"/>
          </a:xfrm>
          <a:prstGeom prst="rect">
            <a:avLst/>
          </a:prstGeom>
          <a:noFill/>
        </p:spPr>
        <p:txBody>
          <a:bodyPr wrap="none" rtlCol="0">
            <a:spAutoFit/>
          </a:bodyP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CAPWAP</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文本框 125"/>
          <p:cNvSpPr txBox="1"/>
          <p:nvPr/>
        </p:nvSpPr>
        <p:spPr>
          <a:xfrm>
            <a:off x="10238387" y="2325922"/>
            <a:ext cx="838692" cy="276999"/>
          </a:xfrm>
          <a:prstGeom prst="rect">
            <a:avLst/>
          </a:prstGeom>
          <a:noFill/>
        </p:spPr>
        <p:txBody>
          <a:bodyPr wrap="none" rtlCol="0">
            <a:spAutoFit/>
          </a:bodyP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CAPWAP</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27" name="表格 126"/>
          <p:cNvGraphicFramePr>
            <a:graphicFrameLocks noGrp="1"/>
          </p:cNvGraphicFramePr>
          <p:nvPr>
            <p:extLst>
              <p:ext uri="{D42A27DB-BD31-4B8C-83A1-F6EECF244321}">
                <p14:modId xmlns:p14="http://schemas.microsoft.com/office/powerpoint/2010/main" val="529018695"/>
              </p:ext>
            </p:extLst>
          </p:nvPr>
        </p:nvGraphicFramePr>
        <p:xfrm>
          <a:off x="615013" y="3746684"/>
          <a:ext cx="10961975" cy="1341120"/>
        </p:xfrm>
        <a:graphic>
          <a:graphicData uri="http://schemas.openxmlformats.org/drawingml/2006/table">
            <a:tbl>
              <a:tblPr/>
              <a:tblGrid>
                <a:gridCol w="1390432">
                  <a:extLst>
                    <a:ext uri="{9D8B030D-6E8A-4147-A177-3AD203B41FA5}">
                      <a16:colId xmlns:a16="http://schemas.microsoft.com/office/drawing/2014/main" val="20000"/>
                    </a:ext>
                  </a:extLst>
                </a:gridCol>
                <a:gridCol w="4405746">
                  <a:extLst>
                    <a:ext uri="{9D8B030D-6E8A-4147-A177-3AD203B41FA5}">
                      <a16:colId xmlns:a16="http://schemas.microsoft.com/office/drawing/2014/main" val="20001"/>
                    </a:ext>
                  </a:extLst>
                </a:gridCol>
                <a:gridCol w="5165797">
                  <a:extLst>
                    <a:ext uri="{9D8B030D-6E8A-4147-A177-3AD203B41FA5}">
                      <a16:colId xmlns:a16="http://schemas.microsoft.com/office/drawing/2014/main" val="20002"/>
                    </a:ext>
                  </a:extLst>
                </a:gridCol>
              </a:tblGrid>
              <a:tr h="299775">
                <a:tc>
                  <a:txBody>
                    <a:bodyPr/>
                    <a:lstStyle/>
                    <a:p>
                      <a:pPr algn="ctr"/>
                      <a:r>
                        <a:rPr lang="en-US" alt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范围</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从核心层到接入层</a:t>
                      </a: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从核心层到汇聚层</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299775">
                <a:tc>
                  <a:txBody>
                    <a:bodyPr/>
                    <a:lstStyle/>
                    <a:p>
                      <a:pPr algn="ctr">
                        <a:lnSpc>
                          <a:spcPct val="100000"/>
                        </a:lnSpc>
                      </a:pPr>
                      <a:r>
                        <a:rPr lang="zh-CN" altLang="en-US" sz="1400">
                          <a:effectLst/>
                          <a:latin typeface="Huawei Sans" panose="020C0503030203020204" pitchFamily="34" charset="0"/>
                          <a:ea typeface="方正兰亭黑简体" panose="02000000000000000000" pitchFamily="2" charset="-122"/>
                          <a:sym typeface="Huawei Sans" panose="020C0503030203020204" pitchFamily="34" charset="0"/>
                        </a:rPr>
                        <a:t>适用场景</a:t>
                      </a:r>
                    </a:p>
                  </a:txBody>
                  <a:tcPr anchor="ctr">
                    <a:lnL w="28575" cap="flat" cmpd="sng" algn="ctr">
                      <a:solidFill>
                        <a:schemeClr val="tx1"/>
                      </a:solidFill>
                      <a:prstDash val="solid"/>
                      <a:round/>
                      <a:headEnd type="none" w="med" len="med"/>
                      <a:tailEnd type="none" w="med" len="med"/>
                    </a:lnL>
                  </a:tcPr>
                </a:tc>
                <a:tc>
                  <a:txBody>
                    <a:bodyPr/>
                    <a:lstStyle/>
                    <a:p>
                      <a:pPr marL="285750" indent="-285750" algn="l">
                        <a:lnSpc>
                          <a:spcPct val="100000"/>
                        </a:lnSpc>
                        <a:spcAft>
                          <a:spcPts val="0"/>
                        </a:spcAft>
                        <a:buFont typeface="Arial" panose="020B0604020202020204" pitchFamily="34" charset="0"/>
                        <a:buChar char="•"/>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需要进行全网端到端业务部署自动化。</a:t>
                      </a:r>
                      <a:endPar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l">
                        <a:lnSpc>
                          <a:spcPct val="100000"/>
                        </a:lnSpc>
                        <a:spcAft>
                          <a:spcPts val="0"/>
                        </a:spcAft>
                        <a:buFont typeface="Arial" panose="020B0604020202020204" pitchFamily="34" charset="0"/>
                        <a:buChar char="•"/>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推荐：交换机节点数</a:t>
                      </a: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&lt;1000</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marL="285750" indent="-285750" algn="l" defTabSz="914034" rtl="0" eaLnBrk="1" latinLnBrk="0" hangingPunct="1">
                        <a:lnSpc>
                          <a:spcPct val="100000"/>
                        </a:lnSpc>
                        <a:spcAft>
                          <a:spcPts val="0"/>
                        </a:spcAft>
                        <a:buFont typeface="Arial" panose="020B0604020202020204" pitchFamily="34" charset="0"/>
                        <a:buChar char="•"/>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需利旧现网接入层交换机；或基于成本考虑希望在接入层部署不支持</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VXLAN</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的低成本华为交换机。</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indent="-285750" algn="l" defTabSz="914034" rtl="0" eaLnBrk="1" latinLnBrk="0" hangingPunct="1">
                        <a:lnSpc>
                          <a:spcPct val="100000"/>
                        </a:lnSpc>
                        <a:spcAft>
                          <a:spcPts val="0"/>
                        </a:spcAft>
                        <a:buFont typeface="Arial" panose="020B0604020202020204" pitchFamily="34" charset="0"/>
                        <a:buChar char="•"/>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推荐：交换机节点数</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&lt;3000</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9775">
                <a:tc>
                  <a:txBody>
                    <a:bodyPr/>
                    <a:lstStyle/>
                    <a:p>
                      <a:pPr algn="ctr">
                        <a:lnSpc>
                          <a:spcPct val="100000"/>
                        </a:lnSpc>
                      </a:pPr>
                      <a:r>
                        <a:rPr lang="zh-CN" altLang="en-US" sz="1400">
                          <a:effectLst/>
                          <a:latin typeface="Huawei Sans" panose="020C0503030203020204" pitchFamily="34" charset="0"/>
                          <a:ea typeface="方正兰亭黑简体" panose="02000000000000000000" pitchFamily="2" charset="-122"/>
                          <a:sym typeface="Huawei Sans" panose="020C0503030203020204" pitchFamily="34" charset="0"/>
                        </a:rPr>
                        <a:t>建网成本</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indent="0" algn="l">
                        <a:lnSpc>
                          <a:spcPct val="100000"/>
                        </a:lnSpc>
                        <a:spcAft>
                          <a:spcPts val="0"/>
                        </a:spcAft>
                        <a:buFont typeface="Arial" panose="020B0604020202020204" pitchFamily="34" charset="0"/>
                        <a:buNone/>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相对</a:t>
                      </a: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覆盖范围“从核心层到汇聚层”方案较高。</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marL="0" indent="0" algn="l" defTabSz="914034" rtl="0" eaLnBrk="1" latinLnBrk="0" hangingPunct="1">
                        <a:lnSpc>
                          <a:spcPct val="100000"/>
                        </a:lnSpc>
                        <a:spcAft>
                          <a:spcPts val="0"/>
                        </a:spcAft>
                        <a:buFont typeface="Arial" panose="020B0604020202020204" pitchFamily="34" charset="0"/>
                        <a:buNone/>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相对</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VXLAN</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覆盖范围“从核心层到接入层”方案较低。</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8" name="文本框 127"/>
          <p:cNvSpPr txBox="1"/>
          <p:nvPr/>
        </p:nvSpPr>
        <p:spPr>
          <a:xfrm>
            <a:off x="6709452" y="3029918"/>
            <a:ext cx="1130439" cy="276999"/>
          </a:xfrm>
          <a:prstGeom prst="rect">
            <a:avLst/>
          </a:prstGeom>
          <a:noFill/>
        </p:spPr>
        <p:txBody>
          <a:bodyPr wrap="none" rtlCol="0">
            <a:spAutoFit/>
          </a:bodyPr>
          <a:lstStyle/>
          <a:p>
            <a:pPr algn="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不支持</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p:cNvSpPr txBox="1"/>
          <p:nvPr/>
        </p:nvSpPr>
        <p:spPr>
          <a:xfrm>
            <a:off x="8463795" y="3029918"/>
            <a:ext cx="1130439" cy="276999"/>
          </a:xfrm>
          <a:prstGeom prst="rect">
            <a:avLst/>
          </a:prstGeom>
          <a:noFill/>
        </p:spPr>
        <p:txBody>
          <a:bodyPr wrap="none" rtlCol="0">
            <a:spAutoFit/>
          </a:bodyPr>
          <a:lstStyle/>
          <a:p>
            <a:pPr algn="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不支持</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五边形 40"/>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42" name="燕尾形 41"/>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800009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Fabric</a:t>
            </a:r>
            <a:r>
              <a:rPr lang="zh-CN" altLang="en-US" dirty="0">
                <a:sym typeface="Huawei Sans" panose="020C0503030203020204" pitchFamily="34" charset="0"/>
              </a:rPr>
              <a:t>组网设计：集中式网关与分布式网关</a:t>
            </a:r>
          </a:p>
        </p:txBody>
      </p:sp>
      <p:grpSp>
        <p:nvGrpSpPr>
          <p:cNvPr id="4" name="组合 3"/>
          <p:cNvGrpSpPr/>
          <p:nvPr/>
        </p:nvGrpSpPr>
        <p:grpSpPr bwMode="gray">
          <a:xfrm>
            <a:off x="1658030" y="2779822"/>
            <a:ext cx="1330024" cy="574381"/>
            <a:chOff x="6600056" y="4353447"/>
            <a:chExt cx="1296144" cy="833967"/>
          </a:xfrm>
        </p:grpSpPr>
        <p:cxnSp>
          <p:nvCxnSpPr>
            <p:cNvPr id="23" name="直接连接符 22"/>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直接连接符 4"/>
          <p:cNvCxnSpPr/>
          <p:nvPr/>
        </p:nvCxnSpPr>
        <p:spPr bwMode="gray">
          <a:xfrm flipV="1">
            <a:off x="5181504" y="2919274"/>
            <a:ext cx="0" cy="4349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bwMode="gray">
          <a:xfrm>
            <a:off x="2308658" y="1921652"/>
            <a:ext cx="2883144" cy="834242"/>
            <a:chOff x="6600056" y="4353447"/>
            <a:chExt cx="1296144" cy="833967"/>
          </a:xfrm>
        </p:grpSpPr>
        <p:cxnSp>
          <p:nvCxnSpPr>
            <p:cNvPr id="21" name="直接连接符 20"/>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bwMode="gray">
          <a:xfrm>
            <a:off x="3439080" y="2144145"/>
            <a:ext cx="685744" cy="280612"/>
          </a:xfrm>
          <a:prstGeom prst="rect">
            <a:avLst/>
          </a:prstGeom>
        </p:spPr>
        <p:txBody>
          <a:bodyPr wrap="none">
            <a:spAutoFit/>
          </a:bodyPr>
          <a:lstStyle/>
          <a:p>
            <a:pPr algn="ctr" fontAlgn="ctr"/>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912805" y="3656356"/>
            <a:ext cx="1244835" cy="472898"/>
          </a:xfrm>
          <a:prstGeom prst="rect">
            <a:avLst/>
          </a:prstGeom>
        </p:spPr>
        <p:txBody>
          <a:bodyPr wrap="none">
            <a:noAutofit/>
          </a:bodyPr>
          <a:lstStyle/>
          <a:p>
            <a:pPr algn="ctr" fontAlgn="ct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PC1</a:t>
            </a:r>
          </a:p>
          <a:p>
            <a:pPr algn="ctr" fontAlgn="ct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192.168.1.1/24</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bwMode="gray">
          <a:xfrm>
            <a:off x="4604537" y="3656356"/>
            <a:ext cx="1255736" cy="477039"/>
          </a:xfrm>
          <a:prstGeom prst="rect">
            <a:avLst/>
          </a:prstGeom>
        </p:spPr>
        <p:txBody>
          <a:bodyPr wrap="none">
            <a:noAutofit/>
          </a:bodyPr>
          <a:lstStyle/>
          <a:p>
            <a:pPr algn="ctr" fontAlgn="ct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PC3</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192.168.1.3/24</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86" descr="核心交换机.png"/>
          <p:cNvPicPr>
            <a:picLocks noChangeAspect="1"/>
          </p:cNvPicPr>
          <p:nvPr/>
        </p:nvPicPr>
        <p:blipFill>
          <a:blip r:embed="rId3"/>
          <a:stretch>
            <a:fillRect/>
          </a:stretch>
        </p:blipFill>
        <p:spPr bwMode="gray">
          <a:xfrm>
            <a:off x="3537602" y="1718533"/>
            <a:ext cx="458440" cy="375089"/>
          </a:xfrm>
          <a:prstGeom prst="rect">
            <a:avLst/>
          </a:prstGeom>
        </p:spPr>
      </p:pic>
      <p:pic>
        <p:nvPicPr>
          <p:cNvPr id="11" name="图片 87" descr="汇聚交换机.png"/>
          <p:cNvPicPr>
            <a:picLocks noChangeAspect="1"/>
          </p:cNvPicPr>
          <p:nvPr/>
        </p:nvPicPr>
        <p:blipFill>
          <a:blip r:embed="rId4"/>
          <a:stretch>
            <a:fillRect/>
          </a:stretch>
        </p:blipFill>
        <p:spPr bwMode="gray">
          <a:xfrm>
            <a:off x="4954059" y="2602518"/>
            <a:ext cx="458440" cy="375089"/>
          </a:xfrm>
          <a:prstGeom prst="rect">
            <a:avLst/>
          </a:prstGeom>
        </p:spPr>
      </p:pic>
      <p:pic>
        <p:nvPicPr>
          <p:cNvPr id="12" name="图片 87" descr="汇聚交换机.png"/>
          <p:cNvPicPr>
            <a:picLocks noChangeAspect="1"/>
          </p:cNvPicPr>
          <p:nvPr/>
        </p:nvPicPr>
        <p:blipFill>
          <a:blip r:embed="rId4"/>
          <a:stretch>
            <a:fillRect/>
          </a:stretch>
        </p:blipFill>
        <p:spPr bwMode="gray">
          <a:xfrm>
            <a:off x="2093823" y="2602518"/>
            <a:ext cx="458440" cy="375089"/>
          </a:xfrm>
          <a:prstGeom prst="rect">
            <a:avLst/>
          </a:prstGeom>
        </p:spPr>
      </p:pic>
      <p:pic>
        <p:nvPicPr>
          <p:cNvPr id="13" name="图片 11" descr="开放网络-蓝.png"/>
          <p:cNvPicPr>
            <a:picLocks noChangeAspect="1"/>
          </p:cNvPicPr>
          <p:nvPr/>
        </p:nvPicPr>
        <p:blipFill>
          <a:blip r:embed="rId5"/>
          <a:stretch>
            <a:fillRect/>
          </a:stretch>
        </p:blipFill>
        <p:spPr bwMode="gray">
          <a:xfrm>
            <a:off x="1289412" y="3315666"/>
            <a:ext cx="406596" cy="312990"/>
          </a:xfrm>
          <a:prstGeom prst="rect">
            <a:avLst/>
          </a:prstGeom>
        </p:spPr>
      </p:pic>
      <p:sp>
        <p:nvSpPr>
          <p:cNvPr id="14" name="矩形 13"/>
          <p:cNvSpPr/>
          <p:nvPr/>
        </p:nvSpPr>
        <p:spPr bwMode="gray">
          <a:xfrm>
            <a:off x="1386401" y="2535969"/>
            <a:ext cx="678436" cy="280612"/>
          </a:xfrm>
          <a:prstGeom prst="rect">
            <a:avLst/>
          </a:prstGeom>
        </p:spPr>
        <p:txBody>
          <a:bodyPr wrap="none">
            <a:spAutoFit/>
          </a:bodyPr>
          <a:lstStyle/>
          <a:p>
            <a:pPr algn="just"/>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p>
        </p:txBody>
      </p:sp>
      <p:sp>
        <p:nvSpPr>
          <p:cNvPr id="15" name="矩形 14"/>
          <p:cNvSpPr/>
          <p:nvPr/>
        </p:nvSpPr>
        <p:spPr bwMode="gray">
          <a:xfrm>
            <a:off x="5403447" y="2535969"/>
            <a:ext cx="678436" cy="280612"/>
          </a:xfrm>
          <a:prstGeom prst="rect">
            <a:avLst/>
          </a:prstGeom>
        </p:spPr>
        <p:txBody>
          <a:bodyPr wrap="none">
            <a:spAutoFit/>
          </a:bodyPr>
          <a:lstStyle/>
          <a:p>
            <a:pPr algn="just"/>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bwMode="gray">
          <a:xfrm>
            <a:off x="2545690" y="3656356"/>
            <a:ext cx="1244835" cy="472898"/>
          </a:xfrm>
          <a:prstGeom prst="rect">
            <a:avLst/>
          </a:prstGeom>
        </p:spPr>
        <p:txBody>
          <a:bodyPr wrap="none">
            <a:noAutofit/>
          </a:bodyPr>
          <a:lstStyle/>
          <a:p>
            <a:pPr algn="ctr" fontAlgn="ct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PC2</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192.168.2.1/24</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1" descr="开放网络-蓝.png"/>
          <p:cNvPicPr>
            <a:picLocks noChangeAspect="1"/>
          </p:cNvPicPr>
          <p:nvPr/>
        </p:nvPicPr>
        <p:blipFill>
          <a:blip r:embed="rId5"/>
          <a:stretch>
            <a:fillRect/>
          </a:stretch>
        </p:blipFill>
        <p:spPr bwMode="gray">
          <a:xfrm>
            <a:off x="2960192" y="3315666"/>
            <a:ext cx="406596" cy="312990"/>
          </a:xfrm>
          <a:prstGeom prst="rect">
            <a:avLst/>
          </a:prstGeom>
        </p:spPr>
      </p:pic>
      <p:pic>
        <p:nvPicPr>
          <p:cNvPr id="18" name="图片 11" descr="开放网络-蓝.png"/>
          <p:cNvPicPr>
            <a:picLocks noChangeAspect="1"/>
          </p:cNvPicPr>
          <p:nvPr/>
        </p:nvPicPr>
        <p:blipFill>
          <a:blip r:embed="rId5"/>
          <a:stretch>
            <a:fillRect/>
          </a:stretch>
        </p:blipFill>
        <p:spPr bwMode="gray">
          <a:xfrm>
            <a:off x="4988504" y="3315666"/>
            <a:ext cx="406596" cy="312990"/>
          </a:xfrm>
          <a:prstGeom prst="rect">
            <a:avLst/>
          </a:prstGeom>
        </p:spPr>
      </p:pic>
      <p:sp>
        <p:nvSpPr>
          <p:cNvPr id="19" name="Freeform 61"/>
          <p:cNvSpPr/>
          <p:nvPr/>
        </p:nvSpPr>
        <p:spPr bwMode="gray">
          <a:xfrm>
            <a:off x="1881975" y="1891460"/>
            <a:ext cx="1738407" cy="1441658"/>
          </a:xfrm>
          <a:custGeom>
            <a:avLst/>
            <a:gdLst>
              <a:gd name="connsiteX0" fmla="*/ 0 w 1384394"/>
              <a:gd name="connsiteY0" fmla="*/ 2134957 h 2162949"/>
              <a:gd name="connsiteX1" fmla="*/ 1314062 w 1384394"/>
              <a:gd name="connsiteY1" fmla="*/ 11919 h 2162949"/>
              <a:gd name="connsiteX2" fmla="*/ 970384 w 1384394"/>
              <a:gd name="connsiteY2" fmla="*/ 1556460 h 2162949"/>
              <a:gd name="connsiteX3" fmla="*/ 1343609 w 1384394"/>
              <a:gd name="connsiteY3" fmla="*/ 2162949 h 2162949"/>
              <a:gd name="connsiteX0" fmla="*/ 0 w 1699996"/>
              <a:gd name="connsiteY0" fmla="*/ 1942276 h 1970268"/>
              <a:gd name="connsiteX1" fmla="*/ 1650432 w 1699996"/>
              <a:gd name="connsiteY1" fmla="*/ 13972 h 1970268"/>
              <a:gd name="connsiteX2" fmla="*/ 970384 w 1699996"/>
              <a:gd name="connsiteY2" fmla="*/ 1363779 h 1970268"/>
              <a:gd name="connsiteX3" fmla="*/ 1343609 w 1699996"/>
              <a:gd name="connsiteY3" fmla="*/ 1970268 h 1970268"/>
              <a:gd name="connsiteX0" fmla="*/ 0 w 1671970"/>
              <a:gd name="connsiteY0" fmla="*/ 1942865 h 1970857"/>
              <a:gd name="connsiteX1" fmla="*/ 1650432 w 1671970"/>
              <a:gd name="connsiteY1" fmla="*/ 14561 h 1970857"/>
              <a:gd name="connsiteX2" fmla="*/ 984400 w 1671970"/>
              <a:gd name="connsiteY2" fmla="*/ 1118834 h 1970857"/>
              <a:gd name="connsiteX3" fmla="*/ 1343609 w 1671970"/>
              <a:gd name="connsiteY3" fmla="*/ 1970857 h 1970857"/>
              <a:gd name="connsiteX0" fmla="*/ 0 w 1671970"/>
              <a:gd name="connsiteY0" fmla="*/ 1942865 h 1942865"/>
              <a:gd name="connsiteX1" fmla="*/ 1650432 w 1671970"/>
              <a:gd name="connsiteY1" fmla="*/ 14561 h 1942865"/>
              <a:gd name="connsiteX2" fmla="*/ 984400 w 1671970"/>
              <a:gd name="connsiteY2" fmla="*/ 1118834 h 1942865"/>
              <a:gd name="connsiteX3" fmla="*/ 1203455 w 1671970"/>
              <a:gd name="connsiteY3" fmla="*/ 1623724 h 1942865"/>
              <a:gd name="connsiteX0" fmla="*/ 0 w 1671970"/>
              <a:gd name="connsiteY0" fmla="*/ 1942865 h 1942865"/>
              <a:gd name="connsiteX1" fmla="*/ 1650432 w 1671970"/>
              <a:gd name="connsiteY1" fmla="*/ 14561 h 1942865"/>
              <a:gd name="connsiteX2" fmla="*/ 984400 w 1671970"/>
              <a:gd name="connsiteY2" fmla="*/ 1118834 h 1942865"/>
              <a:gd name="connsiteX3" fmla="*/ 1231486 w 1671970"/>
              <a:gd name="connsiteY3" fmla="*/ 1691458 h 1942865"/>
              <a:gd name="connsiteX0" fmla="*/ 0 w 1680221"/>
              <a:gd name="connsiteY0" fmla="*/ 1953567 h 1953567"/>
              <a:gd name="connsiteX1" fmla="*/ 1650432 w 1680221"/>
              <a:gd name="connsiteY1" fmla="*/ 25263 h 1953567"/>
              <a:gd name="connsiteX2" fmla="*/ 1103531 w 1680221"/>
              <a:gd name="connsiteY2" fmla="*/ 943269 h 1953567"/>
              <a:gd name="connsiteX3" fmla="*/ 1231486 w 1680221"/>
              <a:gd name="connsiteY3" fmla="*/ 1702160 h 1953567"/>
              <a:gd name="connsiteX0" fmla="*/ 0 w 1676550"/>
              <a:gd name="connsiteY0" fmla="*/ 1952975 h 1952975"/>
              <a:gd name="connsiteX1" fmla="*/ 1650432 w 1676550"/>
              <a:gd name="connsiteY1" fmla="*/ 24671 h 1952975"/>
              <a:gd name="connsiteX2" fmla="*/ 1054478 w 1676550"/>
              <a:gd name="connsiteY2" fmla="*/ 951143 h 1952975"/>
              <a:gd name="connsiteX3" fmla="*/ 1231486 w 1676550"/>
              <a:gd name="connsiteY3" fmla="*/ 1701568 h 1952975"/>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06064"/>
              <a:gd name="connsiteY0" fmla="*/ 1818934 h 1818934"/>
              <a:gd name="connsiteX1" fmla="*/ 1587363 w 1606064"/>
              <a:gd name="connsiteY1" fmla="*/ 43030 h 1818934"/>
              <a:gd name="connsiteX2" fmla="*/ 991409 w 1606064"/>
              <a:gd name="connsiteY2" fmla="*/ 969502 h 1818934"/>
              <a:gd name="connsiteX3" fmla="*/ 1168417 w 1606064"/>
              <a:gd name="connsiteY3" fmla="*/ 1719927 h 1818934"/>
              <a:gd name="connsiteX0" fmla="*/ 0 w 1618922"/>
              <a:gd name="connsiteY0" fmla="*/ 1797306 h 1797306"/>
              <a:gd name="connsiteX1" fmla="*/ 1587363 w 1618922"/>
              <a:gd name="connsiteY1" fmla="*/ 21402 h 1797306"/>
              <a:gd name="connsiteX2" fmla="*/ 1096525 w 1618922"/>
              <a:gd name="connsiteY2" fmla="*/ 905540 h 1797306"/>
              <a:gd name="connsiteX3" fmla="*/ 1168417 w 1618922"/>
              <a:gd name="connsiteY3" fmla="*/ 1698299 h 1797306"/>
              <a:gd name="connsiteX0" fmla="*/ 0 w 1630261"/>
              <a:gd name="connsiteY0" fmla="*/ 1776055 h 1776055"/>
              <a:gd name="connsiteX1" fmla="*/ 1587363 w 1630261"/>
              <a:gd name="connsiteY1" fmla="*/ 151 h 1776055"/>
              <a:gd name="connsiteX2" fmla="*/ 1168417 w 1630261"/>
              <a:gd name="connsiteY2" fmla="*/ 1677048 h 1776055"/>
              <a:gd name="connsiteX0" fmla="*/ 0 w 1599796"/>
              <a:gd name="connsiteY0" fmla="*/ 1875951 h 1875951"/>
              <a:gd name="connsiteX1" fmla="*/ 1587363 w 1599796"/>
              <a:gd name="connsiteY1" fmla="*/ 100047 h 1875951"/>
              <a:gd name="connsiteX2" fmla="*/ 1168417 w 1599796"/>
              <a:gd name="connsiteY2" fmla="*/ 1776944 h 1875951"/>
              <a:gd name="connsiteX0" fmla="*/ 0 w 1592525"/>
              <a:gd name="connsiteY0" fmla="*/ 1875951 h 1875951"/>
              <a:gd name="connsiteX1" fmla="*/ 1587363 w 1592525"/>
              <a:gd name="connsiteY1" fmla="*/ 100047 h 1875951"/>
              <a:gd name="connsiteX2" fmla="*/ 1168417 w 1592525"/>
              <a:gd name="connsiteY2" fmla="*/ 1776944 h 1875951"/>
              <a:gd name="connsiteX0" fmla="*/ 0 w 1660780"/>
              <a:gd name="connsiteY0" fmla="*/ 1795430 h 1795430"/>
              <a:gd name="connsiteX1" fmla="*/ 1587363 w 1660780"/>
              <a:gd name="connsiteY1" fmla="*/ 19526 h 1795430"/>
              <a:gd name="connsiteX2" fmla="*/ 1168417 w 1660780"/>
              <a:gd name="connsiteY2" fmla="*/ 1696423 h 1795430"/>
              <a:gd name="connsiteX0" fmla="*/ 0 w 1645000"/>
              <a:gd name="connsiteY0" fmla="*/ 1803147 h 1803147"/>
              <a:gd name="connsiteX1" fmla="*/ 1587363 w 1645000"/>
              <a:gd name="connsiteY1" fmla="*/ 27243 h 1803147"/>
              <a:gd name="connsiteX2" fmla="*/ 1168417 w 1645000"/>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7609"/>
              <a:gd name="connsiteY0" fmla="*/ 1606794 h 1677121"/>
              <a:gd name="connsiteX1" fmla="*/ 1615393 w 1637609"/>
              <a:gd name="connsiteY1" fmla="*/ 224 h 1677121"/>
              <a:gd name="connsiteX2" fmla="*/ 1196447 w 1637609"/>
              <a:gd name="connsiteY2" fmla="*/ 1677121 h 1677121"/>
              <a:gd name="connsiteX0" fmla="*/ 0 w 1633444"/>
              <a:gd name="connsiteY0" fmla="*/ 1606644 h 1606644"/>
              <a:gd name="connsiteX1" fmla="*/ 1615393 w 1633444"/>
              <a:gd name="connsiteY1" fmla="*/ 74 h 1606644"/>
              <a:gd name="connsiteX2" fmla="*/ 1105347 w 1633444"/>
              <a:gd name="connsiteY2" fmla="*/ 1558437 h 1606644"/>
              <a:gd name="connsiteX0" fmla="*/ 0 w 1635928"/>
              <a:gd name="connsiteY0" fmla="*/ 1606706 h 1606706"/>
              <a:gd name="connsiteX1" fmla="*/ 1615393 w 1635928"/>
              <a:gd name="connsiteY1" fmla="*/ 136 h 1606706"/>
              <a:gd name="connsiteX2" fmla="*/ 1161410 w 1635928"/>
              <a:gd name="connsiteY2" fmla="*/ 1541566 h 1606706"/>
              <a:gd name="connsiteX0" fmla="*/ 0 w 1578138"/>
              <a:gd name="connsiteY0" fmla="*/ 1581222 h 1581222"/>
              <a:gd name="connsiteX1" fmla="*/ 1559332 w 1578138"/>
              <a:gd name="connsiteY1" fmla="*/ 52 h 1581222"/>
              <a:gd name="connsiteX2" fmla="*/ 1105349 w 1578138"/>
              <a:gd name="connsiteY2" fmla="*/ 1541482 h 1581222"/>
              <a:gd name="connsiteX0" fmla="*/ 0 w 1578139"/>
              <a:gd name="connsiteY0" fmla="*/ 1581222 h 1581222"/>
              <a:gd name="connsiteX1" fmla="*/ 1559332 w 1578139"/>
              <a:gd name="connsiteY1" fmla="*/ 52 h 1581222"/>
              <a:gd name="connsiteX2" fmla="*/ 1105349 w 1578139"/>
              <a:gd name="connsiteY2" fmla="*/ 1541482 h 1581222"/>
            </a:gdLst>
            <a:ahLst/>
            <a:cxnLst>
              <a:cxn ang="0">
                <a:pos x="connsiteX0" y="connsiteY0"/>
              </a:cxn>
              <a:cxn ang="0">
                <a:pos x="connsiteX1" y="connsiteY1"/>
              </a:cxn>
              <a:cxn ang="0">
                <a:pos x="connsiteX2" y="connsiteY2"/>
              </a:cxn>
            </a:cxnLst>
            <a:rect l="l" t="t" r="r" b="b"/>
            <a:pathLst>
              <a:path w="1578139" h="1581222">
                <a:moveTo>
                  <a:pt x="0" y="1581222"/>
                </a:moveTo>
                <a:cubicBezTo>
                  <a:pt x="756772" y="436494"/>
                  <a:pt x="1375107" y="6675"/>
                  <a:pt x="1559332" y="52"/>
                </a:cubicBezTo>
                <a:cubicBezTo>
                  <a:pt x="1743557" y="-6571"/>
                  <a:pt x="498866" y="624863"/>
                  <a:pt x="1105349" y="1541482"/>
                </a:cubicBezTo>
              </a:path>
            </a:pathLst>
          </a:custGeom>
          <a:noFill/>
          <a:ln w="28575" cap="flat" cmpd="sng" algn="ctr">
            <a:solidFill>
              <a:srgbClr val="30B5C5"/>
            </a:solidFill>
            <a:prstDash val="solid"/>
            <a:miter lim="800000"/>
            <a:headEnd type="triangle" w="med" len="med"/>
            <a:tailEnd type="triangle" w="med" len="med"/>
          </a:ln>
          <a:effectLst/>
        </p:spPr>
        <p:txBody>
          <a:bodyPr wrap="square" rtlCol="0" anchor="ctr">
            <a:noAutofit/>
          </a:bodyPr>
          <a:lstStyle/>
          <a:p>
            <a:pPr algn="ctr" defTabSz="1219170" fontAlgn="ctr"/>
            <a:endParaRPr lang="en-US" altLang="zh-CN" sz="20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61"/>
          <p:cNvSpPr/>
          <p:nvPr/>
        </p:nvSpPr>
        <p:spPr bwMode="gray">
          <a:xfrm>
            <a:off x="1619605" y="1744733"/>
            <a:ext cx="3456221" cy="1559522"/>
          </a:xfrm>
          <a:custGeom>
            <a:avLst/>
            <a:gdLst>
              <a:gd name="connsiteX0" fmla="*/ 0 w 1384394"/>
              <a:gd name="connsiteY0" fmla="*/ 2134957 h 2162949"/>
              <a:gd name="connsiteX1" fmla="*/ 1314062 w 1384394"/>
              <a:gd name="connsiteY1" fmla="*/ 11919 h 2162949"/>
              <a:gd name="connsiteX2" fmla="*/ 970384 w 1384394"/>
              <a:gd name="connsiteY2" fmla="*/ 1556460 h 2162949"/>
              <a:gd name="connsiteX3" fmla="*/ 1343609 w 1384394"/>
              <a:gd name="connsiteY3" fmla="*/ 2162949 h 2162949"/>
              <a:gd name="connsiteX0" fmla="*/ 0 w 1699996"/>
              <a:gd name="connsiteY0" fmla="*/ 1942276 h 1970268"/>
              <a:gd name="connsiteX1" fmla="*/ 1650432 w 1699996"/>
              <a:gd name="connsiteY1" fmla="*/ 13972 h 1970268"/>
              <a:gd name="connsiteX2" fmla="*/ 970384 w 1699996"/>
              <a:gd name="connsiteY2" fmla="*/ 1363779 h 1970268"/>
              <a:gd name="connsiteX3" fmla="*/ 1343609 w 1699996"/>
              <a:gd name="connsiteY3" fmla="*/ 1970268 h 1970268"/>
              <a:gd name="connsiteX0" fmla="*/ 0 w 1671970"/>
              <a:gd name="connsiteY0" fmla="*/ 1942865 h 1970857"/>
              <a:gd name="connsiteX1" fmla="*/ 1650432 w 1671970"/>
              <a:gd name="connsiteY1" fmla="*/ 14561 h 1970857"/>
              <a:gd name="connsiteX2" fmla="*/ 984400 w 1671970"/>
              <a:gd name="connsiteY2" fmla="*/ 1118834 h 1970857"/>
              <a:gd name="connsiteX3" fmla="*/ 1343609 w 1671970"/>
              <a:gd name="connsiteY3" fmla="*/ 1970857 h 1970857"/>
              <a:gd name="connsiteX0" fmla="*/ 0 w 1671970"/>
              <a:gd name="connsiteY0" fmla="*/ 1942865 h 1942865"/>
              <a:gd name="connsiteX1" fmla="*/ 1650432 w 1671970"/>
              <a:gd name="connsiteY1" fmla="*/ 14561 h 1942865"/>
              <a:gd name="connsiteX2" fmla="*/ 984400 w 1671970"/>
              <a:gd name="connsiteY2" fmla="*/ 1118834 h 1942865"/>
              <a:gd name="connsiteX3" fmla="*/ 1203455 w 1671970"/>
              <a:gd name="connsiteY3" fmla="*/ 1623724 h 1942865"/>
              <a:gd name="connsiteX0" fmla="*/ 0 w 1671970"/>
              <a:gd name="connsiteY0" fmla="*/ 1942865 h 1942865"/>
              <a:gd name="connsiteX1" fmla="*/ 1650432 w 1671970"/>
              <a:gd name="connsiteY1" fmla="*/ 14561 h 1942865"/>
              <a:gd name="connsiteX2" fmla="*/ 984400 w 1671970"/>
              <a:gd name="connsiteY2" fmla="*/ 1118834 h 1942865"/>
              <a:gd name="connsiteX3" fmla="*/ 1231486 w 1671970"/>
              <a:gd name="connsiteY3" fmla="*/ 1691458 h 1942865"/>
              <a:gd name="connsiteX0" fmla="*/ 0 w 1680221"/>
              <a:gd name="connsiteY0" fmla="*/ 1953567 h 1953567"/>
              <a:gd name="connsiteX1" fmla="*/ 1650432 w 1680221"/>
              <a:gd name="connsiteY1" fmla="*/ 25263 h 1953567"/>
              <a:gd name="connsiteX2" fmla="*/ 1103531 w 1680221"/>
              <a:gd name="connsiteY2" fmla="*/ 943269 h 1953567"/>
              <a:gd name="connsiteX3" fmla="*/ 1231486 w 1680221"/>
              <a:gd name="connsiteY3" fmla="*/ 1702160 h 1953567"/>
              <a:gd name="connsiteX0" fmla="*/ 0 w 1676550"/>
              <a:gd name="connsiteY0" fmla="*/ 1952975 h 1952975"/>
              <a:gd name="connsiteX1" fmla="*/ 1650432 w 1676550"/>
              <a:gd name="connsiteY1" fmla="*/ 24671 h 1952975"/>
              <a:gd name="connsiteX2" fmla="*/ 1054478 w 1676550"/>
              <a:gd name="connsiteY2" fmla="*/ 951143 h 1952975"/>
              <a:gd name="connsiteX3" fmla="*/ 1231486 w 1676550"/>
              <a:gd name="connsiteY3" fmla="*/ 1701568 h 1952975"/>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06064"/>
              <a:gd name="connsiteY0" fmla="*/ 1818934 h 1818934"/>
              <a:gd name="connsiteX1" fmla="*/ 1587363 w 1606064"/>
              <a:gd name="connsiteY1" fmla="*/ 43030 h 1818934"/>
              <a:gd name="connsiteX2" fmla="*/ 991409 w 1606064"/>
              <a:gd name="connsiteY2" fmla="*/ 969502 h 1818934"/>
              <a:gd name="connsiteX3" fmla="*/ 1168417 w 1606064"/>
              <a:gd name="connsiteY3" fmla="*/ 1719927 h 1818934"/>
              <a:gd name="connsiteX0" fmla="*/ 0 w 1618922"/>
              <a:gd name="connsiteY0" fmla="*/ 1797306 h 1797306"/>
              <a:gd name="connsiteX1" fmla="*/ 1587363 w 1618922"/>
              <a:gd name="connsiteY1" fmla="*/ 21402 h 1797306"/>
              <a:gd name="connsiteX2" fmla="*/ 1096525 w 1618922"/>
              <a:gd name="connsiteY2" fmla="*/ 905540 h 1797306"/>
              <a:gd name="connsiteX3" fmla="*/ 1168417 w 1618922"/>
              <a:gd name="connsiteY3" fmla="*/ 1698299 h 1797306"/>
              <a:gd name="connsiteX0" fmla="*/ 0 w 1630261"/>
              <a:gd name="connsiteY0" fmla="*/ 1776055 h 1776055"/>
              <a:gd name="connsiteX1" fmla="*/ 1587363 w 1630261"/>
              <a:gd name="connsiteY1" fmla="*/ 151 h 1776055"/>
              <a:gd name="connsiteX2" fmla="*/ 1168417 w 1630261"/>
              <a:gd name="connsiteY2" fmla="*/ 1677048 h 1776055"/>
              <a:gd name="connsiteX0" fmla="*/ 0 w 1599796"/>
              <a:gd name="connsiteY0" fmla="*/ 1875951 h 1875951"/>
              <a:gd name="connsiteX1" fmla="*/ 1587363 w 1599796"/>
              <a:gd name="connsiteY1" fmla="*/ 100047 h 1875951"/>
              <a:gd name="connsiteX2" fmla="*/ 1168417 w 1599796"/>
              <a:gd name="connsiteY2" fmla="*/ 1776944 h 1875951"/>
              <a:gd name="connsiteX0" fmla="*/ 0 w 1592525"/>
              <a:gd name="connsiteY0" fmla="*/ 1875951 h 1875951"/>
              <a:gd name="connsiteX1" fmla="*/ 1587363 w 1592525"/>
              <a:gd name="connsiteY1" fmla="*/ 100047 h 1875951"/>
              <a:gd name="connsiteX2" fmla="*/ 1168417 w 1592525"/>
              <a:gd name="connsiteY2" fmla="*/ 1776944 h 1875951"/>
              <a:gd name="connsiteX0" fmla="*/ 0 w 1660780"/>
              <a:gd name="connsiteY0" fmla="*/ 1795430 h 1795430"/>
              <a:gd name="connsiteX1" fmla="*/ 1587363 w 1660780"/>
              <a:gd name="connsiteY1" fmla="*/ 19526 h 1795430"/>
              <a:gd name="connsiteX2" fmla="*/ 1168417 w 1660780"/>
              <a:gd name="connsiteY2" fmla="*/ 1696423 h 1795430"/>
              <a:gd name="connsiteX0" fmla="*/ 0 w 1645000"/>
              <a:gd name="connsiteY0" fmla="*/ 1803147 h 1803147"/>
              <a:gd name="connsiteX1" fmla="*/ 1587363 w 1645000"/>
              <a:gd name="connsiteY1" fmla="*/ 27243 h 1803147"/>
              <a:gd name="connsiteX2" fmla="*/ 1168417 w 1645000"/>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0373"/>
              <a:gd name="connsiteY0" fmla="*/ 1759150 h 1759150"/>
              <a:gd name="connsiteX1" fmla="*/ 1608386 w 1630373"/>
              <a:gd name="connsiteY1" fmla="*/ 179 h 1759150"/>
              <a:gd name="connsiteX2" fmla="*/ 1189440 w 1630373"/>
              <a:gd name="connsiteY2" fmla="*/ 1677076 h 1759150"/>
              <a:gd name="connsiteX0" fmla="*/ 0 w 3431907"/>
              <a:gd name="connsiteY0" fmla="*/ 1759114 h 1759114"/>
              <a:gd name="connsiteX1" fmla="*/ 1608386 w 3431907"/>
              <a:gd name="connsiteY1" fmla="*/ 143 h 1759114"/>
              <a:gd name="connsiteX2" fmla="*/ 3431907 w 3431907"/>
              <a:gd name="connsiteY2" fmla="*/ 1685507 h 1759114"/>
              <a:gd name="connsiteX0" fmla="*/ 0 w 3431907"/>
              <a:gd name="connsiteY0" fmla="*/ 1759266 h 1759266"/>
              <a:gd name="connsiteX1" fmla="*/ 1608386 w 3431907"/>
              <a:gd name="connsiteY1" fmla="*/ 295 h 1759266"/>
              <a:gd name="connsiteX2" fmla="*/ 3431907 w 3431907"/>
              <a:gd name="connsiteY2" fmla="*/ 1685659 h 1759266"/>
              <a:gd name="connsiteX0" fmla="*/ 0 w 3431907"/>
              <a:gd name="connsiteY0" fmla="*/ 1826955 h 1826955"/>
              <a:gd name="connsiteX1" fmla="*/ 2028849 w 3431907"/>
              <a:gd name="connsiteY1" fmla="*/ 251 h 1826955"/>
              <a:gd name="connsiteX2" fmla="*/ 3431907 w 3431907"/>
              <a:gd name="connsiteY2" fmla="*/ 1753348 h 1826955"/>
              <a:gd name="connsiteX0" fmla="*/ 0 w 3431907"/>
              <a:gd name="connsiteY0" fmla="*/ 73607 h 73607"/>
              <a:gd name="connsiteX1" fmla="*/ 3431907 w 3431907"/>
              <a:gd name="connsiteY1" fmla="*/ 0 h 73607"/>
              <a:gd name="connsiteX0" fmla="*/ 0 w 3431907"/>
              <a:gd name="connsiteY0" fmla="*/ 1364300 h 1364300"/>
              <a:gd name="connsiteX1" fmla="*/ 3431907 w 3431907"/>
              <a:gd name="connsiteY1" fmla="*/ 1290693 h 1364300"/>
              <a:gd name="connsiteX0" fmla="*/ 0 w 3431907"/>
              <a:gd name="connsiteY0" fmla="*/ 1803651 h 1803651"/>
              <a:gd name="connsiteX1" fmla="*/ 3431907 w 3431907"/>
              <a:gd name="connsiteY1" fmla="*/ 1730044 h 1803651"/>
              <a:gd name="connsiteX0" fmla="*/ 0 w 3431907"/>
              <a:gd name="connsiteY0" fmla="*/ 1831963 h 1831963"/>
              <a:gd name="connsiteX1" fmla="*/ 3431907 w 3431907"/>
              <a:gd name="connsiteY1" fmla="*/ 1758356 h 1831963"/>
              <a:gd name="connsiteX0" fmla="*/ 0 w 3431907"/>
              <a:gd name="connsiteY0" fmla="*/ 1892361 h 1892361"/>
              <a:gd name="connsiteX1" fmla="*/ 3431907 w 3431907"/>
              <a:gd name="connsiteY1" fmla="*/ 1818754 h 1892361"/>
              <a:gd name="connsiteX0" fmla="*/ 0 w 3347815"/>
              <a:gd name="connsiteY0" fmla="*/ 1803690 h 1965829"/>
              <a:gd name="connsiteX1" fmla="*/ 3347815 w 3347815"/>
              <a:gd name="connsiteY1" fmla="*/ 1965830 h 1965829"/>
              <a:gd name="connsiteX0" fmla="*/ 0 w 3389861"/>
              <a:gd name="connsiteY0" fmla="*/ 1829244 h 1921534"/>
              <a:gd name="connsiteX1" fmla="*/ 3389861 w 3389861"/>
              <a:gd name="connsiteY1" fmla="*/ 1921534 h 1921534"/>
              <a:gd name="connsiteX0" fmla="*/ 0 w 3389861"/>
              <a:gd name="connsiteY0" fmla="*/ 1725147 h 1817437"/>
              <a:gd name="connsiteX1" fmla="*/ 3389861 w 3389861"/>
              <a:gd name="connsiteY1" fmla="*/ 1817437 h 1817437"/>
              <a:gd name="connsiteX0" fmla="*/ 0 w 3137584"/>
              <a:gd name="connsiteY0" fmla="*/ 1735130 h 1801226"/>
              <a:gd name="connsiteX1" fmla="*/ 3137584 w 3137584"/>
              <a:gd name="connsiteY1" fmla="*/ 1801226 h 1801226"/>
              <a:gd name="connsiteX0" fmla="*/ 0 w 3137584"/>
              <a:gd name="connsiteY0" fmla="*/ 1740519 h 1806615"/>
              <a:gd name="connsiteX1" fmla="*/ 3137584 w 3137584"/>
              <a:gd name="connsiteY1" fmla="*/ 1806615 h 1806615"/>
              <a:gd name="connsiteX0" fmla="*/ 0 w 3137584"/>
              <a:gd name="connsiteY0" fmla="*/ 1697875 h 1763971"/>
              <a:gd name="connsiteX1" fmla="*/ 3137584 w 3137584"/>
              <a:gd name="connsiteY1" fmla="*/ 1763971 h 1763971"/>
            </a:gdLst>
            <a:ahLst/>
            <a:cxnLst>
              <a:cxn ang="0">
                <a:pos x="connsiteX0" y="connsiteY0"/>
              </a:cxn>
              <a:cxn ang="0">
                <a:pos x="connsiteX1" y="connsiteY1"/>
              </a:cxn>
            </a:cxnLst>
            <a:rect l="l" t="t" r="r" b="b"/>
            <a:pathLst>
              <a:path w="3137584" h="1763971">
                <a:moveTo>
                  <a:pt x="0" y="1697875"/>
                </a:moveTo>
                <a:cubicBezTo>
                  <a:pt x="1788679" y="-1307982"/>
                  <a:pt x="2925639" y="302081"/>
                  <a:pt x="3137584" y="1763971"/>
                </a:cubicBezTo>
              </a:path>
            </a:pathLst>
          </a:custGeom>
          <a:noFill/>
          <a:ln w="28575" cap="flat" cmpd="sng" algn="ctr">
            <a:solidFill>
              <a:srgbClr val="30B5C5"/>
            </a:solidFill>
            <a:prstDash val="solid"/>
            <a:miter lim="800000"/>
            <a:headEnd type="triangle" w="med" len="med"/>
            <a:tailEnd type="triangle" w="med" len="med"/>
          </a:ln>
          <a:effectLst/>
        </p:spPr>
        <p:txBody>
          <a:bodyPr wrap="square" rtlCol="0" anchor="ctr">
            <a:noAutofit/>
          </a:bodyPr>
          <a:lstStyle/>
          <a:p>
            <a:pPr algn="ctr" defTabSz="1219170" fontAlgn="ctr"/>
            <a:endParaRPr lang="en-US" altLang="zh-CN" sz="20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Rectangle 64"/>
          <p:cNvSpPr/>
          <p:nvPr/>
        </p:nvSpPr>
        <p:spPr bwMode="gray">
          <a:xfrm>
            <a:off x="731838" y="4431407"/>
            <a:ext cx="5321829" cy="1586408"/>
          </a:xfrm>
          <a:prstGeom prst="rect">
            <a:avLst/>
          </a:prstGeom>
        </p:spPr>
        <p:txBody>
          <a:bodyPr wrap="square">
            <a:noAutofit/>
          </a:bodyPr>
          <a:lstStyle/>
          <a:p>
            <a:pPr algn="just">
              <a:lnSpc>
                <a:spcPts val="2200"/>
              </a:lnSpc>
              <a:spcAft>
                <a:spcPts val="6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网关部署在一台设备上。所有跨子网的流量都通过网关转发，实现流量的集中管理。</a:t>
            </a:r>
          </a:p>
          <a:p>
            <a:pPr algn="just">
              <a:lnSpc>
                <a:spcPts val="22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优点：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跨子网流量集中管理，简化网关部署和管理。</a:t>
            </a:r>
          </a:p>
          <a:p>
            <a:pPr algn="just">
              <a:lnSpc>
                <a:spcPts val="22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缺点：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转发路径并非最优。</a:t>
            </a:r>
          </a:p>
        </p:txBody>
      </p:sp>
      <p:sp>
        <p:nvSpPr>
          <p:cNvPr id="26" name="Rectangle 64"/>
          <p:cNvSpPr/>
          <p:nvPr/>
        </p:nvSpPr>
        <p:spPr bwMode="gray">
          <a:xfrm>
            <a:off x="6155981" y="4431407"/>
            <a:ext cx="5304182" cy="1597820"/>
          </a:xfrm>
          <a:prstGeom prst="rect">
            <a:avLst/>
          </a:prstGeom>
        </p:spPr>
        <p:txBody>
          <a:bodyPr wrap="square">
            <a:noAutofit/>
          </a:bodyPr>
          <a:lstStyle/>
          <a:p>
            <a:pPr algn="just">
              <a:lnSpc>
                <a:spcPts val="2200"/>
              </a:lnSpc>
              <a:spcAft>
                <a:spcPts val="6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网关部署在多台设备上，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节点既是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网关，又是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p>
          <a:p>
            <a:pPr algn="just">
              <a:lnSpc>
                <a:spcPts val="22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优点：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跨子网流量转发路径最优。</a:t>
            </a:r>
          </a:p>
          <a:p>
            <a:pPr algn="just">
              <a:lnSpc>
                <a:spcPts val="22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缺点：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网关部署、故障定位及网络运维相对集中式网关复杂。</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节点之间需交互及维护主机路由。</a:t>
            </a:r>
          </a:p>
        </p:txBody>
      </p:sp>
      <p:sp>
        <p:nvSpPr>
          <p:cNvPr id="27" name="圆角矩形 75"/>
          <p:cNvSpPr/>
          <p:nvPr/>
        </p:nvSpPr>
        <p:spPr bwMode="gray">
          <a:xfrm>
            <a:off x="731838" y="1141495"/>
            <a:ext cx="532182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集中式网关（推荐）</a:t>
            </a:r>
          </a:p>
        </p:txBody>
      </p:sp>
      <p:sp>
        <p:nvSpPr>
          <p:cNvPr id="28" name="圆角矩形 75"/>
          <p:cNvSpPr/>
          <p:nvPr/>
        </p:nvSpPr>
        <p:spPr bwMode="gray">
          <a:xfrm>
            <a:off x="731838" y="1545454"/>
            <a:ext cx="5321829" cy="4472361"/>
          </a:xfrm>
          <a:prstGeom prst="roundRect">
            <a:avLst>
              <a:gd name="adj" fmla="val 109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9" name="圆角矩形 75"/>
          <p:cNvSpPr/>
          <p:nvPr/>
        </p:nvSpPr>
        <p:spPr bwMode="gray">
          <a:xfrm>
            <a:off x="6155980" y="1141495"/>
            <a:ext cx="530418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分布式网关</a:t>
            </a:r>
          </a:p>
        </p:txBody>
      </p:sp>
      <p:sp>
        <p:nvSpPr>
          <p:cNvPr id="30" name="圆角矩形 75"/>
          <p:cNvSpPr/>
          <p:nvPr/>
        </p:nvSpPr>
        <p:spPr bwMode="gray">
          <a:xfrm>
            <a:off x="6155980" y="1545454"/>
            <a:ext cx="5304183" cy="4472361"/>
          </a:xfrm>
          <a:prstGeom prst="roundRect">
            <a:avLst>
              <a:gd name="adj" fmla="val 838"/>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32" name="组合 31"/>
          <p:cNvGrpSpPr/>
          <p:nvPr/>
        </p:nvGrpSpPr>
        <p:grpSpPr bwMode="gray">
          <a:xfrm>
            <a:off x="6893754" y="2779822"/>
            <a:ext cx="1330024" cy="574381"/>
            <a:chOff x="6600056" y="4353447"/>
            <a:chExt cx="1296144" cy="833967"/>
          </a:xfrm>
        </p:grpSpPr>
        <p:cxnSp>
          <p:nvCxnSpPr>
            <p:cNvPr id="50" name="直接连接符 49"/>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 name="直接连接符 32"/>
          <p:cNvCxnSpPr/>
          <p:nvPr/>
        </p:nvCxnSpPr>
        <p:spPr bwMode="gray">
          <a:xfrm flipV="1">
            <a:off x="10417229" y="2919274"/>
            <a:ext cx="0" cy="4349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bwMode="gray">
          <a:xfrm>
            <a:off x="7544383" y="1921652"/>
            <a:ext cx="2883144" cy="834242"/>
            <a:chOff x="6600056" y="4353447"/>
            <a:chExt cx="1296144" cy="833967"/>
          </a:xfrm>
        </p:grpSpPr>
        <p:cxnSp>
          <p:nvCxnSpPr>
            <p:cNvPr id="48" name="直接连接符 47"/>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35" name="图片 86" descr="核心交换机.png"/>
          <p:cNvPicPr>
            <a:picLocks noChangeAspect="1"/>
          </p:cNvPicPr>
          <p:nvPr/>
        </p:nvPicPr>
        <p:blipFill>
          <a:blip r:embed="rId3"/>
          <a:stretch>
            <a:fillRect/>
          </a:stretch>
        </p:blipFill>
        <p:spPr bwMode="gray">
          <a:xfrm>
            <a:off x="8773327" y="1718533"/>
            <a:ext cx="458440" cy="375089"/>
          </a:xfrm>
          <a:prstGeom prst="rect">
            <a:avLst/>
          </a:prstGeom>
        </p:spPr>
      </p:pic>
      <p:pic>
        <p:nvPicPr>
          <p:cNvPr id="36" name="图片 87" descr="汇聚交换机.png"/>
          <p:cNvPicPr>
            <a:picLocks noChangeAspect="1"/>
          </p:cNvPicPr>
          <p:nvPr/>
        </p:nvPicPr>
        <p:blipFill>
          <a:blip r:embed="rId4"/>
          <a:stretch>
            <a:fillRect/>
          </a:stretch>
        </p:blipFill>
        <p:spPr bwMode="gray">
          <a:xfrm>
            <a:off x="10189783" y="2602518"/>
            <a:ext cx="458440" cy="375089"/>
          </a:xfrm>
          <a:prstGeom prst="rect">
            <a:avLst/>
          </a:prstGeom>
        </p:spPr>
      </p:pic>
      <p:pic>
        <p:nvPicPr>
          <p:cNvPr id="37" name="图片 87" descr="汇聚交换机.png"/>
          <p:cNvPicPr>
            <a:picLocks noChangeAspect="1"/>
          </p:cNvPicPr>
          <p:nvPr/>
        </p:nvPicPr>
        <p:blipFill>
          <a:blip r:embed="rId4"/>
          <a:stretch>
            <a:fillRect/>
          </a:stretch>
        </p:blipFill>
        <p:spPr bwMode="gray">
          <a:xfrm>
            <a:off x="7329547" y="2602518"/>
            <a:ext cx="458440" cy="375089"/>
          </a:xfrm>
          <a:prstGeom prst="rect">
            <a:avLst/>
          </a:prstGeom>
        </p:spPr>
      </p:pic>
      <p:pic>
        <p:nvPicPr>
          <p:cNvPr id="38" name="图片 11" descr="开放网络-蓝.png"/>
          <p:cNvPicPr>
            <a:picLocks noChangeAspect="1"/>
          </p:cNvPicPr>
          <p:nvPr/>
        </p:nvPicPr>
        <p:blipFill>
          <a:blip r:embed="rId5"/>
          <a:stretch>
            <a:fillRect/>
          </a:stretch>
        </p:blipFill>
        <p:spPr bwMode="gray">
          <a:xfrm>
            <a:off x="6525136" y="3315666"/>
            <a:ext cx="406596" cy="312990"/>
          </a:xfrm>
          <a:prstGeom prst="rect">
            <a:avLst/>
          </a:prstGeom>
        </p:spPr>
      </p:pic>
      <p:sp>
        <p:nvSpPr>
          <p:cNvPr id="39" name="矩形 38"/>
          <p:cNvSpPr/>
          <p:nvPr/>
        </p:nvSpPr>
        <p:spPr bwMode="gray">
          <a:xfrm>
            <a:off x="6382502" y="2535969"/>
            <a:ext cx="896400" cy="276999"/>
          </a:xfrm>
          <a:prstGeom prst="rect">
            <a:avLst/>
          </a:prstGeom>
        </p:spPr>
        <p:txBody>
          <a:bodyPr wrap="none">
            <a:spAutoFit/>
          </a:bodyPr>
          <a:lstStyle/>
          <a:p>
            <a:pPr algn="ctr" fontAlgn="ctr"/>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L2/L3</a:t>
            </a:r>
            <a:r>
              <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0" name="图片 11" descr="开放网络-蓝.png"/>
          <p:cNvPicPr>
            <a:picLocks noChangeAspect="1"/>
          </p:cNvPicPr>
          <p:nvPr/>
        </p:nvPicPr>
        <p:blipFill>
          <a:blip r:embed="rId5"/>
          <a:stretch>
            <a:fillRect/>
          </a:stretch>
        </p:blipFill>
        <p:spPr bwMode="gray">
          <a:xfrm>
            <a:off x="8195916" y="3315666"/>
            <a:ext cx="406596" cy="312990"/>
          </a:xfrm>
          <a:prstGeom prst="rect">
            <a:avLst/>
          </a:prstGeom>
        </p:spPr>
      </p:pic>
      <p:pic>
        <p:nvPicPr>
          <p:cNvPr id="41" name="图片 11" descr="开放网络-蓝.png"/>
          <p:cNvPicPr>
            <a:picLocks noChangeAspect="1"/>
          </p:cNvPicPr>
          <p:nvPr/>
        </p:nvPicPr>
        <p:blipFill>
          <a:blip r:embed="rId5"/>
          <a:stretch>
            <a:fillRect/>
          </a:stretch>
        </p:blipFill>
        <p:spPr bwMode="gray">
          <a:xfrm>
            <a:off x="10224229" y="3315666"/>
            <a:ext cx="406596" cy="312990"/>
          </a:xfrm>
          <a:prstGeom prst="rect">
            <a:avLst/>
          </a:prstGeom>
        </p:spPr>
      </p:pic>
      <p:sp>
        <p:nvSpPr>
          <p:cNvPr id="42" name="Freeform 61"/>
          <p:cNvSpPr/>
          <p:nvPr/>
        </p:nvSpPr>
        <p:spPr bwMode="gray">
          <a:xfrm>
            <a:off x="7036643" y="3016508"/>
            <a:ext cx="1055540" cy="335957"/>
          </a:xfrm>
          <a:custGeom>
            <a:avLst/>
            <a:gdLst>
              <a:gd name="connsiteX0" fmla="*/ 0 w 1384394"/>
              <a:gd name="connsiteY0" fmla="*/ 2134957 h 2162949"/>
              <a:gd name="connsiteX1" fmla="*/ 1314062 w 1384394"/>
              <a:gd name="connsiteY1" fmla="*/ 11919 h 2162949"/>
              <a:gd name="connsiteX2" fmla="*/ 970384 w 1384394"/>
              <a:gd name="connsiteY2" fmla="*/ 1556460 h 2162949"/>
              <a:gd name="connsiteX3" fmla="*/ 1343609 w 1384394"/>
              <a:gd name="connsiteY3" fmla="*/ 2162949 h 2162949"/>
              <a:gd name="connsiteX0" fmla="*/ 0 w 1699996"/>
              <a:gd name="connsiteY0" fmla="*/ 1942276 h 1970268"/>
              <a:gd name="connsiteX1" fmla="*/ 1650432 w 1699996"/>
              <a:gd name="connsiteY1" fmla="*/ 13972 h 1970268"/>
              <a:gd name="connsiteX2" fmla="*/ 970384 w 1699996"/>
              <a:gd name="connsiteY2" fmla="*/ 1363779 h 1970268"/>
              <a:gd name="connsiteX3" fmla="*/ 1343609 w 1699996"/>
              <a:gd name="connsiteY3" fmla="*/ 1970268 h 1970268"/>
              <a:gd name="connsiteX0" fmla="*/ 0 w 1671970"/>
              <a:gd name="connsiteY0" fmla="*/ 1942865 h 1970857"/>
              <a:gd name="connsiteX1" fmla="*/ 1650432 w 1671970"/>
              <a:gd name="connsiteY1" fmla="*/ 14561 h 1970857"/>
              <a:gd name="connsiteX2" fmla="*/ 984400 w 1671970"/>
              <a:gd name="connsiteY2" fmla="*/ 1118834 h 1970857"/>
              <a:gd name="connsiteX3" fmla="*/ 1343609 w 1671970"/>
              <a:gd name="connsiteY3" fmla="*/ 1970857 h 1970857"/>
              <a:gd name="connsiteX0" fmla="*/ 0 w 1671970"/>
              <a:gd name="connsiteY0" fmla="*/ 1942865 h 1942865"/>
              <a:gd name="connsiteX1" fmla="*/ 1650432 w 1671970"/>
              <a:gd name="connsiteY1" fmla="*/ 14561 h 1942865"/>
              <a:gd name="connsiteX2" fmla="*/ 984400 w 1671970"/>
              <a:gd name="connsiteY2" fmla="*/ 1118834 h 1942865"/>
              <a:gd name="connsiteX3" fmla="*/ 1203455 w 1671970"/>
              <a:gd name="connsiteY3" fmla="*/ 1623724 h 1942865"/>
              <a:gd name="connsiteX0" fmla="*/ 0 w 1671970"/>
              <a:gd name="connsiteY0" fmla="*/ 1942865 h 1942865"/>
              <a:gd name="connsiteX1" fmla="*/ 1650432 w 1671970"/>
              <a:gd name="connsiteY1" fmla="*/ 14561 h 1942865"/>
              <a:gd name="connsiteX2" fmla="*/ 984400 w 1671970"/>
              <a:gd name="connsiteY2" fmla="*/ 1118834 h 1942865"/>
              <a:gd name="connsiteX3" fmla="*/ 1231486 w 1671970"/>
              <a:gd name="connsiteY3" fmla="*/ 1691458 h 1942865"/>
              <a:gd name="connsiteX0" fmla="*/ 0 w 1680221"/>
              <a:gd name="connsiteY0" fmla="*/ 1953567 h 1953567"/>
              <a:gd name="connsiteX1" fmla="*/ 1650432 w 1680221"/>
              <a:gd name="connsiteY1" fmla="*/ 25263 h 1953567"/>
              <a:gd name="connsiteX2" fmla="*/ 1103531 w 1680221"/>
              <a:gd name="connsiteY2" fmla="*/ 943269 h 1953567"/>
              <a:gd name="connsiteX3" fmla="*/ 1231486 w 1680221"/>
              <a:gd name="connsiteY3" fmla="*/ 1702160 h 1953567"/>
              <a:gd name="connsiteX0" fmla="*/ 0 w 1676550"/>
              <a:gd name="connsiteY0" fmla="*/ 1952975 h 1952975"/>
              <a:gd name="connsiteX1" fmla="*/ 1650432 w 1676550"/>
              <a:gd name="connsiteY1" fmla="*/ 24671 h 1952975"/>
              <a:gd name="connsiteX2" fmla="*/ 1054478 w 1676550"/>
              <a:gd name="connsiteY2" fmla="*/ 951143 h 1952975"/>
              <a:gd name="connsiteX3" fmla="*/ 1231486 w 1676550"/>
              <a:gd name="connsiteY3" fmla="*/ 1701568 h 1952975"/>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06064"/>
              <a:gd name="connsiteY0" fmla="*/ 1818934 h 1818934"/>
              <a:gd name="connsiteX1" fmla="*/ 1587363 w 1606064"/>
              <a:gd name="connsiteY1" fmla="*/ 43030 h 1818934"/>
              <a:gd name="connsiteX2" fmla="*/ 991409 w 1606064"/>
              <a:gd name="connsiteY2" fmla="*/ 969502 h 1818934"/>
              <a:gd name="connsiteX3" fmla="*/ 1168417 w 1606064"/>
              <a:gd name="connsiteY3" fmla="*/ 1719927 h 1818934"/>
              <a:gd name="connsiteX0" fmla="*/ 0 w 1618922"/>
              <a:gd name="connsiteY0" fmla="*/ 1797306 h 1797306"/>
              <a:gd name="connsiteX1" fmla="*/ 1587363 w 1618922"/>
              <a:gd name="connsiteY1" fmla="*/ 21402 h 1797306"/>
              <a:gd name="connsiteX2" fmla="*/ 1096525 w 1618922"/>
              <a:gd name="connsiteY2" fmla="*/ 905540 h 1797306"/>
              <a:gd name="connsiteX3" fmla="*/ 1168417 w 1618922"/>
              <a:gd name="connsiteY3" fmla="*/ 1698299 h 1797306"/>
              <a:gd name="connsiteX0" fmla="*/ 0 w 1630261"/>
              <a:gd name="connsiteY0" fmla="*/ 1776055 h 1776055"/>
              <a:gd name="connsiteX1" fmla="*/ 1587363 w 1630261"/>
              <a:gd name="connsiteY1" fmla="*/ 151 h 1776055"/>
              <a:gd name="connsiteX2" fmla="*/ 1168417 w 1630261"/>
              <a:gd name="connsiteY2" fmla="*/ 1677048 h 1776055"/>
              <a:gd name="connsiteX0" fmla="*/ 0 w 1599796"/>
              <a:gd name="connsiteY0" fmla="*/ 1875951 h 1875951"/>
              <a:gd name="connsiteX1" fmla="*/ 1587363 w 1599796"/>
              <a:gd name="connsiteY1" fmla="*/ 100047 h 1875951"/>
              <a:gd name="connsiteX2" fmla="*/ 1168417 w 1599796"/>
              <a:gd name="connsiteY2" fmla="*/ 1776944 h 1875951"/>
              <a:gd name="connsiteX0" fmla="*/ 0 w 1592525"/>
              <a:gd name="connsiteY0" fmla="*/ 1875951 h 1875951"/>
              <a:gd name="connsiteX1" fmla="*/ 1587363 w 1592525"/>
              <a:gd name="connsiteY1" fmla="*/ 100047 h 1875951"/>
              <a:gd name="connsiteX2" fmla="*/ 1168417 w 1592525"/>
              <a:gd name="connsiteY2" fmla="*/ 1776944 h 1875951"/>
              <a:gd name="connsiteX0" fmla="*/ 0 w 1660780"/>
              <a:gd name="connsiteY0" fmla="*/ 1795430 h 1795430"/>
              <a:gd name="connsiteX1" fmla="*/ 1587363 w 1660780"/>
              <a:gd name="connsiteY1" fmla="*/ 19526 h 1795430"/>
              <a:gd name="connsiteX2" fmla="*/ 1168417 w 1660780"/>
              <a:gd name="connsiteY2" fmla="*/ 1696423 h 1795430"/>
              <a:gd name="connsiteX0" fmla="*/ 0 w 1645000"/>
              <a:gd name="connsiteY0" fmla="*/ 1803147 h 1803147"/>
              <a:gd name="connsiteX1" fmla="*/ 1587363 w 1645000"/>
              <a:gd name="connsiteY1" fmla="*/ 27243 h 1803147"/>
              <a:gd name="connsiteX2" fmla="*/ 1168417 w 1645000"/>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7609"/>
              <a:gd name="connsiteY0" fmla="*/ 1606794 h 1677121"/>
              <a:gd name="connsiteX1" fmla="*/ 1615393 w 1637609"/>
              <a:gd name="connsiteY1" fmla="*/ 224 h 1677121"/>
              <a:gd name="connsiteX2" fmla="*/ 1196447 w 1637609"/>
              <a:gd name="connsiteY2" fmla="*/ 1677121 h 1677121"/>
              <a:gd name="connsiteX0" fmla="*/ 0 w 1633444"/>
              <a:gd name="connsiteY0" fmla="*/ 1606644 h 1606644"/>
              <a:gd name="connsiteX1" fmla="*/ 1615393 w 1633444"/>
              <a:gd name="connsiteY1" fmla="*/ 74 h 1606644"/>
              <a:gd name="connsiteX2" fmla="*/ 1105347 w 1633444"/>
              <a:gd name="connsiteY2" fmla="*/ 1558437 h 1606644"/>
              <a:gd name="connsiteX0" fmla="*/ 0 w 1635928"/>
              <a:gd name="connsiteY0" fmla="*/ 1606706 h 1606706"/>
              <a:gd name="connsiteX1" fmla="*/ 1615393 w 1635928"/>
              <a:gd name="connsiteY1" fmla="*/ 136 h 1606706"/>
              <a:gd name="connsiteX2" fmla="*/ 1161410 w 1635928"/>
              <a:gd name="connsiteY2" fmla="*/ 1541566 h 1606706"/>
              <a:gd name="connsiteX0" fmla="*/ 0 w 1578138"/>
              <a:gd name="connsiteY0" fmla="*/ 1581222 h 1581222"/>
              <a:gd name="connsiteX1" fmla="*/ 1559332 w 1578138"/>
              <a:gd name="connsiteY1" fmla="*/ 52 h 1581222"/>
              <a:gd name="connsiteX2" fmla="*/ 1105349 w 1578138"/>
              <a:gd name="connsiteY2" fmla="*/ 1541482 h 1581222"/>
              <a:gd name="connsiteX0" fmla="*/ 0 w 1578139"/>
              <a:gd name="connsiteY0" fmla="*/ 1581222 h 1581222"/>
              <a:gd name="connsiteX1" fmla="*/ 1559332 w 1578139"/>
              <a:gd name="connsiteY1" fmla="*/ 52 h 1581222"/>
              <a:gd name="connsiteX2" fmla="*/ 1105349 w 1578139"/>
              <a:gd name="connsiteY2" fmla="*/ 1541482 h 1581222"/>
              <a:gd name="connsiteX0" fmla="*/ 0 w 1105349"/>
              <a:gd name="connsiteY0" fmla="*/ 726054 h 726054"/>
              <a:gd name="connsiteX1" fmla="*/ 392550 w 1105349"/>
              <a:gd name="connsiteY1" fmla="*/ 127864 h 726054"/>
              <a:gd name="connsiteX2" fmla="*/ 1105349 w 1105349"/>
              <a:gd name="connsiteY2" fmla="*/ 686314 h 726054"/>
              <a:gd name="connsiteX0" fmla="*/ 0 w 1105349"/>
              <a:gd name="connsiteY0" fmla="*/ 669864 h 669864"/>
              <a:gd name="connsiteX1" fmla="*/ 392550 w 1105349"/>
              <a:gd name="connsiteY1" fmla="*/ 71674 h 669864"/>
              <a:gd name="connsiteX2" fmla="*/ 1105349 w 1105349"/>
              <a:gd name="connsiteY2" fmla="*/ 630124 h 669864"/>
              <a:gd name="connsiteX0" fmla="*/ 0 w 1105349"/>
              <a:gd name="connsiteY0" fmla="*/ 39740 h 39740"/>
              <a:gd name="connsiteX1" fmla="*/ 1105349 w 1105349"/>
              <a:gd name="connsiteY1" fmla="*/ 0 h 39740"/>
              <a:gd name="connsiteX0" fmla="*/ 0 w 865685"/>
              <a:gd name="connsiteY0" fmla="*/ 0 h 5980"/>
              <a:gd name="connsiteX1" fmla="*/ 865685 w 865685"/>
              <a:gd name="connsiteY1" fmla="*/ 5980 h 5980"/>
              <a:gd name="connsiteX0" fmla="*/ 0 w 10850"/>
              <a:gd name="connsiteY0" fmla="*/ 19732 h 19732"/>
              <a:gd name="connsiteX1" fmla="*/ 10850 w 10850"/>
              <a:gd name="connsiteY1" fmla="*/ 0 h 19732"/>
              <a:gd name="connsiteX0" fmla="*/ 0 w 10850"/>
              <a:gd name="connsiteY0" fmla="*/ 372836 h 372836"/>
              <a:gd name="connsiteX1" fmla="*/ 10850 w 10850"/>
              <a:gd name="connsiteY1" fmla="*/ 353104 h 372836"/>
              <a:gd name="connsiteX0" fmla="*/ 0 w 11069"/>
              <a:gd name="connsiteY0" fmla="*/ 366211 h 372000"/>
              <a:gd name="connsiteX1" fmla="*/ 11069 w 11069"/>
              <a:gd name="connsiteY1" fmla="*/ 371963 h 372000"/>
              <a:gd name="connsiteX0" fmla="*/ 0 w 11069"/>
              <a:gd name="connsiteY0" fmla="*/ 610421 h 616173"/>
              <a:gd name="connsiteX1" fmla="*/ 11069 w 11069"/>
              <a:gd name="connsiteY1" fmla="*/ 616173 h 616173"/>
            </a:gdLst>
            <a:ahLst/>
            <a:cxnLst>
              <a:cxn ang="0">
                <a:pos x="connsiteX0" y="connsiteY0"/>
              </a:cxn>
              <a:cxn ang="0">
                <a:pos x="connsiteX1" y="connsiteY1"/>
              </a:cxn>
            </a:cxnLst>
            <a:rect l="l" t="t" r="r" b="b"/>
            <a:pathLst>
              <a:path w="11069" h="616173">
                <a:moveTo>
                  <a:pt x="0" y="610421"/>
                </a:moveTo>
                <a:cubicBezTo>
                  <a:pt x="4783" y="-220151"/>
                  <a:pt x="6359" y="-188503"/>
                  <a:pt x="11069" y="616173"/>
                </a:cubicBezTo>
              </a:path>
            </a:pathLst>
          </a:custGeom>
          <a:noFill/>
          <a:ln w="28575" cap="flat" cmpd="sng" algn="ctr">
            <a:solidFill>
              <a:srgbClr val="30B5C5"/>
            </a:solidFill>
            <a:prstDash val="solid"/>
            <a:miter lim="800000"/>
            <a:headEnd type="triangle" w="med" len="med"/>
            <a:tailEnd type="triangle" w="med" len="med"/>
          </a:ln>
          <a:effectLst/>
        </p:spPr>
        <p:txBody>
          <a:bodyPr wrap="square" rtlCol="0" anchor="ctr">
            <a:noAutofit/>
          </a:bodyPr>
          <a:lstStyle/>
          <a:p>
            <a:pPr algn="ctr" defTabSz="1219170" fontAlgn="ctr"/>
            <a:endParaRPr lang="en-US" altLang="zh-CN" sz="20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Freeform 61"/>
          <p:cNvSpPr/>
          <p:nvPr/>
        </p:nvSpPr>
        <p:spPr bwMode="gray">
          <a:xfrm>
            <a:off x="6855330" y="2149761"/>
            <a:ext cx="3456221" cy="1154493"/>
          </a:xfrm>
          <a:custGeom>
            <a:avLst/>
            <a:gdLst>
              <a:gd name="connsiteX0" fmla="*/ 0 w 1384394"/>
              <a:gd name="connsiteY0" fmla="*/ 2134957 h 2162949"/>
              <a:gd name="connsiteX1" fmla="*/ 1314062 w 1384394"/>
              <a:gd name="connsiteY1" fmla="*/ 11919 h 2162949"/>
              <a:gd name="connsiteX2" fmla="*/ 970384 w 1384394"/>
              <a:gd name="connsiteY2" fmla="*/ 1556460 h 2162949"/>
              <a:gd name="connsiteX3" fmla="*/ 1343609 w 1384394"/>
              <a:gd name="connsiteY3" fmla="*/ 2162949 h 2162949"/>
              <a:gd name="connsiteX0" fmla="*/ 0 w 1699996"/>
              <a:gd name="connsiteY0" fmla="*/ 1942276 h 1970268"/>
              <a:gd name="connsiteX1" fmla="*/ 1650432 w 1699996"/>
              <a:gd name="connsiteY1" fmla="*/ 13972 h 1970268"/>
              <a:gd name="connsiteX2" fmla="*/ 970384 w 1699996"/>
              <a:gd name="connsiteY2" fmla="*/ 1363779 h 1970268"/>
              <a:gd name="connsiteX3" fmla="*/ 1343609 w 1699996"/>
              <a:gd name="connsiteY3" fmla="*/ 1970268 h 1970268"/>
              <a:gd name="connsiteX0" fmla="*/ 0 w 1671970"/>
              <a:gd name="connsiteY0" fmla="*/ 1942865 h 1970857"/>
              <a:gd name="connsiteX1" fmla="*/ 1650432 w 1671970"/>
              <a:gd name="connsiteY1" fmla="*/ 14561 h 1970857"/>
              <a:gd name="connsiteX2" fmla="*/ 984400 w 1671970"/>
              <a:gd name="connsiteY2" fmla="*/ 1118834 h 1970857"/>
              <a:gd name="connsiteX3" fmla="*/ 1343609 w 1671970"/>
              <a:gd name="connsiteY3" fmla="*/ 1970857 h 1970857"/>
              <a:gd name="connsiteX0" fmla="*/ 0 w 1671970"/>
              <a:gd name="connsiteY0" fmla="*/ 1942865 h 1942865"/>
              <a:gd name="connsiteX1" fmla="*/ 1650432 w 1671970"/>
              <a:gd name="connsiteY1" fmla="*/ 14561 h 1942865"/>
              <a:gd name="connsiteX2" fmla="*/ 984400 w 1671970"/>
              <a:gd name="connsiteY2" fmla="*/ 1118834 h 1942865"/>
              <a:gd name="connsiteX3" fmla="*/ 1203455 w 1671970"/>
              <a:gd name="connsiteY3" fmla="*/ 1623724 h 1942865"/>
              <a:gd name="connsiteX0" fmla="*/ 0 w 1671970"/>
              <a:gd name="connsiteY0" fmla="*/ 1942865 h 1942865"/>
              <a:gd name="connsiteX1" fmla="*/ 1650432 w 1671970"/>
              <a:gd name="connsiteY1" fmla="*/ 14561 h 1942865"/>
              <a:gd name="connsiteX2" fmla="*/ 984400 w 1671970"/>
              <a:gd name="connsiteY2" fmla="*/ 1118834 h 1942865"/>
              <a:gd name="connsiteX3" fmla="*/ 1231486 w 1671970"/>
              <a:gd name="connsiteY3" fmla="*/ 1691458 h 1942865"/>
              <a:gd name="connsiteX0" fmla="*/ 0 w 1680221"/>
              <a:gd name="connsiteY0" fmla="*/ 1953567 h 1953567"/>
              <a:gd name="connsiteX1" fmla="*/ 1650432 w 1680221"/>
              <a:gd name="connsiteY1" fmla="*/ 25263 h 1953567"/>
              <a:gd name="connsiteX2" fmla="*/ 1103531 w 1680221"/>
              <a:gd name="connsiteY2" fmla="*/ 943269 h 1953567"/>
              <a:gd name="connsiteX3" fmla="*/ 1231486 w 1680221"/>
              <a:gd name="connsiteY3" fmla="*/ 1702160 h 1953567"/>
              <a:gd name="connsiteX0" fmla="*/ 0 w 1676550"/>
              <a:gd name="connsiteY0" fmla="*/ 1952975 h 1952975"/>
              <a:gd name="connsiteX1" fmla="*/ 1650432 w 1676550"/>
              <a:gd name="connsiteY1" fmla="*/ 24671 h 1952975"/>
              <a:gd name="connsiteX2" fmla="*/ 1054478 w 1676550"/>
              <a:gd name="connsiteY2" fmla="*/ 951143 h 1952975"/>
              <a:gd name="connsiteX3" fmla="*/ 1231486 w 1676550"/>
              <a:gd name="connsiteY3" fmla="*/ 1701568 h 1952975"/>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06064"/>
              <a:gd name="connsiteY0" fmla="*/ 1818934 h 1818934"/>
              <a:gd name="connsiteX1" fmla="*/ 1587363 w 1606064"/>
              <a:gd name="connsiteY1" fmla="*/ 43030 h 1818934"/>
              <a:gd name="connsiteX2" fmla="*/ 991409 w 1606064"/>
              <a:gd name="connsiteY2" fmla="*/ 969502 h 1818934"/>
              <a:gd name="connsiteX3" fmla="*/ 1168417 w 1606064"/>
              <a:gd name="connsiteY3" fmla="*/ 1719927 h 1818934"/>
              <a:gd name="connsiteX0" fmla="*/ 0 w 1618922"/>
              <a:gd name="connsiteY0" fmla="*/ 1797306 h 1797306"/>
              <a:gd name="connsiteX1" fmla="*/ 1587363 w 1618922"/>
              <a:gd name="connsiteY1" fmla="*/ 21402 h 1797306"/>
              <a:gd name="connsiteX2" fmla="*/ 1096525 w 1618922"/>
              <a:gd name="connsiteY2" fmla="*/ 905540 h 1797306"/>
              <a:gd name="connsiteX3" fmla="*/ 1168417 w 1618922"/>
              <a:gd name="connsiteY3" fmla="*/ 1698299 h 1797306"/>
              <a:gd name="connsiteX0" fmla="*/ 0 w 1630261"/>
              <a:gd name="connsiteY0" fmla="*/ 1776055 h 1776055"/>
              <a:gd name="connsiteX1" fmla="*/ 1587363 w 1630261"/>
              <a:gd name="connsiteY1" fmla="*/ 151 h 1776055"/>
              <a:gd name="connsiteX2" fmla="*/ 1168417 w 1630261"/>
              <a:gd name="connsiteY2" fmla="*/ 1677048 h 1776055"/>
              <a:gd name="connsiteX0" fmla="*/ 0 w 1599796"/>
              <a:gd name="connsiteY0" fmla="*/ 1875951 h 1875951"/>
              <a:gd name="connsiteX1" fmla="*/ 1587363 w 1599796"/>
              <a:gd name="connsiteY1" fmla="*/ 100047 h 1875951"/>
              <a:gd name="connsiteX2" fmla="*/ 1168417 w 1599796"/>
              <a:gd name="connsiteY2" fmla="*/ 1776944 h 1875951"/>
              <a:gd name="connsiteX0" fmla="*/ 0 w 1592525"/>
              <a:gd name="connsiteY0" fmla="*/ 1875951 h 1875951"/>
              <a:gd name="connsiteX1" fmla="*/ 1587363 w 1592525"/>
              <a:gd name="connsiteY1" fmla="*/ 100047 h 1875951"/>
              <a:gd name="connsiteX2" fmla="*/ 1168417 w 1592525"/>
              <a:gd name="connsiteY2" fmla="*/ 1776944 h 1875951"/>
              <a:gd name="connsiteX0" fmla="*/ 0 w 1660780"/>
              <a:gd name="connsiteY0" fmla="*/ 1795430 h 1795430"/>
              <a:gd name="connsiteX1" fmla="*/ 1587363 w 1660780"/>
              <a:gd name="connsiteY1" fmla="*/ 19526 h 1795430"/>
              <a:gd name="connsiteX2" fmla="*/ 1168417 w 1660780"/>
              <a:gd name="connsiteY2" fmla="*/ 1696423 h 1795430"/>
              <a:gd name="connsiteX0" fmla="*/ 0 w 1645000"/>
              <a:gd name="connsiteY0" fmla="*/ 1803147 h 1803147"/>
              <a:gd name="connsiteX1" fmla="*/ 1587363 w 1645000"/>
              <a:gd name="connsiteY1" fmla="*/ 27243 h 1803147"/>
              <a:gd name="connsiteX2" fmla="*/ 1168417 w 1645000"/>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0373"/>
              <a:gd name="connsiteY0" fmla="*/ 1759150 h 1759150"/>
              <a:gd name="connsiteX1" fmla="*/ 1608386 w 1630373"/>
              <a:gd name="connsiteY1" fmla="*/ 179 h 1759150"/>
              <a:gd name="connsiteX2" fmla="*/ 1189440 w 1630373"/>
              <a:gd name="connsiteY2" fmla="*/ 1677076 h 1759150"/>
              <a:gd name="connsiteX0" fmla="*/ 0 w 3431907"/>
              <a:gd name="connsiteY0" fmla="*/ 1759114 h 1759114"/>
              <a:gd name="connsiteX1" fmla="*/ 1608386 w 3431907"/>
              <a:gd name="connsiteY1" fmla="*/ 143 h 1759114"/>
              <a:gd name="connsiteX2" fmla="*/ 3431907 w 3431907"/>
              <a:gd name="connsiteY2" fmla="*/ 1685507 h 1759114"/>
              <a:gd name="connsiteX0" fmla="*/ 0 w 3431907"/>
              <a:gd name="connsiteY0" fmla="*/ 1759266 h 1759266"/>
              <a:gd name="connsiteX1" fmla="*/ 1608386 w 3431907"/>
              <a:gd name="connsiteY1" fmla="*/ 295 h 1759266"/>
              <a:gd name="connsiteX2" fmla="*/ 3431907 w 3431907"/>
              <a:gd name="connsiteY2" fmla="*/ 1685659 h 1759266"/>
              <a:gd name="connsiteX0" fmla="*/ 0 w 3431907"/>
              <a:gd name="connsiteY0" fmla="*/ 1826955 h 1826955"/>
              <a:gd name="connsiteX1" fmla="*/ 2028849 w 3431907"/>
              <a:gd name="connsiteY1" fmla="*/ 251 h 1826955"/>
              <a:gd name="connsiteX2" fmla="*/ 3431907 w 3431907"/>
              <a:gd name="connsiteY2" fmla="*/ 1753348 h 1826955"/>
              <a:gd name="connsiteX0" fmla="*/ 0 w 3431907"/>
              <a:gd name="connsiteY0" fmla="*/ 73607 h 73607"/>
              <a:gd name="connsiteX1" fmla="*/ 3431907 w 3431907"/>
              <a:gd name="connsiteY1" fmla="*/ 0 h 73607"/>
              <a:gd name="connsiteX0" fmla="*/ 0 w 3431907"/>
              <a:gd name="connsiteY0" fmla="*/ 1364300 h 1364300"/>
              <a:gd name="connsiteX1" fmla="*/ 3431907 w 3431907"/>
              <a:gd name="connsiteY1" fmla="*/ 1290693 h 1364300"/>
              <a:gd name="connsiteX0" fmla="*/ 0 w 3431907"/>
              <a:gd name="connsiteY0" fmla="*/ 1803651 h 1803651"/>
              <a:gd name="connsiteX1" fmla="*/ 3431907 w 3431907"/>
              <a:gd name="connsiteY1" fmla="*/ 1730044 h 1803651"/>
              <a:gd name="connsiteX0" fmla="*/ 0 w 3431907"/>
              <a:gd name="connsiteY0" fmla="*/ 1831963 h 1831963"/>
              <a:gd name="connsiteX1" fmla="*/ 3431907 w 3431907"/>
              <a:gd name="connsiteY1" fmla="*/ 1758356 h 1831963"/>
              <a:gd name="connsiteX0" fmla="*/ 0 w 3431907"/>
              <a:gd name="connsiteY0" fmla="*/ 1892361 h 1892361"/>
              <a:gd name="connsiteX1" fmla="*/ 3431907 w 3431907"/>
              <a:gd name="connsiteY1" fmla="*/ 1818754 h 1892361"/>
              <a:gd name="connsiteX0" fmla="*/ 0 w 3347815"/>
              <a:gd name="connsiteY0" fmla="*/ 1803690 h 1965829"/>
              <a:gd name="connsiteX1" fmla="*/ 3347815 w 3347815"/>
              <a:gd name="connsiteY1" fmla="*/ 1965830 h 1965829"/>
              <a:gd name="connsiteX0" fmla="*/ 0 w 3389861"/>
              <a:gd name="connsiteY0" fmla="*/ 1829244 h 1921534"/>
              <a:gd name="connsiteX1" fmla="*/ 3389861 w 3389861"/>
              <a:gd name="connsiteY1" fmla="*/ 1921534 h 1921534"/>
              <a:gd name="connsiteX0" fmla="*/ 0 w 3389861"/>
              <a:gd name="connsiteY0" fmla="*/ 1725147 h 1817437"/>
              <a:gd name="connsiteX1" fmla="*/ 3389861 w 3389861"/>
              <a:gd name="connsiteY1" fmla="*/ 1817437 h 1817437"/>
              <a:gd name="connsiteX0" fmla="*/ 0 w 3137584"/>
              <a:gd name="connsiteY0" fmla="*/ 1735130 h 1801226"/>
              <a:gd name="connsiteX1" fmla="*/ 3137584 w 3137584"/>
              <a:gd name="connsiteY1" fmla="*/ 1801226 h 1801226"/>
              <a:gd name="connsiteX0" fmla="*/ 0 w 3137584"/>
              <a:gd name="connsiteY0" fmla="*/ 1740519 h 1806615"/>
              <a:gd name="connsiteX1" fmla="*/ 3137584 w 3137584"/>
              <a:gd name="connsiteY1" fmla="*/ 1806615 h 1806615"/>
              <a:gd name="connsiteX0" fmla="*/ 0 w 3137584"/>
              <a:gd name="connsiteY0" fmla="*/ 1697875 h 1763971"/>
              <a:gd name="connsiteX1" fmla="*/ 3137584 w 3137584"/>
              <a:gd name="connsiteY1" fmla="*/ 1763971 h 1763971"/>
              <a:gd name="connsiteX0" fmla="*/ 0 w 3137584"/>
              <a:gd name="connsiteY0" fmla="*/ 1793594 h 1859690"/>
              <a:gd name="connsiteX1" fmla="*/ 3137584 w 3137584"/>
              <a:gd name="connsiteY1" fmla="*/ 1859690 h 1859690"/>
            </a:gdLst>
            <a:ahLst/>
            <a:cxnLst>
              <a:cxn ang="0">
                <a:pos x="connsiteX0" y="connsiteY0"/>
              </a:cxn>
              <a:cxn ang="0">
                <a:pos x="connsiteX1" y="connsiteY1"/>
              </a:cxn>
            </a:cxnLst>
            <a:rect l="l" t="t" r="r" b="b"/>
            <a:pathLst>
              <a:path w="3137584" h="1859690">
                <a:moveTo>
                  <a:pt x="0" y="1793594"/>
                </a:moveTo>
                <a:cubicBezTo>
                  <a:pt x="1494356" y="-1436086"/>
                  <a:pt x="2925639" y="397800"/>
                  <a:pt x="3137584" y="1859690"/>
                </a:cubicBezTo>
              </a:path>
            </a:pathLst>
          </a:custGeom>
          <a:noFill/>
          <a:ln w="28575" cap="flat" cmpd="sng" algn="ctr">
            <a:solidFill>
              <a:srgbClr val="30B5C5"/>
            </a:solidFill>
            <a:prstDash val="solid"/>
            <a:miter lim="800000"/>
            <a:headEnd type="triangle" w="med" len="med"/>
            <a:tailEnd type="triangle" w="med" len="med"/>
          </a:ln>
          <a:effectLst/>
        </p:spPr>
        <p:txBody>
          <a:bodyPr wrap="square" rtlCol="0" anchor="ctr">
            <a:noAutofit/>
          </a:bodyPr>
          <a:lstStyle/>
          <a:p>
            <a:pPr algn="ctr" defTabSz="1219170" fontAlgn="ctr"/>
            <a:endParaRPr lang="en-US" altLang="zh-CN" sz="20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10624702" y="2535969"/>
            <a:ext cx="896399" cy="276999"/>
          </a:xfrm>
          <a:prstGeom prst="rect">
            <a:avLst/>
          </a:prstGeom>
        </p:spPr>
        <p:txBody>
          <a:bodyPr wrap="none">
            <a:spAutoFit/>
          </a:bodyPr>
          <a:lstStyle/>
          <a:p>
            <a:pPr algn="ctr" fontAlgn="ctr"/>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L2/L3</a:t>
            </a:r>
            <a:r>
              <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6155981" y="3656356"/>
            <a:ext cx="1244835" cy="472898"/>
          </a:xfrm>
          <a:prstGeom prst="rect">
            <a:avLst/>
          </a:prstGeom>
        </p:spPr>
        <p:txBody>
          <a:bodyPr wrap="none">
            <a:noAutofit/>
          </a:bodyPr>
          <a:lstStyle/>
          <a:p>
            <a:pPr algn="ctr" fontAlgn="ct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PC1</a:t>
            </a:r>
          </a:p>
          <a:p>
            <a:pPr algn="ctr" fontAlgn="ct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192.168.1.1/24</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5"/>
          <p:cNvSpPr/>
          <p:nvPr/>
        </p:nvSpPr>
        <p:spPr bwMode="gray">
          <a:xfrm>
            <a:off x="9885609" y="3656356"/>
            <a:ext cx="1255736" cy="477039"/>
          </a:xfrm>
          <a:prstGeom prst="rect">
            <a:avLst/>
          </a:prstGeom>
        </p:spPr>
        <p:txBody>
          <a:bodyPr wrap="none">
            <a:noAutofit/>
          </a:bodyPr>
          <a:lstStyle/>
          <a:p>
            <a:pPr algn="ctr" fontAlgn="ct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PC3</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192.168.1.3/24</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7826761" y="3656356"/>
            <a:ext cx="1244835" cy="472898"/>
          </a:xfrm>
          <a:prstGeom prst="rect">
            <a:avLst/>
          </a:prstGeom>
        </p:spPr>
        <p:txBody>
          <a:bodyPr wrap="none">
            <a:noAutofit/>
          </a:bodyPr>
          <a:lstStyle/>
          <a:p>
            <a:pPr algn="ctr" fontAlgn="ct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PC2</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192.168.2.1/24</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五边形 51"/>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53" name="燕尾形 52"/>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063214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ym typeface="Huawei Sans" panose="020C0503030203020204" pitchFamily="34" charset="0"/>
              </a:rPr>
              <a:t>Fabric</a:t>
            </a:r>
            <a:r>
              <a:rPr lang="zh-CN" altLang="en-US" dirty="0">
                <a:sym typeface="Huawei Sans" panose="020C0503030203020204" pitchFamily="34" charset="0"/>
              </a:rPr>
              <a:t>组网设计：网关方案选择</a:t>
            </a:r>
          </a:p>
        </p:txBody>
      </p:sp>
      <p:graphicFrame>
        <p:nvGraphicFramePr>
          <p:cNvPr id="5" name="表格 4"/>
          <p:cNvGraphicFramePr>
            <a:graphicFrameLocks noGrp="1"/>
          </p:cNvGraphicFramePr>
          <p:nvPr>
            <p:extLst>
              <p:ext uri="{D42A27DB-BD31-4B8C-83A1-F6EECF244321}">
                <p14:modId xmlns:p14="http://schemas.microsoft.com/office/powerpoint/2010/main" val="2311744386"/>
              </p:ext>
            </p:extLst>
          </p:nvPr>
        </p:nvGraphicFramePr>
        <p:xfrm>
          <a:off x="615013" y="3569030"/>
          <a:ext cx="10961975" cy="2250464"/>
        </p:xfrm>
        <a:graphic>
          <a:graphicData uri="http://schemas.openxmlformats.org/drawingml/2006/table">
            <a:tbl>
              <a:tblPr/>
              <a:tblGrid>
                <a:gridCol w="1390432">
                  <a:extLst>
                    <a:ext uri="{9D8B030D-6E8A-4147-A177-3AD203B41FA5}">
                      <a16:colId xmlns:a16="http://schemas.microsoft.com/office/drawing/2014/main" val="20000"/>
                    </a:ext>
                  </a:extLst>
                </a:gridCol>
                <a:gridCol w="4405746">
                  <a:extLst>
                    <a:ext uri="{9D8B030D-6E8A-4147-A177-3AD203B41FA5}">
                      <a16:colId xmlns:a16="http://schemas.microsoft.com/office/drawing/2014/main" val="20001"/>
                    </a:ext>
                  </a:extLst>
                </a:gridCol>
                <a:gridCol w="5165797">
                  <a:extLst>
                    <a:ext uri="{9D8B030D-6E8A-4147-A177-3AD203B41FA5}">
                      <a16:colId xmlns:a16="http://schemas.microsoft.com/office/drawing/2014/main" val="20002"/>
                    </a:ext>
                  </a:extLst>
                </a:gridCol>
              </a:tblGrid>
              <a:tr h="299775">
                <a:tc>
                  <a:txBody>
                    <a:bodyPr/>
                    <a:lstStyle/>
                    <a:p>
                      <a:pPr algn="ctr"/>
                      <a:r>
                        <a:rPr lang="zh-CN" alt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对比项</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集中式网关</a:t>
                      </a: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分布式网关</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299775">
                <a:tc>
                  <a:txBody>
                    <a:bodyPr/>
                    <a:lstStyle/>
                    <a:p>
                      <a:pPr marL="0" algn="ctr"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用户网关位置</a:t>
                      </a:r>
                    </a:p>
                  </a:txBody>
                  <a:tcPr anchor="ctr">
                    <a:lnL w="28575" cap="flat" cmpd="sng" algn="ctr">
                      <a:solidFill>
                        <a:schemeClr val="tx1"/>
                      </a:solidFill>
                      <a:prstDash val="solid"/>
                      <a:round/>
                      <a:headEnd type="none" w="med" len="med"/>
                      <a:tailEnd type="none" w="med" len="med"/>
                    </a:lnL>
                  </a:tcPr>
                </a:tc>
                <a:tc>
                  <a:txBody>
                    <a:bodyPr/>
                    <a:lstStyle/>
                    <a:p>
                      <a:pPr marL="0" algn="l" defTabSz="914034" rtl="0" eaLnBrk="1" latinLnBrk="0" hangingPunct="1">
                        <a:lnSpc>
                          <a:spcPct val="100000"/>
                        </a:lnSpc>
                      </a:pPr>
                      <a:r>
                        <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Border</a:t>
                      </a:r>
                    </a:p>
                  </a:txBody>
                  <a:tcPr anchor="ctr"/>
                </a:tc>
                <a:tc>
                  <a:txBody>
                    <a:bodyPr/>
                    <a:lstStyle/>
                    <a:p>
                      <a:pPr marL="0" algn="l" defTabSz="914034" rtl="0" eaLnBrk="1" latinLnBrk="0" hangingPunct="1">
                        <a:lnSpc>
                          <a:spcPct val="100000"/>
                        </a:lnSpc>
                      </a:pPr>
                      <a:r>
                        <a:rPr lang="en-US" sz="1400" kern="120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Edge</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9775">
                <a:tc>
                  <a:txBody>
                    <a:bodyPr/>
                    <a:lstStyle/>
                    <a:p>
                      <a:pPr marL="0" algn="ctr"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推荐</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Edge</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位置</a:t>
                      </a:r>
                    </a:p>
                  </a:txBody>
                  <a:tcPr anchor="ctr">
                    <a:lnL w="28575" cap="flat" cmpd="sng" algn="ctr">
                      <a:solidFill>
                        <a:schemeClr val="tx1"/>
                      </a:solidFill>
                      <a:prstDash val="solid"/>
                      <a:round/>
                      <a:headEnd type="none" w="med" len="med"/>
                      <a:tailEnd type="none" w="med" len="med"/>
                    </a:lnL>
                  </a:tcPr>
                </a:tc>
                <a:tc>
                  <a:txBody>
                    <a:bodyPr/>
                    <a:lstStyle/>
                    <a:p>
                      <a:pPr marL="0" algn="l"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汇聚交换机</a:t>
                      </a:r>
                    </a:p>
                  </a:txBody>
                  <a:tcPr anchor="ctr"/>
                </a:tc>
                <a:tc>
                  <a:txBody>
                    <a:bodyPr/>
                    <a:lstStyle/>
                    <a:p>
                      <a:pPr marL="0" algn="l"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汇聚交换机</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702000">
                <a:tc>
                  <a:txBody>
                    <a:bodyPr/>
                    <a:lstStyle/>
                    <a:p>
                      <a:pPr marL="0" algn="ctr"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运维部署</a:t>
                      </a:r>
                    </a:p>
                  </a:txBody>
                  <a:tcPr anchor="ctr">
                    <a:lnL w="28575" cap="flat" cmpd="sng" algn="ctr">
                      <a:solidFill>
                        <a:schemeClr val="tx1"/>
                      </a:solidFill>
                      <a:prstDash val="solid"/>
                      <a:round/>
                      <a:headEnd type="none" w="med" len="med"/>
                      <a:tailEnd type="none" w="med" len="med"/>
                    </a:lnL>
                  </a:tcPr>
                </a:tc>
                <a:tc>
                  <a:txBody>
                    <a:bodyPr/>
                    <a:lstStyle/>
                    <a:p>
                      <a:pPr marL="0" algn="l"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用户网关集中部署在</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Border</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节点，且</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Border</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节点通常启用随板</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AC</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功能，配置无线业务。</a:t>
                      </a:r>
                    </a:p>
                  </a:txBody>
                  <a:tcPr anchor="ctr"/>
                </a:tc>
                <a:tc>
                  <a:txBody>
                    <a:bodyPr/>
                    <a:lstStyle/>
                    <a:p>
                      <a:pPr marL="0" algn="l"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用户网关分散部署在</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Edge</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节点，网关故障后影响面较小，且便于网络规模扩展；</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Border</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节点启用随板</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AC</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功能，配置无线业务。</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634064">
                <a:tc>
                  <a:txBody>
                    <a:bodyPr/>
                    <a:lstStyle/>
                    <a:p>
                      <a:pPr marL="0" algn="ctr"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终端规模</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50000</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（根据集中式网关设备的数量和规格计算），终端规模不超过</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50000</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时优先推荐。</a:t>
                      </a:r>
                    </a:p>
                  </a:txBody>
                  <a:tcPr anchor="ctr">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100000</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（根据分布式网关设备的数量和规格计算），终端规模超过</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50000</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时优先推荐。</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45" name="Straight Connector 166"/>
          <p:cNvCxnSpPr/>
          <p:nvPr/>
        </p:nvCxnSpPr>
        <p:spPr>
          <a:xfrm flipH="1">
            <a:off x="9832878" y="3140640"/>
            <a:ext cx="50935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46" name="图片 105" descr="AP.png"/>
          <p:cNvPicPr>
            <a:picLocks noChangeAspect="1"/>
          </p:cNvPicPr>
          <p:nvPr/>
        </p:nvPicPr>
        <p:blipFill>
          <a:blip r:embed="rId3" cstate="print"/>
          <a:stretch>
            <a:fillRect/>
          </a:stretch>
        </p:blipFill>
        <p:spPr>
          <a:xfrm>
            <a:off x="10288906" y="2989756"/>
            <a:ext cx="368827" cy="301768"/>
          </a:xfrm>
          <a:prstGeom prst="rect">
            <a:avLst/>
          </a:prstGeom>
        </p:spPr>
      </p:pic>
      <p:sp>
        <p:nvSpPr>
          <p:cNvPr id="47" name="圆角矩形 46"/>
          <p:cNvSpPr/>
          <p:nvPr/>
        </p:nvSpPr>
        <p:spPr>
          <a:xfrm>
            <a:off x="2994262" y="1474478"/>
            <a:ext cx="2450574" cy="839808"/>
          </a:xfrm>
          <a:prstGeom prst="roundRect">
            <a:avLst>
              <a:gd name="adj" fmla="val 4971"/>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Straight Connector 166"/>
          <p:cNvCxnSpPr/>
          <p:nvPr/>
        </p:nvCxnSpPr>
        <p:spPr>
          <a:xfrm flipH="1">
            <a:off x="5229880" y="3140640"/>
            <a:ext cx="50935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166"/>
          <p:cNvCxnSpPr/>
          <p:nvPr/>
        </p:nvCxnSpPr>
        <p:spPr>
          <a:xfrm>
            <a:off x="5112127" y="2314286"/>
            <a:ext cx="0" cy="77490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166"/>
          <p:cNvCxnSpPr/>
          <p:nvPr/>
        </p:nvCxnSpPr>
        <p:spPr>
          <a:xfrm>
            <a:off x="3326970" y="2314286"/>
            <a:ext cx="0" cy="77490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1" name="Group 165"/>
          <p:cNvGrpSpPr/>
          <p:nvPr/>
        </p:nvGrpSpPr>
        <p:grpSpPr>
          <a:xfrm rot="10800000">
            <a:off x="3229873" y="1435005"/>
            <a:ext cx="1987662" cy="998820"/>
            <a:chOff x="-1233037" y="914446"/>
            <a:chExt cx="1573823" cy="778776"/>
          </a:xfrm>
        </p:grpSpPr>
        <p:cxnSp>
          <p:nvCxnSpPr>
            <p:cNvPr id="52" name="Straight Connector 166"/>
            <p:cNvCxnSpPr/>
            <p:nvPr/>
          </p:nvCxnSpPr>
          <p:spPr>
            <a:xfrm flipH="1" flipV="1">
              <a:off x="-1233037" y="914446"/>
              <a:ext cx="786912" cy="77877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167"/>
            <p:cNvCxnSpPr/>
            <p:nvPr/>
          </p:nvCxnSpPr>
          <p:spPr>
            <a:xfrm flipV="1">
              <a:off x="-446125" y="914446"/>
              <a:ext cx="786911" cy="778776"/>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54" name="图片 86" descr="核心交换机.png"/>
          <p:cNvPicPr>
            <a:picLocks noChangeAspect="1"/>
          </p:cNvPicPr>
          <p:nvPr/>
        </p:nvPicPr>
        <p:blipFill>
          <a:blip r:embed="rId4"/>
          <a:stretch>
            <a:fillRect/>
          </a:stretch>
        </p:blipFill>
        <p:spPr>
          <a:xfrm>
            <a:off x="4034266" y="1313562"/>
            <a:ext cx="378876" cy="309991"/>
          </a:xfrm>
          <a:prstGeom prst="rect">
            <a:avLst/>
          </a:prstGeom>
        </p:spPr>
      </p:pic>
      <p:pic>
        <p:nvPicPr>
          <p:cNvPr id="55" name="图片 87" descr="汇聚交换机.png"/>
          <p:cNvPicPr>
            <a:picLocks noChangeAspect="1"/>
          </p:cNvPicPr>
          <p:nvPr/>
        </p:nvPicPr>
        <p:blipFill>
          <a:blip r:embed="rId5"/>
          <a:stretch>
            <a:fillRect/>
          </a:stretch>
        </p:blipFill>
        <p:spPr>
          <a:xfrm>
            <a:off x="3145843" y="2140363"/>
            <a:ext cx="378876" cy="309991"/>
          </a:xfrm>
          <a:prstGeom prst="rect">
            <a:avLst/>
          </a:prstGeom>
        </p:spPr>
      </p:pic>
      <p:pic>
        <p:nvPicPr>
          <p:cNvPr id="56" name="图片 87" descr="汇聚交换机.png"/>
          <p:cNvPicPr>
            <a:picLocks noChangeAspect="1"/>
          </p:cNvPicPr>
          <p:nvPr/>
        </p:nvPicPr>
        <p:blipFill>
          <a:blip r:embed="rId5"/>
          <a:stretch>
            <a:fillRect/>
          </a:stretch>
        </p:blipFill>
        <p:spPr>
          <a:xfrm>
            <a:off x="4922689" y="2140363"/>
            <a:ext cx="378876" cy="309991"/>
          </a:xfrm>
          <a:prstGeom prst="rect">
            <a:avLst/>
          </a:prstGeom>
        </p:spPr>
      </p:pic>
      <p:pic>
        <p:nvPicPr>
          <p:cNvPr id="57" name="图片 76" descr="接入交换机.png"/>
          <p:cNvPicPr>
            <a:picLocks noChangeAspect="1"/>
          </p:cNvPicPr>
          <p:nvPr/>
        </p:nvPicPr>
        <p:blipFill>
          <a:blip r:embed="rId6" cstate="print"/>
          <a:stretch>
            <a:fillRect/>
          </a:stretch>
        </p:blipFill>
        <p:spPr>
          <a:xfrm>
            <a:off x="3155892" y="2989756"/>
            <a:ext cx="368827" cy="301768"/>
          </a:xfrm>
          <a:prstGeom prst="rect">
            <a:avLst/>
          </a:prstGeom>
        </p:spPr>
      </p:pic>
      <p:pic>
        <p:nvPicPr>
          <p:cNvPr id="58" name="图片 76" descr="接入交换机.png"/>
          <p:cNvPicPr>
            <a:picLocks noChangeAspect="1"/>
          </p:cNvPicPr>
          <p:nvPr/>
        </p:nvPicPr>
        <p:blipFill>
          <a:blip r:embed="rId6" cstate="print"/>
          <a:stretch>
            <a:fillRect/>
          </a:stretch>
        </p:blipFill>
        <p:spPr>
          <a:xfrm>
            <a:off x="4927714" y="2989756"/>
            <a:ext cx="368827" cy="301768"/>
          </a:xfrm>
          <a:prstGeom prst="rect">
            <a:avLst/>
          </a:prstGeom>
        </p:spPr>
      </p:pic>
      <p:sp>
        <p:nvSpPr>
          <p:cNvPr id="59" name="文本框 58"/>
          <p:cNvSpPr txBox="1"/>
          <p:nvPr/>
        </p:nvSpPr>
        <p:spPr>
          <a:xfrm>
            <a:off x="808074" y="1346554"/>
            <a:ext cx="646331" cy="276999"/>
          </a:xfrm>
          <a:prstGeom prst="rect">
            <a:avLst/>
          </a:prstGeom>
          <a:noFill/>
        </p:spPr>
        <p:txBody>
          <a:bodyPr wrap="none" rtlCol="0">
            <a:spAutoFit/>
          </a:bodyPr>
          <a:lstStyle/>
          <a:p>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60" name="文本框 59"/>
          <p:cNvSpPr txBox="1"/>
          <p:nvPr/>
        </p:nvSpPr>
        <p:spPr>
          <a:xfrm>
            <a:off x="808074" y="2156859"/>
            <a:ext cx="646331" cy="276999"/>
          </a:xfrm>
          <a:prstGeom prst="rect">
            <a:avLst/>
          </a:prstGeom>
          <a:noFill/>
        </p:spPr>
        <p:txBody>
          <a:bodyPr wrap="none" rtlCol="0">
            <a:spAutoFit/>
          </a:bodyPr>
          <a:lstStyle/>
          <a:p>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61" name="文本框 60"/>
          <p:cNvSpPr txBox="1"/>
          <p:nvPr/>
        </p:nvSpPr>
        <p:spPr>
          <a:xfrm>
            <a:off x="808074" y="3002141"/>
            <a:ext cx="646331" cy="276999"/>
          </a:xfrm>
          <a:prstGeom prst="rect">
            <a:avLst/>
          </a:prstGeom>
          <a:noFill/>
        </p:spPr>
        <p:txBody>
          <a:bodyPr wrap="none" rtlCol="0">
            <a:spAutoFit/>
          </a:bodyPr>
          <a:lstStyle/>
          <a:p>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62" name="文本框 61"/>
          <p:cNvSpPr txBox="1"/>
          <p:nvPr/>
        </p:nvSpPr>
        <p:spPr>
          <a:xfrm>
            <a:off x="3831425" y="1827753"/>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VXLAN</a:t>
            </a:r>
            <a:endParaRPr lang="zh-CN" altLang="en-US" dirty="0">
              <a:sym typeface="Huawei Sans" panose="020C0503030203020204" pitchFamily="34" charset="0"/>
            </a:endParaRPr>
          </a:p>
        </p:txBody>
      </p:sp>
      <p:sp>
        <p:nvSpPr>
          <p:cNvPr id="63" name="圆角矩形 62"/>
          <p:cNvSpPr/>
          <p:nvPr/>
        </p:nvSpPr>
        <p:spPr>
          <a:xfrm>
            <a:off x="7637700" y="1474477"/>
            <a:ext cx="2450574" cy="839809"/>
          </a:xfrm>
          <a:prstGeom prst="roundRect">
            <a:avLst>
              <a:gd name="adj" fmla="val 9269"/>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Straight Connector 166"/>
          <p:cNvCxnSpPr/>
          <p:nvPr/>
        </p:nvCxnSpPr>
        <p:spPr>
          <a:xfrm>
            <a:off x="9755565" y="2314286"/>
            <a:ext cx="0" cy="77490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166"/>
          <p:cNvCxnSpPr/>
          <p:nvPr/>
        </p:nvCxnSpPr>
        <p:spPr>
          <a:xfrm>
            <a:off x="7970408" y="2314286"/>
            <a:ext cx="0" cy="77490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Group 165"/>
          <p:cNvGrpSpPr/>
          <p:nvPr/>
        </p:nvGrpSpPr>
        <p:grpSpPr>
          <a:xfrm rot="10800000">
            <a:off x="7873311" y="1435005"/>
            <a:ext cx="1987662" cy="998820"/>
            <a:chOff x="-1233037" y="914446"/>
            <a:chExt cx="1573823" cy="778776"/>
          </a:xfrm>
        </p:grpSpPr>
        <p:cxnSp>
          <p:nvCxnSpPr>
            <p:cNvPr id="67" name="Straight Connector 166"/>
            <p:cNvCxnSpPr/>
            <p:nvPr/>
          </p:nvCxnSpPr>
          <p:spPr>
            <a:xfrm flipH="1" flipV="1">
              <a:off x="-1233037" y="914446"/>
              <a:ext cx="786912" cy="77877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167"/>
            <p:cNvCxnSpPr/>
            <p:nvPr/>
          </p:nvCxnSpPr>
          <p:spPr>
            <a:xfrm flipV="1">
              <a:off x="-446125" y="914446"/>
              <a:ext cx="786911" cy="778776"/>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9" name="图片 86" descr="核心交换机.png"/>
          <p:cNvPicPr>
            <a:picLocks noChangeAspect="1"/>
          </p:cNvPicPr>
          <p:nvPr/>
        </p:nvPicPr>
        <p:blipFill>
          <a:blip r:embed="rId4"/>
          <a:stretch>
            <a:fillRect/>
          </a:stretch>
        </p:blipFill>
        <p:spPr>
          <a:xfrm>
            <a:off x="8677704" y="1313562"/>
            <a:ext cx="378876" cy="309991"/>
          </a:xfrm>
          <a:prstGeom prst="rect">
            <a:avLst/>
          </a:prstGeom>
        </p:spPr>
      </p:pic>
      <p:pic>
        <p:nvPicPr>
          <p:cNvPr id="70" name="图片 87" descr="汇聚交换机.png"/>
          <p:cNvPicPr>
            <a:picLocks noChangeAspect="1"/>
          </p:cNvPicPr>
          <p:nvPr/>
        </p:nvPicPr>
        <p:blipFill>
          <a:blip r:embed="rId5"/>
          <a:stretch>
            <a:fillRect/>
          </a:stretch>
        </p:blipFill>
        <p:spPr>
          <a:xfrm>
            <a:off x="7789281" y="2140363"/>
            <a:ext cx="378876" cy="309991"/>
          </a:xfrm>
          <a:prstGeom prst="rect">
            <a:avLst/>
          </a:prstGeom>
        </p:spPr>
      </p:pic>
      <p:pic>
        <p:nvPicPr>
          <p:cNvPr id="71" name="图片 87" descr="汇聚交换机.png"/>
          <p:cNvPicPr>
            <a:picLocks noChangeAspect="1"/>
          </p:cNvPicPr>
          <p:nvPr/>
        </p:nvPicPr>
        <p:blipFill>
          <a:blip r:embed="rId5"/>
          <a:stretch>
            <a:fillRect/>
          </a:stretch>
        </p:blipFill>
        <p:spPr>
          <a:xfrm>
            <a:off x="9566127" y="2140363"/>
            <a:ext cx="378876" cy="309991"/>
          </a:xfrm>
          <a:prstGeom prst="rect">
            <a:avLst/>
          </a:prstGeom>
        </p:spPr>
      </p:pic>
      <p:pic>
        <p:nvPicPr>
          <p:cNvPr id="72" name="图片 76" descr="接入交换机.png"/>
          <p:cNvPicPr>
            <a:picLocks noChangeAspect="1"/>
          </p:cNvPicPr>
          <p:nvPr/>
        </p:nvPicPr>
        <p:blipFill>
          <a:blip r:embed="rId6" cstate="print"/>
          <a:stretch>
            <a:fillRect/>
          </a:stretch>
        </p:blipFill>
        <p:spPr>
          <a:xfrm>
            <a:off x="7799330" y="2989756"/>
            <a:ext cx="368827" cy="301768"/>
          </a:xfrm>
          <a:prstGeom prst="rect">
            <a:avLst/>
          </a:prstGeom>
        </p:spPr>
      </p:pic>
      <p:pic>
        <p:nvPicPr>
          <p:cNvPr id="73" name="图片 76" descr="接入交换机.png"/>
          <p:cNvPicPr>
            <a:picLocks noChangeAspect="1"/>
          </p:cNvPicPr>
          <p:nvPr/>
        </p:nvPicPr>
        <p:blipFill>
          <a:blip r:embed="rId6" cstate="print"/>
          <a:stretch>
            <a:fillRect/>
          </a:stretch>
        </p:blipFill>
        <p:spPr>
          <a:xfrm>
            <a:off x="9571152" y="2989756"/>
            <a:ext cx="368827" cy="301768"/>
          </a:xfrm>
          <a:prstGeom prst="rect">
            <a:avLst/>
          </a:prstGeom>
        </p:spPr>
      </p:pic>
      <p:sp>
        <p:nvSpPr>
          <p:cNvPr id="74" name="文本框 73"/>
          <p:cNvSpPr txBox="1"/>
          <p:nvPr/>
        </p:nvSpPr>
        <p:spPr>
          <a:xfrm>
            <a:off x="8474863" y="1827753"/>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a:sym typeface="Huawei Sans" panose="020C0503030203020204" pitchFamily="34" charset="0"/>
              </a:rPr>
              <a:t>VXLAN</a:t>
            </a:r>
            <a:endParaRPr lang="zh-CN" altLang="en-US">
              <a:sym typeface="Huawei Sans" panose="020C0503030203020204" pitchFamily="34" charset="0"/>
            </a:endParaRPr>
          </a:p>
        </p:txBody>
      </p:sp>
      <p:pic>
        <p:nvPicPr>
          <p:cNvPr id="75" name="图片 105" descr="AP.png"/>
          <p:cNvPicPr>
            <a:picLocks noChangeAspect="1"/>
          </p:cNvPicPr>
          <p:nvPr/>
        </p:nvPicPr>
        <p:blipFill>
          <a:blip r:embed="rId3" cstate="print"/>
          <a:stretch>
            <a:fillRect/>
          </a:stretch>
        </p:blipFill>
        <p:spPr>
          <a:xfrm>
            <a:off x="5685908" y="2989756"/>
            <a:ext cx="368827" cy="301768"/>
          </a:xfrm>
          <a:prstGeom prst="rect">
            <a:avLst/>
          </a:prstGeom>
        </p:spPr>
      </p:pic>
      <p:sp>
        <p:nvSpPr>
          <p:cNvPr id="76" name="任意多边形 75"/>
          <p:cNvSpPr/>
          <p:nvPr/>
        </p:nvSpPr>
        <p:spPr>
          <a:xfrm>
            <a:off x="4457700" y="1534319"/>
            <a:ext cx="1454727" cy="1467821"/>
          </a:xfrm>
          <a:custGeom>
            <a:avLst/>
            <a:gdLst>
              <a:gd name="connsiteX0" fmla="*/ 0 w 1517072"/>
              <a:gd name="connsiteY0" fmla="*/ 0 h 1153391"/>
              <a:gd name="connsiteX1" fmla="*/ 1517072 w 1517072"/>
              <a:gd name="connsiteY1" fmla="*/ 1153391 h 1153391"/>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Lst>
            <a:ahLst/>
            <a:cxnLst>
              <a:cxn ang="0">
                <a:pos x="connsiteX0" y="connsiteY0"/>
              </a:cxn>
              <a:cxn ang="0">
                <a:pos x="connsiteX1" y="connsiteY1"/>
              </a:cxn>
            </a:cxnLst>
            <a:rect l="l" t="t" r="r" b="b"/>
            <a:pathLst>
              <a:path w="1454727" h="1143000">
                <a:moveTo>
                  <a:pt x="0" y="0"/>
                </a:moveTo>
                <a:cubicBezTo>
                  <a:pt x="1160318" y="121227"/>
                  <a:pt x="1364672" y="668482"/>
                  <a:pt x="1454727" y="1143000"/>
                </a:cubicBezTo>
              </a:path>
            </a:pathLst>
          </a:cu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a:xfrm>
            <a:off x="5561537" y="1858531"/>
            <a:ext cx="838692" cy="276999"/>
          </a:xfrm>
          <a:prstGeom prst="rect">
            <a:avLst/>
          </a:prstGeom>
          <a:noFill/>
        </p:spPr>
        <p:txBody>
          <a:bodyPr wrap="none" rtlCol="0">
            <a:spAutoFit/>
          </a:bodyP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CAPWAP</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a:xfrm>
            <a:off x="10289888" y="2325922"/>
            <a:ext cx="838692" cy="276999"/>
          </a:xfrm>
          <a:prstGeom prst="rect">
            <a:avLst/>
          </a:prstGeom>
          <a:noFill/>
        </p:spPr>
        <p:txBody>
          <a:bodyPr wrap="none" rtlCol="0">
            <a:spAutoFit/>
          </a:bodyP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CAPWAP</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p:cNvSpPr txBox="1"/>
          <p:nvPr/>
        </p:nvSpPr>
        <p:spPr>
          <a:xfrm>
            <a:off x="6709452" y="3029918"/>
            <a:ext cx="1130439" cy="276999"/>
          </a:xfrm>
          <a:prstGeom prst="rect">
            <a:avLst/>
          </a:prstGeom>
          <a:noFill/>
        </p:spPr>
        <p:txBody>
          <a:bodyPr wrap="none" rtlCol="0">
            <a:spAutoFit/>
          </a:bodyPr>
          <a:lstStyle/>
          <a:p>
            <a:pPr algn="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不支持</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a:xfrm>
            <a:off x="8463795" y="3029918"/>
            <a:ext cx="1130439" cy="276999"/>
          </a:xfrm>
          <a:prstGeom prst="rect">
            <a:avLst/>
          </a:prstGeom>
          <a:noFill/>
        </p:spPr>
        <p:txBody>
          <a:bodyPr wrap="none" rtlCol="0">
            <a:spAutoFit/>
          </a:bodyPr>
          <a:lstStyle/>
          <a:p>
            <a:pPr algn="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不支持</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五边形 41"/>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43" name="燕尾形 42"/>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a:xfrm>
            <a:off x="2049460" y="3029918"/>
            <a:ext cx="1130439" cy="276999"/>
          </a:xfrm>
          <a:prstGeom prst="rect">
            <a:avLst/>
          </a:prstGeom>
          <a:noFill/>
        </p:spPr>
        <p:txBody>
          <a:bodyPr wrap="none" rtlCol="0">
            <a:spAutoFit/>
          </a:bodyPr>
          <a:lstStyle/>
          <a:p>
            <a:pPr algn="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不支持</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a:xfrm>
            <a:off x="3803803" y="3029918"/>
            <a:ext cx="1130439" cy="276999"/>
          </a:xfrm>
          <a:prstGeom prst="rect">
            <a:avLst/>
          </a:prstGeom>
          <a:noFill/>
        </p:spPr>
        <p:txBody>
          <a:bodyPr wrap="none" rtlCol="0">
            <a:spAutoFit/>
          </a:bodyPr>
          <a:lstStyle/>
          <a:p>
            <a:pPr algn="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不支持</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任意多边形 81"/>
          <p:cNvSpPr/>
          <p:nvPr/>
        </p:nvSpPr>
        <p:spPr>
          <a:xfrm>
            <a:off x="9006992" y="1534319"/>
            <a:ext cx="1454727" cy="1467821"/>
          </a:xfrm>
          <a:custGeom>
            <a:avLst/>
            <a:gdLst>
              <a:gd name="connsiteX0" fmla="*/ 0 w 1517072"/>
              <a:gd name="connsiteY0" fmla="*/ 0 h 1153391"/>
              <a:gd name="connsiteX1" fmla="*/ 1517072 w 1517072"/>
              <a:gd name="connsiteY1" fmla="*/ 1153391 h 1153391"/>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 name="connsiteX0" fmla="*/ 0 w 1454727"/>
              <a:gd name="connsiteY0" fmla="*/ 0 h 1143000"/>
              <a:gd name="connsiteX1" fmla="*/ 1454727 w 1454727"/>
              <a:gd name="connsiteY1" fmla="*/ 1143000 h 1143000"/>
            </a:gdLst>
            <a:ahLst/>
            <a:cxnLst>
              <a:cxn ang="0">
                <a:pos x="connsiteX0" y="connsiteY0"/>
              </a:cxn>
              <a:cxn ang="0">
                <a:pos x="connsiteX1" y="connsiteY1"/>
              </a:cxn>
            </a:cxnLst>
            <a:rect l="l" t="t" r="r" b="b"/>
            <a:pathLst>
              <a:path w="1454727" h="1143000">
                <a:moveTo>
                  <a:pt x="0" y="0"/>
                </a:moveTo>
                <a:cubicBezTo>
                  <a:pt x="1160318" y="121227"/>
                  <a:pt x="1364672" y="668482"/>
                  <a:pt x="1454727" y="1143000"/>
                </a:cubicBezTo>
              </a:path>
            </a:pathLst>
          </a:cu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80154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Fabric</a:t>
            </a:r>
            <a:r>
              <a:rPr lang="zh-CN" altLang="en-US" dirty="0">
                <a:sym typeface="Huawei Sans" panose="020C0503030203020204" pitchFamily="34" charset="0"/>
              </a:rPr>
              <a:t>节点设计：单</a:t>
            </a:r>
            <a:r>
              <a:rPr lang="en-US" altLang="zh-CN" dirty="0">
                <a:sym typeface="Huawei Sans" panose="020C0503030203020204" pitchFamily="34" charset="0"/>
              </a:rPr>
              <a:t>Border</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a:xfrm>
            <a:off x="6102152" y="1052513"/>
            <a:ext cx="5646935" cy="5148262"/>
          </a:xfrm>
        </p:spPr>
        <p:txBody>
          <a:bodyPr/>
          <a:lstStyle/>
          <a:p>
            <a:pPr>
              <a:lnSpc>
                <a:spcPct val="120000"/>
              </a:lnSpc>
            </a:pPr>
            <a:r>
              <a:rPr lang="zh-CN" altLang="en-US" sz="1600" dirty="0">
                <a:sym typeface="Huawei Sans" panose="020C0503030203020204" pitchFamily="34" charset="0"/>
              </a:rPr>
              <a:t>核心层设计：</a:t>
            </a:r>
          </a:p>
          <a:p>
            <a:pPr lvl="1">
              <a:lnSpc>
                <a:spcPct val="120000"/>
              </a:lnSpc>
            </a:pPr>
            <a:r>
              <a:rPr lang="zh-CN" altLang="en-US" sz="1400" dirty="0">
                <a:sym typeface="Huawei Sans" panose="020C0503030203020204" pitchFamily="34" charset="0"/>
              </a:rPr>
              <a:t>核心层交换机部署集群或单设备，建议大容量框式交换机集群，推荐</a:t>
            </a:r>
            <a:r>
              <a:rPr lang="en-US" altLang="zh-CN" sz="1400" dirty="0">
                <a:sym typeface="Huawei Sans" panose="020C0503030203020204" pitchFamily="34" charset="0"/>
              </a:rPr>
              <a:t>S127E</a:t>
            </a:r>
            <a:r>
              <a:rPr lang="zh-CN" altLang="en-US" sz="1400" dirty="0">
                <a:sym typeface="Huawei Sans" panose="020C0503030203020204" pitchFamily="34" charset="0"/>
              </a:rPr>
              <a:t>系列交换机。</a:t>
            </a:r>
          </a:p>
          <a:p>
            <a:pPr lvl="1">
              <a:lnSpc>
                <a:spcPct val="120000"/>
              </a:lnSpc>
            </a:pPr>
            <a:r>
              <a:rPr lang="zh-CN" altLang="en-US" sz="1400" dirty="0">
                <a:sym typeface="Huawei Sans" panose="020C0503030203020204" pitchFamily="34" charset="0"/>
              </a:rPr>
              <a:t>建议通过</a:t>
            </a:r>
            <a:r>
              <a:rPr lang="en-US" altLang="zh-CN" sz="1400" dirty="0">
                <a:sym typeface="Huawei Sans" panose="020C0503030203020204" pitchFamily="34" charset="0"/>
              </a:rPr>
              <a:t>ENP</a:t>
            </a:r>
            <a:r>
              <a:rPr lang="zh-CN" altLang="en-US" sz="1400" dirty="0">
                <a:sym typeface="Huawei Sans" panose="020C0503030203020204" pitchFamily="34" charset="0"/>
              </a:rPr>
              <a:t>单板与汇聚层设备互联，并部署</a:t>
            </a:r>
            <a:r>
              <a:rPr lang="en-US" altLang="zh-CN" sz="1400" dirty="0">
                <a:sym typeface="Huawei Sans" panose="020C0503030203020204" pitchFamily="34" charset="0"/>
              </a:rPr>
              <a:t>Eth-Trunk</a:t>
            </a:r>
            <a:r>
              <a:rPr lang="zh-CN" altLang="en-US" sz="1400" dirty="0">
                <a:sym typeface="Huawei Sans" panose="020C0503030203020204" pitchFamily="34" charset="0"/>
              </a:rPr>
              <a:t>。</a:t>
            </a:r>
          </a:p>
          <a:p>
            <a:pPr>
              <a:lnSpc>
                <a:spcPct val="120000"/>
              </a:lnSpc>
            </a:pPr>
            <a:r>
              <a:rPr lang="zh-CN" altLang="en-US" sz="1600" dirty="0">
                <a:sym typeface="Huawei Sans" panose="020C0503030203020204" pitchFamily="34" charset="0"/>
              </a:rPr>
              <a:t>汇聚层设计：</a:t>
            </a:r>
          </a:p>
          <a:p>
            <a:pPr lvl="1">
              <a:lnSpc>
                <a:spcPct val="120000"/>
              </a:lnSpc>
            </a:pPr>
            <a:r>
              <a:rPr lang="zh-CN" altLang="en-US" sz="1400" dirty="0">
                <a:sym typeface="Huawei Sans" panose="020C0503030203020204" pitchFamily="34" charset="0"/>
              </a:rPr>
              <a:t>汇聚层交换机部署堆叠或单台设备，建议框式集群或盒式堆叠；建议大容量交换机，推荐</a:t>
            </a:r>
            <a:r>
              <a:rPr lang="en-US" altLang="zh-CN" sz="1400" dirty="0">
                <a:sym typeface="Huawei Sans" panose="020C0503030203020204" pitchFamily="34" charset="0"/>
              </a:rPr>
              <a:t>S127E</a:t>
            </a:r>
            <a:r>
              <a:rPr lang="zh-CN" altLang="en-US" sz="1400" dirty="0">
                <a:sym typeface="Huawei Sans" panose="020C0503030203020204" pitchFamily="34" charset="0"/>
              </a:rPr>
              <a:t>或</a:t>
            </a:r>
            <a:r>
              <a:rPr lang="en-US" altLang="zh-CN" sz="1400" dirty="0">
                <a:sym typeface="Huawei Sans" panose="020C0503030203020204" pitchFamily="34" charset="0"/>
              </a:rPr>
              <a:t>S67</a:t>
            </a:r>
            <a:r>
              <a:rPr lang="zh-CN" altLang="en-US" sz="1400" dirty="0">
                <a:sym typeface="Huawei Sans" panose="020C0503030203020204" pitchFamily="34" charset="0"/>
              </a:rPr>
              <a:t>系列。</a:t>
            </a:r>
          </a:p>
          <a:p>
            <a:pPr lvl="1">
              <a:lnSpc>
                <a:spcPct val="120000"/>
              </a:lnSpc>
            </a:pPr>
            <a:r>
              <a:rPr lang="zh-CN" altLang="en-US" sz="1400" dirty="0">
                <a:sym typeface="Huawei Sans" panose="020C0503030203020204" pitchFamily="34" charset="0"/>
              </a:rPr>
              <a:t>与核心层、接入层互联建议采用</a:t>
            </a:r>
            <a:r>
              <a:rPr lang="en-US" altLang="zh-CN" sz="1400" dirty="0">
                <a:sym typeface="Huawei Sans" panose="020C0503030203020204" pitchFamily="34" charset="0"/>
              </a:rPr>
              <a:t>Eth-Trunk</a:t>
            </a:r>
            <a:r>
              <a:rPr lang="zh-CN" altLang="en-US" sz="1400" dirty="0">
                <a:sym typeface="Huawei Sans" panose="020C0503030203020204" pitchFamily="34" charset="0"/>
              </a:rPr>
              <a:t>。</a:t>
            </a:r>
          </a:p>
          <a:p>
            <a:pPr>
              <a:lnSpc>
                <a:spcPct val="120000"/>
              </a:lnSpc>
            </a:pPr>
            <a:r>
              <a:rPr lang="zh-CN" altLang="en-US" sz="1600" dirty="0">
                <a:sym typeface="Huawei Sans" panose="020C0503030203020204" pitchFamily="34" charset="0"/>
              </a:rPr>
              <a:t>接入层设计：</a:t>
            </a:r>
          </a:p>
          <a:p>
            <a:pPr lvl="1">
              <a:lnSpc>
                <a:spcPct val="120000"/>
              </a:lnSpc>
            </a:pPr>
            <a:r>
              <a:rPr lang="zh-CN" altLang="en-US" sz="1400" dirty="0">
                <a:sym typeface="Huawei Sans" panose="020C0503030203020204" pitchFamily="34" charset="0"/>
              </a:rPr>
              <a:t>有线接入节点：每个节点可以是堆叠或单设备。</a:t>
            </a:r>
          </a:p>
          <a:p>
            <a:pPr lvl="1">
              <a:lnSpc>
                <a:spcPct val="120000"/>
              </a:lnSpc>
            </a:pPr>
            <a:r>
              <a:rPr lang="zh-CN" altLang="en-US" sz="1400" dirty="0">
                <a:sym typeface="Huawei Sans" panose="020C0503030203020204" pitchFamily="34" charset="0"/>
              </a:rPr>
              <a:t>无线接入节点：瘦</a:t>
            </a:r>
            <a:r>
              <a:rPr lang="en-US" altLang="zh-CN" sz="1400" dirty="0">
                <a:sym typeface="Huawei Sans" panose="020C0503030203020204" pitchFamily="34" charset="0"/>
              </a:rPr>
              <a:t>AP</a:t>
            </a:r>
            <a:r>
              <a:rPr lang="zh-CN" altLang="en-US" sz="1400" dirty="0">
                <a:sym typeface="Huawei Sans" panose="020C0503030203020204" pitchFamily="34" charset="0"/>
              </a:rPr>
              <a:t>。</a:t>
            </a:r>
          </a:p>
          <a:p>
            <a:pPr>
              <a:lnSpc>
                <a:spcPct val="120000"/>
              </a:lnSpc>
            </a:pPr>
            <a:r>
              <a:rPr lang="zh-CN" altLang="en-US" sz="1600" dirty="0">
                <a:sym typeface="Huawei Sans" panose="020C0503030203020204" pitchFamily="34" charset="0"/>
              </a:rPr>
              <a:t>服务器区设计：</a:t>
            </a:r>
          </a:p>
          <a:p>
            <a:pPr lvl="1">
              <a:lnSpc>
                <a:spcPct val="120000"/>
              </a:lnSpc>
            </a:pPr>
            <a:r>
              <a:rPr lang="zh-CN" altLang="en-US" sz="1400" dirty="0">
                <a:sym typeface="Huawei Sans" panose="020C0503030203020204" pitchFamily="34" charset="0"/>
              </a:rPr>
              <a:t>控制器、分析器及</a:t>
            </a:r>
            <a:r>
              <a:rPr lang="en-US" altLang="zh-CN" sz="1400" dirty="0">
                <a:sym typeface="Huawei Sans" panose="020C0503030203020204" pitchFamily="34" charset="0"/>
              </a:rPr>
              <a:t>DHCP Server</a:t>
            </a:r>
            <a:r>
              <a:rPr lang="zh-CN" altLang="en-US" sz="1400" dirty="0">
                <a:sym typeface="Huawei Sans" panose="020C0503030203020204" pitchFamily="34" charset="0"/>
              </a:rPr>
              <a:t>建议通过服务器区交换机接入园区网络。</a:t>
            </a:r>
          </a:p>
        </p:txBody>
      </p:sp>
      <p:sp>
        <p:nvSpPr>
          <p:cNvPr id="70" name="圆角矩形 69"/>
          <p:cNvSpPr/>
          <p:nvPr/>
        </p:nvSpPr>
        <p:spPr>
          <a:xfrm>
            <a:off x="3669512" y="1164259"/>
            <a:ext cx="1798708" cy="1245217"/>
          </a:xfrm>
          <a:prstGeom prst="roundRect">
            <a:avLst>
              <a:gd name="adj" fmla="val 249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1" name="直接连接符 70"/>
          <p:cNvCxnSpPr>
            <a:stCxn id="86" idx="0"/>
            <a:endCxn id="80" idx="2"/>
          </p:cNvCxnSpPr>
          <p:nvPr/>
        </p:nvCxnSpPr>
        <p:spPr bwMode="gray">
          <a:xfrm flipH="1" flipV="1">
            <a:off x="1545504" y="2073219"/>
            <a:ext cx="1045983" cy="33625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81" idx="2"/>
            <a:endCxn id="82" idx="0"/>
          </p:cNvCxnSpPr>
          <p:nvPr/>
        </p:nvCxnSpPr>
        <p:spPr bwMode="gray">
          <a:xfrm>
            <a:off x="4261639" y="4002239"/>
            <a:ext cx="0" cy="74768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74" name="Group 165"/>
          <p:cNvGrpSpPr/>
          <p:nvPr/>
        </p:nvGrpSpPr>
        <p:grpSpPr bwMode="gray">
          <a:xfrm rot="10800000" flipV="1">
            <a:off x="1505503" y="3940219"/>
            <a:ext cx="715186" cy="1093839"/>
            <a:chOff x="-1233037" y="914446"/>
            <a:chExt cx="1573823" cy="778776"/>
          </a:xfrm>
        </p:grpSpPr>
        <p:cxnSp>
          <p:nvCxnSpPr>
            <p:cNvPr id="75"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pic>
        <p:nvPicPr>
          <p:cNvPr id="77" name="图片 87" descr="汇聚交换机.png"/>
          <p:cNvPicPr>
            <a:picLocks noChangeAspect="1"/>
          </p:cNvPicPr>
          <p:nvPr/>
        </p:nvPicPr>
        <p:blipFill>
          <a:blip r:embed="rId3"/>
          <a:stretch>
            <a:fillRect/>
          </a:stretch>
        </p:blipFill>
        <p:spPr bwMode="gray">
          <a:xfrm>
            <a:off x="2005473" y="3699942"/>
            <a:ext cx="369473" cy="302297"/>
          </a:xfrm>
          <a:prstGeom prst="rect">
            <a:avLst/>
          </a:prstGeom>
        </p:spPr>
      </p:pic>
      <p:pic>
        <p:nvPicPr>
          <p:cNvPr id="78" name="图片 76" descr="接入交换机.png"/>
          <p:cNvPicPr>
            <a:picLocks noChangeAspect="1"/>
          </p:cNvPicPr>
          <p:nvPr/>
        </p:nvPicPr>
        <p:blipFill>
          <a:blip r:embed="rId4"/>
          <a:stretch>
            <a:fillRect/>
          </a:stretch>
        </p:blipFill>
        <p:spPr bwMode="gray">
          <a:xfrm>
            <a:off x="1676637" y="4749928"/>
            <a:ext cx="369473" cy="302297"/>
          </a:xfrm>
          <a:prstGeom prst="rect">
            <a:avLst/>
          </a:prstGeom>
        </p:spPr>
      </p:pic>
      <p:pic>
        <p:nvPicPr>
          <p:cNvPr id="8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1406708" y="1846099"/>
            <a:ext cx="277591" cy="227120"/>
          </a:xfrm>
          <a:prstGeom prst="rect">
            <a:avLst/>
          </a:prstGeom>
        </p:spPr>
      </p:pic>
      <p:pic>
        <p:nvPicPr>
          <p:cNvPr id="81" name="图片 87" descr="汇聚交换机.png"/>
          <p:cNvPicPr>
            <a:picLocks noChangeAspect="1"/>
          </p:cNvPicPr>
          <p:nvPr/>
        </p:nvPicPr>
        <p:blipFill>
          <a:blip r:embed="rId3"/>
          <a:stretch>
            <a:fillRect/>
          </a:stretch>
        </p:blipFill>
        <p:spPr bwMode="gray">
          <a:xfrm>
            <a:off x="4076902" y="3699942"/>
            <a:ext cx="369473" cy="302297"/>
          </a:xfrm>
          <a:prstGeom prst="rect">
            <a:avLst/>
          </a:prstGeom>
        </p:spPr>
      </p:pic>
      <p:pic>
        <p:nvPicPr>
          <p:cNvPr id="82" name="图片 76" descr="接入交换机.png"/>
          <p:cNvPicPr>
            <a:picLocks noChangeAspect="1"/>
          </p:cNvPicPr>
          <p:nvPr/>
        </p:nvPicPr>
        <p:blipFill>
          <a:blip r:embed="rId4"/>
          <a:stretch>
            <a:fillRect/>
          </a:stretch>
        </p:blipFill>
        <p:spPr bwMode="gray">
          <a:xfrm>
            <a:off x="4076902" y="4749928"/>
            <a:ext cx="369473" cy="302297"/>
          </a:xfrm>
          <a:prstGeom prst="rect">
            <a:avLst/>
          </a:prstGeom>
        </p:spPr>
      </p:pic>
      <p:pic>
        <p:nvPicPr>
          <p:cNvPr id="83" name="图片 105" descr="AP.png"/>
          <p:cNvPicPr>
            <a:picLocks noChangeAspect="1"/>
          </p:cNvPicPr>
          <p:nvPr/>
        </p:nvPicPr>
        <p:blipFill>
          <a:blip r:embed="rId6"/>
          <a:stretch>
            <a:fillRect/>
          </a:stretch>
        </p:blipFill>
        <p:spPr bwMode="gray">
          <a:xfrm>
            <a:off x="4688021" y="4763465"/>
            <a:ext cx="333509" cy="272873"/>
          </a:xfrm>
          <a:prstGeom prst="rect">
            <a:avLst/>
          </a:prstGeom>
        </p:spPr>
      </p:pic>
      <p:pic>
        <p:nvPicPr>
          <p:cNvPr id="85" name="Picture 2" descr="G:\做的项目\公共\扁平图标切换\更新2015_01_21\oss扁平图标库2015_01_21更新-04.png"/>
          <p:cNvPicPr>
            <a:picLocks noChangeAspect="1" noChangeArrowheads="1"/>
          </p:cNvPicPr>
          <p:nvPr/>
        </p:nvPicPr>
        <p:blipFill>
          <a:blip r:embed="rId7"/>
          <a:stretch>
            <a:fillRect/>
          </a:stretch>
        </p:blipFill>
        <p:spPr bwMode="gray">
          <a:xfrm>
            <a:off x="2406750" y="1441541"/>
            <a:ext cx="369473" cy="302297"/>
          </a:xfrm>
          <a:prstGeom prst="rect">
            <a:avLst/>
          </a:prstGeom>
          <a:noFill/>
        </p:spPr>
      </p:pic>
      <p:pic>
        <p:nvPicPr>
          <p:cNvPr id="86" name="图片 86" descr="核心交换机.png"/>
          <p:cNvPicPr>
            <a:picLocks noChangeAspect="1"/>
          </p:cNvPicPr>
          <p:nvPr/>
        </p:nvPicPr>
        <p:blipFill>
          <a:blip r:embed="rId8"/>
          <a:stretch>
            <a:fillRect/>
          </a:stretch>
        </p:blipFill>
        <p:spPr bwMode="gray">
          <a:xfrm>
            <a:off x="2406750" y="2409477"/>
            <a:ext cx="369473" cy="302297"/>
          </a:xfrm>
          <a:prstGeom prst="rect">
            <a:avLst/>
          </a:prstGeom>
        </p:spPr>
      </p:pic>
      <p:pic>
        <p:nvPicPr>
          <p:cNvPr id="87" name="图片 86" descr="核心交换机.png"/>
          <p:cNvPicPr>
            <a:picLocks noChangeAspect="1"/>
          </p:cNvPicPr>
          <p:nvPr/>
        </p:nvPicPr>
        <p:blipFill>
          <a:blip r:embed="rId8"/>
          <a:stretch>
            <a:fillRect/>
          </a:stretch>
        </p:blipFill>
        <p:spPr bwMode="gray">
          <a:xfrm>
            <a:off x="3097587" y="2409477"/>
            <a:ext cx="369473" cy="302297"/>
          </a:xfrm>
          <a:prstGeom prst="rect">
            <a:avLst/>
          </a:prstGeom>
        </p:spPr>
      </p:pic>
      <p:cxnSp>
        <p:nvCxnSpPr>
          <p:cNvPr id="88" name="直接连接符 87"/>
          <p:cNvCxnSpPr>
            <a:stCxn id="86" idx="3"/>
            <a:endCxn id="87" idx="1"/>
          </p:cNvCxnSpPr>
          <p:nvPr/>
        </p:nvCxnSpPr>
        <p:spPr bwMode="gray">
          <a:xfrm>
            <a:off x="2776223" y="2560626"/>
            <a:ext cx="32136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89" name="图片 87" descr="汇聚交换机.png"/>
          <p:cNvPicPr>
            <a:picLocks noChangeAspect="1"/>
          </p:cNvPicPr>
          <p:nvPr/>
        </p:nvPicPr>
        <p:blipFill>
          <a:blip r:embed="rId3"/>
          <a:stretch>
            <a:fillRect/>
          </a:stretch>
        </p:blipFill>
        <p:spPr bwMode="gray">
          <a:xfrm>
            <a:off x="1347804" y="3699942"/>
            <a:ext cx="369473" cy="302297"/>
          </a:xfrm>
          <a:prstGeom prst="rect">
            <a:avLst/>
          </a:prstGeom>
        </p:spPr>
      </p:pic>
      <p:cxnSp>
        <p:nvCxnSpPr>
          <p:cNvPr id="90" name="直接连接符 89"/>
          <p:cNvCxnSpPr>
            <a:stCxn id="89" idx="3"/>
            <a:endCxn id="77" idx="1"/>
          </p:cNvCxnSpPr>
          <p:nvPr/>
        </p:nvCxnSpPr>
        <p:spPr bwMode="gray">
          <a:xfrm>
            <a:off x="1717277" y="3851091"/>
            <a:ext cx="288196"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91" name="图片 87" descr="汇聚交换机.png"/>
          <p:cNvPicPr>
            <a:picLocks noChangeAspect="1"/>
          </p:cNvPicPr>
          <p:nvPr/>
        </p:nvPicPr>
        <p:blipFill>
          <a:blip r:embed="rId3"/>
          <a:stretch>
            <a:fillRect/>
          </a:stretch>
        </p:blipFill>
        <p:spPr bwMode="gray">
          <a:xfrm>
            <a:off x="3047707" y="3699942"/>
            <a:ext cx="369473" cy="302297"/>
          </a:xfrm>
          <a:prstGeom prst="rect">
            <a:avLst/>
          </a:prstGeom>
        </p:spPr>
      </p:pic>
      <p:cxnSp>
        <p:nvCxnSpPr>
          <p:cNvPr id="92" name="直接连接符 91"/>
          <p:cNvCxnSpPr/>
          <p:nvPr/>
        </p:nvCxnSpPr>
        <p:spPr bwMode="gray">
          <a:xfrm>
            <a:off x="3232443" y="4002239"/>
            <a:ext cx="0" cy="138368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93" name="图片 11" descr="开放网络-蓝.png"/>
          <p:cNvPicPr>
            <a:picLocks noChangeAspect="1"/>
          </p:cNvPicPr>
          <p:nvPr/>
        </p:nvPicPr>
        <p:blipFill>
          <a:blip r:embed="rId9"/>
          <a:stretch>
            <a:fillRect/>
          </a:stretch>
        </p:blipFill>
        <p:spPr bwMode="gray">
          <a:xfrm>
            <a:off x="1658666" y="5396271"/>
            <a:ext cx="405415" cy="312082"/>
          </a:xfrm>
          <a:prstGeom prst="rect">
            <a:avLst/>
          </a:prstGeom>
        </p:spPr>
      </p:pic>
      <p:pic>
        <p:nvPicPr>
          <p:cNvPr id="94" name="图片 11" descr="开放网络-蓝.png"/>
          <p:cNvPicPr>
            <a:picLocks noChangeAspect="1"/>
          </p:cNvPicPr>
          <p:nvPr/>
        </p:nvPicPr>
        <p:blipFill>
          <a:blip r:embed="rId9"/>
          <a:stretch>
            <a:fillRect/>
          </a:stretch>
        </p:blipFill>
        <p:spPr bwMode="gray">
          <a:xfrm>
            <a:off x="3003470" y="5396271"/>
            <a:ext cx="405415" cy="312082"/>
          </a:xfrm>
          <a:prstGeom prst="rect">
            <a:avLst/>
          </a:prstGeom>
        </p:spPr>
      </p:pic>
      <p:pic>
        <p:nvPicPr>
          <p:cNvPr id="95" name="图片 11" descr="开放网络-蓝.png"/>
          <p:cNvPicPr>
            <a:picLocks noChangeAspect="1"/>
          </p:cNvPicPr>
          <p:nvPr/>
        </p:nvPicPr>
        <p:blipFill>
          <a:blip r:embed="rId9"/>
          <a:stretch>
            <a:fillRect/>
          </a:stretch>
        </p:blipFill>
        <p:spPr bwMode="gray">
          <a:xfrm>
            <a:off x="4058931" y="5396271"/>
            <a:ext cx="405415" cy="312082"/>
          </a:xfrm>
          <a:prstGeom prst="rect">
            <a:avLst/>
          </a:prstGeom>
        </p:spPr>
      </p:pic>
      <p:pic>
        <p:nvPicPr>
          <p:cNvPr id="100" name="图片 157" descr="故障链路.png"/>
          <p:cNvPicPr>
            <a:picLocks noChangeAspect="1"/>
          </p:cNvPicPr>
          <p:nvPr/>
        </p:nvPicPr>
        <p:blipFill>
          <a:blip r:embed="rId10"/>
          <a:stretch>
            <a:fillRect/>
          </a:stretch>
        </p:blipFill>
        <p:spPr bwMode="gray">
          <a:xfrm>
            <a:off x="4679541" y="5385920"/>
            <a:ext cx="446281" cy="332783"/>
          </a:xfrm>
          <a:prstGeom prst="rect">
            <a:avLst/>
          </a:prstGeom>
        </p:spPr>
      </p:pic>
      <p:sp>
        <p:nvSpPr>
          <p:cNvPr id="101" name="椭圆 100"/>
          <p:cNvSpPr/>
          <p:nvPr/>
        </p:nvSpPr>
        <p:spPr bwMode="gray">
          <a:xfrm>
            <a:off x="1600611" y="4474497"/>
            <a:ext cx="524973" cy="101992"/>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3" name="直接连接符 102"/>
          <p:cNvCxnSpPr>
            <a:stCxn id="82" idx="3"/>
            <a:endCxn id="83" idx="1"/>
          </p:cNvCxnSpPr>
          <p:nvPr/>
        </p:nvCxnSpPr>
        <p:spPr bwMode="gray">
          <a:xfrm flipV="1">
            <a:off x="4446375" y="4899902"/>
            <a:ext cx="241646" cy="117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04" name="文本框 103"/>
          <p:cNvSpPr txBox="1"/>
          <p:nvPr/>
        </p:nvSpPr>
        <p:spPr bwMode="gray">
          <a:xfrm>
            <a:off x="526672" y="2472167"/>
            <a:ext cx="646332" cy="276999"/>
          </a:xfrm>
          <a:prstGeom prst="rect">
            <a:avLst/>
          </a:prstGeom>
          <a:noFill/>
        </p:spPr>
        <p:txBody>
          <a:bodyPr wrap="none" rtlCol="0">
            <a:spAutoFit/>
          </a:bodyPr>
          <a:lstStyle/>
          <a:p>
            <a:pPr algn="r" fontAlgn="ctr">
              <a:spcBef>
                <a:spcPct val="0"/>
              </a:spcBef>
              <a:spcAft>
                <a:spcPct val="0"/>
              </a:spcAft>
              <a:defRPr/>
            </a:pPr>
            <a:r>
              <a:rPr 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bwMode="gray">
          <a:xfrm>
            <a:off x="526672" y="3672673"/>
            <a:ext cx="646332" cy="276999"/>
          </a:xfrm>
          <a:prstGeom prst="rect">
            <a:avLst/>
          </a:prstGeom>
          <a:noFill/>
        </p:spPr>
        <p:txBody>
          <a:bodyPr wrap="none" rtlCol="0">
            <a:spAutoFit/>
          </a:bodyPr>
          <a:lstStyle/>
          <a:p>
            <a:pPr algn="r" fontAlgn="ctr">
              <a:spcBef>
                <a:spcPct val="0"/>
              </a:spcBef>
              <a:spcAft>
                <a:spcPct val="0"/>
              </a:spcAft>
              <a:defRPr/>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文本框 106"/>
          <p:cNvSpPr txBox="1"/>
          <p:nvPr/>
        </p:nvSpPr>
        <p:spPr bwMode="gray">
          <a:xfrm>
            <a:off x="526672" y="4772943"/>
            <a:ext cx="646332" cy="276999"/>
          </a:xfrm>
          <a:prstGeom prst="rect">
            <a:avLst/>
          </a:prstGeom>
          <a:noFill/>
        </p:spPr>
        <p:txBody>
          <a:bodyPr wrap="none" rtlCol="0">
            <a:spAutoFit/>
          </a:bodyPr>
          <a:lstStyle/>
          <a:p>
            <a:pPr algn="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文本框 139"/>
          <p:cNvSpPr txBox="1"/>
          <p:nvPr/>
        </p:nvSpPr>
        <p:spPr bwMode="gray">
          <a:xfrm>
            <a:off x="526673" y="1373188"/>
            <a:ext cx="646331" cy="276999"/>
          </a:xfrm>
          <a:prstGeom prst="rect">
            <a:avLst/>
          </a:prstGeom>
          <a:noFill/>
        </p:spPr>
        <p:txBody>
          <a:bodyPr wrap="none" rtlCol="0">
            <a:spAutoFit/>
          </a:bodyPr>
          <a:lstStyle/>
          <a:p>
            <a:pPr algn="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区</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文本框 140"/>
          <p:cNvSpPr txBox="1"/>
          <p:nvPr/>
        </p:nvSpPr>
        <p:spPr bwMode="gray">
          <a:xfrm>
            <a:off x="842093" y="5837847"/>
            <a:ext cx="1073008" cy="232719"/>
          </a:xfrm>
          <a:prstGeom prst="rect">
            <a:avLst/>
          </a:prstGeom>
          <a:noFill/>
          <a:ln>
            <a:noFill/>
          </a:ln>
        </p:spPr>
        <p:txBody>
          <a:bodyPr wrap="none" rtlCol="0">
            <a:noAutofit/>
          </a:bodyPr>
          <a:lstStyle/>
          <a:p>
            <a:pPr fontAlgn="ctr"/>
            <a:r>
              <a:rPr lang="zh-CN" altLang="en-US"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p>
        </p:txBody>
      </p:sp>
      <p:cxnSp>
        <p:nvCxnSpPr>
          <p:cNvPr id="142" name="直接连接符 141"/>
          <p:cNvCxnSpPr>
            <a:stCxn id="82" idx="2"/>
            <a:endCxn id="95" idx="0"/>
          </p:cNvCxnSpPr>
          <p:nvPr/>
        </p:nvCxnSpPr>
        <p:spPr bwMode="gray">
          <a:xfrm>
            <a:off x="4261639" y="5052225"/>
            <a:ext cx="0" cy="34404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stCxn id="78" idx="2"/>
            <a:endCxn id="93" idx="0"/>
          </p:cNvCxnSpPr>
          <p:nvPr/>
        </p:nvCxnSpPr>
        <p:spPr bwMode="gray">
          <a:xfrm>
            <a:off x="1861374" y="5052225"/>
            <a:ext cx="0" cy="34404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4" name="直接连接符 143"/>
          <p:cNvCxnSpPr>
            <a:stCxn id="86" idx="2"/>
            <a:endCxn id="89" idx="0"/>
          </p:cNvCxnSpPr>
          <p:nvPr/>
        </p:nvCxnSpPr>
        <p:spPr bwMode="gray">
          <a:xfrm flipH="1">
            <a:off x="1532541" y="2711774"/>
            <a:ext cx="1058946"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1" name="直接连接符 150"/>
          <p:cNvCxnSpPr>
            <a:stCxn id="87" idx="2"/>
            <a:endCxn id="77" idx="0"/>
          </p:cNvCxnSpPr>
          <p:nvPr/>
        </p:nvCxnSpPr>
        <p:spPr bwMode="gray">
          <a:xfrm flipH="1">
            <a:off x="2190210" y="2711774"/>
            <a:ext cx="1092114"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2" name="直接连接符 151"/>
          <p:cNvCxnSpPr>
            <a:stCxn id="86" idx="2"/>
            <a:endCxn id="91" idx="0"/>
          </p:cNvCxnSpPr>
          <p:nvPr/>
        </p:nvCxnSpPr>
        <p:spPr bwMode="gray">
          <a:xfrm>
            <a:off x="2591487" y="2711774"/>
            <a:ext cx="640957"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3" name="直接连接符 152"/>
          <p:cNvCxnSpPr>
            <a:stCxn id="87" idx="2"/>
            <a:endCxn id="91" idx="0"/>
          </p:cNvCxnSpPr>
          <p:nvPr/>
        </p:nvCxnSpPr>
        <p:spPr bwMode="gray">
          <a:xfrm flipH="1">
            <a:off x="3232444" y="2711774"/>
            <a:ext cx="49880"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4" name="直接连接符 153"/>
          <p:cNvCxnSpPr>
            <a:stCxn id="86" idx="2"/>
            <a:endCxn id="81" idx="0"/>
          </p:cNvCxnSpPr>
          <p:nvPr/>
        </p:nvCxnSpPr>
        <p:spPr bwMode="gray">
          <a:xfrm>
            <a:off x="2591487" y="2711774"/>
            <a:ext cx="1670152"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5" name="直接连接符 154"/>
          <p:cNvCxnSpPr>
            <a:stCxn id="87" idx="2"/>
            <a:endCxn id="81" idx="0"/>
          </p:cNvCxnSpPr>
          <p:nvPr/>
        </p:nvCxnSpPr>
        <p:spPr bwMode="gray">
          <a:xfrm>
            <a:off x="3282324" y="2711774"/>
            <a:ext cx="979315"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6" name="直接连接符 155"/>
          <p:cNvCxnSpPr>
            <a:stCxn id="87" idx="0"/>
            <a:endCxn id="174" idx="2"/>
          </p:cNvCxnSpPr>
          <p:nvPr/>
        </p:nvCxnSpPr>
        <p:spPr bwMode="gray">
          <a:xfrm flipH="1" flipV="1">
            <a:off x="2045358" y="2073219"/>
            <a:ext cx="1236966" cy="33625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57" name="Picture 2" descr="G:\做的项目\公共\扁平图标切换\更新2015_01_21\oss扁平图标库2015_01_21更新-04.png"/>
          <p:cNvPicPr>
            <a:picLocks noChangeAspect="1" noChangeArrowheads="1"/>
          </p:cNvPicPr>
          <p:nvPr/>
        </p:nvPicPr>
        <p:blipFill>
          <a:blip r:embed="rId7"/>
          <a:stretch>
            <a:fillRect/>
          </a:stretch>
        </p:blipFill>
        <p:spPr bwMode="gray">
          <a:xfrm>
            <a:off x="3097587" y="1441541"/>
            <a:ext cx="369473" cy="302297"/>
          </a:xfrm>
          <a:prstGeom prst="rect">
            <a:avLst/>
          </a:prstGeom>
          <a:noFill/>
        </p:spPr>
      </p:pic>
      <p:cxnSp>
        <p:nvCxnSpPr>
          <p:cNvPr id="158" name="直接连接符 157"/>
          <p:cNvCxnSpPr>
            <a:stCxn id="85" idx="2"/>
            <a:endCxn id="86" idx="0"/>
          </p:cNvCxnSpPr>
          <p:nvPr/>
        </p:nvCxnSpPr>
        <p:spPr bwMode="gray">
          <a:xfrm>
            <a:off x="2591487" y="1743838"/>
            <a:ext cx="0" cy="66563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9" name="直接连接符 158"/>
          <p:cNvCxnSpPr>
            <a:stCxn id="157" idx="2"/>
            <a:endCxn id="87" idx="0"/>
          </p:cNvCxnSpPr>
          <p:nvPr/>
        </p:nvCxnSpPr>
        <p:spPr bwMode="gray">
          <a:xfrm>
            <a:off x="3282324" y="1743838"/>
            <a:ext cx="0" cy="66563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0" name="直接连接符 159"/>
          <p:cNvCxnSpPr>
            <a:stCxn id="85" idx="3"/>
            <a:endCxn id="157" idx="1"/>
          </p:cNvCxnSpPr>
          <p:nvPr/>
        </p:nvCxnSpPr>
        <p:spPr bwMode="gray">
          <a:xfrm>
            <a:off x="2776223" y="1592690"/>
            <a:ext cx="321364"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61" name="图片 87" descr="汇聚交换机.png"/>
          <p:cNvPicPr>
            <a:picLocks noChangeAspect="1"/>
          </p:cNvPicPr>
          <p:nvPr/>
        </p:nvPicPr>
        <p:blipFill>
          <a:blip r:embed="rId3"/>
          <a:stretch>
            <a:fillRect/>
          </a:stretch>
        </p:blipFill>
        <p:spPr bwMode="gray">
          <a:xfrm>
            <a:off x="4004456" y="1846649"/>
            <a:ext cx="305350" cy="249832"/>
          </a:xfrm>
          <a:prstGeom prst="rect">
            <a:avLst/>
          </a:prstGeom>
        </p:spPr>
      </p:pic>
      <p:pic>
        <p:nvPicPr>
          <p:cNvPr id="162" name="图片 87" descr="汇聚交换机.png"/>
          <p:cNvPicPr>
            <a:picLocks noChangeAspect="1"/>
          </p:cNvPicPr>
          <p:nvPr/>
        </p:nvPicPr>
        <p:blipFill>
          <a:blip r:embed="rId3"/>
          <a:stretch>
            <a:fillRect/>
          </a:stretch>
        </p:blipFill>
        <p:spPr bwMode="gray">
          <a:xfrm>
            <a:off x="4556840" y="1846649"/>
            <a:ext cx="305350" cy="249832"/>
          </a:xfrm>
          <a:prstGeom prst="rect">
            <a:avLst/>
          </a:prstGeom>
        </p:spPr>
      </p:pic>
      <p:cxnSp>
        <p:nvCxnSpPr>
          <p:cNvPr id="163" name="直接连接符 162"/>
          <p:cNvCxnSpPr>
            <a:stCxn id="161" idx="2"/>
            <a:endCxn id="86" idx="0"/>
          </p:cNvCxnSpPr>
          <p:nvPr/>
        </p:nvCxnSpPr>
        <p:spPr bwMode="gray">
          <a:xfrm flipH="1">
            <a:off x="2591487" y="2096481"/>
            <a:ext cx="1565644" cy="31299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stCxn id="162" idx="2"/>
            <a:endCxn id="87" idx="0"/>
          </p:cNvCxnSpPr>
          <p:nvPr/>
        </p:nvCxnSpPr>
        <p:spPr bwMode="gray">
          <a:xfrm flipH="1">
            <a:off x="3282324" y="2096481"/>
            <a:ext cx="1427191" cy="31299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bwMode="gray">
          <a:xfrm>
            <a:off x="557560" y="5960957"/>
            <a:ext cx="219495"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a:stCxn id="161" idx="3"/>
            <a:endCxn id="162" idx="1"/>
          </p:cNvCxnSpPr>
          <p:nvPr/>
        </p:nvCxnSpPr>
        <p:spPr bwMode="gray">
          <a:xfrm>
            <a:off x="4309806" y="1971565"/>
            <a:ext cx="24703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67" name="图片 72" descr="交换机.png"/>
          <p:cNvPicPr>
            <a:picLocks noChangeAspect="1"/>
          </p:cNvPicPr>
          <p:nvPr/>
        </p:nvPicPr>
        <p:blipFill>
          <a:blip r:embed="rId11" cstate="print"/>
          <a:stretch>
            <a:fillRect/>
          </a:stretch>
        </p:blipFill>
        <p:spPr>
          <a:xfrm>
            <a:off x="4546649" y="1383137"/>
            <a:ext cx="334188" cy="274333"/>
          </a:xfrm>
          <a:prstGeom prst="rect">
            <a:avLst/>
          </a:prstGeom>
        </p:spPr>
      </p:pic>
      <p:pic>
        <p:nvPicPr>
          <p:cNvPr id="168" name="图片 16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755517" y="1283633"/>
            <a:ext cx="649960" cy="369474"/>
          </a:xfrm>
          <a:prstGeom prst="rect">
            <a:avLst/>
          </a:prstGeom>
        </p:spPr>
      </p:pic>
      <p:sp>
        <p:nvSpPr>
          <p:cNvPr id="169" name="文本框 168"/>
          <p:cNvSpPr txBox="1"/>
          <p:nvPr/>
        </p:nvSpPr>
        <p:spPr bwMode="gray">
          <a:xfrm>
            <a:off x="4783424" y="1290533"/>
            <a:ext cx="684796" cy="461665"/>
          </a:xfrm>
          <a:prstGeom prst="rect">
            <a:avLst/>
          </a:prstGeom>
          <a:noFill/>
        </p:spPr>
        <p:txBody>
          <a:bodyPr wrap="square" rtlCol="0">
            <a:spAutoFit/>
          </a:bodyPr>
          <a:lstStyle/>
          <a:p>
            <a:pPr algn="ctr" fontAlgn="ctr">
              <a:spcBef>
                <a:spcPct val="0"/>
              </a:spcBef>
              <a:spcAft>
                <a:spcPct val="0"/>
              </a:spcAft>
              <a:defRPr/>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文本框 169"/>
          <p:cNvSpPr txBox="1"/>
          <p:nvPr/>
        </p:nvSpPr>
        <p:spPr bwMode="gray">
          <a:xfrm>
            <a:off x="4674962" y="2140488"/>
            <a:ext cx="800220" cy="276999"/>
          </a:xfrm>
          <a:prstGeom prst="rect">
            <a:avLst/>
          </a:prstGeom>
          <a:noFill/>
        </p:spPr>
        <p:txBody>
          <a:bodyPr wrap="none" rtlCol="0">
            <a:spAutoFit/>
          </a:bodyPr>
          <a:lstStyle/>
          <a:p>
            <a:pPr algn="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服务器区</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椭圆 170"/>
          <p:cNvSpPr/>
          <p:nvPr/>
        </p:nvSpPr>
        <p:spPr bwMode="gray">
          <a:xfrm rot="2732281">
            <a:off x="1894553" y="3315571"/>
            <a:ext cx="635217" cy="101992"/>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椭圆 171"/>
          <p:cNvSpPr/>
          <p:nvPr/>
        </p:nvSpPr>
        <p:spPr bwMode="gray">
          <a:xfrm>
            <a:off x="2995848" y="3408669"/>
            <a:ext cx="325967" cy="101992"/>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椭圆 172"/>
          <p:cNvSpPr/>
          <p:nvPr/>
        </p:nvSpPr>
        <p:spPr bwMode="gray">
          <a:xfrm rot="18824393">
            <a:off x="3834973" y="3408669"/>
            <a:ext cx="244905" cy="101992"/>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4"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1906562" y="1846099"/>
            <a:ext cx="277591" cy="227120"/>
          </a:xfrm>
          <a:prstGeom prst="rect">
            <a:avLst/>
          </a:prstGeom>
        </p:spPr>
      </p:pic>
      <p:cxnSp>
        <p:nvCxnSpPr>
          <p:cNvPr id="175" name="直接连接符 174"/>
          <p:cNvCxnSpPr>
            <a:stCxn id="174" idx="1"/>
            <a:endCxn id="80" idx="3"/>
          </p:cNvCxnSpPr>
          <p:nvPr/>
        </p:nvCxnSpPr>
        <p:spPr bwMode="gray">
          <a:xfrm flipH="1">
            <a:off x="1684299" y="1959659"/>
            <a:ext cx="222263"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63" name="圆角矩形 62"/>
          <p:cNvSpPr/>
          <p:nvPr/>
        </p:nvSpPr>
        <p:spPr bwMode="gray">
          <a:xfrm>
            <a:off x="2284273" y="2327735"/>
            <a:ext cx="1253068" cy="476853"/>
          </a:xfrm>
          <a:prstGeom prst="roundRect">
            <a:avLst>
              <a:gd name="adj" fmla="val 24302"/>
            </a:avLst>
          </a:prstGeom>
          <a:noFill/>
          <a:ln w="19050" cap="flat" cmpd="sng" algn="ctr">
            <a:solidFill>
              <a:srgbClr val="30B5C5"/>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noAutofit/>
          </a:bodyPr>
          <a:lstStyle/>
          <a:p>
            <a:pPr fontAlgn="ctr">
              <a:spcBef>
                <a:spcPct val="0"/>
              </a:spcBef>
              <a:spcAft>
                <a:spcPct val="0"/>
              </a:spcAft>
              <a:buClr>
                <a:srgbClr val="CC9900"/>
              </a:buClr>
              <a:buSzPct val="60000"/>
              <a:buFont typeface="Wingdings" panose="05000000000000000000" pitchFamily="2" charset="2"/>
              <a:buChar char="n"/>
              <a:defRPr/>
            </a:pPr>
            <a:endParaRPr lang="en-US" altLang="zh-CN"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圆角矩形 63"/>
          <p:cNvSpPr/>
          <p:nvPr/>
        </p:nvSpPr>
        <p:spPr bwMode="gray">
          <a:xfrm>
            <a:off x="1226483" y="3615000"/>
            <a:ext cx="1253068" cy="476853"/>
          </a:xfrm>
          <a:prstGeom prst="roundRect">
            <a:avLst>
              <a:gd name="adj" fmla="val 24302"/>
            </a:avLst>
          </a:prstGeom>
          <a:noFill/>
          <a:ln w="19050" cap="flat" cmpd="sng" algn="ctr">
            <a:solidFill>
              <a:srgbClr val="30B5C5"/>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noAutofit/>
          </a:bodyPr>
          <a:lstStyle/>
          <a:p>
            <a:pPr fontAlgn="ctr">
              <a:spcBef>
                <a:spcPct val="0"/>
              </a:spcBef>
              <a:spcAft>
                <a:spcPct val="0"/>
              </a:spcAft>
              <a:buClr>
                <a:srgbClr val="CC9900"/>
              </a:buClr>
              <a:buSzPct val="60000"/>
              <a:buFont typeface="Wingdings" panose="05000000000000000000" pitchFamily="2" charset="2"/>
              <a:buChar char="n"/>
              <a:defRPr/>
            </a:pPr>
            <a:endParaRPr lang="en-US" altLang="zh-CN"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bwMode="gray">
          <a:xfrm>
            <a:off x="1586342" y="2427018"/>
            <a:ext cx="676788" cy="276999"/>
          </a:xfrm>
          <a:prstGeom prst="rect">
            <a:avLst/>
          </a:prstGeom>
          <a:noFill/>
        </p:spPr>
        <p:txBody>
          <a:bodyPr wrap="none" rtlCol="0">
            <a:spAutoFit/>
          </a:bodyPr>
          <a:lstStyle/>
          <a:p>
            <a:pPr algn="r" fontAlgn="ctr">
              <a:spcBef>
                <a:spcPct val="0"/>
              </a:spcBef>
              <a:spcAft>
                <a:spcPct val="0"/>
              </a:spcAft>
              <a:defRPr/>
            </a:pPr>
            <a:r>
              <a:rPr 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66" name="五边形 65"/>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67" name="燕尾形 66"/>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365381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Fabric</a:t>
            </a:r>
            <a:r>
              <a:rPr lang="zh-CN" altLang="en-US" dirty="0">
                <a:sym typeface="Huawei Sans" panose="020C0503030203020204" pitchFamily="34" charset="0"/>
              </a:rPr>
              <a:t>节点设计：双</a:t>
            </a:r>
            <a:r>
              <a:rPr lang="en-US" altLang="zh-CN" dirty="0">
                <a:sym typeface="Huawei Sans" panose="020C0503030203020204" pitchFamily="34" charset="0"/>
              </a:rPr>
              <a:t>Border</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6096000" y="1052513"/>
            <a:ext cx="5653086" cy="4875042"/>
          </a:xfrm>
        </p:spPr>
        <p:txBody>
          <a:bodyPr/>
          <a:lstStyle/>
          <a:p>
            <a:pPr>
              <a:lnSpc>
                <a:spcPct val="120000"/>
              </a:lnSpc>
            </a:pPr>
            <a:r>
              <a:rPr lang="zh-CN" altLang="en-US" sz="1600" dirty="0">
                <a:sym typeface="Huawei Sans" panose="020C0503030203020204" pitchFamily="34" charset="0"/>
              </a:rPr>
              <a:t>核心层设计：</a:t>
            </a:r>
          </a:p>
          <a:p>
            <a:pPr lvl="1">
              <a:lnSpc>
                <a:spcPct val="120000"/>
              </a:lnSpc>
            </a:pPr>
            <a:r>
              <a:rPr lang="zh-CN" altLang="en-US" sz="1400" dirty="0">
                <a:sym typeface="Huawei Sans" panose="020C0503030203020204" pitchFamily="34" charset="0"/>
              </a:rPr>
              <a:t>核心层交换机为逻辑上的双机，建议选取大容量交换机，推荐</a:t>
            </a:r>
            <a:r>
              <a:rPr lang="en-US" altLang="zh-CN" sz="1400" dirty="0">
                <a:sym typeface="Huawei Sans" panose="020C0503030203020204" pitchFamily="34" charset="0"/>
              </a:rPr>
              <a:t>S127E</a:t>
            </a:r>
            <a:r>
              <a:rPr lang="zh-CN" altLang="en-US" sz="1400" dirty="0">
                <a:sym typeface="Huawei Sans" panose="020C0503030203020204" pitchFamily="34" charset="0"/>
              </a:rPr>
              <a:t>系列；与和汇聚层互联的单板选择</a:t>
            </a:r>
            <a:r>
              <a:rPr lang="en-US" altLang="zh-CN" sz="1400" dirty="0">
                <a:sym typeface="Huawei Sans" panose="020C0503030203020204" pitchFamily="34" charset="0"/>
              </a:rPr>
              <a:t>ENP</a:t>
            </a:r>
            <a:r>
              <a:rPr lang="zh-CN" altLang="en-US" sz="1400" dirty="0">
                <a:sym typeface="Huawei Sans" panose="020C0503030203020204" pitchFamily="34" charset="0"/>
              </a:rPr>
              <a:t>单板，并建议部署</a:t>
            </a:r>
            <a:r>
              <a:rPr lang="en-US" altLang="zh-CN" sz="1400" dirty="0">
                <a:sym typeface="Huawei Sans" panose="020C0503030203020204" pitchFamily="34" charset="0"/>
              </a:rPr>
              <a:t>Eth-Trunk</a:t>
            </a:r>
            <a:r>
              <a:rPr lang="zh-CN" altLang="en-US" sz="1400" dirty="0">
                <a:sym typeface="Huawei Sans" panose="020C0503030203020204" pitchFamily="34" charset="0"/>
              </a:rPr>
              <a:t>。</a:t>
            </a:r>
          </a:p>
          <a:p>
            <a:pPr>
              <a:lnSpc>
                <a:spcPct val="120000"/>
              </a:lnSpc>
            </a:pPr>
            <a:r>
              <a:rPr lang="zh-CN" altLang="en-US" sz="1600" dirty="0">
                <a:sym typeface="Huawei Sans" panose="020C0503030203020204" pitchFamily="34" charset="0"/>
              </a:rPr>
              <a:t>汇聚层设计：</a:t>
            </a:r>
          </a:p>
          <a:p>
            <a:pPr lvl="1">
              <a:lnSpc>
                <a:spcPct val="120000"/>
              </a:lnSpc>
            </a:pPr>
            <a:r>
              <a:rPr lang="zh-CN" altLang="en-US" sz="1400" dirty="0">
                <a:sym typeface="Huawei Sans" panose="020C0503030203020204" pitchFamily="34" charset="0"/>
              </a:rPr>
              <a:t>汇聚层交换机建议部署堆叠，与核心层形成负载分担。</a:t>
            </a:r>
          </a:p>
          <a:p>
            <a:pPr>
              <a:lnSpc>
                <a:spcPct val="120000"/>
              </a:lnSpc>
            </a:pPr>
            <a:r>
              <a:rPr lang="zh-CN" altLang="en-US" sz="1600" dirty="0">
                <a:sym typeface="Huawei Sans" panose="020C0503030203020204" pitchFamily="34" charset="0"/>
              </a:rPr>
              <a:t>接入层设计：</a:t>
            </a:r>
          </a:p>
          <a:p>
            <a:pPr lvl="1">
              <a:lnSpc>
                <a:spcPct val="120000"/>
              </a:lnSpc>
            </a:pPr>
            <a:r>
              <a:rPr lang="zh-CN" altLang="en-US" sz="1400" dirty="0">
                <a:sym typeface="Huawei Sans" panose="020C0503030203020204" pitchFamily="34" charset="0"/>
              </a:rPr>
              <a:t>与“单</a:t>
            </a:r>
            <a:r>
              <a:rPr lang="en-US" altLang="zh-CN" sz="1400" dirty="0">
                <a:sym typeface="Huawei Sans" panose="020C0503030203020204" pitchFamily="34" charset="0"/>
              </a:rPr>
              <a:t>Border</a:t>
            </a:r>
            <a:r>
              <a:rPr lang="zh-CN" altLang="en-US" sz="1400" dirty="0">
                <a:sym typeface="Huawei Sans" panose="020C0503030203020204" pitchFamily="34" charset="0"/>
              </a:rPr>
              <a:t>”场景类似。</a:t>
            </a:r>
          </a:p>
          <a:p>
            <a:pPr>
              <a:lnSpc>
                <a:spcPct val="120000"/>
              </a:lnSpc>
            </a:pPr>
            <a:r>
              <a:rPr lang="zh-CN" altLang="en-US" sz="1600" dirty="0">
                <a:sym typeface="Huawei Sans" panose="020C0503030203020204" pitchFamily="34" charset="0"/>
              </a:rPr>
              <a:t>服务器区设计：</a:t>
            </a:r>
          </a:p>
          <a:p>
            <a:pPr lvl="1">
              <a:lnSpc>
                <a:spcPct val="120000"/>
              </a:lnSpc>
            </a:pPr>
            <a:r>
              <a:rPr lang="zh-CN" altLang="en-US" sz="1400" dirty="0">
                <a:sym typeface="Huawei Sans" panose="020C0503030203020204" pitchFamily="34" charset="0"/>
              </a:rPr>
              <a:t>控制器、分析器及</a:t>
            </a:r>
            <a:r>
              <a:rPr lang="en-US" altLang="zh-CN" sz="1400" dirty="0">
                <a:sym typeface="Huawei Sans" panose="020C0503030203020204" pitchFamily="34" charset="0"/>
              </a:rPr>
              <a:t>DHCP Server</a:t>
            </a:r>
            <a:r>
              <a:rPr lang="zh-CN" altLang="en-US" sz="1400" dirty="0">
                <a:sym typeface="Huawei Sans" panose="020C0503030203020204" pitchFamily="34" charset="0"/>
              </a:rPr>
              <a:t>建议通过服务器区交换机接入园区网络。</a:t>
            </a:r>
          </a:p>
          <a:p>
            <a:pPr>
              <a:lnSpc>
                <a:spcPct val="120000"/>
              </a:lnSpc>
            </a:pPr>
            <a:endParaRPr lang="zh-CN" altLang="en-US" sz="1600" dirty="0">
              <a:sym typeface="Huawei Sans" panose="020C0503030203020204" pitchFamily="34" charset="0"/>
            </a:endParaRPr>
          </a:p>
        </p:txBody>
      </p:sp>
      <p:sp>
        <p:nvSpPr>
          <p:cNvPr id="6" name="圆角矩形 5"/>
          <p:cNvSpPr/>
          <p:nvPr/>
        </p:nvSpPr>
        <p:spPr>
          <a:xfrm>
            <a:off x="3669512" y="1052513"/>
            <a:ext cx="1798708" cy="1152965"/>
          </a:xfrm>
          <a:prstGeom prst="roundRect">
            <a:avLst>
              <a:gd name="adj" fmla="val 249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直接连接符 6"/>
          <p:cNvCxnSpPr>
            <a:stCxn id="18" idx="0"/>
            <a:endCxn id="66" idx="2"/>
          </p:cNvCxnSpPr>
          <p:nvPr/>
        </p:nvCxnSpPr>
        <p:spPr bwMode="gray">
          <a:xfrm flipH="1" flipV="1">
            <a:off x="2114334" y="1937817"/>
            <a:ext cx="477153" cy="47166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14" idx="2"/>
            <a:endCxn id="15" idx="0"/>
          </p:cNvCxnSpPr>
          <p:nvPr/>
        </p:nvCxnSpPr>
        <p:spPr bwMode="gray">
          <a:xfrm>
            <a:off x="4261639" y="4002239"/>
            <a:ext cx="0" cy="74768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9" name="Group 165"/>
          <p:cNvGrpSpPr/>
          <p:nvPr/>
        </p:nvGrpSpPr>
        <p:grpSpPr bwMode="gray">
          <a:xfrm rot="10800000" flipV="1">
            <a:off x="1505503" y="3940219"/>
            <a:ext cx="715186" cy="1093839"/>
            <a:chOff x="-1233037" y="914446"/>
            <a:chExt cx="1573823" cy="778776"/>
          </a:xfrm>
        </p:grpSpPr>
        <p:cxnSp>
          <p:nvCxnSpPr>
            <p:cNvPr id="10"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pic>
        <p:nvPicPr>
          <p:cNvPr id="12" name="图片 87" descr="汇聚交换机.png"/>
          <p:cNvPicPr>
            <a:picLocks noChangeAspect="1"/>
          </p:cNvPicPr>
          <p:nvPr/>
        </p:nvPicPr>
        <p:blipFill>
          <a:blip r:embed="rId3"/>
          <a:stretch>
            <a:fillRect/>
          </a:stretch>
        </p:blipFill>
        <p:spPr bwMode="gray">
          <a:xfrm>
            <a:off x="2005473" y="3699942"/>
            <a:ext cx="369473" cy="302297"/>
          </a:xfrm>
          <a:prstGeom prst="rect">
            <a:avLst/>
          </a:prstGeom>
        </p:spPr>
      </p:pic>
      <p:pic>
        <p:nvPicPr>
          <p:cNvPr id="13" name="图片 76" descr="接入交换机.png"/>
          <p:cNvPicPr>
            <a:picLocks noChangeAspect="1"/>
          </p:cNvPicPr>
          <p:nvPr/>
        </p:nvPicPr>
        <p:blipFill>
          <a:blip r:embed="rId4"/>
          <a:stretch>
            <a:fillRect/>
          </a:stretch>
        </p:blipFill>
        <p:spPr bwMode="gray">
          <a:xfrm>
            <a:off x="1676637" y="4749928"/>
            <a:ext cx="369473" cy="302297"/>
          </a:xfrm>
          <a:prstGeom prst="rect">
            <a:avLst/>
          </a:prstGeom>
        </p:spPr>
      </p:pic>
      <p:pic>
        <p:nvPicPr>
          <p:cNvPr id="14" name="图片 87" descr="汇聚交换机.png"/>
          <p:cNvPicPr>
            <a:picLocks noChangeAspect="1"/>
          </p:cNvPicPr>
          <p:nvPr/>
        </p:nvPicPr>
        <p:blipFill>
          <a:blip r:embed="rId3"/>
          <a:stretch>
            <a:fillRect/>
          </a:stretch>
        </p:blipFill>
        <p:spPr bwMode="gray">
          <a:xfrm>
            <a:off x="4076902" y="3699942"/>
            <a:ext cx="369473" cy="302297"/>
          </a:xfrm>
          <a:prstGeom prst="rect">
            <a:avLst/>
          </a:prstGeom>
        </p:spPr>
      </p:pic>
      <p:pic>
        <p:nvPicPr>
          <p:cNvPr id="15" name="图片 76" descr="接入交换机.png"/>
          <p:cNvPicPr>
            <a:picLocks noChangeAspect="1"/>
          </p:cNvPicPr>
          <p:nvPr/>
        </p:nvPicPr>
        <p:blipFill>
          <a:blip r:embed="rId4"/>
          <a:stretch>
            <a:fillRect/>
          </a:stretch>
        </p:blipFill>
        <p:spPr bwMode="gray">
          <a:xfrm>
            <a:off x="4076902" y="4749928"/>
            <a:ext cx="369473" cy="302297"/>
          </a:xfrm>
          <a:prstGeom prst="rect">
            <a:avLst/>
          </a:prstGeom>
        </p:spPr>
      </p:pic>
      <p:pic>
        <p:nvPicPr>
          <p:cNvPr id="16" name="图片 105" descr="AP.png"/>
          <p:cNvPicPr>
            <a:picLocks noChangeAspect="1"/>
          </p:cNvPicPr>
          <p:nvPr/>
        </p:nvPicPr>
        <p:blipFill>
          <a:blip r:embed="rId5"/>
          <a:stretch>
            <a:fillRect/>
          </a:stretch>
        </p:blipFill>
        <p:spPr bwMode="gray">
          <a:xfrm>
            <a:off x="4688021" y="4763465"/>
            <a:ext cx="333509" cy="272873"/>
          </a:xfrm>
          <a:prstGeom prst="rect">
            <a:avLst/>
          </a:prstGeom>
        </p:spPr>
      </p:pic>
      <p:pic>
        <p:nvPicPr>
          <p:cNvPr id="17" name="Picture 2" descr="G:\做的项目\公共\扁平图标切换\更新2015_01_21\oss扁平图标库2015_01_21更新-04.png"/>
          <p:cNvPicPr>
            <a:picLocks noChangeAspect="1" noChangeArrowheads="1"/>
          </p:cNvPicPr>
          <p:nvPr/>
        </p:nvPicPr>
        <p:blipFill>
          <a:blip r:embed="rId6"/>
          <a:stretch>
            <a:fillRect/>
          </a:stretch>
        </p:blipFill>
        <p:spPr bwMode="gray">
          <a:xfrm>
            <a:off x="2406750" y="1441541"/>
            <a:ext cx="369473" cy="302297"/>
          </a:xfrm>
          <a:prstGeom prst="rect">
            <a:avLst/>
          </a:prstGeom>
          <a:noFill/>
        </p:spPr>
      </p:pic>
      <p:pic>
        <p:nvPicPr>
          <p:cNvPr id="18" name="图片 86" descr="核心交换机.png"/>
          <p:cNvPicPr>
            <a:picLocks noChangeAspect="1"/>
          </p:cNvPicPr>
          <p:nvPr/>
        </p:nvPicPr>
        <p:blipFill>
          <a:blip r:embed="rId7"/>
          <a:stretch>
            <a:fillRect/>
          </a:stretch>
        </p:blipFill>
        <p:spPr bwMode="gray">
          <a:xfrm>
            <a:off x="2406750" y="2409477"/>
            <a:ext cx="369473" cy="302297"/>
          </a:xfrm>
          <a:prstGeom prst="rect">
            <a:avLst/>
          </a:prstGeom>
        </p:spPr>
      </p:pic>
      <p:pic>
        <p:nvPicPr>
          <p:cNvPr id="19" name="图片 86" descr="核心交换机.png"/>
          <p:cNvPicPr>
            <a:picLocks noChangeAspect="1"/>
          </p:cNvPicPr>
          <p:nvPr/>
        </p:nvPicPr>
        <p:blipFill>
          <a:blip r:embed="rId7"/>
          <a:stretch>
            <a:fillRect/>
          </a:stretch>
        </p:blipFill>
        <p:spPr bwMode="gray">
          <a:xfrm>
            <a:off x="3097587" y="2409477"/>
            <a:ext cx="369473" cy="302297"/>
          </a:xfrm>
          <a:prstGeom prst="rect">
            <a:avLst/>
          </a:prstGeom>
        </p:spPr>
      </p:pic>
      <p:cxnSp>
        <p:nvCxnSpPr>
          <p:cNvPr id="20" name="直接连接符 19"/>
          <p:cNvCxnSpPr>
            <a:stCxn id="18" idx="3"/>
            <a:endCxn id="19" idx="1"/>
          </p:cNvCxnSpPr>
          <p:nvPr/>
        </p:nvCxnSpPr>
        <p:spPr bwMode="gray">
          <a:xfrm>
            <a:off x="2776223" y="2560626"/>
            <a:ext cx="321364"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21" name="图片 87" descr="汇聚交换机.png"/>
          <p:cNvPicPr>
            <a:picLocks noChangeAspect="1"/>
          </p:cNvPicPr>
          <p:nvPr/>
        </p:nvPicPr>
        <p:blipFill>
          <a:blip r:embed="rId3"/>
          <a:stretch>
            <a:fillRect/>
          </a:stretch>
        </p:blipFill>
        <p:spPr bwMode="gray">
          <a:xfrm>
            <a:off x="1347804" y="3699942"/>
            <a:ext cx="369473" cy="302297"/>
          </a:xfrm>
          <a:prstGeom prst="rect">
            <a:avLst/>
          </a:prstGeom>
        </p:spPr>
      </p:pic>
      <p:cxnSp>
        <p:nvCxnSpPr>
          <p:cNvPr id="22" name="直接连接符 21"/>
          <p:cNvCxnSpPr>
            <a:stCxn id="21" idx="3"/>
            <a:endCxn id="12" idx="1"/>
          </p:cNvCxnSpPr>
          <p:nvPr/>
        </p:nvCxnSpPr>
        <p:spPr bwMode="gray">
          <a:xfrm>
            <a:off x="1717277" y="3851091"/>
            <a:ext cx="288196"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23" name="图片 87" descr="汇聚交换机.png"/>
          <p:cNvPicPr>
            <a:picLocks noChangeAspect="1"/>
          </p:cNvPicPr>
          <p:nvPr/>
        </p:nvPicPr>
        <p:blipFill>
          <a:blip r:embed="rId3"/>
          <a:stretch>
            <a:fillRect/>
          </a:stretch>
        </p:blipFill>
        <p:spPr bwMode="gray">
          <a:xfrm>
            <a:off x="3047707" y="3699942"/>
            <a:ext cx="369473" cy="302297"/>
          </a:xfrm>
          <a:prstGeom prst="rect">
            <a:avLst/>
          </a:prstGeom>
        </p:spPr>
      </p:pic>
      <p:cxnSp>
        <p:nvCxnSpPr>
          <p:cNvPr id="24" name="直接连接符 23"/>
          <p:cNvCxnSpPr/>
          <p:nvPr/>
        </p:nvCxnSpPr>
        <p:spPr bwMode="gray">
          <a:xfrm>
            <a:off x="3232443" y="4002239"/>
            <a:ext cx="0" cy="138368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25" name="图片 11" descr="开放网络-蓝.png"/>
          <p:cNvPicPr>
            <a:picLocks noChangeAspect="1"/>
          </p:cNvPicPr>
          <p:nvPr/>
        </p:nvPicPr>
        <p:blipFill>
          <a:blip r:embed="rId8"/>
          <a:stretch>
            <a:fillRect/>
          </a:stretch>
        </p:blipFill>
        <p:spPr bwMode="gray">
          <a:xfrm>
            <a:off x="1658666" y="5396271"/>
            <a:ext cx="405415" cy="312082"/>
          </a:xfrm>
          <a:prstGeom prst="rect">
            <a:avLst/>
          </a:prstGeom>
        </p:spPr>
      </p:pic>
      <p:pic>
        <p:nvPicPr>
          <p:cNvPr id="26" name="图片 11" descr="开放网络-蓝.png"/>
          <p:cNvPicPr>
            <a:picLocks noChangeAspect="1"/>
          </p:cNvPicPr>
          <p:nvPr/>
        </p:nvPicPr>
        <p:blipFill>
          <a:blip r:embed="rId8"/>
          <a:stretch>
            <a:fillRect/>
          </a:stretch>
        </p:blipFill>
        <p:spPr bwMode="gray">
          <a:xfrm>
            <a:off x="3003470" y="5396271"/>
            <a:ext cx="405415" cy="312082"/>
          </a:xfrm>
          <a:prstGeom prst="rect">
            <a:avLst/>
          </a:prstGeom>
        </p:spPr>
      </p:pic>
      <p:pic>
        <p:nvPicPr>
          <p:cNvPr id="27" name="图片 11" descr="开放网络-蓝.png"/>
          <p:cNvPicPr>
            <a:picLocks noChangeAspect="1"/>
          </p:cNvPicPr>
          <p:nvPr/>
        </p:nvPicPr>
        <p:blipFill>
          <a:blip r:embed="rId8"/>
          <a:stretch>
            <a:fillRect/>
          </a:stretch>
        </p:blipFill>
        <p:spPr bwMode="gray">
          <a:xfrm>
            <a:off x="4058931" y="5396271"/>
            <a:ext cx="405415" cy="312082"/>
          </a:xfrm>
          <a:prstGeom prst="rect">
            <a:avLst/>
          </a:prstGeom>
        </p:spPr>
      </p:pic>
      <p:pic>
        <p:nvPicPr>
          <p:cNvPr id="28" name="图片 157" descr="故障链路.png"/>
          <p:cNvPicPr>
            <a:picLocks noChangeAspect="1"/>
          </p:cNvPicPr>
          <p:nvPr/>
        </p:nvPicPr>
        <p:blipFill>
          <a:blip r:embed="rId9"/>
          <a:stretch>
            <a:fillRect/>
          </a:stretch>
        </p:blipFill>
        <p:spPr bwMode="gray">
          <a:xfrm>
            <a:off x="4679541" y="5385920"/>
            <a:ext cx="446281" cy="332783"/>
          </a:xfrm>
          <a:prstGeom prst="rect">
            <a:avLst/>
          </a:prstGeom>
        </p:spPr>
      </p:pic>
      <p:sp>
        <p:nvSpPr>
          <p:cNvPr id="29" name="椭圆 28"/>
          <p:cNvSpPr/>
          <p:nvPr/>
        </p:nvSpPr>
        <p:spPr bwMode="gray">
          <a:xfrm>
            <a:off x="1600611" y="4474497"/>
            <a:ext cx="524973" cy="101992"/>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连接符 29"/>
          <p:cNvCxnSpPr>
            <a:stCxn id="15" idx="3"/>
            <a:endCxn id="16" idx="1"/>
          </p:cNvCxnSpPr>
          <p:nvPr/>
        </p:nvCxnSpPr>
        <p:spPr bwMode="gray">
          <a:xfrm flipV="1">
            <a:off x="4446375" y="4899902"/>
            <a:ext cx="241646" cy="117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bwMode="gray">
          <a:xfrm>
            <a:off x="526672" y="2472167"/>
            <a:ext cx="646332" cy="276999"/>
          </a:xfrm>
          <a:prstGeom prst="rect">
            <a:avLst/>
          </a:prstGeom>
          <a:noFill/>
        </p:spPr>
        <p:txBody>
          <a:bodyPr wrap="none" rtlCol="0">
            <a:spAutoFit/>
          </a:bodyPr>
          <a:lstStyle/>
          <a:p>
            <a:pPr algn="r" fontAlgn="ctr">
              <a:spcBef>
                <a:spcPct val="0"/>
              </a:spcBef>
              <a:spcAft>
                <a:spcPct val="0"/>
              </a:spcAft>
              <a:defRPr/>
            </a:pPr>
            <a:r>
              <a:rPr 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526672" y="3672673"/>
            <a:ext cx="646332" cy="276999"/>
          </a:xfrm>
          <a:prstGeom prst="rect">
            <a:avLst/>
          </a:prstGeom>
          <a:noFill/>
        </p:spPr>
        <p:txBody>
          <a:bodyPr wrap="none" rtlCol="0">
            <a:spAutoFit/>
          </a:bodyPr>
          <a:lstStyle/>
          <a:p>
            <a:pPr algn="r" fontAlgn="ctr">
              <a:spcBef>
                <a:spcPct val="0"/>
              </a:spcBef>
              <a:spcAft>
                <a:spcPct val="0"/>
              </a:spcAft>
              <a:defRPr/>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526672" y="4772943"/>
            <a:ext cx="646332" cy="276999"/>
          </a:xfrm>
          <a:prstGeom prst="rect">
            <a:avLst/>
          </a:prstGeom>
          <a:noFill/>
        </p:spPr>
        <p:txBody>
          <a:bodyPr wrap="none" rtlCol="0">
            <a:spAutoFit/>
          </a:bodyPr>
          <a:lstStyle/>
          <a:p>
            <a:pPr algn="r" fontAlgn="ctr">
              <a:spcBef>
                <a:spcPct val="0"/>
              </a:spcBef>
              <a:spcAft>
                <a:spcPct val="0"/>
              </a:spcAft>
              <a:defRPr/>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526673" y="1373188"/>
            <a:ext cx="646331" cy="276999"/>
          </a:xfrm>
          <a:prstGeom prst="rect">
            <a:avLst/>
          </a:prstGeom>
          <a:noFill/>
        </p:spPr>
        <p:txBody>
          <a:bodyPr wrap="none" rtlCol="0">
            <a:spAutoFit/>
          </a:bodyPr>
          <a:lstStyle/>
          <a:p>
            <a:pPr algn="r" fontAlgn="ctr">
              <a:spcBef>
                <a:spcPct val="0"/>
              </a:spcBef>
              <a:spcAft>
                <a:spcPct val="0"/>
              </a:spcAft>
              <a:defRPr/>
            </a:pPr>
            <a:r>
              <a:rPr 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a:t>
            </a: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区</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667307" y="5837847"/>
            <a:ext cx="1078573" cy="246221"/>
          </a:xfrm>
          <a:prstGeom prst="rect">
            <a:avLst/>
          </a:prstGeom>
          <a:noFill/>
          <a:ln>
            <a:noFill/>
          </a:ln>
        </p:spPr>
        <p:txBody>
          <a:bodyPr wrap="none" rtlCol="0">
            <a:noAutofit/>
          </a:bodyPr>
          <a:lstStyle/>
          <a:p>
            <a:pPr algn="ctr" fontAlgn="ctr"/>
            <a:r>
              <a:rPr lang="zh-CN" altLang="en-US"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p>
        </p:txBody>
      </p:sp>
      <p:cxnSp>
        <p:nvCxnSpPr>
          <p:cNvPr id="36" name="直接连接符 35"/>
          <p:cNvCxnSpPr>
            <a:stCxn id="15" idx="2"/>
            <a:endCxn id="27" idx="0"/>
          </p:cNvCxnSpPr>
          <p:nvPr/>
        </p:nvCxnSpPr>
        <p:spPr bwMode="gray">
          <a:xfrm>
            <a:off x="4261639" y="5052225"/>
            <a:ext cx="0" cy="34404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3" idx="2"/>
            <a:endCxn id="25" idx="0"/>
          </p:cNvCxnSpPr>
          <p:nvPr/>
        </p:nvCxnSpPr>
        <p:spPr bwMode="gray">
          <a:xfrm>
            <a:off x="1861374" y="5052225"/>
            <a:ext cx="0" cy="34404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8" idx="2"/>
            <a:endCxn id="21" idx="0"/>
          </p:cNvCxnSpPr>
          <p:nvPr/>
        </p:nvCxnSpPr>
        <p:spPr bwMode="gray">
          <a:xfrm flipH="1">
            <a:off x="1532541" y="2711774"/>
            <a:ext cx="1058946"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9" idx="2"/>
            <a:endCxn id="12" idx="0"/>
          </p:cNvCxnSpPr>
          <p:nvPr/>
        </p:nvCxnSpPr>
        <p:spPr bwMode="gray">
          <a:xfrm flipH="1">
            <a:off x="2190210" y="2711774"/>
            <a:ext cx="1092114"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18" idx="2"/>
            <a:endCxn id="23" idx="0"/>
          </p:cNvCxnSpPr>
          <p:nvPr/>
        </p:nvCxnSpPr>
        <p:spPr bwMode="gray">
          <a:xfrm>
            <a:off x="2591487" y="2711774"/>
            <a:ext cx="640957"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19" idx="2"/>
            <a:endCxn id="23" idx="0"/>
          </p:cNvCxnSpPr>
          <p:nvPr/>
        </p:nvCxnSpPr>
        <p:spPr bwMode="gray">
          <a:xfrm flipH="1">
            <a:off x="3232444" y="2711774"/>
            <a:ext cx="49880"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18" idx="2"/>
            <a:endCxn id="14" idx="0"/>
          </p:cNvCxnSpPr>
          <p:nvPr/>
        </p:nvCxnSpPr>
        <p:spPr bwMode="gray">
          <a:xfrm>
            <a:off x="2591487" y="2711774"/>
            <a:ext cx="1670152"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19" idx="2"/>
            <a:endCxn id="14" idx="0"/>
          </p:cNvCxnSpPr>
          <p:nvPr/>
        </p:nvCxnSpPr>
        <p:spPr bwMode="gray">
          <a:xfrm>
            <a:off x="3282324" y="2711774"/>
            <a:ext cx="979315" cy="9881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9" idx="0"/>
            <a:endCxn id="65" idx="2"/>
          </p:cNvCxnSpPr>
          <p:nvPr/>
        </p:nvCxnSpPr>
        <p:spPr bwMode="gray">
          <a:xfrm flipH="1" flipV="1">
            <a:off x="1583692" y="1938676"/>
            <a:ext cx="1698632" cy="47080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2" descr="G:\做的项目\公共\扁平图标切换\更新2015_01_21\oss扁平图标库2015_01_21更新-04.png"/>
          <p:cNvPicPr>
            <a:picLocks noChangeAspect="1" noChangeArrowheads="1"/>
          </p:cNvPicPr>
          <p:nvPr/>
        </p:nvPicPr>
        <p:blipFill>
          <a:blip r:embed="rId6"/>
          <a:stretch>
            <a:fillRect/>
          </a:stretch>
        </p:blipFill>
        <p:spPr bwMode="gray">
          <a:xfrm>
            <a:off x="3097587" y="1441541"/>
            <a:ext cx="369473" cy="302297"/>
          </a:xfrm>
          <a:prstGeom prst="rect">
            <a:avLst/>
          </a:prstGeom>
          <a:noFill/>
        </p:spPr>
      </p:pic>
      <p:cxnSp>
        <p:nvCxnSpPr>
          <p:cNvPr id="46" name="直接连接符 45"/>
          <p:cNvCxnSpPr>
            <a:stCxn id="17" idx="2"/>
            <a:endCxn id="18" idx="0"/>
          </p:cNvCxnSpPr>
          <p:nvPr/>
        </p:nvCxnSpPr>
        <p:spPr bwMode="gray">
          <a:xfrm>
            <a:off x="2591487" y="1743838"/>
            <a:ext cx="0" cy="66563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45" idx="2"/>
            <a:endCxn id="19" idx="0"/>
          </p:cNvCxnSpPr>
          <p:nvPr/>
        </p:nvCxnSpPr>
        <p:spPr bwMode="gray">
          <a:xfrm>
            <a:off x="3282324" y="1743838"/>
            <a:ext cx="0" cy="66563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17" idx="3"/>
            <a:endCxn id="45" idx="1"/>
          </p:cNvCxnSpPr>
          <p:nvPr/>
        </p:nvCxnSpPr>
        <p:spPr bwMode="gray">
          <a:xfrm>
            <a:off x="2776223" y="1592690"/>
            <a:ext cx="321364"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9" name="图片 87" descr="汇聚交换机.png"/>
          <p:cNvPicPr>
            <a:picLocks noChangeAspect="1"/>
          </p:cNvPicPr>
          <p:nvPr/>
        </p:nvPicPr>
        <p:blipFill>
          <a:blip r:embed="rId3"/>
          <a:stretch>
            <a:fillRect/>
          </a:stretch>
        </p:blipFill>
        <p:spPr bwMode="gray">
          <a:xfrm>
            <a:off x="3986308" y="1700200"/>
            <a:ext cx="305350" cy="249832"/>
          </a:xfrm>
          <a:prstGeom prst="rect">
            <a:avLst/>
          </a:prstGeom>
        </p:spPr>
      </p:pic>
      <p:pic>
        <p:nvPicPr>
          <p:cNvPr id="53" name="图片 87" descr="汇聚交换机.png"/>
          <p:cNvPicPr>
            <a:picLocks noChangeAspect="1"/>
          </p:cNvPicPr>
          <p:nvPr/>
        </p:nvPicPr>
        <p:blipFill>
          <a:blip r:embed="rId3"/>
          <a:stretch>
            <a:fillRect/>
          </a:stretch>
        </p:blipFill>
        <p:spPr bwMode="gray">
          <a:xfrm>
            <a:off x="4546649" y="1700422"/>
            <a:ext cx="305350" cy="249832"/>
          </a:xfrm>
          <a:prstGeom prst="rect">
            <a:avLst/>
          </a:prstGeom>
        </p:spPr>
      </p:pic>
      <p:cxnSp>
        <p:nvCxnSpPr>
          <p:cNvPr id="54" name="直接连接符 53"/>
          <p:cNvCxnSpPr>
            <a:stCxn id="49" idx="2"/>
            <a:endCxn id="18" idx="0"/>
          </p:cNvCxnSpPr>
          <p:nvPr/>
        </p:nvCxnSpPr>
        <p:spPr bwMode="gray">
          <a:xfrm flipH="1">
            <a:off x="2591487" y="1950032"/>
            <a:ext cx="1547496" cy="45944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53" idx="2"/>
            <a:endCxn id="19" idx="0"/>
          </p:cNvCxnSpPr>
          <p:nvPr/>
        </p:nvCxnSpPr>
        <p:spPr bwMode="gray">
          <a:xfrm flipH="1">
            <a:off x="3282324" y="1950254"/>
            <a:ext cx="1417000" cy="45922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gray">
          <a:xfrm>
            <a:off x="557560" y="5960957"/>
            <a:ext cx="219495"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49" idx="3"/>
            <a:endCxn id="53" idx="1"/>
          </p:cNvCxnSpPr>
          <p:nvPr/>
        </p:nvCxnSpPr>
        <p:spPr bwMode="gray">
          <a:xfrm>
            <a:off x="4291658" y="1825116"/>
            <a:ext cx="254991" cy="222"/>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58" name="图片 72" descr="交换机.png"/>
          <p:cNvPicPr>
            <a:picLocks noChangeAspect="1"/>
          </p:cNvPicPr>
          <p:nvPr/>
        </p:nvPicPr>
        <p:blipFill>
          <a:blip r:embed="rId10" cstate="print"/>
          <a:stretch>
            <a:fillRect/>
          </a:stretch>
        </p:blipFill>
        <p:spPr>
          <a:xfrm>
            <a:off x="4546649" y="1151908"/>
            <a:ext cx="334188" cy="274333"/>
          </a:xfrm>
          <a:prstGeom prst="rect">
            <a:avLst/>
          </a:prstGeom>
        </p:spPr>
      </p:pic>
      <p:pic>
        <p:nvPicPr>
          <p:cNvPr id="59" name="图片 5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755517" y="1139550"/>
            <a:ext cx="649960" cy="369474"/>
          </a:xfrm>
          <a:prstGeom prst="rect">
            <a:avLst/>
          </a:prstGeom>
        </p:spPr>
      </p:pic>
      <p:sp>
        <p:nvSpPr>
          <p:cNvPr id="60" name="文本框 59"/>
          <p:cNvSpPr txBox="1"/>
          <p:nvPr/>
        </p:nvSpPr>
        <p:spPr bwMode="gray">
          <a:xfrm>
            <a:off x="4783424" y="1059304"/>
            <a:ext cx="684796" cy="461665"/>
          </a:xfrm>
          <a:prstGeom prst="rect">
            <a:avLst/>
          </a:prstGeom>
          <a:noFill/>
        </p:spPr>
        <p:txBody>
          <a:bodyPr wrap="square" rtlCol="0">
            <a:spAutoFit/>
          </a:bodyPr>
          <a:lstStyle/>
          <a:p>
            <a:pPr algn="ctr" fontAlgn="ctr">
              <a:spcBef>
                <a:spcPct val="0"/>
              </a:spcBef>
              <a:spcAft>
                <a:spcPct val="0"/>
              </a:spcAft>
              <a:defRPr/>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4674962" y="1936490"/>
            <a:ext cx="800220" cy="276999"/>
          </a:xfrm>
          <a:prstGeom prst="rect">
            <a:avLst/>
          </a:prstGeom>
          <a:noFill/>
        </p:spPr>
        <p:txBody>
          <a:bodyPr wrap="none" rtlCol="0">
            <a:spAutoFit/>
          </a:bodyPr>
          <a:lstStyle/>
          <a:p>
            <a:pPr algn="r" fontAlgn="ctr">
              <a:spcBef>
                <a:spcPct val="0"/>
              </a:spcBef>
              <a:spcAft>
                <a:spcPct val="0"/>
              </a:spcAft>
              <a:defRPr/>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服务器区</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1853019" y="3226661"/>
            <a:ext cx="800220" cy="276999"/>
          </a:xfrm>
          <a:prstGeom prst="rect">
            <a:avLst/>
          </a:prstGeom>
          <a:noFill/>
        </p:spPr>
        <p:txBody>
          <a:bodyPr wrap="none" rtlCol="0">
            <a:spAutoFit/>
          </a:bodyPr>
          <a:lstStyle/>
          <a:p>
            <a:pPr algn="ctr" fontAlgn="ctr">
              <a:spcBef>
                <a:spcPct val="0"/>
              </a:spcBef>
              <a:spcAft>
                <a:spcPct val="0"/>
              </a:spcAft>
              <a:defRPr/>
            </a:pPr>
            <a:r>
              <a:rPr lang="zh-CN" altLang="en-US" sz="12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负载分担</a:t>
            </a:r>
            <a:endParaRPr lang="en-US" sz="12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2626343" y="3226661"/>
            <a:ext cx="800220" cy="276999"/>
          </a:xfrm>
          <a:prstGeom prst="rect">
            <a:avLst/>
          </a:prstGeom>
          <a:noFill/>
        </p:spPr>
        <p:txBody>
          <a:bodyPr wrap="none" rtlCol="0">
            <a:spAutoFit/>
          </a:bodyPr>
          <a:lstStyle/>
          <a:p>
            <a:pPr algn="ctr" fontAlgn="ctr">
              <a:spcBef>
                <a:spcPct val="0"/>
              </a:spcBef>
              <a:spcAft>
                <a:spcPct val="0"/>
              </a:spcAft>
              <a:defRPr/>
            </a:pPr>
            <a:r>
              <a:rPr lang="zh-CN" altLang="en-US" sz="12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负载分担</a:t>
            </a:r>
            <a:endParaRPr lang="en-US" sz="12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3467060" y="3226661"/>
            <a:ext cx="800220" cy="276999"/>
          </a:xfrm>
          <a:prstGeom prst="rect">
            <a:avLst/>
          </a:prstGeom>
          <a:noFill/>
        </p:spPr>
        <p:txBody>
          <a:bodyPr wrap="none" rtlCol="0">
            <a:spAutoFit/>
          </a:bodyPr>
          <a:lstStyle/>
          <a:p>
            <a:pPr algn="ctr" fontAlgn="ctr">
              <a:spcBef>
                <a:spcPct val="0"/>
              </a:spcBef>
              <a:spcAft>
                <a:spcPct val="0"/>
              </a:spcAft>
              <a:defRPr/>
            </a:pPr>
            <a:r>
              <a:rPr lang="zh-CN" altLang="en-US" sz="12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负载分担</a:t>
            </a:r>
            <a:endParaRPr lang="en-US" sz="12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5" name="图片 9"/>
          <p:cNvPicPr>
            <a:picLocks noChangeAspect="1"/>
          </p:cNvPicPr>
          <p:nvPr/>
        </p:nvPicPr>
        <p:blipFill>
          <a:blip r:embed="rId12">
            <a:extLst>
              <a:ext uri="{28A0092B-C50C-407E-A947-70E740481C1C}">
                <a14:useLocalDpi xmlns:a14="http://schemas.microsoft.com/office/drawing/2010/main" val="0"/>
              </a:ext>
            </a:extLst>
          </a:blip>
          <a:stretch>
            <a:fillRect/>
          </a:stretch>
        </p:blipFill>
        <p:spPr bwMode="gray">
          <a:xfrm>
            <a:off x="1444896" y="1711556"/>
            <a:ext cx="277591" cy="227120"/>
          </a:xfrm>
          <a:prstGeom prst="rect">
            <a:avLst/>
          </a:prstGeom>
        </p:spPr>
      </p:pic>
      <p:pic>
        <p:nvPicPr>
          <p:cNvPr id="66" name="图片 9"/>
          <p:cNvPicPr>
            <a:picLocks noChangeAspect="1"/>
          </p:cNvPicPr>
          <p:nvPr/>
        </p:nvPicPr>
        <p:blipFill>
          <a:blip r:embed="rId12">
            <a:extLst>
              <a:ext uri="{28A0092B-C50C-407E-A947-70E740481C1C}">
                <a14:useLocalDpi xmlns:a14="http://schemas.microsoft.com/office/drawing/2010/main" val="0"/>
              </a:ext>
            </a:extLst>
          </a:blip>
          <a:stretch>
            <a:fillRect/>
          </a:stretch>
        </p:blipFill>
        <p:spPr bwMode="gray">
          <a:xfrm>
            <a:off x="1975538" y="1710697"/>
            <a:ext cx="277591" cy="227120"/>
          </a:xfrm>
          <a:prstGeom prst="rect">
            <a:avLst/>
          </a:prstGeom>
        </p:spPr>
      </p:pic>
      <p:cxnSp>
        <p:nvCxnSpPr>
          <p:cNvPr id="67" name="直接连接符 66"/>
          <p:cNvCxnSpPr>
            <a:stCxn id="66" idx="1"/>
            <a:endCxn id="65" idx="3"/>
          </p:cNvCxnSpPr>
          <p:nvPr/>
        </p:nvCxnSpPr>
        <p:spPr bwMode="gray">
          <a:xfrm flipH="1">
            <a:off x="1722487" y="1824257"/>
            <a:ext cx="253051" cy="85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69" name="圆角矩形 68"/>
          <p:cNvSpPr/>
          <p:nvPr/>
        </p:nvSpPr>
        <p:spPr bwMode="gray">
          <a:xfrm>
            <a:off x="1226483" y="3615000"/>
            <a:ext cx="1253068" cy="476853"/>
          </a:xfrm>
          <a:prstGeom prst="roundRect">
            <a:avLst>
              <a:gd name="adj" fmla="val 24302"/>
            </a:avLst>
          </a:prstGeom>
          <a:noFill/>
          <a:ln w="19050" cap="flat" cmpd="sng" algn="ctr">
            <a:solidFill>
              <a:srgbClr val="30B5C5"/>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noAutofit/>
          </a:bodyPr>
          <a:lstStyle/>
          <a:p>
            <a:pPr fontAlgn="ctr">
              <a:spcBef>
                <a:spcPct val="0"/>
              </a:spcBef>
              <a:spcAft>
                <a:spcPct val="0"/>
              </a:spcAft>
              <a:buClr>
                <a:srgbClr val="CC9900"/>
              </a:buClr>
              <a:buSzPct val="60000"/>
              <a:buFont typeface="Wingdings" panose="05000000000000000000" pitchFamily="2" charset="2"/>
              <a:buChar char="n"/>
              <a:defRPr/>
            </a:pPr>
            <a:endParaRPr lang="en-US" altLang="zh-CN"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bwMode="gray">
          <a:xfrm>
            <a:off x="1765635" y="2427018"/>
            <a:ext cx="676788" cy="276999"/>
          </a:xfrm>
          <a:prstGeom prst="rect">
            <a:avLst/>
          </a:prstGeom>
          <a:noFill/>
        </p:spPr>
        <p:txBody>
          <a:bodyPr wrap="none" rtlCol="0">
            <a:spAutoFit/>
          </a:bodyPr>
          <a:lstStyle/>
          <a:p>
            <a:pPr algn="r" fontAlgn="ctr">
              <a:spcBef>
                <a:spcPct val="0"/>
              </a:spcBef>
              <a:spcAft>
                <a:spcPct val="0"/>
              </a:spcAft>
              <a:defRPr/>
            </a:pPr>
            <a:r>
              <a:rPr 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71" name="文本框 70"/>
          <p:cNvSpPr txBox="1"/>
          <p:nvPr/>
        </p:nvSpPr>
        <p:spPr bwMode="gray">
          <a:xfrm>
            <a:off x="3433587" y="2427018"/>
            <a:ext cx="676788" cy="276999"/>
          </a:xfrm>
          <a:prstGeom prst="rect">
            <a:avLst/>
          </a:prstGeom>
          <a:noFill/>
        </p:spPr>
        <p:txBody>
          <a:bodyPr wrap="none" rtlCol="0">
            <a:spAutoFit/>
          </a:bodyPr>
          <a:lstStyle/>
          <a:p>
            <a:pPr algn="r" fontAlgn="ctr">
              <a:spcBef>
                <a:spcPct val="0"/>
              </a:spcBef>
              <a:spcAft>
                <a:spcPct val="0"/>
              </a:spcAft>
              <a:defRPr/>
            </a:pPr>
            <a:r>
              <a:rPr 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72" name="五边形 71"/>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73" name="燕尾形 72"/>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4" name="图片 73" descr="AC-蓝.png"/>
          <p:cNvPicPr>
            <a:picLocks noChangeAspect="1"/>
          </p:cNvPicPr>
          <p:nvPr/>
        </p:nvPicPr>
        <p:blipFill>
          <a:blip r:embed="rId13" cstate="print"/>
          <a:stretch>
            <a:fillRect/>
          </a:stretch>
        </p:blipFill>
        <p:spPr>
          <a:xfrm>
            <a:off x="3765979" y="2859386"/>
            <a:ext cx="298671" cy="244367"/>
          </a:xfrm>
          <a:prstGeom prst="rect">
            <a:avLst/>
          </a:prstGeom>
        </p:spPr>
      </p:pic>
      <p:cxnSp>
        <p:nvCxnSpPr>
          <p:cNvPr id="75" name="直接连接符 74"/>
          <p:cNvCxnSpPr>
            <a:stCxn id="18" idx="0"/>
            <a:endCxn id="65" idx="2"/>
          </p:cNvCxnSpPr>
          <p:nvPr/>
        </p:nvCxnSpPr>
        <p:spPr bwMode="gray">
          <a:xfrm flipH="1" flipV="1">
            <a:off x="1583692" y="1938676"/>
            <a:ext cx="1007795" cy="47080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19" idx="0"/>
            <a:endCxn id="66" idx="2"/>
          </p:cNvCxnSpPr>
          <p:nvPr/>
        </p:nvCxnSpPr>
        <p:spPr bwMode="gray">
          <a:xfrm flipH="1" flipV="1">
            <a:off x="2114334" y="1937817"/>
            <a:ext cx="1167990" cy="47166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45" idx="2"/>
            <a:endCxn id="18" idx="0"/>
          </p:cNvCxnSpPr>
          <p:nvPr/>
        </p:nvCxnSpPr>
        <p:spPr bwMode="gray">
          <a:xfrm flipH="1">
            <a:off x="2591487" y="1743838"/>
            <a:ext cx="690837" cy="66563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17" idx="2"/>
            <a:endCxn id="19" idx="0"/>
          </p:cNvCxnSpPr>
          <p:nvPr/>
        </p:nvCxnSpPr>
        <p:spPr bwMode="gray">
          <a:xfrm>
            <a:off x="2591487" y="1743838"/>
            <a:ext cx="690837" cy="66563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3" name="直接连接符 92"/>
          <p:cNvCxnSpPr>
            <a:stCxn id="53" idx="2"/>
            <a:endCxn id="18" idx="0"/>
          </p:cNvCxnSpPr>
          <p:nvPr/>
        </p:nvCxnSpPr>
        <p:spPr bwMode="gray">
          <a:xfrm flipH="1">
            <a:off x="2591487" y="1950254"/>
            <a:ext cx="2107837" cy="45922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6" name="直接连接符 95"/>
          <p:cNvCxnSpPr>
            <a:stCxn id="49" idx="2"/>
            <a:endCxn id="19" idx="0"/>
          </p:cNvCxnSpPr>
          <p:nvPr/>
        </p:nvCxnSpPr>
        <p:spPr bwMode="gray">
          <a:xfrm flipH="1">
            <a:off x="3282324" y="1950032"/>
            <a:ext cx="856659" cy="45944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00" name="图片 99" descr="AC-蓝.png"/>
          <p:cNvPicPr>
            <a:picLocks noChangeAspect="1"/>
          </p:cNvPicPr>
          <p:nvPr/>
        </p:nvPicPr>
        <p:blipFill>
          <a:blip r:embed="rId13" cstate="print"/>
          <a:stretch>
            <a:fillRect/>
          </a:stretch>
        </p:blipFill>
        <p:spPr>
          <a:xfrm>
            <a:off x="4234599" y="2859386"/>
            <a:ext cx="298671" cy="244367"/>
          </a:xfrm>
          <a:prstGeom prst="rect">
            <a:avLst/>
          </a:prstGeom>
        </p:spPr>
      </p:pic>
      <p:cxnSp>
        <p:nvCxnSpPr>
          <p:cNvPr id="101" name="直接连接符 100"/>
          <p:cNvCxnSpPr>
            <a:stCxn id="18" idx="2"/>
            <a:endCxn id="74" idx="0"/>
          </p:cNvCxnSpPr>
          <p:nvPr/>
        </p:nvCxnSpPr>
        <p:spPr bwMode="gray">
          <a:xfrm>
            <a:off x="2591487" y="2711774"/>
            <a:ext cx="1323828" cy="14761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19" idx="2"/>
            <a:endCxn id="100" idx="0"/>
          </p:cNvCxnSpPr>
          <p:nvPr/>
        </p:nvCxnSpPr>
        <p:spPr bwMode="gray">
          <a:xfrm>
            <a:off x="3282324" y="2711774"/>
            <a:ext cx="1101611" cy="14761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00" idx="1"/>
            <a:endCxn id="74" idx="3"/>
          </p:cNvCxnSpPr>
          <p:nvPr/>
        </p:nvCxnSpPr>
        <p:spPr bwMode="gray">
          <a:xfrm flipH="1">
            <a:off x="4064650" y="2981570"/>
            <a:ext cx="169949"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706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Fabric</a:t>
            </a:r>
            <a:r>
              <a:rPr lang="zh-CN" altLang="en-US" dirty="0">
                <a:sym typeface="Huawei Sans" panose="020C0503030203020204" pitchFamily="34" charset="0"/>
              </a:rPr>
              <a:t>节点设计：单</a:t>
            </a:r>
            <a:r>
              <a:rPr lang="en-US" altLang="zh-CN" dirty="0">
                <a:sym typeface="Huawei Sans" panose="020C0503030203020204" pitchFamily="34" charset="0"/>
              </a:rPr>
              <a:t>/</a:t>
            </a:r>
            <a:r>
              <a:rPr lang="zh-CN" altLang="en-US" dirty="0">
                <a:sym typeface="Huawei Sans" panose="020C0503030203020204" pitchFamily="34" charset="0"/>
              </a:rPr>
              <a:t>双</a:t>
            </a:r>
            <a:r>
              <a:rPr lang="en-US" altLang="zh-CN" dirty="0">
                <a:sym typeface="Huawei Sans" panose="020C0503030203020204" pitchFamily="34" charset="0"/>
              </a:rPr>
              <a:t>Border</a:t>
            </a:r>
            <a:r>
              <a:rPr lang="zh-CN" altLang="en-US" dirty="0">
                <a:sym typeface="Huawei Sans" panose="020C0503030203020204" pitchFamily="34" charset="0"/>
              </a:rPr>
              <a:t>选择</a:t>
            </a:r>
          </a:p>
        </p:txBody>
      </p:sp>
      <p:graphicFrame>
        <p:nvGraphicFramePr>
          <p:cNvPr id="6" name="表格 5"/>
          <p:cNvGraphicFramePr>
            <a:graphicFrameLocks noGrp="1"/>
          </p:cNvGraphicFramePr>
          <p:nvPr>
            <p:extLst>
              <p:ext uri="{D42A27DB-BD31-4B8C-83A1-F6EECF244321}">
                <p14:modId xmlns:p14="http://schemas.microsoft.com/office/powerpoint/2010/main" val="4144990872"/>
              </p:ext>
            </p:extLst>
          </p:nvPr>
        </p:nvGraphicFramePr>
        <p:xfrm>
          <a:off x="933255" y="2031452"/>
          <a:ext cx="10325490" cy="2881773"/>
        </p:xfrm>
        <a:graphic>
          <a:graphicData uri="http://schemas.openxmlformats.org/drawingml/2006/table">
            <a:tbl>
              <a:tblPr firstRow="1" bandRow="1"/>
              <a:tblGrid>
                <a:gridCol w="1095088">
                  <a:extLst>
                    <a:ext uri="{9D8B030D-6E8A-4147-A177-3AD203B41FA5}">
                      <a16:colId xmlns:a16="http://schemas.microsoft.com/office/drawing/2014/main" val="20000"/>
                    </a:ext>
                  </a:extLst>
                </a:gridCol>
                <a:gridCol w="3820165">
                  <a:extLst>
                    <a:ext uri="{9D8B030D-6E8A-4147-A177-3AD203B41FA5}">
                      <a16:colId xmlns:a16="http://schemas.microsoft.com/office/drawing/2014/main" val="20001"/>
                    </a:ext>
                  </a:extLst>
                </a:gridCol>
                <a:gridCol w="5410237">
                  <a:extLst>
                    <a:ext uri="{9D8B030D-6E8A-4147-A177-3AD203B41FA5}">
                      <a16:colId xmlns:a16="http://schemas.microsoft.com/office/drawing/2014/main" val="20002"/>
                    </a:ext>
                  </a:extLst>
                </a:gridCol>
              </a:tblGrid>
              <a:tr h="336136">
                <a:tc>
                  <a:txBody>
                    <a:bodyPr/>
                    <a:lstStyle/>
                    <a:p>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单</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Border</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Border</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701040">
                <a:tc>
                  <a:txBody>
                    <a:bodyPr/>
                    <a:lstStyle/>
                    <a:p>
                      <a:pPr marL="0" algn="ctr" defTabSz="914034" rtl="0" eaLnBrk="1" latinLnBrk="0" hangingPunct="1">
                        <a:lnSpc>
                          <a:spcPct val="100000"/>
                        </a:lnSpc>
                      </a:pP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描述</a:t>
                      </a:r>
                    </a:p>
                  </a:txBody>
                  <a:tcPr anchor="ctr">
                    <a:lnL w="28575" cap="flat" cmpd="sng" algn="ctr">
                      <a:solidFill>
                        <a:schemeClr val="tx1"/>
                      </a:solidFill>
                      <a:prstDash val="solid"/>
                      <a:round/>
                      <a:headEnd type="none" w="med" len="med"/>
                      <a:tailEnd type="none" w="med" len="med"/>
                    </a:lnL>
                  </a:tcPr>
                </a:tc>
                <a:tc>
                  <a:txBody>
                    <a:bodyPr/>
                    <a:lstStyle/>
                    <a:p>
                      <a:pPr marL="0" algn="l" defTabSz="914034" rtl="0" eaLnBrk="1" latinLnBrk="0" hangingPunct="1">
                        <a:lnSpc>
                          <a:spcPct val="100000"/>
                        </a:lnSpc>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核心交换机为逻辑上的一台设备，可为物理单机或集群</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堆叠系统。</a:t>
                      </a:r>
                    </a:p>
                  </a:txBody>
                  <a:tcPr anchor="ctr"/>
                </a:tc>
                <a:tc>
                  <a:txBody>
                    <a:bodyPr/>
                    <a:lstStyle/>
                    <a:p>
                      <a:pPr marL="0" algn="l" defTabSz="914034" rtl="0" eaLnBrk="1" latinLnBrk="0" hangingPunct="1">
                        <a:lnSpc>
                          <a:spcPct val="100000"/>
                        </a:lnSpc>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核心交换机为逻辑上的两台设备，单节点可为两台独立的物理单机，或两套集群</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堆叠系统。</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701040">
                <a:tc>
                  <a:txBody>
                    <a:bodyPr/>
                    <a:lstStyle/>
                    <a:p>
                      <a:pPr marL="0" algn="ctr" defTabSz="914034" rtl="0" eaLnBrk="1" latinLnBrk="0" hangingPunct="1">
                        <a:lnSpc>
                          <a:spcPct val="100000"/>
                        </a:lnSpc>
                      </a:pP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特点</a:t>
                      </a:r>
                    </a:p>
                  </a:txBody>
                  <a:tcPr anchor="ctr">
                    <a:lnL w="28575" cap="flat" cmpd="sng" algn="ctr">
                      <a:solidFill>
                        <a:schemeClr val="tx1"/>
                      </a:solidFill>
                      <a:prstDash val="solid"/>
                      <a:round/>
                      <a:headEnd type="none" w="med" len="med"/>
                      <a:tailEnd type="none" w="med" len="med"/>
                    </a:lnL>
                  </a:tcPr>
                </a:tc>
                <a:tc>
                  <a:txBody>
                    <a:bodyPr/>
                    <a:lstStyle/>
                    <a:p>
                      <a:pPr marL="0" indent="0" algn="l" defTabSz="914034" rtl="0" eaLnBrk="1" latinLnBrk="0" hangingPunct="1">
                        <a:lnSpc>
                          <a:spcPct val="100000"/>
                        </a:lnSpc>
                        <a:buFont typeface="Arial" panose="020B0604020202020204" pitchFamily="34" charset="0"/>
                        <a:buNone/>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管理、配置及维护简单；</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indent="0" algn="l" defTabSz="914034" rtl="0" eaLnBrk="1" latinLnBrk="0" hangingPunct="1">
                        <a:lnSpc>
                          <a:spcPct val="100000"/>
                        </a:lnSpc>
                        <a:buFont typeface="Arial" panose="020B0604020202020204" pitchFamily="34" charset="0"/>
                        <a:buNone/>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设备升级过程中对业务存在一定影响。</a:t>
                      </a:r>
                    </a:p>
                  </a:txBody>
                  <a:tcPr anchor="ctr"/>
                </a:tc>
                <a:tc>
                  <a:txBody>
                    <a:bodyPr/>
                    <a:lstStyle/>
                    <a:p>
                      <a:pPr marL="0" indent="0" algn="l" defTabSz="914034" rtl="0" eaLnBrk="1" latinLnBrk="0" hangingPunct="1">
                        <a:lnSpc>
                          <a:spcPct val="100000"/>
                        </a:lnSpc>
                        <a:buFont typeface="Arial" panose="020B0604020202020204" pitchFamily="34" charset="0"/>
                        <a:buNone/>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管理、配置及维护相对复杂；</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indent="0" algn="l" defTabSz="914034" rtl="0" eaLnBrk="1" latinLnBrk="0" hangingPunct="1">
                        <a:lnSpc>
                          <a:spcPct val="100000"/>
                        </a:lnSpc>
                        <a:buFont typeface="Arial" panose="020B0604020202020204" pitchFamily="34" charset="0"/>
                        <a:buNone/>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核心交换机升级过程中对业务的影响小。</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701040">
                <a:tc>
                  <a:txBody>
                    <a:bodyPr/>
                    <a:lstStyle/>
                    <a:p>
                      <a:pPr marL="0" algn="ctr" defTabSz="914034" rtl="0" eaLnBrk="1" latinLnBrk="0" hangingPunct="1">
                        <a:lnSpc>
                          <a:spcPct val="100000"/>
                        </a:lnSpc>
                      </a:pP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适用场景</a:t>
                      </a:r>
                    </a:p>
                  </a:txBody>
                  <a:tcPr anchor="ctr">
                    <a:lnL w="28575" cap="flat" cmpd="sng" algn="ctr">
                      <a:solidFill>
                        <a:schemeClr val="tx1"/>
                      </a:solidFill>
                      <a:prstDash val="solid"/>
                      <a:round/>
                      <a:headEnd type="none" w="med" len="med"/>
                      <a:tailEnd type="none" w="med" len="med"/>
                    </a:lnL>
                  </a:tcPr>
                </a:tc>
                <a:tc>
                  <a:txBody>
                    <a:bodyPr/>
                    <a:lstStyle/>
                    <a:p>
                      <a:pPr marL="0" indent="0" algn="l" defTabSz="914034" rtl="0" eaLnBrk="1" latinLnBrk="0" hangingPunct="1">
                        <a:lnSpc>
                          <a:spcPct val="100000"/>
                        </a:lnSpc>
                        <a:buFont typeface="Arial" panose="020B0604020202020204" pitchFamily="34" charset="0"/>
                        <a:buNone/>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要求网络管理、配置及维护简单。</a:t>
                      </a:r>
                    </a:p>
                  </a:txBody>
                  <a:tcPr anchor="ctr"/>
                </a:tc>
                <a:tc>
                  <a:txBody>
                    <a:bodyPr/>
                    <a:lstStyle/>
                    <a:p>
                      <a:pPr marL="0" indent="0" algn="l" defTabSz="914034" rtl="0" eaLnBrk="1" latinLnBrk="0" hangingPunct="1">
                        <a:lnSpc>
                          <a:spcPct val="100000"/>
                        </a:lnSpc>
                        <a:buFont typeface="Arial" panose="020B0604020202020204" pitchFamily="34" charset="0"/>
                        <a:buNone/>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严格要求设备升级对业务影响小；</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indent="0" algn="l" defTabSz="914034" rtl="0" eaLnBrk="1" latinLnBrk="0" hangingPunct="1">
                        <a:lnSpc>
                          <a:spcPct val="100000"/>
                        </a:lnSpc>
                        <a:buFont typeface="Arial" panose="020B0604020202020204" pitchFamily="34" charset="0"/>
                        <a:buNone/>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核心交换机由于某些原因（例如部署距离）不支持集群或堆叠。</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442517">
                <a:tc>
                  <a:txBody>
                    <a:bodyPr/>
                    <a:lstStyle/>
                    <a:p>
                      <a:pPr marL="0" algn="ctr" defTabSz="914034" rtl="0" eaLnBrk="1" latinLnBrk="0" hangingPunct="1">
                        <a:lnSpc>
                          <a:spcPct val="100000"/>
                        </a:lnSpc>
                      </a:pP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限制</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无限制，支持</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VXLAN</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集中式及分布式网关场景。</a:t>
                      </a:r>
                    </a:p>
                  </a:txBody>
                  <a:tcPr anchor="ctr">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仅支持</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VXLAN</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分布式网关场景。</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五边形 3"/>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5" name="燕尾形 4"/>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20129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Fabric</a:t>
            </a:r>
            <a:r>
              <a:rPr lang="zh-CN" altLang="en-US" dirty="0">
                <a:sym typeface="Huawei Sans" panose="020C0503030203020204" pitchFamily="34" charset="0"/>
              </a:rPr>
              <a:t>与外部网络互联设计</a:t>
            </a:r>
          </a:p>
        </p:txBody>
      </p:sp>
      <p:sp>
        <p:nvSpPr>
          <p:cNvPr id="6" name="圆角矩形 75"/>
          <p:cNvSpPr/>
          <p:nvPr/>
        </p:nvSpPr>
        <p:spPr bwMode="gray">
          <a:xfrm>
            <a:off x="449170" y="1059065"/>
            <a:ext cx="3606361"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共享出口方式</a:t>
            </a:r>
          </a:p>
        </p:txBody>
      </p:sp>
      <p:sp>
        <p:nvSpPr>
          <p:cNvPr id="9" name="圆角矩形 75"/>
          <p:cNvSpPr/>
          <p:nvPr/>
        </p:nvSpPr>
        <p:spPr bwMode="gray">
          <a:xfrm>
            <a:off x="449170" y="1453048"/>
            <a:ext cx="3606361" cy="4646520"/>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 name="矩形 11"/>
          <p:cNvSpPr/>
          <p:nvPr/>
        </p:nvSpPr>
        <p:spPr bwMode="gray">
          <a:xfrm>
            <a:off x="442914" y="4777226"/>
            <a:ext cx="3612617" cy="1322341"/>
          </a:xfrm>
          <a:prstGeom prst="rect">
            <a:avLst/>
          </a:prstGeom>
          <a:ln>
            <a:noFill/>
          </a:ln>
        </p:spPr>
        <p:txBody>
          <a:bodyPr wrap="square">
            <a:noAutofit/>
          </a:bodyPr>
          <a:lstStyle/>
          <a:p>
            <a:pPr>
              <a:lnSpc>
                <a:spcPts val="2200"/>
              </a:lnSpc>
              <a:spcAft>
                <a:spcPts val="600"/>
              </a:spcAft>
              <a:buSzPct val="60000"/>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应用场景：</a:t>
            </a:r>
          </a:p>
          <a:p>
            <a:pPr>
              <a:lnSpc>
                <a:spcPts val="2200"/>
              </a:lnSpc>
              <a:spcAft>
                <a:spcPts val="600"/>
              </a:spcAft>
              <a:buSzPct val="60000"/>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网络的多个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共享</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出口，与出口设备互通，且这些</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使用相同的安全策略。</a:t>
            </a:r>
          </a:p>
        </p:txBody>
      </p:sp>
      <p:grpSp>
        <p:nvGrpSpPr>
          <p:cNvPr id="15" name="组合 14"/>
          <p:cNvGrpSpPr/>
          <p:nvPr/>
        </p:nvGrpSpPr>
        <p:grpSpPr bwMode="gray">
          <a:xfrm>
            <a:off x="1301003" y="3669397"/>
            <a:ext cx="550335" cy="550334"/>
            <a:chOff x="2175932" y="1794933"/>
            <a:chExt cx="550335" cy="550334"/>
          </a:xfrm>
        </p:grpSpPr>
        <p:sp>
          <p:nvSpPr>
            <p:cNvPr id="16" name="椭圆 15"/>
            <p:cNvSpPr/>
            <p:nvPr/>
          </p:nvSpPr>
          <p:spPr bwMode="gray">
            <a:xfrm>
              <a:off x="2175933" y="1794933"/>
              <a:ext cx="550334" cy="550334"/>
            </a:xfrm>
            <a:prstGeom prst="ellipse">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9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任意多边形 16"/>
            <p:cNvSpPr/>
            <p:nvPr/>
          </p:nvSpPr>
          <p:spPr bwMode="gray">
            <a:xfrm>
              <a:off x="2175932" y="1938867"/>
              <a:ext cx="550334" cy="262466"/>
            </a:xfrm>
            <a:custGeom>
              <a:avLst/>
              <a:gdLst>
                <a:gd name="connsiteX0" fmla="*/ 37890 w 550334"/>
                <a:gd name="connsiteY0" fmla="*/ 0 h 262466"/>
                <a:gd name="connsiteX1" fmla="*/ 512444 w 550334"/>
                <a:gd name="connsiteY1" fmla="*/ 0 h 262466"/>
                <a:gd name="connsiteX2" fmla="*/ 528710 w 550334"/>
                <a:gd name="connsiteY2" fmla="*/ 24125 h 262466"/>
                <a:gd name="connsiteX3" fmla="*/ 550334 w 550334"/>
                <a:gd name="connsiteY3" fmla="*/ 131233 h 262466"/>
                <a:gd name="connsiteX4" fmla="*/ 528710 w 550334"/>
                <a:gd name="connsiteY4" fmla="*/ 238341 h 262466"/>
                <a:gd name="connsiteX5" fmla="*/ 512444 w 550334"/>
                <a:gd name="connsiteY5" fmla="*/ 262466 h 262466"/>
                <a:gd name="connsiteX6" fmla="*/ 37890 w 550334"/>
                <a:gd name="connsiteY6" fmla="*/ 262466 h 262466"/>
                <a:gd name="connsiteX7" fmla="*/ 21624 w 550334"/>
                <a:gd name="connsiteY7" fmla="*/ 238341 h 262466"/>
                <a:gd name="connsiteX8" fmla="*/ 0 w 550334"/>
                <a:gd name="connsiteY8" fmla="*/ 131233 h 262466"/>
                <a:gd name="connsiteX9" fmla="*/ 21624 w 550334"/>
                <a:gd name="connsiteY9" fmla="*/ 24125 h 26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334" h="262466">
                  <a:moveTo>
                    <a:pt x="37890" y="0"/>
                  </a:moveTo>
                  <a:lnTo>
                    <a:pt x="512444" y="0"/>
                  </a:lnTo>
                  <a:lnTo>
                    <a:pt x="528710" y="24125"/>
                  </a:lnTo>
                  <a:cubicBezTo>
                    <a:pt x="542634" y="57046"/>
                    <a:pt x="550334" y="93240"/>
                    <a:pt x="550334" y="131233"/>
                  </a:cubicBezTo>
                  <a:cubicBezTo>
                    <a:pt x="550334" y="169226"/>
                    <a:pt x="542634" y="205420"/>
                    <a:pt x="528710" y="238341"/>
                  </a:cubicBezTo>
                  <a:lnTo>
                    <a:pt x="512444" y="262466"/>
                  </a:lnTo>
                  <a:lnTo>
                    <a:pt x="37890" y="262466"/>
                  </a:lnTo>
                  <a:lnTo>
                    <a:pt x="21624" y="238341"/>
                  </a:lnTo>
                  <a:cubicBezTo>
                    <a:pt x="7700" y="205420"/>
                    <a:pt x="0" y="169226"/>
                    <a:pt x="0" y="131233"/>
                  </a:cubicBezTo>
                  <a:cubicBezTo>
                    <a:pt x="0" y="93240"/>
                    <a:pt x="7700" y="57046"/>
                    <a:pt x="21624" y="24125"/>
                  </a:cubicBezTo>
                  <a:close/>
                </a:path>
              </a:pathLst>
            </a:cu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VRF</a:t>
              </a:r>
            </a:p>
          </p:txBody>
        </p:sp>
      </p:grpSp>
      <p:sp>
        <p:nvSpPr>
          <p:cNvPr id="18" name="矩形 17"/>
          <p:cNvSpPr/>
          <p:nvPr/>
        </p:nvSpPr>
        <p:spPr bwMode="gray">
          <a:xfrm>
            <a:off x="978117" y="2536375"/>
            <a:ext cx="2548467" cy="2090524"/>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椭圆 19"/>
          <p:cNvSpPr/>
          <p:nvPr/>
        </p:nvSpPr>
        <p:spPr bwMode="gray">
          <a:xfrm>
            <a:off x="2008647" y="2679960"/>
            <a:ext cx="550334" cy="550334"/>
          </a:xfrm>
          <a:prstGeom prst="ellipse">
            <a:avLst/>
          </a:prstGeom>
          <a:noFill/>
          <a:ln>
            <a:gradFill flip="none" rotWithShape="1">
              <a:gsLst>
                <a:gs pos="0">
                  <a:srgbClr val="56C4D2"/>
                </a:gs>
                <a:gs pos="50000">
                  <a:schemeClr val="accent1">
                    <a:lumMod val="45000"/>
                    <a:lumOff val="55000"/>
                  </a:schemeClr>
                </a:gs>
                <a:gs pos="100000">
                  <a:srgbClr val="E28189"/>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auto">
          <a:xfrm>
            <a:off x="2011680" y="2793816"/>
            <a:ext cx="551382" cy="336599"/>
          </a:xfrm>
          <a:custGeom>
            <a:avLst/>
            <a:gdLst>
              <a:gd name="connsiteX0" fmla="*/ 37890 w 550334"/>
              <a:gd name="connsiteY0" fmla="*/ 0 h 262466"/>
              <a:gd name="connsiteX1" fmla="*/ 512444 w 550334"/>
              <a:gd name="connsiteY1" fmla="*/ 0 h 262466"/>
              <a:gd name="connsiteX2" fmla="*/ 528710 w 550334"/>
              <a:gd name="connsiteY2" fmla="*/ 24125 h 262466"/>
              <a:gd name="connsiteX3" fmla="*/ 550334 w 550334"/>
              <a:gd name="connsiteY3" fmla="*/ 131233 h 262466"/>
              <a:gd name="connsiteX4" fmla="*/ 528710 w 550334"/>
              <a:gd name="connsiteY4" fmla="*/ 238341 h 262466"/>
              <a:gd name="connsiteX5" fmla="*/ 512444 w 550334"/>
              <a:gd name="connsiteY5" fmla="*/ 262466 h 262466"/>
              <a:gd name="connsiteX6" fmla="*/ 37890 w 550334"/>
              <a:gd name="connsiteY6" fmla="*/ 262466 h 262466"/>
              <a:gd name="connsiteX7" fmla="*/ 21624 w 550334"/>
              <a:gd name="connsiteY7" fmla="*/ 238341 h 262466"/>
              <a:gd name="connsiteX8" fmla="*/ 0 w 550334"/>
              <a:gd name="connsiteY8" fmla="*/ 131233 h 262466"/>
              <a:gd name="connsiteX9" fmla="*/ 21624 w 550334"/>
              <a:gd name="connsiteY9" fmla="*/ 24125 h 26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334" h="262466">
                <a:moveTo>
                  <a:pt x="37890" y="0"/>
                </a:moveTo>
                <a:lnTo>
                  <a:pt x="512444" y="0"/>
                </a:lnTo>
                <a:lnTo>
                  <a:pt x="528710" y="24125"/>
                </a:lnTo>
                <a:cubicBezTo>
                  <a:pt x="542634" y="57046"/>
                  <a:pt x="550334" y="93240"/>
                  <a:pt x="550334" y="131233"/>
                </a:cubicBezTo>
                <a:cubicBezTo>
                  <a:pt x="550334" y="169226"/>
                  <a:pt x="542634" y="205420"/>
                  <a:pt x="528710" y="238341"/>
                </a:cubicBezTo>
                <a:lnTo>
                  <a:pt x="512444" y="262466"/>
                </a:lnTo>
                <a:lnTo>
                  <a:pt x="37890" y="262466"/>
                </a:lnTo>
                <a:lnTo>
                  <a:pt x="21624" y="238341"/>
                </a:lnTo>
                <a:cubicBezTo>
                  <a:pt x="7700" y="205420"/>
                  <a:pt x="0" y="169226"/>
                  <a:pt x="0" y="131233"/>
                </a:cubicBezTo>
                <a:cubicBezTo>
                  <a:pt x="0" y="93240"/>
                  <a:pt x="7700" y="57046"/>
                  <a:pt x="21624" y="24125"/>
                </a:cubicBezTo>
                <a:close/>
              </a:path>
            </a:pathLst>
          </a:custGeom>
          <a:gradFill flip="none" rotWithShape="1">
            <a:gsLst>
              <a:gs pos="0">
                <a:srgbClr val="56C4D2"/>
              </a:gs>
              <a:gs pos="50000">
                <a:srgbClr val="CCAABB"/>
              </a:gs>
              <a:gs pos="100000">
                <a:srgbClr val="E2818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VRF</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椭圆 22"/>
          <p:cNvSpPr/>
          <p:nvPr/>
        </p:nvSpPr>
        <p:spPr bwMode="gray">
          <a:xfrm>
            <a:off x="2716291" y="3669397"/>
            <a:ext cx="550334" cy="550334"/>
          </a:xfrm>
          <a:prstGeom prst="ellipse">
            <a:avLst/>
          </a:prstGeom>
          <a:no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9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任意多边形 23"/>
          <p:cNvSpPr/>
          <p:nvPr/>
        </p:nvSpPr>
        <p:spPr bwMode="ltGray">
          <a:xfrm>
            <a:off x="2716290" y="3813331"/>
            <a:ext cx="550334" cy="262466"/>
          </a:xfrm>
          <a:custGeom>
            <a:avLst/>
            <a:gdLst>
              <a:gd name="connsiteX0" fmla="*/ 37890 w 550334"/>
              <a:gd name="connsiteY0" fmla="*/ 0 h 262466"/>
              <a:gd name="connsiteX1" fmla="*/ 512444 w 550334"/>
              <a:gd name="connsiteY1" fmla="*/ 0 h 262466"/>
              <a:gd name="connsiteX2" fmla="*/ 528710 w 550334"/>
              <a:gd name="connsiteY2" fmla="*/ 24125 h 262466"/>
              <a:gd name="connsiteX3" fmla="*/ 550334 w 550334"/>
              <a:gd name="connsiteY3" fmla="*/ 131233 h 262466"/>
              <a:gd name="connsiteX4" fmla="*/ 528710 w 550334"/>
              <a:gd name="connsiteY4" fmla="*/ 238341 h 262466"/>
              <a:gd name="connsiteX5" fmla="*/ 512444 w 550334"/>
              <a:gd name="connsiteY5" fmla="*/ 262466 h 262466"/>
              <a:gd name="connsiteX6" fmla="*/ 37890 w 550334"/>
              <a:gd name="connsiteY6" fmla="*/ 262466 h 262466"/>
              <a:gd name="connsiteX7" fmla="*/ 21624 w 550334"/>
              <a:gd name="connsiteY7" fmla="*/ 238341 h 262466"/>
              <a:gd name="connsiteX8" fmla="*/ 0 w 550334"/>
              <a:gd name="connsiteY8" fmla="*/ 131233 h 262466"/>
              <a:gd name="connsiteX9" fmla="*/ 21624 w 550334"/>
              <a:gd name="connsiteY9" fmla="*/ 24125 h 26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334" h="262466">
                <a:moveTo>
                  <a:pt x="37890" y="0"/>
                </a:moveTo>
                <a:lnTo>
                  <a:pt x="512444" y="0"/>
                </a:lnTo>
                <a:lnTo>
                  <a:pt x="528710" y="24125"/>
                </a:lnTo>
                <a:cubicBezTo>
                  <a:pt x="542634" y="57046"/>
                  <a:pt x="550334" y="93240"/>
                  <a:pt x="550334" y="131233"/>
                </a:cubicBezTo>
                <a:cubicBezTo>
                  <a:pt x="550334" y="169226"/>
                  <a:pt x="542634" y="205420"/>
                  <a:pt x="528710" y="238341"/>
                </a:cubicBezTo>
                <a:lnTo>
                  <a:pt x="512444" y="262466"/>
                </a:lnTo>
                <a:lnTo>
                  <a:pt x="37890" y="262466"/>
                </a:lnTo>
                <a:lnTo>
                  <a:pt x="21624" y="238341"/>
                </a:lnTo>
                <a:cubicBezTo>
                  <a:pt x="7700" y="205420"/>
                  <a:pt x="0" y="169226"/>
                  <a:pt x="0" y="131233"/>
                </a:cubicBezTo>
                <a:cubicBezTo>
                  <a:pt x="0" y="93240"/>
                  <a:pt x="7700" y="57046"/>
                  <a:pt x="21624" y="24125"/>
                </a:cubicBezTo>
                <a:close/>
              </a:path>
            </a:pathLst>
          </a:cu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VRF</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p:cNvCxnSpPr/>
          <p:nvPr/>
        </p:nvCxnSpPr>
        <p:spPr bwMode="gray">
          <a:xfrm>
            <a:off x="2287371" y="2088156"/>
            <a:ext cx="0" cy="591804"/>
          </a:xfrm>
          <a:prstGeom prst="line">
            <a:avLst/>
          </a:prstGeom>
          <a:ln w="28575">
            <a:solidFill>
              <a:srgbClr val="62B23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0" idx="4"/>
            <a:endCxn id="16" idx="0"/>
          </p:cNvCxnSpPr>
          <p:nvPr/>
        </p:nvCxnSpPr>
        <p:spPr bwMode="gray">
          <a:xfrm flipH="1">
            <a:off x="1576171" y="3230294"/>
            <a:ext cx="707643" cy="439103"/>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0" idx="4"/>
            <a:endCxn id="23" idx="0"/>
          </p:cNvCxnSpPr>
          <p:nvPr/>
        </p:nvCxnSpPr>
        <p:spPr bwMode="gray">
          <a:xfrm>
            <a:off x="2283814" y="3230294"/>
            <a:ext cx="707644" cy="439103"/>
          </a:xfrm>
          <a:prstGeom prst="line">
            <a:avLst/>
          </a:prstGeom>
          <a:ln w="28575">
            <a:solidFill>
              <a:srgbClr val="E28189"/>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bwMode="gray">
          <a:xfrm>
            <a:off x="2517454" y="2824818"/>
            <a:ext cx="793273" cy="274594"/>
          </a:xfrm>
          <a:prstGeom prst="rect">
            <a:avLst/>
          </a:prstGeom>
          <a:noFill/>
        </p:spPr>
        <p:txBody>
          <a:bodyPr wrap="square" rtlCol="0">
            <a:noAutofit/>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共享</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VRF</a:t>
            </a:r>
          </a:p>
        </p:txBody>
      </p:sp>
      <p:sp>
        <p:nvSpPr>
          <p:cNvPr id="32" name="文本框 31"/>
          <p:cNvSpPr txBox="1"/>
          <p:nvPr/>
        </p:nvSpPr>
        <p:spPr bwMode="gray">
          <a:xfrm>
            <a:off x="978116" y="4187746"/>
            <a:ext cx="1116159" cy="432082"/>
          </a:xfrm>
          <a:prstGeom prst="rect">
            <a:avLst/>
          </a:prstGeom>
          <a:noFill/>
        </p:spPr>
        <p:txBody>
          <a:bodyPr wrap="square" rtlCol="0">
            <a:no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Green VRF</a:t>
            </a:r>
          </a:p>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VN1</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2451670" y="4196560"/>
            <a:ext cx="1007808" cy="423268"/>
          </a:xfrm>
          <a:prstGeom prst="rect">
            <a:avLst/>
          </a:prstGeom>
          <a:noFill/>
        </p:spPr>
        <p:txBody>
          <a:bodyPr wrap="square" rtlCol="0">
            <a:no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Red VRF</a:t>
            </a:r>
          </a:p>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VN2</a:t>
            </a:r>
          </a:p>
        </p:txBody>
      </p:sp>
      <p:sp>
        <p:nvSpPr>
          <p:cNvPr id="43" name="文本框 42"/>
          <p:cNvSpPr txBox="1"/>
          <p:nvPr/>
        </p:nvSpPr>
        <p:spPr bwMode="gray">
          <a:xfrm>
            <a:off x="986104" y="2583329"/>
            <a:ext cx="735317" cy="274594"/>
          </a:xfrm>
          <a:prstGeom prst="rect">
            <a:avLst/>
          </a:prstGeom>
          <a:noFill/>
        </p:spPr>
        <p:txBody>
          <a:bodyPr wrap="square" rtlCol="0">
            <a:no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pic>
        <p:nvPicPr>
          <p:cNvPr id="62"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033151" y="1678725"/>
            <a:ext cx="540000" cy="441818"/>
          </a:xfrm>
          <a:prstGeom prst="rect">
            <a:avLst/>
          </a:prstGeom>
        </p:spPr>
      </p:pic>
      <p:sp>
        <p:nvSpPr>
          <p:cNvPr id="63" name="文本框 62"/>
          <p:cNvSpPr txBox="1"/>
          <p:nvPr/>
        </p:nvSpPr>
        <p:spPr bwMode="gray">
          <a:xfrm>
            <a:off x="2287371" y="2101092"/>
            <a:ext cx="793273" cy="274594"/>
          </a:xfrm>
          <a:prstGeom prst="rect">
            <a:avLst/>
          </a:prstGeom>
          <a:noFill/>
        </p:spPr>
        <p:txBody>
          <a:bodyPr wrap="none" rtlCol="0">
            <a:no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Trust</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区域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4278560" y="1051994"/>
            <a:ext cx="3606361"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独占出口方式</a:t>
            </a:r>
            <a:endParaRPr 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75"/>
          <p:cNvSpPr/>
          <p:nvPr/>
        </p:nvSpPr>
        <p:spPr bwMode="gray">
          <a:xfrm>
            <a:off x="4278560" y="1445977"/>
            <a:ext cx="3606361" cy="4646520"/>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矩形 12"/>
          <p:cNvSpPr/>
          <p:nvPr/>
        </p:nvSpPr>
        <p:spPr bwMode="gray">
          <a:xfrm>
            <a:off x="4278560" y="4768703"/>
            <a:ext cx="3606361" cy="1337936"/>
          </a:xfrm>
          <a:prstGeom prst="rect">
            <a:avLst/>
          </a:prstGeom>
          <a:ln>
            <a:noFill/>
          </a:ln>
        </p:spPr>
        <p:txBody>
          <a:bodyPr wrap="square">
            <a:noAutofit/>
          </a:bodyPr>
          <a:lstStyle/>
          <a:p>
            <a:pPr>
              <a:lnSpc>
                <a:spcPts val="2200"/>
              </a:lnSpc>
              <a:spcAft>
                <a:spcPts val="600"/>
              </a:spcAft>
              <a:buSzPct val="60000"/>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应用场景：</a:t>
            </a:r>
          </a:p>
          <a:p>
            <a:pPr>
              <a:lnSpc>
                <a:spcPts val="2200"/>
              </a:lnSpc>
              <a:spcAft>
                <a:spcPts val="600"/>
              </a:spcAft>
              <a:buSzPct val="60000"/>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网络的每个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独占一个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出口，与出口设备互通，且每个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采用个性化的安全策略。</a:t>
            </a:r>
          </a:p>
        </p:txBody>
      </p:sp>
      <p:grpSp>
        <p:nvGrpSpPr>
          <p:cNvPr id="34" name="组合 33"/>
          <p:cNvGrpSpPr/>
          <p:nvPr/>
        </p:nvGrpSpPr>
        <p:grpSpPr bwMode="gray">
          <a:xfrm>
            <a:off x="5308282" y="3662326"/>
            <a:ext cx="550335" cy="550334"/>
            <a:chOff x="2175932" y="1794933"/>
            <a:chExt cx="550335" cy="550334"/>
          </a:xfrm>
        </p:grpSpPr>
        <p:sp>
          <p:nvSpPr>
            <p:cNvPr id="35" name="椭圆 34"/>
            <p:cNvSpPr/>
            <p:nvPr/>
          </p:nvSpPr>
          <p:spPr bwMode="gray">
            <a:xfrm>
              <a:off x="2175933" y="1794933"/>
              <a:ext cx="550334" cy="550334"/>
            </a:xfrm>
            <a:prstGeom prst="ellipse">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任意多边形 35"/>
            <p:cNvSpPr/>
            <p:nvPr/>
          </p:nvSpPr>
          <p:spPr bwMode="gray">
            <a:xfrm>
              <a:off x="2175932" y="1938867"/>
              <a:ext cx="550334" cy="262466"/>
            </a:xfrm>
            <a:custGeom>
              <a:avLst/>
              <a:gdLst>
                <a:gd name="connsiteX0" fmla="*/ 37890 w 550334"/>
                <a:gd name="connsiteY0" fmla="*/ 0 h 262466"/>
                <a:gd name="connsiteX1" fmla="*/ 512444 w 550334"/>
                <a:gd name="connsiteY1" fmla="*/ 0 h 262466"/>
                <a:gd name="connsiteX2" fmla="*/ 528710 w 550334"/>
                <a:gd name="connsiteY2" fmla="*/ 24125 h 262466"/>
                <a:gd name="connsiteX3" fmla="*/ 550334 w 550334"/>
                <a:gd name="connsiteY3" fmla="*/ 131233 h 262466"/>
                <a:gd name="connsiteX4" fmla="*/ 528710 w 550334"/>
                <a:gd name="connsiteY4" fmla="*/ 238341 h 262466"/>
                <a:gd name="connsiteX5" fmla="*/ 512444 w 550334"/>
                <a:gd name="connsiteY5" fmla="*/ 262466 h 262466"/>
                <a:gd name="connsiteX6" fmla="*/ 37890 w 550334"/>
                <a:gd name="connsiteY6" fmla="*/ 262466 h 262466"/>
                <a:gd name="connsiteX7" fmla="*/ 21624 w 550334"/>
                <a:gd name="connsiteY7" fmla="*/ 238341 h 262466"/>
                <a:gd name="connsiteX8" fmla="*/ 0 w 550334"/>
                <a:gd name="connsiteY8" fmla="*/ 131233 h 262466"/>
                <a:gd name="connsiteX9" fmla="*/ 21624 w 550334"/>
                <a:gd name="connsiteY9" fmla="*/ 24125 h 26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334" h="262466">
                  <a:moveTo>
                    <a:pt x="37890" y="0"/>
                  </a:moveTo>
                  <a:lnTo>
                    <a:pt x="512444" y="0"/>
                  </a:lnTo>
                  <a:lnTo>
                    <a:pt x="528710" y="24125"/>
                  </a:lnTo>
                  <a:cubicBezTo>
                    <a:pt x="542634" y="57046"/>
                    <a:pt x="550334" y="93240"/>
                    <a:pt x="550334" y="131233"/>
                  </a:cubicBezTo>
                  <a:cubicBezTo>
                    <a:pt x="550334" y="169226"/>
                    <a:pt x="542634" y="205420"/>
                    <a:pt x="528710" y="238341"/>
                  </a:cubicBezTo>
                  <a:lnTo>
                    <a:pt x="512444" y="262466"/>
                  </a:lnTo>
                  <a:lnTo>
                    <a:pt x="37890" y="262466"/>
                  </a:lnTo>
                  <a:lnTo>
                    <a:pt x="21624" y="238341"/>
                  </a:lnTo>
                  <a:cubicBezTo>
                    <a:pt x="7700" y="205420"/>
                    <a:pt x="0" y="169226"/>
                    <a:pt x="0" y="131233"/>
                  </a:cubicBezTo>
                  <a:cubicBezTo>
                    <a:pt x="0" y="93240"/>
                    <a:pt x="7700" y="57046"/>
                    <a:pt x="21624" y="24125"/>
                  </a:cubicBezTo>
                  <a:close/>
                </a:path>
              </a:pathLst>
            </a:cu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VRF</a:t>
              </a:r>
            </a:p>
          </p:txBody>
        </p:sp>
      </p:grpSp>
      <p:sp>
        <p:nvSpPr>
          <p:cNvPr id="37" name="矩形 36"/>
          <p:cNvSpPr/>
          <p:nvPr/>
        </p:nvSpPr>
        <p:spPr bwMode="gray">
          <a:xfrm>
            <a:off x="4820867" y="2529304"/>
            <a:ext cx="2548467" cy="2090524"/>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5067861" y="4180674"/>
            <a:ext cx="1014805" cy="437059"/>
          </a:xfrm>
          <a:prstGeom prst="rect">
            <a:avLst/>
          </a:prstGeom>
          <a:noFill/>
        </p:spPr>
        <p:txBody>
          <a:bodyPr wrap="square" rtlCol="0">
            <a:no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Green VRF</a:t>
            </a:r>
          </a:p>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VN1</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4829377" y="2576258"/>
            <a:ext cx="711307" cy="274594"/>
          </a:xfrm>
          <a:prstGeom prst="rect">
            <a:avLst/>
          </a:prstGeom>
          <a:noFill/>
        </p:spPr>
        <p:txBody>
          <a:bodyPr wrap="square" rtlCol="0">
            <a:no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65" name="椭圆 64"/>
          <p:cNvSpPr/>
          <p:nvPr/>
        </p:nvSpPr>
        <p:spPr bwMode="gray">
          <a:xfrm>
            <a:off x="6451519" y="3662326"/>
            <a:ext cx="550334" cy="550334"/>
          </a:xfrm>
          <a:prstGeom prst="ellipse">
            <a:avLst/>
          </a:prstGeom>
          <a:no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任意多边形 65"/>
          <p:cNvSpPr/>
          <p:nvPr/>
        </p:nvSpPr>
        <p:spPr bwMode="ltGray">
          <a:xfrm>
            <a:off x="6451518" y="3806260"/>
            <a:ext cx="550334" cy="262466"/>
          </a:xfrm>
          <a:custGeom>
            <a:avLst/>
            <a:gdLst>
              <a:gd name="connsiteX0" fmla="*/ 37890 w 550334"/>
              <a:gd name="connsiteY0" fmla="*/ 0 h 262466"/>
              <a:gd name="connsiteX1" fmla="*/ 512444 w 550334"/>
              <a:gd name="connsiteY1" fmla="*/ 0 h 262466"/>
              <a:gd name="connsiteX2" fmla="*/ 528710 w 550334"/>
              <a:gd name="connsiteY2" fmla="*/ 24125 h 262466"/>
              <a:gd name="connsiteX3" fmla="*/ 550334 w 550334"/>
              <a:gd name="connsiteY3" fmla="*/ 131233 h 262466"/>
              <a:gd name="connsiteX4" fmla="*/ 528710 w 550334"/>
              <a:gd name="connsiteY4" fmla="*/ 238341 h 262466"/>
              <a:gd name="connsiteX5" fmla="*/ 512444 w 550334"/>
              <a:gd name="connsiteY5" fmla="*/ 262466 h 262466"/>
              <a:gd name="connsiteX6" fmla="*/ 37890 w 550334"/>
              <a:gd name="connsiteY6" fmla="*/ 262466 h 262466"/>
              <a:gd name="connsiteX7" fmla="*/ 21624 w 550334"/>
              <a:gd name="connsiteY7" fmla="*/ 238341 h 262466"/>
              <a:gd name="connsiteX8" fmla="*/ 0 w 550334"/>
              <a:gd name="connsiteY8" fmla="*/ 131233 h 262466"/>
              <a:gd name="connsiteX9" fmla="*/ 21624 w 550334"/>
              <a:gd name="connsiteY9" fmla="*/ 24125 h 26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334" h="262466">
                <a:moveTo>
                  <a:pt x="37890" y="0"/>
                </a:moveTo>
                <a:lnTo>
                  <a:pt x="512444" y="0"/>
                </a:lnTo>
                <a:lnTo>
                  <a:pt x="528710" y="24125"/>
                </a:lnTo>
                <a:cubicBezTo>
                  <a:pt x="542634" y="57046"/>
                  <a:pt x="550334" y="93240"/>
                  <a:pt x="550334" y="131233"/>
                </a:cubicBezTo>
                <a:cubicBezTo>
                  <a:pt x="550334" y="169226"/>
                  <a:pt x="542634" y="205420"/>
                  <a:pt x="528710" y="238341"/>
                </a:cubicBezTo>
                <a:lnTo>
                  <a:pt x="512444" y="262466"/>
                </a:lnTo>
                <a:lnTo>
                  <a:pt x="37890" y="262466"/>
                </a:lnTo>
                <a:lnTo>
                  <a:pt x="21624" y="238341"/>
                </a:lnTo>
                <a:cubicBezTo>
                  <a:pt x="7700" y="205420"/>
                  <a:pt x="0" y="169226"/>
                  <a:pt x="0" y="131233"/>
                </a:cubicBezTo>
                <a:cubicBezTo>
                  <a:pt x="0" y="93240"/>
                  <a:pt x="7700" y="57046"/>
                  <a:pt x="21624" y="24125"/>
                </a:cubicBezTo>
                <a:close/>
              </a:path>
            </a:pathLst>
          </a:cu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VRF</a:t>
            </a:r>
          </a:p>
        </p:txBody>
      </p:sp>
      <p:sp>
        <p:nvSpPr>
          <p:cNvPr id="68" name="文本框 67"/>
          <p:cNvSpPr txBox="1"/>
          <p:nvPr/>
        </p:nvSpPr>
        <p:spPr bwMode="gray">
          <a:xfrm>
            <a:off x="6211097" y="4180675"/>
            <a:ext cx="1014805" cy="437058"/>
          </a:xfrm>
          <a:prstGeom prst="rect">
            <a:avLst/>
          </a:prstGeom>
          <a:noFill/>
        </p:spPr>
        <p:txBody>
          <a:bodyPr wrap="square" rtlCol="0">
            <a:no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Red VRF</a:t>
            </a:r>
          </a:p>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VN2</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9" name="Group 165"/>
          <p:cNvGrpSpPr/>
          <p:nvPr/>
        </p:nvGrpSpPr>
        <p:grpSpPr bwMode="gray">
          <a:xfrm rot="10800000">
            <a:off x="5582101" y="1729860"/>
            <a:ext cx="1121573" cy="1932466"/>
            <a:chOff x="-1546029" y="914446"/>
            <a:chExt cx="1886815" cy="778776"/>
          </a:xfrm>
        </p:grpSpPr>
        <p:cxnSp>
          <p:nvCxnSpPr>
            <p:cNvPr id="70" name="Straight Connector 166"/>
            <p:cNvCxnSpPr/>
            <p:nvPr/>
          </p:nvCxnSpPr>
          <p:spPr bwMode="gray">
            <a:xfrm flipH="1" flipV="1">
              <a:off x="-1546029" y="914446"/>
              <a:ext cx="786911" cy="778776"/>
            </a:xfrm>
            <a:prstGeom prst="line">
              <a:avLst/>
            </a:prstGeom>
            <a:ln w="28575">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71" name="Straight Connector 167"/>
            <p:cNvCxnSpPr/>
            <p:nvPr/>
          </p:nvCxnSpPr>
          <p:spPr bwMode="gray">
            <a:xfrm flipV="1">
              <a:off x="-446125" y="914446"/>
              <a:ext cx="786911" cy="778776"/>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grpSp>
      <p:pic>
        <p:nvPicPr>
          <p:cNvPr id="73"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71421" y="1671654"/>
            <a:ext cx="540000" cy="441818"/>
          </a:xfrm>
          <a:prstGeom prst="rect">
            <a:avLst/>
          </a:prstGeom>
        </p:spPr>
      </p:pic>
      <p:sp>
        <p:nvSpPr>
          <p:cNvPr id="74" name="文本框 73"/>
          <p:cNvSpPr txBox="1"/>
          <p:nvPr/>
        </p:nvSpPr>
        <p:spPr bwMode="gray">
          <a:xfrm>
            <a:off x="5092295" y="2094021"/>
            <a:ext cx="793273" cy="274594"/>
          </a:xfrm>
          <a:prstGeom prst="rect">
            <a:avLst/>
          </a:prstGeom>
          <a:noFill/>
        </p:spPr>
        <p:txBody>
          <a:bodyPr wrap="none" rtlCol="0">
            <a:no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Trust</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区域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6397582" y="2019867"/>
            <a:ext cx="1081501" cy="442354"/>
          </a:xfrm>
          <a:prstGeom prst="rect">
            <a:avLst/>
          </a:prstGeom>
          <a:noFill/>
        </p:spPr>
        <p:txBody>
          <a:bodyPr wrap="none" rtlCol="0">
            <a:no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区域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（自定义区域）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8666238" y="2536376"/>
            <a:ext cx="2548467" cy="1092450"/>
          </a:xfrm>
          <a:prstGeom prst="rect">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 name="组合 2"/>
          <p:cNvGrpSpPr/>
          <p:nvPr/>
        </p:nvGrpSpPr>
        <p:grpSpPr bwMode="gray">
          <a:xfrm>
            <a:off x="9081786" y="3010742"/>
            <a:ext cx="1780296" cy="953564"/>
            <a:chOff x="8084894" y="3056118"/>
            <a:chExt cx="1415287" cy="439103"/>
          </a:xfrm>
        </p:grpSpPr>
        <p:cxnSp>
          <p:nvCxnSpPr>
            <p:cNvPr id="4" name="直接连接符 3"/>
            <p:cNvCxnSpPr/>
            <p:nvPr/>
          </p:nvCxnSpPr>
          <p:spPr bwMode="gray">
            <a:xfrm flipH="1">
              <a:off x="8084894" y="3056118"/>
              <a:ext cx="707643" cy="439103"/>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bwMode="gray">
            <a:xfrm>
              <a:off x="8792537" y="3056118"/>
              <a:ext cx="707644" cy="439103"/>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grpSp>
      <p:sp>
        <p:nvSpPr>
          <p:cNvPr id="8" name="圆角矩形 75"/>
          <p:cNvSpPr/>
          <p:nvPr/>
        </p:nvSpPr>
        <p:spPr bwMode="gray">
          <a:xfrm>
            <a:off x="8107950" y="1059065"/>
            <a:ext cx="3606361"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共享出口方式</a:t>
            </a:r>
          </a:p>
        </p:txBody>
      </p:sp>
      <p:sp>
        <p:nvSpPr>
          <p:cNvPr id="11" name="圆角矩形 75"/>
          <p:cNvSpPr/>
          <p:nvPr/>
        </p:nvSpPr>
        <p:spPr bwMode="gray">
          <a:xfrm>
            <a:off x="8107950" y="1453048"/>
            <a:ext cx="3606361" cy="4646520"/>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矩形 13"/>
          <p:cNvSpPr/>
          <p:nvPr/>
        </p:nvSpPr>
        <p:spPr bwMode="gray">
          <a:xfrm>
            <a:off x="8107950" y="4777226"/>
            <a:ext cx="3606361" cy="1322342"/>
          </a:xfrm>
          <a:prstGeom prst="rect">
            <a:avLst/>
          </a:prstGeom>
          <a:ln>
            <a:noFill/>
          </a:ln>
        </p:spPr>
        <p:txBody>
          <a:bodyPr wrap="square">
            <a:noAutofit/>
          </a:bodyPr>
          <a:lstStyle/>
          <a:p>
            <a:pPr>
              <a:lnSpc>
                <a:spcPts val="2200"/>
              </a:lnSpc>
              <a:spcAft>
                <a:spcPts val="600"/>
              </a:spcAft>
              <a:buSzPct val="60000"/>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应用场景：</a:t>
            </a:r>
          </a:p>
          <a:p>
            <a:pPr>
              <a:lnSpc>
                <a:spcPts val="2200"/>
              </a:lnSpc>
              <a:spcAft>
                <a:spcPts val="600"/>
              </a:spcAft>
              <a:buSzPct val="60000"/>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节点不作为用户网关，且</a:t>
            </a:r>
            <a:r>
              <a:rPr lang="zh-CN" altLang="zh-CN" sz="1600" dirty="0">
                <a:latin typeface="Huawei Sans" panose="020C0503030203020204" pitchFamily="34" charset="0"/>
                <a:ea typeface="方正兰亭黑简体" panose="02000000000000000000" pitchFamily="2" charset="-122"/>
                <a:sym typeface="Huawei Sans" panose="020C0503030203020204" pitchFamily="34" charset="0"/>
              </a:rPr>
              <a:t>用户网关必须是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zh-CN" sz="1600" dirty="0">
                <a:latin typeface="Huawei Sans" panose="020C0503030203020204" pitchFamily="34" charset="0"/>
                <a:ea typeface="方正兰亭黑简体" panose="02000000000000000000" pitchFamily="2" charset="-122"/>
                <a:sym typeface="Huawei Sans" panose="020C0503030203020204" pitchFamily="34" charset="0"/>
              </a:rPr>
              <a:t>外部的设备</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49" name="直接连接符 48"/>
          <p:cNvCxnSpPr/>
          <p:nvPr/>
        </p:nvCxnSpPr>
        <p:spPr bwMode="gray">
          <a:xfrm>
            <a:off x="9971934" y="1990501"/>
            <a:ext cx="0" cy="879165"/>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bwMode="gray">
          <a:xfrm>
            <a:off x="8803883" y="4218306"/>
            <a:ext cx="646332" cy="276999"/>
          </a:xfrm>
          <a:prstGeom prst="rect">
            <a:avLst/>
          </a:prstGeom>
          <a:noFill/>
        </p:spPr>
        <p:txBody>
          <a:bodyPr wrap="square" rtlCol="0">
            <a:no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Edge1</a:t>
            </a:r>
          </a:p>
        </p:txBody>
      </p:sp>
      <p:sp>
        <p:nvSpPr>
          <p:cNvPr id="51" name="文本框 50"/>
          <p:cNvSpPr txBox="1"/>
          <p:nvPr/>
        </p:nvSpPr>
        <p:spPr bwMode="gray">
          <a:xfrm>
            <a:off x="8674748" y="2583329"/>
            <a:ext cx="768708" cy="274594"/>
          </a:xfrm>
          <a:prstGeom prst="rect">
            <a:avLst/>
          </a:prstGeom>
          <a:noFill/>
        </p:spPr>
        <p:txBody>
          <a:bodyPr wrap="square" rtlCol="0">
            <a:no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52" name="文本框 51"/>
          <p:cNvSpPr txBox="1"/>
          <p:nvPr/>
        </p:nvSpPr>
        <p:spPr bwMode="gray">
          <a:xfrm>
            <a:off x="10013353" y="2555621"/>
            <a:ext cx="1024122" cy="274594"/>
          </a:xfrm>
          <a:prstGeom prst="rect">
            <a:avLst/>
          </a:prstGeom>
          <a:noFill/>
        </p:spPr>
        <p:txBody>
          <a:bodyPr wrap="square" rtlCol="0">
            <a:noAutofit/>
          </a:bodyPr>
          <a:lstStyle/>
          <a:p>
            <a:pPr algn="ctr"/>
            <a:r>
              <a:rPr lang="en-US" altLang="zh-CN"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共享</a:t>
            </a:r>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端口</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76" descr="接入交换机.png"/>
          <p:cNvPicPr>
            <a:picLocks noChangeAspect="1"/>
          </p:cNvPicPr>
          <p:nvPr/>
        </p:nvPicPr>
        <p:blipFill>
          <a:blip r:embed="rId4"/>
          <a:stretch>
            <a:fillRect/>
          </a:stretch>
        </p:blipFill>
        <p:spPr bwMode="gray">
          <a:xfrm>
            <a:off x="9785594" y="2832620"/>
            <a:ext cx="372680" cy="304920"/>
          </a:xfrm>
          <a:prstGeom prst="rect">
            <a:avLst/>
          </a:prstGeom>
        </p:spPr>
      </p:pic>
      <p:pic>
        <p:nvPicPr>
          <p:cNvPr id="54" name="图片 76" descr="接入交换机.png"/>
          <p:cNvPicPr>
            <a:picLocks noChangeAspect="1"/>
          </p:cNvPicPr>
          <p:nvPr/>
        </p:nvPicPr>
        <p:blipFill>
          <a:blip r:embed="rId4"/>
          <a:stretch>
            <a:fillRect/>
          </a:stretch>
        </p:blipFill>
        <p:spPr bwMode="gray">
          <a:xfrm>
            <a:off x="8933364" y="3882826"/>
            <a:ext cx="372680" cy="304920"/>
          </a:xfrm>
          <a:prstGeom prst="rect">
            <a:avLst/>
          </a:prstGeom>
        </p:spPr>
      </p:pic>
      <p:pic>
        <p:nvPicPr>
          <p:cNvPr id="55" name="图片 76" descr="接入交换机.png"/>
          <p:cNvPicPr>
            <a:picLocks noChangeAspect="1"/>
          </p:cNvPicPr>
          <p:nvPr/>
        </p:nvPicPr>
        <p:blipFill>
          <a:blip r:embed="rId4"/>
          <a:stretch>
            <a:fillRect/>
          </a:stretch>
        </p:blipFill>
        <p:spPr bwMode="gray">
          <a:xfrm>
            <a:off x="10637822" y="3882826"/>
            <a:ext cx="372680" cy="304920"/>
          </a:xfrm>
          <a:prstGeom prst="rect">
            <a:avLst/>
          </a:prstGeom>
        </p:spPr>
      </p:pic>
      <p:sp>
        <p:nvSpPr>
          <p:cNvPr id="56" name="文本框 55"/>
          <p:cNvSpPr txBox="1"/>
          <p:nvPr/>
        </p:nvSpPr>
        <p:spPr bwMode="gray">
          <a:xfrm>
            <a:off x="10511026" y="4218306"/>
            <a:ext cx="646332" cy="276999"/>
          </a:xfrm>
          <a:prstGeom prst="rect">
            <a:avLst/>
          </a:prstGeom>
          <a:noFill/>
        </p:spPr>
        <p:txBody>
          <a:bodyPr wrap="square" rtlCol="0">
            <a:no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Edge2</a:t>
            </a:r>
          </a:p>
        </p:txBody>
      </p:sp>
      <p:pic>
        <p:nvPicPr>
          <p:cNvPr id="78"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701934" y="1678725"/>
            <a:ext cx="540000" cy="441818"/>
          </a:xfrm>
          <a:prstGeom prst="rect">
            <a:avLst/>
          </a:prstGeom>
        </p:spPr>
      </p:pic>
      <p:sp>
        <p:nvSpPr>
          <p:cNvPr id="80" name="文本框 79"/>
          <p:cNvSpPr txBox="1"/>
          <p:nvPr/>
        </p:nvSpPr>
        <p:spPr bwMode="gray">
          <a:xfrm>
            <a:off x="9160715" y="2101092"/>
            <a:ext cx="793273" cy="274594"/>
          </a:xfrm>
          <a:prstGeom prst="rect">
            <a:avLst/>
          </a:prstGeom>
          <a:noFill/>
        </p:spPr>
        <p:txBody>
          <a:bodyPr wrap="none" rtlCol="0">
            <a:no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Trust</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区域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bwMode="gray">
          <a:xfrm>
            <a:off x="9953988" y="2101092"/>
            <a:ext cx="793273" cy="274594"/>
          </a:xfrm>
          <a:prstGeom prst="rect">
            <a:avLst/>
          </a:prstGeom>
          <a:noFill/>
        </p:spPr>
        <p:txBody>
          <a:bodyPr wrap="none" rtlCol="0">
            <a:no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用户网关</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五边形 58"/>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60" name="燕尾形 59"/>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612870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408506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文本框 120"/>
          <p:cNvSpPr txBox="1"/>
          <p:nvPr/>
        </p:nvSpPr>
        <p:spPr bwMode="gray">
          <a:xfrm>
            <a:off x="9015643" y="3560232"/>
            <a:ext cx="2633018" cy="968040"/>
          </a:xfrm>
          <a:prstGeom prst="roundRect">
            <a:avLst/>
          </a:prstGeom>
          <a:solidFill>
            <a:srgbClr val="E7F3E1"/>
          </a:solidFill>
          <a:ln>
            <a:solidFill>
              <a:srgbClr val="D0E8C4"/>
            </a:solidFill>
            <a:prstDash val="dash"/>
          </a:ln>
        </p:spPr>
        <p:txBody>
          <a:bodyPr wrap="square" rtlCol="0" anchor="ctr">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b="0" i="0" u="none" strike="noStrike" kern="0" cap="none" spc="0" normalizeH="0" baseline="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defRPr>
            </a:lvl1pPr>
          </a:lstStyle>
          <a:p>
            <a:endParaRPr lang="zh-CN" altLang="en-US" dirty="0">
              <a:sym typeface="Huawei Sans" panose="020C0503030203020204" pitchFamily="34" charset="0"/>
            </a:endParaRPr>
          </a:p>
        </p:txBody>
      </p:sp>
      <p:sp>
        <p:nvSpPr>
          <p:cNvPr id="40" name="任意多边形 39"/>
          <p:cNvSpPr/>
          <p:nvPr/>
        </p:nvSpPr>
        <p:spPr bwMode="gray">
          <a:xfrm>
            <a:off x="5117073" y="4213159"/>
            <a:ext cx="2635505" cy="1472654"/>
          </a:xfrm>
          <a:custGeom>
            <a:avLst/>
            <a:gdLst>
              <a:gd name="connsiteX0" fmla="*/ 347195 w 2866390"/>
              <a:gd name="connsiteY0" fmla="*/ 79124 h 1576834"/>
              <a:gd name="connsiteX1" fmla="*/ 1341108 w 2866390"/>
              <a:gd name="connsiteY1" fmla="*/ 854376 h 1576834"/>
              <a:gd name="connsiteX2" fmla="*/ 2633195 w 2866390"/>
              <a:gd name="connsiteY2" fmla="*/ 973646 h 1576834"/>
              <a:gd name="connsiteX3" fmla="*/ 2692830 w 2866390"/>
              <a:gd name="connsiteY3" fmla="*/ 1500420 h 1576834"/>
              <a:gd name="connsiteX4" fmla="*/ 834213 w 2866390"/>
              <a:gd name="connsiteY4" fmla="*/ 1430846 h 1576834"/>
              <a:gd name="connsiteX5" fmla="*/ 19204 w 2866390"/>
              <a:gd name="connsiteY5" fmla="*/ 178515 h 1576834"/>
              <a:gd name="connsiteX6" fmla="*/ 347195 w 2866390"/>
              <a:gd name="connsiteY6" fmla="*/ 79124 h 1576834"/>
              <a:gd name="connsiteX0" fmla="*/ 462988 w 2855075"/>
              <a:gd name="connsiteY0" fmla="*/ 75550 h 1583789"/>
              <a:gd name="connsiteX1" fmla="*/ 1329793 w 2855075"/>
              <a:gd name="connsiteY1" fmla="*/ 861331 h 1583789"/>
              <a:gd name="connsiteX2" fmla="*/ 2621880 w 2855075"/>
              <a:gd name="connsiteY2" fmla="*/ 980601 h 1583789"/>
              <a:gd name="connsiteX3" fmla="*/ 2681515 w 2855075"/>
              <a:gd name="connsiteY3" fmla="*/ 1507375 h 1583789"/>
              <a:gd name="connsiteX4" fmla="*/ 822898 w 2855075"/>
              <a:gd name="connsiteY4" fmla="*/ 1437801 h 1583789"/>
              <a:gd name="connsiteX5" fmla="*/ 7889 w 2855075"/>
              <a:gd name="connsiteY5" fmla="*/ 185470 h 1583789"/>
              <a:gd name="connsiteX6" fmla="*/ 462988 w 2855075"/>
              <a:gd name="connsiteY6" fmla="*/ 75550 h 1583789"/>
              <a:gd name="connsiteX0" fmla="*/ 431859 w 2823946"/>
              <a:gd name="connsiteY0" fmla="*/ 50969 h 1559208"/>
              <a:gd name="connsiteX1" fmla="*/ 1298664 w 2823946"/>
              <a:gd name="connsiteY1" fmla="*/ 836750 h 1559208"/>
              <a:gd name="connsiteX2" fmla="*/ 2590751 w 2823946"/>
              <a:gd name="connsiteY2" fmla="*/ 956020 h 1559208"/>
              <a:gd name="connsiteX3" fmla="*/ 2650386 w 2823946"/>
              <a:gd name="connsiteY3" fmla="*/ 1482794 h 1559208"/>
              <a:gd name="connsiteX4" fmla="*/ 791769 w 2823946"/>
              <a:gd name="connsiteY4" fmla="*/ 1413220 h 1559208"/>
              <a:gd name="connsiteX5" fmla="*/ 8538 w 2823946"/>
              <a:gd name="connsiteY5" fmla="*/ 224063 h 1559208"/>
              <a:gd name="connsiteX6" fmla="*/ 431859 w 2823946"/>
              <a:gd name="connsiteY6" fmla="*/ 50969 h 1559208"/>
              <a:gd name="connsiteX0" fmla="*/ 431859 w 2810457"/>
              <a:gd name="connsiteY0" fmla="*/ 50969 h 1563158"/>
              <a:gd name="connsiteX1" fmla="*/ 1298664 w 2810457"/>
              <a:gd name="connsiteY1" fmla="*/ 836750 h 1563158"/>
              <a:gd name="connsiteX2" fmla="*/ 2558975 w 2810457"/>
              <a:gd name="connsiteY2" fmla="*/ 892847 h 1563158"/>
              <a:gd name="connsiteX3" fmla="*/ 2650386 w 2810457"/>
              <a:gd name="connsiteY3" fmla="*/ 1482794 h 1563158"/>
              <a:gd name="connsiteX4" fmla="*/ 791769 w 2810457"/>
              <a:gd name="connsiteY4" fmla="*/ 1413220 h 1563158"/>
              <a:gd name="connsiteX5" fmla="*/ 8538 w 2810457"/>
              <a:gd name="connsiteY5" fmla="*/ 224063 h 1563158"/>
              <a:gd name="connsiteX6" fmla="*/ 431859 w 2810457"/>
              <a:gd name="connsiteY6" fmla="*/ 50969 h 1563158"/>
              <a:gd name="connsiteX0" fmla="*/ 432041 w 2808700"/>
              <a:gd name="connsiteY0" fmla="*/ 47850 h 1560039"/>
              <a:gd name="connsiteX1" fmla="*/ 1341216 w 2808700"/>
              <a:gd name="connsiteY1" fmla="*/ 791516 h 1560039"/>
              <a:gd name="connsiteX2" fmla="*/ 2559157 w 2808700"/>
              <a:gd name="connsiteY2" fmla="*/ 889728 h 1560039"/>
              <a:gd name="connsiteX3" fmla="*/ 2650568 w 2808700"/>
              <a:gd name="connsiteY3" fmla="*/ 1479675 h 1560039"/>
              <a:gd name="connsiteX4" fmla="*/ 791951 w 2808700"/>
              <a:gd name="connsiteY4" fmla="*/ 1410101 h 1560039"/>
              <a:gd name="connsiteX5" fmla="*/ 8720 w 2808700"/>
              <a:gd name="connsiteY5" fmla="*/ 220944 h 1560039"/>
              <a:gd name="connsiteX6" fmla="*/ 432041 w 2808700"/>
              <a:gd name="connsiteY6" fmla="*/ 47850 h 1560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8700" h="1560039">
                <a:moveTo>
                  <a:pt x="432041" y="47850"/>
                </a:moveTo>
                <a:cubicBezTo>
                  <a:pt x="654124" y="142945"/>
                  <a:pt x="986697" y="651203"/>
                  <a:pt x="1341216" y="791516"/>
                </a:cubicBezTo>
                <a:cubicBezTo>
                  <a:pt x="1695735" y="931829"/>
                  <a:pt x="2340932" y="775035"/>
                  <a:pt x="2559157" y="889728"/>
                </a:cubicBezTo>
                <a:cubicBezTo>
                  <a:pt x="2777382" y="1004421"/>
                  <a:pt x="2945102" y="1392946"/>
                  <a:pt x="2650568" y="1479675"/>
                </a:cubicBezTo>
                <a:cubicBezTo>
                  <a:pt x="2356034" y="1566404"/>
                  <a:pt x="1237555" y="1630418"/>
                  <a:pt x="791951" y="1410101"/>
                </a:cubicBezTo>
                <a:cubicBezTo>
                  <a:pt x="346347" y="1189784"/>
                  <a:pt x="68705" y="447986"/>
                  <a:pt x="8720" y="220944"/>
                </a:cubicBezTo>
                <a:cubicBezTo>
                  <a:pt x="-51265" y="-6098"/>
                  <a:pt x="209958" y="-47245"/>
                  <a:pt x="432041" y="47850"/>
                </a:cubicBezTo>
                <a:close/>
              </a:path>
            </a:pathLst>
          </a:custGeom>
          <a:solidFill>
            <a:srgbClr val="F2FBFC"/>
          </a:solidFill>
          <a:ln>
            <a:solidFill>
              <a:srgbClr val="94DAE2"/>
            </a:solidFill>
            <a:prstDash val="dash"/>
          </a:ln>
        </p:spPr>
        <p:txBody>
          <a:bodyPr wrap="square" rtlCol="0" anchor="ctr">
            <a:noAutofit/>
          </a:bodyPr>
          <a:lstStyle/>
          <a:p>
            <a:pPr algn="ctr" defTabSz="914400" fontAlgn="base">
              <a:spcBef>
                <a:spcPct val="0"/>
              </a:spcBef>
              <a:spcAft>
                <a:spcPct val="0"/>
              </a:spcAft>
            </a:pPr>
            <a:endParaRPr lang="zh-CN" altLang="en-US" sz="1200" kern="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endParaRPr>
          </a:p>
        </p:txBody>
      </p:sp>
      <p:sp>
        <p:nvSpPr>
          <p:cNvPr id="94" name="文本框 93"/>
          <p:cNvSpPr txBox="1"/>
          <p:nvPr/>
        </p:nvSpPr>
        <p:spPr bwMode="gray">
          <a:xfrm>
            <a:off x="4332532" y="3715722"/>
            <a:ext cx="756500" cy="812549"/>
          </a:xfrm>
          <a:prstGeom prst="roundRect">
            <a:avLst/>
          </a:prstGeom>
          <a:solidFill>
            <a:schemeClr val="bg1">
              <a:lumMod val="95000"/>
            </a:schemeClr>
          </a:solidFill>
          <a:ln>
            <a:solidFill>
              <a:schemeClr val="bg1">
                <a:lumMod val="65000"/>
              </a:schemeClr>
            </a:solidFill>
            <a:prstDash val="dash"/>
          </a:ln>
        </p:spPr>
        <p:txBody>
          <a:bodyPr wrap="square"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33" name="文本框 32"/>
          <p:cNvSpPr txBox="1"/>
          <p:nvPr/>
        </p:nvSpPr>
        <p:spPr bwMode="gray">
          <a:xfrm rot="2353777">
            <a:off x="1596342" y="4495766"/>
            <a:ext cx="2014270" cy="766781"/>
          </a:xfrm>
          <a:prstGeom prst="ellipse">
            <a:avLst/>
          </a:prstGeom>
          <a:solidFill>
            <a:srgbClr val="F2FBFC"/>
          </a:solidFill>
          <a:ln>
            <a:solidFill>
              <a:srgbClr val="94DAE2"/>
            </a:solidFill>
            <a:prstDash val="dash"/>
          </a:ln>
        </p:spPr>
        <p:txBody>
          <a:bodyPr wrap="square"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32" name="文本框 31"/>
          <p:cNvSpPr txBox="1"/>
          <p:nvPr/>
        </p:nvSpPr>
        <p:spPr bwMode="gray">
          <a:xfrm>
            <a:off x="963022" y="3715722"/>
            <a:ext cx="756500" cy="812549"/>
          </a:xfrm>
          <a:prstGeom prst="roundRect">
            <a:avLst/>
          </a:prstGeom>
          <a:solidFill>
            <a:schemeClr val="bg1">
              <a:lumMod val="95000"/>
            </a:schemeClr>
          </a:solidFill>
          <a:ln>
            <a:solidFill>
              <a:schemeClr val="bg1">
                <a:lumMod val="65000"/>
              </a:schemeClr>
            </a:solidFill>
            <a:prstDash val="dash"/>
          </a:ln>
        </p:spPr>
        <p:txBody>
          <a:bodyPr wrap="square"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a:t>Fabric</a:t>
            </a:r>
            <a:r>
              <a:rPr lang="zh-CN" altLang="en-US"/>
              <a:t>网络服务资源规划</a:t>
            </a:r>
            <a:endParaRPr lang="zh-CN" altLang="en-US" dirty="0"/>
          </a:p>
        </p:txBody>
      </p:sp>
      <p:sp>
        <p:nvSpPr>
          <p:cNvPr id="3" name="文本占位符 2"/>
          <p:cNvSpPr>
            <a:spLocks noGrp="1"/>
          </p:cNvSpPr>
          <p:nvPr>
            <p:ph type="body" sz="quarter" idx="10"/>
          </p:nvPr>
        </p:nvSpPr>
        <p:spPr bwMode="gray">
          <a:xfrm>
            <a:off x="455612" y="1047752"/>
            <a:ext cx="11293475" cy="1355980"/>
          </a:xfrm>
        </p:spPr>
        <p:txBody>
          <a:bodyPr/>
          <a:lstStyle/>
          <a:p>
            <a:r>
              <a:rPr lang="zh-CN" altLang="en-US" sz="1800" dirty="0"/>
              <a:t>在</a:t>
            </a:r>
            <a:r>
              <a:rPr lang="en-US" altLang="zh-CN" sz="1800" dirty="0"/>
              <a:t>Fabric</a:t>
            </a:r>
            <a:r>
              <a:rPr lang="zh-CN" altLang="en-US" sz="1800" dirty="0"/>
              <a:t>的网络服务资源设计中，通过在</a:t>
            </a:r>
            <a:r>
              <a:rPr lang="en-US" altLang="zh-CN" sz="1800" dirty="0"/>
              <a:t>Border</a:t>
            </a:r>
            <a:r>
              <a:rPr lang="zh-CN" altLang="en-US" sz="1800" dirty="0"/>
              <a:t>节点创建网络服务资源，使得园区内部业务终端能够访问网络管理区的服务资源，比如</a:t>
            </a:r>
            <a:r>
              <a:rPr lang="en-US" altLang="zh-CN" sz="1800" dirty="0"/>
              <a:t>DHCP</a:t>
            </a:r>
            <a:r>
              <a:rPr lang="zh-CN" altLang="en-US" sz="1800" dirty="0"/>
              <a:t>服务器、准入服务器等。</a:t>
            </a:r>
          </a:p>
          <a:p>
            <a:r>
              <a:rPr lang="zh-CN" altLang="en-US" sz="1800" dirty="0"/>
              <a:t>网络服务资源根据部署位置不同，在</a:t>
            </a:r>
            <a:r>
              <a:rPr lang="en-US" altLang="zh-CN" sz="1800" dirty="0"/>
              <a:t>Fabric</a:t>
            </a:r>
            <a:r>
              <a:rPr lang="zh-CN" altLang="en-US" sz="1800" dirty="0"/>
              <a:t>中有</a:t>
            </a:r>
            <a:r>
              <a:rPr lang="en-US" altLang="zh-CN" sz="1800" dirty="0"/>
              <a:t>3</a:t>
            </a:r>
            <a:r>
              <a:rPr lang="zh-CN" altLang="en-US" sz="1800" dirty="0"/>
              <a:t>种场景设计模型。</a:t>
            </a:r>
          </a:p>
        </p:txBody>
      </p:sp>
      <p:sp>
        <p:nvSpPr>
          <p:cNvPr id="8" name="圆角矩形 75"/>
          <p:cNvSpPr/>
          <p:nvPr/>
        </p:nvSpPr>
        <p:spPr bwMode="gray">
          <a:xfrm>
            <a:off x="483947" y="2410802"/>
            <a:ext cx="3606361"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直连服务器场景</a:t>
            </a:r>
          </a:p>
        </p:txBody>
      </p:sp>
      <p:sp>
        <p:nvSpPr>
          <p:cNvPr id="9" name="圆角矩形 75"/>
          <p:cNvSpPr/>
          <p:nvPr/>
        </p:nvSpPr>
        <p:spPr bwMode="gray">
          <a:xfrm>
            <a:off x="483947" y="2804786"/>
            <a:ext cx="3606361" cy="3175840"/>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 name="矩形 9"/>
          <p:cNvSpPr/>
          <p:nvPr/>
        </p:nvSpPr>
        <p:spPr bwMode="gray">
          <a:xfrm>
            <a:off x="483947" y="2813149"/>
            <a:ext cx="3606361" cy="615851"/>
          </a:xfrm>
          <a:prstGeom prst="rect">
            <a:avLst/>
          </a:prstGeom>
          <a:ln>
            <a:noFill/>
          </a:ln>
        </p:spPr>
        <p:txBody>
          <a:bodyPr wrap="square">
            <a:noAutofit/>
          </a:bodyPr>
          <a:lstStyle/>
          <a:p>
            <a:pPr>
              <a:lnSpc>
                <a:spcPts val="2200"/>
              </a:lnSpc>
              <a:spcAft>
                <a:spcPts val="600"/>
              </a:spcAft>
              <a:buSzPct val="60000"/>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与网络服务资源直连，</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将互联端口以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Untagged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方式加入互联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1" name="圆角矩形 75"/>
          <p:cNvSpPr/>
          <p:nvPr/>
        </p:nvSpPr>
        <p:spPr bwMode="gray">
          <a:xfrm>
            <a:off x="4202174" y="2403731"/>
            <a:ext cx="3771435"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直连交换机场景</a:t>
            </a:r>
            <a:endParaRPr 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75"/>
          <p:cNvSpPr/>
          <p:nvPr/>
        </p:nvSpPr>
        <p:spPr bwMode="gray">
          <a:xfrm>
            <a:off x="4202174" y="2797715"/>
            <a:ext cx="3771435" cy="3175840"/>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圆角矩形 75"/>
          <p:cNvSpPr/>
          <p:nvPr/>
        </p:nvSpPr>
        <p:spPr bwMode="gray">
          <a:xfrm>
            <a:off x="8091509" y="2410802"/>
            <a:ext cx="3657579"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服务器部署在远端场景</a:t>
            </a:r>
          </a:p>
        </p:txBody>
      </p:sp>
      <p:sp>
        <p:nvSpPr>
          <p:cNvPr id="15" name="圆角矩形 75"/>
          <p:cNvSpPr/>
          <p:nvPr/>
        </p:nvSpPr>
        <p:spPr bwMode="gray">
          <a:xfrm>
            <a:off x="8091509" y="2804786"/>
            <a:ext cx="3657579" cy="3175840"/>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矩形 16"/>
          <p:cNvSpPr/>
          <p:nvPr/>
        </p:nvSpPr>
        <p:spPr bwMode="gray">
          <a:xfrm>
            <a:off x="4212991" y="2813149"/>
            <a:ext cx="3760617" cy="903189"/>
          </a:xfrm>
          <a:prstGeom prst="rect">
            <a:avLst/>
          </a:prstGeom>
          <a:ln>
            <a:noFill/>
          </a:ln>
        </p:spPr>
        <p:txBody>
          <a:bodyPr wrap="square">
            <a:noAutofit/>
          </a:bodyPr>
          <a:lstStyle/>
          <a:p>
            <a:pPr>
              <a:lnSpc>
                <a:spcPts val="2200"/>
              </a:lnSpc>
              <a:spcAft>
                <a:spcPts val="600"/>
              </a:spcAft>
              <a:buSzPct val="60000"/>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通过交换机与网络服务资源相连，</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将互联端口以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Tagged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方式加入互联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8" name="矩形 17"/>
          <p:cNvSpPr/>
          <p:nvPr/>
        </p:nvSpPr>
        <p:spPr bwMode="gray">
          <a:xfrm>
            <a:off x="8091510" y="2813149"/>
            <a:ext cx="3657578" cy="357197"/>
          </a:xfrm>
          <a:prstGeom prst="rect">
            <a:avLst/>
          </a:prstGeom>
          <a:ln>
            <a:noFill/>
          </a:ln>
        </p:spPr>
        <p:txBody>
          <a:bodyPr wrap="square">
            <a:noAutofit/>
          </a:bodyPr>
          <a:lstStyle/>
          <a:p>
            <a:pPr>
              <a:lnSpc>
                <a:spcPts val="2200"/>
              </a:lnSpc>
              <a:spcAft>
                <a:spcPts val="600"/>
              </a:spcAft>
              <a:buSzPct val="60000"/>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通过外部网络与网络服务资源相连。</a:t>
            </a:r>
          </a:p>
        </p:txBody>
      </p:sp>
      <p:pic>
        <p:nvPicPr>
          <p:cNvPr id="20" name="图片 72" descr="交换机.png"/>
          <p:cNvPicPr>
            <a:picLocks noChangeAspect="1"/>
          </p:cNvPicPr>
          <p:nvPr/>
        </p:nvPicPr>
        <p:blipFill>
          <a:blip r:embed="rId3" cstate="print"/>
          <a:stretch>
            <a:fillRect/>
          </a:stretch>
        </p:blipFill>
        <p:spPr bwMode="gray">
          <a:xfrm>
            <a:off x="2741018" y="5080059"/>
            <a:ext cx="403462" cy="331200"/>
          </a:xfrm>
          <a:prstGeom prst="rect">
            <a:avLst/>
          </a:prstGeom>
        </p:spPr>
      </p:pic>
      <p:cxnSp>
        <p:nvCxnSpPr>
          <p:cNvPr id="22" name="直接箭头连接符 21"/>
          <p:cNvCxnSpPr>
            <a:endCxn id="20" idx="1"/>
          </p:cNvCxnSpPr>
          <p:nvPr/>
        </p:nvCxnSpPr>
        <p:spPr bwMode="gray">
          <a:xfrm>
            <a:off x="1721749" y="4177387"/>
            <a:ext cx="1019269" cy="1068272"/>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bwMode="gray">
          <a:xfrm>
            <a:off x="998820" y="4004225"/>
            <a:ext cx="500458" cy="276999"/>
          </a:xfrm>
          <a:prstGeom prst="rect">
            <a:avLst/>
          </a:prstGeom>
          <a:noFill/>
        </p:spPr>
        <p:txBody>
          <a:bodyPr wrap="none" rtlCol="0">
            <a:spAutoFit/>
          </a:bodyPr>
          <a:lstStyle/>
          <a:p>
            <a:pPr font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VN1</a:t>
            </a:r>
          </a:p>
        </p:txBody>
      </p:sp>
      <p:sp>
        <p:nvSpPr>
          <p:cNvPr id="29" name="文本框 28"/>
          <p:cNvSpPr txBox="1"/>
          <p:nvPr/>
        </p:nvSpPr>
        <p:spPr bwMode="gray">
          <a:xfrm>
            <a:off x="1383108" y="3746500"/>
            <a:ext cx="651140"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30" name="文本框 29"/>
          <p:cNvSpPr txBox="1"/>
          <p:nvPr/>
        </p:nvSpPr>
        <p:spPr bwMode="gray">
          <a:xfrm>
            <a:off x="2383141" y="5398454"/>
            <a:ext cx="1119217" cy="276999"/>
          </a:xfrm>
          <a:prstGeom prst="rect">
            <a:avLst/>
          </a:prstGeom>
          <a:noFill/>
        </p:spPr>
        <p:txBody>
          <a:bodyPr wrap="none" rtlCol="0">
            <a:spAutoFit/>
          </a:bodyPr>
          <a:lstStyle/>
          <a:p>
            <a:pPr algn="ctr" font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sp>
        <p:nvSpPr>
          <p:cNvPr id="54" name="椭圆 53"/>
          <p:cNvSpPr/>
          <p:nvPr/>
        </p:nvSpPr>
        <p:spPr bwMode="gray">
          <a:xfrm>
            <a:off x="618697" y="5690338"/>
            <a:ext cx="144000" cy="144000"/>
          </a:xfrm>
          <a:prstGeom prst="ellipse">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bwMode="gray">
          <a:xfrm>
            <a:off x="732718" y="5623181"/>
            <a:ext cx="793807"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Access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椭圆 56"/>
          <p:cNvSpPr/>
          <p:nvPr/>
        </p:nvSpPr>
        <p:spPr bwMode="gray">
          <a:xfrm>
            <a:off x="4545626" y="5690338"/>
            <a:ext cx="144000" cy="144000"/>
          </a:xfrm>
          <a:prstGeom prst="ellipse">
            <a:avLst/>
          </a:prstGeom>
          <a:solidFill>
            <a:srgbClr val="C7000B"/>
          </a:solidFill>
          <a:ln>
            <a:solidFill>
              <a:srgbClr val="F289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bwMode="gray">
          <a:xfrm>
            <a:off x="4659647" y="5623181"/>
            <a:ext cx="744114"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Trunk</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五边形 85"/>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87" name="燕尾形 86"/>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8" name="图片 8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43246" y="3980672"/>
            <a:ext cx="399007" cy="327186"/>
          </a:xfrm>
          <a:prstGeom prst="rect">
            <a:avLst/>
          </a:prstGeom>
        </p:spPr>
      </p:pic>
      <p:cxnSp>
        <p:nvCxnSpPr>
          <p:cNvPr id="89" name="直接箭头连接符 88"/>
          <p:cNvCxnSpPr>
            <a:stCxn id="19" idx="3"/>
            <a:endCxn id="88" idx="1"/>
          </p:cNvCxnSpPr>
          <p:nvPr/>
        </p:nvCxnSpPr>
        <p:spPr bwMode="gray">
          <a:xfrm>
            <a:off x="1911077" y="4144265"/>
            <a:ext cx="832169" cy="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bwMode="gray">
          <a:xfrm>
            <a:off x="2676165" y="3746500"/>
            <a:ext cx="533168" cy="276999"/>
          </a:xfrm>
          <a:prstGeom prst="rect">
            <a:avLst/>
          </a:prstGeom>
          <a:noFill/>
        </p:spPr>
        <p:txBody>
          <a:bodyPr wrap="square" rtlCol="0">
            <a:spAutoFit/>
          </a:bodyPr>
          <a:lstStyle/>
          <a:p>
            <a:pPr algn="ct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图片 86" descr="核心交换机.png"/>
          <p:cNvPicPr>
            <a:picLocks noChangeAspect="1"/>
          </p:cNvPicPr>
          <p:nvPr/>
        </p:nvPicPr>
        <p:blipFill>
          <a:blip r:embed="rId5"/>
          <a:stretch>
            <a:fillRect/>
          </a:stretch>
        </p:blipFill>
        <p:spPr bwMode="gray">
          <a:xfrm>
            <a:off x="1506279" y="3978665"/>
            <a:ext cx="404798" cy="331200"/>
          </a:xfrm>
          <a:prstGeom prst="rect">
            <a:avLst/>
          </a:prstGeom>
        </p:spPr>
      </p:pic>
      <p:sp>
        <p:nvSpPr>
          <p:cNvPr id="53" name="椭圆 52"/>
          <p:cNvSpPr/>
          <p:nvPr/>
        </p:nvSpPr>
        <p:spPr bwMode="gray">
          <a:xfrm>
            <a:off x="1804420" y="4232764"/>
            <a:ext cx="144000" cy="144000"/>
          </a:xfrm>
          <a:prstGeom prst="ellipse">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1" name="图片 86" descr="核心交换机.png"/>
          <p:cNvPicPr>
            <a:picLocks noChangeAspect="1"/>
          </p:cNvPicPr>
          <p:nvPr/>
        </p:nvPicPr>
        <p:blipFill>
          <a:blip r:embed="rId5"/>
          <a:stretch>
            <a:fillRect/>
          </a:stretch>
        </p:blipFill>
        <p:spPr bwMode="gray">
          <a:xfrm>
            <a:off x="6110528" y="5080059"/>
            <a:ext cx="404798" cy="331200"/>
          </a:xfrm>
          <a:prstGeom prst="rect">
            <a:avLst/>
          </a:prstGeom>
        </p:spPr>
      </p:pic>
      <p:sp>
        <p:nvSpPr>
          <p:cNvPr id="92" name="文本框 91"/>
          <p:cNvSpPr txBox="1"/>
          <p:nvPr/>
        </p:nvSpPr>
        <p:spPr bwMode="gray">
          <a:xfrm>
            <a:off x="5897521" y="5398454"/>
            <a:ext cx="829476" cy="461665"/>
          </a:xfrm>
          <a:prstGeom prst="rect">
            <a:avLst/>
          </a:prstGeom>
          <a:noFill/>
        </p:spPr>
        <p:txBody>
          <a:bodyPr wrap="square" rtlCol="0">
            <a:spAutoFit/>
          </a:bodyPr>
          <a:lstStyle/>
          <a:p>
            <a:pPr algn="ct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网络管理区网关</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bwMode="gray">
          <a:xfrm rot="2849281">
            <a:off x="1873793" y="4576917"/>
            <a:ext cx="1107996" cy="276999"/>
          </a:xfrm>
          <a:prstGeom prst="rect">
            <a:avLst/>
          </a:prstGeom>
          <a:noFill/>
        </p:spPr>
        <p:txBody>
          <a:bodyPr wrap="none" rtlCol="0">
            <a:spAutoFit/>
          </a:bodyPr>
          <a:lstStyle/>
          <a:p>
            <a:pPr font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网络服务资源</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6" name="直接箭头连接符 95"/>
          <p:cNvCxnSpPr>
            <a:endCxn id="91" idx="1"/>
          </p:cNvCxnSpPr>
          <p:nvPr/>
        </p:nvCxnSpPr>
        <p:spPr bwMode="gray">
          <a:xfrm>
            <a:off x="5091259" y="4177387"/>
            <a:ext cx="1019269" cy="1068272"/>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7" name="文本框 96"/>
          <p:cNvSpPr txBox="1"/>
          <p:nvPr/>
        </p:nvSpPr>
        <p:spPr bwMode="gray">
          <a:xfrm>
            <a:off x="4368330" y="4004225"/>
            <a:ext cx="500458" cy="276999"/>
          </a:xfrm>
          <a:prstGeom prst="rect">
            <a:avLst/>
          </a:prstGeom>
          <a:noFill/>
        </p:spPr>
        <p:txBody>
          <a:bodyPr wrap="none" rtlCol="0">
            <a:spAutoFit/>
          </a:bodyPr>
          <a:lstStyle/>
          <a:p>
            <a:pPr font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VN1</a:t>
            </a:r>
          </a:p>
        </p:txBody>
      </p:sp>
      <p:sp>
        <p:nvSpPr>
          <p:cNvPr id="98" name="文本框 97"/>
          <p:cNvSpPr txBox="1"/>
          <p:nvPr/>
        </p:nvSpPr>
        <p:spPr bwMode="gray">
          <a:xfrm>
            <a:off x="4752618" y="3746500"/>
            <a:ext cx="651140"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99" name="文本框 98"/>
          <p:cNvSpPr txBox="1"/>
          <p:nvPr/>
        </p:nvSpPr>
        <p:spPr bwMode="gray">
          <a:xfrm>
            <a:off x="6767965" y="5398454"/>
            <a:ext cx="1119217" cy="276999"/>
          </a:xfrm>
          <a:prstGeom prst="rect">
            <a:avLst/>
          </a:prstGeom>
          <a:noFill/>
        </p:spPr>
        <p:txBody>
          <a:bodyPr wrap="none" rtlCol="0">
            <a:spAutoFit/>
          </a:bodyPr>
          <a:lstStyle/>
          <a:p>
            <a:pPr algn="ctr" font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pic>
        <p:nvPicPr>
          <p:cNvPr id="100" name="图片 9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112756" y="3980672"/>
            <a:ext cx="399007" cy="327186"/>
          </a:xfrm>
          <a:prstGeom prst="rect">
            <a:avLst/>
          </a:prstGeom>
        </p:spPr>
      </p:pic>
      <p:cxnSp>
        <p:nvCxnSpPr>
          <p:cNvPr id="101" name="直接箭头连接符 100"/>
          <p:cNvCxnSpPr>
            <a:stCxn id="103" idx="3"/>
            <a:endCxn id="100" idx="1"/>
          </p:cNvCxnSpPr>
          <p:nvPr/>
        </p:nvCxnSpPr>
        <p:spPr bwMode="gray">
          <a:xfrm>
            <a:off x="5280587" y="4144265"/>
            <a:ext cx="832169" cy="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bwMode="gray">
          <a:xfrm>
            <a:off x="6045675" y="3746068"/>
            <a:ext cx="533168" cy="276999"/>
          </a:xfrm>
          <a:prstGeom prst="rect">
            <a:avLst/>
          </a:prstGeom>
          <a:noFill/>
        </p:spPr>
        <p:txBody>
          <a:bodyPr wrap="square" rtlCol="0">
            <a:spAutoFit/>
          </a:bodyPr>
          <a:lstStyle/>
          <a:p>
            <a:pPr algn="ct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86" descr="核心交换机.png"/>
          <p:cNvPicPr>
            <a:picLocks noChangeAspect="1"/>
          </p:cNvPicPr>
          <p:nvPr/>
        </p:nvPicPr>
        <p:blipFill>
          <a:blip r:embed="rId5"/>
          <a:stretch>
            <a:fillRect/>
          </a:stretch>
        </p:blipFill>
        <p:spPr bwMode="gray">
          <a:xfrm>
            <a:off x="4875789" y="3978665"/>
            <a:ext cx="404798" cy="331200"/>
          </a:xfrm>
          <a:prstGeom prst="rect">
            <a:avLst/>
          </a:prstGeom>
        </p:spPr>
      </p:pic>
      <p:sp>
        <p:nvSpPr>
          <p:cNvPr id="104" name="椭圆 103"/>
          <p:cNvSpPr/>
          <p:nvPr/>
        </p:nvSpPr>
        <p:spPr bwMode="gray">
          <a:xfrm>
            <a:off x="5173930" y="4232764"/>
            <a:ext cx="144000" cy="144000"/>
          </a:xfrm>
          <a:prstGeom prst="ellipse">
            <a:avLst/>
          </a:prstGeom>
          <a:solidFill>
            <a:srgbClr val="C7000B"/>
          </a:solidFill>
          <a:ln>
            <a:solidFill>
              <a:srgbClr val="F289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bwMode="gray">
          <a:xfrm rot="2849281">
            <a:off x="5243303" y="4576917"/>
            <a:ext cx="1107996" cy="276999"/>
          </a:xfrm>
          <a:prstGeom prst="rect">
            <a:avLst/>
          </a:prstGeom>
          <a:noFill/>
        </p:spPr>
        <p:txBody>
          <a:bodyPr wrap="none" rtlCol="0">
            <a:spAutoFit/>
          </a:bodyPr>
          <a:lstStyle/>
          <a:p>
            <a:pPr font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网络服务资源</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6" name="图片 72" descr="交换机.png"/>
          <p:cNvPicPr>
            <a:picLocks noChangeAspect="1"/>
          </p:cNvPicPr>
          <p:nvPr/>
        </p:nvPicPr>
        <p:blipFill>
          <a:blip r:embed="rId3" cstate="print"/>
          <a:stretch>
            <a:fillRect/>
          </a:stretch>
        </p:blipFill>
        <p:spPr bwMode="gray">
          <a:xfrm>
            <a:off x="7125843" y="5080059"/>
            <a:ext cx="403462" cy="331200"/>
          </a:xfrm>
          <a:prstGeom prst="rect">
            <a:avLst/>
          </a:prstGeom>
        </p:spPr>
      </p:pic>
      <p:cxnSp>
        <p:nvCxnSpPr>
          <p:cNvPr id="107" name="直接箭头连接符 106"/>
          <p:cNvCxnSpPr>
            <a:stCxn id="91" idx="3"/>
            <a:endCxn id="106" idx="1"/>
          </p:cNvCxnSpPr>
          <p:nvPr/>
        </p:nvCxnSpPr>
        <p:spPr bwMode="gray">
          <a:xfrm>
            <a:off x="6515326" y="5245659"/>
            <a:ext cx="610517" cy="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bwMode="gray">
          <a:xfrm>
            <a:off x="8231681" y="3560232"/>
            <a:ext cx="756500" cy="968040"/>
          </a:xfrm>
          <a:prstGeom prst="roundRect">
            <a:avLst/>
          </a:prstGeom>
          <a:solidFill>
            <a:schemeClr val="bg1">
              <a:lumMod val="95000"/>
            </a:schemeClr>
          </a:solidFill>
          <a:ln>
            <a:solidFill>
              <a:schemeClr val="bg1">
                <a:lumMod val="65000"/>
              </a:schemeClr>
            </a:solidFill>
            <a:prstDash val="dash"/>
          </a:ln>
        </p:spPr>
        <p:txBody>
          <a:bodyPr wrap="square"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12" name="文本框 111"/>
          <p:cNvSpPr txBox="1"/>
          <p:nvPr/>
        </p:nvSpPr>
        <p:spPr bwMode="gray">
          <a:xfrm>
            <a:off x="8267479" y="4004225"/>
            <a:ext cx="500458" cy="276999"/>
          </a:xfrm>
          <a:prstGeom prst="rect">
            <a:avLst/>
          </a:prstGeom>
          <a:noFill/>
        </p:spPr>
        <p:txBody>
          <a:bodyPr wrap="none" rtlCol="0">
            <a:spAutoFit/>
          </a:bodyPr>
          <a:lstStyle/>
          <a:p>
            <a:pPr font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VN1</a:t>
            </a:r>
          </a:p>
        </p:txBody>
      </p:sp>
      <p:sp>
        <p:nvSpPr>
          <p:cNvPr id="113" name="文本框 112"/>
          <p:cNvSpPr txBox="1"/>
          <p:nvPr/>
        </p:nvSpPr>
        <p:spPr bwMode="gray">
          <a:xfrm>
            <a:off x="8651767" y="3746500"/>
            <a:ext cx="651140"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Border</a:t>
            </a:r>
          </a:p>
        </p:txBody>
      </p:sp>
      <p:pic>
        <p:nvPicPr>
          <p:cNvPr id="114" name="图片 11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0011905" y="3977442"/>
            <a:ext cx="399007" cy="327186"/>
          </a:xfrm>
          <a:prstGeom prst="rect">
            <a:avLst/>
          </a:prstGeom>
        </p:spPr>
      </p:pic>
      <p:cxnSp>
        <p:nvCxnSpPr>
          <p:cNvPr id="115" name="直接箭头连接符 114"/>
          <p:cNvCxnSpPr>
            <a:stCxn id="117" idx="3"/>
            <a:endCxn id="114" idx="1"/>
          </p:cNvCxnSpPr>
          <p:nvPr/>
        </p:nvCxnSpPr>
        <p:spPr bwMode="gray">
          <a:xfrm>
            <a:off x="9179736" y="4141035"/>
            <a:ext cx="832169" cy="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6" name="文本框 115"/>
          <p:cNvSpPr txBox="1"/>
          <p:nvPr/>
        </p:nvSpPr>
        <p:spPr bwMode="gray">
          <a:xfrm>
            <a:off x="9944824" y="3746500"/>
            <a:ext cx="533168" cy="276999"/>
          </a:xfrm>
          <a:prstGeom prst="rect">
            <a:avLst/>
          </a:prstGeom>
          <a:noFill/>
        </p:spPr>
        <p:txBody>
          <a:bodyPr wrap="square" rtlCol="0">
            <a:spAutoFit/>
          </a:bodyPr>
          <a:lstStyle/>
          <a:p>
            <a:pPr algn="ct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7" name="图片 86" descr="核心交换机.png"/>
          <p:cNvPicPr>
            <a:picLocks noChangeAspect="1"/>
          </p:cNvPicPr>
          <p:nvPr/>
        </p:nvPicPr>
        <p:blipFill>
          <a:blip r:embed="rId5"/>
          <a:stretch>
            <a:fillRect/>
          </a:stretch>
        </p:blipFill>
        <p:spPr bwMode="gray">
          <a:xfrm>
            <a:off x="8774938" y="3975435"/>
            <a:ext cx="404798" cy="331200"/>
          </a:xfrm>
          <a:prstGeom prst="rect">
            <a:avLst/>
          </a:prstGeom>
        </p:spPr>
      </p:pic>
      <p:sp>
        <p:nvSpPr>
          <p:cNvPr id="118" name="文本框 117"/>
          <p:cNvSpPr txBox="1"/>
          <p:nvPr/>
        </p:nvSpPr>
        <p:spPr bwMode="gray">
          <a:xfrm>
            <a:off x="10646879" y="4290601"/>
            <a:ext cx="1119217" cy="276999"/>
          </a:xfrm>
          <a:prstGeom prst="rect">
            <a:avLst/>
          </a:prstGeom>
          <a:noFill/>
        </p:spPr>
        <p:txBody>
          <a:bodyPr wrap="none" rtlCol="0">
            <a:spAutoFit/>
          </a:bodyPr>
          <a:lstStyle/>
          <a:p>
            <a:pPr algn="ctr" font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pic>
        <p:nvPicPr>
          <p:cNvPr id="119" name="图片 72" descr="交换机.png"/>
          <p:cNvPicPr>
            <a:picLocks noChangeAspect="1"/>
          </p:cNvPicPr>
          <p:nvPr/>
        </p:nvPicPr>
        <p:blipFill>
          <a:blip r:embed="rId3" cstate="print"/>
          <a:stretch>
            <a:fillRect/>
          </a:stretch>
        </p:blipFill>
        <p:spPr bwMode="gray">
          <a:xfrm>
            <a:off x="11004757" y="3975435"/>
            <a:ext cx="403462" cy="331200"/>
          </a:xfrm>
          <a:prstGeom prst="rect">
            <a:avLst/>
          </a:prstGeom>
        </p:spPr>
      </p:pic>
      <p:cxnSp>
        <p:nvCxnSpPr>
          <p:cNvPr id="120" name="直接箭头连接符 119"/>
          <p:cNvCxnSpPr>
            <a:stCxn id="114" idx="3"/>
            <a:endCxn id="119" idx="1"/>
          </p:cNvCxnSpPr>
          <p:nvPr/>
        </p:nvCxnSpPr>
        <p:spPr bwMode="gray">
          <a:xfrm>
            <a:off x="10410912" y="4141035"/>
            <a:ext cx="593845" cy="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bwMode="gray">
          <a:xfrm>
            <a:off x="9129706" y="3560231"/>
            <a:ext cx="1787669" cy="276999"/>
          </a:xfrm>
          <a:prstGeom prst="rect">
            <a:avLst/>
          </a:prstGeom>
          <a:noFill/>
        </p:spPr>
        <p:txBody>
          <a:bodyPr wrap="none" rtlCol="0">
            <a:spAutoFit/>
          </a:bodyPr>
          <a:lstStyle/>
          <a:p>
            <a:pPr font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外部网络</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网络服务资源</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120377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Fabric</a:t>
            </a:r>
            <a:r>
              <a:rPr lang="zh-CN" altLang="en-US" dirty="0"/>
              <a:t>接入管理设计</a:t>
            </a:r>
          </a:p>
        </p:txBody>
      </p:sp>
      <p:sp>
        <p:nvSpPr>
          <p:cNvPr id="3" name="文本占位符 2"/>
          <p:cNvSpPr>
            <a:spLocks noGrp="1"/>
          </p:cNvSpPr>
          <p:nvPr>
            <p:ph type="body" sz="quarter" idx="10"/>
          </p:nvPr>
        </p:nvSpPr>
        <p:spPr bwMode="gray">
          <a:xfrm>
            <a:off x="455612" y="1047750"/>
            <a:ext cx="11293475" cy="1795643"/>
          </a:xfrm>
        </p:spPr>
        <p:txBody>
          <a:bodyPr/>
          <a:lstStyle/>
          <a:p>
            <a:r>
              <a:rPr lang="zh-CN" altLang="en-US" sz="1800" dirty="0"/>
              <a:t>创建</a:t>
            </a:r>
            <a:r>
              <a:rPr lang="en-US" altLang="zh-CN" sz="1800" dirty="0"/>
              <a:t>Fabric</a:t>
            </a:r>
            <a:r>
              <a:rPr lang="zh-CN" altLang="en-US" sz="1800" dirty="0"/>
              <a:t>过程中，需要对用户接入的认证控制点进行设计，包括接入点资源池规划，其中，有线接入点资源指的是终端接入的交换机端口，无线接入点资源指的是终端接入的</a:t>
            </a:r>
            <a:r>
              <a:rPr lang="en-US" altLang="zh-CN" sz="1800" dirty="0"/>
              <a:t>SSID</a:t>
            </a:r>
            <a:r>
              <a:rPr lang="zh-CN" altLang="en-US" sz="1800" dirty="0"/>
              <a:t>。在集中式网关方案中：</a:t>
            </a:r>
          </a:p>
          <a:p>
            <a:pPr lvl="1"/>
            <a:r>
              <a:rPr lang="zh-CN" altLang="en-US" sz="1600" dirty="0"/>
              <a:t>有线用户接入认证控制点建议部署在</a:t>
            </a:r>
            <a:r>
              <a:rPr lang="en-US" altLang="zh-CN" sz="1600" dirty="0"/>
              <a:t>Edge</a:t>
            </a:r>
            <a:r>
              <a:rPr lang="zh-CN" altLang="en-US" sz="1600" dirty="0"/>
              <a:t>，在</a:t>
            </a:r>
            <a:r>
              <a:rPr lang="en-US" altLang="zh-CN" sz="1600" dirty="0"/>
              <a:t>Fabric</a:t>
            </a:r>
            <a:r>
              <a:rPr lang="zh-CN" altLang="en-US" sz="1600" dirty="0"/>
              <a:t>接入管理中进行设计规划。</a:t>
            </a:r>
          </a:p>
          <a:p>
            <a:pPr lvl="1"/>
            <a:r>
              <a:rPr lang="zh-CN" altLang="en-US" sz="1600" dirty="0"/>
              <a:t>无线用户接入认证控制点部署在</a:t>
            </a:r>
            <a:r>
              <a:rPr lang="en-US" altLang="zh-CN" sz="1600" dirty="0"/>
              <a:t>AC</a:t>
            </a:r>
            <a:r>
              <a:rPr lang="zh-CN" altLang="en-US" sz="1600" dirty="0"/>
              <a:t>，认证控制点的设计规划取决于</a:t>
            </a:r>
            <a:r>
              <a:rPr lang="en-US" altLang="zh-CN" sz="1600" dirty="0"/>
              <a:t>AC</a:t>
            </a:r>
            <a:r>
              <a:rPr lang="zh-CN" altLang="en-US" sz="1600" dirty="0"/>
              <a:t>的类型。</a:t>
            </a:r>
          </a:p>
          <a:p>
            <a:endParaRPr lang="zh-CN" altLang="en-US" sz="1800" dirty="0"/>
          </a:p>
        </p:txBody>
      </p:sp>
      <p:grpSp>
        <p:nvGrpSpPr>
          <p:cNvPr id="101" name="组合 100"/>
          <p:cNvGrpSpPr/>
          <p:nvPr/>
        </p:nvGrpSpPr>
        <p:grpSpPr>
          <a:xfrm>
            <a:off x="692621" y="2830135"/>
            <a:ext cx="5181097" cy="2707243"/>
            <a:chOff x="485257" y="2980323"/>
            <a:chExt cx="5181097" cy="2707243"/>
          </a:xfrm>
        </p:grpSpPr>
        <p:sp>
          <p:nvSpPr>
            <p:cNvPr id="69" name="矩形 68"/>
            <p:cNvSpPr/>
            <p:nvPr/>
          </p:nvSpPr>
          <p:spPr bwMode="gray">
            <a:xfrm>
              <a:off x="4843763" y="4655617"/>
              <a:ext cx="612434" cy="404408"/>
            </a:xfrm>
            <a:prstGeom prst="rect">
              <a:avLst/>
            </a:prstGeom>
            <a:solidFill>
              <a:srgbClr val="E7F3E1"/>
            </a:solidFill>
            <a:ln w="12700">
              <a:solidFill>
                <a:srgbClr val="62B23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bwMode="gray">
            <a:xfrm>
              <a:off x="3069738" y="5283158"/>
              <a:ext cx="612434" cy="404408"/>
            </a:xfrm>
            <a:prstGeom prst="rect">
              <a:avLst/>
            </a:prstGeom>
            <a:solidFill>
              <a:srgbClr val="E7F3E1"/>
            </a:solidFill>
            <a:ln w="12700">
              <a:solidFill>
                <a:srgbClr val="62B23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bwMode="gray">
            <a:xfrm>
              <a:off x="4106069" y="4655617"/>
              <a:ext cx="612434" cy="404408"/>
            </a:xfrm>
            <a:prstGeom prst="rect">
              <a:avLst/>
            </a:prstGeom>
            <a:solidFill>
              <a:srgbClr val="FCE1D0"/>
            </a:solidFill>
            <a:ln w="12700">
              <a:solidFill>
                <a:srgbClr val="ED6D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bwMode="gray">
            <a:xfrm>
              <a:off x="2322519" y="5283158"/>
              <a:ext cx="612434" cy="404408"/>
            </a:xfrm>
            <a:prstGeom prst="rect">
              <a:avLst/>
            </a:prstGeom>
            <a:solidFill>
              <a:srgbClr val="FCE1D0"/>
            </a:solidFill>
            <a:ln w="12700">
              <a:solidFill>
                <a:srgbClr val="ED6D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bwMode="gray">
            <a:xfrm>
              <a:off x="2698050" y="4655617"/>
              <a:ext cx="612434" cy="404408"/>
            </a:xfrm>
            <a:prstGeom prst="rect">
              <a:avLst/>
            </a:prstGeom>
            <a:solidFill>
              <a:srgbClr val="F8E0E2"/>
            </a:solidFill>
            <a:ln w="12700">
              <a:solidFill>
                <a:srgbClr val="C7000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bwMode="gray">
            <a:xfrm>
              <a:off x="2661568" y="3392564"/>
              <a:ext cx="2450574" cy="791193"/>
            </a:xfrm>
            <a:prstGeom prst="roundRect">
              <a:avLst>
                <a:gd name="adj" fmla="val 9269"/>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Straight Connector 166"/>
            <p:cNvCxnSpPr>
              <a:endCxn id="44" idx="0"/>
            </p:cNvCxnSpPr>
            <p:nvPr/>
          </p:nvCxnSpPr>
          <p:spPr bwMode="gray">
            <a:xfrm flipH="1">
              <a:off x="4410607" y="4183757"/>
              <a:ext cx="384540" cy="51453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166"/>
            <p:cNvCxnSpPr>
              <a:stCxn id="35" idx="2"/>
              <a:endCxn id="37" idx="0"/>
            </p:cNvCxnSpPr>
            <p:nvPr/>
          </p:nvCxnSpPr>
          <p:spPr bwMode="gray">
            <a:xfrm>
              <a:off x="3002587" y="4368441"/>
              <a:ext cx="1" cy="32985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Group 165"/>
            <p:cNvGrpSpPr/>
            <p:nvPr/>
          </p:nvGrpSpPr>
          <p:grpSpPr bwMode="gray">
            <a:xfrm rot="10800000">
              <a:off x="2897179" y="3353092"/>
              <a:ext cx="1987662" cy="998820"/>
              <a:chOff x="-1233037" y="914446"/>
              <a:chExt cx="1573823" cy="778776"/>
            </a:xfrm>
          </p:grpSpPr>
          <p:cxnSp>
            <p:nvCxnSpPr>
              <p:cNvPr id="32" name="Straight Connector 166"/>
              <p:cNvCxnSpPr/>
              <p:nvPr/>
            </p:nvCxnSpPr>
            <p:spPr bwMode="gray">
              <a:xfrm flipH="1" flipV="1">
                <a:off x="-1233037" y="914446"/>
                <a:ext cx="786912" cy="77877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167"/>
              <p:cNvCxnSpPr/>
              <p:nvPr/>
            </p:nvCxnSpPr>
            <p:spPr bwMode="gray">
              <a:xfrm flipV="1">
                <a:off x="-446125" y="914446"/>
                <a:ext cx="786911" cy="778776"/>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34" name="图片 86" descr="核心交换机.png"/>
            <p:cNvPicPr>
              <a:picLocks noChangeAspect="1"/>
            </p:cNvPicPr>
            <p:nvPr/>
          </p:nvPicPr>
          <p:blipFill>
            <a:blip r:embed="rId3"/>
            <a:stretch>
              <a:fillRect/>
            </a:stretch>
          </p:blipFill>
          <p:spPr bwMode="gray">
            <a:xfrm>
              <a:off x="3701572" y="3231649"/>
              <a:ext cx="378876" cy="309991"/>
            </a:xfrm>
            <a:prstGeom prst="rect">
              <a:avLst/>
            </a:prstGeom>
          </p:spPr>
        </p:pic>
        <p:pic>
          <p:nvPicPr>
            <p:cNvPr id="35" name="图片 87" descr="汇聚交换机.png"/>
            <p:cNvPicPr>
              <a:picLocks noChangeAspect="1"/>
            </p:cNvPicPr>
            <p:nvPr/>
          </p:nvPicPr>
          <p:blipFill>
            <a:blip r:embed="rId4"/>
            <a:stretch>
              <a:fillRect/>
            </a:stretch>
          </p:blipFill>
          <p:spPr bwMode="gray">
            <a:xfrm>
              <a:off x="2813149" y="4058450"/>
              <a:ext cx="378876" cy="309991"/>
            </a:xfrm>
            <a:prstGeom prst="rect">
              <a:avLst/>
            </a:prstGeom>
          </p:spPr>
        </p:pic>
        <p:sp>
          <p:nvSpPr>
            <p:cNvPr id="39" name="文本框 38"/>
            <p:cNvSpPr txBox="1"/>
            <p:nvPr/>
          </p:nvSpPr>
          <p:spPr bwMode="gray">
            <a:xfrm>
              <a:off x="3498731" y="3745840"/>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a:sym typeface="Huawei Sans" panose="020C0503030203020204" pitchFamily="34" charset="0"/>
                </a:rPr>
                <a:t>VXLAN</a:t>
              </a:r>
              <a:endParaRPr lang="zh-CN" altLang="en-US">
                <a:sym typeface="Huawei Sans" panose="020C0503030203020204" pitchFamily="34" charset="0"/>
              </a:endParaRPr>
            </a:p>
          </p:txBody>
        </p:sp>
        <p:sp>
          <p:nvSpPr>
            <p:cNvPr id="40" name="文本框 39"/>
            <p:cNvSpPr txBox="1"/>
            <p:nvPr/>
          </p:nvSpPr>
          <p:spPr bwMode="gray">
            <a:xfrm>
              <a:off x="3565439" y="2980323"/>
              <a:ext cx="651139"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2739336" y="3796100"/>
              <a:ext cx="527709"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4515578" y="3796100"/>
              <a:ext cx="527709"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4" name="图片 105" descr="AP.png"/>
            <p:cNvPicPr>
              <a:picLocks noChangeAspect="1"/>
            </p:cNvPicPr>
            <p:nvPr/>
          </p:nvPicPr>
          <p:blipFill>
            <a:blip r:embed="rId5" cstate="print"/>
            <a:stretch>
              <a:fillRect/>
            </a:stretch>
          </p:blipFill>
          <p:spPr bwMode="gray">
            <a:xfrm>
              <a:off x="4226193" y="4698293"/>
              <a:ext cx="368827" cy="301768"/>
            </a:xfrm>
            <a:prstGeom prst="rect">
              <a:avLst/>
            </a:prstGeom>
          </p:spPr>
        </p:pic>
        <p:pic>
          <p:nvPicPr>
            <p:cNvPr id="49" name="图片 11" descr="开放网络-蓝.png"/>
            <p:cNvPicPr>
              <a:picLocks noChangeAspect="1"/>
            </p:cNvPicPr>
            <p:nvPr/>
          </p:nvPicPr>
          <p:blipFill>
            <a:blip r:embed="rId6" cstate="print"/>
            <a:stretch>
              <a:fillRect/>
            </a:stretch>
          </p:blipFill>
          <p:spPr bwMode="gray">
            <a:xfrm>
              <a:off x="3187001" y="5329913"/>
              <a:ext cx="362747" cy="279236"/>
            </a:xfrm>
            <a:prstGeom prst="rect">
              <a:avLst/>
            </a:prstGeom>
          </p:spPr>
        </p:pic>
        <p:pic>
          <p:nvPicPr>
            <p:cNvPr id="51" name="图片 105" descr="AP.png"/>
            <p:cNvPicPr>
              <a:picLocks noChangeAspect="1"/>
            </p:cNvPicPr>
            <p:nvPr/>
          </p:nvPicPr>
          <p:blipFill>
            <a:blip r:embed="rId5" cstate="print"/>
            <a:stretch>
              <a:fillRect/>
            </a:stretch>
          </p:blipFill>
          <p:spPr bwMode="gray">
            <a:xfrm>
              <a:off x="2444322" y="5329913"/>
              <a:ext cx="368827" cy="301768"/>
            </a:xfrm>
            <a:prstGeom prst="rect">
              <a:avLst/>
            </a:prstGeom>
          </p:spPr>
        </p:pic>
        <p:pic>
          <p:nvPicPr>
            <p:cNvPr id="53" name="图片 11" descr="开放网络-蓝.png"/>
            <p:cNvPicPr>
              <a:picLocks noChangeAspect="1"/>
            </p:cNvPicPr>
            <p:nvPr/>
          </p:nvPicPr>
          <p:blipFill>
            <a:blip r:embed="rId6" cstate="print"/>
            <a:stretch>
              <a:fillRect/>
            </a:stretch>
          </p:blipFill>
          <p:spPr bwMode="gray">
            <a:xfrm>
              <a:off x="4963847" y="4698293"/>
              <a:ext cx="362747" cy="279236"/>
            </a:xfrm>
            <a:prstGeom prst="rect">
              <a:avLst/>
            </a:prstGeom>
          </p:spPr>
        </p:pic>
        <p:cxnSp>
          <p:nvCxnSpPr>
            <p:cNvPr id="54" name="Straight Connector 166"/>
            <p:cNvCxnSpPr>
              <a:endCxn id="53" idx="0"/>
            </p:cNvCxnSpPr>
            <p:nvPr/>
          </p:nvCxnSpPr>
          <p:spPr bwMode="gray">
            <a:xfrm>
              <a:off x="4763720" y="4195251"/>
              <a:ext cx="381501" cy="50304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图片 87" descr="汇聚交换机.png"/>
            <p:cNvPicPr>
              <a:picLocks noChangeAspect="1"/>
            </p:cNvPicPr>
            <p:nvPr/>
          </p:nvPicPr>
          <p:blipFill>
            <a:blip r:embed="rId4"/>
            <a:stretch>
              <a:fillRect/>
            </a:stretch>
          </p:blipFill>
          <p:spPr bwMode="gray">
            <a:xfrm>
              <a:off x="4589995" y="4058450"/>
              <a:ext cx="378876" cy="309991"/>
            </a:xfrm>
            <a:prstGeom prst="rect">
              <a:avLst/>
            </a:prstGeom>
          </p:spPr>
        </p:pic>
        <p:cxnSp>
          <p:nvCxnSpPr>
            <p:cNvPr id="61" name="Straight Connector 166"/>
            <p:cNvCxnSpPr>
              <a:endCxn id="51" idx="0"/>
            </p:cNvCxnSpPr>
            <p:nvPr/>
          </p:nvCxnSpPr>
          <p:spPr bwMode="gray">
            <a:xfrm flipH="1">
              <a:off x="2628736" y="4849177"/>
              <a:ext cx="365994" cy="48073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166"/>
            <p:cNvCxnSpPr>
              <a:endCxn id="49" idx="0"/>
            </p:cNvCxnSpPr>
            <p:nvPr/>
          </p:nvCxnSpPr>
          <p:spPr bwMode="gray">
            <a:xfrm>
              <a:off x="2981849" y="4837911"/>
              <a:ext cx="386526" cy="49200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37" name="图片 76" descr="接入交换机.png"/>
            <p:cNvPicPr>
              <a:picLocks noChangeAspect="1"/>
            </p:cNvPicPr>
            <p:nvPr/>
          </p:nvPicPr>
          <p:blipFill>
            <a:blip r:embed="rId7" cstate="print"/>
            <a:stretch>
              <a:fillRect/>
            </a:stretch>
          </p:blipFill>
          <p:spPr bwMode="gray">
            <a:xfrm>
              <a:off x="2818174" y="4698293"/>
              <a:ext cx="368827" cy="301768"/>
            </a:xfrm>
            <a:prstGeom prst="rect">
              <a:avLst/>
            </a:prstGeom>
          </p:spPr>
        </p:pic>
        <p:sp>
          <p:nvSpPr>
            <p:cNvPr id="72" name="矩形 71"/>
            <p:cNvSpPr/>
            <p:nvPr/>
          </p:nvSpPr>
          <p:spPr bwMode="gray">
            <a:xfrm>
              <a:off x="485257" y="4712340"/>
              <a:ext cx="1364588" cy="290962"/>
            </a:xfrm>
            <a:prstGeom prst="rect">
              <a:avLst/>
            </a:prstGeom>
            <a:noFill/>
            <a:ln w="12700">
              <a:solidFill>
                <a:srgbClr val="C7000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Fabric</a:t>
              </a:r>
              <a:r>
                <a:rPr lang="zh-CN" altLang="en-US" sz="1200" dirty="0">
                  <a:solidFill>
                    <a:schemeClr val="tx1"/>
                  </a:solidFill>
                </a:rPr>
                <a:t>扩展交换机</a:t>
              </a:r>
            </a:p>
          </p:txBody>
        </p:sp>
        <p:sp>
          <p:nvSpPr>
            <p:cNvPr id="73" name="矩形 72"/>
            <p:cNvSpPr/>
            <p:nvPr/>
          </p:nvSpPr>
          <p:spPr bwMode="gray">
            <a:xfrm>
              <a:off x="485257" y="5339881"/>
              <a:ext cx="1364588" cy="290962"/>
            </a:xfrm>
            <a:prstGeom prst="rect">
              <a:avLst/>
            </a:prstGeom>
            <a:noFill/>
            <a:ln w="12700">
              <a:solidFill>
                <a:srgbClr val="ED6D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Fabric</a:t>
              </a:r>
              <a:r>
                <a:rPr lang="zh-CN" altLang="en-US" sz="1200" dirty="0">
                  <a:solidFill>
                    <a:schemeClr val="tx1"/>
                  </a:solidFill>
                </a:rPr>
                <a:t>扩展</a:t>
              </a:r>
              <a:r>
                <a:rPr lang="en-US" altLang="zh-CN" sz="1200" dirty="0">
                  <a:solidFill>
                    <a:schemeClr val="tx1"/>
                  </a:solidFill>
                </a:rPr>
                <a:t>AP</a:t>
              </a:r>
              <a:endParaRPr lang="zh-CN" altLang="en-US" sz="1200" dirty="0">
                <a:solidFill>
                  <a:schemeClr val="tx1"/>
                </a:solidFill>
              </a:endParaRPr>
            </a:p>
          </p:txBody>
        </p:sp>
        <p:sp>
          <p:nvSpPr>
            <p:cNvPr id="74" name="矩形 73"/>
            <p:cNvSpPr/>
            <p:nvPr/>
          </p:nvSpPr>
          <p:spPr bwMode="gray">
            <a:xfrm>
              <a:off x="4633605" y="5344005"/>
              <a:ext cx="1032749" cy="290962"/>
            </a:xfrm>
            <a:prstGeom prst="rect">
              <a:avLst/>
            </a:prstGeom>
            <a:noFill/>
            <a:ln w="12700">
              <a:solidFill>
                <a:srgbClr val="62B23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终端</a:t>
              </a:r>
            </a:p>
          </p:txBody>
        </p:sp>
        <p:cxnSp>
          <p:nvCxnSpPr>
            <p:cNvPr id="75" name="Straight Connector 166"/>
            <p:cNvCxnSpPr>
              <a:stCxn id="67" idx="1"/>
              <a:endCxn id="72" idx="3"/>
            </p:cNvCxnSpPr>
            <p:nvPr/>
          </p:nvCxnSpPr>
          <p:spPr bwMode="gray">
            <a:xfrm flipH="1">
              <a:off x="1849845" y="4857821"/>
              <a:ext cx="848205" cy="0"/>
            </a:xfrm>
            <a:prstGeom prst="line">
              <a:avLst/>
            </a:prstGeom>
            <a:solidFill>
              <a:srgbClr val="F8E0E2"/>
            </a:solidFill>
            <a:ln w="12700">
              <a:solidFill>
                <a:srgbClr val="C7000B"/>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166"/>
            <p:cNvCxnSpPr>
              <a:stCxn id="70" idx="1"/>
              <a:endCxn id="73" idx="3"/>
            </p:cNvCxnSpPr>
            <p:nvPr/>
          </p:nvCxnSpPr>
          <p:spPr bwMode="gray">
            <a:xfrm flipH="1">
              <a:off x="1849845" y="5485362"/>
              <a:ext cx="472674" cy="0"/>
            </a:xfrm>
            <a:prstGeom prst="line">
              <a:avLst/>
            </a:prstGeom>
            <a:solidFill>
              <a:srgbClr val="FCE1D0"/>
            </a:solidFill>
            <a:ln w="12700">
              <a:solidFill>
                <a:srgbClr val="ED6D00"/>
              </a:solidFill>
              <a:prstDash val="dashDot"/>
            </a:ln>
          </p:spPr>
          <p:style>
            <a:lnRef idx="2">
              <a:schemeClr val="accent1">
                <a:shade val="50000"/>
              </a:schemeClr>
            </a:lnRef>
            <a:fillRef idx="1">
              <a:schemeClr val="accent1"/>
            </a:fillRef>
            <a:effectRef idx="0">
              <a:schemeClr val="accent1"/>
            </a:effectRef>
            <a:fontRef idx="minor">
              <a:schemeClr val="lt1"/>
            </a:fontRef>
          </p:style>
        </p:cxnSp>
        <p:cxnSp>
          <p:nvCxnSpPr>
            <p:cNvPr id="82" name="肘形连接符 81"/>
            <p:cNvCxnSpPr>
              <a:stCxn id="68" idx="2"/>
              <a:endCxn id="73" idx="0"/>
            </p:cNvCxnSpPr>
            <p:nvPr/>
          </p:nvCxnSpPr>
          <p:spPr bwMode="gray">
            <a:xfrm rot="5400000">
              <a:off x="2649991" y="3577586"/>
              <a:ext cx="279856" cy="3244735"/>
            </a:xfrm>
            <a:prstGeom prst="bentConnector3">
              <a:avLst/>
            </a:prstGeom>
            <a:solidFill>
              <a:srgbClr val="FCE1D0"/>
            </a:solidFill>
            <a:ln w="12700">
              <a:solidFill>
                <a:srgbClr val="ED6D00"/>
              </a:solidFill>
              <a:prstDash val="dashDot"/>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166"/>
            <p:cNvCxnSpPr>
              <a:stCxn id="74" idx="1"/>
              <a:endCxn id="71" idx="3"/>
            </p:cNvCxnSpPr>
            <p:nvPr/>
          </p:nvCxnSpPr>
          <p:spPr bwMode="gray">
            <a:xfrm flipH="1" flipV="1">
              <a:off x="3682172" y="5485362"/>
              <a:ext cx="951433" cy="4124"/>
            </a:xfrm>
            <a:prstGeom prst="line">
              <a:avLst/>
            </a:prstGeom>
            <a:solidFill>
              <a:srgbClr val="E7F3E1"/>
            </a:solidFill>
            <a:ln w="12700">
              <a:solidFill>
                <a:srgbClr val="62B230"/>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166"/>
            <p:cNvCxnSpPr>
              <a:stCxn id="74" idx="0"/>
              <a:endCxn id="69" idx="2"/>
            </p:cNvCxnSpPr>
            <p:nvPr/>
          </p:nvCxnSpPr>
          <p:spPr bwMode="gray">
            <a:xfrm flipV="1">
              <a:off x="5149980" y="5060025"/>
              <a:ext cx="0" cy="283980"/>
            </a:xfrm>
            <a:prstGeom prst="line">
              <a:avLst/>
            </a:prstGeom>
            <a:solidFill>
              <a:srgbClr val="E7F3E1"/>
            </a:solidFill>
            <a:ln w="12700">
              <a:solidFill>
                <a:srgbClr val="62B230"/>
              </a:solidFill>
              <a:prstDash val="solid"/>
            </a:ln>
          </p:spPr>
          <p:style>
            <a:lnRef idx="2">
              <a:schemeClr val="accent1">
                <a:shade val="50000"/>
              </a:schemeClr>
            </a:lnRef>
            <a:fillRef idx="1">
              <a:schemeClr val="accent1"/>
            </a:fillRef>
            <a:effectRef idx="0">
              <a:schemeClr val="accent1"/>
            </a:effectRef>
            <a:fontRef idx="minor">
              <a:schemeClr val="lt1"/>
            </a:fontRef>
          </p:style>
        </p:cxnSp>
      </p:grpSp>
      <p:sp>
        <p:nvSpPr>
          <p:cNvPr id="97" name="圆角矩形 75"/>
          <p:cNvSpPr/>
          <p:nvPr/>
        </p:nvSpPr>
        <p:spPr bwMode="gray">
          <a:xfrm>
            <a:off x="6278530" y="2927134"/>
            <a:ext cx="5191981"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接入端口设计</a:t>
            </a:r>
          </a:p>
        </p:txBody>
      </p:sp>
      <p:sp>
        <p:nvSpPr>
          <p:cNvPr id="98" name="圆角矩形 75"/>
          <p:cNvSpPr/>
          <p:nvPr/>
        </p:nvSpPr>
        <p:spPr bwMode="gray">
          <a:xfrm>
            <a:off x="6278530" y="3321119"/>
            <a:ext cx="5191981" cy="2339933"/>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marL="171450" indent="-171450" defTabSz="914400">
              <a:lnSpc>
                <a:spcPct val="150000"/>
              </a:lnSpc>
              <a:spcAft>
                <a:spcPts val="600"/>
              </a:spcAft>
              <a:buSzPct val="100000"/>
              <a:buFont typeface="Arial" panose="020B0604020202020204" pitchFamily="34" charset="0"/>
              <a:buChar cha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接入管理中，对交换机的接入端口定义了</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种连接类型：</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spcAft>
                <a:spcPts val="600"/>
              </a:spcAft>
              <a:buSzPct val="100000"/>
              <a:buFont typeface="Huawei Sans" panose="020C0503030203020204" pitchFamily="34" charset="0"/>
              <a:buChar cha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扩展</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：下挂设备为华为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，运行在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FIT AP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模式。</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spcAft>
                <a:spcPts val="600"/>
              </a:spcAft>
              <a:buSzPct val="100000"/>
              <a:buFont typeface="Huawei Sans" panose="020C0503030203020204" pitchFamily="34" charset="0"/>
              <a:buChar cha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扩展交换机：下挂设备为华为交换机。</a:t>
            </a:r>
          </a:p>
          <a:p>
            <a:pPr marL="360000" indent="-180000" defTabSz="914400">
              <a:lnSpc>
                <a:spcPct val="150000"/>
              </a:lnSpc>
              <a:spcAft>
                <a:spcPts val="600"/>
              </a:spcAft>
              <a:buSzPct val="100000"/>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、话机、哑终端、非</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扩展接入交换机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）：下挂设备是终端，或者未部署策略联动场景下连接的交换机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1" name="五边形 40"/>
          <p:cNvSpPr/>
          <p:nvPr/>
        </p:nvSpPr>
        <p:spPr bwMode="gray">
          <a:xfrm>
            <a:off x="949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45" name="燕尾形 44"/>
          <p:cNvSpPr/>
          <p:nvPr/>
        </p:nvSpPr>
        <p:spPr bwMode="gray">
          <a:xfrm>
            <a:off x="10489087" y="114957"/>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556123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VN</a:t>
            </a:r>
            <a:r>
              <a:rPr lang="zh-CN" altLang="en-US" dirty="0">
                <a:sym typeface="Huawei Sans" panose="020C0503030203020204" pitchFamily="34" charset="0"/>
              </a:rPr>
              <a:t>设计流程</a:t>
            </a:r>
          </a:p>
        </p:txBody>
      </p:sp>
      <p:sp>
        <p:nvSpPr>
          <p:cNvPr id="3" name="梯形 2"/>
          <p:cNvSpPr/>
          <p:nvPr/>
        </p:nvSpPr>
        <p:spPr bwMode="gray">
          <a:xfrm>
            <a:off x="5172370" y="2269818"/>
            <a:ext cx="6050762" cy="473072"/>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82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7593037" y="2393915"/>
            <a:ext cx="1031636" cy="305105"/>
          </a:xfrm>
          <a:prstGeom prst="rect">
            <a:avLst/>
          </a:prstGeom>
        </p:spPr>
        <p:txBody>
          <a:bodyPr wrap="square">
            <a:no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梯形 5"/>
          <p:cNvSpPr/>
          <p:nvPr/>
        </p:nvSpPr>
        <p:spPr bwMode="gray">
          <a:xfrm>
            <a:off x="5446046" y="1344154"/>
            <a:ext cx="1790622" cy="835771"/>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5881938" y="1099878"/>
            <a:ext cx="556773" cy="629606"/>
            <a:chOff x="7493567" y="5008689"/>
            <a:chExt cx="1283264" cy="956570"/>
          </a:xfrm>
        </p:grpSpPr>
        <p:cxnSp>
          <p:nvCxnSpPr>
            <p:cNvPr id="9" name="直接连接符 8"/>
            <p:cNvCxnSpPr/>
            <p:nvPr/>
          </p:nvCxnSpPr>
          <p:spPr bwMode="gray">
            <a:xfrm flipH="1" flipV="1">
              <a:off x="7493567" y="5598789"/>
              <a:ext cx="1283264" cy="36647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gray">
            <a:xfrm flipH="1">
              <a:off x="7588319" y="5008689"/>
              <a:ext cx="847863" cy="456494"/>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p:cNvCxnSpPr>
            <a:stCxn id="14" idx="3"/>
            <a:endCxn id="15" idx="1"/>
          </p:cNvCxnSpPr>
          <p:nvPr/>
        </p:nvCxnSpPr>
        <p:spPr bwMode="gray">
          <a:xfrm>
            <a:off x="6532627" y="1746427"/>
            <a:ext cx="24181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13" idx="3"/>
            <a:endCxn id="16" idx="1"/>
          </p:cNvCxnSpPr>
          <p:nvPr/>
        </p:nvCxnSpPr>
        <p:spPr bwMode="gray">
          <a:xfrm>
            <a:off x="6353233" y="1140947"/>
            <a:ext cx="242904"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3" name="图片 87" descr="汇聚交换机.png"/>
          <p:cNvPicPr>
            <a:picLocks noChangeAspect="1"/>
          </p:cNvPicPr>
          <p:nvPr/>
        </p:nvPicPr>
        <p:blipFill>
          <a:blip r:embed="rId3"/>
          <a:stretch>
            <a:fillRect/>
          </a:stretch>
        </p:blipFill>
        <p:spPr bwMode="gray">
          <a:xfrm>
            <a:off x="6118664" y="1044986"/>
            <a:ext cx="234569" cy="191922"/>
          </a:xfrm>
          <a:prstGeom prst="rect">
            <a:avLst/>
          </a:prstGeom>
        </p:spPr>
      </p:pic>
      <p:pic>
        <p:nvPicPr>
          <p:cNvPr id="14" name="图片 87" descr="汇聚交换机.png"/>
          <p:cNvPicPr>
            <a:picLocks noChangeAspect="1"/>
          </p:cNvPicPr>
          <p:nvPr/>
        </p:nvPicPr>
        <p:blipFill>
          <a:blip r:embed="rId3"/>
          <a:stretch>
            <a:fillRect/>
          </a:stretch>
        </p:blipFill>
        <p:spPr bwMode="gray">
          <a:xfrm>
            <a:off x="6298058" y="1650466"/>
            <a:ext cx="234569" cy="191922"/>
          </a:xfrm>
          <a:prstGeom prst="rect">
            <a:avLst/>
          </a:prstGeom>
        </p:spPr>
      </p:pic>
      <p:pic>
        <p:nvPicPr>
          <p:cNvPr id="15" name="图片 76" descr="接入交换机.png"/>
          <p:cNvPicPr>
            <a:picLocks noChangeAspect="1"/>
          </p:cNvPicPr>
          <p:nvPr/>
        </p:nvPicPr>
        <p:blipFill>
          <a:blip r:embed="rId4"/>
          <a:stretch>
            <a:fillRect/>
          </a:stretch>
        </p:blipFill>
        <p:spPr bwMode="gray">
          <a:xfrm>
            <a:off x="6774437" y="1650466"/>
            <a:ext cx="234569" cy="191922"/>
          </a:xfrm>
          <a:prstGeom prst="rect">
            <a:avLst/>
          </a:prstGeom>
        </p:spPr>
      </p:pic>
      <p:pic>
        <p:nvPicPr>
          <p:cNvPr id="16" name="图片 15" descr="接入交换机.png"/>
          <p:cNvPicPr>
            <a:picLocks noChangeAspect="1"/>
          </p:cNvPicPr>
          <p:nvPr/>
        </p:nvPicPr>
        <p:blipFill>
          <a:blip r:embed="rId4"/>
          <a:stretch>
            <a:fillRect/>
          </a:stretch>
        </p:blipFill>
        <p:spPr bwMode="gray">
          <a:xfrm>
            <a:off x="6596137" y="1044986"/>
            <a:ext cx="234569" cy="191922"/>
          </a:xfrm>
          <a:prstGeom prst="rect">
            <a:avLst/>
          </a:prstGeom>
        </p:spPr>
      </p:pic>
      <p:pic>
        <p:nvPicPr>
          <p:cNvPr id="17" name="图片 86" descr="核心交换机.png"/>
          <p:cNvPicPr>
            <a:picLocks noChangeAspect="1"/>
          </p:cNvPicPr>
          <p:nvPr/>
        </p:nvPicPr>
        <p:blipFill>
          <a:blip r:embed="rId5"/>
          <a:stretch>
            <a:fillRect/>
          </a:stretch>
        </p:blipFill>
        <p:spPr bwMode="gray">
          <a:xfrm>
            <a:off x="5735735" y="1362136"/>
            <a:ext cx="234569" cy="191922"/>
          </a:xfrm>
          <a:prstGeom prst="rect">
            <a:avLst/>
          </a:prstGeom>
        </p:spPr>
      </p:pic>
      <p:sp>
        <p:nvSpPr>
          <p:cNvPr id="18" name="矩形 17"/>
          <p:cNvSpPr/>
          <p:nvPr/>
        </p:nvSpPr>
        <p:spPr bwMode="gray">
          <a:xfrm>
            <a:off x="5795024" y="1892310"/>
            <a:ext cx="114364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VN1 :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办公网</a:t>
            </a:r>
          </a:p>
        </p:txBody>
      </p:sp>
      <p:sp>
        <p:nvSpPr>
          <p:cNvPr id="19" name="梯形 18"/>
          <p:cNvSpPr/>
          <p:nvPr/>
        </p:nvSpPr>
        <p:spPr bwMode="gray">
          <a:xfrm>
            <a:off x="7318953" y="1344154"/>
            <a:ext cx="1790622" cy="835771"/>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11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直接连接符 19"/>
          <p:cNvCxnSpPr/>
          <p:nvPr/>
        </p:nvCxnSpPr>
        <p:spPr bwMode="gray">
          <a:xfrm flipH="1">
            <a:off x="7795951" y="1099874"/>
            <a:ext cx="367864" cy="30046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22" idx="3"/>
            <a:endCxn id="23" idx="1"/>
          </p:cNvCxnSpPr>
          <p:nvPr/>
        </p:nvCxnSpPr>
        <p:spPr bwMode="gray">
          <a:xfrm>
            <a:off x="8226140" y="1140947"/>
            <a:ext cx="242904"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2" name="图片 87" descr="汇聚交换机.png"/>
          <p:cNvPicPr>
            <a:picLocks noChangeAspect="1"/>
          </p:cNvPicPr>
          <p:nvPr/>
        </p:nvPicPr>
        <p:blipFill>
          <a:blip r:embed="rId3"/>
          <a:stretch>
            <a:fillRect/>
          </a:stretch>
        </p:blipFill>
        <p:spPr bwMode="gray">
          <a:xfrm>
            <a:off x="7991571" y="1044986"/>
            <a:ext cx="234569" cy="191922"/>
          </a:xfrm>
          <a:prstGeom prst="rect">
            <a:avLst/>
          </a:prstGeom>
        </p:spPr>
      </p:pic>
      <p:pic>
        <p:nvPicPr>
          <p:cNvPr id="23" name="图片 22" descr="接入交换机.png"/>
          <p:cNvPicPr>
            <a:picLocks noChangeAspect="1"/>
          </p:cNvPicPr>
          <p:nvPr/>
        </p:nvPicPr>
        <p:blipFill>
          <a:blip r:embed="rId4"/>
          <a:stretch>
            <a:fillRect/>
          </a:stretch>
        </p:blipFill>
        <p:spPr bwMode="gray">
          <a:xfrm>
            <a:off x="8469044" y="1044986"/>
            <a:ext cx="234569" cy="191922"/>
          </a:xfrm>
          <a:prstGeom prst="rect">
            <a:avLst/>
          </a:prstGeom>
        </p:spPr>
      </p:pic>
      <p:pic>
        <p:nvPicPr>
          <p:cNvPr id="24" name="图片 86" descr="核心交换机.png"/>
          <p:cNvPicPr>
            <a:picLocks noChangeAspect="1"/>
          </p:cNvPicPr>
          <p:nvPr/>
        </p:nvPicPr>
        <p:blipFill>
          <a:blip r:embed="rId5"/>
          <a:stretch>
            <a:fillRect/>
          </a:stretch>
        </p:blipFill>
        <p:spPr bwMode="gray">
          <a:xfrm>
            <a:off x="7608642" y="1362136"/>
            <a:ext cx="234569" cy="191922"/>
          </a:xfrm>
          <a:prstGeom prst="rect">
            <a:avLst/>
          </a:prstGeom>
        </p:spPr>
      </p:pic>
      <p:sp>
        <p:nvSpPr>
          <p:cNvPr id="25" name="矩形 24"/>
          <p:cNvSpPr/>
          <p:nvPr/>
        </p:nvSpPr>
        <p:spPr bwMode="gray">
          <a:xfrm>
            <a:off x="7631609" y="1892310"/>
            <a:ext cx="117300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：科研网</a:t>
            </a:r>
          </a:p>
        </p:txBody>
      </p:sp>
      <p:sp>
        <p:nvSpPr>
          <p:cNvPr id="26" name="梯形 25"/>
          <p:cNvSpPr/>
          <p:nvPr/>
        </p:nvSpPr>
        <p:spPr bwMode="gray">
          <a:xfrm>
            <a:off x="9205872" y="1344154"/>
            <a:ext cx="1790622" cy="835771"/>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26"/>
          <p:cNvCxnSpPr/>
          <p:nvPr/>
        </p:nvCxnSpPr>
        <p:spPr bwMode="gray">
          <a:xfrm flipH="1" flipV="1">
            <a:off x="9641764" y="1488271"/>
            <a:ext cx="556773" cy="241207"/>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9" idx="3"/>
            <a:endCxn id="30" idx="1"/>
          </p:cNvCxnSpPr>
          <p:nvPr/>
        </p:nvCxnSpPr>
        <p:spPr bwMode="gray">
          <a:xfrm>
            <a:off x="10292453" y="1746427"/>
            <a:ext cx="24181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9" name="图片 87" descr="汇聚交换机.png"/>
          <p:cNvPicPr>
            <a:picLocks noChangeAspect="1"/>
          </p:cNvPicPr>
          <p:nvPr/>
        </p:nvPicPr>
        <p:blipFill>
          <a:blip r:embed="rId3"/>
          <a:stretch>
            <a:fillRect/>
          </a:stretch>
        </p:blipFill>
        <p:spPr bwMode="gray">
          <a:xfrm>
            <a:off x="10057884" y="1650466"/>
            <a:ext cx="234569" cy="191922"/>
          </a:xfrm>
          <a:prstGeom prst="rect">
            <a:avLst/>
          </a:prstGeom>
        </p:spPr>
      </p:pic>
      <p:pic>
        <p:nvPicPr>
          <p:cNvPr id="30" name="图片 76" descr="接入交换机.png"/>
          <p:cNvPicPr>
            <a:picLocks noChangeAspect="1"/>
          </p:cNvPicPr>
          <p:nvPr/>
        </p:nvPicPr>
        <p:blipFill>
          <a:blip r:embed="rId4"/>
          <a:stretch>
            <a:fillRect/>
          </a:stretch>
        </p:blipFill>
        <p:spPr bwMode="gray">
          <a:xfrm>
            <a:off x="10534263" y="1650466"/>
            <a:ext cx="234569" cy="191922"/>
          </a:xfrm>
          <a:prstGeom prst="rect">
            <a:avLst/>
          </a:prstGeom>
        </p:spPr>
      </p:pic>
      <p:pic>
        <p:nvPicPr>
          <p:cNvPr id="31" name="图片 86" descr="核心交换机.png"/>
          <p:cNvPicPr>
            <a:picLocks noChangeAspect="1"/>
          </p:cNvPicPr>
          <p:nvPr/>
        </p:nvPicPr>
        <p:blipFill>
          <a:blip r:embed="rId5"/>
          <a:stretch>
            <a:fillRect/>
          </a:stretch>
        </p:blipFill>
        <p:spPr bwMode="gray">
          <a:xfrm>
            <a:off x="9495561" y="1362136"/>
            <a:ext cx="234569" cy="191922"/>
          </a:xfrm>
          <a:prstGeom prst="rect">
            <a:avLst/>
          </a:prstGeom>
        </p:spPr>
      </p:pic>
      <p:sp>
        <p:nvSpPr>
          <p:cNvPr id="32" name="矩形 31"/>
          <p:cNvSpPr/>
          <p:nvPr/>
        </p:nvSpPr>
        <p:spPr bwMode="gray">
          <a:xfrm>
            <a:off x="9518527" y="1892310"/>
            <a:ext cx="117300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：生产网</a:t>
            </a:r>
          </a:p>
        </p:txBody>
      </p:sp>
      <p:sp>
        <p:nvSpPr>
          <p:cNvPr id="33" name="圆角矩形 75"/>
          <p:cNvSpPr/>
          <p:nvPr/>
        </p:nvSpPr>
        <p:spPr bwMode="gray">
          <a:xfrm>
            <a:off x="935313" y="1317895"/>
            <a:ext cx="3263506"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34" name="圆角矩形 75"/>
          <p:cNvSpPr/>
          <p:nvPr/>
        </p:nvSpPr>
        <p:spPr bwMode="gray">
          <a:xfrm>
            <a:off x="935313" y="1706648"/>
            <a:ext cx="3263506" cy="781200"/>
          </a:xfrm>
          <a:prstGeom prst="roundRect">
            <a:avLst>
              <a:gd name="adj" fmla="val 4628"/>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marL="285750" indent="-285750">
              <a:lnSpc>
                <a:spcPts val="20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基于</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划分多个</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VN</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p:txBody>
      </p:sp>
      <p:sp>
        <p:nvSpPr>
          <p:cNvPr id="35" name="圆角矩形 75"/>
          <p:cNvSpPr/>
          <p:nvPr/>
        </p:nvSpPr>
        <p:spPr bwMode="gray">
          <a:xfrm>
            <a:off x="935313" y="2785978"/>
            <a:ext cx="3263506"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策略设计</a:t>
            </a:r>
          </a:p>
        </p:txBody>
      </p:sp>
      <p:sp>
        <p:nvSpPr>
          <p:cNvPr id="36" name="圆角矩形 75"/>
          <p:cNvSpPr/>
          <p:nvPr/>
        </p:nvSpPr>
        <p:spPr bwMode="gray">
          <a:xfrm>
            <a:off x="935313" y="3174729"/>
            <a:ext cx="3263506" cy="1262183"/>
          </a:xfrm>
          <a:prstGeom prst="roundRect">
            <a:avLst>
              <a:gd name="adj" fmla="val 4628"/>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marL="285750" indent="-285750">
              <a:lnSpc>
                <a:spcPts val="20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根据用户划分安全组，定义组间策略（即策略控制矩阵）。</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0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根据策略控制矩阵，定义</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VN</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间互访策略。</a:t>
            </a:r>
          </a:p>
        </p:txBody>
      </p:sp>
      <p:sp>
        <p:nvSpPr>
          <p:cNvPr id="37" name="圆角矩形 75"/>
          <p:cNvSpPr/>
          <p:nvPr/>
        </p:nvSpPr>
        <p:spPr bwMode="gray">
          <a:xfrm>
            <a:off x="935313" y="4754497"/>
            <a:ext cx="3263506"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接入设计</a:t>
            </a:r>
          </a:p>
        </p:txBody>
      </p:sp>
      <p:sp>
        <p:nvSpPr>
          <p:cNvPr id="38" name="圆角矩形 75"/>
          <p:cNvSpPr/>
          <p:nvPr/>
        </p:nvSpPr>
        <p:spPr bwMode="gray">
          <a:xfrm>
            <a:off x="935313" y="5143249"/>
            <a:ext cx="3263506" cy="920059"/>
          </a:xfrm>
          <a:prstGeom prst="roundRect">
            <a:avLst>
              <a:gd name="adj" fmla="val 4628"/>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marL="285750" indent="-285750">
              <a:lnSpc>
                <a:spcPts val="2000"/>
              </a:lnSpc>
              <a:spcAft>
                <a:spcPts val="300"/>
              </a:spcAft>
              <a:buFont typeface="Arial" panose="020B0604020202020204" pitchFamily="34" charset="0"/>
              <a:buChar char="•"/>
            </a:pPr>
            <a:r>
              <a:rPr lang="zh-CN" altLang="en-US" sz="16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规划物理网络的</a:t>
            </a:r>
            <a:r>
              <a:rPr lang="en-US" altLang="zh-CN" sz="16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6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6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VN</a:t>
            </a:r>
            <a:r>
              <a:rPr lang="zh-CN" altLang="en-US" sz="16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a:t>
            </a:r>
            <a:r>
              <a:rPr lang="en-US" altLang="zh-CN" sz="16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BD</a:t>
            </a:r>
            <a:r>
              <a:rPr lang="zh-CN" altLang="en-US" sz="16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的映射关系。</a:t>
            </a:r>
            <a:endParaRPr lang="en-US" altLang="zh-CN" sz="1600"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000"/>
              </a:lnSpc>
              <a:spcAft>
                <a:spcPts val="3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规划终端用户接入方式。</a:t>
            </a:r>
          </a:p>
        </p:txBody>
      </p:sp>
      <p:sp>
        <p:nvSpPr>
          <p:cNvPr id="39" name="Right Arrow 157"/>
          <p:cNvSpPr/>
          <p:nvPr/>
        </p:nvSpPr>
        <p:spPr bwMode="gray">
          <a:xfrm>
            <a:off x="4224451" y="1713962"/>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chemeClr val="bg1">
                  <a:lumMod val="65000"/>
                  <a:alpha val="75000"/>
                </a:schemeClr>
              </a:gs>
            </a:gsLst>
            <a:lin ang="0" scaled="1"/>
          </a:gradFill>
          <a:ln w="9525">
            <a:gradFill flip="none" rotWithShape="1">
              <a:gsLst>
                <a:gs pos="0">
                  <a:schemeClr val="accent1">
                    <a:lumMod val="5000"/>
                    <a:lumOff val="95000"/>
                  </a:schemeClr>
                </a:gs>
                <a:gs pos="100000">
                  <a:schemeClr val="tx1"/>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Right Arrow 157"/>
          <p:cNvSpPr/>
          <p:nvPr/>
        </p:nvSpPr>
        <p:spPr bwMode="gray">
          <a:xfrm>
            <a:off x="4224451" y="3398832"/>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chemeClr val="bg1">
                  <a:lumMod val="65000"/>
                  <a:alpha val="75000"/>
                </a:schemeClr>
              </a:gs>
            </a:gsLst>
            <a:lin ang="0" scaled="1"/>
          </a:gradFill>
          <a:ln w="9525">
            <a:gradFill flip="none" rotWithShape="1">
              <a:gsLst>
                <a:gs pos="0">
                  <a:schemeClr val="accent1">
                    <a:lumMod val="5000"/>
                    <a:lumOff val="95000"/>
                  </a:schemeClr>
                </a:gs>
                <a:gs pos="100000">
                  <a:schemeClr val="tx1"/>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Right Arrow 157"/>
          <p:cNvSpPr/>
          <p:nvPr/>
        </p:nvSpPr>
        <p:spPr bwMode="gray">
          <a:xfrm>
            <a:off x="4224451" y="5066757"/>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chemeClr val="bg1">
                  <a:lumMod val="65000"/>
                  <a:alpha val="75000"/>
                </a:schemeClr>
              </a:gs>
            </a:gsLst>
            <a:lin ang="0" scaled="1"/>
          </a:gradFill>
          <a:ln w="9525">
            <a:gradFill flip="none" rotWithShape="1">
              <a:gsLst>
                <a:gs pos="0">
                  <a:schemeClr val="accent1">
                    <a:lumMod val="5000"/>
                    <a:lumOff val="95000"/>
                  </a:schemeClr>
                </a:gs>
                <a:gs pos="100000">
                  <a:schemeClr val="tx1"/>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梯形 41"/>
          <p:cNvSpPr/>
          <p:nvPr/>
        </p:nvSpPr>
        <p:spPr bwMode="gray">
          <a:xfrm>
            <a:off x="5446046" y="3509903"/>
            <a:ext cx="1790622" cy="794258"/>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5469115" y="3987198"/>
            <a:ext cx="1744485"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VN1 :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办公网</a:t>
            </a:r>
          </a:p>
        </p:txBody>
      </p:sp>
      <p:sp>
        <p:nvSpPr>
          <p:cNvPr id="44" name="梯形 43"/>
          <p:cNvSpPr/>
          <p:nvPr/>
        </p:nvSpPr>
        <p:spPr bwMode="gray">
          <a:xfrm>
            <a:off x="7318953" y="3509903"/>
            <a:ext cx="1790622" cy="794258"/>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7342022" y="3987198"/>
            <a:ext cx="1744485"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：科研网</a:t>
            </a:r>
          </a:p>
        </p:txBody>
      </p:sp>
      <p:sp>
        <p:nvSpPr>
          <p:cNvPr id="46" name="梯形 45"/>
          <p:cNvSpPr/>
          <p:nvPr/>
        </p:nvSpPr>
        <p:spPr bwMode="gray">
          <a:xfrm>
            <a:off x="9205872" y="3509903"/>
            <a:ext cx="1790622" cy="794258"/>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9062865" y="3987198"/>
            <a:ext cx="207663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：生产网</a:t>
            </a:r>
          </a:p>
        </p:txBody>
      </p:sp>
      <p:sp>
        <p:nvSpPr>
          <p:cNvPr id="48" name="圆角矩形 75"/>
          <p:cNvSpPr/>
          <p:nvPr/>
        </p:nvSpPr>
        <p:spPr bwMode="gray">
          <a:xfrm>
            <a:off x="5758058" y="3174730"/>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VIP</a:t>
            </a:r>
            <a:endPar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9" name="圆角矩形 75"/>
          <p:cNvSpPr/>
          <p:nvPr/>
        </p:nvSpPr>
        <p:spPr bwMode="gray">
          <a:xfrm>
            <a:off x="6339777" y="3174730"/>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销售</a:t>
            </a:r>
            <a:endPar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0" name="圆角矩形 75"/>
          <p:cNvSpPr/>
          <p:nvPr/>
        </p:nvSpPr>
        <p:spPr bwMode="gray">
          <a:xfrm>
            <a:off x="6339777" y="3529211"/>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访客</a:t>
            </a:r>
            <a:endPar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1" name="圆角矩形 75"/>
          <p:cNvSpPr/>
          <p:nvPr/>
        </p:nvSpPr>
        <p:spPr bwMode="gray">
          <a:xfrm>
            <a:off x="5758058" y="3529211"/>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市场</a:t>
            </a:r>
            <a:endPar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2" name="圆角矩形 75"/>
          <p:cNvSpPr/>
          <p:nvPr/>
        </p:nvSpPr>
        <p:spPr bwMode="gray">
          <a:xfrm>
            <a:off x="7616656" y="3527510"/>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测试</a:t>
            </a:r>
            <a:endPar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3" name="圆角矩形 75"/>
          <p:cNvSpPr/>
          <p:nvPr/>
        </p:nvSpPr>
        <p:spPr bwMode="gray">
          <a:xfrm>
            <a:off x="8198375" y="3527510"/>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代码库</a:t>
            </a:r>
            <a:endPar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4" name="圆角矩形 75"/>
          <p:cNvSpPr/>
          <p:nvPr/>
        </p:nvSpPr>
        <p:spPr bwMode="gray">
          <a:xfrm>
            <a:off x="9435839" y="3174730"/>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服务器</a:t>
            </a:r>
            <a:endPar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5" name="圆角矩形 75"/>
          <p:cNvSpPr/>
          <p:nvPr/>
        </p:nvSpPr>
        <p:spPr bwMode="gray">
          <a:xfrm>
            <a:off x="10038257" y="3174730"/>
            <a:ext cx="71874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操作</a:t>
            </a:r>
            <a:endPar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6" name="圆角矩形 75"/>
          <p:cNvSpPr/>
          <p:nvPr/>
        </p:nvSpPr>
        <p:spPr bwMode="gray">
          <a:xfrm>
            <a:off x="10038257" y="3529211"/>
            <a:ext cx="71874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7" name="圆角矩形 75"/>
          <p:cNvSpPr/>
          <p:nvPr/>
        </p:nvSpPr>
        <p:spPr bwMode="gray">
          <a:xfrm>
            <a:off x="9435839" y="3529211"/>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8" name="圆角矩形 75"/>
          <p:cNvSpPr/>
          <p:nvPr/>
        </p:nvSpPr>
        <p:spPr bwMode="gray">
          <a:xfrm>
            <a:off x="7608642" y="3174730"/>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服务器</a:t>
            </a:r>
          </a:p>
        </p:txBody>
      </p:sp>
      <p:sp>
        <p:nvSpPr>
          <p:cNvPr id="59" name="圆角矩形 75"/>
          <p:cNvSpPr/>
          <p:nvPr/>
        </p:nvSpPr>
        <p:spPr bwMode="gray">
          <a:xfrm>
            <a:off x="8190361" y="3174730"/>
            <a:ext cx="540000" cy="331306"/>
          </a:xfrm>
          <a:prstGeom prst="roundRect">
            <a:avLst>
              <a:gd name="adj" fmla="val 13606"/>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程序员</a:t>
            </a:r>
            <a:endPar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0" name="梯形 59"/>
          <p:cNvSpPr/>
          <p:nvPr/>
        </p:nvSpPr>
        <p:spPr bwMode="gray">
          <a:xfrm>
            <a:off x="5446046" y="5227538"/>
            <a:ext cx="1790622" cy="835771"/>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1" name="组合 60"/>
          <p:cNvGrpSpPr/>
          <p:nvPr/>
        </p:nvGrpSpPr>
        <p:grpSpPr bwMode="gray">
          <a:xfrm>
            <a:off x="5881938" y="4983262"/>
            <a:ext cx="556773" cy="629606"/>
            <a:chOff x="7493567" y="5008689"/>
            <a:chExt cx="1283264" cy="956570"/>
          </a:xfrm>
        </p:grpSpPr>
        <p:cxnSp>
          <p:nvCxnSpPr>
            <p:cNvPr id="62" name="直接连接符 61"/>
            <p:cNvCxnSpPr/>
            <p:nvPr/>
          </p:nvCxnSpPr>
          <p:spPr bwMode="gray">
            <a:xfrm flipH="1" flipV="1">
              <a:off x="7493567" y="5598789"/>
              <a:ext cx="1283264" cy="36647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bwMode="gray">
            <a:xfrm flipH="1">
              <a:off x="7588319" y="5008689"/>
              <a:ext cx="847863" cy="456494"/>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64" name="直接连接符 63"/>
          <p:cNvCxnSpPr>
            <a:stCxn id="67" idx="3"/>
            <a:endCxn id="68" idx="1"/>
          </p:cNvCxnSpPr>
          <p:nvPr/>
        </p:nvCxnSpPr>
        <p:spPr bwMode="gray">
          <a:xfrm>
            <a:off x="6532627" y="5629811"/>
            <a:ext cx="24181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66" idx="3"/>
            <a:endCxn id="69" idx="1"/>
          </p:cNvCxnSpPr>
          <p:nvPr/>
        </p:nvCxnSpPr>
        <p:spPr bwMode="gray">
          <a:xfrm>
            <a:off x="6353233" y="5024331"/>
            <a:ext cx="242904"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6" name="图片 87" descr="汇聚交换机.png"/>
          <p:cNvPicPr>
            <a:picLocks noChangeAspect="1"/>
          </p:cNvPicPr>
          <p:nvPr/>
        </p:nvPicPr>
        <p:blipFill>
          <a:blip r:embed="rId3"/>
          <a:stretch>
            <a:fillRect/>
          </a:stretch>
        </p:blipFill>
        <p:spPr bwMode="gray">
          <a:xfrm>
            <a:off x="6118664" y="4928370"/>
            <a:ext cx="234569" cy="191922"/>
          </a:xfrm>
          <a:prstGeom prst="rect">
            <a:avLst/>
          </a:prstGeom>
        </p:spPr>
      </p:pic>
      <p:pic>
        <p:nvPicPr>
          <p:cNvPr id="67" name="图片 87" descr="汇聚交换机.png"/>
          <p:cNvPicPr>
            <a:picLocks noChangeAspect="1"/>
          </p:cNvPicPr>
          <p:nvPr/>
        </p:nvPicPr>
        <p:blipFill>
          <a:blip r:embed="rId3"/>
          <a:stretch>
            <a:fillRect/>
          </a:stretch>
        </p:blipFill>
        <p:spPr bwMode="gray">
          <a:xfrm>
            <a:off x="6298058" y="5533850"/>
            <a:ext cx="234569" cy="191922"/>
          </a:xfrm>
          <a:prstGeom prst="rect">
            <a:avLst/>
          </a:prstGeom>
        </p:spPr>
      </p:pic>
      <p:pic>
        <p:nvPicPr>
          <p:cNvPr id="68" name="图片 76" descr="接入交换机.png"/>
          <p:cNvPicPr>
            <a:picLocks noChangeAspect="1"/>
          </p:cNvPicPr>
          <p:nvPr/>
        </p:nvPicPr>
        <p:blipFill>
          <a:blip r:embed="rId4"/>
          <a:stretch>
            <a:fillRect/>
          </a:stretch>
        </p:blipFill>
        <p:spPr bwMode="gray">
          <a:xfrm>
            <a:off x="6774437" y="5533850"/>
            <a:ext cx="234569" cy="191922"/>
          </a:xfrm>
          <a:prstGeom prst="rect">
            <a:avLst/>
          </a:prstGeom>
        </p:spPr>
      </p:pic>
      <p:pic>
        <p:nvPicPr>
          <p:cNvPr id="69" name="图片 68" descr="接入交换机.png"/>
          <p:cNvPicPr>
            <a:picLocks noChangeAspect="1"/>
          </p:cNvPicPr>
          <p:nvPr/>
        </p:nvPicPr>
        <p:blipFill>
          <a:blip r:embed="rId4"/>
          <a:stretch>
            <a:fillRect/>
          </a:stretch>
        </p:blipFill>
        <p:spPr bwMode="gray">
          <a:xfrm>
            <a:off x="6596137" y="4928370"/>
            <a:ext cx="234569" cy="191922"/>
          </a:xfrm>
          <a:prstGeom prst="rect">
            <a:avLst/>
          </a:prstGeom>
        </p:spPr>
      </p:pic>
      <p:pic>
        <p:nvPicPr>
          <p:cNvPr id="70" name="图片 86" descr="核心交换机.png"/>
          <p:cNvPicPr>
            <a:picLocks noChangeAspect="1"/>
          </p:cNvPicPr>
          <p:nvPr/>
        </p:nvPicPr>
        <p:blipFill>
          <a:blip r:embed="rId5"/>
          <a:stretch>
            <a:fillRect/>
          </a:stretch>
        </p:blipFill>
        <p:spPr bwMode="gray">
          <a:xfrm>
            <a:off x="5735735" y="5245520"/>
            <a:ext cx="234569" cy="191922"/>
          </a:xfrm>
          <a:prstGeom prst="rect">
            <a:avLst/>
          </a:prstGeom>
        </p:spPr>
      </p:pic>
      <p:sp>
        <p:nvSpPr>
          <p:cNvPr id="71" name="矩形 70"/>
          <p:cNvSpPr/>
          <p:nvPr/>
        </p:nvSpPr>
        <p:spPr bwMode="gray">
          <a:xfrm>
            <a:off x="5469115" y="5771748"/>
            <a:ext cx="1744485"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VN1 :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办公网</a:t>
            </a:r>
          </a:p>
        </p:txBody>
      </p:sp>
      <p:sp>
        <p:nvSpPr>
          <p:cNvPr id="72" name="梯形 71"/>
          <p:cNvSpPr/>
          <p:nvPr/>
        </p:nvSpPr>
        <p:spPr bwMode="gray">
          <a:xfrm>
            <a:off x="7318953" y="5227538"/>
            <a:ext cx="1790622" cy="835771"/>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3" name="直接连接符 72"/>
          <p:cNvCxnSpPr/>
          <p:nvPr/>
        </p:nvCxnSpPr>
        <p:spPr bwMode="gray">
          <a:xfrm flipH="1">
            <a:off x="7795951" y="4983258"/>
            <a:ext cx="367864" cy="30046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75" idx="3"/>
            <a:endCxn id="76" idx="1"/>
          </p:cNvCxnSpPr>
          <p:nvPr/>
        </p:nvCxnSpPr>
        <p:spPr bwMode="gray">
          <a:xfrm>
            <a:off x="8226140" y="5024331"/>
            <a:ext cx="242904"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5" name="图片 87" descr="汇聚交换机.png"/>
          <p:cNvPicPr>
            <a:picLocks noChangeAspect="1"/>
          </p:cNvPicPr>
          <p:nvPr/>
        </p:nvPicPr>
        <p:blipFill>
          <a:blip r:embed="rId3"/>
          <a:stretch>
            <a:fillRect/>
          </a:stretch>
        </p:blipFill>
        <p:spPr bwMode="gray">
          <a:xfrm>
            <a:off x="7991571" y="4928370"/>
            <a:ext cx="234569" cy="191922"/>
          </a:xfrm>
          <a:prstGeom prst="rect">
            <a:avLst/>
          </a:prstGeom>
        </p:spPr>
      </p:pic>
      <p:pic>
        <p:nvPicPr>
          <p:cNvPr id="76" name="图片 75" descr="接入交换机.png"/>
          <p:cNvPicPr>
            <a:picLocks noChangeAspect="1"/>
          </p:cNvPicPr>
          <p:nvPr/>
        </p:nvPicPr>
        <p:blipFill>
          <a:blip r:embed="rId4"/>
          <a:stretch>
            <a:fillRect/>
          </a:stretch>
        </p:blipFill>
        <p:spPr bwMode="gray">
          <a:xfrm>
            <a:off x="8469044" y="4928370"/>
            <a:ext cx="234569" cy="191922"/>
          </a:xfrm>
          <a:prstGeom prst="rect">
            <a:avLst/>
          </a:prstGeom>
        </p:spPr>
      </p:pic>
      <p:pic>
        <p:nvPicPr>
          <p:cNvPr id="77" name="图片 86" descr="核心交换机.png"/>
          <p:cNvPicPr>
            <a:picLocks noChangeAspect="1"/>
          </p:cNvPicPr>
          <p:nvPr/>
        </p:nvPicPr>
        <p:blipFill>
          <a:blip r:embed="rId5"/>
          <a:stretch>
            <a:fillRect/>
          </a:stretch>
        </p:blipFill>
        <p:spPr bwMode="gray">
          <a:xfrm>
            <a:off x="7608642" y="5245520"/>
            <a:ext cx="234569" cy="191922"/>
          </a:xfrm>
          <a:prstGeom prst="rect">
            <a:avLst/>
          </a:prstGeom>
        </p:spPr>
      </p:pic>
      <p:sp>
        <p:nvSpPr>
          <p:cNvPr id="78" name="矩形 77"/>
          <p:cNvSpPr/>
          <p:nvPr/>
        </p:nvSpPr>
        <p:spPr bwMode="gray">
          <a:xfrm>
            <a:off x="7342022" y="5771748"/>
            <a:ext cx="1744485"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：科研网</a:t>
            </a:r>
          </a:p>
        </p:txBody>
      </p:sp>
      <p:sp>
        <p:nvSpPr>
          <p:cNvPr id="79" name="梯形 78"/>
          <p:cNvSpPr/>
          <p:nvPr/>
        </p:nvSpPr>
        <p:spPr bwMode="gray">
          <a:xfrm>
            <a:off x="9205872" y="5227538"/>
            <a:ext cx="1790622" cy="835771"/>
          </a:xfrm>
          <a:prstGeom prst="trapezoid">
            <a:avLst>
              <a:gd name="adj" fmla="val 22668"/>
            </a:avLst>
          </a:prstGeom>
          <a:gradFill flip="none" rotWithShape="1">
            <a:gsLst>
              <a:gs pos="0">
                <a:schemeClr val="bg1"/>
              </a:gs>
              <a:gs pos="100000">
                <a:schemeClr val="bg1">
                  <a:lumMod val="75000"/>
                </a:schemeClr>
              </a:gs>
            </a:gsLst>
            <a:lin ang="5400000" scaled="1"/>
          </a:gradFill>
          <a:ln>
            <a:gradFill flip="none" rotWithShape="1">
              <a:gsLst>
                <a:gs pos="0">
                  <a:schemeClr val="accent1">
                    <a:lumMod val="5000"/>
                    <a:lumOff val="95000"/>
                  </a:schemeClr>
                </a:gs>
                <a:gs pos="82000">
                  <a:schemeClr val="bg1">
                    <a:lumMod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11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0" name="直接连接符 79"/>
          <p:cNvCxnSpPr/>
          <p:nvPr/>
        </p:nvCxnSpPr>
        <p:spPr bwMode="gray">
          <a:xfrm flipH="1" flipV="1">
            <a:off x="9641764" y="5371655"/>
            <a:ext cx="556773" cy="241207"/>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82" idx="3"/>
            <a:endCxn id="83" idx="1"/>
          </p:cNvCxnSpPr>
          <p:nvPr/>
        </p:nvCxnSpPr>
        <p:spPr bwMode="gray">
          <a:xfrm>
            <a:off x="10292453" y="5629811"/>
            <a:ext cx="24181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2" name="图片 87" descr="汇聚交换机.png"/>
          <p:cNvPicPr>
            <a:picLocks noChangeAspect="1"/>
          </p:cNvPicPr>
          <p:nvPr/>
        </p:nvPicPr>
        <p:blipFill>
          <a:blip r:embed="rId3"/>
          <a:stretch>
            <a:fillRect/>
          </a:stretch>
        </p:blipFill>
        <p:spPr bwMode="gray">
          <a:xfrm>
            <a:off x="10057884" y="5533850"/>
            <a:ext cx="234569" cy="191922"/>
          </a:xfrm>
          <a:prstGeom prst="rect">
            <a:avLst/>
          </a:prstGeom>
        </p:spPr>
      </p:pic>
      <p:pic>
        <p:nvPicPr>
          <p:cNvPr id="83" name="图片 76" descr="接入交换机.png"/>
          <p:cNvPicPr>
            <a:picLocks noChangeAspect="1"/>
          </p:cNvPicPr>
          <p:nvPr/>
        </p:nvPicPr>
        <p:blipFill>
          <a:blip r:embed="rId4"/>
          <a:stretch>
            <a:fillRect/>
          </a:stretch>
        </p:blipFill>
        <p:spPr bwMode="gray">
          <a:xfrm>
            <a:off x="10534263" y="5533850"/>
            <a:ext cx="234569" cy="191922"/>
          </a:xfrm>
          <a:prstGeom prst="rect">
            <a:avLst/>
          </a:prstGeom>
        </p:spPr>
      </p:pic>
      <p:pic>
        <p:nvPicPr>
          <p:cNvPr id="84" name="图片 86" descr="核心交换机.png"/>
          <p:cNvPicPr>
            <a:picLocks noChangeAspect="1"/>
          </p:cNvPicPr>
          <p:nvPr/>
        </p:nvPicPr>
        <p:blipFill>
          <a:blip r:embed="rId5"/>
          <a:stretch>
            <a:fillRect/>
          </a:stretch>
        </p:blipFill>
        <p:spPr bwMode="gray">
          <a:xfrm>
            <a:off x="9495561" y="5245520"/>
            <a:ext cx="234569" cy="191922"/>
          </a:xfrm>
          <a:prstGeom prst="rect">
            <a:avLst/>
          </a:prstGeom>
        </p:spPr>
      </p:pic>
      <p:sp>
        <p:nvSpPr>
          <p:cNvPr id="85" name="矩形 84"/>
          <p:cNvSpPr/>
          <p:nvPr/>
        </p:nvSpPr>
        <p:spPr bwMode="gray">
          <a:xfrm>
            <a:off x="9062865" y="5771748"/>
            <a:ext cx="207663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：生产网</a:t>
            </a:r>
          </a:p>
        </p:txBody>
      </p:sp>
      <p:pic>
        <p:nvPicPr>
          <p:cNvPr id="86" name="图片 11" descr="开放网络-蓝.png"/>
          <p:cNvPicPr>
            <a:picLocks noChangeAspect="1"/>
          </p:cNvPicPr>
          <p:nvPr/>
        </p:nvPicPr>
        <p:blipFill>
          <a:blip r:embed="rId6"/>
          <a:stretch>
            <a:fillRect/>
          </a:stretch>
        </p:blipFill>
        <p:spPr bwMode="gray">
          <a:xfrm>
            <a:off x="6561123" y="4436913"/>
            <a:ext cx="304595" cy="234472"/>
          </a:xfrm>
          <a:prstGeom prst="rect">
            <a:avLst/>
          </a:prstGeom>
        </p:spPr>
      </p:pic>
      <p:cxnSp>
        <p:nvCxnSpPr>
          <p:cNvPr id="87" name="直接箭头连接符 86"/>
          <p:cNvCxnSpPr/>
          <p:nvPr/>
        </p:nvCxnSpPr>
        <p:spPr bwMode="gray">
          <a:xfrm flipH="1">
            <a:off x="6713420" y="4650666"/>
            <a:ext cx="0" cy="277704"/>
          </a:xfrm>
          <a:prstGeom prst="straightConnector1">
            <a:avLst/>
          </a:prstGeom>
          <a:ln w="28575">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8" name="图片 11" descr="开放网络-蓝.png"/>
          <p:cNvPicPr>
            <a:picLocks noChangeAspect="1"/>
          </p:cNvPicPr>
          <p:nvPr/>
        </p:nvPicPr>
        <p:blipFill>
          <a:blip r:embed="rId6"/>
          <a:stretch>
            <a:fillRect/>
          </a:stretch>
        </p:blipFill>
        <p:spPr bwMode="gray">
          <a:xfrm>
            <a:off x="8423694" y="4436913"/>
            <a:ext cx="304595" cy="234472"/>
          </a:xfrm>
          <a:prstGeom prst="rect">
            <a:avLst/>
          </a:prstGeom>
        </p:spPr>
      </p:pic>
      <p:cxnSp>
        <p:nvCxnSpPr>
          <p:cNvPr id="89" name="直接箭头连接符 88"/>
          <p:cNvCxnSpPr/>
          <p:nvPr/>
        </p:nvCxnSpPr>
        <p:spPr bwMode="gray">
          <a:xfrm flipH="1">
            <a:off x="8575991" y="4650666"/>
            <a:ext cx="0" cy="277704"/>
          </a:xfrm>
          <a:prstGeom prst="straightConnector1">
            <a:avLst/>
          </a:prstGeom>
          <a:ln w="28575">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p:nvPr/>
        </p:nvCxnSpPr>
        <p:spPr bwMode="gray">
          <a:xfrm flipH="1">
            <a:off x="10621449" y="5144866"/>
            <a:ext cx="0" cy="277704"/>
          </a:xfrm>
          <a:prstGeom prst="straightConnector1">
            <a:avLst/>
          </a:prstGeom>
          <a:ln w="28575">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91" name="图片 158" descr="SAN网络-蓝.png"/>
          <p:cNvPicPr>
            <a:picLocks noChangeAspect="1"/>
          </p:cNvPicPr>
          <p:nvPr/>
        </p:nvPicPr>
        <p:blipFill>
          <a:blip r:embed="rId7"/>
          <a:stretch>
            <a:fillRect/>
          </a:stretch>
        </p:blipFill>
        <p:spPr bwMode="gray">
          <a:xfrm>
            <a:off x="10753276" y="4650894"/>
            <a:ext cx="243218" cy="398465"/>
          </a:xfrm>
          <a:prstGeom prst="rect">
            <a:avLst/>
          </a:prstGeom>
        </p:spPr>
      </p:pic>
      <p:pic>
        <p:nvPicPr>
          <p:cNvPr id="92" name="图片 157" descr="故障链路.png"/>
          <p:cNvPicPr>
            <a:picLocks noChangeAspect="1"/>
          </p:cNvPicPr>
          <p:nvPr/>
        </p:nvPicPr>
        <p:blipFill>
          <a:blip r:embed="rId8"/>
          <a:stretch>
            <a:fillRect/>
          </a:stretch>
        </p:blipFill>
        <p:spPr bwMode="gray">
          <a:xfrm>
            <a:off x="10208075" y="4683735"/>
            <a:ext cx="446281" cy="332783"/>
          </a:xfrm>
          <a:prstGeom prst="rect">
            <a:avLst/>
          </a:prstGeom>
        </p:spPr>
      </p:pic>
      <p:sp>
        <p:nvSpPr>
          <p:cNvPr id="93" name="矩形 92"/>
          <p:cNvSpPr/>
          <p:nvPr/>
        </p:nvSpPr>
        <p:spPr bwMode="gray">
          <a:xfrm>
            <a:off x="8564246" y="4640563"/>
            <a:ext cx="941803" cy="457657"/>
          </a:xfrm>
          <a:prstGeom prst="rect">
            <a:avLst/>
          </a:prstGeom>
        </p:spPr>
        <p:txBody>
          <a:bodyPr wrap="square">
            <a:no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5W1H</a:t>
            </a:r>
          </a:p>
        </p:txBody>
      </p:sp>
      <p:sp>
        <p:nvSpPr>
          <p:cNvPr id="94" name="矩形 93"/>
          <p:cNvSpPr/>
          <p:nvPr/>
        </p:nvSpPr>
        <p:spPr bwMode="gray">
          <a:xfrm>
            <a:off x="6700948" y="4646623"/>
            <a:ext cx="941803" cy="457657"/>
          </a:xfrm>
          <a:prstGeom prst="rect">
            <a:avLst/>
          </a:prstGeom>
        </p:spPr>
        <p:txBody>
          <a:bodyPr wrap="square">
            <a:no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5W1H</a:t>
            </a:r>
          </a:p>
        </p:txBody>
      </p:sp>
      <p:sp>
        <p:nvSpPr>
          <p:cNvPr id="95" name="矩形 94"/>
          <p:cNvSpPr/>
          <p:nvPr/>
        </p:nvSpPr>
        <p:spPr bwMode="gray">
          <a:xfrm>
            <a:off x="10584280" y="5120631"/>
            <a:ext cx="941803" cy="275462"/>
          </a:xfrm>
          <a:prstGeom prst="rect">
            <a:avLst/>
          </a:prstGeom>
        </p:spPr>
        <p:txBody>
          <a:bodyPr wrap="square">
            <a:no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5W1H</a:t>
            </a:r>
          </a:p>
        </p:txBody>
      </p:sp>
      <p:sp>
        <p:nvSpPr>
          <p:cNvPr id="96" name="Oval 4"/>
          <p:cNvSpPr>
            <a:spLocks noChangeAspect="1"/>
          </p:cNvSpPr>
          <p:nvPr/>
        </p:nvSpPr>
        <p:spPr bwMode="gray">
          <a:xfrm>
            <a:off x="1177408" y="1370819"/>
            <a:ext cx="236622" cy="236619"/>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Oval 4"/>
          <p:cNvSpPr>
            <a:spLocks noChangeAspect="1"/>
          </p:cNvSpPr>
          <p:nvPr/>
        </p:nvSpPr>
        <p:spPr bwMode="gray">
          <a:xfrm>
            <a:off x="1177408" y="2838902"/>
            <a:ext cx="236622" cy="236619"/>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Oval 4"/>
          <p:cNvSpPr>
            <a:spLocks noChangeAspect="1"/>
          </p:cNvSpPr>
          <p:nvPr/>
        </p:nvSpPr>
        <p:spPr bwMode="gray">
          <a:xfrm>
            <a:off x="1177408" y="4807421"/>
            <a:ext cx="236622" cy="236619"/>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98"/>
          <p:cNvSpPr/>
          <p:nvPr/>
        </p:nvSpPr>
        <p:spPr bwMode="gray">
          <a:xfrm>
            <a:off x="5832634" y="2896148"/>
            <a:ext cx="941803" cy="247153"/>
          </a:xfrm>
          <a:prstGeom prst="rect">
            <a:avLst/>
          </a:prstGeom>
        </p:spPr>
        <p:txBody>
          <a:bodyPr wrap="square">
            <a:no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安全组</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p:cNvSpPr/>
          <p:nvPr/>
        </p:nvSpPr>
        <p:spPr bwMode="gray">
          <a:xfrm>
            <a:off x="7650844" y="2896148"/>
            <a:ext cx="941803" cy="247153"/>
          </a:xfrm>
          <a:prstGeom prst="rect">
            <a:avLst/>
          </a:prstGeom>
        </p:spPr>
        <p:txBody>
          <a:bodyPr wrap="square">
            <a:no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安全组</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矩形 100"/>
          <p:cNvSpPr/>
          <p:nvPr/>
        </p:nvSpPr>
        <p:spPr bwMode="gray">
          <a:xfrm>
            <a:off x="9567355" y="2896148"/>
            <a:ext cx="941803" cy="247153"/>
          </a:xfrm>
          <a:prstGeom prst="rect">
            <a:avLst/>
          </a:prstGeom>
        </p:spPr>
        <p:txBody>
          <a:bodyPr wrap="square">
            <a:no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安全组</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五边形 101"/>
          <p:cNvSpPr/>
          <p:nvPr/>
        </p:nvSpPr>
        <p:spPr bwMode="gray">
          <a:xfrm>
            <a:off x="949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03" name="燕尾形 102"/>
          <p:cNvSpPr/>
          <p:nvPr/>
        </p:nvSpPr>
        <p:spPr bwMode="gray">
          <a:xfrm>
            <a:off x="10489087" y="114957"/>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168837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VN</a:t>
            </a:r>
            <a:r>
              <a:rPr lang="zh-CN" altLang="en-US" dirty="0">
                <a:sym typeface="Huawei Sans" panose="020C0503030203020204" pitchFamily="34" charset="0"/>
              </a:rPr>
              <a:t>设计</a:t>
            </a:r>
          </a:p>
        </p:txBody>
      </p:sp>
      <p:sp>
        <p:nvSpPr>
          <p:cNvPr id="3" name="梯形 2"/>
          <p:cNvSpPr/>
          <p:nvPr/>
        </p:nvSpPr>
        <p:spPr bwMode="gray">
          <a:xfrm>
            <a:off x="538752" y="1035182"/>
            <a:ext cx="6050762" cy="1634927"/>
          </a:xfrm>
          <a:prstGeom prst="trapezoid">
            <a:avLst>
              <a:gd name="adj" fmla="val 22961"/>
            </a:avLst>
          </a:prstGeom>
          <a:gradFill flip="none" rotWithShape="1">
            <a:gsLst>
              <a:gs pos="0">
                <a:schemeClr val="bg1">
                  <a:alpha val="4000"/>
                </a:schemeClr>
              </a:gs>
              <a:gs pos="100000">
                <a:srgbClr val="E3F6F8"/>
              </a:gs>
            </a:gsLst>
            <a:lin ang="5400000" scaled="1"/>
            <a:tileRect/>
          </a:gradFill>
          <a:ln>
            <a:gradFill flip="none" rotWithShape="1">
              <a:gsLst>
                <a:gs pos="0">
                  <a:schemeClr val="accent1">
                    <a:lumMod val="5000"/>
                    <a:lumOff val="95000"/>
                    <a:alpha val="0"/>
                  </a:schemeClr>
                </a:gs>
                <a:gs pos="82000">
                  <a:srgbClr val="94DAE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梯形 3"/>
          <p:cNvSpPr/>
          <p:nvPr/>
        </p:nvSpPr>
        <p:spPr bwMode="gray">
          <a:xfrm>
            <a:off x="812428" y="1083324"/>
            <a:ext cx="1790622" cy="1209870"/>
          </a:xfrm>
          <a:prstGeom prst="trapezoid">
            <a:avLst>
              <a:gd name="adj" fmla="val 22668"/>
            </a:avLst>
          </a:prstGeom>
          <a:gradFill flip="none" rotWithShape="1">
            <a:gsLst>
              <a:gs pos="0">
                <a:schemeClr val="bg1"/>
              </a:gs>
              <a:gs pos="100000">
                <a:srgbClr val="94DAE2"/>
              </a:gs>
            </a:gsLst>
            <a:lin ang="5400000" scaled="1"/>
          </a:gradFill>
          <a:ln>
            <a:gradFill flip="none" rotWithShape="1">
              <a:gsLst>
                <a:gs pos="0">
                  <a:schemeClr val="accent1">
                    <a:lumMod val="5000"/>
                    <a:lumOff val="95000"/>
                  </a:schemeClr>
                </a:gs>
                <a:gs pos="82000">
                  <a:srgbClr val="54C1C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梯形 4"/>
          <p:cNvSpPr/>
          <p:nvPr/>
        </p:nvSpPr>
        <p:spPr bwMode="gray">
          <a:xfrm>
            <a:off x="538752" y="4482193"/>
            <a:ext cx="6050762" cy="1685757"/>
          </a:xfrm>
          <a:prstGeom prst="trapezoid">
            <a:avLst>
              <a:gd name="adj" fmla="val 22961"/>
            </a:avLst>
          </a:prstGeom>
          <a:gradFill flip="none" rotWithShape="1">
            <a:gsLst>
              <a:gs pos="0">
                <a:schemeClr val="bg1">
                  <a:alpha val="4000"/>
                </a:schemeClr>
              </a:gs>
              <a:gs pos="100000">
                <a:srgbClr val="E3F6F8"/>
              </a:gs>
            </a:gsLst>
            <a:lin ang="5400000" scaled="1"/>
            <a:tileRect/>
          </a:gradFill>
          <a:ln>
            <a:gradFill flip="none" rotWithShape="1">
              <a:gsLst>
                <a:gs pos="0">
                  <a:schemeClr val="accent1">
                    <a:lumMod val="5000"/>
                    <a:lumOff val="95000"/>
                    <a:alpha val="0"/>
                  </a:schemeClr>
                </a:gs>
                <a:gs pos="82000">
                  <a:srgbClr val="94DAE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梯形 5"/>
          <p:cNvSpPr/>
          <p:nvPr/>
        </p:nvSpPr>
        <p:spPr bwMode="gray">
          <a:xfrm>
            <a:off x="538752" y="2839625"/>
            <a:ext cx="6050762" cy="1685757"/>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82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直接连接符 6"/>
          <p:cNvCxnSpPr/>
          <p:nvPr/>
        </p:nvCxnSpPr>
        <p:spPr bwMode="gray">
          <a:xfrm flipH="1" flipV="1">
            <a:off x="2819961" y="5339420"/>
            <a:ext cx="1283264" cy="36647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flipH="1">
            <a:off x="2845800" y="4800980"/>
            <a:ext cx="1025914" cy="552357"/>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bwMode="gray">
          <a:xfrm flipV="1">
            <a:off x="3679461" y="4869720"/>
            <a:ext cx="2450448" cy="839468"/>
            <a:chOff x="3911288" y="4456131"/>
            <a:chExt cx="2450448" cy="674979"/>
          </a:xfrm>
        </p:grpSpPr>
        <p:cxnSp>
          <p:nvCxnSpPr>
            <p:cNvPr id="10" name="直接连接符 9"/>
            <p:cNvCxnSpPr/>
            <p:nvPr/>
          </p:nvCxnSpPr>
          <p:spPr bwMode="gray">
            <a:xfrm>
              <a:off x="4393093" y="4456131"/>
              <a:ext cx="1323508"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flipV="1">
              <a:off x="3911288" y="5131110"/>
              <a:ext cx="1582732"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5800440" y="4456131"/>
              <a:ext cx="561296"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3" name="图片 87" descr="汇聚交换机.png"/>
          <p:cNvPicPr>
            <a:picLocks noChangeAspect="1"/>
          </p:cNvPicPr>
          <p:nvPr/>
        </p:nvPicPr>
        <p:blipFill>
          <a:blip r:embed="rId3"/>
          <a:stretch>
            <a:fillRect/>
          </a:stretch>
        </p:blipFill>
        <p:spPr bwMode="gray">
          <a:xfrm>
            <a:off x="3557258" y="4760046"/>
            <a:ext cx="343433" cy="280992"/>
          </a:xfrm>
          <a:prstGeom prst="rect">
            <a:avLst/>
          </a:prstGeom>
        </p:spPr>
      </p:pic>
      <p:pic>
        <p:nvPicPr>
          <p:cNvPr id="14" name="图片 87" descr="汇聚交换机.png"/>
          <p:cNvPicPr>
            <a:picLocks noChangeAspect="1"/>
          </p:cNvPicPr>
          <p:nvPr/>
        </p:nvPicPr>
        <p:blipFill>
          <a:blip r:embed="rId3"/>
          <a:stretch>
            <a:fillRect/>
          </a:stretch>
        </p:blipFill>
        <p:spPr bwMode="gray">
          <a:xfrm>
            <a:off x="3901785" y="5555514"/>
            <a:ext cx="343433" cy="280992"/>
          </a:xfrm>
          <a:prstGeom prst="rect">
            <a:avLst/>
          </a:prstGeom>
        </p:spPr>
      </p:pic>
      <p:pic>
        <p:nvPicPr>
          <p:cNvPr id="15" name="图片 76" descr="接入交换机.png"/>
          <p:cNvPicPr>
            <a:picLocks noChangeAspect="1"/>
          </p:cNvPicPr>
          <p:nvPr/>
        </p:nvPicPr>
        <p:blipFill>
          <a:blip r:embed="rId4"/>
          <a:stretch>
            <a:fillRect/>
          </a:stretch>
        </p:blipFill>
        <p:spPr bwMode="gray">
          <a:xfrm>
            <a:off x="5335990" y="5555514"/>
            <a:ext cx="343433" cy="280992"/>
          </a:xfrm>
          <a:prstGeom prst="rect">
            <a:avLst/>
          </a:prstGeom>
        </p:spPr>
      </p:pic>
      <p:pic>
        <p:nvPicPr>
          <p:cNvPr id="16" name="图片 15" descr="接入交换机.png"/>
          <p:cNvPicPr>
            <a:picLocks noChangeAspect="1"/>
          </p:cNvPicPr>
          <p:nvPr/>
        </p:nvPicPr>
        <p:blipFill>
          <a:blip r:embed="rId4"/>
          <a:stretch>
            <a:fillRect/>
          </a:stretch>
        </p:blipFill>
        <p:spPr bwMode="gray">
          <a:xfrm>
            <a:off x="4992557" y="4760046"/>
            <a:ext cx="343433" cy="280992"/>
          </a:xfrm>
          <a:prstGeom prst="rect">
            <a:avLst/>
          </a:prstGeom>
        </p:spPr>
      </p:pic>
      <p:cxnSp>
        <p:nvCxnSpPr>
          <p:cNvPr id="17" name="直接连接符 16"/>
          <p:cNvCxnSpPr/>
          <p:nvPr/>
        </p:nvCxnSpPr>
        <p:spPr bwMode="gray">
          <a:xfrm>
            <a:off x="2278850" y="5339424"/>
            <a:ext cx="586749"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8" name="图片 86" descr="核心交换机.png"/>
          <p:cNvPicPr>
            <a:picLocks noChangeAspect="1"/>
          </p:cNvPicPr>
          <p:nvPr/>
        </p:nvPicPr>
        <p:blipFill>
          <a:blip r:embed="rId5"/>
          <a:stretch>
            <a:fillRect/>
          </a:stretch>
        </p:blipFill>
        <p:spPr bwMode="gray">
          <a:xfrm>
            <a:off x="2668401" y="5202926"/>
            <a:ext cx="343433" cy="280992"/>
          </a:xfrm>
          <a:prstGeom prst="rect">
            <a:avLst/>
          </a:prstGeom>
        </p:spPr>
      </p:pic>
      <p:pic>
        <p:nvPicPr>
          <p:cNvPr id="19"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1924457" y="5206255"/>
            <a:ext cx="335297" cy="274335"/>
          </a:xfrm>
          <a:prstGeom prst="rect">
            <a:avLst/>
          </a:prstGeom>
        </p:spPr>
      </p:pic>
      <p:sp>
        <p:nvSpPr>
          <p:cNvPr id="20" name="矩形 19"/>
          <p:cNvSpPr/>
          <p:nvPr/>
        </p:nvSpPr>
        <p:spPr bwMode="gray">
          <a:xfrm>
            <a:off x="649726" y="2310263"/>
            <a:ext cx="2218684" cy="305105"/>
          </a:xfrm>
          <a:prstGeom prst="rect">
            <a:avLst/>
          </a:prstGeom>
        </p:spPr>
        <p:txBody>
          <a:bodyPr wrap="square">
            <a:no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（虚拟网络层）</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bwMode="gray">
          <a:xfrm>
            <a:off x="649726" y="5813549"/>
            <a:ext cx="2317207" cy="305105"/>
          </a:xfrm>
          <a:prstGeom prst="rect">
            <a:avLst/>
          </a:prstGeom>
        </p:spPr>
        <p:txBody>
          <a:bodyPr wrap="square">
            <a:no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（物理网络层）</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649726" y="4189841"/>
            <a:ext cx="681597" cy="307777"/>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Fabric</a:t>
            </a:r>
          </a:p>
        </p:txBody>
      </p:sp>
      <p:grpSp>
        <p:nvGrpSpPr>
          <p:cNvPr id="23" name="组合 22"/>
          <p:cNvGrpSpPr/>
          <p:nvPr/>
        </p:nvGrpSpPr>
        <p:grpSpPr bwMode="gray">
          <a:xfrm>
            <a:off x="1248320" y="1289393"/>
            <a:ext cx="556773" cy="629606"/>
            <a:chOff x="7493567" y="5008689"/>
            <a:chExt cx="1283264" cy="956570"/>
          </a:xfrm>
        </p:grpSpPr>
        <p:cxnSp>
          <p:nvCxnSpPr>
            <p:cNvPr id="24" name="直接连接符 23"/>
            <p:cNvCxnSpPr/>
            <p:nvPr/>
          </p:nvCxnSpPr>
          <p:spPr bwMode="gray">
            <a:xfrm flipH="1" flipV="1">
              <a:off x="7493567" y="5598789"/>
              <a:ext cx="1283264" cy="36647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gray">
            <a:xfrm flipH="1">
              <a:off x="7588319" y="5008689"/>
              <a:ext cx="847863" cy="456494"/>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26" name="直接连接符 25"/>
          <p:cNvCxnSpPr>
            <a:stCxn id="29" idx="3"/>
            <a:endCxn id="30" idx="1"/>
          </p:cNvCxnSpPr>
          <p:nvPr/>
        </p:nvCxnSpPr>
        <p:spPr bwMode="gray">
          <a:xfrm>
            <a:off x="1899009" y="1935942"/>
            <a:ext cx="24181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8" idx="3"/>
            <a:endCxn id="31" idx="1"/>
          </p:cNvCxnSpPr>
          <p:nvPr/>
        </p:nvCxnSpPr>
        <p:spPr bwMode="gray">
          <a:xfrm>
            <a:off x="1719615" y="1330462"/>
            <a:ext cx="242904"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8" name="图片 87" descr="汇聚交换机.png"/>
          <p:cNvPicPr>
            <a:picLocks noChangeAspect="1"/>
          </p:cNvPicPr>
          <p:nvPr/>
        </p:nvPicPr>
        <p:blipFill>
          <a:blip r:embed="rId3"/>
          <a:stretch>
            <a:fillRect/>
          </a:stretch>
        </p:blipFill>
        <p:spPr bwMode="gray">
          <a:xfrm>
            <a:off x="1485046" y="1234501"/>
            <a:ext cx="234569" cy="191922"/>
          </a:xfrm>
          <a:prstGeom prst="rect">
            <a:avLst/>
          </a:prstGeom>
        </p:spPr>
      </p:pic>
      <p:pic>
        <p:nvPicPr>
          <p:cNvPr id="29" name="图片 87" descr="汇聚交换机.png"/>
          <p:cNvPicPr>
            <a:picLocks noChangeAspect="1"/>
          </p:cNvPicPr>
          <p:nvPr/>
        </p:nvPicPr>
        <p:blipFill>
          <a:blip r:embed="rId3"/>
          <a:stretch>
            <a:fillRect/>
          </a:stretch>
        </p:blipFill>
        <p:spPr bwMode="gray">
          <a:xfrm>
            <a:off x="1664440" y="1839981"/>
            <a:ext cx="234569" cy="191922"/>
          </a:xfrm>
          <a:prstGeom prst="rect">
            <a:avLst/>
          </a:prstGeom>
        </p:spPr>
      </p:pic>
      <p:pic>
        <p:nvPicPr>
          <p:cNvPr id="30" name="图片 76" descr="接入交换机.png"/>
          <p:cNvPicPr>
            <a:picLocks noChangeAspect="1"/>
          </p:cNvPicPr>
          <p:nvPr/>
        </p:nvPicPr>
        <p:blipFill>
          <a:blip r:embed="rId4"/>
          <a:stretch>
            <a:fillRect/>
          </a:stretch>
        </p:blipFill>
        <p:spPr bwMode="gray">
          <a:xfrm>
            <a:off x="2140819" y="1839981"/>
            <a:ext cx="234569" cy="191922"/>
          </a:xfrm>
          <a:prstGeom prst="rect">
            <a:avLst/>
          </a:prstGeom>
        </p:spPr>
      </p:pic>
      <p:pic>
        <p:nvPicPr>
          <p:cNvPr id="31" name="图片 30" descr="接入交换机.png"/>
          <p:cNvPicPr>
            <a:picLocks noChangeAspect="1"/>
          </p:cNvPicPr>
          <p:nvPr/>
        </p:nvPicPr>
        <p:blipFill>
          <a:blip r:embed="rId4"/>
          <a:stretch>
            <a:fillRect/>
          </a:stretch>
        </p:blipFill>
        <p:spPr bwMode="gray">
          <a:xfrm>
            <a:off x="1962519" y="1234501"/>
            <a:ext cx="234569" cy="191922"/>
          </a:xfrm>
          <a:prstGeom prst="rect">
            <a:avLst/>
          </a:prstGeom>
        </p:spPr>
      </p:pic>
      <p:pic>
        <p:nvPicPr>
          <p:cNvPr id="32" name="图片 86" descr="核心交换机.png"/>
          <p:cNvPicPr>
            <a:picLocks noChangeAspect="1"/>
          </p:cNvPicPr>
          <p:nvPr/>
        </p:nvPicPr>
        <p:blipFill>
          <a:blip r:embed="rId5"/>
          <a:stretch>
            <a:fillRect/>
          </a:stretch>
        </p:blipFill>
        <p:spPr bwMode="gray">
          <a:xfrm>
            <a:off x="1102117" y="1551651"/>
            <a:ext cx="234569" cy="191922"/>
          </a:xfrm>
          <a:prstGeom prst="rect">
            <a:avLst/>
          </a:prstGeom>
        </p:spPr>
      </p:pic>
      <p:sp>
        <p:nvSpPr>
          <p:cNvPr id="33" name="矩形 32"/>
          <p:cNvSpPr/>
          <p:nvPr/>
        </p:nvSpPr>
        <p:spPr bwMode="gray">
          <a:xfrm>
            <a:off x="835497" y="2022178"/>
            <a:ext cx="1744485" cy="274594"/>
          </a:xfrm>
          <a:prstGeom prst="rect">
            <a:avLst/>
          </a:prstGeom>
        </p:spPr>
        <p:txBody>
          <a:bodyPr wrap="square">
            <a:no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34" name="梯形 33"/>
          <p:cNvSpPr/>
          <p:nvPr/>
        </p:nvSpPr>
        <p:spPr bwMode="gray">
          <a:xfrm>
            <a:off x="2685335" y="1083324"/>
            <a:ext cx="1790622" cy="1209870"/>
          </a:xfrm>
          <a:prstGeom prst="trapezoid">
            <a:avLst>
              <a:gd name="adj" fmla="val 22668"/>
            </a:avLst>
          </a:prstGeom>
          <a:gradFill flip="none" rotWithShape="1">
            <a:gsLst>
              <a:gs pos="0">
                <a:schemeClr val="bg1"/>
              </a:gs>
              <a:gs pos="100000">
                <a:srgbClr val="94DAE2"/>
              </a:gs>
            </a:gsLst>
            <a:lin ang="5400000" scaled="1"/>
          </a:gradFill>
          <a:ln>
            <a:gradFill flip="none" rotWithShape="1">
              <a:gsLst>
                <a:gs pos="0">
                  <a:schemeClr val="accent1">
                    <a:lumMod val="5000"/>
                    <a:lumOff val="95000"/>
                  </a:schemeClr>
                </a:gs>
                <a:gs pos="82000">
                  <a:srgbClr val="54C1C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连接符 34"/>
          <p:cNvCxnSpPr/>
          <p:nvPr/>
        </p:nvCxnSpPr>
        <p:spPr bwMode="gray">
          <a:xfrm flipH="1">
            <a:off x="3162333" y="1289389"/>
            <a:ext cx="367864" cy="30046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7" idx="3"/>
            <a:endCxn id="38" idx="1"/>
          </p:cNvCxnSpPr>
          <p:nvPr/>
        </p:nvCxnSpPr>
        <p:spPr bwMode="gray">
          <a:xfrm>
            <a:off x="3592522" y="1330462"/>
            <a:ext cx="242904"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7" name="图片 87" descr="汇聚交换机.png"/>
          <p:cNvPicPr>
            <a:picLocks noChangeAspect="1"/>
          </p:cNvPicPr>
          <p:nvPr/>
        </p:nvPicPr>
        <p:blipFill>
          <a:blip r:embed="rId3"/>
          <a:stretch>
            <a:fillRect/>
          </a:stretch>
        </p:blipFill>
        <p:spPr bwMode="gray">
          <a:xfrm>
            <a:off x="3357953" y="1234501"/>
            <a:ext cx="234569" cy="191922"/>
          </a:xfrm>
          <a:prstGeom prst="rect">
            <a:avLst/>
          </a:prstGeom>
        </p:spPr>
      </p:pic>
      <p:pic>
        <p:nvPicPr>
          <p:cNvPr id="38" name="图片 37" descr="接入交换机.png"/>
          <p:cNvPicPr>
            <a:picLocks noChangeAspect="1"/>
          </p:cNvPicPr>
          <p:nvPr/>
        </p:nvPicPr>
        <p:blipFill>
          <a:blip r:embed="rId4"/>
          <a:stretch>
            <a:fillRect/>
          </a:stretch>
        </p:blipFill>
        <p:spPr bwMode="gray">
          <a:xfrm>
            <a:off x="3835426" y="1234501"/>
            <a:ext cx="234569" cy="191922"/>
          </a:xfrm>
          <a:prstGeom prst="rect">
            <a:avLst/>
          </a:prstGeom>
        </p:spPr>
      </p:pic>
      <p:pic>
        <p:nvPicPr>
          <p:cNvPr id="39" name="图片 86" descr="核心交换机.png"/>
          <p:cNvPicPr>
            <a:picLocks noChangeAspect="1"/>
          </p:cNvPicPr>
          <p:nvPr/>
        </p:nvPicPr>
        <p:blipFill>
          <a:blip r:embed="rId5"/>
          <a:stretch>
            <a:fillRect/>
          </a:stretch>
        </p:blipFill>
        <p:spPr bwMode="gray">
          <a:xfrm>
            <a:off x="2975024" y="1551651"/>
            <a:ext cx="234569" cy="191922"/>
          </a:xfrm>
          <a:prstGeom prst="rect">
            <a:avLst/>
          </a:prstGeom>
        </p:spPr>
      </p:pic>
      <p:sp>
        <p:nvSpPr>
          <p:cNvPr id="40" name="矩形 39"/>
          <p:cNvSpPr/>
          <p:nvPr/>
        </p:nvSpPr>
        <p:spPr bwMode="gray">
          <a:xfrm>
            <a:off x="2708404" y="2022178"/>
            <a:ext cx="1744485" cy="274594"/>
          </a:xfrm>
          <a:prstGeom prst="rect">
            <a:avLst/>
          </a:prstGeom>
        </p:spPr>
        <p:txBody>
          <a:bodyPr wrap="square">
            <a:no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41" name="梯形 40"/>
          <p:cNvSpPr/>
          <p:nvPr/>
        </p:nvSpPr>
        <p:spPr bwMode="gray">
          <a:xfrm>
            <a:off x="4572254" y="1083324"/>
            <a:ext cx="1790622" cy="1209870"/>
          </a:xfrm>
          <a:prstGeom prst="trapezoid">
            <a:avLst>
              <a:gd name="adj" fmla="val 22668"/>
            </a:avLst>
          </a:prstGeom>
          <a:gradFill flip="none" rotWithShape="1">
            <a:gsLst>
              <a:gs pos="0">
                <a:schemeClr val="bg1"/>
              </a:gs>
              <a:gs pos="100000">
                <a:srgbClr val="94DAE2"/>
              </a:gs>
            </a:gsLst>
            <a:lin ang="5400000" scaled="1"/>
          </a:gradFill>
          <a:ln>
            <a:gradFill flip="none" rotWithShape="1">
              <a:gsLst>
                <a:gs pos="0">
                  <a:schemeClr val="accent1">
                    <a:lumMod val="5000"/>
                    <a:lumOff val="95000"/>
                  </a:schemeClr>
                </a:gs>
                <a:gs pos="82000">
                  <a:srgbClr val="54C1C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连接符 41"/>
          <p:cNvCxnSpPr/>
          <p:nvPr/>
        </p:nvCxnSpPr>
        <p:spPr bwMode="gray">
          <a:xfrm flipH="1" flipV="1">
            <a:off x="5008146" y="1677786"/>
            <a:ext cx="556773" cy="241207"/>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44" idx="3"/>
            <a:endCxn id="45" idx="1"/>
          </p:cNvCxnSpPr>
          <p:nvPr/>
        </p:nvCxnSpPr>
        <p:spPr bwMode="gray">
          <a:xfrm>
            <a:off x="5658835" y="1935942"/>
            <a:ext cx="24181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44" name="图片 87" descr="汇聚交换机.png"/>
          <p:cNvPicPr>
            <a:picLocks noChangeAspect="1"/>
          </p:cNvPicPr>
          <p:nvPr/>
        </p:nvPicPr>
        <p:blipFill>
          <a:blip r:embed="rId3"/>
          <a:stretch>
            <a:fillRect/>
          </a:stretch>
        </p:blipFill>
        <p:spPr bwMode="gray">
          <a:xfrm>
            <a:off x="5424266" y="1839981"/>
            <a:ext cx="234569" cy="191922"/>
          </a:xfrm>
          <a:prstGeom prst="rect">
            <a:avLst/>
          </a:prstGeom>
        </p:spPr>
      </p:pic>
      <p:pic>
        <p:nvPicPr>
          <p:cNvPr id="45" name="图片 76" descr="接入交换机.png"/>
          <p:cNvPicPr>
            <a:picLocks noChangeAspect="1"/>
          </p:cNvPicPr>
          <p:nvPr/>
        </p:nvPicPr>
        <p:blipFill>
          <a:blip r:embed="rId4"/>
          <a:stretch>
            <a:fillRect/>
          </a:stretch>
        </p:blipFill>
        <p:spPr bwMode="gray">
          <a:xfrm>
            <a:off x="5900645" y="1839981"/>
            <a:ext cx="234569" cy="191922"/>
          </a:xfrm>
          <a:prstGeom prst="rect">
            <a:avLst/>
          </a:prstGeom>
        </p:spPr>
      </p:pic>
      <p:pic>
        <p:nvPicPr>
          <p:cNvPr id="46" name="图片 86" descr="核心交换机.png"/>
          <p:cNvPicPr>
            <a:picLocks noChangeAspect="1"/>
          </p:cNvPicPr>
          <p:nvPr/>
        </p:nvPicPr>
        <p:blipFill>
          <a:blip r:embed="rId5"/>
          <a:stretch>
            <a:fillRect/>
          </a:stretch>
        </p:blipFill>
        <p:spPr bwMode="gray">
          <a:xfrm>
            <a:off x="4861943" y="1551651"/>
            <a:ext cx="234569" cy="191922"/>
          </a:xfrm>
          <a:prstGeom prst="rect">
            <a:avLst/>
          </a:prstGeom>
        </p:spPr>
      </p:pic>
      <p:sp>
        <p:nvSpPr>
          <p:cNvPr id="47" name="矩形 46"/>
          <p:cNvSpPr/>
          <p:nvPr/>
        </p:nvSpPr>
        <p:spPr bwMode="gray">
          <a:xfrm>
            <a:off x="4595323" y="2022178"/>
            <a:ext cx="1744485" cy="274594"/>
          </a:xfrm>
          <a:prstGeom prst="rect">
            <a:avLst/>
          </a:prstGeom>
        </p:spPr>
        <p:txBody>
          <a:bodyPr wrap="square">
            <a:no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p>
        </p:txBody>
      </p:sp>
      <p:pic>
        <p:nvPicPr>
          <p:cNvPr id="48" name="图片 105" descr="AP.png"/>
          <p:cNvPicPr>
            <a:picLocks noChangeAspect="1"/>
          </p:cNvPicPr>
          <p:nvPr/>
        </p:nvPicPr>
        <p:blipFill>
          <a:blip r:embed="rId7"/>
          <a:stretch>
            <a:fillRect/>
          </a:stretch>
        </p:blipFill>
        <p:spPr bwMode="gray">
          <a:xfrm>
            <a:off x="6010814" y="5558843"/>
            <a:ext cx="335297" cy="274335"/>
          </a:xfrm>
          <a:prstGeom prst="rect">
            <a:avLst/>
          </a:prstGeom>
        </p:spPr>
      </p:pic>
      <p:sp>
        <p:nvSpPr>
          <p:cNvPr id="49" name="椭圆 48"/>
          <p:cNvSpPr/>
          <p:nvPr/>
        </p:nvSpPr>
        <p:spPr bwMode="gray">
          <a:xfrm>
            <a:off x="3428019" y="3388388"/>
            <a:ext cx="863585" cy="62129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p>
        </p:txBody>
      </p:sp>
      <p:sp>
        <p:nvSpPr>
          <p:cNvPr id="50" name="圆角矩形 75"/>
          <p:cNvSpPr/>
          <p:nvPr/>
        </p:nvSpPr>
        <p:spPr bwMode="gray">
          <a:xfrm>
            <a:off x="1858343" y="2829507"/>
            <a:ext cx="1296000" cy="257648"/>
          </a:xfrm>
          <a:prstGeom prst="roundRect">
            <a:avLst>
              <a:gd name="adj" fmla="val 10604"/>
            </a:avLst>
          </a:prstGeom>
          <a:solidFill>
            <a:srgbClr val="1262A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外部网络</a:t>
            </a:r>
            <a:endParaRPr lang="en-US" altLang="zh-CN"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2" name="圆角矩形 75"/>
          <p:cNvSpPr/>
          <p:nvPr/>
        </p:nvSpPr>
        <p:spPr bwMode="gray">
          <a:xfrm>
            <a:off x="4570753" y="2829507"/>
            <a:ext cx="1296000" cy="257648"/>
          </a:xfrm>
          <a:prstGeom prst="roundRect">
            <a:avLst>
              <a:gd name="adj" fmla="val 10604"/>
            </a:avLst>
          </a:prstGeom>
          <a:solidFill>
            <a:srgbClr val="1262A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网络服务资源</a:t>
            </a:r>
            <a:endParaRPr lang="en-US" altLang="zh-CN"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54" name="直接箭头连接符 53"/>
          <p:cNvCxnSpPr>
            <a:stCxn id="50" idx="2"/>
          </p:cNvCxnSpPr>
          <p:nvPr/>
        </p:nvCxnSpPr>
        <p:spPr bwMode="gray">
          <a:xfrm>
            <a:off x="2506343" y="3087155"/>
            <a:ext cx="921676" cy="533004"/>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bwMode="gray">
          <a:xfrm flipH="1">
            <a:off x="4286782" y="3087155"/>
            <a:ext cx="898103" cy="533004"/>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圆角矩形 75"/>
          <p:cNvSpPr/>
          <p:nvPr/>
        </p:nvSpPr>
        <p:spPr bwMode="gray">
          <a:xfrm>
            <a:off x="1722263" y="4071777"/>
            <a:ext cx="1568160" cy="257648"/>
          </a:xfrm>
          <a:prstGeom prst="roundRect">
            <a:avLst>
              <a:gd name="adj" fmla="val 10604"/>
            </a:avLst>
          </a:prstGeom>
          <a:solidFill>
            <a:srgbClr val="1262A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有线接入</a:t>
            </a:r>
          </a:p>
        </p:txBody>
      </p:sp>
      <p:sp>
        <p:nvSpPr>
          <p:cNvPr id="57" name="圆角矩形 75"/>
          <p:cNvSpPr/>
          <p:nvPr/>
        </p:nvSpPr>
        <p:spPr bwMode="gray">
          <a:xfrm>
            <a:off x="4434673" y="4071777"/>
            <a:ext cx="1568160" cy="257648"/>
          </a:xfrm>
          <a:prstGeom prst="roundRect">
            <a:avLst>
              <a:gd name="adj" fmla="val 10604"/>
            </a:avLst>
          </a:prstGeom>
          <a:solidFill>
            <a:srgbClr val="1262A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无线接入</a:t>
            </a:r>
          </a:p>
        </p:txBody>
      </p:sp>
      <p:cxnSp>
        <p:nvCxnSpPr>
          <p:cNvPr id="58" name="直接箭头连接符 57"/>
          <p:cNvCxnSpPr>
            <a:stCxn id="56" idx="3"/>
            <a:endCxn id="49" idx="3"/>
          </p:cNvCxnSpPr>
          <p:nvPr/>
        </p:nvCxnSpPr>
        <p:spPr bwMode="gray">
          <a:xfrm flipV="1">
            <a:off x="3290423" y="3918698"/>
            <a:ext cx="264065" cy="281903"/>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57" idx="1"/>
            <a:endCxn id="49" idx="5"/>
          </p:cNvCxnSpPr>
          <p:nvPr/>
        </p:nvCxnSpPr>
        <p:spPr bwMode="gray">
          <a:xfrm flipH="1" flipV="1">
            <a:off x="4165135" y="3918698"/>
            <a:ext cx="269538" cy="281903"/>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矩形 59"/>
          <p:cNvSpPr/>
          <p:nvPr/>
        </p:nvSpPr>
        <p:spPr bwMode="gray">
          <a:xfrm>
            <a:off x="1379394" y="1472056"/>
            <a:ext cx="1911029" cy="307777"/>
          </a:xfrm>
          <a:prstGeom prst="rect">
            <a:avLst/>
          </a:prstGeom>
        </p:spPr>
        <p:txBody>
          <a:bodyPr wrap="square">
            <a:no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VRF+VNI</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a:off x="3258810" y="1472056"/>
            <a:ext cx="947695" cy="307777"/>
          </a:xfrm>
          <a:prstGeom prst="rect">
            <a:avLst/>
          </a:prstGeom>
        </p:spPr>
        <p:txBody>
          <a:bodyPr wrap="square">
            <a:no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VRF+VNI</a:t>
            </a:r>
          </a:p>
        </p:txBody>
      </p:sp>
      <p:sp>
        <p:nvSpPr>
          <p:cNvPr id="62" name="矩形 61"/>
          <p:cNvSpPr/>
          <p:nvPr/>
        </p:nvSpPr>
        <p:spPr bwMode="gray">
          <a:xfrm>
            <a:off x="5216120" y="1472056"/>
            <a:ext cx="947695" cy="307777"/>
          </a:xfrm>
          <a:prstGeom prst="rect">
            <a:avLst/>
          </a:prstGeom>
        </p:spPr>
        <p:txBody>
          <a:bodyPr wrap="square">
            <a:no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VRF+VNI</a:t>
            </a:r>
          </a:p>
        </p:txBody>
      </p:sp>
      <p:sp>
        <p:nvSpPr>
          <p:cNvPr id="63" name="圆角矩形 75"/>
          <p:cNvSpPr/>
          <p:nvPr/>
        </p:nvSpPr>
        <p:spPr bwMode="gray">
          <a:xfrm>
            <a:off x="6848995" y="1061570"/>
            <a:ext cx="4797765" cy="360000"/>
          </a:xfrm>
          <a:prstGeom prst="roundRect">
            <a:avLst>
              <a:gd name="adj" fmla="val 13606"/>
            </a:avLst>
          </a:prstGeom>
          <a:gradFill>
            <a:gsLst>
              <a:gs pos="0">
                <a:schemeClr val="bg1"/>
              </a:gs>
              <a:gs pos="100000">
                <a:schemeClr val="bg1">
                  <a:lumMod val="85000"/>
                </a:schemeClr>
              </a:gs>
            </a:gsLst>
            <a:lin ang="5400000" scaled="1"/>
          </a:gra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网络</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服务抽象</a:t>
            </a:r>
          </a:p>
        </p:txBody>
      </p:sp>
      <p:sp>
        <p:nvSpPr>
          <p:cNvPr id="64" name="圆角矩形 75"/>
          <p:cNvSpPr/>
          <p:nvPr/>
        </p:nvSpPr>
        <p:spPr bwMode="gray">
          <a:xfrm>
            <a:off x="6848995" y="1472057"/>
            <a:ext cx="4797765" cy="2340690"/>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2200"/>
              </a:lnSpc>
              <a:spcAft>
                <a:spcPts val="300"/>
              </a:spcAft>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通过编排实现物理网络资源池化，将网络抽象为</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FaaS</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Fabric as a Service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FaaS</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的实例，包括：</a:t>
            </a:r>
          </a:p>
          <a:p>
            <a:pPr marL="176213" indent="-176213" algn="just">
              <a:lnSpc>
                <a:spcPts val="2200"/>
              </a:lnSpc>
              <a:spcAft>
                <a:spcPts val="300"/>
              </a:spcAft>
              <a:buFont typeface="Arial" panose="020B0604020202020204" pitchFamily="34" charset="0"/>
              <a:buChar char="•"/>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IP/VLAN</a:t>
            </a:r>
          </a:p>
          <a:p>
            <a:pPr marL="176213" indent="-176213" algn="just">
              <a:lnSpc>
                <a:spcPts val="2200"/>
              </a:lnSpc>
              <a:spcAft>
                <a:spcPts val="300"/>
              </a:spcAft>
              <a:buFont typeface="Arial" panose="020B0604020202020204" pitchFamily="34" charset="0"/>
              <a:buChar char="•"/>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外部网络</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6213" indent="-176213" algn="just">
              <a:lnSpc>
                <a:spcPts val="2200"/>
              </a:lnSpc>
              <a:spcAft>
                <a:spcPts val="300"/>
              </a:spcAft>
              <a:buFont typeface="Arial" panose="020B0604020202020204" pitchFamily="34" charset="0"/>
              <a:buChar char="•"/>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网络资源：</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IP/VLAN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段是</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提供给客户端使用网络资源的能力</a:t>
            </a:r>
          </a:p>
          <a:p>
            <a:pPr marL="176213" indent="-176213" algn="just">
              <a:lnSpc>
                <a:spcPts val="2200"/>
              </a:lnSpc>
              <a:spcAft>
                <a:spcPts val="300"/>
              </a:spcAft>
              <a:buFont typeface="Arial" panose="020B0604020202020204" pitchFamily="34" charset="0"/>
              <a:buChar char="•"/>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接入点：终端通过接入点接入</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VN</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5" name="圆角矩形 75"/>
          <p:cNvSpPr/>
          <p:nvPr/>
        </p:nvSpPr>
        <p:spPr bwMode="gray">
          <a:xfrm>
            <a:off x="6848995" y="4327170"/>
            <a:ext cx="4797765"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 网络</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业务编排</a:t>
            </a:r>
          </a:p>
        </p:txBody>
      </p:sp>
      <p:sp>
        <p:nvSpPr>
          <p:cNvPr id="66" name="圆角矩形 75"/>
          <p:cNvSpPr/>
          <p:nvPr/>
        </p:nvSpPr>
        <p:spPr bwMode="gray">
          <a:xfrm>
            <a:off x="6848995" y="4727715"/>
            <a:ext cx="4797765" cy="1296860"/>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marL="176213" indent="-176213" algn="just">
              <a:lnSpc>
                <a:spcPts val="2200"/>
              </a:lnSpc>
              <a:spcAft>
                <a:spcPts val="3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下发</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VNI</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与</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BD</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的映射关系</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6213" indent="-176213" algn="just">
              <a:lnSpc>
                <a:spcPts val="2200"/>
              </a:lnSpc>
              <a:spcAft>
                <a:spcPts val="3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下发</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BD</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与</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的映射关系</a:t>
            </a:r>
          </a:p>
          <a:p>
            <a:pPr marL="176213" indent="-176213" algn="just">
              <a:lnSpc>
                <a:spcPts val="2200"/>
              </a:lnSpc>
              <a:spcAft>
                <a:spcPts val="3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下发</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VBDIF</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对应的</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地址段</a:t>
            </a:r>
          </a:p>
          <a:p>
            <a:pPr marL="176213" indent="-176213" algn="just">
              <a:lnSpc>
                <a:spcPts val="2200"/>
              </a:lnSpc>
              <a:spcAft>
                <a:spcPts val="3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下发</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VRF</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绑定到</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VBDIF</a:t>
            </a: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7" name="Freeform 222"/>
          <p:cNvSpPr/>
          <p:nvPr/>
        </p:nvSpPr>
        <p:spPr bwMode="gray">
          <a:xfrm rot="3998249">
            <a:off x="10823307" y="3745897"/>
            <a:ext cx="936838" cy="796839"/>
          </a:xfrm>
          <a:custGeom>
            <a:avLst/>
            <a:gdLst>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gradFill>
          <a:ln>
            <a:gradFill flip="none" rotWithShape="1">
              <a:gsLst>
                <a:gs pos="0">
                  <a:schemeClr val="accent1">
                    <a:lumMod val="0"/>
                    <a:lumOff val="100000"/>
                    <a:alpha val="0"/>
                  </a:schemeClr>
                </a:gs>
                <a:gs pos="86000">
                  <a:srgbClr val="FF9933"/>
                </a:gs>
              </a:gsLst>
              <a:lin ang="27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222"/>
          <p:cNvSpPr/>
          <p:nvPr/>
        </p:nvSpPr>
        <p:spPr bwMode="gray">
          <a:xfrm rot="8235644">
            <a:off x="5941384" y="4777453"/>
            <a:ext cx="936838" cy="796839"/>
          </a:xfrm>
          <a:custGeom>
            <a:avLst/>
            <a:gdLst>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gradFill>
          <a:ln>
            <a:gradFill flip="none" rotWithShape="1">
              <a:gsLst>
                <a:gs pos="0">
                  <a:schemeClr val="accent1">
                    <a:lumMod val="0"/>
                    <a:lumOff val="100000"/>
                    <a:alpha val="0"/>
                  </a:schemeClr>
                </a:gs>
                <a:gs pos="86000">
                  <a:srgbClr val="FF9933"/>
                </a:gs>
              </a:gsLst>
              <a:lin ang="27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bwMode="gray">
          <a:xfrm>
            <a:off x="10322768" y="4009685"/>
            <a:ext cx="1000017" cy="300547"/>
          </a:xfrm>
          <a:prstGeom prst="rect">
            <a:avLst/>
          </a:prstGeom>
        </p:spPr>
        <p:txBody>
          <a:bodyPr wrap="square">
            <a:noAutofit/>
          </a:bodyPr>
          <a:lstStyle/>
          <a:p>
            <a:r>
              <a:rPr lang="zh-CN" altLang="en-US" sz="14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4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VN</a:t>
            </a:r>
          </a:p>
        </p:txBody>
      </p:sp>
      <p:sp>
        <p:nvSpPr>
          <p:cNvPr id="70" name="矩形 69"/>
          <p:cNvSpPr/>
          <p:nvPr/>
        </p:nvSpPr>
        <p:spPr bwMode="gray">
          <a:xfrm>
            <a:off x="5655872" y="4766857"/>
            <a:ext cx="1367871" cy="305105"/>
          </a:xfrm>
          <a:prstGeom prst="rect">
            <a:avLst/>
          </a:prstGeom>
        </p:spPr>
        <p:txBody>
          <a:bodyPr wrap="square">
            <a:noAutofit/>
          </a:bodyPr>
          <a:lstStyle/>
          <a:p>
            <a:r>
              <a:rPr lang="zh-CN" altLang="en-US" sz="14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配置下发</a:t>
            </a:r>
          </a:p>
        </p:txBody>
      </p:sp>
      <p:grpSp>
        <p:nvGrpSpPr>
          <p:cNvPr id="51" name="组合 50"/>
          <p:cNvGrpSpPr/>
          <p:nvPr/>
        </p:nvGrpSpPr>
        <p:grpSpPr>
          <a:xfrm>
            <a:off x="536340" y="2867014"/>
            <a:ext cx="1102314" cy="1067137"/>
            <a:chOff x="536340" y="2867014"/>
            <a:chExt cx="1102314" cy="1067137"/>
          </a:xfrm>
        </p:grpSpPr>
        <p:sp>
          <p:nvSpPr>
            <p:cNvPr id="72" name="圆角矩形 71"/>
            <p:cNvSpPr/>
            <p:nvPr/>
          </p:nvSpPr>
          <p:spPr bwMode="gray">
            <a:xfrm>
              <a:off x="610016" y="3295946"/>
              <a:ext cx="954963" cy="164058"/>
            </a:xfrm>
            <a:prstGeom prst="roundRect">
              <a:avLst/>
            </a:prstGeom>
            <a:solidFill>
              <a:schemeClr val="bg1">
                <a:lumMod val="8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外部网络</a:t>
              </a:r>
            </a:p>
          </p:txBody>
        </p:sp>
        <p:sp>
          <p:nvSpPr>
            <p:cNvPr id="73" name="圆角矩形 72"/>
            <p:cNvSpPr/>
            <p:nvPr/>
          </p:nvSpPr>
          <p:spPr bwMode="gray">
            <a:xfrm>
              <a:off x="610016" y="3045308"/>
              <a:ext cx="954963" cy="204400"/>
            </a:xfrm>
            <a:prstGeom prst="roundRect">
              <a:avLst>
                <a:gd name="adj" fmla="val 6984"/>
              </a:avLst>
            </a:prstGeom>
            <a:solidFill>
              <a:schemeClr val="bg1">
                <a:lumMod val="8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IP/VLAN</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段</a:t>
              </a:r>
            </a:p>
          </p:txBody>
        </p:sp>
        <p:sp>
          <p:nvSpPr>
            <p:cNvPr id="74" name="圆角矩形 73"/>
            <p:cNvSpPr/>
            <p:nvPr/>
          </p:nvSpPr>
          <p:spPr bwMode="gray">
            <a:xfrm>
              <a:off x="610016" y="3716538"/>
              <a:ext cx="954963" cy="164058"/>
            </a:xfrm>
            <a:prstGeom prst="roundRect">
              <a:avLst/>
            </a:prstGeom>
            <a:solidFill>
              <a:schemeClr val="bg1">
                <a:lumMod val="8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接入点</a:t>
              </a:r>
            </a:p>
          </p:txBody>
        </p:sp>
        <p:sp>
          <p:nvSpPr>
            <p:cNvPr id="76" name="圆角矩形 75"/>
            <p:cNvSpPr/>
            <p:nvPr/>
          </p:nvSpPr>
          <p:spPr bwMode="gray">
            <a:xfrm>
              <a:off x="768241" y="2881250"/>
              <a:ext cx="638512" cy="164058"/>
            </a:xfrm>
            <a:prstGeom prst="round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noAutofit/>
            </a:bodyPr>
            <a:lstStyle/>
            <a:p>
              <a:pPr algn="ctr">
                <a:buClr>
                  <a:srgbClr val="CC9900"/>
                </a:buClr>
              </a:pP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VN</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矩形 76"/>
            <p:cNvSpPr/>
            <p:nvPr/>
          </p:nvSpPr>
          <p:spPr bwMode="gray">
            <a:xfrm>
              <a:off x="536340" y="2867014"/>
              <a:ext cx="1102314" cy="1067137"/>
            </a:xfrm>
            <a:prstGeom prst="rect">
              <a:avLst/>
            </a:prstGeom>
            <a:noFill/>
            <a:ln w="9525" cap="flat" cmpd="sng" algn="ctr">
              <a:solidFill>
                <a:schemeClr val="tx1"/>
              </a:solidFill>
              <a:prstDash val="dash"/>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noAutofit/>
            </a:bodyPr>
            <a:lstStyle/>
            <a:p>
              <a:pPr algn="ctr">
                <a:buClr>
                  <a:srgbClr val="CC9900"/>
                </a:buClr>
              </a:pP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圆角矩形 87"/>
            <p:cNvSpPr/>
            <p:nvPr/>
          </p:nvSpPr>
          <p:spPr bwMode="gray">
            <a:xfrm>
              <a:off x="610016" y="3506242"/>
              <a:ext cx="954963" cy="164058"/>
            </a:xfrm>
            <a:prstGeom prst="roundRect">
              <a:avLst/>
            </a:prstGeom>
            <a:solidFill>
              <a:schemeClr val="bg1">
                <a:lumMod val="8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网络服务资源</a:t>
              </a:r>
            </a:p>
          </p:txBody>
        </p:sp>
      </p:grpSp>
      <p:sp>
        <p:nvSpPr>
          <p:cNvPr id="78" name="五边形 77"/>
          <p:cNvSpPr/>
          <p:nvPr/>
        </p:nvSpPr>
        <p:spPr bwMode="gray">
          <a:xfrm>
            <a:off x="949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79" name="燕尾形 78"/>
          <p:cNvSpPr/>
          <p:nvPr/>
        </p:nvSpPr>
        <p:spPr bwMode="gray">
          <a:xfrm>
            <a:off x="10489087" y="114957"/>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272094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a:sym typeface="Huawei Sans" panose="020C0503030203020204" pitchFamily="34" charset="0"/>
              </a:rPr>
              <a:t>VN</a:t>
            </a:r>
            <a:r>
              <a:rPr lang="zh-CN" altLang="en-US">
                <a:sym typeface="Huawei Sans" panose="020C0503030203020204" pitchFamily="34" charset="0"/>
              </a:rPr>
              <a:t>接入设计</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0"/>
            <a:ext cx="11256961" cy="1287043"/>
          </a:xfrm>
        </p:spPr>
        <p:txBody>
          <a:bodyPr/>
          <a:lstStyle/>
          <a:p>
            <a:pPr fontAlgn="base"/>
            <a:r>
              <a:rPr lang="en-US" altLang="zh-CN" sz="1800" dirty="0">
                <a:sym typeface="Huawei Sans" panose="020C0503030203020204" pitchFamily="34" charset="0"/>
              </a:rPr>
              <a:t>Edge</a:t>
            </a:r>
            <a:r>
              <a:rPr lang="zh-CN" altLang="en-US" sz="1800" dirty="0">
                <a:sym typeface="Huawei Sans" panose="020C0503030203020204" pitchFamily="34" charset="0"/>
              </a:rPr>
              <a:t>节点是业务数据从物理网络进入</a:t>
            </a:r>
            <a:r>
              <a:rPr lang="en-US" altLang="zh-CN" sz="1800" dirty="0">
                <a:sym typeface="Huawei Sans" panose="020C0503030203020204" pitchFamily="34" charset="0"/>
              </a:rPr>
              <a:t>VN</a:t>
            </a:r>
            <a:r>
              <a:rPr lang="zh-CN" altLang="en-US" sz="1800" dirty="0">
                <a:sym typeface="Huawei Sans" panose="020C0503030203020204" pitchFamily="34" charset="0"/>
              </a:rPr>
              <a:t>的边界点，根据用户所属的</a:t>
            </a:r>
            <a:r>
              <a:rPr lang="en-US" altLang="zh-CN" sz="1800" dirty="0">
                <a:sym typeface="Huawei Sans" panose="020C0503030203020204" pitchFamily="34" charset="0"/>
              </a:rPr>
              <a:t>VLAN</a:t>
            </a:r>
            <a:r>
              <a:rPr lang="zh-CN" altLang="en-US" sz="1800" dirty="0">
                <a:sym typeface="Huawei Sans" panose="020C0503030203020204" pitchFamily="34" charset="0"/>
              </a:rPr>
              <a:t>进入不同的</a:t>
            </a:r>
            <a:r>
              <a:rPr lang="en-US" altLang="zh-CN" sz="1800" dirty="0">
                <a:sym typeface="Huawei Sans" panose="020C0503030203020204" pitchFamily="34" charset="0"/>
              </a:rPr>
              <a:t>VN</a:t>
            </a:r>
            <a:r>
              <a:rPr lang="zh-CN" altLang="en-US" sz="1800" dirty="0">
                <a:sym typeface="Huawei Sans" panose="020C0503030203020204" pitchFamily="34" charset="0"/>
              </a:rPr>
              <a:t>。</a:t>
            </a:r>
            <a:endParaRPr lang="en-US" altLang="zh-CN" sz="1800" dirty="0">
              <a:sym typeface="Huawei Sans" panose="020C0503030203020204" pitchFamily="34" charset="0"/>
            </a:endParaRPr>
          </a:p>
          <a:p>
            <a:pPr fontAlgn="base"/>
            <a:r>
              <a:rPr lang="zh-CN" altLang="en-US" sz="1800" dirty="0">
                <a:sym typeface="Huawei Sans" panose="020C0503030203020204" pitchFamily="34" charset="0"/>
              </a:rPr>
              <a:t>有线用户流量根据</a:t>
            </a:r>
            <a:r>
              <a:rPr lang="en-US" altLang="zh-CN" sz="1800" dirty="0">
                <a:sym typeface="Huawei Sans" panose="020C0503030203020204" pitchFamily="34" charset="0"/>
              </a:rPr>
              <a:t>VLAN</a:t>
            </a:r>
            <a:r>
              <a:rPr lang="zh-CN" altLang="en-US" sz="1800" dirty="0">
                <a:sym typeface="Huawei Sans" panose="020C0503030203020204" pitchFamily="34" charset="0"/>
              </a:rPr>
              <a:t>直接接入虚拟网络；无线用户流量被转发到随板</a:t>
            </a:r>
            <a:r>
              <a:rPr lang="en-US" altLang="zh-CN" sz="1800" dirty="0">
                <a:sym typeface="Huawei Sans" panose="020C0503030203020204" pitchFamily="34" charset="0"/>
              </a:rPr>
              <a:t>AC</a:t>
            </a:r>
            <a:r>
              <a:rPr lang="zh-CN" altLang="en-US" sz="1800" dirty="0">
                <a:sym typeface="Huawei Sans" panose="020C0503030203020204" pitchFamily="34" charset="0"/>
              </a:rPr>
              <a:t>后，随板</a:t>
            </a:r>
            <a:r>
              <a:rPr lang="en-US" altLang="zh-CN" sz="1800" dirty="0">
                <a:sym typeface="Huawei Sans" panose="020C0503030203020204" pitchFamily="34" charset="0"/>
              </a:rPr>
              <a:t>AC</a:t>
            </a:r>
            <a:r>
              <a:rPr lang="zh-CN" altLang="en-US" sz="1800" dirty="0">
                <a:sym typeface="Huawei Sans" panose="020C0503030203020204" pitchFamily="34" charset="0"/>
              </a:rPr>
              <a:t>解封装</a:t>
            </a:r>
            <a:r>
              <a:rPr lang="en-US" altLang="zh-CN" sz="1800" dirty="0">
                <a:sym typeface="Huawei Sans" panose="020C0503030203020204" pitchFamily="34" charset="0"/>
              </a:rPr>
              <a:t>CAPWAP</a:t>
            </a:r>
            <a:r>
              <a:rPr lang="zh-CN" altLang="en-US" sz="1800" dirty="0">
                <a:sym typeface="Huawei Sans" panose="020C0503030203020204" pitchFamily="34" charset="0"/>
              </a:rPr>
              <a:t>报文后根据</a:t>
            </a:r>
            <a:r>
              <a:rPr lang="en-US" altLang="zh-CN" sz="1800" dirty="0">
                <a:sym typeface="Huawei Sans" panose="020C0503030203020204" pitchFamily="34" charset="0"/>
              </a:rPr>
              <a:t>VLAN</a:t>
            </a:r>
            <a:r>
              <a:rPr lang="zh-CN" altLang="en-US" sz="1800" dirty="0">
                <a:sym typeface="Huawei Sans" panose="020C0503030203020204" pitchFamily="34" charset="0"/>
              </a:rPr>
              <a:t>进入对应的</a:t>
            </a:r>
            <a:r>
              <a:rPr lang="en-US" altLang="zh-CN" sz="1800" dirty="0">
                <a:sym typeface="Huawei Sans" panose="020C0503030203020204" pitchFamily="34" charset="0"/>
              </a:rPr>
              <a:t>BD</a:t>
            </a:r>
            <a:r>
              <a:rPr lang="zh-CN" altLang="en-US" sz="1800" dirty="0">
                <a:sym typeface="Huawei Sans" panose="020C0503030203020204" pitchFamily="34" charset="0"/>
              </a:rPr>
              <a:t>转发。</a:t>
            </a:r>
          </a:p>
        </p:txBody>
      </p:sp>
      <p:sp>
        <p:nvSpPr>
          <p:cNvPr id="43" name="圆角矩形 75"/>
          <p:cNvSpPr/>
          <p:nvPr/>
        </p:nvSpPr>
        <p:spPr bwMode="gray">
          <a:xfrm>
            <a:off x="632092" y="2334793"/>
            <a:ext cx="5191425"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静态</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配置</a:t>
            </a:r>
          </a:p>
        </p:txBody>
      </p:sp>
      <p:sp>
        <p:nvSpPr>
          <p:cNvPr id="44" name="圆角矩形 75"/>
          <p:cNvSpPr/>
          <p:nvPr/>
        </p:nvSpPr>
        <p:spPr bwMode="gray">
          <a:xfrm>
            <a:off x="632092" y="2723325"/>
            <a:ext cx="5191425" cy="3477451"/>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59" name="图片 86" descr="核心交换机.png"/>
          <p:cNvPicPr>
            <a:picLocks noChangeAspect="1"/>
          </p:cNvPicPr>
          <p:nvPr/>
        </p:nvPicPr>
        <p:blipFill>
          <a:blip r:embed="rId3"/>
          <a:stretch>
            <a:fillRect/>
          </a:stretch>
        </p:blipFill>
        <p:spPr bwMode="gray">
          <a:xfrm>
            <a:off x="2645795" y="3067887"/>
            <a:ext cx="314619" cy="257416"/>
          </a:xfrm>
          <a:prstGeom prst="rect">
            <a:avLst/>
          </a:prstGeom>
        </p:spPr>
      </p:pic>
      <p:pic>
        <p:nvPicPr>
          <p:cNvPr id="60" name="图片 86" descr="核心交换机.png"/>
          <p:cNvPicPr>
            <a:picLocks noChangeAspect="1"/>
          </p:cNvPicPr>
          <p:nvPr/>
        </p:nvPicPr>
        <p:blipFill>
          <a:blip r:embed="rId3"/>
          <a:stretch>
            <a:fillRect/>
          </a:stretch>
        </p:blipFill>
        <p:spPr bwMode="gray">
          <a:xfrm>
            <a:off x="3257732" y="3067887"/>
            <a:ext cx="314619" cy="257416"/>
          </a:xfrm>
          <a:prstGeom prst="rect">
            <a:avLst/>
          </a:prstGeom>
        </p:spPr>
      </p:pic>
      <p:cxnSp>
        <p:nvCxnSpPr>
          <p:cNvPr id="61" name="直接连接符 60"/>
          <p:cNvCxnSpPr>
            <a:stCxn id="59" idx="3"/>
            <a:endCxn id="60" idx="1"/>
          </p:cNvCxnSpPr>
          <p:nvPr/>
        </p:nvCxnSpPr>
        <p:spPr bwMode="gray">
          <a:xfrm>
            <a:off x="2960414" y="3196595"/>
            <a:ext cx="29731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2" name="图片 87" descr="汇聚交换机.png"/>
          <p:cNvPicPr>
            <a:picLocks noChangeAspect="1"/>
          </p:cNvPicPr>
          <p:nvPr/>
        </p:nvPicPr>
        <p:blipFill>
          <a:blip r:embed="rId4"/>
          <a:stretch>
            <a:fillRect/>
          </a:stretch>
        </p:blipFill>
        <p:spPr bwMode="gray">
          <a:xfrm>
            <a:off x="2149206" y="3718753"/>
            <a:ext cx="314619" cy="257416"/>
          </a:xfrm>
          <a:prstGeom prst="rect">
            <a:avLst/>
          </a:prstGeom>
        </p:spPr>
      </p:pic>
      <p:pic>
        <p:nvPicPr>
          <p:cNvPr id="63" name="图片 87" descr="汇聚交换机.png"/>
          <p:cNvPicPr>
            <a:picLocks noChangeAspect="1"/>
          </p:cNvPicPr>
          <p:nvPr/>
        </p:nvPicPr>
        <p:blipFill>
          <a:blip r:embed="rId4"/>
          <a:stretch>
            <a:fillRect/>
          </a:stretch>
        </p:blipFill>
        <p:spPr bwMode="gray">
          <a:xfrm>
            <a:off x="1537269" y="3718753"/>
            <a:ext cx="314619" cy="257416"/>
          </a:xfrm>
          <a:prstGeom prst="rect">
            <a:avLst/>
          </a:prstGeom>
        </p:spPr>
      </p:pic>
      <p:cxnSp>
        <p:nvCxnSpPr>
          <p:cNvPr id="64" name="直接连接符 63"/>
          <p:cNvCxnSpPr>
            <a:stCxn id="63" idx="3"/>
            <a:endCxn id="62" idx="1"/>
          </p:cNvCxnSpPr>
          <p:nvPr/>
        </p:nvCxnSpPr>
        <p:spPr bwMode="gray">
          <a:xfrm>
            <a:off x="1851888" y="3847461"/>
            <a:ext cx="29731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5" name="图片 76" descr="接入交换机.png"/>
          <p:cNvPicPr>
            <a:picLocks noChangeAspect="1"/>
          </p:cNvPicPr>
          <p:nvPr/>
        </p:nvPicPr>
        <p:blipFill>
          <a:blip r:embed="rId5"/>
          <a:stretch>
            <a:fillRect/>
          </a:stretch>
        </p:blipFill>
        <p:spPr bwMode="gray">
          <a:xfrm>
            <a:off x="1538310" y="4234239"/>
            <a:ext cx="314619" cy="257416"/>
          </a:xfrm>
          <a:prstGeom prst="rect">
            <a:avLst/>
          </a:prstGeom>
        </p:spPr>
      </p:pic>
      <p:pic>
        <p:nvPicPr>
          <p:cNvPr id="66" name="图片 76" descr="接入交换机.png"/>
          <p:cNvPicPr>
            <a:picLocks noChangeAspect="1"/>
          </p:cNvPicPr>
          <p:nvPr/>
        </p:nvPicPr>
        <p:blipFill>
          <a:blip r:embed="rId5"/>
          <a:stretch>
            <a:fillRect/>
          </a:stretch>
        </p:blipFill>
        <p:spPr bwMode="gray">
          <a:xfrm>
            <a:off x="2148166" y="4234239"/>
            <a:ext cx="314619" cy="257416"/>
          </a:xfrm>
          <a:prstGeom prst="rect">
            <a:avLst/>
          </a:prstGeom>
        </p:spPr>
      </p:pic>
      <p:cxnSp>
        <p:nvCxnSpPr>
          <p:cNvPr id="67" name="直接连接符 66"/>
          <p:cNvCxnSpPr>
            <a:stCxn id="65" idx="3"/>
            <a:endCxn id="66" idx="1"/>
          </p:cNvCxnSpPr>
          <p:nvPr/>
        </p:nvCxnSpPr>
        <p:spPr bwMode="gray">
          <a:xfrm>
            <a:off x="1852929" y="4362947"/>
            <a:ext cx="295236"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8" name="图片 87" descr="汇聚交换机.png"/>
          <p:cNvPicPr>
            <a:picLocks noChangeAspect="1"/>
          </p:cNvPicPr>
          <p:nvPr/>
        </p:nvPicPr>
        <p:blipFill>
          <a:blip r:embed="rId4"/>
          <a:stretch>
            <a:fillRect/>
          </a:stretch>
        </p:blipFill>
        <p:spPr bwMode="gray">
          <a:xfrm>
            <a:off x="4405339" y="3718753"/>
            <a:ext cx="314619" cy="257416"/>
          </a:xfrm>
          <a:prstGeom prst="rect">
            <a:avLst/>
          </a:prstGeom>
        </p:spPr>
      </p:pic>
      <p:pic>
        <p:nvPicPr>
          <p:cNvPr id="69" name="图片 87" descr="汇聚交换机.png"/>
          <p:cNvPicPr>
            <a:picLocks noChangeAspect="1"/>
          </p:cNvPicPr>
          <p:nvPr/>
        </p:nvPicPr>
        <p:blipFill>
          <a:blip r:embed="rId4"/>
          <a:stretch>
            <a:fillRect/>
          </a:stretch>
        </p:blipFill>
        <p:spPr bwMode="gray">
          <a:xfrm>
            <a:off x="3793402" y="3718753"/>
            <a:ext cx="314619" cy="257416"/>
          </a:xfrm>
          <a:prstGeom prst="rect">
            <a:avLst/>
          </a:prstGeom>
        </p:spPr>
      </p:pic>
      <p:cxnSp>
        <p:nvCxnSpPr>
          <p:cNvPr id="70" name="直接连接符 69"/>
          <p:cNvCxnSpPr>
            <a:stCxn id="69" idx="3"/>
            <a:endCxn id="68" idx="1"/>
          </p:cNvCxnSpPr>
          <p:nvPr/>
        </p:nvCxnSpPr>
        <p:spPr bwMode="gray">
          <a:xfrm>
            <a:off x="4108021" y="3847461"/>
            <a:ext cx="29731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1" name="图片 76" descr="接入交换机.png"/>
          <p:cNvPicPr>
            <a:picLocks noChangeAspect="1"/>
          </p:cNvPicPr>
          <p:nvPr/>
        </p:nvPicPr>
        <p:blipFill>
          <a:blip r:embed="rId5"/>
          <a:stretch>
            <a:fillRect/>
          </a:stretch>
        </p:blipFill>
        <p:spPr bwMode="gray">
          <a:xfrm>
            <a:off x="3794443" y="4234239"/>
            <a:ext cx="314619" cy="257416"/>
          </a:xfrm>
          <a:prstGeom prst="rect">
            <a:avLst/>
          </a:prstGeom>
        </p:spPr>
      </p:pic>
      <p:pic>
        <p:nvPicPr>
          <p:cNvPr id="72" name="图片 76" descr="接入交换机.png"/>
          <p:cNvPicPr>
            <a:picLocks noChangeAspect="1"/>
          </p:cNvPicPr>
          <p:nvPr/>
        </p:nvPicPr>
        <p:blipFill>
          <a:blip r:embed="rId5"/>
          <a:stretch>
            <a:fillRect/>
          </a:stretch>
        </p:blipFill>
        <p:spPr bwMode="gray">
          <a:xfrm>
            <a:off x="4404299" y="4234239"/>
            <a:ext cx="314619" cy="257416"/>
          </a:xfrm>
          <a:prstGeom prst="rect">
            <a:avLst/>
          </a:prstGeom>
        </p:spPr>
      </p:pic>
      <p:cxnSp>
        <p:nvCxnSpPr>
          <p:cNvPr id="73" name="直接连接符 72"/>
          <p:cNvCxnSpPr>
            <a:stCxn id="71" idx="3"/>
            <a:endCxn id="72" idx="1"/>
          </p:cNvCxnSpPr>
          <p:nvPr/>
        </p:nvCxnSpPr>
        <p:spPr bwMode="gray">
          <a:xfrm>
            <a:off x="4109062" y="4362947"/>
            <a:ext cx="29523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59" idx="2"/>
            <a:endCxn id="63" idx="0"/>
          </p:cNvCxnSpPr>
          <p:nvPr/>
        </p:nvCxnSpPr>
        <p:spPr bwMode="gray">
          <a:xfrm flipH="1">
            <a:off x="1694579" y="3325303"/>
            <a:ext cx="1108526" cy="39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60" idx="2"/>
            <a:endCxn id="62" idx="0"/>
          </p:cNvCxnSpPr>
          <p:nvPr/>
        </p:nvCxnSpPr>
        <p:spPr bwMode="gray">
          <a:xfrm flipH="1">
            <a:off x="2306516" y="3325303"/>
            <a:ext cx="1108526" cy="39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59" idx="2"/>
            <a:endCxn id="69" idx="0"/>
          </p:cNvCxnSpPr>
          <p:nvPr/>
        </p:nvCxnSpPr>
        <p:spPr bwMode="gray">
          <a:xfrm>
            <a:off x="2803105" y="3325303"/>
            <a:ext cx="1147607" cy="39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60" idx="2"/>
            <a:endCxn id="68" idx="0"/>
          </p:cNvCxnSpPr>
          <p:nvPr/>
        </p:nvCxnSpPr>
        <p:spPr bwMode="gray">
          <a:xfrm>
            <a:off x="3415042" y="3325303"/>
            <a:ext cx="1147607" cy="39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63" idx="2"/>
            <a:endCxn id="65" idx="0"/>
          </p:cNvCxnSpPr>
          <p:nvPr/>
        </p:nvCxnSpPr>
        <p:spPr bwMode="gray">
          <a:xfrm>
            <a:off x="1694579" y="3976169"/>
            <a:ext cx="1041" cy="258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62" idx="2"/>
            <a:endCxn id="66" idx="0"/>
          </p:cNvCxnSpPr>
          <p:nvPr/>
        </p:nvCxnSpPr>
        <p:spPr bwMode="gray">
          <a:xfrm flipH="1">
            <a:off x="2305476" y="3976169"/>
            <a:ext cx="1040" cy="258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69" idx="2"/>
            <a:endCxn id="71" idx="0"/>
          </p:cNvCxnSpPr>
          <p:nvPr/>
        </p:nvCxnSpPr>
        <p:spPr bwMode="gray">
          <a:xfrm>
            <a:off x="3950712" y="3976169"/>
            <a:ext cx="1041" cy="258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68" idx="2"/>
            <a:endCxn id="72" idx="0"/>
          </p:cNvCxnSpPr>
          <p:nvPr/>
        </p:nvCxnSpPr>
        <p:spPr bwMode="gray">
          <a:xfrm flipH="1">
            <a:off x="4561609" y="3976169"/>
            <a:ext cx="1040" cy="258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83" name="图片 105" descr="AP.png"/>
          <p:cNvPicPr>
            <a:picLocks noChangeAspect="1"/>
          </p:cNvPicPr>
          <p:nvPr/>
        </p:nvPicPr>
        <p:blipFill>
          <a:blip r:embed="rId6"/>
          <a:stretch>
            <a:fillRect/>
          </a:stretch>
        </p:blipFill>
        <p:spPr bwMode="gray">
          <a:xfrm>
            <a:off x="3793952" y="4808566"/>
            <a:ext cx="314069" cy="256966"/>
          </a:xfrm>
          <a:prstGeom prst="rect">
            <a:avLst/>
          </a:prstGeom>
        </p:spPr>
      </p:pic>
      <p:cxnSp>
        <p:nvCxnSpPr>
          <p:cNvPr id="84" name="直接连接符 83"/>
          <p:cNvCxnSpPr>
            <a:stCxn id="66" idx="2"/>
            <a:endCxn id="90" idx="0"/>
          </p:cNvCxnSpPr>
          <p:nvPr/>
        </p:nvCxnSpPr>
        <p:spPr bwMode="gray">
          <a:xfrm>
            <a:off x="2305476" y="4491655"/>
            <a:ext cx="1040" cy="29641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71" idx="2"/>
            <a:endCxn id="83" idx="0"/>
          </p:cNvCxnSpPr>
          <p:nvPr/>
        </p:nvCxnSpPr>
        <p:spPr bwMode="gray">
          <a:xfrm flipH="1">
            <a:off x="3950987" y="4491655"/>
            <a:ext cx="766" cy="31691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矩形 85"/>
          <p:cNvSpPr/>
          <p:nvPr/>
        </p:nvSpPr>
        <p:spPr bwMode="gray">
          <a:xfrm>
            <a:off x="1406571" y="3609095"/>
            <a:ext cx="1526306" cy="968882"/>
          </a:xfrm>
          <a:prstGeom prst="rect">
            <a:avLst/>
          </a:prstGeom>
          <a:solidFill>
            <a:srgbClr val="94DAE2">
              <a:alpha val="30000"/>
            </a:srgbClr>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86"/>
          <p:cNvSpPr/>
          <p:nvPr/>
        </p:nvSpPr>
        <p:spPr bwMode="gray">
          <a:xfrm>
            <a:off x="3353362" y="3609095"/>
            <a:ext cx="1526400" cy="968882"/>
          </a:xfrm>
          <a:prstGeom prst="rect">
            <a:avLst/>
          </a:prstGeom>
          <a:solidFill>
            <a:srgbClr val="FAD3BB">
              <a:alpha val="30000"/>
            </a:srgbClr>
          </a:solidFill>
          <a:ln>
            <a:solidFill>
              <a:srgbClr val="FAD3B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矩形 87"/>
          <p:cNvSpPr/>
          <p:nvPr/>
        </p:nvSpPr>
        <p:spPr bwMode="gray">
          <a:xfrm>
            <a:off x="2376334" y="4003768"/>
            <a:ext cx="556543" cy="305105"/>
          </a:xfrm>
          <a:prstGeom prst="rect">
            <a:avLst/>
          </a:prstGeom>
        </p:spPr>
        <p:txBody>
          <a:bodyPr wrap="none">
            <a:noAutofit/>
          </a:bodyPr>
          <a:lstStyle/>
          <a:p>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VN1</a:t>
            </a:r>
          </a:p>
        </p:txBody>
      </p:sp>
      <p:sp>
        <p:nvSpPr>
          <p:cNvPr id="89" name="矩形 88"/>
          <p:cNvSpPr/>
          <p:nvPr/>
        </p:nvSpPr>
        <p:spPr bwMode="gray">
          <a:xfrm>
            <a:off x="3317644" y="4003768"/>
            <a:ext cx="885440" cy="305105"/>
          </a:xfrm>
          <a:prstGeom prst="rect">
            <a:avLst/>
          </a:prstGeom>
        </p:spPr>
        <p:txBody>
          <a:bodyPr wrap="square">
            <a:noAutofit/>
          </a:bodyPr>
          <a:lstStyle/>
          <a:p>
            <a:r>
              <a:rPr lang="en-US" altLang="zh-CN"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VN2</a:t>
            </a:r>
          </a:p>
        </p:txBody>
      </p:sp>
      <p:pic>
        <p:nvPicPr>
          <p:cNvPr id="90" name="图片 79" descr="PC.png">
            <a:extLst>
              <a:ext uri="{FF2B5EF4-FFF2-40B4-BE49-F238E27FC236}">
                <a16:creationId xmlns:a16="http://schemas.microsoft.com/office/drawing/2014/main" id="{4666702E-823D-4236-BF2F-880359158C83}"/>
              </a:ext>
            </a:extLst>
          </p:cNvPr>
          <p:cNvPicPr>
            <a:picLocks noChangeAspect="1"/>
          </p:cNvPicPr>
          <p:nvPr/>
        </p:nvPicPr>
        <p:blipFill>
          <a:blip r:embed="rId7" cstate="print"/>
          <a:stretch>
            <a:fillRect/>
          </a:stretch>
        </p:blipFill>
        <p:spPr bwMode="gray">
          <a:xfrm>
            <a:off x="2126302" y="4788070"/>
            <a:ext cx="360428" cy="276809"/>
          </a:xfrm>
          <a:prstGeom prst="rect">
            <a:avLst/>
          </a:prstGeom>
        </p:spPr>
      </p:pic>
      <p:sp>
        <p:nvSpPr>
          <p:cNvPr id="91" name="圆角矩形 75"/>
          <p:cNvSpPr/>
          <p:nvPr/>
        </p:nvSpPr>
        <p:spPr bwMode="gray">
          <a:xfrm>
            <a:off x="632091" y="5346269"/>
            <a:ext cx="5191425" cy="671066"/>
          </a:xfrm>
          <a:prstGeom prst="roundRect">
            <a:avLst>
              <a:gd name="adj" fmla="val 2420"/>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marL="176213" indent="-176213" algn="just">
              <a:lnSpc>
                <a:spcPts val="22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有线用户在接入交换机的端口配置静态</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p>
            <a:pPr marL="176213" indent="-176213" algn="just">
              <a:lnSpc>
                <a:spcPts val="22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无线用户在</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SSID</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下配置静态的业务</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p:txBody>
      </p:sp>
      <p:sp>
        <p:nvSpPr>
          <p:cNvPr id="126" name="圆角矩形 125"/>
          <p:cNvSpPr/>
          <p:nvPr/>
        </p:nvSpPr>
        <p:spPr bwMode="gray">
          <a:xfrm>
            <a:off x="3425798" y="3153340"/>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圆角矩形 127"/>
          <p:cNvSpPr/>
          <p:nvPr/>
        </p:nvSpPr>
        <p:spPr bwMode="gray">
          <a:xfrm>
            <a:off x="4938649" y="4895995"/>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p:cNvSpPr txBox="1"/>
          <p:nvPr/>
        </p:nvSpPr>
        <p:spPr bwMode="gray">
          <a:xfrm>
            <a:off x="5116833" y="4818387"/>
            <a:ext cx="783863" cy="244084"/>
          </a:xfrm>
          <a:prstGeom prst="rect">
            <a:avLst/>
          </a:prstGeom>
          <a:noFill/>
        </p:spPr>
        <p:txBody>
          <a:bodyPr wrap="square" rtlCol="0">
            <a:noAutofit/>
          </a:bodyPr>
          <a:lstStyle/>
          <a:p>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sp>
        <p:nvSpPr>
          <p:cNvPr id="130" name="圆角矩形 129"/>
          <p:cNvSpPr/>
          <p:nvPr/>
        </p:nvSpPr>
        <p:spPr bwMode="gray">
          <a:xfrm>
            <a:off x="819080" y="4719281"/>
            <a:ext cx="954963" cy="391556"/>
          </a:xfrm>
          <a:prstGeom prst="roundRect">
            <a:avLst>
              <a:gd name="adj" fmla="val 6984"/>
            </a:avLst>
          </a:prstGeom>
          <a:solidFill>
            <a:schemeClr val="bg1">
              <a:lumMod val="9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配置静态</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箭头连接符 22"/>
          <p:cNvCxnSpPr>
            <a:stCxn id="130" idx="3"/>
          </p:cNvCxnSpPr>
          <p:nvPr/>
        </p:nvCxnSpPr>
        <p:spPr bwMode="gray">
          <a:xfrm flipV="1">
            <a:off x="1774043" y="4504255"/>
            <a:ext cx="531432" cy="410804"/>
          </a:xfrm>
          <a:prstGeom prst="straightConnector1">
            <a:avLst/>
          </a:prstGeom>
          <a:noFill/>
          <a:ln w="38100" cap="flat" cmpd="tri" algn="ctr">
            <a:solidFill>
              <a:schemeClr val="bg1">
                <a:lumMod val="65000"/>
              </a:schemeClr>
            </a:solidFill>
            <a:prstDash val="solid"/>
            <a:round/>
            <a:headEnd type="none" w="med" len="med"/>
            <a:tailEnd type="triangle" w="med" len="med"/>
          </a:ln>
        </p:spPr>
      </p:cxnSp>
      <p:sp>
        <p:nvSpPr>
          <p:cNvPr id="131" name="圆角矩形 130"/>
          <p:cNvSpPr/>
          <p:nvPr/>
        </p:nvSpPr>
        <p:spPr bwMode="gray">
          <a:xfrm>
            <a:off x="3945251" y="2993466"/>
            <a:ext cx="956822" cy="393089"/>
          </a:xfrm>
          <a:prstGeom prst="roundRect">
            <a:avLst>
              <a:gd name="adj" fmla="val 6984"/>
            </a:avLst>
          </a:prstGeom>
          <a:solidFill>
            <a:schemeClr val="bg1">
              <a:lumMod val="9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下发静态</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2" name="直接箭头连接符 131"/>
          <p:cNvCxnSpPr>
            <a:stCxn id="131" idx="1"/>
            <a:endCxn id="126" idx="3"/>
          </p:cNvCxnSpPr>
          <p:nvPr/>
        </p:nvCxnSpPr>
        <p:spPr bwMode="gray">
          <a:xfrm flipH="1">
            <a:off x="3603982" y="3190011"/>
            <a:ext cx="341269" cy="0"/>
          </a:xfrm>
          <a:prstGeom prst="straightConnector1">
            <a:avLst/>
          </a:prstGeom>
          <a:noFill/>
          <a:ln w="38100" cap="flat" cmpd="tri" algn="ctr">
            <a:solidFill>
              <a:schemeClr val="bg1">
                <a:lumMod val="65000"/>
              </a:schemeClr>
            </a:solidFill>
            <a:prstDash val="solid"/>
            <a:round/>
            <a:headEnd type="none" w="med" len="med"/>
            <a:tailEnd type="triangle" w="med" len="med"/>
          </a:ln>
        </p:spPr>
      </p:cxnSp>
      <p:sp>
        <p:nvSpPr>
          <p:cNvPr id="92" name="圆角矩形 75"/>
          <p:cNvSpPr/>
          <p:nvPr/>
        </p:nvSpPr>
        <p:spPr bwMode="gray">
          <a:xfrm>
            <a:off x="6096000" y="2332172"/>
            <a:ext cx="5616574"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动态授权</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圆角矩形 75"/>
          <p:cNvSpPr/>
          <p:nvPr/>
        </p:nvSpPr>
        <p:spPr bwMode="gray">
          <a:xfrm>
            <a:off x="6096000" y="2723325"/>
            <a:ext cx="5616574" cy="3477450"/>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94" name="图片 86" descr="核心交换机.png"/>
          <p:cNvPicPr>
            <a:picLocks noChangeAspect="1"/>
          </p:cNvPicPr>
          <p:nvPr/>
        </p:nvPicPr>
        <p:blipFill>
          <a:blip r:embed="rId3"/>
          <a:stretch>
            <a:fillRect/>
          </a:stretch>
        </p:blipFill>
        <p:spPr bwMode="gray">
          <a:xfrm>
            <a:off x="8303664" y="3224336"/>
            <a:ext cx="314619" cy="257416"/>
          </a:xfrm>
          <a:prstGeom prst="rect">
            <a:avLst/>
          </a:prstGeom>
        </p:spPr>
      </p:pic>
      <p:pic>
        <p:nvPicPr>
          <p:cNvPr id="95" name="图片 86" descr="核心交换机.png"/>
          <p:cNvPicPr>
            <a:picLocks noChangeAspect="1"/>
          </p:cNvPicPr>
          <p:nvPr/>
        </p:nvPicPr>
        <p:blipFill>
          <a:blip r:embed="rId3"/>
          <a:stretch>
            <a:fillRect/>
          </a:stretch>
        </p:blipFill>
        <p:spPr bwMode="gray">
          <a:xfrm>
            <a:off x="8915601" y="3224336"/>
            <a:ext cx="314619" cy="257416"/>
          </a:xfrm>
          <a:prstGeom prst="rect">
            <a:avLst/>
          </a:prstGeom>
        </p:spPr>
      </p:pic>
      <p:cxnSp>
        <p:nvCxnSpPr>
          <p:cNvPr id="96" name="直接连接符 95"/>
          <p:cNvCxnSpPr>
            <a:stCxn id="94" idx="3"/>
            <a:endCxn id="95" idx="1"/>
          </p:cNvCxnSpPr>
          <p:nvPr/>
        </p:nvCxnSpPr>
        <p:spPr bwMode="gray">
          <a:xfrm>
            <a:off x="8618283" y="3353044"/>
            <a:ext cx="29731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97" name="图片 87" descr="汇聚交换机.png"/>
          <p:cNvPicPr>
            <a:picLocks noChangeAspect="1"/>
          </p:cNvPicPr>
          <p:nvPr/>
        </p:nvPicPr>
        <p:blipFill>
          <a:blip r:embed="rId4"/>
          <a:stretch>
            <a:fillRect/>
          </a:stretch>
        </p:blipFill>
        <p:spPr bwMode="gray">
          <a:xfrm>
            <a:off x="7807075" y="3875202"/>
            <a:ext cx="314619" cy="257416"/>
          </a:xfrm>
          <a:prstGeom prst="rect">
            <a:avLst/>
          </a:prstGeom>
        </p:spPr>
      </p:pic>
      <p:pic>
        <p:nvPicPr>
          <p:cNvPr id="98" name="图片 87" descr="汇聚交换机.png"/>
          <p:cNvPicPr>
            <a:picLocks noChangeAspect="1"/>
          </p:cNvPicPr>
          <p:nvPr/>
        </p:nvPicPr>
        <p:blipFill>
          <a:blip r:embed="rId4"/>
          <a:stretch>
            <a:fillRect/>
          </a:stretch>
        </p:blipFill>
        <p:spPr bwMode="gray">
          <a:xfrm>
            <a:off x="7195138" y="3875202"/>
            <a:ext cx="314619" cy="257416"/>
          </a:xfrm>
          <a:prstGeom prst="rect">
            <a:avLst/>
          </a:prstGeom>
        </p:spPr>
      </p:pic>
      <p:cxnSp>
        <p:nvCxnSpPr>
          <p:cNvPr id="99" name="直接连接符 98"/>
          <p:cNvCxnSpPr>
            <a:stCxn id="98" idx="3"/>
            <a:endCxn id="97" idx="1"/>
          </p:cNvCxnSpPr>
          <p:nvPr/>
        </p:nvCxnSpPr>
        <p:spPr bwMode="gray">
          <a:xfrm>
            <a:off x="7509757" y="4003910"/>
            <a:ext cx="29731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0" name="图片 76" descr="接入交换机.png"/>
          <p:cNvPicPr>
            <a:picLocks noChangeAspect="1"/>
          </p:cNvPicPr>
          <p:nvPr/>
        </p:nvPicPr>
        <p:blipFill>
          <a:blip r:embed="rId5"/>
          <a:stretch>
            <a:fillRect/>
          </a:stretch>
        </p:blipFill>
        <p:spPr bwMode="gray">
          <a:xfrm>
            <a:off x="7196179" y="4390688"/>
            <a:ext cx="314619" cy="257416"/>
          </a:xfrm>
          <a:prstGeom prst="rect">
            <a:avLst/>
          </a:prstGeom>
        </p:spPr>
      </p:pic>
      <p:pic>
        <p:nvPicPr>
          <p:cNvPr id="101" name="图片 76" descr="接入交换机.png"/>
          <p:cNvPicPr>
            <a:picLocks noChangeAspect="1"/>
          </p:cNvPicPr>
          <p:nvPr/>
        </p:nvPicPr>
        <p:blipFill>
          <a:blip r:embed="rId5"/>
          <a:stretch>
            <a:fillRect/>
          </a:stretch>
        </p:blipFill>
        <p:spPr bwMode="gray">
          <a:xfrm>
            <a:off x="7806035" y="4390688"/>
            <a:ext cx="314619" cy="257416"/>
          </a:xfrm>
          <a:prstGeom prst="rect">
            <a:avLst/>
          </a:prstGeom>
        </p:spPr>
      </p:pic>
      <p:cxnSp>
        <p:nvCxnSpPr>
          <p:cNvPr id="102" name="直接连接符 101"/>
          <p:cNvCxnSpPr>
            <a:stCxn id="100" idx="3"/>
            <a:endCxn id="101" idx="1"/>
          </p:cNvCxnSpPr>
          <p:nvPr/>
        </p:nvCxnSpPr>
        <p:spPr bwMode="gray">
          <a:xfrm>
            <a:off x="7510798" y="4519396"/>
            <a:ext cx="295236"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3" name="图片 87" descr="汇聚交换机.png"/>
          <p:cNvPicPr>
            <a:picLocks noChangeAspect="1"/>
          </p:cNvPicPr>
          <p:nvPr/>
        </p:nvPicPr>
        <p:blipFill>
          <a:blip r:embed="rId4"/>
          <a:stretch>
            <a:fillRect/>
          </a:stretch>
        </p:blipFill>
        <p:spPr bwMode="gray">
          <a:xfrm>
            <a:off x="10063208" y="3875202"/>
            <a:ext cx="314619" cy="257416"/>
          </a:xfrm>
          <a:prstGeom prst="rect">
            <a:avLst/>
          </a:prstGeom>
        </p:spPr>
      </p:pic>
      <p:pic>
        <p:nvPicPr>
          <p:cNvPr id="104" name="图片 87" descr="汇聚交换机.png"/>
          <p:cNvPicPr>
            <a:picLocks noChangeAspect="1"/>
          </p:cNvPicPr>
          <p:nvPr/>
        </p:nvPicPr>
        <p:blipFill>
          <a:blip r:embed="rId4"/>
          <a:stretch>
            <a:fillRect/>
          </a:stretch>
        </p:blipFill>
        <p:spPr bwMode="gray">
          <a:xfrm>
            <a:off x="9451271" y="3875202"/>
            <a:ext cx="314619" cy="257416"/>
          </a:xfrm>
          <a:prstGeom prst="rect">
            <a:avLst/>
          </a:prstGeom>
        </p:spPr>
      </p:pic>
      <p:cxnSp>
        <p:nvCxnSpPr>
          <p:cNvPr id="105" name="直接连接符 104"/>
          <p:cNvCxnSpPr>
            <a:stCxn id="104" idx="3"/>
            <a:endCxn id="103" idx="1"/>
          </p:cNvCxnSpPr>
          <p:nvPr/>
        </p:nvCxnSpPr>
        <p:spPr bwMode="gray">
          <a:xfrm>
            <a:off x="9765890" y="4003910"/>
            <a:ext cx="29731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6" name="图片 76" descr="接入交换机.png"/>
          <p:cNvPicPr>
            <a:picLocks noChangeAspect="1"/>
          </p:cNvPicPr>
          <p:nvPr/>
        </p:nvPicPr>
        <p:blipFill>
          <a:blip r:embed="rId5"/>
          <a:stretch>
            <a:fillRect/>
          </a:stretch>
        </p:blipFill>
        <p:spPr bwMode="gray">
          <a:xfrm>
            <a:off x="9452312" y="4390688"/>
            <a:ext cx="314619" cy="257416"/>
          </a:xfrm>
          <a:prstGeom prst="rect">
            <a:avLst/>
          </a:prstGeom>
        </p:spPr>
      </p:pic>
      <p:pic>
        <p:nvPicPr>
          <p:cNvPr id="107" name="图片 76" descr="接入交换机.png"/>
          <p:cNvPicPr>
            <a:picLocks noChangeAspect="1"/>
          </p:cNvPicPr>
          <p:nvPr/>
        </p:nvPicPr>
        <p:blipFill>
          <a:blip r:embed="rId5"/>
          <a:stretch>
            <a:fillRect/>
          </a:stretch>
        </p:blipFill>
        <p:spPr bwMode="gray">
          <a:xfrm>
            <a:off x="10062168" y="4390688"/>
            <a:ext cx="314619" cy="257416"/>
          </a:xfrm>
          <a:prstGeom prst="rect">
            <a:avLst/>
          </a:prstGeom>
        </p:spPr>
      </p:pic>
      <p:cxnSp>
        <p:nvCxnSpPr>
          <p:cNvPr id="108" name="直接连接符 107"/>
          <p:cNvCxnSpPr>
            <a:stCxn id="106" idx="3"/>
            <a:endCxn id="107" idx="1"/>
          </p:cNvCxnSpPr>
          <p:nvPr/>
        </p:nvCxnSpPr>
        <p:spPr bwMode="gray">
          <a:xfrm>
            <a:off x="9766931" y="4519396"/>
            <a:ext cx="29523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94" idx="2"/>
            <a:endCxn id="98" idx="0"/>
          </p:cNvCxnSpPr>
          <p:nvPr/>
        </p:nvCxnSpPr>
        <p:spPr bwMode="gray">
          <a:xfrm flipH="1">
            <a:off x="7352448" y="3481752"/>
            <a:ext cx="1108526" cy="39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95" idx="2"/>
            <a:endCxn id="97" idx="0"/>
          </p:cNvCxnSpPr>
          <p:nvPr/>
        </p:nvCxnSpPr>
        <p:spPr bwMode="gray">
          <a:xfrm flipH="1">
            <a:off x="7964385" y="3481752"/>
            <a:ext cx="1108526" cy="39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94" idx="2"/>
            <a:endCxn id="104" idx="0"/>
          </p:cNvCxnSpPr>
          <p:nvPr/>
        </p:nvCxnSpPr>
        <p:spPr bwMode="gray">
          <a:xfrm>
            <a:off x="8460974" y="3481752"/>
            <a:ext cx="1147607" cy="39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95" idx="2"/>
            <a:endCxn id="103" idx="0"/>
          </p:cNvCxnSpPr>
          <p:nvPr/>
        </p:nvCxnSpPr>
        <p:spPr bwMode="gray">
          <a:xfrm>
            <a:off x="9072911" y="3481752"/>
            <a:ext cx="1147607" cy="39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98" idx="2"/>
            <a:endCxn id="100" idx="0"/>
          </p:cNvCxnSpPr>
          <p:nvPr/>
        </p:nvCxnSpPr>
        <p:spPr bwMode="gray">
          <a:xfrm>
            <a:off x="7352448" y="4132618"/>
            <a:ext cx="1041" cy="258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97" idx="2"/>
            <a:endCxn id="101" idx="0"/>
          </p:cNvCxnSpPr>
          <p:nvPr/>
        </p:nvCxnSpPr>
        <p:spPr bwMode="gray">
          <a:xfrm flipH="1">
            <a:off x="7963345" y="4132618"/>
            <a:ext cx="1040" cy="258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04" idx="2"/>
            <a:endCxn id="106" idx="0"/>
          </p:cNvCxnSpPr>
          <p:nvPr/>
        </p:nvCxnSpPr>
        <p:spPr bwMode="gray">
          <a:xfrm>
            <a:off x="9608581" y="4132618"/>
            <a:ext cx="1041" cy="258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stCxn id="103" idx="2"/>
            <a:endCxn id="107" idx="0"/>
          </p:cNvCxnSpPr>
          <p:nvPr/>
        </p:nvCxnSpPr>
        <p:spPr bwMode="gray">
          <a:xfrm flipH="1">
            <a:off x="10219478" y="4132618"/>
            <a:ext cx="1040" cy="258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01" idx="2"/>
          </p:cNvCxnSpPr>
          <p:nvPr/>
        </p:nvCxnSpPr>
        <p:spPr bwMode="gray">
          <a:xfrm>
            <a:off x="7963345" y="4648104"/>
            <a:ext cx="1040" cy="29641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106" idx="2"/>
          </p:cNvCxnSpPr>
          <p:nvPr/>
        </p:nvCxnSpPr>
        <p:spPr bwMode="gray">
          <a:xfrm flipH="1">
            <a:off x="9608856" y="4648104"/>
            <a:ext cx="766" cy="31691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矩形 119"/>
          <p:cNvSpPr/>
          <p:nvPr/>
        </p:nvSpPr>
        <p:spPr bwMode="gray">
          <a:xfrm>
            <a:off x="7064440" y="3765544"/>
            <a:ext cx="1526306" cy="968882"/>
          </a:xfrm>
          <a:prstGeom prst="rect">
            <a:avLst/>
          </a:prstGeom>
          <a:solidFill>
            <a:srgbClr val="94DAE2">
              <a:alpha val="30000"/>
            </a:srgbClr>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矩形 120"/>
          <p:cNvSpPr/>
          <p:nvPr/>
        </p:nvSpPr>
        <p:spPr bwMode="gray">
          <a:xfrm>
            <a:off x="9011231" y="3765544"/>
            <a:ext cx="1526400" cy="968882"/>
          </a:xfrm>
          <a:prstGeom prst="rect">
            <a:avLst/>
          </a:prstGeom>
          <a:solidFill>
            <a:srgbClr val="FAD3BB">
              <a:alpha val="30000"/>
            </a:srgbClr>
          </a:solidFill>
          <a:ln>
            <a:solidFill>
              <a:srgbClr val="FAD3B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矩形 121"/>
          <p:cNvSpPr/>
          <p:nvPr/>
        </p:nvSpPr>
        <p:spPr bwMode="gray">
          <a:xfrm>
            <a:off x="8114487" y="3811558"/>
            <a:ext cx="556543" cy="305105"/>
          </a:xfrm>
          <a:prstGeom prst="rect">
            <a:avLst/>
          </a:prstGeom>
        </p:spPr>
        <p:txBody>
          <a:bodyPr wrap="none">
            <a:noAutofit/>
          </a:bodyPr>
          <a:lstStyle/>
          <a:p>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VN1</a:t>
            </a:r>
          </a:p>
        </p:txBody>
      </p:sp>
      <p:sp>
        <p:nvSpPr>
          <p:cNvPr id="123" name="矩形 122"/>
          <p:cNvSpPr/>
          <p:nvPr/>
        </p:nvSpPr>
        <p:spPr bwMode="gray">
          <a:xfrm>
            <a:off x="8957326" y="3810005"/>
            <a:ext cx="885440" cy="305105"/>
          </a:xfrm>
          <a:prstGeom prst="rect">
            <a:avLst/>
          </a:prstGeom>
        </p:spPr>
        <p:txBody>
          <a:bodyPr wrap="square">
            <a:noAutofit/>
          </a:bodyPr>
          <a:lstStyle/>
          <a:p>
            <a:r>
              <a:rPr lang="en-US" altLang="zh-CN"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VN2</a:t>
            </a:r>
          </a:p>
        </p:txBody>
      </p:sp>
      <p:sp>
        <p:nvSpPr>
          <p:cNvPr id="125" name="圆角矩形 75"/>
          <p:cNvSpPr/>
          <p:nvPr/>
        </p:nvSpPr>
        <p:spPr bwMode="gray">
          <a:xfrm>
            <a:off x="6096000" y="5197159"/>
            <a:ext cx="5616574" cy="1003617"/>
          </a:xfrm>
          <a:prstGeom prst="roundRect">
            <a:avLst>
              <a:gd name="adj" fmla="val 2420"/>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marL="176213" indent="-176213" algn="just">
              <a:lnSpc>
                <a:spcPct val="1250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对于有线用户，授权</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下发到对应的认证点，用户流量到达后，关联至相应</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p>
            <a:pPr marL="176213" indent="-176213" algn="just">
              <a:lnSpc>
                <a:spcPct val="125000"/>
              </a:lnSpc>
              <a:spcAft>
                <a:spcPts val="3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对于无线用户，授权</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下发到对应的随板</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AC</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，用户流量到达后，关联至相应</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p:txBody>
      </p:sp>
      <p:sp>
        <p:nvSpPr>
          <p:cNvPr id="152" name="圆角矩形 151"/>
          <p:cNvSpPr/>
          <p:nvPr/>
        </p:nvSpPr>
        <p:spPr bwMode="gray">
          <a:xfrm>
            <a:off x="6772408" y="3214061"/>
            <a:ext cx="731358" cy="397126"/>
          </a:xfrm>
          <a:prstGeom prst="roundRect">
            <a:avLst>
              <a:gd name="adj" fmla="val 6984"/>
            </a:avLst>
          </a:prstGeom>
          <a:solidFill>
            <a:schemeClr val="bg1">
              <a:lumMod val="9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下发授权用户</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3" name="图片 1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8229697" y="2833619"/>
            <a:ext cx="1082673" cy="199674"/>
          </a:xfrm>
          <a:prstGeom prst="rect">
            <a:avLst/>
          </a:prstGeom>
        </p:spPr>
      </p:pic>
      <p:sp>
        <p:nvSpPr>
          <p:cNvPr id="4" name="任意多边形 3"/>
          <p:cNvSpPr/>
          <p:nvPr/>
        </p:nvSpPr>
        <p:spPr bwMode="gray">
          <a:xfrm>
            <a:off x="7557340" y="3040396"/>
            <a:ext cx="657991" cy="1566249"/>
          </a:xfrm>
          <a:custGeom>
            <a:avLst/>
            <a:gdLst>
              <a:gd name="connsiteX0" fmla="*/ 657991 w 657991"/>
              <a:gd name="connsiteY0" fmla="*/ 0 h 1566249"/>
              <a:gd name="connsiteX1" fmla="*/ 6142 w 657991"/>
              <a:gd name="connsiteY1" fmla="*/ 588475 h 1566249"/>
              <a:gd name="connsiteX2" fmla="*/ 386387 w 657991"/>
              <a:gd name="connsiteY2" fmla="*/ 1566249 h 1566249"/>
            </a:gdLst>
            <a:ahLst/>
            <a:cxnLst>
              <a:cxn ang="0">
                <a:pos x="connsiteX0" y="connsiteY0"/>
              </a:cxn>
              <a:cxn ang="0">
                <a:pos x="connsiteX1" y="connsiteY1"/>
              </a:cxn>
              <a:cxn ang="0">
                <a:pos x="connsiteX2" y="connsiteY2"/>
              </a:cxn>
            </a:cxnLst>
            <a:rect l="l" t="t" r="r" b="b"/>
            <a:pathLst>
              <a:path w="657991" h="1566249">
                <a:moveTo>
                  <a:pt x="657991" y="0"/>
                </a:moveTo>
                <a:cubicBezTo>
                  <a:pt x="354700" y="163717"/>
                  <a:pt x="51409" y="327434"/>
                  <a:pt x="6142" y="588475"/>
                </a:cubicBezTo>
                <a:cubicBezTo>
                  <a:pt x="-39125" y="849516"/>
                  <a:pt x="173631" y="1207882"/>
                  <a:pt x="386387" y="1566249"/>
                </a:cubicBezTo>
              </a:path>
            </a:pathLst>
          </a:custGeom>
          <a:noFill/>
          <a:ln w="38100" cap="flat" cmpd="tri" algn="ctr">
            <a:solidFill>
              <a:schemeClr val="bg1">
                <a:lumMod val="65000"/>
              </a:schemeClr>
            </a:solidFill>
            <a:prstDash val="solid"/>
            <a:round/>
            <a:headEnd type="none" w="med" len="med"/>
            <a:tailEnd type="triangle" w="med" len="med"/>
          </a:ln>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任意多边形 133"/>
          <p:cNvSpPr/>
          <p:nvPr/>
        </p:nvSpPr>
        <p:spPr bwMode="gray">
          <a:xfrm rot="1829036" flipH="1">
            <a:off x="9295104" y="3002389"/>
            <a:ext cx="224632" cy="355034"/>
          </a:xfrm>
          <a:custGeom>
            <a:avLst/>
            <a:gdLst>
              <a:gd name="connsiteX0" fmla="*/ 657991 w 657991"/>
              <a:gd name="connsiteY0" fmla="*/ 0 h 1566249"/>
              <a:gd name="connsiteX1" fmla="*/ 6142 w 657991"/>
              <a:gd name="connsiteY1" fmla="*/ 588475 h 1566249"/>
              <a:gd name="connsiteX2" fmla="*/ 386387 w 657991"/>
              <a:gd name="connsiteY2" fmla="*/ 1566249 h 1566249"/>
            </a:gdLst>
            <a:ahLst/>
            <a:cxnLst>
              <a:cxn ang="0">
                <a:pos x="connsiteX0" y="connsiteY0"/>
              </a:cxn>
              <a:cxn ang="0">
                <a:pos x="connsiteX1" y="connsiteY1"/>
              </a:cxn>
              <a:cxn ang="0">
                <a:pos x="connsiteX2" y="connsiteY2"/>
              </a:cxn>
            </a:cxnLst>
            <a:rect l="l" t="t" r="r" b="b"/>
            <a:pathLst>
              <a:path w="657991" h="1566249">
                <a:moveTo>
                  <a:pt x="657991" y="0"/>
                </a:moveTo>
                <a:cubicBezTo>
                  <a:pt x="354700" y="163717"/>
                  <a:pt x="51409" y="327434"/>
                  <a:pt x="6142" y="588475"/>
                </a:cubicBezTo>
                <a:cubicBezTo>
                  <a:pt x="-39125" y="849516"/>
                  <a:pt x="173631" y="1207882"/>
                  <a:pt x="386387" y="1566249"/>
                </a:cubicBezTo>
              </a:path>
            </a:pathLst>
          </a:custGeom>
          <a:noFill/>
          <a:ln w="38100" cap="flat" cmpd="tri" algn="ctr">
            <a:solidFill>
              <a:schemeClr val="bg1">
                <a:lumMod val="65000"/>
              </a:schemeClr>
            </a:solidFill>
            <a:prstDash val="solid"/>
            <a:round/>
            <a:headEnd type="none" w="med" len="med"/>
            <a:tailEnd type="triangle" w="med" len="med"/>
          </a:ln>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7" name="图片 105" descr="AP.png"/>
          <p:cNvPicPr>
            <a:picLocks noChangeAspect="1"/>
          </p:cNvPicPr>
          <p:nvPr/>
        </p:nvPicPr>
        <p:blipFill>
          <a:blip r:embed="rId6"/>
          <a:stretch>
            <a:fillRect/>
          </a:stretch>
        </p:blipFill>
        <p:spPr bwMode="gray">
          <a:xfrm>
            <a:off x="9451821" y="4912263"/>
            <a:ext cx="314069" cy="256966"/>
          </a:xfrm>
          <a:prstGeom prst="rect">
            <a:avLst/>
          </a:prstGeom>
        </p:spPr>
      </p:pic>
      <p:pic>
        <p:nvPicPr>
          <p:cNvPr id="124" name="图片 79" descr="PC.png">
            <a:extLst>
              <a:ext uri="{FF2B5EF4-FFF2-40B4-BE49-F238E27FC236}">
                <a16:creationId xmlns:a16="http://schemas.microsoft.com/office/drawing/2014/main" id="{4666702E-823D-4236-BF2F-880359158C83}"/>
              </a:ext>
            </a:extLst>
          </p:cNvPr>
          <p:cNvPicPr>
            <a:picLocks noChangeAspect="1"/>
          </p:cNvPicPr>
          <p:nvPr/>
        </p:nvPicPr>
        <p:blipFill>
          <a:blip r:embed="rId7" cstate="print"/>
          <a:stretch>
            <a:fillRect/>
          </a:stretch>
        </p:blipFill>
        <p:spPr bwMode="gray">
          <a:xfrm>
            <a:off x="7784171" y="4891767"/>
            <a:ext cx="360428" cy="276809"/>
          </a:xfrm>
          <a:prstGeom prst="rect">
            <a:avLst/>
          </a:prstGeom>
        </p:spPr>
      </p:pic>
      <p:sp>
        <p:nvSpPr>
          <p:cNvPr id="138" name="圆角矩形 137"/>
          <p:cNvSpPr/>
          <p:nvPr/>
        </p:nvSpPr>
        <p:spPr bwMode="gray">
          <a:xfrm>
            <a:off x="9646714" y="2981206"/>
            <a:ext cx="731358" cy="397126"/>
          </a:xfrm>
          <a:prstGeom prst="roundRect">
            <a:avLst>
              <a:gd name="adj" fmla="val 6984"/>
            </a:avLst>
          </a:prstGeom>
          <a:solidFill>
            <a:schemeClr val="bg1">
              <a:lumMod val="95000"/>
            </a:schemeClr>
          </a:solidFill>
          <a:ln w="12700" cap="flat" cmpd="sng" algn="ctr">
            <a:solidFill>
              <a:schemeClr val="tx1"/>
            </a:solidFill>
            <a:prstDash val="sysDot"/>
            <a:round/>
            <a:headEnd type="none" w="med" len="med"/>
            <a:tailEnd type="none" w="med" len="med"/>
          </a:ln>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下发授权用户</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五边形 135"/>
          <p:cNvSpPr/>
          <p:nvPr/>
        </p:nvSpPr>
        <p:spPr bwMode="gray">
          <a:xfrm>
            <a:off x="949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39" name="燕尾形 138"/>
          <p:cNvSpPr/>
          <p:nvPr/>
        </p:nvSpPr>
        <p:spPr bwMode="gray">
          <a:xfrm>
            <a:off x="10489087" y="114957"/>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圆角矩形 139"/>
          <p:cNvSpPr/>
          <p:nvPr/>
        </p:nvSpPr>
        <p:spPr bwMode="gray">
          <a:xfrm>
            <a:off x="9105701" y="3313045"/>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圆角矩形 140"/>
          <p:cNvSpPr/>
          <p:nvPr/>
        </p:nvSpPr>
        <p:spPr bwMode="gray">
          <a:xfrm>
            <a:off x="10733508" y="4895995"/>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文本框 141"/>
          <p:cNvSpPr txBox="1"/>
          <p:nvPr/>
        </p:nvSpPr>
        <p:spPr bwMode="gray">
          <a:xfrm>
            <a:off x="10911692" y="4818387"/>
            <a:ext cx="783863" cy="244084"/>
          </a:xfrm>
          <a:prstGeom prst="rect">
            <a:avLst/>
          </a:prstGeom>
          <a:noFill/>
        </p:spPr>
        <p:txBody>
          <a:bodyPr wrap="square" rtlCol="0">
            <a:noAutofit/>
          </a:bodyPr>
          <a:lstStyle/>
          <a:p>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spTree>
    <p:extLst>
      <p:ext uri="{BB962C8B-B14F-4D97-AF65-F5344CB8AC3E}">
        <p14:creationId xmlns:p14="http://schemas.microsoft.com/office/powerpoint/2010/main" val="30905797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VN</a:t>
            </a:r>
            <a:r>
              <a:rPr lang="zh-CN" altLang="en-US" dirty="0">
                <a:sym typeface="Huawei Sans" panose="020C0503030203020204" pitchFamily="34" charset="0"/>
              </a:rPr>
              <a:t>之间互访设计</a:t>
            </a:r>
          </a:p>
        </p:txBody>
      </p:sp>
      <p:sp>
        <p:nvSpPr>
          <p:cNvPr id="3" name="圆角矩形 75"/>
          <p:cNvSpPr/>
          <p:nvPr/>
        </p:nvSpPr>
        <p:spPr bwMode="gray">
          <a:xfrm>
            <a:off x="446087" y="967686"/>
            <a:ext cx="5607579"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不同的</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上互通（集中式网关场景）</a:t>
            </a:r>
          </a:p>
        </p:txBody>
      </p:sp>
      <p:sp>
        <p:nvSpPr>
          <p:cNvPr id="4" name="圆角矩形 75"/>
          <p:cNvSpPr/>
          <p:nvPr/>
        </p:nvSpPr>
        <p:spPr bwMode="gray">
          <a:xfrm>
            <a:off x="446087" y="1434554"/>
            <a:ext cx="5607579" cy="4618564"/>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 name="圆角矩形 75"/>
          <p:cNvSpPr/>
          <p:nvPr/>
        </p:nvSpPr>
        <p:spPr bwMode="gray">
          <a:xfrm>
            <a:off x="6096388" y="967686"/>
            <a:ext cx="5607580"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不同的</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到外部网关上做互通</a:t>
            </a:r>
          </a:p>
        </p:txBody>
      </p:sp>
      <p:sp>
        <p:nvSpPr>
          <p:cNvPr id="6" name="圆角矩形 75"/>
          <p:cNvSpPr/>
          <p:nvPr/>
        </p:nvSpPr>
        <p:spPr bwMode="gray">
          <a:xfrm>
            <a:off x="6096388" y="1434554"/>
            <a:ext cx="5607580" cy="4618564"/>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矩形 6"/>
          <p:cNvSpPr/>
          <p:nvPr/>
        </p:nvSpPr>
        <p:spPr bwMode="gray">
          <a:xfrm>
            <a:off x="2806096" y="1607695"/>
            <a:ext cx="891234" cy="305105"/>
          </a:xfrm>
          <a:prstGeom prst="rect">
            <a:avLst/>
          </a:prstGeom>
        </p:spPr>
        <p:txBody>
          <a:bodyPr wrap="square">
            <a:noAutofit/>
          </a:bodyPr>
          <a:lstStyle/>
          <a:p>
            <a:pPr algn="ct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8" name="矩形 7"/>
          <p:cNvSpPr/>
          <p:nvPr/>
        </p:nvSpPr>
        <p:spPr bwMode="gray">
          <a:xfrm>
            <a:off x="1653684" y="4242004"/>
            <a:ext cx="952505" cy="461665"/>
          </a:xfrm>
          <a:prstGeom prst="rect">
            <a:avLst/>
          </a:prstGeom>
        </p:spPr>
        <p:txBody>
          <a:bodyPr wrap="square">
            <a:noAutofit/>
          </a:bodyPr>
          <a:lstStyle/>
          <a:p>
            <a:r>
              <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p>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10.1.1.1/24</a:t>
            </a:r>
          </a:p>
        </p:txBody>
      </p:sp>
      <p:sp>
        <p:nvSpPr>
          <p:cNvPr id="9" name="矩形 8"/>
          <p:cNvSpPr/>
          <p:nvPr/>
        </p:nvSpPr>
        <p:spPr bwMode="gray">
          <a:xfrm>
            <a:off x="3853675" y="4242004"/>
            <a:ext cx="952505" cy="461665"/>
          </a:xfrm>
          <a:prstGeom prst="rect">
            <a:avLst/>
          </a:prstGeom>
        </p:spPr>
        <p:txBody>
          <a:bodyPr wrap="square">
            <a:noAutofit/>
          </a:bodyPr>
          <a:lstStyle/>
          <a:p>
            <a:pPr algn="r"/>
            <a:r>
              <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p>
          <a:p>
            <a:pPr algn="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10.2.2.2/24</a:t>
            </a:r>
          </a:p>
        </p:txBody>
      </p:sp>
      <p:pic>
        <p:nvPicPr>
          <p:cNvPr id="10" name="图片 86" descr="核心交换机.png"/>
          <p:cNvPicPr>
            <a:picLocks noChangeAspect="1"/>
          </p:cNvPicPr>
          <p:nvPr/>
        </p:nvPicPr>
        <p:blipFill>
          <a:blip r:embed="rId3"/>
          <a:stretch>
            <a:fillRect/>
          </a:stretch>
        </p:blipFill>
        <p:spPr bwMode="gray">
          <a:xfrm>
            <a:off x="2996028" y="1937671"/>
            <a:ext cx="415554" cy="340000"/>
          </a:xfrm>
          <a:prstGeom prst="rect">
            <a:avLst/>
          </a:prstGeom>
        </p:spPr>
      </p:pic>
      <p:pic>
        <p:nvPicPr>
          <p:cNvPr id="11" name="图片 87" descr="汇聚交换机.png"/>
          <p:cNvPicPr>
            <a:picLocks noChangeAspect="1"/>
          </p:cNvPicPr>
          <p:nvPr/>
        </p:nvPicPr>
        <p:blipFill>
          <a:blip r:embed="rId4"/>
          <a:stretch>
            <a:fillRect/>
          </a:stretch>
        </p:blipFill>
        <p:spPr bwMode="gray">
          <a:xfrm>
            <a:off x="4773251" y="3109432"/>
            <a:ext cx="415554" cy="340000"/>
          </a:xfrm>
          <a:prstGeom prst="rect">
            <a:avLst/>
          </a:prstGeom>
        </p:spPr>
      </p:pic>
      <p:pic>
        <p:nvPicPr>
          <p:cNvPr id="12" name="图片 87" descr="汇聚交换机.png"/>
          <p:cNvPicPr>
            <a:picLocks noChangeAspect="1"/>
          </p:cNvPicPr>
          <p:nvPr/>
        </p:nvPicPr>
        <p:blipFill>
          <a:blip r:embed="rId4"/>
          <a:stretch>
            <a:fillRect/>
          </a:stretch>
        </p:blipFill>
        <p:spPr bwMode="gray">
          <a:xfrm>
            <a:off x="1222929" y="3109432"/>
            <a:ext cx="415554" cy="340000"/>
          </a:xfrm>
          <a:prstGeom prst="rect">
            <a:avLst/>
          </a:prstGeom>
        </p:spPr>
      </p:pic>
      <p:pic>
        <p:nvPicPr>
          <p:cNvPr id="13" name="图片 11" descr="开放网络-蓝.png"/>
          <p:cNvPicPr>
            <a:picLocks noChangeAspect="1"/>
          </p:cNvPicPr>
          <p:nvPr/>
        </p:nvPicPr>
        <p:blipFill>
          <a:blip r:embed="rId5"/>
          <a:stretch>
            <a:fillRect/>
          </a:stretch>
        </p:blipFill>
        <p:spPr bwMode="gray">
          <a:xfrm>
            <a:off x="1207727" y="4299125"/>
            <a:ext cx="445957" cy="343290"/>
          </a:xfrm>
          <a:prstGeom prst="rect">
            <a:avLst/>
          </a:prstGeom>
        </p:spPr>
      </p:pic>
      <p:pic>
        <p:nvPicPr>
          <p:cNvPr id="14" name="图片 11" descr="开放网络-蓝.png"/>
          <p:cNvPicPr>
            <a:picLocks noChangeAspect="1"/>
          </p:cNvPicPr>
          <p:nvPr/>
        </p:nvPicPr>
        <p:blipFill>
          <a:blip r:embed="rId5"/>
          <a:stretch>
            <a:fillRect/>
          </a:stretch>
        </p:blipFill>
        <p:spPr bwMode="gray">
          <a:xfrm>
            <a:off x="4781598" y="4299125"/>
            <a:ext cx="445957" cy="343290"/>
          </a:xfrm>
          <a:prstGeom prst="rect">
            <a:avLst/>
          </a:prstGeom>
        </p:spPr>
      </p:pic>
      <p:sp>
        <p:nvSpPr>
          <p:cNvPr id="15" name="矩形 14"/>
          <p:cNvSpPr/>
          <p:nvPr/>
        </p:nvSpPr>
        <p:spPr bwMode="gray">
          <a:xfrm>
            <a:off x="596868" y="3040323"/>
            <a:ext cx="636713"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1.1.1.1</a:t>
            </a:r>
          </a:p>
        </p:txBody>
      </p:sp>
      <p:sp>
        <p:nvSpPr>
          <p:cNvPr id="16" name="矩形 15"/>
          <p:cNvSpPr/>
          <p:nvPr/>
        </p:nvSpPr>
        <p:spPr bwMode="gray">
          <a:xfrm>
            <a:off x="5155265" y="3040324"/>
            <a:ext cx="636713"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a:t>
            </a:r>
          </a:p>
        </p:txBody>
      </p:sp>
      <p:sp>
        <p:nvSpPr>
          <p:cNvPr id="17" name="矩形 16"/>
          <p:cNvSpPr/>
          <p:nvPr/>
        </p:nvSpPr>
        <p:spPr bwMode="gray">
          <a:xfrm>
            <a:off x="1425590" y="3441693"/>
            <a:ext cx="1380506" cy="276999"/>
          </a:xfrm>
          <a:prstGeom prst="rect">
            <a:avLst/>
          </a:prstGeom>
        </p:spPr>
        <p:txBody>
          <a:bodyPr wrap="none">
            <a:spAutoFit/>
          </a:bodyPr>
          <a:lstStyle/>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VBDIF 10.1.1.254</a:t>
            </a:r>
          </a:p>
        </p:txBody>
      </p:sp>
      <p:sp>
        <p:nvSpPr>
          <p:cNvPr id="18" name="矩形 17"/>
          <p:cNvSpPr/>
          <p:nvPr/>
        </p:nvSpPr>
        <p:spPr bwMode="gray">
          <a:xfrm>
            <a:off x="3419714" y="3441693"/>
            <a:ext cx="1380507" cy="276999"/>
          </a:xfrm>
          <a:prstGeom prst="rect">
            <a:avLst/>
          </a:prstGeom>
        </p:spPr>
        <p:txBody>
          <a:bodyPr wrap="none">
            <a:spAutoFit/>
          </a:bodyPr>
          <a:lstStyle/>
          <a:p>
            <a:pPr algn="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VBDIF 10.2.2.254</a:t>
            </a:r>
          </a:p>
        </p:txBody>
      </p:sp>
      <p:cxnSp>
        <p:nvCxnSpPr>
          <p:cNvPr id="19" name="直接箭头连接符 18"/>
          <p:cNvCxnSpPr/>
          <p:nvPr/>
        </p:nvCxnSpPr>
        <p:spPr bwMode="gray">
          <a:xfrm flipH="1" flipV="1">
            <a:off x="1418837" y="3522358"/>
            <a:ext cx="0" cy="77676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bwMode="gray">
          <a:xfrm flipH="1">
            <a:off x="4979175" y="3479487"/>
            <a:ext cx="0" cy="819638"/>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bwMode="gray">
          <a:xfrm rot="19657813">
            <a:off x="1675856" y="2396504"/>
            <a:ext cx="837089" cy="276999"/>
          </a:xfrm>
          <a:prstGeom prst="rect">
            <a:avLst/>
          </a:prstGeom>
        </p:spPr>
        <p:txBody>
          <a:bodyPr wrap="none">
            <a:spAutoFit/>
          </a:bodyPr>
          <a:lstStyle/>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VNI 1000</a:t>
            </a:r>
          </a:p>
        </p:txBody>
      </p:sp>
      <p:sp>
        <p:nvSpPr>
          <p:cNvPr id="23" name="矩形 22"/>
          <p:cNvSpPr/>
          <p:nvPr/>
        </p:nvSpPr>
        <p:spPr bwMode="gray">
          <a:xfrm rot="1784884">
            <a:off x="3765059" y="2317300"/>
            <a:ext cx="837089" cy="276999"/>
          </a:xfrm>
          <a:prstGeom prst="rect">
            <a:avLst/>
          </a:prstGeom>
        </p:spPr>
        <p:txBody>
          <a:bodyPr wrap="none">
            <a:spAutoFit/>
          </a:bodyPr>
          <a:lstStyle/>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VNI 1001</a:t>
            </a:r>
          </a:p>
        </p:txBody>
      </p:sp>
      <p:sp>
        <p:nvSpPr>
          <p:cNvPr id="24" name="矩形 23"/>
          <p:cNvSpPr/>
          <p:nvPr/>
        </p:nvSpPr>
        <p:spPr bwMode="gray">
          <a:xfrm>
            <a:off x="446087" y="4807116"/>
            <a:ext cx="5607579" cy="989202"/>
          </a:xfrm>
          <a:prstGeom prst="rect">
            <a:avLst/>
          </a:prstGeom>
        </p:spPr>
        <p:txBody>
          <a:bodyPr wrap="square">
            <a:noAutofit/>
          </a:bodyPr>
          <a:lstStyle/>
          <a:p>
            <a:pPr marL="285750" indent="-285750">
              <a:lnSpc>
                <a:spcPts val="2400"/>
              </a:lnSpc>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不同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之间互访的流量通过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转发，</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需负责打通</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VRF</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）之间互访的路由。</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适用于两个</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属于相同的安全区域，安全控制需求比较低的场景。</a:t>
            </a:r>
          </a:p>
        </p:txBody>
      </p:sp>
      <p:sp>
        <p:nvSpPr>
          <p:cNvPr id="25" name="矩形 24"/>
          <p:cNvSpPr/>
          <p:nvPr/>
        </p:nvSpPr>
        <p:spPr bwMode="gray">
          <a:xfrm>
            <a:off x="6109777" y="4807116"/>
            <a:ext cx="5594191" cy="1246002"/>
          </a:xfrm>
          <a:prstGeom prst="rect">
            <a:avLst/>
          </a:prstGeom>
        </p:spPr>
        <p:txBody>
          <a:bodyPr wrap="square">
            <a:noAutofit/>
          </a:bodyPr>
          <a:lstStyle/>
          <a:p>
            <a:pPr marL="285750" indent="-285750">
              <a:lnSpc>
                <a:spcPts val="2400"/>
              </a:lnSpc>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不同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之间互访的流量通过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引导到外部网关，由外部网关执行安全检查或发回，再由</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转发到目的地。</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适用于</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两个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属于不同的安全区域，安全控制需求高</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场景（如基于应用的策略控制）。</a:t>
            </a:r>
          </a:p>
        </p:txBody>
      </p:sp>
      <p:sp>
        <p:nvSpPr>
          <p:cNvPr id="26" name="矩形 25"/>
          <p:cNvSpPr/>
          <p:nvPr/>
        </p:nvSpPr>
        <p:spPr bwMode="gray">
          <a:xfrm>
            <a:off x="720144" y="1548122"/>
            <a:ext cx="2166405" cy="523220"/>
          </a:xfrm>
          <a:prstGeom prst="rect">
            <a:avLst/>
          </a:prstGeom>
        </p:spPr>
        <p:txBody>
          <a:bodyPr wrap="square">
            <a:spAutoFit/>
          </a:bodyPr>
          <a:lstStyle/>
          <a:p>
            <a:pPr algn="ct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VRF1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VRF2</a:t>
            </a:r>
          </a:p>
          <a:p>
            <a:pPr algn="ct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相互引入对方的网段路由</a:t>
            </a:r>
          </a:p>
        </p:txBody>
      </p:sp>
      <p:sp>
        <p:nvSpPr>
          <p:cNvPr id="27" name="矩形 26"/>
          <p:cNvSpPr/>
          <p:nvPr/>
        </p:nvSpPr>
        <p:spPr bwMode="gray">
          <a:xfrm>
            <a:off x="8495138" y="2583442"/>
            <a:ext cx="903047" cy="305105"/>
          </a:xfrm>
          <a:prstGeom prst="rect">
            <a:avLst/>
          </a:prstGeom>
        </p:spPr>
        <p:txBody>
          <a:bodyPr wrap="square">
            <a:noAutofit/>
          </a:bodyPr>
          <a:lstStyle/>
          <a:p>
            <a:pPr algn="ct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28" name="矩形 27"/>
          <p:cNvSpPr/>
          <p:nvPr/>
        </p:nvSpPr>
        <p:spPr bwMode="gray">
          <a:xfrm>
            <a:off x="7400437" y="4242004"/>
            <a:ext cx="1581460" cy="457657"/>
          </a:xfrm>
          <a:prstGeom prst="rect">
            <a:avLst/>
          </a:prstGeom>
        </p:spPr>
        <p:txBody>
          <a:bodyPr wrap="square">
            <a:noAutofit/>
          </a:bodyPr>
          <a:lstStyle/>
          <a:p>
            <a:r>
              <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p>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10.1.1.1/24</a:t>
            </a:r>
          </a:p>
        </p:txBody>
      </p:sp>
      <p:sp>
        <p:nvSpPr>
          <p:cNvPr id="29" name="矩形 28"/>
          <p:cNvSpPr/>
          <p:nvPr/>
        </p:nvSpPr>
        <p:spPr bwMode="gray">
          <a:xfrm>
            <a:off x="8971473" y="4242004"/>
            <a:ext cx="1581460" cy="457657"/>
          </a:xfrm>
          <a:prstGeom prst="rect">
            <a:avLst/>
          </a:prstGeom>
        </p:spPr>
        <p:txBody>
          <a:bodyPr wrap="square">
            <a:noAutofit/>
          </a:bodyPr>
          <a:lstStyle/>
          <a:p>
            <a:pPr algn="r"/>
            <a:r>
              <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p>
          <a:p>
            <a:pPr algn="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10.2.2.2/24</a:t>
            </a:r>
          </a:p>
        </p:txBody>
      </p:sp>
      <p:pic>
        <p:nvPicPr>
          <p:cNvPr id="30" name="图片 86" descr="核心交换机.png"/>
          <p:cNvPicPr>
            <a:picLocks noChangeAspect="1"/>
          </p:cNvPicPr>
          <p:nvPr/>
        </p:nvPicPr>
        <p:blipFill>
          <a:blip r:embed="rId3"/>
          <a:stretch>
            <a:fillRect/>
          </a:stretch>
        </p:blipFill>
        <p:spPr bwMode="gray">
          <a:xfrm>
            <a:off x="8742781" y="2263802"/>
            <a:ext cx="415554" cy="340000"/>
          </a:xfrm>
          <a:prstGeom prst="rect">
            <a:avLst/>
          </a:prstGeom>
        </p:spPr>
      </p:pic>
      <p:pic>
        <p:nvPicPr>
          <p:cNvPr id="31" name="图片 87" descr="汇聚交换机.png"/>
          <p:cNvPicPr>
            <a:picLocks noChangeAspect="1"/>
          </p:cNvPicPr>
          <p:nvPr/>
        </p:nvPicPr>
        <p:blipFill>
          <a:blip r:embed="rId4"/>
          <a:stretch>
            <a:fillRect/>
          </a:stretch>
        </p:blipFill>
        <p:spPr bwMode="gray">
          <a:xfrm>
            <a:off x="10520004" y="3109432"/>
            <a:ext cx="415554" cy="340000"/>
          </a:xfrm>
          <a:prstGeom prst="rect">
            <a:avLst/>
          </a:prstGeom>
        </p:spPr>
      </p:pic>
      <p:pic>
        <p:nvPicPr>
          <p:cNvPr id="32" name="图片 87" descr="汇聚交换机.png"/>
          <p:cNvPicPr>
            <a:picLocks noChangeAspect="1"/>
          </p:cNvPicPr>
          <p:nvPr/>
        </p:nvPicPr>
        <p:blipFill>
          <a:blip r:embed="rId4"/>
          <a:stretch>
            <a:fillRect/>
          </a:stretch>
        </p:blipFill>
        <p:spPr bwMode="gray">
          <a:xfrm>
            <a:off x="6969682" y="3109432"/>
            <a:ext cx="415554" cy="340000"/>
          </a:xfrm>
          <a:prstGeom prst="rect">
            <a:avLst/>
          </a:prstGeom>
        </p:spPr>
      </p:pic>
      <p:pic>
        <p:nvPicPr>
          <p:cNvPr id="33" name="图片 11" descr="开放网络-蓝.png"/>
          <p:cNvPicPr>
            <a:picLocks noChangeAspect="1"/>
          </p:cNvPicPr>
          <p:nvPr/>
        </p:nvPicPr>
        <p:blipFill>
          <a:blip r:embed="rId5"/>
          <a:stretch>
            <a:fillRect/>
          </a:stretch>
        </p:blipFill>
        <p:spPr bwMode="gray">
          <a:xfrm>
            <a:off x="6954480" y="4299125"/>
            <a:ext cx="445957" cy="343290"/>
          </a:xfrm>
          <a:prstGeom prst="rect">
            <a:avLst/>
          </a:prstGeom>
        </p:spPr>
      </p:pic>
      <p:pic>
        <p:nvPicPr>
          <p:cNvPr id="34" name="图片 11" descr="开放网络-蓝.png"/>
          <p:cNvPicPr>
            <a:picLocks noChangeAspect="1"/>
          </p:cNvPicPr>
          <p:nvPr/>
        </p:nvPicPr>
        <p:blipFill>
          <a:blip r:embed="rId5"/>
          <a:stretch>
            <a:fillRect/>
          </a:stretch>
        </p:blipFill>
        <p:spPr bwMode="gray">
          <a:xfrm>
            <a:off x="10528351" y="4299125"/>
            <a:ext cx="445957" cy="343290"/>
          </a:xfrm>
          <a:prstGeom prst="rect">
            <a:avLst/>
          </a:prstGeom>
        </p:spPr>
      </p:pic>
      <p:sp>
        <p:nvSpPr>
          <p:cNvPr id="35" name="矩形 34"/>
          <p:cNvSpPr/>
          <p:nvPr/>
        </p:nvSpPr>
        <p:spPr bwMode="gray">
          <a:xfrm>
            <a:off x="6371675" y="3040326"/>
            <a:ext cx="636713"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VTEP1</a:t>
            </a:r>
            <a:endPar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1.1.1.1</a:t>
            </a:r>
          </a:p>
        </p:txBody>
      </p:sp>
      <p:sp>
        <p:nvSpPr>
          <p:cNvPr id="36" name="矩形 35"/>
          <p:cNvSpPr/>
          <p:nvPr/>
        </p:nvSpPr>
        <p:spPr bwMode="gray">
          <a:xfrm>
            <a:off x="10895010" y="3040325"/>
            <a:ext cx="636713"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VTEP2</a:t>
            </a:r>
            <a:endPar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a:t>
            </a:r>
          </a:p>
        </p:txBody>
      </p:sp>
      <p:sp>
        <p:nvSpPr>
          <p:cNvPr id="37" name="矩形 36"/>
          <p:cNvSpPr/>
          <p:nvPr/>
        </p:nvSpPr>
        <p:spPr bwMode="gray">
          <a:xfrm>
            <a:off x="7281672" y="3441693"/>
            <a:ext cx="1380506" cy="276999"/>
          </a:xfrm>
          <a:prstGeom prst="rect">
            <a:avLst/>
          </a:prstGeom>
        </p:spPr>
        <p:txBody>
          <a:bodyPr wrap="none">
            <a:spAutoFit/>
          </a:bodyPr>
          <a:lstStyle/>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VBDIF 10.1.1.254</a:t>
            </a:r>
          </a:p>
        </p:txBody>
      </p:sp>
      <p:sp>
        <p:nvSpPr>
          <p:cNvPr id="38" name="矩形 37"/>
          <p:cNvSpPr/>
          <p:nvPr/>
        </p:nvSpPr>
        <p:spPr bwMode="gray">
          <a:xfrm>
            <a:off x="9162104" y="3441693"/>
            <a:ext cx="1380507" cy="276999"/>
          </a:xfrm>
          <a:prstGeom prst="rect">
            <a:avLst/>
          </a:prstGeom>
        </p:spPr>
        <p:txBody>
          <a:bodyPr wrap="none">
            <a:spAutoFit/>
          </a:bodyPr>
          <a:lstStyle/>
          <a:p>
            <a:pPr algn="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VBDIF 10.2.2.254</a:t>
            </a:r>
          </a:p>
        </p:txBody>
      </p:sp>
      <p:cxnSp>
        <p:nvCxnSpPr>
          <p:cNvPr id="39" name="直接箭头连接符 38"/>
          <p:cNvCxnSpPr/>
          <p:nvPr/>
        </p:nvCxnSpPr>
        <p:spPr bwMode="gray">
          <a:xfrm flipH="1" flipV="1">
            <a:off x="7165590" y="3522358"/>
            <a:ext cx="0" cy="77676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任意多边形 39"/>
          <p:cNvSpPr/>
          <p:nvPr/>
        </p:nvSpPr>
        <p:spPr bwMode="black">
          <a:xfrm>
            <a:off x="7203019" y="2377485"/>
            <a:ext cx="1532466" cy="711413"/>
          </a:xfrm>
          <a:custGeom>
            <a:avLst/>
            <a:gdLst>
              <a:gd name="connsiteX0" fmla="*/ 0 w 1549400"/>
              <a:gd name="connsiteY0" fmla="*/ 660118 h 660118"/>
              <a:gd name="connsiteX1" fmla="*/ 1549400 w 1549400"/>
              <a:gd name="connsiteY1" fmla="*/ 8184 h 660118"/>
              <a:gd name="connsiteX0" fmla="*/ 0 w 1549400"/>
              <a:gd name="connsiteY0" fmla="*/ 662056 h 662056"/>
              <a:gd name="connsiteX1" fmla="*/ 1549400 w 1549400"/>
              <a:gd name="connsiteY1" fmla="*/ 10122 h 662056"/>
              <a:gd name="connsiteX0" fmla="*/ 0 w 1532466"/>
              <a:gd name="connsiteY0" fmla="*/ 693897 h 693897"/>
              <a:gd name="connsiteX1" fmla="*/ 1532466 w 1532466"/>
              <a:gd name="connsiteY1" fmla="*/ 8096 h 693897"/>
              <a:gd name="connsiteX0" fmla="*/ 0 w 1532466"/>
              <a:gd name="connsiteY0" fmla="*/ 695982 h 695982"/>
              <a:gd name="connsiteX1" fmla="*/ 1532466 w 1532466"/>
              <a:gd name="connsiteY1" fmla="*/ 10181 h 695982"/>
              <a:gd name="connsiteX0" fmla="*/ 0 w 1532466"/>
              <a:gd name="connsiteY0" fmla="*/ 695982 h 695982"/>
              <a:gd name="connsiteX1" fmla="*/ 1532466 w 1532466"/>
              <a:gd name="connsiteY1" fmla="*/ 10181 h 695982"/>
              <a:gd name="connsiteX0" fmla="*/ 0 w 1532466"/>
              <a:gd name="connsiteY0" fmla="*/ 692714 h 692714"/>
              <a:gd name="connsiteX1" fmla="*/ 1532466 w 1532466"/>
              <a:gd name="connsiteY1" fmla="*/ 6913 h 692714"/>
              <a:gd name="connsiteX0" fmla="*/ 0 w 1532466"/>
              <a:gd name="connsiteY0" fmla="*/ 711413 h 711413"/>
              <a:gd name="connsiteX1" fmla="*/ 1532466 w 1532466"/>
              <a:gd name="connsiteY1" fmla="*/ 25612 h 711413"/>
            </a:gdLst>
            <a:ahLst/>
            <a:cxnLst>
              <a:cxn ang="0">
                <a:pos x="connsiteX0" y="connsiteY0"/>
              </a:cxn>
              <a:cxn ang="0">
                <a:pos x="connsiteX1" y="connsiteY1"/>
              </a:cxn>
            </a:cxnLst>
            <a:rect l="l" t="t" r="r" b="b"/>
            <a:pathLst>
              <a:path w="1532466" h="711413">
                <a:moveTo>
                  <a:pt x="0" y="711413"/>
                </a:moveTo>
                <a:cubicBezTo>
                  <a:pt x="388427" y="81662"/>
                  <a:pt x="911436" y="-68228"/>
                  <a:pt x="1532466" y="25612"/>
                </a:cubicBezTo>
              </a:path>
            </a:pathLst>
          </a:cu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直接箭头连接符 40"/>
          <p:cNvCxnSpPr/>
          <p:nvPr/>
        </p:nvCxnSpPr>
        <p:spPr bwMode="gray">
          <a:xfrm flipH="1">
            <a:off x="10725928" y="3479487"/>
            <a:ext cx="0" cy="819638"/>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41"/>
          <p:cNvSpPr/>
          <p:nvPr/>
        </p:nvSpPr>
        <p:spPr bwMode="gray">
          <a:xfrm rot="19924083">
            <a:off x="7087343" y="2349844"/>
            <a:ext cx="837089" cy="276999"/>
          </a:xfrm>
          <a:prstGeom prst="rect">
            <a:avLst/>
          </a:prstGeom>
        </p:spPr>
        <p:txBody>
          <a:bodyPr wrap="none">
            <a:spAutoFit/>
          </a:bodyPr>
          <a:lstStyle/>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VNI 1000</a:t>
            </a:r>
          </a:p>
        </p:txBody>
      </p:sp>
      <p:sp>
        <p:nvSpPr>
          <p:cNvPr id="43" name="矩形 42"/>
          <p:cNvSpPr/>
          <p:nvPr/>
        </p:nvSpPr>
        <p:spPr bwMode="gray">
          <a:xfrm rot="1399867">
            <a:off x="9758728" y="2274835"/>
            <a:ext cx="837089" cy="276999"/>
          </a:xfrm>
          <a:prstGeom prst="rect">
            <a:avLst/>
          </a:prstGeom>
        </p:spPr>
        <p:txBody>
          <a:bodyPr wrap="none">
            <a:spAutoFit/>
          </a:bodyPr>
          <a:lstStyle/>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VNI 1001</a:t>
            </a:r>
          </a:p>
        </p:txBody>
      </p:sp>
      <p:pic>
        <p:nvPicPr>
          <p:cNvPr id="44"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8691715" y="1600824"/>
            <a:ext cx="490909" cy="401654"/>
          </a:xfrm>
          <a:prstGeom prst="rect">
            <a:avLst/>
          </a:prstGeom>
        </p:spPr>
      </p:pic>
      <p:sp>
        <p:nvSpPr>
          <p:cNvPr id="45" name="任意多边形 44"/>
          <p:cNvSpPr/>
          <p:nvPr/>
        </p:nvSpPr>
        <p:spPr bwMode="black">
          <a:xfrm>
            <a:off x="9183734" y="2380754"/>
            <a:ext cx="1540932" cy="682743"/>
          </a:xfrm>
          <a:custGeom>
            <a:avLst/>
            <a:gdLst>
              <a:gd name="connsiteX0" fmla="*/ 0 w 1540932"/>
              <a:gd name="connsiteY0" fmla="*/ 26721 h 670187"/>
              <a:gd name="connsiteX1" fmla="*/ 1540932 w 1540932"/>
              <a:gd name="connsiteY1" fmla="*/ 670187 h 670187"/>
              <a:gd name="connsiteX0" fmla="*/ 0 w 1540932"/>
              <a:gd name="connsiteY0" fmla="*/ 26721 h 670187"/>
              <a:gd name="connsiteX1" fmla="*/ 1540932 w 1540932"/>
              <a:gd name="connsiteY1" fmla="*/ 670187 h 670187"/>
              <a:gd name="connsiteX0" fmla="*/ 0 w 1540932"/>
              <a:gd name="connsiteY0" fmla="*/ 23519 h 666985"/>
              <a:gd name="connsiteX1" fmla="*/ 1540932 w 1540932"/>
              <a:gd name="connsiteY1" fmla="*/ 666985 h 666985"/>
              <a:gd name="connsiteX0" fmla="*/ 0 w 1540932"/>
              <a:gd name="connsiteY0" fmla="*/ 33384 h 676850"/>
              <a:gd name="connsiteX1" fmla="*/ 1540932 w 1540932"/>
              <a:gd name="connsiteY1" fmla="*/ 676850 h 676850"/>
              <a:gd name="connsiteX0" fmla="*/ 0 w 1540932"/>
              <a:gd name="connsiteY0" fmla="*/ 38572 h 682038"/>
              <a:gd name="connsiteX1" fmla="*/ 1540932 w 1540932"/>
              <a:gd name="connsiteY1" fmla="*/ 682038 h 682038"/>
              <a:gd name="connsiteX0" fmla="*/ 0 w 1540932"/>
              <a:gd name="connsiteY0" fmla="*/ 39277 h 682743"/>
              <a:gd name="connsiteX1" fmla="*/ 1540932 w 1540932"/>
              <a:gd name="connsiteY1" fmla="*/ 682743 h 682743"/>
            </a:gdLst>
            <a:ahLst/>
            <a:cxnLst>
              <a:cxn ang="0">
                <a:pos x="connsiteX0" y="connsiteY0"/>
              </a:cxn>
              <a:cxn ang="0">
                <a:pos x="connsiteX1" y="connsiteY1"/>
              </a:cxn>
            </a:cxnLst>
            <a:rect l="l" t="t" r="r" b="b"/>
            <a:pathLst>
              <a:path w="1540932" h="682743">
                <a:moveTo>
                  <a:pt x="0" y="39277"/>
                </a:moveTo>
                <a:cubicBezTo>
                  <a:pt x="707812" y="-120458"/>
                  <a:pt x="1305559" y="229493"/>
                  <a:pt x="1540932" y="682743"/>
                </a:cubicBezTo>
              </a:path>
            </a:pathLst>
          </a:cu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任意多边形 45"/>
          <p:cNvSpPr/>
          <p:nvPr/>
        </p:nvSpPr>
        <p:spPr bwMode="gray">
          <a:xfrm>
            <a:off x="8814951" y="1753787"/>
            <a:ext cx="266371" cy="647310"/>
          </a:xfrm>
          <a:custGeom>
            <a:avLst/>
            <a:gdLst>
              <a:gd name="connsiteX0" fmla="*/ 2211 w 266371"/>
              <a:gd name="connsiteY0" fmla="*/ 628684 h 647310"/>
              <a:gd name="connsiteX1" fmla="*/ 266371 w 266371"/>
              <a:gd name="connsiteY1" fmla="*/ 647310 h 647310"/>
            </a:gdLst>
            <a:ahLst/>
            <a:cxnLst>
              <a:cxn ang="0">
                <a:pos x="connsiteX0" y="connsiteY0"/>
              </a:cxn>
              <a:cxn ang="0">
                <a:pos x="connsiteX1" y="connsiteY1"/>
              </a:cxn>
            </a:cxnLst>
            <a:rect l="l" t="t" r="r" b="b"/>
            <a:pathLst>
              <a:path w="266371" h="647310">
                <a:moveTo>
                  <a:pt x="2211" y="628684"/>
                </a:moveTo>
                <a:cubicBezTo>
                  <a:pt x="-28269" y="-289665"/>
                  <a:pt x="266371" y="-131060"/>
                  <a:pt x="266371" y="647310"/>
                </a:cubicBezTo>
              </a:path>
            </a:pathLst>
          </a:cu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1598050" y="2933245"/>
            <a:ext cx="1345240" cy="461665"/>
          </a:xfrm>
          <a:prstGeom prst="rect">
            <a:avLst/>
          </a:prstGeom>
        </p:spPr>
        <p:txBody>
          <a:bodyPr wrap="none">
            <a:spAutoFit/>
          </a:bodyPr>
          <a:lstStyle/>
          <a:p>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VRF1</a:t>
            </a:r>
          </a:p>
          <a:p>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L3 VNI 1000</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3454981" y="2933245"/>
            <a:ext cx="1345240" cy="461665"/>
          </a:xfrm>
          <a:prstGeom prst="rect">
            <a:avLst/>
          </a:prstGeom>
        </p:spPr>
        <p:txBody>
          <a:bodyPr wrap="none">
            <a:spAutoFit/>
          </a:bodyPr>
          <a:lstStyle/>
          <a:p>
            <a:pPr algn="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VRF2</a:t>
            </a:r>
          </a:p>
          <a:p>
            <a:pPr algn="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L3 VNI 1001</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gray">
          <a:xfrm>
            <a:off x="7320243" y="2933245"/>
            <a:ext cx="1345240" cy="461665"/>
          </a:xfrm>
          <a:prstGeom prst="rect">
            <a:avLst/>
          </a:prstGeom>
        </p:spPr>
        <p:txBody>
          <a:bodyPr wrap="none">
            <a:spAutoFit/>
          </a:bodyPr>
          <a:lstStyle/>
          <a:p>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VRF1</a:t>
            </a:r>
          </a:p>
          <a:p>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L3 VNI 1000</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bwMode="gray">
          <a:xfrm>
            <a:off x="9177174" y="2933245"/>
            <a:ext cx="1345240" cy="461665"/>
          </a:xfrm>
          <a:prstGeom prst="rect">
            <a:avLst/>
          </a:prstGeom>
        </p:spPr>
        <p:txBody>
          <a:bodyPr wrap="none">
            <a:spAutoFit/>
          </a:bodyPr>
          <a:lstStyle/>
          <a:p>
            <a:pPr algn="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VRF2</a:t>
            </a:r>
          </a:p>
          <a:p>
            <a:pPr algn="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L3 </a:t>
            </a: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VNI 1001</a:t>
            </a: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9175935" y="1635719"/>
            <a:ext cx="891234" cy="305105"/>
          </a:xfrm>
          <a:prstGeom prst="rect">
            <a:avLst/>
          </a:prstGeom>
        </p:spPr>
        <p:txBody>
          <a:bodyPr wrap="square">
            <a:noAutofit/>
          </a:bodyPr>
          <a:lstStyle/>
          <a:p>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任意多边形 53"/>
          <p:cNvSpPr/>
          <p:nvPr/>
        </p:nvSpPr>
        <p:spPr bwMode="black">
          <a:xfrm>
            <a:off x="1419879" y="2167184"/>
            <a:ext cx="1540086" cy="921715"/>
          </a:xfrm>
          <a:custGeom>
            <a:avLst/>
            <a:gdLst>
              <a:gd name="connsiteX0" fmla="*/ 0 w 1549400"/>
              <a:gd name="connsiteY0" fmla="*/ 660118 h 660118"/>
              <a:gd name="connsiteX1" fmla="*/ 1549400 w 1549400"/>
              <a:gd name="connsiteY1" fmla="*/ 8184 h 660118"/>
              <a:gd name="connsiteX0" fmla="*/ 0 w 1549400"/>
              <a:gd name="connsiteY0" fmla="*/ 662056 h 662056"/>
              <a:gd name="connsiteX1" fmla="*/ 1549400 w 1549400"/>
              <a:gd name="connsiteY1" fmla="*/ 10122 h 662056"/>
              <a:gd name="connsiteX0" fmla="*/ 0 w 1532466"/>
              <a:gd name="connsiteY0" fmla="*/ 693897 h 693897"/>
              <a:gd name="connsiteX1" fmla="*/ 1532466 w 1532466"/>
              <a:gd name="connsiteY1" fmla="*/ 8096 h 693897"/>
              <a:gd name="connsiteX0" fmla="*/ 0 w 1532466"/>
              <a:gd name="connsiteY0" fmla="*/ 695982 h 695982"/>
              <a:gd name="connsiteX1" fmla="*/ 1532466 w 1532466"/>
              <a:gd name="connsiteY1" fmla="*/ 10181 h 695982"/>
              <a:gd name="connsiteX0" fmla="*/ 0 w 1532466"/>
              <a:gd name="connsiteY0" fmla="*/ 695982 h 695982"/>
              <a:gd name="connsiteX1" fmla="*/ 1532466 w 1532466"/>
              <a:gd name="connsiteY1" fmla="*/ 10181 h 695982"/>
              <a:gd name="connsiteX0" fmla="*/ 0 w 1532466"/>
              <a:gd name="connsiteY0" fmla="*/ 692714 h 692714"/>
              <a:gd name="connsiteX1" fmla="*/ 1532466 w 1532466"/>
              <a:gd name="connsiteY1" fmla="*/ 6913 h 692714"/>
              <a:gd name="connsiteX0" fmla="*/ 0 w 1532466"/>
              <a:gd name="connsiteY0" fmla="*/ 711413 h 711413"/>
              <a:gd name="connsiteX1" fmla="*/ 1532466 w 1532466"/>
              <a:gd name="connsiteY1" fmla="*/ 25612 h 711413"/>
              <a:gd name="connsiteX0" fmla="*/ 0 w 1540086"/>
              <a:gd name="connsiteY0" fmla="*/ 802162 h 802162"/>
              <a:gd name="connsiteX1" fmla="*/ 1540086 w 1540086"/>
              <a:gd name="connsiteY1" fmla="*/ 19270 h 802162"/>
              <a:gd name="connsiteX0" fmla="*/ 0 w 1540086"/>
              <a:gd name="connsiteY0" fmla="*/ 782941 h 782941"/>
              <a:gd name="connsiteX1" fmla="*/ 1540086 w 1540086"/>
              <a:gd name="connsiteY1" fmla="*/ 49 h 782941"/>
              <a:gd name="connsiteX0" fmla="*/ 0 w 1540086"/>
              <a:gd name="connsiteY0" fmla="*/ 782940 h 782940"/>
              <a:gd name="connsiteX1" fmla="*/ 1540086 w 1540086"/>
              <a:gd name="connsiteY1" fmla="*/ 48 h 782940"/>
            </a:gdLst>
            <a:ahLst/>
            <a:cxnLst>
              <a:cxn ang="0">
                <a:pos x="connsiteX0" y="connsiteY0"/>
              </a:cxn>
              <a:cxn ang="0">
                <a:pos x="connsiteX1" y="connsiteY1"/>
              </a:cxn>
            </a:cxnLst>
            <a:rect l="l" t="t" r="r" b="b"/>
            <a:pathLst>
              <a:path w="1540086" h="782940">
                <a:moveTo>
                  <a:pt x="0" y="782940"/>
                </a:moveTo>
                <a:cubicBezTo>
                  <a:pt x="243647" y="156426"/>
                  <a:pt x="743796" y="-3174"/>
                  <a:pt x="1540086" y="48"/>
                </a:cubicBezTo>
              </a:path>
            </a:pathLst>
          </a:cu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任意多边形 54"/>
          <p:cNvSpPr/>
          <p:nvPr/>
        </p:nvSpPr>
        <p:spPr bwMode="black">
          <a:xfrm>
            <a:off x="3438694" y="2149342"/>
            <a:ext cx="1510452" cy="921775"/>
          </a:xfrm>
          <a:custGeom>
            <a:avLst/>
            <a:gdLst>
              <a:gd name="connsiteX0" fmla="*/ 0 w 1540932"/>
              <a:gd name="connsiteY0" fmla="*/ 26721 h 670187"/>
              <a:gd name="connsiteX1" fmla="*/ 1540932 w 1540932"/>
              <a:gd name="connsiteY1" fmla="*/ 670187 h 670187"/>
              <a:gd name="connsiteX0" fmla="*/ 0 w 1540932"/>
              <a:gd name="connsiteY0" fmla="*/ 26721 h 670187"/>
              <a:gd name="connsiteX1" fmla="*/ 1540932 w 1540932"/>
              <a:gd name="connsiteY1" fmla="*/ 670187 h 670187"/>
              <a:gd name="connsiteX0" fmla="*/ 0 w 1540932"/>
              <a:gd name="connsiteY0" fmla="*/ 23519 h 666985"/>
              <a:gd name="connsiteX1" fmla="*/ 1540932 w 1540932"/>
              <a:gd name="connsiteY1" fmla="*/ 666985 h 666985"/>
              <a:gd name="connsiteX0" fmla="*/ 0 w 1540932"/>
              <a:gd name="connsiteY0" fmla="*/ 33384 h 676850"/>
              <a:gd name="connsiteX1" fmla="*/ 1540932 w 1540932"/>
              <a:gd name="connsiteY1" fmla="*/ 676850 h 676850"/>
              <a:gd name="connsiteX0" fmla="*/ 0 w 1540932"/>
              <a:gd name="connsiteY0" fmla="*/ 38572 h 682038"/>
              <a:gd name="connsiteX1" fmla="*/ 1540932 w 1540932"/>
              <a:gd name="connsiteY1" fmla="*/ 682038 h 682038"/>
              <a:gd name="connsiteX0" fmla="*/ 0 w 1540932"/>
              <a:gd name="connsiteY0" fmla="*/ 39277 h 682743"/>
              <a:gd name="connsiteX1" fmla="*/ 1540932 w 1540932"/>
              <a:gd name="connsiteY1" fmla="*/ 682743 h 682743"/>
              <a:gd name="connsiteX0" fmla="*/ 0 w 1502832"/>
              <a:gd name="connsiteY0" fmla="*/ 31385 h 804305"/>
              <a:gd name="connsiteX1" fmla="*/ 1502832 w 1502832"/>
              <a:gd name="connsiteY1" fmla="*/ 804305 h 804305"/>
              <a:gd name="connsiteX0" fmla="*/ 0 w 1502832"/>
              <a:gd name="connsiteY0" fmla="*/ 0 h 772920"/>
              <a:gd name="connsiteX1" fmla="*/ 1502832 w 1502832"/>
              <a:gd name="connsiteY1" fmla="*/ 772920 h 772920"/>
              <a:gd name="connsiteX0" fmla="*/ 0 w 1510452"/>
              <a:gd name="connsiteY0" fmla="*/ 0 h 779393"/>
              <a:gd name="connsiteX1" fmla="*/ 1510452 w 1510452"/>
              <a:gd name="connsiteY1" fmla="*/ 779393 h 779393"/>
              <a:gd name="connsiteX0" fmla="*/ 0 w 1510452"/>
              <a:gd name="connsiteY0" fmla="*/ 0 h 779393"/>
              <a:gd name="connsiteX1" fmla="*/ 1510452 w 1510452"/>
              <a:gd name="connsiteY1" fmla="*/ 779393 h 779393"/>
              <a:gd name="connsiteX0" fmla="*/ 0 w 1510452"/>
              <a:gd name="connsiteY0" fmla="*/ 4551 h 783944"/>
              <a:gd name="connsiteX1" fmla="*/ 1510452 w 1510452"/>
              <a:gd name="connsiteY1" fmla="*/ 783944 h 783944"/>
              <a:gd name="connsiteX0" fmla="*/ 0 w 1510452"/>
              <a:gd name="connsiteY0" fmla="*/ 3598 h 782991"/>
              <a:gd name="connsiteX1" fmla="*/ 1510452 w 1510452"/>
              <a:gd name="connsiteY1" fmla="*/ 782991 h 782991"/>
            </a:gdLst>
            <a:ahLst/>
            <a:cxnLst>
              <a:cxn ang="0">
                <a:pos x="connsiteX0" y="connsiteY0"/>
              </a:cxn>
              <a:cxn ang="0">
                <a:pos x="connsiteX1" y="connsiteY1"/>
              </a:cxn>
            </a:cxnLst>
            <a:rect l="l" t="t" r="r" b="b"/>
            <a:pathLst>
              <a:path w="1510452" h="782991">
                <a:moveTo>
                  <a:pt x="0" y="3598"/>
                </a:moveTo>
                <a:cubicBezTo>
                  <a:pt x="966892" y="-42864"/>
                  <a:pt x="1343659" y="368577"/>
                  <a:pt x="1510452" y="782991"/>
                </a:cubicBezTo>
              </a:path>
            </a:pathLst>
          </a:cu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五边形 52"/>
          <p:cNvSpPr/>
          <p:nvPr/>
        </p:nvSpPr>
        <p:spPr bwMode="gray">
          <a:xfrm>
            <a:off x="949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56" name="燕尾形 55"/>
          <p:cNvSpPr/>
          <p:nvPr/>
        </p:nvSpPr>
        <p:spPr bwMode="gray">
          <a:xfrm>
            <a:off x="10489087" y="114957"/>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175759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166"/>
          <p:cNvCxnSpPr/>
          <p:nvPr/>
        </p:nvCxnSpPr>
        <p:spPr bwMode="gray">
          <a:xfrm flipH="1">
            <a:off x="2710031" y="3025583"/>
            <a:ext cx="18972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166"/>
          <p:cNvCxnSpPr/>
          <p:nvPr/>
        </p:nvCxnSpPr>
        <p:spPr bwMode="gray">
          <a:xfrm>
            <a:off x="2612342" y="1707642"/>
            <a:ext cx="1" cy="13582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a:sym typeface="Huawei Sans" panose="020C0503030203020204" pitchFamily="34" charset="0"/>
              </a:rPr>
              <a:t>逻辑网络到物理网络的映射原理</a:t>
            </a:r>
          </a:p>
        </p:txBody>
      </p:sp>
      <p:cxnSp>
        <p:nvCxnSpPr>
          <p:cNvPr id="5" name="Straight Connector 166"/>
          <p:cNvCxnSpPr/>
          <p:nvPr/>
        </p:nvCxnSpPr>
        <p:spPr bwMode="gray">
          <a:xfrm flipH="1">
            <a:off x="1277311" y="4545734"/>
            <a:ext cx="1" cy="8726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166"/>
          <p:cNvCxnSpPr/>
          <p:nvPr/>
        </p:nvCxnSpPr>
        <p:spPr bwMode="gray">
          <a:xfrm flipH="1">
            <a:off x="3929477" y="4545734"/>
            <a:ext cx="1" cy="9576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165"/>
          <p:cNvGrpSpPr/>
          <p:nvPr/>
        </p:nvGrpSpPr>
        <p:grpSpPr bwMode="gray">
          <a:xfrm rot="10800000">
            <a:off x="1445824" y="3025583"/>
            <a:ext cx="2316710" cy="1216866"/>
            <a:chOff x="-1233037" y="914446"/>
            <a:chExt cx="1573823" cy="778776"/>
          </a:xfrm>
        </p:grpSpPr>
        <p:cxnSp>
          <p:nvCxnSpPr>
            <p:cNvPr id="8"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0" name="图片 86" descr="核心交换机.png"/>
          <p:cNvPicPr>
            <a:picLocks noChangeAspect="1"/>
          </p:cNvPicPr>
          <p:nvPr/>
        </p:nvPicPr>
        <p:blipFill>
          <a:blip r:embed="rId3"/>
          <a:stretch>
            <a:fillRect/>
          </a:stretch>
        </p:blipFill>
        <p:spPr bwMode="gray">
          <a:xfrm>
            <a:off x="2358296" y="2848633"/>
            <a:ext cx="491768" cy="402358"/>
          </a:xfrm>
          <a:prstGeom prst="rect">
            <a:avLst/>
          </a:prstGeom>
        </p:spPr>
      </p:pic>
      <p:pic>
        <p:nvPicPr>
          <p:cNvPr id="11" name="图片 87" descr="汇聚交换机.png"/>
          <p:cNvPicPr>
            <a:picLocks noChangeAspect="1"/>
          </p:cNvPicPr>
          <p:nvPr/>
        </p:nvPicPr>
        <p:blipFill>
          <a:blip r:embed="rId4"/>
          <a:stretch>
            <a:fillRect/>
          </a:stretch>
        </p:blipFill>
        <p:spPr bwMode="gray">
          <a:xfrm>
            <a:off x="1031425" y="4218443"/>
            <a:ext cx="491768" cy="402358"/>
          </a:xfrm>
          <a:prstGeom prst="rect">
            <a:avLst/>
          </a:prstGeom>
        </p:spPr>
      </p:pic>
      <p:pic>
        <p:nvPicPr>
          <p:cNvPr id="12" name="图片 76" descr="接入交换机.png"/>
          <p:cNvPicPr>
            <a:picLocks noChangeAspect="1"/>
          </p:cNvPicPr>
          <p:nvPr/>
        </p:nvPicPr>
        <p:blipFill>
          <a:blip r:embed="rId5"/>
          <a:stretch>
            <a:fillRect/>
          </a:stretch>
        </p:blipFill>
        <p:spPr bwMode="gray">
          <a:xfrm>
            <a:off x="1032648" y="5383440"/>
            <a:ext cx="491768" cy="402358"/>
          </a:xfrm>
          <a:prstGeom prst="rect">
            <a:avLst/>
          </a:prstGeom>
        </p:spPr>
      </p:pic>
      <p:pic>
        <p:nvPicPr>
          <p:cNvPr id="13" name="图片 87" descr="汇聚交换机.png"/>
          <p:cNvPicPr>
            <a:picLocks noChangeAspect="1"/>
          </p:cNvPicPr>
          <p:nvPr/>
        </p:nvPicPr>
        <p:blipFill>
          <a:blip r:embed="rId4"/>
          <a:stretch>
            <a:fillRect/>
          </a:stretch>
        </p:blipFill>
        <p:spPr bwMode="gray">
          <a:xfrm>
            <a:off x="3685166" y="4218443"/>
            <a:ext cx="491768" cy="402358"/>
          </a:xfrm>
          <a:prstGeom prst="rect">
            <a:avLst/>
          </a:prstGeom>
        </p:spPr>
      </p:pic>
      <p:pic>
        <p:nvPicPr>
          <p:cNvPr id="14" name="图片 76" descr="接入交换机.png"/>
          <p:cNvPicPr>
            <a:picLocks noChangeAspect="1"/>
          </p:cNvPicPr>
          <p:nvPr/>
        </p:nvPicPr>
        <p:blipFill>
          <a:blip r:embed="rId5"/>
          <a:stretch>
            <a:fillRect/>
          </a:stretch>
        </p:blipFill>
        <p:spPr bwMode="gray">
          <a:xfrm>
            <a:off x="3686389" y="5383440"/>
            <a:ext cx="491768" cy="402358"/>
          </a:xfrm>
          <a:prstGeom prst="rect">
            <a:avLst/>
          </a:prstGeom>
        </p:spPr>
      </p:pic>
      <p:sp>
        <p:nvSpPr>
          <p:cNvPr id="15" name="文本框 14"/>
          <p:cNvSpPr txBox="1"/>
          <p:nvPr/>
        </p:nvSpPr>
        <p:spPr bwMode="gray">
          <a:xfrm>
            <a:off x="1639223" y="2777819"/>
            <a:ext cx="761747" cy="307777"/>
          </a:xfrm>
          <a:prstGeom prst="rect">
            <a:avLst/>
          </a:prstGeom>
          <a:noFill/>
        </p:spPr>
        <p:txBody>
          <a:bodyPr wrap="none" rtlCol="0">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Border</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471580" y="5413863"/>
            <a:ext cx="604653" cy="307777"/>
          </a:xfrm>
          <a:prstGeom prst="rect">
            <a:avLst/>
          </a:prstGeom>
          <a:noFill/>
        </p:spPr>
        <p:txBody>
          <a:bodyPr wrap="none" rtlCol="0">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4126923" y="5423290"/>
            <a:ext cx="604653" cy="307777"/>
          </a:xfrm>
          <a:prstGeom prst="rect">
            <a:avLst/>
          </a:prstGeom>
          <a:noFill/>
        </p:spPr>
        <p:txBody>
          <a:bodyPr wrap="none" rtlCol="0">
            <a:spAutoFit/>
          </a:bodyPr>
          <a:lstStyle/>
          <a:p>
            <a:pP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gray">
          <a:xfrm>
            <a:off x="2359155" y="1501181"/>
            <a:ext cx="490909" cy="401652"/>
          </a:xfrm>
          <a:prstGeom prst="rect">
            <a:avLst/>
          </a:prstGeom>
          <a:noFill/>
        </p:spPr>
      </p:pic>
      <p:sp>
        <p:nvSpPr>
          <p:cNvPr id="28" name="文本框 27"/>
          <p:cNvSpPr txBox="1"/>
          <p:nvPr/>
        </p:nvSpPr>
        <p:spPr bwMode="gray">
          <a:xfrm>
            <a:off x="1635216" y="1501181"/>
            <a:ext cx="769763" cy="307777"/>
          </a:xfrm>
          <a:prstGeom prst="rect">
            <a:avLst/>
          </a:prstGeom>
          <a:noFill/>
        </p:spPr>
        <p:txBody>
          <a:bodyPr wrap="none" rtlCol="0">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Router</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任意多边形 36"/>
          <p:cNvSpPr/>
          <p:nvPr/>
        </p:nvSpPr>
        <p:spPr bwMode="gray">
          <a:xfrm>
            <a:off x="954226" y="2794151"/>
            <a:ext cx="3504966" cy="2825528"/>
          </a:xfrm>
          <a:custGeom>
            <a:avLst/>
            <a:gdLst>
              <a:gd name="connsiteX0" fmla="*/ 0 w 3433729"/>
              <a:gd name="connsiteY0" fmla="*/ 0 h 2825528"/>
              <a:gd name="connsiteX1" fmla="*/ 2933957 w 3433729"/>
              <a:gd name="connsiteY1" fmla="*/ 0 h 2825528"/>
              <a:gd name="connsiteX2" fmla="*/ 2933957 w 3433729"/>
              <a:gd name="connsiteY2" fmla="*/ 1 h 2825528"/>
              <a:gd name="connsiteX3" fmla="*/ 3433729 w 3433729"/>
              <a:gd name="connsiteY3" fmla="*/ 1 h 2825528"/>
              <a:gd name="connsiteX4" fmla="*/ 3433729 w 3433729"/>
              <a:gd name="connsiteY4" fmla="*/ 62211 h 2825528"/>
              <a:gd name="connsiteX5" fmla="*/ 2933957 w 3433729"/>
              <a:gd name="connsiteY5" fmla="*/ 62211 h 2825528"/>
              <a:gd name="connsiteX6" fmla="*/ 2933957 w 3433729"/>
              <a:gd name="connsiteY6" fmla="*/ 2825528 h 2825528"/>
              <a:gd name="connsiteX7" fmla="*/ 0 w 3433729"/>
              <a:gd name="connsiteY7" fmla="*/ 2825528 h 2825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3729" h="2825528">
                <a:moveTo>
                  <a:pt x="0" y="0"/>
                </a:moveTo>
                <a:lnTo>
                  <a:pt x="2933957" y="0"/>
                </a:lnTo>
                <a:lnTo>
                  <a:pt x="2933957" y="1"/>
                </a:lnTo>
                <a:lnTo>
                  <a:pt x="3433729" y="1"/>
                </a:lnTo>
                <a:lnTo>
                  <a:pt x="3433729" y="62211"/>
                </a:lnTo>
                <a:lnTo>
                  <a:pt x="2933957" y="62211"/>
                </a:lnTo>
                <a:lnTo>
                  <a:pt x="2933957" y="2825528"/>
                </a:lnTo>
                <a:lnTo>
                  <a:pt x="0" y="2825528"/>
                </a:lnTo>
                <a:close/>
              </a:path>
            </a:pathLst>
          </a:custGeom>
          <a:solidFill>
            <a:srgbClr val="00B0F0">
              <a:alpha val="25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8" name="任意多边形 37"/>
          <p:cNvSpPr/>
          <p:nvPr/>
        </p:nvSpPr>
        <p:spPr bwMode="gray">
          <a:xfrm>
            <a:off x="1172429" y="2925777"/>
            <a:ext cx="3433729" cy="2825528"/>
          </a:xfrm>
          <a:custGeom>
            <a:avLst/>
            <a:gdLst>
              <a:gd name="connsiteX0" fmla="*/ 0 w 3433729"/>
              <a:gd name="connsiteY0" fmla="*/ 0 h 2825528"/>
              <a:gd name="connsiteX1" fmla="*/ 2933957 w 3433729"/>
              <a:gd name="connsiteY1" fmla="*/ 0 h 2825528"/>
              <a:gd name="connsiteX2" fmla="*/ 2933957 w 3433729"/>
              <a:gd name="connsiteY2" fmla="*/ 1 h 2825528"/>
              <a:gd name="connsiteX3" fmla="*/ 3433729 w 3433729"/>
              <a:gd name="connsiteY3" fmla="*/ 1 h 2825528"/>
              <a:gd name="connsiteX4" fmla="*/ 3433729 w 3433729"/>
              <a:gd name="connsiteY4" fmla="*/ 62211 h 2825528"/>
              <a:gd name="connsiteX5" fmla="*/ 2933957 w 3433729"/>
              <a:gd name="connsiteY5" fmla="*/ 62211 h 2825528"/>
              <a:gd name="connsiteX6" fmla="*/ 2933957 w 3433729"/>
              <a:gd name="connsiteY6" fmla="*/ 2825528 h 2825528"/>
              <a:gd name="connsiteX7" fmla="*/ 0 w 3433729"/>
              <a:gd name="connsiteY7" fmla="*/ 2825528 h 2825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3729" h="2825528">
                <a:moveTo>
                  <a:pt x="0" y="0"/>
                </a:moveTo>
                <a:lnTo>
                  <a:pt x="2933957" y="0"/>
                </a:lnTo>
                <a:lnTo>
                  <a:pt x="2933957" y="1"/>
                </a:lnTo>
                <a:lnTo>
                  <a:pt x="3433729" y="1"/>
                </a:lnTo>
                <a:lnTo>
                  <a:pt x="3433729" y="62211"/>
                </a:lnTo>
                <a:lnTo>
                  <a:pt x="2933957" y="62211"/>
                </a:lnTo>
                <a:lnTo>
                  <a:pt x="2933957" y="2825528"/>
                </a:lnTo>
                <a:lnTo>
                  <a:pt x="0" y="2825528"/>
                </a:lnTo>
                <a:close/>
              </a:path>
            </a:pathLst>
          </a:custGeom>
          <a:solidFill>
            <a:srgbClr val="FFC000">
              <a:alpha val="25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2" name="文本框 41"/>
          <p:cNvSpPr txBox="1"/>
          <p:nvPr/>
        </p:nvSpPr>
        <p:spPr bwMode="gray">
          <a:xfrm>
            <a:off x="4506253" y="1501181"/>
            <a:ext cx="492443" cy="276999"/>
          </a:xfrm>
          <a:prstGeom prst="rect">
            <a:avLst/>
          </a:prstGeom>
          <a:solidFill>
            <a:srgbClr val="BFEBD3"/>
          </a:solidFill>
        </p:spPr>
        <p:txBody>
          <a:bodyPr wrap="none" rtlCol="0">
            <a:spAutoFit/>
          </a:bodyPr>
          <a:lstStyle/>
          <a:p>
            <a:pPr algn="ct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科研</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3935529" y="1501181"/>
            <a:ext cx="492443" cy="276999"/>
          </a:xfrm>
          <a:prstGeom prst="rect">
            <a:avLst/>
          </a:prstGeom>
          <a:solidFill>
            <a:srgbClr val="FFEFBF"/>
          </a:solidFill>
        </p:spPr>
        <p:txBody>
          <a:bodyPr wrap="none" rtlCol="0">
            <a:spAutoFit/>
          </a:bodyPr>
          <a:lstStyle/>
          <a:p>
            <a:pPr algn="ct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生产</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3364805" y="1501181"/>
            <a:ext cx="492443" cy="276999"/>
          </a:xfrm>
          <a:prstGeom prst="rect">
            <a:avLst/>
          </a:prstGeom>
          <a:solidFill>
            <a:srgbClr val="BFEBFB"/>
          </a:solidFill>
        </p:spPr>
        <p:txBody>
          <a:bodyPr wrap="none" rtlCol="0">
            <a:spAutoFit/>
          </a:bodyPr>
          <a:lstStyle/>
          <a:p>
            <a:pPr algn="ctr" font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任意多边形 44"/>
          <p:cNvSpPr/>
          <p:nvPr/>
        </p:nvSpPr>
        <p:spPr bwMode="gray">
          <a:xfrm>
            <a:off x="1390633" y="3118597"/>
            <a:ext cx="3334669" cy="2825528"/>
          </a:xfrm>
          <a:custGeom>
            <a:avLst/>
            <a:gdLst>
              <a:gd name="connsiteX0" fmla="*/ 0 w 3433729"/>
              <a:gd name="connsiteY0" fmla="*/ 0 h 2825528"/>
              <a:gd name="connsiteX1" fmla="*/ 2933957 w 3433729"/>
              <a:gd name="connsiteY1" fmla="*/ 0 h 2825528"/>
              <a:gd name="connsiteX2" fmla="*/ 2933957 w 3433729"/>
              <a:gd name="connsiteY2" fmla="*/ 1 h 2825528"/>
              <a:gd name="connsiteX3" fmla="*/ 3433729 w 3433729"/>
              <a:gd name="connsiteY3" fmla="*/ 1 h 2825528"/>
              <a:gd name="connsiteX4" fmla="*/ 3433729 w 3433729"/>
              <a:gd name="connsiteY4" fmla="*/ 62211 h 2825528"/>
              <a:gd name="connsiteX5" fmla="*/ 2933957 w 3433729"/>
              <a:gd name="connsiteY5" fmla="*/ 62211 h 2825528"/>
              <a:gd name="connsiteX6" fmla="*/ 2933957 w 3433729"/>
              <a:gd name="connsiteY6" fmla="*/ 2825528 h 2825528"/>
              <a:gd name="connsiteX7" fmla="*/ 0 w 3433729"/>
              <a:gd name="connsiteY7" fmla="*/ 2825528 h 2825528"/>
              <a:gd name="connsiteX0" fmla="*/ 0 w 3433729"/>
              <a:gd name="connsiteY0" fmla="*/ 0 h 2825528"/>
              <a:gd name="connsiteX1" fmla="*/ 2933957 w 3433729"/>
              <a:gd name="connsiteY1" fmla="*/ 0 h 2825528"/>
              <a:gd name="connsiteX2" fmla="*/ 2933957 w 3433729"/>
              <a:gd name="connsiteY2" fmla="*/ 1 h 2825528"/>
              <a:gd name="connsiteX3" fmla="*/ 3334669 w 3433729"/>
              <a:gd name="connsiteY3" fmla="*/ 1 h 2825528"/>
              <a:gd name="connsiteX4" fmla="*/ 3433729 w 3433729"/>
              <a:gd name="connsiteY4" fmla="*/ 62211 h 2825528"/>
              <a:gd name="connsiteX5" fmla="*/ 2933957 w 3433729"/>
              <a:gd name="connsiteY5" fmla="*/ 62211 h 2825528"/>
              <a:gd name="connsiteX6" fmla="*/ 2933957 w 3433729"/>
              <a:gd name="connsiteY6" fmla="*/ 2825528 h 2825528"/>
              <a:gd name="connsiteX7" fmla="*/ 0 w 3433729"/>
              <a:gd name="connsiteY7" fmla="*/ 2825528 h 2825528"/>
              <a:gd name="connsiteX8" fmla="*/ 0 w 3433729"/>
              <a:gd name="connsiteY8" fmla="*/ 0 h 2825528"/>
              <a:gd name="connsiteX0" fmla="*/ 0 w 3334669"/>
              <a:gd name="connsiteY0" fmla="*/ 0 h 2825528"/>
              <a:gd name="connsiteX1" fmla="*/ 2933957 w 3334669"/>
              <a:gd name="connsiteY1" fmla="*/ 0 h 2825528"/>
              <a:gd name="connsiteX2" fmla="*/ 2933957 w 3334669"/>
              <a:gd name="connsiteY2" fmla="*/ 1 h 2825528"/>
              <a:gd name="connsiteX3" fmla="*/ 3334669 w 3334669"/>
              <a:gd name="connsiteY3" fmla="*/ 1 h 2825528"/>
              <a:gd name="connsiteX4" fmla="*/ 3292759 w 3334669"/>
              <a:gd name="connsiteY4" fmla="*/ 66021 h 2825528"/>
              <a:gd name="connsiteX5" fmla="*/ 2933957 w 3334669"/>
              <a:gd name="connsiteY5" fmla="*/ 62211 h 2825528"/>
              <a:gd name="connsiteX6" fmla="*/ 2933957 w 3334669"/>
              <a:gd name="connsiteY6" fmla="*/ 2825528 h 2825528"/>
              <a:gd name="connsiteX7" fmla="*/ 0 w 3334669"/>
              <a:gd name="connsiteY7" fmla="*/ 2825528 h 2825528"/>
              <a:gd name="connsiteX8" fmla="*/ 0 w 3334669"/>
              <a:gd name="connsiteY8" fmla="*/ 0 h 2825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4669" h="2825528">
                <a:moveTo>
                  <a:pt x="0" y="0"/>
                </a:moveTo>
                <a:lnTo>
                  <a:pt x="2933957" y="0"/>
                </a:lnTo>
                <a:lnTo>
                  <a:pt x="2933957" y="1"/>
                </a:lnTo>
                <a:lnTo>
                  <a:pt x="3334669" y="1"/>
                </a:lnTo>
                <a:lnTo>
                  <a:pt x="3292759" y="66021"/>
                </a:lnTo>
                <a:lnTo>
                  <a:pt x="2933957" y="62211"/>
                </a:lnTo>
                <a:lnTo>
                  <a:pt x="2933957" y="2825528"/>
                </a:lnTo>
                <a:lnTo>
                  <a:pt x="0" y="2825528"/>
                </a:lnTo>
                <a:lnTo>
                  <a:pt x="0" y="0"/>
                </a:lnTo>
                <a:close/>
              </a:path>
            </a:pathLst>
          </a:custGeom>
          <a:solidFill>
            <a:srgbClr val="00B050">
              <a:alpha val="25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6" name="文本框 45"/>
          <p:cNvSpPr txBox="1"/>
          <p:nvPr/>
        </p:nvSpPr>
        <p:spPr bwMode="gray">
          <a:xfrm>
            <a:off x="3758946" y="1153609"/>
            <a:ext cx="902811" cy="307777"/>
          </a:xfrm>
          <a:prstGeom prst="rect">
            <a:avLst/>
          </a:prstGeom>
          <a:noFill/>
        </p:spPr>
        <p:txBody>
          <a:bodyPr wrap="none" rtlCol="0">
            <a:spAutoFit/>
          </a:bodyPr>
          <a:lstStyle/>
          <a:p>
            <a:pPr algn="ctr" font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虚拟网络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6096000" y="934197"/>
            <a:ext cx="5333767" cy="938719"/>
          </a:xfrm>
          <a:prstGeom prst="rect">
            <a:avLst/>
          </a:prstGeom>
        </p:spPr>
        <p:txBody>
          <a:bodyPr wrap="square">
            <a:spAutoFit/>
          </a:bodyPr>
          <a:lstStyle/>
          <a:p>
            <a:pPr marL="285750" indent="-285750">
              <a:lnSpc>
                <a:spcPts val="22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每个虚拟网络对应一个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VRF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2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每个虚拟网络对应多个子网，每个子网对应一个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2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终端按</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进入虚拟网络。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6261925" y="1902833"/>
            <a:ext cx="2844207" cy="395492"/>
          </a:xfrm>
          <a:prstGeom prst="rect">
            <a:avLst/>
          </a:prstGeom>
          <a:solidFill>
            <a:schemeClr val="bg1">
              <a:lumMod val="85000"/>
            </a:schemeClr>
          </a:solidFill>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261925" y="2742968"/>
            <a:ext cx="2844207" cy="1369810"/>
          </a:xfrm>
          <a:prstGeom prst="rect">
            <a:avLst/>
          </a:prstGeom>
          <a:solidFill>
            <a:schemeClr val="bg1">
              <a:lumMod val="85000"/>
            </a:schemeClr>
          </a:solidFill>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6261925" y="4932668"/>
            <a:ext cx="1474711" cy="445810"/>
          </a:xfrm>
          <a:prstGeom prst="rect">
            <a:avLst/>
          </a:prstGeom>
          <a:solidFill>
            <a:schemeClr val="bg1">
              <a:lumMod val="85000"/>
            </a:schemeClr>
          </a:solidFill>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5466553" y="1946691"/>
            <a:ext cx="769763" cy="307777"/>
          </a:xfrm>
          <a:prstGeom prst="rect">
            <a:avLst/>
          </a:prstGeom>
          <a:noFill/>
        </p:spPr>
        <p:txBody>
          <a:bodyPr wrap="none" rtlCol="0">
            <a:spAutoFit/>
          </a:bodyPr>
          <a:lstStyle/>
          <a:p>
            <a:pPr algn="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Router</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5474569" y="3194775"/>
            <a:ext cx="761747" cy="307777"/>
          </a:xfrm>
          <a:prstGeom prst="rect">
            <a:avLst/>
          </a:prstGeom>
          <a:noFill/>
        </p:spPr>
        <p:txBody>
          <a:bodyPr wrap="none" rtlCol="0">
            <a:spAutoFit/>
          </a:bodyPr>
          <a:lstStyle/>
          <a:p>
            <a:pPr algn="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Border</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5631663" y="4988101"/>
            <a:ext cx="604653" cy="307777"/>
          </a:xfrm>
          <a:prstGeom prst="rect">
            <a:avLst/>
          </a:prstGeom>
          <a:noFill/>
        </p:spPr>
        <p:txBody>
          <a:bodyPr wrap="none" rtlCol="0">
            <a:spAutoFit/>
          </a:bodyPr>
          <a:lstStyle/>
          <a:p>
            <a:pPr algn="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10123965" y="2742968"/>
            <a:ext cx="1311891" cy="1369810"/>
          </a:xfrm>
          <a:prstGeom prst="rect">
            <a:avLst/>
          </a:prstGeom>
          <a:solidFill>
            <a:schemeClr val="bg1">
              <a:lumMod val="85000"/>
            </a:schemeClr>
          </a:solidFill>
        </p:spPr>
        <p:txBody>
          <a:bodyPr wrap="none" rtlCol="0" anchor="ctr" anchorCtr="0">
            <a:noAutofit/>
          </a:bodyPr>
          <a:lstStyle>
            <a:defPPr>
              <a:defRPr lang="en-US"/>
            </a:defPPr>
            <a:lvl1pPr algn="ctr" fontAlgn="ctr">
              <a:defRPr sz="1400">
                <a:latin typeface="Huawei Sans" panose="020C0503030203020204" pitchFamily="34" charset="0"/>
                <a:ea typeface="方正兰亭黑简体" panose="02000000000000000000" pitchFamily="2" charset="-122"/>
              </a:defRPr>
            </a:lvl1pPr>
          </a:lstStyle>
          <a:p>
            <a:endParaRPr lang="zh-CN" altLang="en-US" dirty="0">
              <a:sym typeface="Huawei Sans" panose="020C0503030203020204" pitchFamily="34" charset="0"/>
            </a:endParaRPr>
          </a:p>
        </p:txBody>
      </p:sp>
      <p:sp>
        <p:nvSpPr>
          <p:cNvPr id="58" name="矩形 57"/>
          <p:cNvSpPr/>
          <p:nvPr/>
        </p:nvSpPr>
        <p:spPr bwMode="gray">
          <a:xfrm>
            <a:off x="10206303" y="3181073"/>
            <a:ext cx="675424" cy="220911"/>
          </a:xfrm>
          <a:prstGeom prst="rect">
            <a:avLst/>
          </a:prstGeom>
          <a:solidFill>
            <a:srgbClr val="F28944"/>
          </a:solidFill>
          <a:ln w="9525" cap="flat" cmpd="sng" algn="ctr">
            <a:noFill/>
            <a:prstDash val="solid"/>
            <a:round/>
            <a:headEnd type="none" w="med" len="med"/>
            <a:tailEnd type="none" w="med" len="med"/>
          </a:ln>
          <a:effectLst/>
        </p:spPr>
        <p:txBody>
          <a:bodyPr vert="horz" wrap="none" lIns="91416" tIns="45708" rIns="91416" bIns="45708" numCol="1" rtlCol="0" anchor="ctr" anchorCtr="1" compatLnSpc="1">
            <a:prstTxWarp prst="textNoShape">
              <a:avLst/>
            </a:prstTxWarp>
          </a:bodyPr>
          <a:lstStyle/>
          <a:p>
            <a:pPr marL="0" marR="0" lvl="0" indent="0" algn="ctr" defTabSz="914088" eaLnBrk="0" fontAlgn="base" latinLnBrk="0" hangingPunct="0">
              <a:lnSpc>
                <a:spcPct val="100000"/>
              </a:lnSpc>
              <a:spcBef>
                <a:spcPts val="0"/>
              </a:spcBef>
              <a:spcAft>
                <a:spcPct val="0"/>
              </a:spcAft>
              <a:buClrTx/>
              <a:buSzTx/>
              <a:buFontTx/>
              <a:buNone/>
              <a:tabLst/>
              <a:defRPr/>
            </a:pP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Zone</a:t>
            </a: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1</a:t>
            </a:r>
            <a:endPar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59" name="矩形 58"/>
          <p:cNvSpPr/>
          <p:nvPr/>
        </p:nvSpPr>
        <p:spPr bwMode="gray">
          <a:xfrm>
            <a:off x="10213567" y="3493802"/>
            <a:ext cx="675424" cy="220911"/>
          </a:xfrm>
          <a:prstGeom prst="rect">
            <a:avLst/>
          </a:prstGeom>
          <a:solidFill>
            <a:srgbClr val="F28944"/>
          </a:solidFill>
          <a:ln w="9525" cap="flat" cmpd="sng" algn="ctr">
            <a:noFill/>
            <a:prstDash val="solid"/>
            <a:round/>
            <a:headEnd type="none" w="med" len="med"/>
            <a:tailEnd type="none" w="med" len="med"/>
          </a:ln>
          <a:effectLst/>
        </p:spPr>
        <p:txBody>
          <a:bodyPr vert="horz" wrap="none" lIns="91416" tIns="45708" rIns="91416" bIns="45708" numCol="1" rtlCol="0" anchor="ctr" anchorCtr="1" compatLnSpc="1">
            <a:prstTxWarp prst="textNoShape">
              <a:avLst/>
            </a:prstTxWarp>
          </a:bodyPr>
          <a:lstStyle/>
          <a:p>
            <a:pPr marL="0" marR="0" lvl="0" indent="0" algn="ctr" defTabSz="914088" eaLnBrk="0" fontAlgn="base" latinLnBrk="0" hangingPunct="0">
              <a:lnSpc>
                <a:spcPct val="100000"/>
              </a:lnSpc>
              <a:spcBef>
                <a:spcPts val="0"/>
              </a:spcBef>
              <a:spcAft>
                <a:spcPct val="0"/>
              </a:spcAft>
              <a:buClrTx/>
              <a:buSzTx/>
              <a:buFontTx/>
              <a:buNone/>
              <a:tabLst/>
              <a:defRPr/>
            </a:pP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Zone</a:t>
            </a: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2</a:t>
            </a:r>
            <a:endPar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0" name="矩形 59"/>
          <p:cNvSpPr/>
          <p:nvPr/>
        </p:nvSpPr>
        <p:spPr bwMode="gray">
          <a:xfrm>
            <a:off x="10216753" y="3805182"/>
            <a:ext cx="675424" cy="220911"/>
          </a:xfrm>
          <a:prstGeom prst="rect">
            <a:avLst/>
          </a:prstGeom>
          <a:solidFill>
            <a:srgbClr val="F28944"/>
          </a:solidFill>
          <a:ln w="9525" cap="flat" cmpd="sng" algn="ctr">
            <a:noFill/>
            <a:prstDash val="solid"/>
            <a:round/>
            <a:headEnd type="none" w="med" len="med"/>
            <a:tailEnd type="none" w="med" len="med"/>
          </a:ln>
          <a:effectLst/>
        </p:spPr>
        <p:txBody>
          <a:bodyPr vert="horz" wrap="none" lIns="91416" tIns="45708" rIns="91416" bIns="45708" numCol="1" rtlCol="0" anchor="ctr" anchorCtr="1" compatLnSpc="1">
            <a:prstTxWarp prst="textNoShape">
              <a:avLst/>
            </a:prstTxWarp>
          </a:bodyPr>
          <a:lstStyle/>
          <a:p>
            <a:pPr marL="0" marR="0" lvl="0" indent="0" algn="ctr" defTabSz="914088" eaLnBrk="0" fontAlgn="base" latinLnBrk="0" hangingPunct="0">
              <a:lnSpc>
                <a:spcPct val="100000"/>
              </a:lnSpc>
              <a:spcBef>
                <a:spcPts val="0"/>
              </a:spcBef>
              <a:spcAft>
                <a:spcPct val="0"/>
              </a:spcAft>
              <a:buClrTx/>
              <a:buSzTx/>
              <a:buFontTx/>
              <a:buNone/>
              <a:tabLst/>
              <a:defRPr/>
            </a:pP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Zone</a:t>
            </a: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3</a:t>
            </a:r>
            <a:endPar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1" name="矩形 60"/>
          <p:cNvSpPr/>
          <p:nvPr/>
        </p:nvSpPr>
        <p:spPr bwMode="gray">
          <a:xfrm>
            <a:off x="11019221" y="2852020"/>
            <a:ext cx="305585" cy="1163914"/>
          </a:xfrm>
          <a:prstGeom prst="rect">
            <a:avLst/>
          </a:prstGeom>
          <a:solidFill>
            <a:srgbClr val="F28944"/>
          </a:solidFill>
          <a:ln w="9525" cap="flat" cmpd="sng" algn="ctr">
            <a:noFill/>
            <a:prstDash val="solid"/>
            <a:round/>
            <a:headEnd type="none" w="med" len="med"/>
            <a:tailEnd type="none" w="med" len="med"/>
          </a:ln>
          <a:effectLst/>
        </p:spPr>
        <p:txBody>
          <a:bodyPr vert="horz" wrap="none" lIns="91416" tIns="45708" rIns="91416" bIns="45708" numCol="1" rtlCol="0" anchor="ctr" anchorCtr="1" compatLnSpc="1">
            <a:prstTxWarp prst="textNoShape">
              <a:avLst/>
            </a:prstTxWarp>
          </a:bodyPr>
          <a:lstStyle/>
          <a:p>
            <a:pPr marL="0" marR="0" lvl="0" indent="0" algn="ctr" defTabSz="914088" eaLnBrk="0" fontAlgn="base" latinLnBrk="0" hangingPunct="0">
              <a:lnSpc>
                <a:spcPct val="100000"/>
              </a:lnSpc>
              <a:spcBef>
                <a:spcPts val="0"/>
              </a:spcBef>
              <a:spcAft>
                <a:spcPct val="0"/>
              </a:spcAft>
              <a:buClrTx/>
              <a:buSzTx/>
              <a:buFontTx/>
              <a:buNone/>
              <a:tabLst/>
              <a:defRPr/>
            </a:pPr>
            <a:r>
              <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安</a:t>
            </a:r>
            <a:endPar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p>
            <a:pPr marL="0" marR="0" lvl="0" indent="0" algn="ctr" defTabSz="914088" eaLnBrk="0" fontAlgn="base" latinLnBrk="0" hangingPunct="0">
              <a:lnSpc>
                <a:spcPct val="100000"/>
              </a:lnSpc>
              <a:spcBef>
                <a:spcPts val="0"/>
              </a:spcBef>
              <a:spcAft>
                <a:spcPct val="0"/>
              </a:spcAft>
              <a:buClrTx/>
              <a:buSzTx/>
              <a:buFontTx/>
              <a:buNone/>
              <a:tabLst/>
              <a:defRPr/>
            </a:pPr>
            <a:r>
              <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全</a:t>
            </a:r>
            <a:endPar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p>
            <a:pPr marL="0" marR="0" lvl="0" indent="0" algn="ctr" defTabSz="914088" eaLnBrk="0" fontAlgn="base" latinLnBrk="0" hangingPunct="0">
              <a:lnSpc>
                <a:spcPct val="100000"/>
              </a:lnSpc>
              <a:spcBef>
                <a:spcPts val="0"/>
              </a:spcBef>
              <a:spcAft>
                <a:spcPct val="0"/>
              </a:spcAft>
              <a:buClrTx/>
              <a:buSzTx/>
              <a:buFontTx/>
              <a:buNone/>
              <a:tabLst/>
              <a:defRPr/>
            </a:pPr>
            <a:r>
              <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策</a:t>
            </a:r>
            <a:endPar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p>
            <a:pPr marL="0" marR="0" lvl="0" indent="0" algn="ctr" defTabSz="914088" eaLnBrk="0" fontAlgn="base" latinLnBrk="0" hangingPunct="0">
              <a:lnSpc>
                <a:spcPct val="100000"/>
              </a:lnSpc>
              <a:spcBef>
                <a:spcPts val="0"/>
              </a:spcBef>
              <a:spcAft>
                <a:spcPct val="0"/>
              </a:spcAft>
              <a:buClrTx/>
              <a:buSzTx/>
              <a:buFontTx/>
              <a:buNone/>
              <a:tabLst/>
              <a:defRPr/>
            </a:pPr>
            <a:r>
              <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略</a:t>
            </a:r>
          </a:p>
        </p:txBody>
      </p:sp>
      <p:cxnSp>
        <p:nvCxnSpPr>
          <p:cNvPr id="62" name="直接连接符 61"/>
          <p:cNvCxnSpPr>
            <a:stCxn id="58" idx="3"/>
          </p:cNvCxnSpPr>
          <p:nvPr/>
        </p:nvCxnSpPr>
        <p:spPr bwMode="gray">
          <a:xfrm flipV="1">
            <a:off x="10881727" y="3289579"/>
            <a:ext cx="133821" cy="0"/>
          </a:xfrm>
          <a:prstGeom prst="line">
            <a:avLst/>
          </a:prstGeom>
          <a:noFill/>
          <a:ln w="9525" cap="flat" cmpd="sng" algn="ctr">
            <a:solidFill>
              <a:srgbClr val="000000"/>
            </a:solidFill>
            <a:prstDash val="solid"/>
            <a:round/>
            <a:headEnd type="none" w="med" len="med"/>
            <a:tailEnd type="none" w="med" len="med"/>
          </a:ln>
          <a:effectLst/>
        </p:spPr>
      </p:cxnSp>
      <p:cxnSp>
        <p:nvCxnSpPr>
          <p:cNvPr id="63" name="直接连接符 62"/>
          <p:cNvCxnSpPr/>
          <p:nvPr/>
        </p:nvCxnSpPr>
        <p:spPr bwMode="gray">
          <a:xfrm flipV="1">
            <a:off x="10892177" y="3610436"/>
            <a:ext cx="133821" cy="0"/>
          </a:xfrm>
          <a:prstGeom prst="line">
            <a:avLst/>
          </a:prstGeom>
          <a:noFill/>
          <a:ln w="9525" cap="flat" cmpd="sng" algn="ctr">
            <a:solidFill>
              <a:srgbClr val="000000"/>
            </a:solidFill>
            <a:prstDash val="solid"/>
            <a:round/>
            <a:headEnd type="none" w="med" len="med"/>
            <a:tailEnd type="none" w="med" len="med"/>
          </a:ln>
          <a:effectLst/>
        </p:spPr>
      </p:cxnSp>
      <p:cxnSp>
        <p:nvCxnSpPr>
          <p:cNvPr id="64" name="直接连接符 63"/>
          <p:cNvCxnSpPr/>
          <p:nvPr/>
        </p:nvCxnSpPr>
        <p:spPr bwMode="gray">
          <a:xfrm flipV="1">
            <a:off x="10887035" y="3913995"/>
            <a:ext cx="133821" cy="0"/>
          </a:xfrm>
          <a:prstGeom prst="line">
            <a:avLst/>
          </a:prstGeom>
          <a:noFill/>
          <a:ln w="9525" cap="flat" cmpd="sng" algn="ctr">
            <a:solidFill>
              <a:srgbClr val="000000"/>
            </a:solidFill>
            <a:prstDash val="solid"/>
            <a:round/>
            <a:headEnd type="none" w="med" len="med"/>
            <a:tailEnd type="none" w="med" len="med"/>
          </a:ln>
          <a:effectLst/>
        </p:spPr>
      </p:cxnSp>
      <p:sp>
        <p:nvSpPr>
          <p:cNvPr id="65" name="矩形 64"/>
          <p:cNvSpPr/>
          <p:nvPr/>
        </p:nvSpPr>
        <p:spPr bwMode="gray">
          <a:xfrm>
            <a:off x="10211611" y="2852019"/>
            <a:ext cx="675424" cy="220911"/>
          </a:xfrm>
          <a:prstGeom prst="rect">
            <a:avLst/>
          </a:prstGeom>
          <a:solidFill>
            <a:srgbClr val="F28944"/>
          </a:solidFill>
          <a:ln w="9525" cap="flat" cmpd="sng" algn="ctr">
            <a:noFill/>
            <a:prstDash val="solid"/>
            <a:round/>
            <a:headEnd type="none" w="med" len="med"/>
            <a:tailEnd type="none" w="med" len="med"/>
          </a:ln>
          <a:effectLst/>
        </p:spPr>
        <p:txBody>
          <a:bodyPr vert="horz" wrap="none" lIns="91416" tIns="45708" rIns="91416" bIns="45708" numCol="1" rtlCol="0" anchor="ctr" anchorCtr="1" compatLnSpc="1">
            <a:prstTxWarp prst="textNoShape">
              <a:avLst/>
            </a:prstTxWarp>
          </a:bodyPr>
          <a:lstStyle/>
          <a:p>
            <a:pPr marL="0" marR="0" lvl="0" indent="0" algn="ctr" defTabSz="914088" eaLnBrk="0" fontAlgn="base" latinLnBrk="0" hangingPunct="0">
              <a:lnSpc>
                <a:spcPct val="100000"/>
              </a:lnSpc>
              <a:spcBef>
                <a:spcPts val="0"/>
              </a:spcBef>
              <a:spcAft>
                <a:spcPct val="0"/>
              </a:spcAft>
              <a:buClrTx/>
              <a:buSzTx/>
              <a:buFontTx/>
              <a:buNone/>
              <a:tabLst/>
              <a:defRPr/>
            </a:pP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Zone4</a:t>
            </a:r>
            <a:endPar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cxnSp>
        <p:nvCxnSpPr>
          <p:cNvPr id="66" name="直接连接符 65"/>
          <p:cNvCxnSpPr>
            <a:stCxn id="65" idx="3"/>
          </p:cNvCxnSpPr>
          <p:nvPr/>
        </p:nvCxnSpPr>
        <p:spPr bwMode="gray">
          <a:xfrm>
            <a:off x="10887035" y="2962475"/>
            <a:ext cx="139824" cy="1"/>
          </a:xfrm>
          <a:prstGeom prst="line">
            <a:avLst/>
          </a:prstGeom>
          <a:noFill/>
          <a:ln w="9525" cap="flat" cmpd="sng" algn="ctr">
            <a:solidFill>
              <a:srgbClr val="000000"/>
            </a:solidFill>
            <a:prstDash val="solid"/>
            <a:round/>
            <a:headEnd type="none" w="med" len="med"/>
            <a:tailEnd type="none" w="med" len="med"/>
          </a:ln>
          <a:effectLst/>
        </p:spPr>
      </p:cxnSp>
      <p:sp>
        <p:nvSpPr>
          <p:cNvPr id="69" name="文本框 68"/>
          <p:cNvSpPr txBox="1"/>
          <p:nvPr/>
        </p:nvSpPr>
        <p:spPr bwMode="gray">
          <a:xfrm>
            <a:off x="7728952" y="2359850"/>
            <a:ext cx="623889"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Straight Connector 166"/>
          <p:cNvCxnSpPr/>
          <p:nvPr/>
        </p:nvCxnSpPr>
        <p:spPr bwMode="gray">
          <a:xfrm>
            <a:off x="7684027" y="2298325"/>
            <a:ext cx="0" cy="6641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166"/>
          <p:cNvCxnSpPr/>
          <p:nvPr/>
        </p:nvCxnSpPr>
        <p:spPr bwMode="gray">
          <a:xfrm>
            <a:off x="7684027" y="2951286"/>
            <a:ext cx="25327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bwMode="gray">
          <a:xfrm>
            <a:off x="6899462" y="3079843"/>
            <a:ext cx="525234" cy="904124"/>
          </a:xfrm>
          <a:prstGeom prst="rect">
            <a:avLst/>
          </a:prstGeom>
          <a:solidFill>
            <a:srgbClr val="BEE9EE"/>
          </a:solidFill>
        </p:spPr>
        <p:txBody>
          <a:bodyPr wrap="square" rtlCol="0">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V</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F</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1</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6" name="文本框 75"/>
          <p:cNvSpPr txBox="1"/>
          <p:nvPr/>
        </p:nvSpPr>
        <p:spPr bwMode="gray">
          <a:xfrm>
            <a:off x="7415029" y="3079843"/>
            <a:ext cx="525234" cy="904124"/>
          </a:xfrm>
          <a:prstGeom prst="rect">
            <a:avLst/>
          </a:prstGeom>
          <a:solidFill>
            <a:srgbClr val="FFEFBF"/>
          </a:solidFill>
        </p:spPr>
        <p:txBody>
          <a:bodyPr wrap="square" rtlCol="0">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V</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F</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2</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7" name="文本框 76"/>
          <p:cNvSpPr txBox="1"/>
          <p:nvPr/>
        </p:nvSpPr>
        <p:spPr bwMode="gray">
          <a:xfrm>
            <a:off x="7941076" y="3079843"/>
            <a:ext cx="525234" cy="904124"/>
          </a:xfrm>
          <a:prstGeom prst="rect">
            <a:avLst/>
          </a:prstGeom>
          <a:solidFill>
            <a:srgbClr val="BFEBD3"/>
          </a:solidFill>
        </p:spPr>
        <p:txBody>
          <a:bodyPr wrap="square" rtlCol="0">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V</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F</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3</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8" name="文本框 77"/>
          <p:cNvSpPr txBox="1"/>
          <p:nvPr/>
        </p:nvSpPr>
        <p:spPr bwMode="gray">
          <a:xfrm>
            <a:off x="6894397" y="2824233"/>
            <a:ext cx="1571913" cy="248697"/>
          </a:xfrm>
          <a:prstGeom prst="rect">
            <a:avLst/>
          </a:prstGeom>
          <a:solidFill>
            <a:schemeClr val="bg1">
              <a:lumMod val="65000"/>
            </a:schemeClr>
          </a:solidFill>
        </p:spPr>
        <p:txBody>
          <a:bodyPr wrap="square" rtlCol="0" anchor="ctr" anchorCtr="0">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Public</a:t>
            </a:r>
            <a:endPar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cxnSp>
        <p:nvCxnSpPr>
          <p:cNvPr id="79" name="Straight Connector 166"/>
          <p:cNvCxnSpPr/>
          <p:nvPr/>
        </p:nvCxnSpPr>
        <p:spPr bwMode="gray">
          <a:xfrm>
            <a:off x="7296552" y="3289579"/>
            <a:ext cx="2920201"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1" name="Straight Connector 166"/>
          <p:cNvCxnSpPr/>
          <p:nvPr/>
        </p:nvCxnSpPr>
        <p:spPr bwMode="gray">
          <a:xfrm>
            <a:off x="7804552" y="3610436"/>
            <a:ext cx="2412201" cy="0"/>
          </a:xfrm>
          <a:prstGeom prst="line">
            <a:avLst/>
          </a:prstGeom>
          <a:ln w="19050">
            <a:solidFill>
              <a:srgbClr val="F28944"/>
            </a:solidFill>
          </a:ln>
        </p:spPr>
        <p:style>
          <a:lnRef idx="1">
            <a:schemeClr val="accent1"/>
          </a:lnRef>
          <a:fillRef idx="0">
            <a:schemeClr val="accent1"/>
          </a:fillRef>
          <a:effectRef idx="0">
            <a:schemeClr val="accent1"/>
          </a:effectRef>
          <a:fontRef idx="minor">
            <a:schemeClr val="tx1"/>
          </a:fontRef>
        </p:style>
      </p:cxnSp>
      <p:cxnSp>
        <p:nvCxnSpPr>
          <p:cNvPr id="83" name="Straight Connector 166"/>
          <p:cNvCxnSpPr/>
          <p:nvPr/>
        </p:nvCxnSpPr>
        <p:spPr bwMode="gray">
          <a:xfrm>
            <a:off x="8312552" y="3924155"/>
            <a:ext cx="1904201"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8" name="Straight Connector 166"/>
          <p:cNvCxnSpPr/>
          <p:nvPr/>
        </p:nvCxnSpPr>
        <p:spPr bwMode="gray">
          <a:xfrm flipV="1">
            <a:off x="6466784" y="4063801"/>
            <a:ext cx="709449" cy="1091773"/>
          </a:xfrm>
          <a:prstGeom prst="line">
            <a:avLst/>
          </a:prstGeom>
          <a:ln w="19050" cap="rnd">
            <a:solidFill>
              <a:srgbClr val="BEE9EE"/>
            </a:solidFill>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bwMode="gray">
          <a:xfrm>
            <a:off x="8466309" y="4932668"/>
            <a:ext cx="1474711" cy="445810"/>
          </a:xfrm>
          <a:prstGeom prst="rect">
            <a:avLst/>
          </a:prstGeom>
          <a:solidFill>
            <a:schemeClr val="bg1">
              <a:lumMod val="85000"/>
            </a:schemeClr>
          </a:solidFill>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Straight Connector 166"/>
          <p:cNvCxnSpPr/>
          <p:nvPr/>
        </p:nvCxnSpPr>
        <p:spPr bwMode="gray">
          <a:xfrm flipH="1" flipV="1">
            <a:off x="7176233" y="4063801"/>
            <a:ext cx="1577401" cy="1091773"/>
          </a:xfrm>
          <a:prstGeom prst="line">
            <a:avLst/>
          </a:prstGeom>
          <a:ln w="19050" cap="rnd">
            <a:solidFill>
              <a:srgbClr val="BEE9EE"/>
            </a:solidFill>
          </a:ln>
        </p:spPr>
        <p:style>
          <a:lnRef idx="1">
            <a:schemeClr val="accent1"/>
          </a:lnRef>
          <a:fillRef idx="0">
            <a:schemeClr val="accent1"/>
          </a:fillRef>
          <a:effectRef idx="0">
            <a:schemeClr val="accent1"/>
          </a:effectRef>
          <a:fontRef idx="minor">
            <a:schemeClr val="tx1"/>
          </a:fontRef>
        </p:style>
      </p:cxnSp>
      <p:sp>
        <p:nvSpPr>
          <p:cNvPr id="107" name="任意多边形 106"/>
          <p:cNvSpPr/>
          <p:nvPr/>
        </p:nvSpPr>
        <p:spPr bwMode="gray">
          <a:xfrm>
            <a:off x="6463440" y="4783214"/>
            <a:ext cx="2317397" cy="395798"/>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7460"/>
              <a:gd name="connsiteY0" fmla="*/ 1035540 h 1035539"/>
              <a:gd name="connsiteX1" fmla="*/ 17460 w 17460"/>
              <a:gd name="connsiteY1" fmla="*/ 98409 h 1035539"/>
              <a:gd name="connsiteX0" fmla="*/ 0 w 35611"/>
              <a:gd name="connsiteY0" fmla="*/ 307518 h 307753"/>
              <a:gd name="connsiteX1" fmla="*/ 35611 w 35611"/>
              <a:gd name="connsiteY1" fmla="*/ 307753 h 307753"/>
              <a:gd name="connsiteX0" fmla="*/ 0 w 35611"/>
              <a:gd name="connsiteY0" fmla="*/ 852378 h 852613"/>
              <a:gd name="connsiteX1" fmla="*/ 35611 w 35611"/>
              <a:gd name="connsiteY1" fmla="*/ 852613 h 852613"/>
              <a:gd name="connsiteX0" fmla="*/ 0 w 35728"/>
              <a:gd name="connsiteY0" fmla="*/ 843229 h 872757"/>
              <a:gd name="connsiteX1" fmla="*/ 35728 w 35728"/>
              <a:gd name="connsiteY1" fmla="*/ 872757 h 872757"/>
              <a:gd name="connsiteX0" fmla="*/ 0 w 35728"/>
              <a:gd name="connsiteY0" fmla="*/ 984821 h 1014349"/>
              <a:gd name="connsiteX1" fmla="*/ 35728 w 35728"/>
              <a:gd name="connsiteY1" fmla="*/ 1014349 h 1014349"/>
            </a:gdLst>
            <a:ahLst/>
            <a:cxnLst>
              <a:cxn ang="0">
                <a:pos x="connsiteX0" y="connsiteY0"/>
              </a:cxn>
              <a:cxn ang="0">
                <a:pos x="connsiteX1" y="connsiteY1"/>
              </a:cxn>
            </a:cxnLst>
            <a:rect l="l" t="t" r="r" b="b"/>
            <a:pathLst>
              <a:path w="35728" h="1014349">
                <a:moveTo>
                  <a:pt x="0" y="984821"/>
                </a:moveTo>
                <a:cubicBezTo>
                  <a:pt x="11968" y="-715706"/>
                  <a:pt x="24994" y="117586"/>
                  <a:pt x="35728" y="1014349"/>
                </a:cubicBezTo>
              </a:path>
            </a:pathLst>
          </a:custGeom>
          <a:ln w="19050" cap="rnd">
            <a:solidFill>
              <a:srgbClr val="BEE9E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8" name="Straight Connector 166"/>
          <p:cNvCxnSpPr/>
          <p:nvPr/>
        </p:nvCxnSpPr>
        <p:spPr bwMode="gray">
          <a:xfrm flipV="1">
            <a:off x="6945765" y="4063801"/>
            <a:ext cx="709449" cy="1091773"/>
          </a:xfrm>
          <a:prstGeom prst="line">
            <a:avLst/>
          </a:prstGeom>
          <a:ln w="19050" cap="rnd">
            <a:solidFill>
              <a:srgbClr val="FFEFBF"/>
            </a:solidFill>
          </a:ln>
        </p:spPr>
        <p:style>
          <a:lnRef idx="1">
            <a:schemeClr val="accent1"/>
          </a:lnRef>
          <a:fillRef idx="0">
            <a:schemeClr val="accent1"/>
          </a:fillRef>
          <a:effectRef idx="0">
            <a:schemeClr val="accent1"/>
          </a:effectRef>
          <a:fontRef idx="minor">
            <a:schemeClr val="tx1"/>
          </a:fontRef>
        </p:style>
      </p:cxnSp>
      <p:cxnSp>
        <p:nvCxnSpPr>
          <p:cNvPr id="109" name="Straight Connector 166"/>
          <p:cNvCxnSpPr/>
          <p:nvPr/>
        </p:nvCxnSpPr>
        <p:spPr bwMode="gray">
          <a:xfrm flipH="1" flipV="1">
            <a:off x="7693343" y="4063801"/>
            <a:ext cx="1577401" cy="1091773"/>
          </a:xfrm>
          <a:prstGeom prst="line">
            <a:avLst/>
          </a:prstGeom>
          <a:ln w="19050" cap="rnd">
            <a:solidFill>
              <a:srgbClr val="FFEFBF"/>
            </a:solidFill>
          </a:ln>
        </p:spPr>
        <p:style>
          <a:lnRef idx="1">
            <a:schemeClr val="accent1"/>
          </a:lnRef>
          <a:fillRef idx="0">
            <a:schemeClr val="accent1"/>
          </a:fillRef>
          <a:effectRef idx="0">
            <a:schemeClr val="accent1"/>
          </a:effectRef>
          <a:fontRef idx="minor">
            <a:schemeClr val="tx1"/>
          </a:fontRef>
        </p:style>
      </p:cxnSp>
      <p:sp>
        <p:nvSpPr>
          <p:cNvPr id="111" name="任意多边形 110"/>
          <p:cNvSpPr/>
          <p:nvPr/>
        </p:nvSpPr>
        <p:spPr bwMode="gray">
          <a:xfrm>
            <a:off x="6933337" y="4783214"/>
            <a:ext cx="2348837" cy="395798"/>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7460"/>
              <a:gd name="connsiteY0" fmla="*/ 1035540 h 1035539"/>
              <a:gd name="connsiteX1" fmla="*/ 17460 w 17460"/>
              <a:gd name="connsiteY1" fmla="*/ 98409 h 1035539"/>
              <a:gd name="connsiteX0" fmla="*/ 0 w 35611"/>
              <a:gd name="connsiteY0" fmla="*/ 307518 h 307753"/>
              <a:gd name="connsiteX1" fmla="*/ 35611 w 35611"/>
              <a:gd name="connsiteY1" fmla="*/ 307753 h 307753"/>
              <a:gd name="connsiteX0" fmla="*/ 0 w 35611"/>
              <a:gd name="connsiteY0" fmla="*/ 852378 h 852613"/>
              <a:gd name="connsiteX1" fmla="*/ 35611 w 35611"/>
              <a:gd name="connsiteY1" fmla="*/ 852613 h 852613"/>
              <a:gd name="connsiteX0" fmla="*/ 0 w 35728"/>
              <a:gd name="connsiteY0" fmla="*/ 843229 h 872757"/>
              <a:gd name="connsiteX1" fmla="*/ 35728 w 35728"/>
              <a:gd name="connsiteY1" fmla="*/ 872757 h 872757"/>
              <a:gd name="connsiteX0" fmla="*/ 0 w 35728"/>
              <a:gd name="connsiteY0" fmla="*/ 984821 h 1014349"/>
              <a:gd name="connsiteX1" fmla="*/ 35728 w 35728"/>
              <a:gd name="connsiteY1" fmla="*/ 1014349 h 1014349"/>
            </a:gdLst>
            <a:ahLst/>
            <a:cxnLst>
              <a:cxn ang="0">
                <a:pos x="connsiteX0" y="connsiteY0"/>
              </a:cxn>
              <a:cxn ang="0">
                <a:pos x="connsiteX1" y="connsiteY1"/>
              </a:cxn>
            </a:cxnLst>
            <a:rect l="l" t="t" r="r" b="b"/>
            <a:pathLst>
              <a:path w="35728" h="1014349">
                <a:moveTo>
                  <a:pt x="0" y="984821"/>
                </a:moveTo>
                <a:cubicBezTo>
                  <a:pt x="11968" y="-715706"/>
                  <a:pt x="24994" y="117586"/>
                  <a:pt x="35728" y="1014349"/>
                </a:cubicBezTo>
              </a:path>
            </a:pathLst>
          </a:custGeom>
          <a:ln w="19050" cap="rnd">
            <a:solidFill>
              <a:srgbClr val="FFEF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3" name="Straight Connector 166"/>
          <p:cNvCxnSpPr/>
          <p:nvPr/>
        </p:nvCxnSpPr>
        <p:spPr bwMode="gray">
          <a:xfrm flipV="1">
            <a:off x="7474305" y="4063801"/>
            <a:ext cx="709449" cy="1091773"/>
          </a:xfrm>
          <a:prstGeom prst="line">
            <a:avLst/>
          </a:prstGeom>
          <a:ln w="19050" cap="rnd">
            <a:solidFill>
              <a:srgbClr val="BFEBD3"/>
            </a:solidFill>
          </a:ln>
        </p:spPr>
        <p:style>
          <a:lnRef idx="1">
            <a:schemeClr val="accent1"/>
          </a:lnRef>
          <a:fillRef idx="0">
            <a:schemeClr val="accent1"/>
          </a:fillRef>
          <a:effectRef idx="0">
            <a:schemeClr val="accent1"/>
          </a:effectRef>
          <a:fontRef idx="minor">
            <a:schemeClr val="tx1"/>
          </a:fontRef>
        </p:style>
      </p:cxnSp>
      <p:cxnSp>
        <p:nvCxnSpPr>
          <p:cNvPr id="114" name="Straight Connector 166"/>
          <p:cNvCxnSpPr/>
          <p:nvPr/>
        </p:nvCxnSpPr>
        <p:spPr bwMode="gray">
          <a:xfrm flipH="1" flipV="1">
            <a:off x="8221883" y="4063801"/>
            <a:ext cx="1577401" cy="1091773"/>
          </a:xfrm>
          <a:prstGeom prst="line">
            <a:avLst/>
          </a:prstGeom>
          <a:ln w="19050" cap="rnd">
            <a:solidFill>
              <a:srgbClr val="BFEBD3"/>
            </a:solidFill>
          </a:ln>
        </p:spPr>
        <p:style>
          <a:lnRef idx="1">
            <a:schemeClr val="accent1"/>
          </a:lnRef>
          <a:fillRef idx="0">
            <a:schemeClr val="accent1"/>
          </a:fillRef>
          <a:effectRef idx="0">
            <a:schemeClr val="accent1"/>
          </a:effectRef>
          <a:fontRef idx="minor">
            <a:schemeClr val="tx1"/>
          </a:fontRef>
        </p:style>
      </p:cxnSp>
      <p:sp>
        <p:nvSpPr>
          <p:cNvPr id="115" name="任意多边形 114"/>
          <p:cNvSpPr/>
          <p:nvPr/>
        </p:nvSpPr>
        <p:spPr bwMode="gray">
          <a:xfrm>
            <a:off x="7474305" y="4783214"/>
            <a:ext cx="2348837" cy="395798"/>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7460"/>
              <a:gd name="connsiteY0" fmla="*/ 1035540 h 1035539"/>
              <a:gd name="connsiteX1" fmla="*/ 17460 w 17460"/>
              <a:gd name="connsiteY1" fmla="*/ 98409 h 1035539"/>
              <a:gd name="connsiteX0" fmla="*/ 0 w 35611"/>
              <a:gd name="connsiteY0" fmla="*/ 307518 h 307753"/>
              <a:gd name="connsiteX1" fmla="*/ 35611 w 35611"/>
              <a:gd name="connsiteY1" fmla="*/ 307753 h 307753"/>
              <a:gd name="connsiteX0" fmla="*/ 0 w 35611"/>
              <a:gd name="connsiteY0" fmla="*/ 852378 h 852613"/>
              <a:gd name="connsiteX1" fmla="*/ 35611 w 35611"/>
              <a:gd name="connsiteY1" fmla="*/ 852613 h 852613"/>
              <a:gd name="connsiteX0" fmla="*/ 0 w 35728"/>
              <a:gd name="connsiteY0" fmla="*/ 843229 h 872757"/>
              <a:gd name="connsiteX1" fmla="*/ 35728 w 35728"/>
              <a:gd name="connsiteY1" fmla="*/ 872757 h 872757"/>
              <a:gd name="connsiteX0" fmla="*/ 0 w 35728"/>
              <a:gd name="connsiteY0" fmla="*/ 984821 h 1014349"/>
              <a:gd name="connsiteX1" fmla="*/ 35728 w 35728"/>
              <a:gd name="connsiteY1" fmla="*/ 1014349 h 1014349"/>
            </a:gdLst>
            <a:ahLst/>
            <a:cxnLst>
              <a:cxn ang="0">
                <a:pos x="connsiteX0" y="connsiteY0"/>
              </a:cxn>
              <a:cxn ang="0">
                <a:pos x="connsiteX1" y="connsiteY1"/>
              </a:cxn>
            </a:cxnLst>
            <a:rect l="l" t="t" r="r" b="b"/>
            <a:pathLst>
              <a:path w="35728" h="1014349">
                <a:moveTo>
                  <a:pt x="0" y="984821"/>
                </a:moveTo>
                <a:cubicBezTo>
                  <a:pt x="11968" y="-715706"/>
                  <a:pt x="24994" y="117586"/>
                  <a:pt x="35728" y="1014349"/>
                </a:cubicBezTo>
              </a:path>
            </a:pathLst>
          </a:custGeom>
          <a:ln w="19050" cap="rnd">
            <a:solidFill>
              <a:srgbClr val="BFEBD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椭圆 115"/>
          <p:cNvSpPr>
            <a:spLocks noChangeAspect="1"/>
          </p:cNvSpPr>
          <p:nvPr/>
        </p:nvSpPr>
        <p:spPr bwMode="gray">
          <a:xfrm>
            <a:off x="7111079" y="3933493"/>
            <a:ext cx="130308" cy="130308"/>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椭圆 116"/>
          <p:cNvSpPr>
            <a:spLocks noChangeAspect="1"/>
          </p:cNvSpPr>
          <p:nvPr/>
        </p:nvSpPr>
        <p:spPr bwMode="gray">
          <a:xfrm>
            <a:off x="8146948" y="3933493"/>
            <a:ext cx="130308" cy="1303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椭圆 117"/>
          <p:cNvSpPr>
            <a:spLocks noChangeAspect="1"/>
          </p:cNvSpPr>
          <p:nvPr/>
        </p:nvSpPr>
        <p:spPr bwMode="gray">
          <a:xfrm>
            <a:off x="7606329" y="3933493"/>
            <a:ext cx="130308" cy="130308"/>
          </a:xfrm>
          <a:prstGeom prst="ellipse">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3" name="组合 132"/>
          <p:cNvGrpSpPr/>
          <p:nvPr/>
        </p:nvGrpSpPr>
        <p:grpSpPr bwMode="gray">
          <a:xfrm>
            <a:off x="6466784" y="5179012"/>
            <a:ext cx="3332500" cy="343314"/>
            <a:chOff x="6749592" y="5526778"/>
            <a:chExt cx="3332500" cy="544084"/>
          </a:xfrm>
        </p:grpSpPr>
        <p:cxnSp>
          <p:nvCxnSpPr>
            <p:cNvPr id="119" name="Straight Connector 166"/>
            <p:cNvCxnSpPr/>
            <p:nvPr/>
          </p:nvCxnSpPr>
          <p:spPr bwMode="gray">
            <a:xfrm>
              <a:off x="6749592" y="5526778"/>
              <a:ext cx="0" cy="54408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66"/>
            <p:cNvCxnSpPr/>
            <p:nvPr/>
          </p:nvCxnSpPr>
          <p:spPr bwMode="gray">
            <a:xfrm>
              <a:off x="7228573" y="5526778"/>
              <a:ext cx="0" cy="54408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66"/>
            <p:cNvCxnSpPr/>
            <p:nvPr/>
          </p:nvCxnSpPr>
          <p:spPr bwMode="gray">
            <a:xfrm>
              <a:off x="7757113" y="5526778"/>
              <a:ext cx="0" cy="54408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66"/>
            <p:cNvCxnSpPr/>
            <p:nvPr/>
          </p:nvCxnSpPr>
          <p:spPr bwMode="gray">
            <a:xfrm>
              <a:off x="9063645" y="5526778"/>
              <a:ext cx="0" cy="54408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66"/>
            <p:cNvCxnSpPr/>
            <p:nvPr/>
          </p:nvCxnSpPr>
          <p:spPr bwMode="gray">
            <a:xfrm>
              <a:off x="9553552" y="5526778"/>
              <a:ext cx="0" cy="54408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66"/>
            <p:cNvCxnSpPr/>
            <p:nvPr/>
          </p:nvCxnSpPr>
          <p:spPr bwMode="gray">
            <a:xfrm>
              <a:off x="10082092" y="5526778"/>
              <a:ext cx="0" cy="54408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26" name="文本框 125"/>
          <p:cNvSpPr txBox="1"/>
          <p:nvPr/>
        </p:nvSpPr>
        <p:spPr bwMode="gray">
          <a:xfrm>
            <a:off x="6166356" y="5486322"/>
            <a:ext cx="579005" cy="276999"/>
          </a:xfrm>
          <a:prstGeom prst="rect">
            <a:avLst/>
          </a:prstGeom>
          <a:noFill/>
        </p:spPr>
        <p:txBody>
          <a:bodyPr wrap="none" rtlCol="0">
            <a:spAutoFit/>
          </a:bodyPr>
          <a:lstStyle/>
          <a:p>
            <a:pPr algn="r" font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文本框 126"/>
          <p:cNvSpPr txBox="1"/>
          <p:nvPr/>
        </p:nvSpPr>
        <p:spPr bwMode="gray">
          <a:xfrm>
            <a:off x="6665406" y="5486322"/>
            <a:ext cx="579005" cy="276999"/>
          </a:xfrm>
          <a:prstGeom prst="rect">
            <a:avLst/>
          </a:prstGeom>
          <a:noFill/>
        </p:spPr>
        <p:txBody>
          <a:bodyPr wrap="none" rtlCol="0">
            <a:spAutoFit/>
          </a:bodyPr>
          <a:lstStyle/>
          <a:p>
            <a:pPr algn="r" font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sp>
        <p:nvSpPr>
          <p:cNvPr id="128" name="文本框 127"/>
          <p:cNvSpPr txBox="1"/>
          <p:nvPr/>
        </p:nvSpPr>
        <p:spPr bwMode="gray">
          <a:xfrm>
            <a:off x="7155925" y="5486322"/>
            <a:ext cx="579005" cy="276999"/>
          </a:xfrm>
          <a:prstGeom prst="rect">
            <a:avLst/>
          </a:prstGeom>
          <a:noFill/>
        </p:spPr>
        <p:txBody>
          <a:bodyPr wrap="none" rtlCol="0">
            <a:spAutoFit/>
          </a:bodyPr>
          <a:lstStyle/>
          <a:p>
            <a:pPr algn="r" font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p:txBody>
      </p:sp>
      <p:sp>
        <p:nvSpPr>
          <p:cNvPr id="129" name="文本框 128"/>
          <p:cNvSpPr txBox="1"/>
          <p:nvPr/>
        </p:nvSpPr>
        <p:spPr bwMode="gray">
          <a:xfrm>
            <a:off x="8469421" y="5486322"/>
            <a:ext cx="579005" cy="276999"/>
          </a:xfrm>
          <a:prstGeom prst="rect">
            <a:avLst/>
          </a:prstGeom>
          <a:noFill/>
        </p:spPr>
        <p:txBody>
          <a:bodyPr wrap="none" rtlCol="0">
            <a:spAutoFit/>
          </a:bodyPr>
          <a:lstStyle/>
          <a:p>
            <a:pPr algn="r" font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文本框 129"/>
          <p:cNvSpPr txBox="1"/>
          <p:nvPr/>
        </p:nvSpPr>
        <p:spPr bwMode="gray">
          <a:xfrm>
            <a:off x="8968471" y="5486322"/>
            <a:ext cx="579005" cy="276999"/>
          </a:xfrm>
          <a:prstGeom prst="rect">
            <a:avLst/>
          </a:prstGeom>
          <a:noFill/>
        </p:spPr>
        <p:txBody>
          <a:bodyPr wrap="none" rtlCol="0">
            <a:spAutoFit/>
          </a:bodyPr>
          <a:lstStyle/>
          <a:p>
            <a:pPr algn="r" font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文本框 130"/>
          <p:cNvSpPr txBox="1"/>
          <p:nvPr/>
        </p:nvSpPr>
        <p:spPr bwMode="gray">
          <a:xfrm>
            <a:off x="9458990" y="5486322"/>
            <a:ext cx="579005" cy="276999"/>
          </a:xfrm>
          <a:prstGeom prst="rect">
            <a:avLst/>
          </a:prstGeom>
          <a:noFill/>
        </p:spPr>
        <p:txBody>
          <a:bodyPr wrap="none" rtlCol="0">
            <a:spAutoFit/>
          </a:bodyPr>
          <a:lstStyle/>
          <a:p>
            <a:pPr algn="r" font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文本框 131"/>
          <p:cNvSpPr txBox="1"/>
          <p:nvPr/>
        </p:nvSpPr>
        <p:spPr bwMode="gray">
          <a:xfrm>
            <a:off x="7210862" y="4367770"/>
            <a:ext cx="1263487" cy="276999"/>
          </a:xfrm>
          <a:prstGeom prst="rect">
            <a:avLst/>
          </a:prstGeom>
          <a:noFill/>
        </p:spPr>
        <p:txBody>
          <a:bodyPr wrap="none" rtlCol="0">
            <a:spAutoFit/>
          </a:bodyPr>
          <a:lstStyle/>
          <a:p>
            <a:pPr algn="ctr" fontAlgn="ctr"/>
            <a:r>
              <a:rPr lang="en-US" altLang="zh-CN" sz="1200" b="1" dirty="0">
                <a:gradFill flip="none" rotWithShape="1">
                  <a:gsLst>
                    <a:gs pos="50020">
                      <a:srgbClr val="FFC000"/>
                    </a:gs>
                    <a:gs pos="0">
                      <a:srgbClr val="00B0F0"/>
                    </a:gs>
                    <a:gs pos="100000">
                      <a:schemeClr val="accent6">
                        <a:lumMod val="75000"/>
                      </a:schemeClr>
                    </a:gs>
                  </a:gsLst>
                  <a:lin ang="0" scaled="1"/>
                  <a:tileRect/>
                </a:gra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b="1" dirty="0">
                <a:gradFill flip="none" rotWithShape="1">
                  <a:gsLst>
                    <a:gs pos="50020">
                      <a:srgbClr val="FFC000"/>
                    </a:gs>
                    <a:gs pos="0">
                      <a:srgbClr val="00B0F0"/>
                    </a:gs>
                    <a:gs pos="100000">
                      <a:schemeClr val="accent6">
                        <a:lumMod val="75000"/>
                      </a:schemeClr>
                    </a:gs>
                  </a:gsLst>
                  <a:lin ang="0" scaled="1"/>
                  <a:tileRect/>
                </a:gra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dirty="0">
                <a:gradFill flip="none" rotWithShape="1">
                  <a:gsLst>
                    <a:gs pos="50020">
                      <a:srgbClr val="FFC000"/>
                    </a:gs>
                    <a:gs pos="0">
                      <a:srgbClr val="00B0F0"/>
                    </a:gs>
                    <a:gs pos="100000">
                      <a:schemeClr val="accent6">
                        <a:lumMod val="75000"/>
                      </a:schemeClr>
                    </a:gs>
                  </a:gsLst>
                  <a:lin ang="0" scaled="1"/>
                  <a:tileRect/>
                </a:gradFill>
                <a:latin typeface="Huawei Sans" panose="020C0503030203020204" pitchFamily="34" charset="0"/>
                <a:ea typeface="方正兰亭黑简体" panose="02000000000000000000" pitchFamily="2" charset="-122"/>
                <a:sym typeface="Huawei Sans" panose="020C0503030203020204" pitchFamily="34" charset="0"/>
              </a:rPr>
              <a:t>Tunnel</a:t>
            </a:r>
          </a:p>
        </p:txBody>
      </p:sp>
      <p:sp>
        <p:nvSpPr>
          <p:cNvPr id="135" name="椭圆 134"/>
          <p:cNvSpPr>
            <a:spLocks noChangeAspect="1"/>
          </p:cNvSpPr>
          <p:nvPr/>
        </p:nvSpPr>
        <p:spPr bwMode="gray">
          <a:xfrm>
            <a:off x="10216753" y="4454512"/>
            <a:ext cx="97903" cy="9790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椭圆 135"/>
          <p:cNvSpPr>
            <a:spLocks noChangeAspect="1"/>
          </p:cNvSpPr>
          <p:nvPr/>
        </p:nvSpPr>
        <p:spPr bwMode="gray">
          <a:xfrm>
            <a:off x="10216753" y="4688411"/>
            <a:ext cx="97903" cy="9790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椭圆 136"/>
          <p:cNvSpPr>
            <a:spLocks noChangeAspect="1"/>
          </p:cNvSpPr>
          <p:nvPr/>
        </p:nvSpPr>
        <p:spPr bwMode="gray">
          <a:xfrm>
            <a:off x="10216753" y="4571462"/>
            <a:ext cx="97903" cy="97903"/>
          </a:xfrm>
          <a:prstGeom prst="ellipse">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文本框 138"/>
          <p:cNvSpPr txBox="1"/>
          <p:nvPr/>
        </p:nvSpPr>
        <p:spPr bwMode="gray">
          <a:xfrm>
            <a:off x="10354513" y="4389580"/>
            <a:ext cx="1416343" cy="461665"/>
          </a:xfrm>
          <a:prstGeom prst="rect">
            <a:avLst/>
          </a:prstGeom>
          <a:noFill/>
        </p:spPr>
        <p:txBody>
          <a:bodyPr wrap="square" rtlCol="0">
            <a:spAutoFit/>
          </a:bodyPr>
          <a:lstStyle/>
          <a:p>
            <a:pPr font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VBDIF</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三层网关接口</a:t>
            </a:r>
          </a:p>
        </p:txBody>
      </p:sp>
      <p:sp>
        <p:nvSpPr>
          <p:cNvPr id="140" name="文本框 139"/>
          <p:cNvSpPr txBox="1"/>
          <p:nvPr/>
        </p:nvSpPr>
        <p:spPr bwMode="gray">
          <a:xfrm>
            <a:off x="9331710" y="2658099"/>
            <a:ext cx="623889"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文本框 140"/>
          <p:cNvSpPr txBox="1"/>
          <p:nvPr/>
        </p:nvSpPr>
        <p:spPr bwMode="gray">
          <a:xfrm>
            <a:off x="9331710" y="2988006"/>
            <a:ext cx="623889"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文本框 141"/>
          <p:cNvSpPr txBox="1"/>
          <p:nvPr/>
        </p:nvSpPr>
        <p:spPr bwMode="gray">
          <a:xfrm>
            <a:off x="9331710" y="3336448"/>
            <a:ext cx="623889"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文本框 142"/>
          <p:cNvSpPr txBox="1"/>
          <p:nvPr/>
        </p:nvSpPr>
        <p:spPr bwMode="gray">
          <a:xfrm>
            <a:off x="9331710" y="3676158"/>
            <a:ext cx="623889"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4"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458696" y="2777819"/>
            <a:ext cx="540000" cy="441818"/>
          </a:xfrm>
          <a:prstGeom prst="rect">
            <a:avLst/>
          </a:prstGeom>
        </p:spPr>
      </p:pic>
      <p:sp>
        <p:nvSpPr>
          <p:cNvPr id="145" name="文本框 144"/>
          <p:cNvSpPr txBox="1"/>
          <p:nvPr/>
        </p:nvSpPr>
        <p:spPr bwMode="gray">
          <a:xfrm>
            <a:off x="4463069" y="2474588"/>
            <a:ext cx="470000" cy="307777"/>
          </a:xfrm>
          <a:prstGeom prst="rect">
            <a:avLst/>
          </a:prstGeom>
          <a:noFill/>
        </p:spPr>
        <p:txBody>
          <a:bodyPr wrap="none" rtlCol="0">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p:cNvSpPr txBox="1"/>
          <p:nvPr/>
        </p:nvSpPr>
        <p:spPr bwMode="gray">
          <a:xfrm>
            <a:off x="5901860" y="5961130"/>
            <a:ext cx="1107996" cy="276999"/>
          </a:xfrm>
          <a:prstGeom prst="rect">
            <a:avLst/>
          </a:prstGeom>
          <a:noFill/>
        </p:spPr>
        <p:txBody>
          <a:bodyPr wrap="none" rtlCol="0">
            <a:spAutoFit/>
          </a:bodyPr>
          <a:lstStyle/>
          <a:p>
            <a:pPr algn="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终端用户接入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2" name="Straight Connector 166"/>
          <p:cNvCxnSpPr>
            <a:stCxn id="126" idx="2"/>
            <a:endCxn id="91" idx="0"/>
          </p:cNvCxnSpPr>
          <p:nvPr/>
        </p:nvCxnSpPr>
        <p:spPr bwMode="gray">
          <a:xfrm flipH="1">
            <a:off x="6455858" y="5763321"/>
            <a:ext cx="1" cy="197809"/>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4" name="五边形 93"/>
          <p:cNvSpPr/>
          <p:nvPr/>
        </p:nvSpPr>
        <p:spPr bwMode="gray">
          <a:xfrm>
            <a:off x="949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95" name="燕尾形 94"/>
          <p:cNvSpPr/>
          <p:nvPr/>
        </p:nvSpPr>
        <p:spPr bwMode="gray">
          <a:xfrm>
            <a:off x="10489087" y="114957"/>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878404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800" dirty="0">
                <a:solidFill>
                  <a:schemeClr val="bg1">
                    <a:lumMod val="50000"/>
                  </a:schemeClr>
                </a:solidFill>
                <a:sym typeface="Huawei Sans" panose="020C0503030203020204" pitchFamily="34" charset="0"/>
              </a:rPr>
              <a:t>CloudCampus</a:t>
            </a:r>
            <a:r>
              <a:rPr lang="zh-CN" altLang="en-US" sz="1800" dirty="0">
                <a:solidFill>
                  <a:schemeClr val="bg1">
                    <a:lumMod val="50000"/>
                  </a:schemeClr>
                </a:solidFill>
                <a:sym typeface="Huawei Sans" panose="020C0503030203020204" pitchFamily="34" charset="0"/>
              </a:rPr>
              <a:t>解决方案及虚拟化园区网络概述</a:t>
            </a:r>
          </a:p>
          <a:p>
            <a:r>
              <a:rPr lang="zh-CN" altLang="en-US" sz="1800" dirty="0">
                <a:solidFill>
                  <a:schemeClr val="bg1">
                    <a:lumMod val="50000"/>
                  </a:schemeClr>
                </a:solidFill>
                <a:sym typeface="Huawei Sans" panose="020C0503030203020204" pitchFamily="34" charset="0"/>
              </a:rPr>
              <a:t>网络架构设计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Underlay</a:t>
            </a:r>
            <a:r>
              <a:rPr lang="zh-CN" altLang="en-US" sz="1800" dirty="0">
                <a:solidFill>
                  <a:schemeClr val="bg1">
                    <a:lumMod val="50000"/>
                  </a:schemeClr>
                </a:solidFill>
                <a:sym typeface="Huawei Sans" panose="020C0503030203020204" pitchFamily="34" charset="0"/>
              </a:rPr>
              <a:t>网络设计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Fabric</a:t>
            </a:r>
            <a:r>
              <a:rPr lang="zh-CN" altLang="en-US" sz="1800" dirty="0">
                <a:solidFill>
                  <a:schemeClr val="bg1">
                    <a:lumMod val="50000"/>
                  </a:schemeClr>
                </a:solidFill>
                <a:sym typeface="Huawei Sans" panose="020C0503030203020204" pitchFamily="34" charset="0"/>
              </a:rPr>
              <a:t>与</a:t>
            </a:r>
            <a:r>
              <a:rPr lang="en-US" altLang="zh-CN" sz="1800" dirty="0">
                <a:solidFill>
                  <a:schemeClr val="bg1">
                    <a:lumMod val="50000"/>
                  </a:schemeClr>
                </a:solidFill>
                <a:sym typeface="Huawei Sans" panose="020C0503030203020204" pitchFamily="34" charset="0"/>
              </a:rPr>
              <a:t>Overlay</a:t>
            </a:r>
            <a:r>
              <a:rPr lang="zh-CN" altLang="en-US" sz="1800" dirty="0">
                <a:solidFill>
                  <a:schemeClr val="bg1">
                    <a:lumMod val="50000"/>
                  </a:schemeClr>
                </a:solidFill>
                <a:sym typeface="Huawei Sans" panose="020C0503030203020204" pitchFamily="34" charset="0"/>
              </a:rPr>
              <a:t>网络设计</a:t>
            </a:r>
          </a:p>
          <a:p>
            <a:r>
              <a:rPr lang="zh-CN" altLang="en-US" sz="1800" b="1" dirty="0">
                <a:sym typeface="Huawei Sans" panose="020C0503030203020204" pitchFamily="34" charset="0"/>
              </a:rPr>
              <a:t>准入控制及业务随行设计</a:t>
            </a:r>
          </a:p>
          <a:p>
            <a:r>
              <a:rPr lang="en-US" altLang="zh-CN" sz="1800" dirty="0">
                <a:solidFill>
                  <a:schemeClr val="bg1">
                    <a:lumMod val="50000"/>
                  </a:schemeClr>
                </a:solidFill>
                <a:sym typeface="Huawei Sans" panose="020C0503030203020204" pitchFamily="34" charset="0"/>
              </a:rPr>
              <a:t>WLAN</a:t>
            </a:r>
            <a:r>
              <a:rPr lang="zh-CN" altLang="en-US" sz="1800" dirty="0">
                <a:solidFill>
                  <a:schemeClr val="bg1">
                    <a:lumMod val="50000"/>
                  </a:schemeClr>
                </a:solidFill>
                <a:sym typeface="Huawei Sans" panose="020C0503030203020204" pitchFamily="34" charset="0"/>
              </a:rPr>
              <a:t>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出口网络设计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网络安全与服务质量设计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运维管理设计</a:t>
            </a:r>
            <a:endParaRPr lang="en-US" altLang="zh-CN"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0289663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a:sym typeface="Huawei Sans" panose="020C0503030203020204" pitchFamily="34" charset="0"/>
              </a:rPr>
              <a:t>用户管理方案设计</a:t>
            </a:r>
          </a:p>
        </p:txBody>
      </p:sp>
      <p:sp>
        <p:nvSpPr>
          <p:cNvPr id="2" name="文本占位符 1"/>
          <p:cNvSpPr>
            <a:spLocks noGrp="1"/>
          </p:cNvSpPr>
          <p:nvPr>
            <p:ph type="body" sz="quarter" idx="10"/>
          </p:nvPr>
        </p:nvSpPr>
        <p:spPr bwMode="gray"/>
        <p:txBody>
          <a:bodyPr/>
          <a:lstStyle/>
          <a:p>
            <a:pPr fontAlgn="base"/>
            <a:r>
              <a:rPr lang="zh-CN" altLang="en-US" sz="2000" dirty="0">
                <a:sym typeface="Huawei Sans" panose="020C0503030203020204" pitchFamily="34" charset="0"/>
              </a:rPr>
              <a:t>用户管理方案设计主要是确认用户数据源服务器，企业常见的用户数据源服务器有</a:t>
            </a:r>
            <a:r>
              <a:rPr lang="en-US" altLang="zh-CN" sz="2000" dirty="0">
                <a:sym typeface="Huawei Sans" panose="020C0503030203020204" pitchFamily="34" charset="0"/>
              </a:rPr>
              <a:t>RADIUS</a:t>
            </a:r>
            <a:r>
              <a:rPr lang="zh-CN" altLang="en-US" sz="2000" dirty="0">
                <a:sym typeface="Huawei Sans" panose="020C0503030203020204" pitchFamily="34" charset="0"/>
              </a:rPr>
              <a:t>服务器、</a:t>
            </a:r>
            <a:r>
              <a:rPr lang="en-US" altLang="zh-CN" sz="2000" dirty="0">
                <a:sym typeface="Huawei Sans" panose="020C0503030203020204" pitchFamily="34" charset="0"/>
              </a:rPr>
              <a:t>AD</a:t>
            </a:r>
            <a:r>
              <a:rPr lang="zh-CN" altLang="en-US" sz="2000" dirty="0">
                <a:sym typeface="Huawei Sans" panose="020C0503030203020204" pitchFamily="34" charset="0"/>
              </a:rPr>
              <a:t>服务器和</a:t>
            </a:r>
            <a:r>
              <a:rPr lang="en-US" altLang="zh-CN" sz="2000" dirty="0">
                <a:sym typeface="Huawei Sans" panose="020C0503030203020204" pitchFamily="34" charset="0"/>
              </a:rPr>
              <a:t>LDAP</a:t>
            </a:r>
            <a:r>
              <a:rPr lang="zh-CN" altLang="en-US" sz="2000" dirty="0">
                <a:sym typeface="Huawei Sans" panose="020C0503030203020204" pitchFamily="34" charset="0"/>
              </a:rPr>
              <a:t>服务器。</a:t>
            </a:r>
          </a:p>
        </p:txBody>
      </p:sp>
      <p:grpSp>
        <p:nvGrpSpPr>
          <p:cNvPr id="15" name="组合 14"/>
          <p:cNvGrpSpPr/>
          <p:nvPr/>
        </p:nvGrpSpPr>
        <p:grpSpPr bwMode="gray">
          <a:xfrm>
            <a:off x="883772" y="1995650"/>
            <a:ext cx="10348694" cy="4285598"/>
            <a:chOff x="492052" y="1644146"/>
            <a:chExt cx="10348694" cy="4285598"/>
          </a:xfrm>
        </p:grpSpPr>
        <p:sp>
          <p:nvSpPr>
            <p:cNvPr id="12" name="梯形 11"/>
            <p:cNvSpPr/>
            <p:nvPr/>
          </p:nvSpPr>
          <p:spPr bwMode="gray">
            <a:xfrm rot="16200000">
              <a:off x="1148845" y="3331369"/>
              <a:ext cx="4285598" cy="911152"/>
            </a:xfrm>
            <a:prstGeom prst="trapezoid">
              <a:avLst>
                <a:gd name="adj" fmla="val 211160"/>
              </a:avLst>
            </a:prstGeom>
            <a:gradFill>
              <a:gsLst>
                <a:gs pos="0">
                  <a:srgbClr val="DBF3F5"/>
                </a:gs>
                <a:gs pos="100000">
                  <a:schemeClr val="bg1"/>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75"/>
            <p:cNvSpPr/>
            <p:nvPr/>
          </p:nvSpPr>
          <p:spPr bwMode="gray">
            <a:xfrm>
              <a:off x="492052" y="3578653"/>
              <a:ext cx="2276983" cy="416587"/>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确认用户数据源服务器</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3747220" y="1750877"/>
              <a:ext cx="1560947" cy="1188573"/>
            </a:xfrm>
            <a:prstGeom prst="roundRect">
              <a:avLst>
                <a:gd name="adj" fmla="val 13606"/>
              </a:avLst>
            </a:prstGeom>
            <a:solidFill>
              <a:srgbClr val="DBF3F5"/>
            </a:solidFill>
            <a:ln w="12700" cap="flat" cmpd="sng" algn="ctr">
              <a:solidFill>
                <a:srgbClr val="94DAE2"/>
              </a:solidFill>
              <a:prstDash val="solid"/>
              <a:miter lim="800000"/>
            </a:ln>
            <a:effectLst/>
          </p:spPr>
          <p:txBody>
            <a:bodyPr lIns="0" tIns="0" rIns="0" bIns="0" rtlCol="0" anchor="ctr"/>
            <a:lstStyle/>
            <a:p>
              <a:pPr algn="ct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RADIUS</a:t>
              </a: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3747220" y="3169087"/>
              <a:ext cx="1560947" cy="1188573"/>
            </a:xfrm>
            <a:prstGeom prst="roundRect">
              <a:avLst>
                <a:gd name="adj" fmla="val 13606"/>
              </a:avLst>
            </a:prstGeom>
            <a:solidFill>
              <a:srgbClr val="DBF3F5"/>
            </a:solidFill>
            <a:ln w="12700" cap="flat" cmpd="sng" algn="ctr">
              <a:solidFill>
                <a:srgbClr val="94DAE2"/>
              </a:solidFill>
              <a:prstDash val="solid"/>
              <a:miter lim="800000"/>
            </a:ln>
            <a:effectLst/>
          </p:spPr>
          <p:txBody>
            <a:bodyPr lIns="0" tIns="0" rIns="0" bIns="0" rtlCol="0" anchor="ctr"/>
            <a:lstStyle/>
            <a:p>
              <a:pPr algn="ct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AD</a:t>
              </a: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3747220" y="4587297"/>
              <a:ext cx="1560947" cy="1188573"/>
            </a:xfrm>
            <a:prstGeom prst="roundRect">
              <a:avLst>
                <a:gd name="adj" fmla="val 13606"/>
              </a:avLst>
            </a:prstGeom>
            <a:solidFill>
              <a:srgbClr val="DBF3F5"/>
            </a:solidFill>
            <a:ln w="12700" cap="flat" cmpd="sng" algn="ctr">
              <a:solidFill>
                <a:srgbClr val="94DAE2"/>
              </a:solidFill>
              <a:prstDash val="solid"/>
              <a:miter lim="800000"/>
            </a:ln>
            <a:effectLst/>
          </p:spPr>
          <p:txBody>
            <a:bodyPr lIns="0" tIns="0" rIns="0" bIns="0" rtlCol="0" anchor="ct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LDAP</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8" name="圆角矩形 75"/>
            <p:cNvSpPr/>
            <p:nvPr/>
          </p:nvSpPr>
          <p:spPr bwMode="gray">
            <a:xfrm>
              <a:off x="5384799" y="1750877"/>
              <a:ext cx="5455947" cy="1188573"/>
            </a:xfrm>
            <a:prstGeom prst="roundRect">
              <a:avLst>
                <a:gd name="adj" fmla="val 13606"/>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pPr>
                <a:lnSpc>
                  <a:spcPts val="2400"/>
                </a:lnSpc>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如果企业当前无数据源服务器，推荐使用华为</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作为数据源服务器。</a:t>
              </a:r>
            </a:p>
          </p:txBody>
        </p:sp>
        <p:sp>
          <p:nvSpPr>
            <p:cNvPr id="9" name="圆角矩形 75"/>
            <p:cNvSpPr/>
            <p:nvPr/>
          </p:nvSpPr>
          <p:spPr bwMode="gray">
            <a:xfrm>
              <a:off x="5384799" y="3169087"/>
              <a:ext cx="5455947" cy="1188573"/>
            </a:xfrm>
            <a:prstGeom prst="roundRect">
              <a:avLst>
                <a:gd name="adj" fmla="val 13606"/>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pPr>
                <a:lnSpc>
                  <a:spcPts val="2400"/>
                </a:lnSpc>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如果企业当前已经采用</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AD/LDAP</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服务器作为用户数据源服务器，则可以继续沿用，并使用</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与之进行用户数据同步，最终由</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进行网络授权。</a:t>
              </a:r>
            </a:p>
          </p:txBody>
        </p:sp>
        <p:sp>
          <p:nvSpPr>
            <p:cNvPr id="10" name="圆角矩形 75"/>
            <p:cNvSpPr/>
            <p:nvPr/>
          </p:nvSpPr>
          <p:spPr bwMode="gray">
            <a:xfrm>
              <a:off x="5384799" y="4587297"/>
              <a:ext cx="5455947" cy="1188573"/>
            </a:xfrm>
            <a:prstGeom prst="roundRect">
              <a:avLst>
                <a:gd name="adj" fmla="val 13606"/>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0" rtlCol="0" anchor="ctr"/>
            <a:lstStyle/>
            <a:p>
              <a:pPr>
                <a:lnSpc>
                  <a:spcPts val="2400"/>
                </a:lnSpc>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同“</a:t>
              </a: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AD</a:t>
              </a: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 name="五边形 12"/>
          <p:cNvSpPr/>
          <p:nvPr/>
        </p:nvSpPr>
        <p:spPr bwMode="gray">
          <a:xfrm>
            <a:off x="8374235" y="98481"/>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14" name="燕尾形 13"/>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1002413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419731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Huawei Sans" panose="020C0503030203020204" pitchFamily="34" charset="0"/>
              </a:rPr>
              <a:t>用户认证技术选择</a:t>
            </a:r>
          </a:p>
        </p:txBody>
      </p:sp>
      <p:sp>
        <p:nvSpPr>
          <p:cNvPr id="3" name="文本占位符 2"/>
          <p:cNvSpPr>
            <a:spLocks noGrp="1"/>
          </p:cNvSpPr>
          <p:nvPr>
            <p:ph type="body" sz="quarter" idx="10"/>
          </p:nvPr>
        </p:nvSpPr>
        <p:spPr>
          <a:xfrm>
            <a:off x="455612" y="1047750"/>
            <a:ext cx="11293475" cy="5153025"/>
          </a:xfrm>
        </p:spPr>
        <p:txBody>
          <a:bodyPr/>
          <a:lstStyle/>
          <a:p>
            <a:pPr fontAlgn="base"/>
            <a:r>
              <a:rPr lang="zh-CN" altLang="en-US" sz="2000" dirty="0">
                <a:sym typeface="Huawei Sans" panose="020C0503030203020204" pitchFamily="34" charset="0"/>
              </a:rPr>
              <a:t>常用的认证技术包括</a:t>
            </a:r>
            <a:r>
              <a:rPr lang="en-US" altLang="zh-CN" sz="2000" dirty="0">
                <a:sym typeface="Huawei Sans" panose="020C0503030203020204" pitchFamily="34" charset="0"/>
              </a:rPr>
              <a:t>802.1X</a:t>
            </a:r>
            <a:r>
              <a:rPr lang="zh-CN" altLang="en-US" sz="2000" dirty="0">
                <a:sym typeface="Huawei Sans" panose="020C0503030203020204" pitchFamily="34" charset="0"/>
              </a:rPr>
              <a:t>，</a:t>
            </a:r>
            <a:r>
              <a:rPr lang="en-US" altLang="zh-CN" sz="2000" dirty="0">
                <a:sym typeface="Huawei Sans" panose="020C0503030203020204" pitchFamily="34" charset="0"/>
              </a:rPr>
              <a:t>MAC</a:t>
            </a:r>
            <a:r>
              <a:rPr lang="zh-CN" altLang="en-US" sz="2000" dirty="0">
                <a:sym typeface="Huawei Sans" panose="020C0503030203020204" pitchFamily="34" charset="0"/>
              </a:rPr>
              <a:t>和</a:t>
            </a:r>
            <a:r>
              <a:rPr lang="en-US" altLang="zh-CN" sz="2000" dirty="0">
                <a:sym typeface="Huawei Sans" panose="020C0503030203020204" pitchFamily="34" charset="0"/>
              </a:rPr>
              <a:t>Portal</a:t>
            </a:r>
            <a:r>
              <a:rPr lang="zh-CN" altLang="en-US" sz="2000" dirty="0">
                <a:sym typeface="Huawei Sans" panose="020C0503030203020204" pitchFamily="34" charset="0"/>
              </a:rPr>
              <a:t>认证，各种认证方式差异如表所示：</a:t>
            </a:r>
            <a:endParaRPr lang="en-US" altLang="zh-CN" sz="2000" dirty="0">
              <a:sym typeface="Huawei Sans" panose="020C0503030203020204" pitchFamily="34" charset="0"/>
            </a:endParaRPr>
          </a:p>
          <a:p>
            <a:pPr fontAlgn="base"/>
            <a:endParaRPr lang="en-US" altLang="zh-CN" sz="2000" dirty="0">
              <a:sym typeface="Huawei Sans" panose="020C0503030203020204" pitchFamily="34" charset="0"/>
            </a:endParaRPr>
          </a:p>
          <a:p>
            <a:pPr fontAlgn="base"/>
            <a:endParaRPr lang="en-US" altLang="zh-CN" sz="1800" dirty="0">
              <a:sym typeface="Huawei Sans" panose="020C0503030203020204" pitchFamily="34" charset="0"/>
            </a:endParaRPr>
          </a:p>
          <a:p>
            <a:pPr fontAlgn="base"/>
            <a:endParaRPr lang="en-US" altLang="zh-CN" sz="1800" dirty="0">
              <a:sym typeface="Huawei Sans" panose="020C0503030203020204" pitchFamily="34" charset="0"/>
            </a:endParaRPr>
          </a:p>
          <a:p>
            <a:pPr fontAlgn="base"/>
            <a:endParaRPr lang="en-US" altLang="zh-CN" sz="1800" dirty="0">
              <a:sym typeface="Huawei Sans" panose="020C0503030203020204" pitchFamily="34" charset="0"/>
            </a:endParaRPr>
          </a:p>
          <a:p>
            <a:pPr fontAlgn="base"/>
            <a:endParaRPr lang="en-US" altLang="zh-CN" sz="1800" dirty="0">
              <a:sym typeface="Huawei Sans" panose="020C0503030203020204" pitchFamily="34" charset="0"/>
            </a:endParaRPr>
          </a:p>
          <a:p>
            <a:pPr fontAlgn="base"/>
            <a:endParaRPr lang="en-US" altLang="zh-CN" sz="1800" dirty="0">
              <a:sym typeface="Huawei Sans" panose="020C0503030203020204" pitchFamily="34" charset="0"/>
            </a:endParaRPr>
          </a:p>
          <a:p>
            <a:pPr fontAlgn="base"/>
            <a:r>
              <a:rPr lang="zh-CN" altLang="en-US" sz="1800" dirty="0">
                <a:sym typeface="Huawei Sans" panose="020C0503030203020204" pitchFamily="34" charset="0"/>
              </a:rPr>
              <a:t>在大中型园区网络中，企业员工建议使用</a:t>
            </a:r>
            <a:r>
              <a:rPr lang="en-US" altLang="zh-CN" sz="1800" dirty="0">
                <a:sym typeface="Huawei Sans" panose="020C0503030203020204" pitchFamily="34" charset="0"/>
              </a:rPr>
              <a:t>802.1X</a:t>
            </a:r>
            <a:r>
              <a:rPr lang="zh-CN" altLang="en-US" sz="1800" dirty="0">
                <a:sym typeface="Huawei Sans" panose="020C0503030203020204" pitchFamily="34" charset="0"/>
              </a:rPr>
              <a:t>认证、、哑终端使用</a:t>
            </a:r>
            <a:r>
              <a:rPr lang="en-US" altLang="zh-CN" sz="1800" dirty="0">
                <a:sym typeface="Huawei Sans" panose="020C0503030203020204" pitchFamily="34" charset="0"/>
              </a:rPr>
              <a:t>MAC</a:t>
            </a:r>
            <a:r>
              <a:rPr lang="zh-CN" altLang="en-US" sz="1800" dirty="0">
                <a:sym typeface="Huawei Sans" panose="020C0503030203020204" pitchFamily="34" charset="0"/>
              </a:rPr>
              <a:t>认证。</a:t>
            </a:r>
          </a:p>
          <a:p>
            <a:pPr fontAlgn="base"/>
            <a:r>
              <a:rPr lang="zh-CN" altLang="en-US" sz="1800" dirty="0">
                <a:sym typeface="Huawei Sans" panose="020C0503030203020204" pitchFamily="34" charset="0"/>
              </a:rPr>
              <a:t>如果客户希望在同一个接入点使用多种认证方式，可以考虑访客使用</a:t>
            </a:r>
            <a:r>
              <a:rPr lang="en-US" altLang="zh-CN" sz="1800" dirty="0">
                <a:sym typeface="Huawei Sans" panose="020C0503030203020204" pitchFamily="34" charset="0"/>
              </a:rPr>
              <a:t>Portal</a:t>
            </a:r>
            <a:r>
              <a:rPr lang="zh-CN" altLang="en-US" sz="1800" dirty="0">
                <a:sym typeface="Huawei Sans" panose="020C0503030203020204" pitchFamily="34" charset="0"/>
              </a:rPr>
              <a:t>认证配置成混合认证模式，配置混合认证后，终端使用任意认证方式，只要校验成功，均可以接入网络，适合同一个端口给多种类型用户接入的场景。比如</a:t>
            </a:r>
            <a:r>
              <a:rPr lang="en-US" altLang="zh-CN" sz="1800" dirty="0">
                <a:sym typeface="Huawei Sans" panose="020C0503030203020204" pitchFamily="34" charset="0"/>
              </a:rPr>
              <a:t>IP</a:t>
            </a:r>
            <a:r>
              <a:rPr lang="zh-CN" altLang="en-US" sz="1800" dirty="0">
                <a:sym typeface="Huawei Sans" panose="020C0503030203020204" pitchFamily="34" charset="0"/>
              </a:rPr>
              <a:t>话机下挂</a:t>
            </a:r>
            <a:r>
              <a:rPr lang="en-US" altLang="zh-CN" sz="1800" dirty="0">
                <a:sym typeface="Huawei Sans" panose="020C0503030203020204" pitchFamily="34" charset="0"/>
              </a:rPr>
              <a:t>PC</a:t>
            </a:r>
            <a:r>
              <a:rPr lang="zh-CN" altLang="en-US" sz="1800" dirty="0">
                <a:sym typeface="Huawei Sans" panose="020C0503030203020204" pitchFamily="34" charset="0"/>
              </a:rPr>
              <a:t>终端的场景，可以配置</a:t>
            </a:r>
            <a:r>
              <a:rPr lang="en-US" altLang="zh-CN" sz="1800" dirty="0">
                <a:sym typeface="Huawei Sans" panose="020C0503030203020204" pitchFamily="34" charset="0"/>
              </a:rPr>
              <a:t>MAC+802.1X</a:t>
            </a:r>
            <a:r>
              <a:rPr lang="zh-CN" altLang="en-US" sz="1800" dirty="0">
                <a:sym typeface="Huawei Sans" panose="020C0503030203020204" pitchFamily="34" charset="0"/>
              </a:rPr>
              <a:t>混合认证，</a:t>
            </a:r>
            <a:r>
              <a:rPr lang="en-US" altLang="zh-CN" sz="1800" dirty="0">
                <a:sym typeface="Huawei Sans" panose="020C0503030203020204" pitchFamily="34" charset="0"/>
              </a:rPr>
              <a:t>IP</a:t>
            </a:r>
            <a:r>
              <a:rPr lang="zh-CN" altLang="en-US" sz="1800" dirty="0">
                <a:sym typeface="Huawei Sans" panose="020C0503030203020204" pitchFamily="34" charset="0"/>
              </a:rPr>
              <a:t>话机用</a:t>
            </a:r>
            <a:r>
              <a:rPr lang="en-US" altLang="zh-CN" sz="1800" dirty="0">
                <a:sym typeface="Huawei Sans" panose="020C0503030203020204" pitchFamily="34" charset="0"/>
              </a:rPr>
              <a:t>MAC</a:t>
            </a:r>
            <a:r>
              <a:rPr lang="zh-CN" altLang="en-US" sz="1800" dirty="0">
                <a:sym typeface="Huawei Sans" panose="020C0503030203020204" pitchFamily="34" charset="0"/>
              </a:rPr>
              <a:t>认证，</a:t>
            </a:r>
            <a:r>
              <a:rPr lang="en-US" altLang="zh-CN" sz="1800" dirty="0">
                <a:sym typeface="Huawei Sans" panose="020C0503030203020204" pitchFamily="34" charset="0"/>
              </a:rPr>
              <a:t>PC</a:t>
            </a:r>
            <a:r>
              <a:rPr lang="zh-CN" altLang="en-US" sz="1800" dirty="0">
                <a:sym typeface="Huawei Sans" panose="020C0503030203020204" pitchFamily="34" charset="0"/>
              </a:rPr>
              <a:t>终端用</a:t>
            </a:r>
            <a:r>
              <a:rPr lang="en-US" altLang="zh-CN" sz="1800" dirty="0">
                <a:sym typeface="Huawei Sans" panose="020C0503030203020204" pitchFamily="34" charset="0"/>
              </a:rPr>
              <a:t>802.1X</a:t>
            </a:r>
            <a:r>
              <a:rPr lang="zh-CN" altLang="en-US" sz="1800" dirty="0">
                <a:sym typeface="Huawei Sans" panose="020C0503030203020204" pitchFamily="34" charset="0"/>
              </a:rPr>
              <a:t>认证。</a:t>
            </a:r>
          </a:p>
          <a:p>
            <a:pPr fontAlgn="base"/>
            <a:endParaRPr lang="zh-CN" altLang="en-US" sz="1800" dirty="0">
              <a:sym typeface="Huawei Sans" panose="020C0503030203020204" pitchFamily="34" charset="0"/>
            </a:endParaRPr>
          </a:p>
        </p:txBody>
      </p:sp>
      <p:graphicFrame>
        <p:nvGraphicFramePr>
          <p:cNvPr id="14" name="表格 13"/>
          <p:cNvGraphicFramePr>
            <a:graphicFrameLocks noGrp="1"/>
          </p:cNvGraphicFramePr>
          <p:nvPr>
            <p:extLst>
              <p:ext uri="{D42A27DB-BD31-4B8C-83A1-F6EECF244321}">
                <p14:modId xmlns:p14="http://schemas.microsoft.com/office/powerpoint/2010/main" val="222139845"/>
              </p:ext>
            </p:extLst>
          </p:nvPr>
        </p:nvGraphicFramePr>
        <p:xfrm>
          <a:off x="776041" y="1737261"/>
          <a:ext cx="10639917" cy="2530320"/>
        </p:xfrm>
        <a:graphic>
          <a:graphicData uri="http://schemas.openxmlformats.org/drawingml/2006/table">
            <a:tbl>
              <a:tblPr/>
              <a:tblGrid>
                <a:gridCol w="1906180">
                  <a:extLst>
                    <a:ext uri="{9D8B030D-6E8A-4147-A177-3AD203B41FA5}">
                      <a16:colId xmlns:a16="http://schemas.microsoft.com/office/drawing/2014/main" val="20000"/>
                    </a:ext>
                  </a:extLst>
                </a:gridCol>
                <a:gridCol w="2866775">
                  <a:extLst>
                    <a:ext uri="{9D8B030D-6E8A-4147-A177-3AD203B41FA5}">
                      <a16:colId xmlns:a16="http://schemas.microsoft.com/office/drawing/2014/main" val="20001"/>
                    </a:ext>
                  </a:extLst>
                </a:gridCol>
                <a:gridCol w="2700000">
                  <a:extLst>
                    <a:ext uri="{9D8B030D-6E8A-4147-A177-3AD203B41FA5}">
                      <a16:colId xmlns:a16="http://schemas.microsoft.com/office/drawing/2014/main" val="20002"/>
                    </a:ext>
                  </a:extLst>
                </a:gridCol>
                <a:gridCol w="3166962">
                  <a:extLst>
                    <a:ext uri="{9D8B030D-6E8A-4147-A177-3AD203B41FA5}">
                      <a16:colId xmlns:a16="http://schemas.microsoft.com/office/drawing/2014/main" val="20003"/>
                    </a:ext>
                  </a:extLst>
                </a:gridCol>
              </a:tblGrid>
              <a:tr h="0">
                <a:tc>
                  <a:txBody>
                    <a:bodyPr/>
                    <a:lstStyle/>
                    <a:p>
                      <a:pPr algn="ctr"/>
                      <a:r>
                        <a:rPr lang="zh-CN" altLang="en-US" sz="1600" b="1" dirty="0">
                          <a:effectLst/>
                          <a:latin typeface="Huawei Sans" panose="020C0503030203020204" pitchFamily="34" charset="0"/>
                          <a:ea typeface="方正兰亭黑简体" panose="02000000000000000000" pitchFamily="2" charset="-122"/>
                          <a:sym typeface="Huawei Sans" panose="020C0503030203020204" pitchFamily="34" charset="0"/>
                        </a:rPr>
                        <a:t>对比项 </a:t>
                      </a:r>
                      <a:endParaRPr lang="zh-CN" altLang="en-US" sz="2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sz="1600" b="1" dirty="0">
                          <a:effectLst/>
                          <a:latin typeface="Huawei Sans" panose="020C0503030203020204" pitchFamily="34" charset="0"/>
                          <a:ea typeface="方正兰亭黑简体" panose="02000000000000000000" pitchFamily="2" charset="-122"/>
                          <a:sym typeface="Huawei Sans" panose="020C0503030203020204" pitchFamily="34" charset="0"/>
                        </a:rPr>
                        <a:t>802.1X</a:t>
                      </a:r>
                      <a:r>
                        <a:rPr lang="zh-CN" altLang="en-US" sz="1600" b="1" dirty="0">
                          <a:effectLst/>
                          <a:latin typeface="Huawei Sans" panose="020C0503030203020204" pitchFamily="34" charset="0"/>
                          <a:ea typeface="方正兰亭黑简体" panose="02000000000000000000" pitchFamily="2" charset="-122"/>
                          <a:sym typeface="Huawei Sans" panose="020C0503030203020204" pitchFamily="34" charset="0"/>
                        </a:rPr>
                        <a:t>认证 </a:t>
                      </a:r>
                      <a:endParaRPr lang="zh-CN" altLang="en-US" sz="2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sz="1600" b="1"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b="1" dirty="0">
                          <a:effectLst/>
                          <a:latin typeface="Huawei Sans" panose="020C0503030203020204" pitchFamily="34" charset="0"/>
                          <a:ea typeface="方正兰亭黑简体" panose="02000000000000000000" pitchFamily="2" charset="-122"/>
                          <a:sym typeface="Huawei Sans" panose="020C0503030203020204" pitchFamily="34" charset="0"/>
                        </a:rPr>
                        <a:t>认证 </a:t>
                      </a:r>
                      <a:endParaRPr lang="zh-CN" altLang="en-US" sz="2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sz="1600" b="1" dirty="0">
                          <a:effectLst/>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600" b="1" dirty="0">
                          <a:effectLst/>
                          <a:latin typeface="Huawei Sans" panose="020C0503030203020204" pitchFamily="34" charset="0"/>
                          <a:ea typeface="方正兰亭黑简体" panose="02000000000000000000" pitchFamily="2" charset="-122"/>
                          <a:sym typeface="Huawei Sans" panose="020C0503030203020204" pitchFamily="34" charset="0"/>
                        </a:rPr>
                        <a:t>认证</a:t>
                      </a:r>
                      <a:endParaRPr lang="zh-CN" altLang="en-US" sz="2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518400">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客户端需求 </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有特殊要求</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zh-CN" altLang="en-US" sz="1600">
                          <a:effectLst/>
                          <a:latin typeface="Huawei Sans" panose="020C0503030203020204" pitchFamily="34" charset="0"/>
                          <a:ea typeface="方正兰亭黑简体" panose="02000000000000000000" pitchFamily="2" charset="-122"/>
                          <a:sym typeface="Huawei Sans" panose="020C0503030203020204" pitchFamily="34" charset="0"/>
                        </a:rPr>
                        <a:t>无特殊要求</a:t>
                      </a:r>
                      <a:endParaRPr lang="zh-CN" altLang="en-US" sz="240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zh-CN" altLang="en-US" sz="1600">
                          <a:effectLst/>
                          <a:latin typeface="Huawei Sans" panose="020C0503030203020204" pitchFamily="34" charset="0"/>
                          <a:ea typeface="方正兰亭黑简体" panose="02000000000000000000" pitchFamily="2" charset="-122"/>
                          <a:sym typeface="Huawei Sans" panose="020C0503030203020204" pitchFamily="34" charset="0"/>
                        </a:rPr>
                        <a:t>无特殊要求</a:t>
                      </a:r>
                      <a:endParaRPr lang="zh-CN" altLang="en-US" sz="240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518400">
                <a:tc>
                  <a:txBody>
                    <a:bodyPr/>
                    <a:lstStyle/>
                    <a:p>
                      <a:pPr algn="ctr"/>
                      <a:r>
                        <a:rPr lang="zh-CN" altLang="en-US" sz="1600">
                          <a:effectLst/>
                          <a:latin typeface="Huawei Sans" panose="020C0503030203020204" pitchFamily="34" charset="0"/>
                          <a:ea typeface="方正兰亭黑简体" panose="02000000000000000000" pitchFamily="2" charset="-122"/>
                          <a:sym typeface="Huawei Sans" panose="020C0503030203020204" pitchFamily="34" charset="0"/>
                        </a:rPr>
                        <a:t>优点 </a:t>
                      </a:r>
                      <a:endParaRPr lang="zh-CN" altLang="en-US" sz="240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安全性高 </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无需安装客户端，</a:t>
                      </a:r>
                      <a:endPar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无需手动输入用户名和密码</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部署灵活</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518400">
                <a:tc>
                  <a:txBody>
                    <a:bodyPr/>
                    <a:lstStyle/>
                    <a:p>
                      <a:pPr algn="ctr"/>
                      <a:r>
                        <a:rPr lang="zh-CN" altLang="en-US" sz="1600">
                          <a:effectLst/>
                          <a:latin typeface="Huawei Sans" panose="020C0503030203020204" pitchFamily="34" charset="0"/>
                          <a:ea typeface="方正兰亭黑简体" panose="02000000000000000000" pitchFamily="2" charset="-122"/>
                          <a:sym typeface="Huawei Sans" panose="020C0503030203020204" pitchFamily="34" charset="0"/>
                        </a:rPr>
                        <a:t>缺点 </a:t>
                      </a:r>
                      <a:endParaRPr lang="zh-CN" altLang="en-US" sz="240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部署不灵活 </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需登记</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地址，管理复杂</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安全性不高</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518400">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适合场景 </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通常适用于对安全要求较高</a:t>
                      </a:r>
                      <a:b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b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的办公用户的网络认证。</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打印机、传真机等哑终端</a:t>
                      </a:r>
                      <a:b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b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接入认证的场景。</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通常适用于流动性较大，终端类</a:t>
                      </a:r>
                      <a:b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b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型复杂的访客用户网络认证。</a:t>
                      </a:r>
                      <a:endParaRPr lang="zh-CN" altLang="en-US" sz="2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五边形 9"/>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11" name="燕尾形 10"/>
          <p:cNvSpPr/>
          <p:nvPr/>
        </p:nvSpPr>
        <p:spPr bwMode="gray">
          <a:xfrm>
            <a:off x="9199186"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1002413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402727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dirty="0">
                <a:sym typeface="Huawei Sans" panose="020C0503030203020204" pitchFamily="34" charset="0"/>
              </a:rPr>
              <a:t>已认证用户与</a:t>
            </a:r>
            <a:r>
              <a:rPr lang="en-US" altLang="zh-CN" dirty="0">
                <a:sym typeface="Huawei Sans" panose="020C0503030203020204" pitchFamily="34" charset="0"/>
              </a:rPr>
              <a:t>VN</a:t>
            </a:r>
            <a:r>
              <a:rPr lang="zh-CN" altLang="en-US" dirty="0">
                <a:sym typeface="Huawei Sans" panose="020C0503030203020204" pitchFamily="34" charset="0"/>
              </a:rPr>
              <a:t>的关联</a:t>
            </a:r>
          </a:p>
        </p:txBody>
      </p:sp>
      <p:sp>
        <p:nvSpPr>
          <p:cNvPr id="5" name="圆角矩形 75"/>
          <p:cNvSpPr/>
          <p:nvPr/>
        </p:nvSpPr>
        <p:spPr bwMode="gray">
          <a:xfrm>
            <a:off x="446087" y="1129096"/>
            <a:ext cx="5607579"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用户在</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上创建虚拟网络</a:t>
            </a:r>
          </a:p>
        </p:txBody>
      </p:sp>
      <p:sp>
        <p:nvSpPr>
          <p:cNvPr id="6" name="圆角矩形 75"/>
          <p:cNvSpPr/>
          <p:nvPr/>
        </p:nvSpPr>
        <p:spPr bwMode="gray">
          <a:xfrm>
            <a:off x="446087" y="1560794"/>
            <a:ext cx="5607579" cy="4512646"/>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圆角矩形 75"/>
          <p:cNvSpPr/>
          <p:nvPr/>
        </p:nvSpPr>
        <p:spPr bwMode="gray">
          <a:xfrm>
            <a:off x="6138333" y="1129096"/>
            <a:ext cx="5574242"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用户认证后获得</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授权，根据</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关联到虚拟网络</a:t>
            </a:r>
          </a:p>
        </p:txBody>
      </p:sp>
      <p:sp>
        <p:nvSpPr>
          <p:cNvPr id="8" name="圆角矩形 75"/>
          <p:cNvSpPr/>
          <p:nvPr/>
        </p:nvSpPr>
        <p:spPr bwMode="gray">
          <a:xfrm>
            <a:off x="6138333" y="1560794"/>
            <a:ext cx="5574242" cy="4512646"/>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just">
              <a:lnSpc>
                <a:spcPts val="1800"/>
              </a:lnSpc>
              <a:spcAft>
                <a:spcPts val="300"/>
              </a:spcAft>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 name="文本框 1"/>
          <p:cNvSpPr txBox="1"/>
          <p:nvPr/>
        </p:nvSpPr>
        <p:spPr bwMode="gray">
          <a:xfrm>
            <a:off x="707405" y="1749915"/>
            <a:ext cx="5084942" cy="377732"/>
          </a:xfrm>
          <a:prstGeom prst="rect">
            <a:avLst/>
          </a:prstGeom>
          <a:noFill/>
        </p:spPr>
        <p:txBody>
          <a:bodyPr wrap="square" rtlCol="0">
            <a:spAutoFit/>
          </a:bodyPr>
          <a:lstStyle/>
          <a:p>
            <a:pPr>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管理员创建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，并指定</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网段与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9" name="文本框 8"/>
          <p:cNvSpPr txBox="1"/>
          <p:nvPr/>
        </p:nvSpPr>
        <p:spPr bwMode="gray">
          <a:xfrm>
            <a:off x="455613" y="4646040"/>
            <a:ext cx="5598053" cy="1015663"/>
          </a:xfrm>
          <a:prstGeom prst="rect">
            <a:avLst/>
          </a:prstGeom>
          <a:noFill/>
        </p:spPr>
        <p:txBody>
          <a:bodyPr wrap="square" rtlCol="0">
            <a:spAutoFit/>
          </a:bodyPr>
          <a:lstStyle/>
          <a:p>
            <a:pPr>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管理员配置用户的认证规则、授权结果及授权规则，使得用户认证成功后，获得相应</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，例如配置用户</a:t>
            </a:r>
            <a:r>
              <a:rPr lang="en-US" altLang="zh-CN" sz="1600" u="sng" dirty="0">
                <a:latin typeface="Huawei Sans" panose="020C0503030203020204" pitchFamily="34" charset="0"/>
                <a:ea typeface="方正兰亭黑简体" panose="02000000000000000000" pitchFamily="2" charset="-122"/>
                <a:sym typeface="Huawei Sans" panose="020C0503030203020204" pitchFamily="34" charset="0"/>
              </a:rPr>
              <a:t>test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认证后获得授权</a:t>
            </a:r>
            <a:r>
              <a:rPr lang="en-US" altLang="zh-CN" sz="1600" u="sng" dirty="0">
                <a:latin typeface="Huawei Sans" panose="020C0503030203020204" pitchFamily="34" charset="0"/>
                <a:ea typeface="方正兰亭黑简体" panose="02000000000000000000" pitchFamily="2" charset="-122"/>
                <a:sym typeface="Huawei Sans" panose="020C0503030203020204" pitchFamily="34" charset="0"/>
              </a:rPr>
              <a:t>VLAN10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7" name="圆角矩形 16"/>
          <p:cNvSpPr/>
          <p:nvPr/>
        </p:nvSpPr>
        <p:spPr bwMode="gray">
          <a:xfrm>
            <a:off x="869596" y="2911170"/>
            <a:ext cx="2183550" cy="1122387"/>
          </a:xfrm>
          <a:prstGeom prst="roundRect">
            <a:avLst>
              <a:gd name="adj" fmla="val 5930"/>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“办公”虚拟网络</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1800"/>
              </a:lnSpc>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VLAN10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10.1.10.0/24</a:t>
            </a:r>
          </a:p>
          <a:p>
            <a:pPr>
              <a:lnSpc>
                <a:spcPts val="1800"/>
              </a:lnSpc>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VLAN20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10.1.20.0/24</a:t>
            </a:r>
          </a:p>
        </p:txBody>
      </p:sp>
      <p:sp>
        <p:nvSpPr>
          <p:cNvPr id="18" name="圆角矩形 17"/>
          <p:cNvSpPr/>
          <p:nvPr/>
        </p:nvSpPr>
        <p:spPr bwMode="gray">
          <a:xfrm>
            <a:off x="3268984" y="2894175"/>
            <a:ext cx="2183550" cy="1122387"/>
          </a:xfrm>
          <a:prstGeom prst="roundRect">
            <a:avLst>
              <a:gd name="adj" fmla="val 5930"/>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“研发”虚拟网络</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1800"/>
              </a:lnSpc>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VLAN30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10.1.30.0/24</a:t>
            </a:r>
          </a:p>
          <a:p>
            <a:pPr>
              <a:lnSpc>
                <a:spcPts val="1800"/>
              </a:lnSpc>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VLAN40</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10.1.40.0/24</a:t>
            </a:r>
          </a:p>
        </p:txBody>
      </p:sp>
      <p:sp>
        <p:nvSpPr>
          <p:cNvPr id="39" name="Freeform 159"/>
          <p:cNvSpPr/>
          <p:nvPr/>
        </p:nvSpPr>
        <p:spPr bwMode="gray">
          <a:xfrm flipH="1">
            <a:off x="6713476" y="2249832"/>
            <a:ext cx="4457294" cy="24110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0" name="图片 87" descr="汇聚交换机.png"/>
          <p:cNvPicPr>
            <a:picLocks noChangeAspect="1"/>
          </p:cNvPicPr>
          <p:nvPr/>
        </p:nvPicPr>
        <p:blipFill>
          <a:blip r:embed="rId3"/>
          <a:stretch>
            <a:fillRect/>
          </a:stretch>
        </p:blipFill>
        <p:spPr bwMode="gray">
          <a:xfrm>
            <a:off x="7336524" y="4455204"/>
            <a:ext cx="502820" cy="411400"/>
          </a:xfrm>
          <a:prstGeom prst="rect">
            <a:avLst/>
          </a:prstGeom>
        </p:spPr>
      </p:pic>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524144" y="2178134"/>
            <a:ext cx="1046768" cy="595041"/>
          </a:xfrm>
          <a:prstGeom prst="rect">
            <a:avLst/>
          </a:prstGeom>
        </p:spPr>
      </p:pic>
      <p:pic>
        <p:nvPicPr>
          <p:cNvPr id="42" name="图片 79" descr="PC.png">
            <a:extLst>
              <a:ext uri="{FF2B5EF4-FFF2-40B4-BE49-F238E27FC236}">
                <a16:creationId xmlns:a16="http://schemas.microsoft.com/office/drawing/2014/main" id="{4666702E-823D-4236-BF2F-880359158C83}"/>
              </a:ext>
            </a:extLst>
          </p:cNvPr>
          <p:cNvPicPr>
            <a:picLocks noChangeAspect="1"/>
          </p:cNvPicPr>
          <p:nvPr/>
        </p:nvPicPr>
        <p:blipFill>
          <a:blip r:embed="rId5" cstate="print"/>
          <a:stretch>
            <a:fillRect/>
          </a:stretch>
        </p:blipFill>
        <p:spPr bwMode="gray">
          <a:xfrm>
            <a:off x="7365181" y="5298947"/>
            <a:ext cx="445506" cy="342149"/>
          </a:xfrm>
          <a:prstGeom prst="rect">
            <a:avLst/>
          </a:prstGeom>
        </p:spPr>
      </p:pic>
      <p:cxnSp>
        <p:nvCxnSpPr>
          <p:cNvPr id="43" name="直接箭头连接符 42"/>
          <p:cNvCxnSpPr/>
          <p:nvPr/>
        </p:nvCxnSpPr>
        <p:spPr bwMode="gray">
          <a:xfrm flipV="1">
            <a:off x="7587934" y="4919847"/>
            <a:ext cx="0" cy="379100"/>
          </a:xfrm>
          <a:prstGeom prst="straightConnector1">
            <a:avLst/>
          </a:prstGeom>
          <a:ln w="3810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4" name="椭圆 43"/>
          <p:cNvSpPr>
            <a:spLocks noChangeAspect="1"/>
          </p:cNvSpPr>
          <p:nvPr/>
        </p:nvSpPr>
        <p:spPr bwMode="gray">
          <a:xfrm>
            <a:off x="7766139" y="4968197"/>
            <a:ext cx="252000" cy="252000"/>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8013382" y="4947045"/>
            <a:ext cx="1563667" cy="307777"/>
          </a:xfrm>
          <a:prstGeom prst="rect">
            <a:avLst/>
          </a:prstGeom>
          <a:noFill/>
        </p:spPr>
        <p:txBody>
          <a:bodyPr wrap="square" rtlCol="0">
            <a:spAutoFit/>
          </a:bodyPr>
          <a:lstStyle/>
          <a:p>
            <a:pPr fontAlgn="base"/>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test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接入网络</a:t>
            </a:r>
          </a:p>
        </p:txBody>
      </p:sp>
      <p:cxnSp>
        <p:nvCxnSpPr>
          <p:cNvPr id="46" name="直接箭头连接符 45"/>
          <p:cNvCxnSpPr/>
          <p:nvPr/>
        </p:nvCxnSpPr>
        <p:spPr bwMode="gray">
          <a:xfrm flipV="1">
            <a:off x="7587934" y="2894175"/>
            <a:ext cx="1936210" cy="1422639"/>
          </a:xfrm>
          <a:prstGeom prst="straightConnector1">
            <a:avLst/>
          </a:prstGeom>
          <a:ln w="3810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a:off x="7704667" y="3297717"/>
            <a:ext cx="967551" cy="307777"/>
          </a:xfrm>
          <a:prstGeom prst="rect">
            <a:avLst/>
          </a:prstGeom>
          <a:noFill/>
        </p:spPr>
        <p:txBody>
          <a:bodyPr wrap="squar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认证请求</a:t>
            </a:r>
          </a:p>
        </p:txBody>
      </p:sp>
      <p:cxnSp>
        <p:nvCxnSpPr>
          <p:cNvPr id="49" name="直接箭头连接符 48"/>
          <p:cNvCxnSpPr/>
          <p:nvPr/>
        </p:nvCxnSpPr>
        <p:spPr bwMode="gray">
          <a:xfrm flipV="1">
            <a:off x="7875506" y="2894175"/>
            <a:ext cx="1936210" cy="1422639"/>
          </a:xfrm>
          <a:prstGeom prst="straightConnector1">
            <a:avLst/>
          </a:prstGeom>
          <a:ln w="38100">
            <a:solidFill>
              <a:srgbClr val="56C4D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bwMode="gray">
          <a:xfrm>
            <a:off x="9211207" y="3308324"/>
            <a:ext cx="2044230" cy="523220"/>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用户认证通过，下发授权结果（</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1" name="椭圆 50"/>
          <p:cNvSpPr>
            <a:spLocks noChangeAspect="1"/>
          </p:cNvSpPr>
          <p:nvPr/>
        </p:nvSpPr>
        <p:spPr bwMode="gray">
          <a:xfrm>
            <a:off x="7839344" y="3016276"/>
            <a:ext cx="252000" cy="252000"/>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椭圆 51"/>
          <p:cNvSpPr>
            <a:spLocks noChangeAspect="1"/>
          </p:cNvSpPr>
          <p:nvPr/>
        </p:nvSpPr>
        <p:spPr bwMode="gray">
          <a:xfrm>
            <a:off x="9775554" y="3025418"/>
            <a:ext cx="252000" cy="252000"/>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椭圆 52"/>
          <p:cNvSpPr>
            <a:spLocks noChangeAspect="1"/>
          </p:cNvSpPr>
          <p:nvPr/>
        </p:nvSpPr>
        <p:spPr bwMode="gray">
          <a:xfrm>
            <a:off x="8702037" y="5446114"/>
            <a:ext cx="252000" cy="252000"/>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4</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8957375" y="5409311"/>
            <a:ext cx="2659859" cy="307777"/>
          </a:xfrm>
          <a:prstGeom prst="rect">
            <a:avLst/>
          </a:prstGeom>
          <a:noFill/>
        </p:spPr>
        <p:txBody>
          <a:bodyPr wrap="square" rtlCol="0" anchor="ctr">
            <a:spAutoFit/>
          </a:bodyPr>
          <a:lstStyle/>
          <a:p>
            <a:pPr fontAlgn="base"/>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test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接入“办公”虚拟网络</a:t>
            </a:r>
          </a:p>
        </p:txBody>
      </p:sp>
      <p:sp>
        <p:nvSpPr>
          <p:cNvPr id="27" name="文本框 26"/>
          <p:cNvSpPr txBox="1"/>
          <p:nvPr/>
        </p:nvSpPr>
        <p:spPr bwMode="gray">
          <a:xfrm>
            <a:off x="7337903" y="5599827"/>
            <a:ext cx="485463" cy="30777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test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五边形 29"/>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34" name="燕尾形 33"/>
          <p:cNvSpPr/>
          <p:nvPr/>
        </p:nvSpPr>
        <p:spPr bwMode="gray">
          <a:xfrm>
            <a:off x="9199186"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gray">
          <a:xfrm>
            <a:off x="1002413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315979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bwMode="gray">
          <a:xfrm>
            <a:off x="493973" y="2769068"/>
            <a:ext cx="3327400" cy="2649231"/>
          </a:xfrm>
          <a:prstGeom prst="roundRect">
            <a:avLst>
              <a:gd name="adj" fmla="val 2483"/>
            </a:avLst>
          </a:prstGeom>
          <a:solidFill>
            <a:schemeClr val="bg1">
              <a:lumMod val="95000"/>
            </a:schemeClr>
          </a:solidFill>
          <a:ln>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noAutofit/>
          </a:bodyPr>
          <a:lstStyle/>
          <a:p>
            <a:pPr algn="ctr" fontAlgn="ctr"/>
            <a:endParaRPr lang="en-US" altLang="zh-CN" sz="135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3900582" y="2769068"/>
            <a:ext cx="3327400" cy="2649231"/>
          </a:xfrm>
          <a:prstGeom prst="roundRect">
            <a:avLst>
              <a:gd name="adj" fmla="val 2483"/>
            </a:avLst>
          </a:prstGeom>
          <a:solidFill>
            <a:schemeClr val="bg1">
              <a:lumMod val="95000"/>
            </a:schemeClr>
          </a:solidFill>
          <a:ln>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noAutofit/>
          </a:bodyPr>
          <a:lstStyle/>
          <a:p>
            <a:pPr algn="ctr" fontAlgn="ctr"/>
            <a:endParaRPr lang="en-US" altLang="zh-CN" sz="135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803072" y="3128639"/>
            <a:ext cx="1059208" cy="395102"/>
          </a:xfrm>
          <a:prstGeom prst="roundRect">
            <a:avLst>
              <a:gd name="adj" fmla="val 2483"/>
            </a:avLst>
          </a:prstGeom>
          <a:solidFill>
            <a:schemeClr val="bg1"/>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noAutofit/>
          </a:bodyPr>
          <a:lstStyle/>
          <a:p>
            <a:pPr algn="ctr" fontAlgn="ctr"/>
            <a:endParaRPr lang="en-US" altLang="zh-CN" sz="135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bwMode="gray">
          <a:xfrm>
            <a:off x="803072" y="3874649"/>
            <a:ext cx="1059208" cy="395102"/>
          </a:xfrm>
          <a:prstGeom prst="roundRect">
            <a:avLst>
              <a:gd name="adj" fmla="val 2483"/>
            </a:avLst>
          </a:prstGeom>
          <a:solidFill>
            <a:schemeClr val="bg1"/>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noAutofit/>
          </a:bodyPr>
          <a:lstStyle/>
          <a:p>
            <a:pPr algn="ctr" fontAlgn="ctr"/>
            <a:endParaRPr lang="en-US" altLang="zh-CN" sz="135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32"/>
          <p:cNvSpPr/>
          <p:nvPr/>
        </p:nvSpPr>
        <p:spPr bwMode="gray">
          <a:xfrm>
            <a:off x="803072" y="4687588"/>
            <a:ext cx="1059208" cy="395102"/>
          </a:xfrm>
          <a:prstGeom prst="roundRect">
            <a:avLst>
              <a:gd name="adj" fmla="val 2483"/>
            </a:avLst>
          </a:prstGeom>
          <a:solidFill>
            <a:schemeClr val="bg1"/>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noAutofit/>
          </a:bodyPr>
          <a:lstStyle/>
          <a:p>
            <a:pPr algn="ctr" fontAlgn="ctr"/>
            <a:endParaRPr lang="en-US" altLang="zh-CN" sz="135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圆角矩形 79"/>
          <p:cNvSpPr/>
          <p:nvPr/>
        </p:nvSpPr>
        <p:spPr bwMode="gray">
          <a:xfrm>
            <a:off x="4031303" y="3462875"/>
            <a:ext cx="1059208" cy="395102"/>
          </a:xfrm>
          <a:prstGeom prst="roundRect">
            <a:avLst>
              <a:gd name="adj" fmla="val 2483"/>
            </a:avLst>
          </a:prstGeom>
          <a:solidFill>
            <a:schemeClr val="bg1"/>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noAutofit/>
          </a:bodyPr>
          <a:lstStyle/>
          <a:p>
            <a:pPr algn="ctr" fontAlgn="ctr"/>
            <a:endParaRPr lang="en-US" altLang="zh-CN" sz="135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圆角矩形 87"/>
          <p:cNvSpPr/>
          <p:nvPr/>
        </p:nvSpPr>
        <p:spPr bwMode="gray">
          <a:xfrm>
            <a:off x="4031303" y="4375034"/>
            <a:ext cx="1059208" cy="395102"/>
          </a:xfrm>
          <a:prstGeom prst="roundRect">
            <a:avLst>
              <a:gd name="adj" fmla="val 2483"/>
            </a:avLst>
          </a:prstGeom>
          <a:solidFill>
            <a:schemeClr val="bg1"/>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44" tIns="34272" rIns="68544" bIns="34272" numCol="1" spcCol="0" rtlCol="0" fromWordArt="0" anchor="ctr" anchorCtr="0" forceAA="0" compatLnSpc="1">
            <a:noAutofit/>
          </a:bodyPr>
          <a:lstStyle/>
          <a:p>
            <a:pPr algn="ctr" fontAlgn="ctr"/>
            <a:endParaRPr lang="en-US" altLang="zh-CN" sz="135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sym typeface="Huawei Sans" panose="020C0503030203020204" pitchFamily="34" charset="0"/>
              </a:rPr>
              <a:t>访问策略分层设计</a:t>
            </a:r>
          </a:p>
        </p:txBody>
      </p:sp>
      <p:sp>
        <p:nvSpPr>
          <p:cNvPr id="132" name="文本占位符 131"/>
          <p:cNvSpPr>
            <a:spLocks noGrp="1"/>
          </p:cNvSpPr>
          <p:nvPr>
            <p:ph type="body" sz="quarter" idx="10"/>
          </p:nvPr>
        </p:nvSpPr>
        <p:spPr bwMode="gray">
          <a:xfrm>
            <a:off x="7248656" y="1859215"/>
            <a:ext cx="4500431" cy="3391516"/>
          </a:xfrm>
        </p:spPr>
        <p:txBody>
          <a:bodyPr/>
          <a:lstStyle/>
          <a:p>
            <a:r>
              <a:rPr lang="zh-CN" altLang="en-US" sz="1800" dirty="0"/>
              <a:t>网络访问策略在逻辑上可分为两层：</a:t>
            </a:r>
          </a:p>
          <a:p>
            <a:pPr lvl="1"/>
            <a:r>
              <a:rPr lang="zh-CN" altLang="en-US" sz="1600" dirty="0"/>
              <a:t>第一层是</a:t>
            </a:r>
            <a:r>
              <a:rPr lang="en-US" altLang="zh-CN" sz="1600" dirty="0"/>
              <a:t>VN</a:t>
            </a:r>
            <a:r>
              <a:rPr lang="zh-CN" altLang="en-US" sz="1600" dirty="0"/>
              <a:t>，各个</a:t>
            </a:r>
            <a:r>
              <a:rPr lang="en-US" altLang="zh-CN" sz="1600" dirty="0"/>
              <a:t>VN</a:t>
            </a:r>
            <a:r>
              <a:rPr lang="zh-CN" altLang="en-US" sz="1600" dirty="0"/>
              <a:t>间缺省时不能互访，业务数据相互隔离。解决方案提供了在</a:t>
            </a:r>
            <a:r>
              <a:rPr lang="en-US" altLang="zh-CN" sz="1600" dirty="0"/>
              <a:t>Fabric</a:t>
            </a:r>
            <a:r>
              <a:rPr lang="zh-CN" altLang="en-US" sz="1600" dirty="0"/>
              <a:t>内实现</a:t>
            </a:r>
            <a:r>
              <a:rPr lang="en-US" altLang="zh-CN" sz="1600" dirty="0"/>
              <a:t>VN</a:t>
            </a:r>
            <a:r>
              <a:rPr lang="zh-CN" altLang="en-US" sz="1600" dirty="0"/>
              <a:t>间互访，或通过外部网络互访的能力。</a:t>
            </a:r>
          </a:p>
          <a:p>
            <a:pPr lvl="1"/>
            <a:r>
              <a:rPr lang="zh-CN" altLang="en-US" sz="1600" dirty="0"/>
              <a:t>第二层是</a:t>
            </a:r>
            <a:r>
              <a:rPr lang="en-US" altLang="zh-CN" sz="1600" dirty="0"/>
              <a:t>VN</a:t>
            </a:r>
            <a:r>
              <a:rPr lang="zh-CN" altLang="en-US" sz="1600" dirty="0"/>
              <a:t>内的安全组，通过将用户及网络资源划分为不同的安全组，来实现组间通信流量的管控，由业务随行策略执行点负责执行组安全间访问策略。</a:t>
            </a:r>
          </a:p>
        </p:txBody>
      </p:sp>
      <p:sp>
        <p:nvSpPr>
          <p:cNvPr id="3" name="任意多边形 2"/>
          <p:cNvSpPr/>
          <p:nvPr/>
        </p:nvSpPr>
        <p:spPr bwMode="gray">
          <a:xfrm>
            <a:off x="2879124" y="1553575"/>
            <a:ext cx="2042916" cy="1106396"/>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86" descr="核心交换机.png"/>
          <p:cNvPicPr>
            <a:picLocks noChangeAspect="1"/>
          </p:cNvPicPr>
          <p:nvPr/>
        </p:nvPicPr>
        <p:blipFill>
          <a:blip r:embed="rId3"/>
          <a:stretch>
            <a:fillRect/>
          </a:stretch>
        </p:blipFill>
        <p:spPr bwMode="gray">
          <a:xfrm>
            <a:off x="3719075" y="1585261"/>
            <a:ext cx="312212" cy="255448"/>
          </a:xfrm>
          <a:prstGeom prst="rect">
            <a:avLst/>
          </a:prstGeom>
        </p:spPr>
      </p:pic>
      <p:pic>
        <p:nvPicPr>
          <p:cNvPr id="5" name="图片 87" descr="汇聚交换机.png"/>
          <p:cNvPicPr>
            <a:picLocks noChangeAspect="1"/>
          </p:cNvPicPr>
          <p:nvPr/>
        </p:nvPicPr>
        <p:blipFill>
          <a:blip r:embed="rId4"/>
          <a:stretch>
            <a:fillRect/>
          </a:stretch>
        </p:blipFill>
        <p:spPr bwMode="gray">
          <a:xfrm>
            <a:off x="2791029" y="2222981"/>
            <a:ext cx="312212" cy="255448"/>
          </a:xfrm>
          <a:prstGeom prst="rect">
            <a:avLst/>
          </a:prstGeom>
        </p:spPr>
      </p:pic>
      <p:pic>
        <p:nvPicPr>
          <p:cNvPr id="6"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869930" y="1609118"/>
            <a:ext cx="304816" cy="249395"/>
          </a:xfrm>
          <a:prstGeom prst="rect">
            <a:avLst/>
          </a:prstGeom>
        </p:spPr>
      </p:pic>
      <p:pic>
        <p:nvPicPr>
          <p:cNvPr id="7" name="图片 87" descr="汇聚交换机.png"/>
          <p:cNvPicPr>
            <a:picLocks noChangeAspect="1"/>
          </p:cNvPicPr>
          <p:nvPr/>
        </p:nvPicPr>
        <p:blipFill>
          <a:blip r:embed="rId4"/>
          <a:stretch>
            <a:fillRect/>
          </a:stretch>
        </p:blipFill>
        <p:spPr bwMode="gray">
          <a:xfrm>
            <a:off x="4698172" y="2222981"/>
            <a:ext cx="312212" cy="255448"/>
          </a:xfrm>
          <a:prstGeom prst="rect">
            <a:avLst/>
          </a:prstGeom>
        </p:spPr>
      </p:pic>
      <p:sp>
        <p:nvSpPr>
          <p:cNvPr id="8" name="文本框 7"/>
          <p:cNvSpPr txBox="1"/>
          <p:nvPr/>
        </p:nvSpPr>
        <p:spPr bwMode="gray">
          <a:xfrm>
            <a:off x="3491504" y="1999380"/>
            <a:ext cx="1276355" cy="366126"/>
          </a:xfrm>
          <a:prstGeom prst="rect">
            <a:avLst/>
          </a:prstGeom>
          <a:noFill/>
        </p:spPr>
        <p:txBody>
          <a:bodyPr wrap="square" rtlCol="0">
            <a:noAutofit/>
          </a:bodyPr>
          <a:lstStyle/>
          <a:p>
            <a:pPr fontAlgn="ctr"/>
            <a:r>
              <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Fabric</a:t>
            </a:r>
          </a:p>
        </p:txBody>
      </p:sp>
      <p:pic>
        <p:nvPicPr>
          <p:cNvPr id="11" name="图片 10"/>
          <p:cNvPicPr>
            <a:picLocks noChangeAspect="1"/>
          </p:cNvPicPr>
          <p:nvPr/>
        </p:nvPicPr>
        <p:blipFill>
          <a:blip r:embed="rId6"/>
          <a:stretch>
            <a:fillRect/>
          </a:stretch>
        </p:blipFill>
        <p:spPr bwMode="gray">
          <a:xfrm>
            <a:off x="945682" y="3196375"/>
            <a:ext cx="184741" cy="259631"/>
          </a:xfrm>
          <a:prstGeom prst="rect">
            <a:avLst/>
          </a:prstGeom>
        </p:spPr>
      </p:pic>
      <p:pic>
        <p:nvPicPr>
          <p:cNvPr id="12" name="图片 11"/>
          <p:cNvPicPr>
            <a:picLocks noChangeAspect="1"/>
          </p:cNvPicPr>
          <p:nvPr/>
        </p:nvPicPr>
        <p:blipFill>
          <a:blip r:embed="rId6"/>
          <a:stretch>
            <a:fillRect/>
          </a:stretch>
        </p:blipFill>
        <p:spPr bwMode="gray">
          <a:xfrm>
            <a:off x="1534931" y="3196375"/>
            <a:ext cx="184741" cy="259631"/>
          </a:xfrm>
          <a:prstGeom prst="rect">
            <a:avLst/>
          </a:prstGeom>
        </p:spPr>
      </p:pic>
      <p:grpSp>
        <p:nvGrpSpPr>
          <p:cNvPr id="13" name="Group 3"/>
          <p:cNvGrpSpPr/>
          <p:nvPr/>
        </p:nvGrpSpPr>
        <p:grpSpPr bwMode="gray">
          <a:xfrm>
            <a:off x="1236057" y="3336526"/>
            <a:ext cx="193240" cy="45719"/>
            <a:chOff x="559282" y="6488261"/>
            <a:chExt cx="261965" cy="61979"/>
          </a:xfrm>
          <a:solidFill>
            <a:schemeClr val="bg1">
              <a:lumMod val="50000"/>
            </a:schemeClr>
          </a:solidFill>
        </p:grpSpPr>
        <p:sp>
          <p:nvSpPr>
            <p:cNvPr id="14"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 name="矩形 17"/>
          <p:cNvSpPr/>
          <p:nvPr/>
        </p:nvSpPr>
        <p:spPr bwMode="gray">
          <a:xfrm>
            <a:off x="1012315" y="3507523"/>
            <a:ext cx="640720" cy="274594"/>
          </a:xfrm>
          <a:prstGeom prst="rect">
            <a:avLst/>
          </a:prstGeom>
        </p:spPr>
        <p:txBody>
          <a:bodyPr wrap="square">
            <a:noAutofit/>
          </a:bodyPr>
          <a:lstStyle/>
          <a:p>
            <a:pPr algn="ctr" fontAlgn="ct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HR</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组</a:t>
            </a:r>
          </a:p>
        </p:txBody>
      </p:sp>
      <p:pic>
        <p:nvPicPr>
          <p:cNvPr id="19" name="图片 18"/>
          <p:cNvPicPr>
            <a:picLocks noChangeAspect="1"/>
          </p:cNvPicPr>
          <p:nvPr/>
        </p:nvPicPr>
        <p:blipFill>
          <a:blip r:embed="rId6"/>
          <a:stretch>
            <a:fillRect/>
          </a:stretch>
        </p:blipFill>
        <p:spPr bwMode="gray">
          <a:xfrm>
            <a:off x="945682" y="3942385"/>
            <a:ext cx="184741" cy="259631"/>
          </a:xfrm>
          <a:prstGeom prst="rect">
            <a:avLst/>
          </a:prstGeom>
        </p:spPr>
      </p:pic>
      <p:pic>
        <p:nvPicPr>
          <p:cNvPr id="20" name="图片 19"/>
          <p:cNvPicPr>
            <a:picLocks noChangeAspect="1"/>
          </p:cNvPicPr>
          <p:nvPr/>
        </p:nvPicPr>
        <p:blipFill>
          <a:blip r:embed="rId6"/>
          <a:stretch>
            <a:fillRect/>
          </a:stretch>
        </p:blipFill>
        <p:spPr bwMode="gray">
          <a:xfrm>
            <a:off x="1534931" y="3942385"/>
            <a:ext cx="184741" cy="259631"/>
          </a:xfrm>
          <a:prstGeom prst="rect">
            <a:avLst/>
          </a:prstGeom>
        </p:spPr>
      </p:pic>
      <p:grpSp>
        <p:nvGrpSpPr>
          <p:cNvPr id="21" name="Group 3"/>
          <p:cNvGrpSpPr/>
          <p:nvPr/>
        </p:nvGrpSpPr>
        <p:grpSpPr bwMode="gray">
          <a:xfrm>
            <a:off x="1236057" y="4082536"/>
            <a:ext cx="193240" cy="45719"/>
            <a:chOff x="559282" y="6488261"/>
            <a:chExt cx="261965" cy="61979"/>
          </a:xfrm>
          <a:solidFill>
            <a:schemeClr val="bg1">
              <a:lumMod val="50000"/>
            </a:schemeClr>
          </a:solidFill>
        </p:grpSpPr>
        <p:sp>
          <p:nvSpPr>
            <p:cNvPr id="22"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 name="矩形 25"/>
          <p:cNvSpPr/>
          <p:nvPr/>
        </p:nvSpPr>
        <p:spPr bwMode="gray">
          <a:xfrm>
            <a:off x="985283" y="4253533"/>
            <a:ext cx="694784" cy="274594"/>
          </a:xfrm>
          <a:prstGeom prst="rect">
            <a:avLst/>
          </a:prstGeom>
        </p:spPr>
        <p:txBody>
          <a:bodyPr wrap="square">
            <a:noAutofit/>
          </a:bodyPr>
          <a:lstStyle/>
          <a:p>
            <a:pPr algn="ctr" font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研发组</a:t>
            </a:r>
          </a:p>
        </p:txBody>
      </p:sp>
      <p:pic>
        <p:nvPicPr>
          <p:cNvPr id="27" name="图片 26"/>
          <p:cNvPicPr>
            <a:picLocks noChangeAspect="1"/>
          </p:cNvPicPr>
          <p:nvPr/>
        </p:nvPicPr>
        <p:blipFill>
          <a:blip r:embed="rId6"/>
          <a:stretch>
            <a:fillRect/>
          </a:stretch>
        </p:blipFill>
        <p:spPr bwMode="gray">
          <a:xfrm>
            <a:off x="945682" y="4755324"/>
            <a:ext cx="184741" cy="259631"/>
          </a:xfrm>
          <a:prstGeom prst="rect">
            <a:avLst/>
          </a:prstGeom>
        </p:spPr>
      </p:pic>
      <p:pic>
        <p:nvPicPr>
          <p:cNvPr id="28" name="图片 27"/>
          <p:cNvPicPr>
            <a:picLocks noChangeAspect="1"/>
          </p:cNvPicPr>
          <p:nvPr/>
        </p:nvPicPr>
        <p:blipFill>
          <a:blip r:embed="rId6"/>
          <a:stretch>
            <a:fillRect/>
          </a:stretch>
        </p:blipFill>
        <p:spPr bwMode="gray">
          <a:xfrm>
            <a:off x="1534931" y="4755324"/>
            <a:ext cx="184741" cy="259631"/>
          </a:xfrm>
          <a:prstGeom prst="rect">
            <a:avLst/>
          </a:prstGeom>
        </p:spPr>
      </p:pic>
      <p:grpSp>
        <p:nvGrpSpPr>
          <p:cNvPr id="29" name="Group 3"/>
          <p:cNvGrpSpPr/>
          <p:nvPr/>
        </p:nvGrpSpPr>
        <p:grpSpPr bwMode="gray">
          <a:xfrm>
            <a:off x="1236057" y="4895475"/>
            <a:ext cx="193240" cy="45719"/>
            <a:chOff x="559282" y="6488261"/>
            <a:chExt cx="261965" cy="61979"/>
          </a:xfrm>
          <a:solidFill>
            <a:schemeClr val="bg1">
              <a:lumMod val="50000"/>
            </a:schemeClr>
          </a:solidFill>
        </p:grpSpPr>
        <p:sp>
          <p:nvSpPr>
            <p:cNvPr id="30"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矩形 33"/>
          <p:cNvSpPr/>
          <p:nvPr/>
        </p:nvSpPr>
        <p:spPr bwMode="gray">
          <a:xfrm>
            <a:off x="1012315" y="5066472"/>
            <a:ext cx="640720" cy="274594"/>
          </a:xfrm>
          <a:prstGeom prst="rect">
            <a:avLst/>
          </a:prstGeom>
        </p:spPr>
        <p:txBody>
          <a:bodyPr wrap="square">
            <a:noAutofit/>
          </a:bodyPr>
          <a:lstStyle/>
          <a:p>
            <a:pPr algn="ctr" font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访客组</a:t>
            </a:r>
          </a:p>
        </p:txBody>
      </p:sp>
      <p:grpSp>
        <p:nvGrpSpPr>
          <p:cNvPr id="36" name="Group 6"/>
          <p:cNvGrpSpPr/>
          <p:nvPr/>
        </p:nvGrpSpPr>
        <p:grpSpPr bwMode="gray">
          <a:xfrm>
            <a:off x="2832092" y="3177293"/>
            <a:ext cx="863604" cy="422278"/>
            <a:chOff x="7932442" y="4061890"/>
            <a:chExt cx="863604" cy="422278"/>
          </a:xfrm>
        </p:grpSpPr>
        <p:sp>
          <p:nvSpPr>
            <p:cNvPr id="37" name="Freeform 200"/>
            <p:cNvSpPr/>
            <p:nvPr/>
          </p:nvSpPr>
          <p:spPr bwMode="gray">
            <a:xfrm>
              <a:off x="8004495" y="4061890"/>
              <a:ext cx="744866" cy="422278"/>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2"/>
            <p:cNvSpPr txBox="1"/>
            <p:nvPr/>
          </p:nvSpPr>
          <p:spPr bwMode="gray">
            <a:xfrm>
              <a:off x="7932442" y="4187804"/>
              <a:ext cx="863604" cy="274594"/>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2" name="Freeform 9"/>
          <p:cNvSpPr>
            <a:spLocks noEditPoints="1"/>
          </p:cNvSpPr>
          <p:nvPr/>
        </p:nvSpPr>
        <p:spPr bwMode="gray">
          <a:xfrm>
            <a:off x="3141545" y="4499668"/>
            <a:ext cx="244698" cy="377881"/>
          </a:xfrm>
          <a:custGeom>
            <a:avLst/>
            <a:gdLst/>
            <a:ahLst/>
            <a:cxnLst>
              <a:cxn ang="0">
                <a:pos x="396" y="0"/>
              </a:cxn>
              <a:cxn ang="0">
                <a:pos x="0" y="176"/>
              </a:cxn>
              <a:cxn ang="0">
                <a:pos x="0" y="828"/>
              </a:cxn>
              <a:cxn ang="0">
                <a:pos x="312" y="960"/>
              </a:cxn>
              <a:cxn ang="0">
                <a:pos x="660" y="752"/>
              </a:cxn>
              <a:cxn ang="0">
                <a:pos x="660" y="100"/>
              </a:cxn>
              <a:cxn ang="0">
                <a:pos x="396" y="0"/>
              </a:cxn>
              <a:cxn ang="0">
                <a:pos x="159" y="820"/>
              </a:cxn>
              <a:cxn ang="0">
                <a:pos x="142" y="803"/>
              </a:cxn>
              <a:cxn ang="0">
                <a:pos x="159" y="786"/>
              </a:cxn>
              <a:cxn ang="0">
                <a:pos x="176" y="803"/>
              </a:cxn>
              <a:cxn ang="0">
                <a:pos x="159" y="820"/>
              </a:cxn>
              <a:cxn ang="0">
                <a:pos x="252" y="778"/>
              </a:cxn>
              <a:cxn ang="0">
                <a:pos x="64" y="698"/>
              </a:cxn>
              <a:cxn ang="0">
                <a:pos x="68" y="630"/>
              </a:cxn>
              <a:cxn ang="0">
                <a:pos x="256" y="706"/>
              </a:cxn>
              <a:cxn ang="0">
                <a:pos x="252" y="778"/>
              </a:cxn>
              <a:cxn ang="0">
                <a:pos x="288" y="636"/>
              </a:cxn>
              <a:cxn ang="0">
                <a:pos x="20" y="530"/>
              </a:cxn>
              <a:cxn ang="0">
                <a:pos x="20" y="464"/>
              </a:cxn>
              <a:cxn ang="0">
                <a:pos x="288" y="568"/>
              </a:cxn>
              <a:cxn ang="0">
                <a:pos x="288" y="636"/>
              </a:cxn>
              <a:cxn ang="0">
                <a:pos x="288" y="550"/>
              </a:cxn>
              <a:cxn ang="0">
                <a:pos x="20" y="448"/>
              </a:cxn>
              <a:cxn ang="0">
                <a:pos x="20" y="392"/>
              </a:cxn>
              <a:cxn ang="0">
                <a:pos x="288" y="490"/>
              </a:cxn>
              <a:cxn ang="0">
                <a:pos x="288" y="550"/>
              </a:cxn>
              <a:cxn ang="0">
                <a:pos x="288" y="471"/>
              </a:cxn>
              <a:cxn ang="0">
                <a:pos x="20" y="357"/>
              </a:cxn>
              <a:cxn ang="0">
                <a:pos x="20" y="306"/>
              </a:cxn>
              <a:cxn ang="0">
                <a:pos x="288" y="408"/>
              </a:cxn>
              <a:cxn ang="0">
                <a:pos x="288" y="471"/>
              </a:cxn>
              <a:cxn ang="0">
                <a:pos x="288" y="392"/>
              </a:cxn>
              <a:cxn ang="0">
                <a:pos x="20" y="296"/>
              </a:cxn>
              <a:cxn ang="0">
                <a:pos x="20" y="220"/>
              </a:cxn>
              <a:cxn ang="0">
                <a:pos x="288" y="328"/>
              </a:cxn>
              <a:cxn ang="0">
                <a:pos x="288" y="392"/>
              </a:cxn>
            </a:cxnLst>
            <a:rect l="0" t="0" r="r" b="b"/>
            <a:pathLst>
              <a:path w="660" h="960">
                <a:moveTo>
                  <a:pt x="396" y="0"/>
                </a:moveTo>
                <a:cubicBezTo>
                  <a:pt x="0" y="176"/>
                  <a:pt x="0" y="176"/>
                  <a:pt x="0" y="176"/>
                </a:cubicBezTo>
                <a:cubicBezTo>
                  <a:pt x="0" y="828"/>
                  <a:pt x="0" y="828"/>
                  <a:pt x="0" y="828"/>
                </a:cubicBezTo>
                <a:cubicBezTo>
                  <a:pt x="312" y="960"/>
                  <a:pt x="312" y="960"/>
                  <a:pt x="312" y="960"/>
                </a:cubicBezTo>
                <a:cubicBezTo>
                  <a:pt x="660" y="752"/>
                  <a:pt x="660" y="752"/>
                  <a:pt x="660" y="752"/>
                </a:cubicBezTo>
                <a:cubicBezTo>
                  <a:pt x="660" y="100"/>
                  <a:pt x="660" y="100"/>
                  <a:pt x="660" y="100"/>
                </a:cubicBezTo>
                <a:lnTo>
                  <a:pt x="396" y="0"/>
                </a:lnTo>
                <a:close/>
                <a:moveTo>
                  <a:pt x="159" y="820"/>
                </a:moveTo>
                <a:cubicBezTo>
                  <a:pt x="150" y="820"/>
                  <a:pt x="142" y="813"/>
                  <a:pt x="142" y="803"/>
                </a:cubicBezTo>
                <a:cubicBezTo>
                  <a:pt x="142" y="794"/>
                  <a:pt x="150" y="786"/>
                  <a:pt x="159" y="786"/>
                </a:cubicBezTo>
                <a:cubicBezTo>
                  <a:pt x="168" y="786"/>
                  <a:pt x="176" y="794"/>
                  <a:pt x="176" y="803"/>
                </a:cubicBezTo>
                <a:cubicBezTo>
                  <a:pt x="176" y="813"/>
                  <a:pt x="168" y="820"/>
                  <a:pt x="159" y="820"/>
                </a:cubicBezTo>
                <a:close/>
                <a:moveTo>
                  <a:pt x="252" y="778"/>
                </a:moveTo>
                <a:cubicBezTo>
                  <a:pt x="64" y="698"/>
                  <a:pt x="64" y="698"/>
                  <a:pt x="64" y="698"/>
                </a:cubicBezTo>
                <a:cubicBezTo>
                  <a:pt x="68" y="630"/>
                  <a:pt x="68" y="630"/>
                  <a:pt x="68" y="630"/>
                </a:cubicBezTo>
                <a:cubicBezTo>
                  <a:pt x="256" y="706"/>
                  <a:pt x="256" y="706"/>
                  <a:pt x="256" y="706"/>
                </a:cubicBezTo>
                <a:lnTo>
                  <a:pt x="252" y="778"/>
                </a:lnTo>
                <a:close/>
                <a:moveTo>
                  <a:pt x="288" y="636"/>
                </a:moveTo>
                <a:cubicBezTo>
                  <a:pt x="20" y="530"/>
                  <a:pt x="20" y="530"/>
                  <a:pt x="20" y="530"/>
                </a:cubicBezTo>
                <a:cubicBezTo>
                  <a:pt x="20" y="464"/>
                  <a:pt x="20" y="464"/>
                  <a:pt x="20" y="464"/>
                </a:cubicBezTo>
                <a:cubicBezTo>
                  <a:pt x="288" y="568"/>
                  <a:pt x="288" y="568"/>
                  <a:pt x="288" y="568"/>
                </a:cubicBezTo>
                <a:lnTo>
                  <a:pt x="288" y="636"/>
                </a:lnTo>
                <a:close/>
                <a:moveTo>
                  <a:pt x="288" y="550"/>
                </a:moveTo>
                <a:cubicBezTo>
                  <a:pt x="20" y="448"/>
                  <a:pt x="20" y="448"/>
                  <a:pt x="20" y="448"/>
                </a:cubicBezTo>
                <a:cubicBezTo>
                  <a:pt x="20" y="392"/>
                  <a:pt x="20" y="392"/>
                  <a:pt x="20" y="392"/>
                </a:cubicBezTo>
                <a:cubicBezTo>
                  <a:pt x="288" y="490"/>
                  <a:pt x="288" y="490"/>
                  <a:pt x="288" y="490"/>
                </a:cubicBezTo>
                <a:lnTo>
                  <a:pt x="288" y="550"/>
                </a:lnTo>
                <a:close/>
                <a:moveTo>
                  <a:pt x="288" y="471"/>
                </a:moveTo>
                <a:cubicBezTo>
                  <a:pt x="20" y="357"/>
                  <a:pt x="20" y="357"/>
                  <a:pt x="20" y="357"/>
                </a:cubicBezTo>
                <a:cubicBezTo>
                  <a:pt x="20" y="306"/>
                  <a:pt x="20" y="306"/>
                  <a:pt x="20" y="306"/>
                </a:cubicBezTo>
                <a:cubicBezTo>
                  <a:pt x="288" y="408"/>
                  <a:pt x="288" y="408"/>
                  <a:pt x="288" y="408"/>
                </a:cubicBezTo>
                <a:lnTo>
                  <a:pt x="288" y="471"/>
                </a:lnTo>
                <a:close/>
                <a:moveTo>
                  <a:pt x="288" y="392"/>
                </a:moveTo>
                <a:cubicBezTo>
                  <a:pt x="20" y="296"/>
                  <a:pt x="20" y="296"/>
                  <a:pt x="20" y="296"/>
                </a:cubicBezTo>
                <a:cubicBezTo>
                  <a:pt x="20" y="220"/>
                  <a:pt x="20" y="220"/>
                  <a:pt x="20" y="220"/>
                </a:cubicBezTo>
                <a:cubicBezTo>
                  <a:pt x="288" y="328"/>
                  <a:pt x="288" y="328"/>
                  <a:pt x="288" y="328"/>
                </a:cubicBezTo>
                <a:lnTo>
                  <a:pt x="288" y="392"/>
                </a:lnTo>
                <a:close/>
              </a:path>
            </a:pathLst>
          </a:custGeom>
          <a:solidFill>
            <a:schemeClr val="bg1">
              <a:lumMod val="50000"/>
            </a:schemeClr>
          </a:solidFill>
          <a:ln w="9525">
            <a:noFill/>
            <a:round/>
          </a:ln>
        </p:spPr>
        <p:txBody>
          <a:bodyPr vert="horz" wrap="square" lIns="121813" tIns="60907" rIns="121813" bIns="60907" numCol="1" anchor="t" anchorCtr="0" compatLnSpc="1">
            <a:noAutofit/>
          </a:bodyPr>
          <a:lstStyle/>
          <a:p>
            <a:pPr fontAlgn="ctr"/>
            <a:endParaRPr lang="en-US"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2829631" y="4858067"/>
            <a:ext cx="868527" cy="462769"/>
          </a:xfrm>
          <a:prstGeom prst="rect">
            <a:avLst/>
          </a:prstGeom>
        </p:spPr>
        <p:txBody>
          <a:bodyPr wrap="square">
            <a:noAutofit/>
          </a:bodyPr>
          <a:lstStyle/>
          <a:p>
            <a:pPr algn="ctr" fontAlgn="ct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服务器资源组</a:t>
            </a:r>
          </a:p>
        </p:txBody>
      </p:sp>
      <p:sp>
        <p:nvSpPr>
          <p:cNvPr id="44" name="矩形 43"/>
          <p:cNvSpPr/>
          <p:nvPr/>
        </p:nvSpPr>
        <p:spPr bwMode="ltGray">
          <a:xfrm>
            <a:off x="505496" y="2769068"/>
            <a:ext cx="891699" cy="305105"/>
          </a:xfrm>
          <a:prstGeom prst="rect">
            <a:avLst/>
          </a:prstGeom>
          <a:noFill/>
          <a:ln>
            <a:noFill/>
          </a:ln>
        </p:spPr>
        <p:txBody>
          <a:bodyPr wrap="square">
            <a:noAutofit/>
          </a:bodyPr>
          <a:lstStyle/>
          <a:p>
            <a:pPr algn="ctr" fontAlgn="ct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办公</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a:t>
            </a:r>
          </a:p>
        </p:txBody>
      </p:sp>
      <p:sp>
        <p:nvSpPr>
          <p:cNvPr id="45" name="矩形 44"/>
          <p:cNvSpPr/>
          <p:nvPr/>
        </p:nvSpPr>
        <p:spPr bwMode="ltGray">
          <a:xfrm>
            <a:off x="6420099" y="2797463"/>
            <a:ext cx="807883" cy="305105"/>
          </a:xfrm>
          <a:prstGeom prst="rect">
            <a:avLst/>
          </a:prstGeom>
          <a:noFill/>
          <a:ln>
            <a:noFill/>
          </a:ln>
        </p:spPr>
        <p:txBody>
          <a:bodyPr wrap="square">
            <a:noAutofit/>
          </a:bodyPr>
          <a:lstStyle/>
          <a:p>
            <a:pPr algn="ctr" fontAlgn="ct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科研</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a:t>
            </a:r>
          </a:p>
        </p:txBody>
      </p:sp>
      <p:sp>
        <p:nvSpPr>
          <p:cNvPr id="46" name="任意多边形 45"/>
          <p:cNvSpPr/>
          <p:nvPr/>
        </p:nvSpPr>
        <p:spPr bwMode="gray">
          <a:xfrm>
            <a:off x="2723232" y="2541431"/>
            <a:ext cx="2289038" cy="325320"/>
          </a:xfrm>
          <a:custGeom>
            <a:avLst/>
            <a:gdLst>
              <a:gd name="connsiteX0" fmla="*/ 0 w 14514"/>
              <a:gd name="connsiteY0" fmla="*/ 726086 h 756084"/>
              <a:gd name="connsiteX1" fmla="*/ 14514 w 14514"/>
              <a:gd name="connsiteY1" fmla="*/ 756084 h 756084"/>
            </a:gdLst>
            <a:ahLst/>
            <a:cxnLst>
              <a:cxn ang="0">
                <a:pos x="connsiteX0" y="connsiteY0"/>
              </a:cxn>
              <a:cxn ang="0">
                <a:pos x="connsiteX1" y="connsiteY1"/>
              </a:cxn>
            </a:cxnLst>
            <a:rect l="l" t="t" r="r" b="b"/>
            <a:pathLst>
              <a:path w="14514" h="756084">
                <a:moveTo>
                  <a:pt x="0" y="726086"/>
                </a:moveTo>
                <a:cubicBezTo>
                  <a:pt x="5509" y="-340544"/>
                  <a:pt x="10255" y="-147217"/>
                  <a:pt x="14514" y="756084"/>
                </a:cubicBezTo>
              </a:path>
            </a:pathLst>
          </a:custGeom>
          <a:noFill/>
          <a:ln w="63500">
            <a:solidFill>
              <a:srgbClr val="C7000B"/>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7" name="组合 28"/>
          <p:cNvGrpSpPr/>
          <p:nvPr/>
        </p:nvGrpSpPr>
        <p:grpSpPr bwMode="gray">
          <a:xfrm>
            <a:off x="3759198" y="2444616"/>
            <a:ext cx="217106" cy="217106"/>
            <a:chOff x="5076056" y="3356992"/>
            <a:chExt cx="436268" cy="436268"/>
          </a:xfrm>
        </p:grpSpPr>
        <p:sp>
          <p:nvSpPr>
            <p:cNvPr id="48"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784225" rtl="0" eaLnBrk="0" fontAlgn="ctr" latinLnBrk="0" hangingPunct="0">
                <a:lnSpc>
                  <a:spcPct val="100000"/>
                </a:lnSpc>
                <a:spcBef>
                  <a:spcPct val="0"/>
                </a:spcBef>
                <a:spcAft>
                  <a:spcPct val="0"/>
                </a:spcAft>
                <a:buClrTx/>
                <a:buSzTx/>
                <a:buFontTx/>
                <a:buNone/>
              </a:pPr>
              <a:endParaRPr kumimoji="0" lang="en-US" altLang="zh-CN" sz="21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禁止符 23"/>
            <p:cNvSpPr/>
            <p:nvPr/>
          </p:nvSpPr>
          <p:spPr bwMode="gray">
            <a:xfrm>
              <a:off x="5076056" y="3356992"/>
              <a:ext cx="436268" cy="436268"/>
            </a:xfrm>
            <a:prstGeom prst="noSmoking">
              <a:avLst>
                <a:gd name="adj" fmla="val 1547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0" name="直接箭头连接符 49"/>
          <p:cNvCxnSpPr/>
          <p:nvPr/>
        </p:nvCxnSpPr>
        <p:spPr bwMode="gray">
          <a:xfrm>
            <a:off x="1963626" y="3442155"/>
            <a:ext cx="897467"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bwMode="gray">
          <a:xfrm>
            <a:off x="1963626" y="3484928"/>
            <a:ext cx="897467" cy="581807"/>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bwMode="gray">
          <a:xfrm>
            <a:off x="1963626" y="4137491"/>
            <a:ext cx="897467"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bwMode="gray">
          <a:xfrm>
            <a:off x="1963626" y="3585888"/>
            <a:ext cx="863017" cy="1240053"/>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endCxn id="37" idx="15"/>
          </p:cNvCxnSpPr>
          <p:nvPr/>
        </p:nvCxnSpPr>
        <p:spPr bwMode="gray">
          <a:xfrm flipV="1">
            <a:off x="1925918" y="3489307"/>
            <a:ext cx="978227" cy="590822"/>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bwMode="gray">
          <a:xfrm flipV="1">
            <a:off x="1945751" y="3574735"/>
            <a:ext cx="960101" cy="1334078"/>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bwMode="gray">
          <a:xfrm>
            <a:off x="1963626" y="4229883"/>
            <a:ext cx="840979" cy="688451"/>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bwMode="gray">
          <a:xfrm flipV="1">
            <a:off x="1945751" y="4253091"/>
            <a:ext cx="901627" cy="73225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60" name="组合 28"/>
          <p:cNvGrpSpPr/>
          <p:nvPr/>
        </p:nvGrpSpPr>
        <p:grpSpPr bwMode="gray">
          <a:xfrm>
            <a:off x="2229093" y="4661055"/>
            <a:ext cx="114976" cy="114976"/>
            <a:chOff x="5076056" y="3356992"/>
            <a:chExt cx="436268" cy="436268"/>
          </a:xfrm>
        </p:grpSpPr>
        <p:sp>
          <p:nvSpPr>
            <p:cNvPr id="61"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784225" rtl="0" eaLnBrk="0" fontAlgn="ctr" latinLnBrk="0" hangingPunct="0">
                <a:lnSpc>
                  <a:spcPct val="100000"/>
                </a:lnSpc>
                <a:spcBef>
                  <a:spcPct val="0"/>
                </a:spcBef>
                <a:spcAft>
                  <a:spcPct val="0"/>
                </a:spcAft>
                <a:buClrTx/>
                <a:buSzTx/>
                <a:buFontTx/>
                <a:buNone/>
              </a:pPr>
              <a:endParaRPr kumimoji="0" lang="en-US" altLang="zh-CN" sz="21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3" name="直接箭头连接符 62"/>
          <p:cNvCxnSpPr/>
          <p:nvPr/>
        </p:nvCxnSpPr>
        <p:spPr bwMode="gray">
          <a:xfrm>
            <a:off x="1963626" y="5038609"/>
            <a:ext cx="897467"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7" name="任意多边形 66"/>
          <p:cNvSpPr/>
          <p:nvPr/>
        </p:nvSpPr>
        <p:spPr bwMode="gray">
          <a:xfrm rot="16200000">
            <a:off x="485811" y="4406078"/>
            <a:ext cx="390852" cy="160200"/>
          </a:xfrm>
          <a:custGeom>
            <a:avLst/>
            <a:gdLst>
              <a:gd name="connsiteX0" fmla="*/ 0 w 14514"/>
              <a:gd name="connsiteY0" fmla="*/ 726086 h 756084"/>
              <a:gd name="connsiteX1" fmla="*/ 14514 w 14514"/>
              <a:gd name="connsiteY1" fmla="*/ 756084 h 756084"/>
            </a:gdLst>
            <a:ahLst/>
            <a:cxnLst>
              <a:cxn ang="0">
                <a:pos x="connsiteX0" y="connsiteY0"/>
              </a:cxn>
              <a:cxn ang="0">
                <a:pos x="connsiteX1" y="connsiteY1"/>
              </a:cxn>
            </a:cxnLst>
            <a:rect l="l" t="t" r="r" b="b"/>
            <a:pathLst>
              <a:path w="14514" h="756084">
                <a:moveTo>
                  <a:pt x="0" y="726086"/>
                </a:moveTo>
                <a:cubicBezTo>
                  <a:pt x="5509" y="-340544"/>
                  <a:pt x="10255" y="-147217"/>
                  <a:pt x="14514" y="756084"/>
                </a:cubicBezTo>
              </a:path>
            </a:pathLst>
          </a:cu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8" name="组合 28"/>
          <p:cNvGrpSpPr/>
          <p:nvPr/>
        </p:nvGrpSpPr>
        <p:grpSpPr bwMode="gray">
          <a:xfrm>
            <a:off x="542663" y="4415556"/>
            <a:ext cx="114976" cy="114976"/>
            <a:chOff x="5076056" y="3356992"/>
            <a:chExt cx="436268" cy="436268"/>
          </a:xfrm>
        </p:grpSpPr>
        <p:sp>
          <p:nvSpPr>
            <p:cNvPr id="69"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784225" rtl="0" eaLnBrk="0" fontAlgn="ctr" latinLnBrk="0" hangingPunct="0">
                <a:lnSpc>
                  <a:spcPct val="100000"/>
                </a:lnSpc>
                <a:spcBef>
                  <a:spcPct val="0"/>
                </a:spcBef>
                <a:spcAft>
                  <a:spcPct val="0"/>
                </a:spcAft>
                <a:buClrTx/>
                <a:buSzTx/>
                <a:buFontTx/>
                <a:buNone/>
              </a:pPr>
              <a:endParaRPr kumimoji="0" lang="en-US" altLang="zh-CN" sz="21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74" name="图片 73"/>
          <p:cNvPicPr>
            <a:picLocks noChangeAspect="1"/>
          </p:cNvPicPr>
          <p:nvPr/>
        </p:nvPicPr>
        <p:blipFill>
          <a:blip r:embed="rId6"/>
          <a:stretch>
            <a:fillRect/>
          </a:stretch>
        </p:blipFill>
        <p:spPr bwMode="gray">
          <a:xfrm>
            <a:off x="4173913" y="3530611"/>
            <a:ext cx="184741" cy="259631"/>
          </a:xfrm>
          <a:prstGeom prst="rect">
            <a:avLst/>
          </a:prstGeom>
        </p:spPr>
      </p:pic>
      <p:pic>
        <p:nvPicPr>
          <p:cNvPr id="75" name="图片 74"/>
          <p:cNvPicPr>
            <a:picLocks noChangeAspect="1"/>
          </p:cNvPicPr>
          <p:nvPr/>
        </p:nvPicPr>
        <p:blipFill>
          <a:blip r:embed="rId6"/>
          <a:stretch>
            <a:fillRect/>
          </a:stretch>
        </p:blipFill>
        <p:spPr bwMode="gray">
          <a:xfrm>
            <a:off x="4763162" y="3530611"/>
            <a:ext cx="184741" cy="259631"/>
          </a:xfrm>
          <a:prstGeom prst="rect">
            <a:avLst/>
          </a:prstGeom>
        </p:spPr>
      </p:pic>
      <p:grpSp>
        <p:nvGrpSpPr>
          <p:cNvPr id="76" name="Group 3"/>
          <p:cNvGrpSpPr/>
          <p:nvPr/>
        </p:nvGrpSpPr>
        <p:grpSpPr bwMode="gray">
          <a:xfrm>
            <a:off x="4464288" y="3670762"/>
            <a:ext cx="193240" cy="45719"/>
            <a:chOff x="559282" y="6488261"/>
            <a:chExt cx="261965" cy="61979"/>
          </a:xfrm>
          <a:solidFill>
            <a:schemeClr val="bg1">
              <a:lumMod val="50000"/>
            </a:schemeClr>
          </a:solidFill>
        </p:grpSpPr>
        <p:sp>
          <p:nvSpPr>
            <p:cNvPr id="77"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1" name="矩形 80"/>
          <p:cNvSpPr/>
          <p:nvPr/>
        </p:nvSpPr>
        <p:spPr bwMode="gray">
          <a:xfrm>
            <a:off x="4149545" y="3849868"/>
            <a:ext cx="816321" cy="274594"/>
          </a:xfrm>
          <a:prstGeom prst="rect">
            <a:avLst/>
          </a:prstGeom>
        </p:spPr>
        <p:txBody>
          <a:bodyPr wrap="square">
            <a:noAutofit/>
          </a:bodyPr>
          <a:lstStyle/>
          <a:p>
            <a:pPr algn="ctr" font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研发组</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2" name="图片 81"/>
          <p:cNvPicPr>
            <a:picLocks noChangeAspect="1"/>
          </p:cNvPicPr>
          <p:nvPr/>
        </p:nvPicPr>
        <p:blipFill>
          <a:blip r:embed="rId6"/>
          <a:stretch>
            <a:fillRect/>
          </a:stretch>
        </p:blipFill>
        <p:spPr bwMode="gray">
          <a:xfrm>
            <a:off x="4173913" y="4442770"/>
            <a:ext cx="184741" cy="259631"/>
          </a:xfrm>
          <a:prstGeom prst="rect">
            <a:avLst/>
          </a:prstGeom>
        </p:spPr>
      </p:pic>
      <p:pic>
        <p:nvPicPr>
          <p:cNvPr id="83" name="图片 82"/>
          <p:cNvPicPr>
            <a:picLocks noChangeAspect="1"/>
          </p:cNvPicPr>
          <p:nvPr/>
        </p:nvPicPr>
        <p:blipFill>
          <a:blip r:embed="rId6"/>
          <a:stretch>
            <a:fillRect/>
          </a:stretch>
        </p:blipFill>
        <p:spPr bwMode="gray">
          <a:xfrm>
            <a:off x="4763162" y="4442770"/>
            <a:ext cx="184741" cy="259631"/>
          </a:xfrm>
          <a:prstGeom prst="rect">
            <a:avLst/>
          </a:prstGeom>
        </p:spPr>
      </p:pic>
      <p:grpSp>
        <p:nvGrpSpPr>
          <p:cNvPr id="84" name="Group 3"/>
          <p:cNvGrpSpPr/>
          <p:nvPr/>
        </p:nvGrpSpPr>
        <p:grpSpPr bwMode="gray">
          <a:xfrm>
            <a:off x="4464288" y="4582921"/>
            <a:ext cx="193240" cy="45719"/>
            <a:chOff x="559282" y="6488261"/>
            <a:chExt cx="261965" cy="61979"/>
          </a:xfrm>
          <a:solidFill>
            <a:schemeClr val="bg1">
              <a:lumMod val="50000"/>
            </a:schemeClr>
          </a:solidFill>
        </p:grpSpPr>
        <p:sp>
          <p:nvSpPr>
            <p:cNvPr id="85"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90" name="直接箭头连接符 89"/>
          <p:cNvCxnSpPr/>
          <p:nvPr/>
        </p:nvCxnSpPr>
        <p:spPr bwMode="gray">
          <a:xfrm>
            <a:off x="5135319" y="3664524"/>
            <a:ext cx="1050778"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Freeform 9"/>
          <p:cNvSpPr>
            <a:spLocks noEditPoints="1"/>
          </p:cNvSpPr>
          <p:nvPr/>
        </p:nvSpPr>
        <p:spPr bwMode="gray">
          <a:xfrm>
            <a:off x="6497447" y="4499668"/>
            <a:ext cx="244698" cy="377881"/>
          </a:xfrm>
          <a:custGeom>
            <a:avLst/>
            <a:gdLst/>
            <a:ahLst/>
            <a:cxnLst>
              <a:cxn ang="0">
                <a:pos x="396" y="0"/>
              </a:cxn>
              <a:cxn ang="0">
                <a:pos x="0" y="176"/>
              </a:cxn>
              <a:cxn ang="0">
                <a:pos x="0" y="828"/>
              </a:cxn>
              <a:cxn ang="0">
                <a:pos x="312" y="960"/>
              </a:cxn>
              <a:cxn ang="0">
                <a:pos x="660" y="752"/>
              </a:cxn>
              <a:cxn ang="0">
                <a:pos x="660" y="100"/>
              </a:cxn>
              <a:cxn ang="0">
                <a:pos x="396" y="0"/>
              </a:cxn>
              <a:cxn ang="0">
                <a:pos x="159" y="820"/>
              </a:cxn>
              <a:cxn ang="0">
                <a:pos x="142" y="803"/>
              </a:cxn>
              <a:cxn ang="0">
                <a:pos x="159" y="786"/>
              </a:cxn>
              <a:cxn ang="0">
                <a:pos x="176" y="803"/>
              </a:cxn>
              <a:cxn ang="0">
                <a:pos x="159" y="820"/>
              </a:cxn>
              <a:cxn ang="0">
                <a:pos x="252" y="778"/>
              </a:cxn>
              <a:cxn ang="0">
                <a:pos x="64" y="698"/>
              </a:cxn>
              <a:cxn ang="0">
                <a:pos x="68" y="630"/>
              </a:cxn>
              <a:cxn ang="0">
                <a:pos x="256" y="706"/>
              </a:cxn>
              <a:cxn ang="0">
                <a:pos x="252" y="778"/>
              </a:cxn>
              <a:cxn ang="0">
                <a:pos x="288" y="636"/>
              </a:cxn>
              <a:cxn ang="0">
                <a:pos x="20" y="530"/>
              </a:cxn>
              <a:cxn ang="0">
                <a:pos x="20" y="464"/>
              </a:cxn>
              <a:cxn ang="0">
                <a:pos x="288" y="568"/>
              </a:cxn>
              <a:cxn ang="0">
                <a:pos x="288" y="636"/>
              </a:cxn>
              <a:cxn ang="0">
                <a:pos x="288" y="550"/>
              </a:cxn>
              <a:cxn ang="0">
                <a:pos x="20" y="448"/>
              </a:cxn>
              <a:cxn ang="0">
                <a:pos x="20" y="392"/>
              </a:cxn>
              <a:cxn ang="0">
                <a:pos x="288" y="490"/>
              </a:cxn>
              <a:cxn ang="0">
                <a:pos x="288" y="550"/>
              </a:cxn>
              <a:cxn ang="0">
                <a:pos x="288" y="471"/>
              </a:cxn>
              <a:cxn ang="0">
                <a:pos x="20" y="357"/>
              </a:cxn>
              <a:cxn ang="0">
                <a:pos x="20" y="306"/>
              </a:cxn>
              <a:cxn ang="0">
                <a:pos x="288" y="408"/>
              </a:cxn>
              <a:cxn ang="0">
                <a:pos x="288" y="471"/>
              </a:cxn>
              <a:cxn ang="0">
                <a:pos x="288" y="392"/>
              </a:cxn>
              <a:cxn ang="0">
                <a:pos x="20" y="296"/>
              </a:cxn>
              <a:cxn ang="0">
                <a:pos x="20" y="220"/>
              </a:cxn>
              <a:cxn ang="0">
                <a:pos x="288" y="328"/>
              </a:cxn>
              <a:cxn ang="0">
                <a:pos x="288" y="392"/>
              </a:cxn>
            </a:cxnLst>
            <a:rect l="0" t="0" r="r" b="b"/>
            <a:pathLst>
              <a:path w="660" h="960">
                <a:moveTo>
                  <a:pt x="396" y="0"/>
                </a:moveTo>
                <a:cubicBezTo>
                  <a:pt x="0" y="176"/>
                  <a:pt x="0" y="176"/>
                  <a:pt x="0" y="176"/>
                </a:cubicBezTo>
                <a:cubicBezTo>
                  <a:pt x="0" y="828"/>
                  <a:pt x="0" y="828"/>
                  <a:pt x="0" y="828"/>
                </a:cubicBezTo>
                <a:cubicBezTo>
                  <a:pt x="312" y="960"/>
                  <a:pt x="312" y="960"/>
                  <a:pt x="312" y="960"/>
                </a:cubicBezTo>
                <a:cubicBezTo>
                  <a:pt x="660" y="752"/>
                  <a:pt x="660" y="752"/>
                  <a:pt x="660" y="752"/>
                </a:cubicBezTo>
                <a:cubicBezTo>
                  <a:pt x="660" y="100"/>
                  <a:pt x="660" y="100"/>
                  <a:pt x="660" y="100"/>
                </a:cubicBezTo>
                <a:lnTo>
                  <a:pt x="396" y="0"/>
                </a:lnTo>
                <a:close/>
                <a:moveTo>
                  <a:pt x="159" y="820"/>
                </a:moveTo>
                <a:cubicBezTo>
                  <a:pt x="150" y="820"/>
                  <a:pt x="142" y="813"/>
                  <a:pt x="142" y="803"/>
                </a:cubicBezTo>
                <a:cubicBezTo>
                  <a:pt x="142" y="794"/>
                  <a:pt x="150" y="786"/>
                  <a:pt x="159" y="786"/>
                </a:cubicBezTo>
                <a:cubicBezTo>
                  <a:pt x="168" y="786"/>
                  <a:pt x="176" y="794"/>
                  <a:pt x="176" y="803"/>
                </a:cubicBezTo>
                <a:cubicBezTo>
                  <a:pt x="176" y="813"/>
                  <a:pt x="168" y="820"/>
                  <a:pt x="159" y="820"/>
                </a:cubicBezTo>
                <a:close/>
                <a:moveTo>
                  <a:pt x="252" y="778"/>
                </a:moveTo>
                <a:cubicBezTo>
                  <a:pt x="64" y="698"/>
                  <a:pt x="64" y="698"/>
                  <a:pt x="64" y="698"/>
                </a:cubicBezTo>
                <a:cubicBezTo>
                  <a:pt x="68" y="630"/>
                  <a:pt x="68" y="630"/>
                  <a:pt x="68" y="630"/>
                </a:cubicBezTo>
                <a:cubicBezTo>
                  <a:pt x="256" y="706"/>
                  <a:pt x="256" y="706"/>
                  <a:pt x="256" y="706"/>
                </a:cubicBezTo>
                <a:lnTo>
                  <a:pt x="252" y="778"/>
                </a:lnTo>
                <a:close/>
                <a:moveTo>
                  <a:pt x="288" y="636"/>
                </a:moveTo>
                <a:cubicBezTo>
                  <a:pt x="20" y="530"/>
                  <a:pt x="20" y="530"/>
                  <a:pt x="20" y="530"/>
                </a:cubicBezTo>
                <a:cubicBezTo>
                  <a:pt x="20" y="464"/>
                  <a:pt x="20" y="464"/>
                  <a:pt x="20" y="464"/>
                </a:cubicBezTo>
                <a:cubicBezTo>
                  <a:pt x="288" y="568"/>
                  <a:pt x="288" y="568"/>
                  <a:pt x="288" y="568"/>
                </a:cubicBezTo>
                <a:lnTo>
                  <a:pt x="288" y="636"/>
                </a:lnTo>
                <a:close/>
                <a:moveTo>
                  <a:pt x="288" y="550"/>
                </a:moveTo>
                <a:cubicBezTo>
                  <a:pt x="20" y="448"/>
                  <a:pt x="20" y="448"/>
                  <a:pt x="20" y="448"/>
                </a:cubicBezTo>
                <a:cubicBezTo>
                  <a:pt x="20" y="392"/>
                  <a:pt x="20" y="392"/>
                  <a:pt x="20" y="392"/>
                </a:cubicBezTo>
                <a:cubicBezTo>
                  <a:pt x="288" y="490"/>
                  <a:pt x="288" y="490"/>
                  <a:pt x="288" y="490"/>
                </a:cubicBezTo>
                <a:lnTo>
                  <a:pt x="288" y="550"/>
                </a:lnTo>
                <a:close/>
                <a:moveTo>
                  <a:pt x="288" y="471"/>
                </a:moveTo>
                <a:cubicBezTo>
                  <a:pt x="20" y="357"/>
                  <a:pt x="20" y="357"/>
                  <a:pt x="20" y="357"/>
                </a:cubicBezTo>
                <a:cubicBezTo>
                  <a:pt x="20" y="306"/>
                  <a:pt x="20" y="306"/>
                  <a:pt x="20" y="306"/>
                </a:cubicBezTo>
                <a:cubicBezTo>
                  <a:pt x="288" y="408"/>
                  <a:pt x="288" y="408"/>
                  <a:pt x="288" y="408"/>
                </a:cubicBezTo>
                <a:lnTo>
                  <a:pt x="288" y="471"/>
                </a:lnTo>
                <a:close/>
                <a:moveTo>
                  <a:pt x="288" y="392"/>
                </a:moveTo>
                <a:cubicBezTo>
                  <a:pt x="20" y="296"/>
                  <a:pt x="20" y="296"/>
                  <a:pt x="20" y="296"/>
                </a:cubicBezTo>
                <a:cubicBezTo>
                  <a:pt x="20" y="220"/>
                  <a:pt x="20" y="220"/>
                  <a:pt x="20" y="220"/>
                </a:cubicBezTo>
                <a:cubicBezTo>
                  <a:pt x="288" y="328"/>
                  <a:pt x="288" y="328"/>
                  <a:pt x="288" y="328"/>
                </a:cubicBezTo>
                <a:lnTo>
                  <a:pt x="288" y="392"/>
                </a:lnTo>
                <a:close/>
              </a:path>
            </a:pathLst>
          </a:custGeom>
          <a:solidFill>
            <a:schemeClr val="bg1">
              <a:lumMod val="50000"/>
            </a:schemeClr>
          </a:solidFill>
          <a:ln w="9525">
            <a:noFill/>
            <a:round/>
          </a:ln>
        </p:spPr>
        <p:txBody>
          <a:bodyPr vert="horz" wrap="square" lIns="121813" tIns="60907" rIns="121813" bIns="60907" numCol="1" anchor="t" anchorCtr="0" compatLnSpc="1">
            <a:noAutofit/>
          </a:bodyPr>
          <a:lstStyle/>
          <a:p>
            <a:pPr fontAlgn="ctr"/>
            <a:endParaRPr lang="en-US"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矩形 91"/>
          <p:cNvSpPr/>
          <p:nvPr/>
        </p:nvSpPr>
        <p:spPr bwMode="gray">
          <a:xfrm>
            <a:off x="6034096" y="4828251"/>
            <a:ext cx="1171400" cy="401514"/>
          </a:xfrm>
          <a:prstGeom prst="rect">
            <a:avLst/>
          </a:prstGeom>
        </p:spPr>
        <p:txBody>
          <a:bodyPr wrap="square">
            <a:noAutofit/>
          </a:bodyPr>
          <a:lstStyle/>
          <a:p>
            <a:pPr algn="ctr" font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敏感数据</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资源组</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直接箭头连接符 92"/>
          <p:cNvCxnSpPr/>
          <p:nvPr/>
        </p:nvCxnSpPr>
        <p:spPr bwMode="gray">
          <a:xfrm>
            <a:off x="5135319" y="3764907"/>
            <a:ext cx="1050778" cy="937494"/>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bwMode="gray">
          <a:xfrm>
            <a:off x="5135319" y="4770136"/>
            <a:ext cx="1050778"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bwMode="gray">
          <a:xfrm flipV="1">
            <a:off x="5135319" y="3784522"/>
            <a:ext cx="1057890" cy="864357"/>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8" name="五边形 137"/>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139" name="燕尾形 138"/>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燕尾形 139"/>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燕尾形 140"/>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Freeform 9"/>
          <p:cNvSpPr>
            <a:spLocks noEditPoints="1"/>
          </p:cNvSpPr>
          <p:nvPr/>
        </p:nvSpPr>
        <p:spPr bwMode="gray">
          <a:xfrm>
            <a:off x="3141545" y="3688854"/>
            <a:ext cx="244698" cy="377881"/>
          </a:xfrm>
          <a:custGeom>
            <a:avLst/>
            <a:gdLst/>
            <a:ahLst/>
            <a:cxnLst>
              <a:cxn ang="0">
                <a:pos x="396" y="0"/>
              </a:cxn>
              <a:cxn ang="0">
                <a:pos x="0" y="176"/>
              </a:cxn>
              <a:cxn ang="0">
                <a:pos x="0" y="828"/>
              </a:cxn>
              <a:cxn ang="0">
                <a:pos x="312" y="960"/>
              </a:cxn>
              <a:cxn ang="0">
                <a:pos x="660" y="752"/>
              </a:cxn>
              <a:cxn ang="0">
                <a:pos x="660" y="100"/>
              </a:cxn>
              <a:cxn ang="0">
                <a:pos x="396" y="0"/>
              </a:cxn>
              <a:cxn ang="0">
                <a:pos x="159" y="820"/>
              </a:cxn>
              <a:cxn ang="0">
                <a:pos x="142" y="803"/>
              </a:cxn>
              <a:cxn ang="0">
                <a:pos x="159" y="786"/>
              </a:cxn>
              <a:cxn ang="0">
                <a:pos x="176" y="803"/>
              </a:cxn>
              <a:cxn ang="0">
                <a:pos x="159" y="820"/>
              </a:cxn>
              <a:cxn ang="0">
                <a:pos x="252" y="778"/>
              </a:cxn>
              <a:cxn ang="0">
                <a:pos x="64" y="698"/>
              </a:cxn>
              <a:cxn ang="0">
                <a:pos x="68" y="630"/>
              </a:cxn>
              <a:cxn ang="0">
                <a:pos x="256" y="706"/>
              </a:cxn>
              <a:cxn ang="0">
                <a:pos x="252" y="778"/>
              </a:cxn>
              <a:cxn ang="0">
                <a:pos x="288" y="636"/>
              </a:cxn>
              <a:cxn ang="0">
                <a:pos x="20" y="530"/>
              </a:cxn>
              <a:cxn ang="0">
                <a:pos x="20" y="464"/>
              </a:cxn>
              <a:cxn ang="0">
                <a:pos x="288" y="568"/>
              </a:cxn>
              <a:cxn ang="0">
                <a:pos x="288" y="636"/>
              </a:cxn>
              <a:cxn ang="0">
                <a:pos x="288" y="550"/>
              </a:cxn>
              <a:cxn ang="0">
                <a:pos x="20" y="448"/>
              </a:cxn>
              <a:cxn ang="0">
                <a:pos x="20" y="392"/>
              </a:cxn>
              <a:cxn ang="0">
                <a:pos x="288" y="490"/>
              </a:cxn>
              <a:cxn ang="0">
                <a:pos x="288" y="550"/>
              </a:cxn>
              <a:cxn ang="0">
                <a:pos x="288" y="471"/>
              </a:cxn>
              <a:cxn ang="0">
                <a:pos x="20" y="357"/>
              </a:cxn>
              <a:cxn ang="0">
                <a:pos x="20" y="306"/>
              </a:cxn>
              <a:cxn ang="0">
                <a:pos x="288" y="408"/>
              </a:cxn>
              <a:cxn ang="0">
                <a:pos x="288" y="471"/>
              </a:cxn>
              <a:cxn ang="0">
                <a:pos x="288" y="392"/>
              </a:cxn>
              <a:cxn ang="0">
                <a:pos x="20" y="296"/>
              </a:cxn>
              <a:cxn ang="0">
                <a:pos x="20" y="220"/>
              </a:cxn>
              <a:cxn ang="0">
                <a:pos x="288" y="328"/>
              </a:cxn>
              <a:cxn ang="0">
                <a:pos x="288" y="392"/>
              </a:cxn>
            </a:cxnLst>
            <a:rect l="0" t="0" r="r" b="b"/>
            <a:pathLst>
              <a:path w="660" h="960">
                <a:moveTo>
                  <a:pt x="396" y="0"/>
                </a:moveTo>
                <a:cubicBezTo>
                  <a:pt x="0" y="176"/>
                  <a:pt x="0" y="176"/>
                  <a:pt x="0" y="176"/>
                </a:cubicBezTo>
                <a:cubicBezTo>
                  <a:pt x="0" y="828"/>
                  <a:pt x="0" y="828"/>
                  <a:pt x="0" y="828"/>
                </a:cubicBezTo>
                <a:cubicBezTo>
                  <a:pt x="312" y="960"/>
                  <a:pt x="312" y="960"/>
                  <a:pt x="312" y="960"/>
                </a:cubicBezTo>
                <a:cubicBezTo>
                  <a:pt x="660" y="752"/>
                  <a:pt x="660" y="752"/>
                  <a:pt x="660" y="752"/>
                </a:cubicBezTo>
                <a:cubicBezTo>
                  <a:pt x="660" y="100"/>
                  <a:pt x="660" y="100"/>
                  <a:pt x="660" y="100"/>
                </a:cubicBezTo>
                <a:lnTo>
                  <a:pt x="396" y="0"/>
                </a:lnTo>
                <a:close/>
                <a:moveTo>
                  <a:pt x="159" y="820"/>
                </a:moveTo>
                <a:cubicBezTo>
                  <a:pt x="150" y="820"/>
                  <a:pt x="142" y="813"/>
                  <a:pt x="142" y="803"/>
                </a:cubicBezTo>
                <a:cubicBezTo>
                  <a:pt x="142" y="794"/>
                  <a:pt x="150" y="786"/>
                  <a:pt x="159" y="786"/>
                </a:cubicBezTo>
                <a:cubicBezTo>
                  <a:pt x="168" y="786"/>
                  <a:pt x="176" y="794"/>
                  <a:pt x="176" y="803"/>
                </a:cubicBezTo>
                <a:cubicBezTo>
                  <a:pt x="176" y="813"/>
                  <a:pt x="168" y="820"/>
                  <a:pt x="159" y="820"/>
                </a:cubicBezTo>
                <a:close/>
                <a:moveTo>
                  <a:pt x="252" y="778"/>
                </a:moveTo>
                <a:cubicBezTo>
                  <a:pt x="64" y="698"/>
                  <a:pt x="64" y="698"/>
                  <a:pt x="64" y="698"/>
                </a:cubicBezTo>
                <a:cubicBezTo>
                  <a:pt x="68" y="630"/>
                  <a:pt x="68" y="630"/>
                  <a:pt x="68" y="630"/>
                </a:cubicBezTo>
                <a:cubicBezTo>
                  <a:pt x="256" y="706"/>
                  <a:pt x="256" y="706"/>
                  <a:pt x="256" y="706"/>
                </a:cubicBezTo>
                <a:lnTo>
                  <a:pt x="252" y="778"/>
                </a:lnTo>
                <a:close/>
                <a:moveTo>
                  <a:pt x="288" y="636"/>
                </a:moveTo>
                <a:cubicBezTo>
                  <a:pt x="20" y="530"/>
                  <a:pt x="20" y="530"/>
                  <a:pt x="20" y="530"/>
                </a:cubicBezTo>
                <a:cubicBezTo>
                  <a:pt x="20" y="464"/>
                  <a:pt x="20" y="464"/>
                  <a:pt x="20" y="464"/>
                </a:cubicBezTo>
                <a:cubicBezTo>
                  <a:pt x="288" y="568"/>
                  <a:pt x="288" y="568"/>
                  <a:pt x="288" y="568"/>
                </a:cubicBezTo>
                <a:lnTo>
                  <a:pt x="288" y="636"/>
                </a:lnTo>
                <a:close/>
                <a:moveTo>
                  <a:pt x="288" y="550"/>
                </a:moveTo>
                <a:cubicBezTo>
                  <a:pt x="20" y="448"/>
                  <a:pt x="20" y="448"/>
                  <a:pt x="20" y="448"/>
                </a:cubicBezTo>
                <a:cubicBezTo>
                  <a:pt x="20" y="392"/>
                  <a:pt x="20" y="392"/>
                  <a:pt x="20" y="392"/>
                </a:cubicBezTo>
                <a:cubicBezTo>
                  <a:pt x="288" y="490"/>
                  <a:pt x="288" y="490"/>
                  <a:pt x="288" y="490"/>
                </a:cubicBezTo>
                <a:lnTo>
                  <a:pt x="288" y="550"/>
                </a:lnTo>
                <a:close/>
                <a:moveTo>
                  <a:pt x="288" y="471"/>
                </a:moveTo>
                <a:cubicBezTo>
                  <a:pt x="20" y="357"/>
                  <a:pt x="20" y="357"/>
                  <a:pt x="20" y="357"/>
                </a:cubicBezTo>
                <a:cubicBezTo>
                  <a:pt x="20" y="306"/>
                  <a:pt x="20" y="306"/>
                  <a:pt x="20" y="306"/>
                </a:cubicBezTo>
                <a:cubicBezTo>
                  <a:pt x="288" y="408"/>
                  <a:pt x="288" y="408"/>
                  <a:pt x="288" y="408"/>
                </a:cubicBezTo>
                <a:lnTo>
                  <a:pt x="288" y="471"/>
                </a:lnTo>
                <a:close/>
                <a:moveTo>
                  <a:pt x="288" y="392"/>
                </a:moveTo>
                <a:cubicBezTo>
                  <a:pt x="20" y="296"/>
                  <a:pt x="20" y="296"/>
                  <a:pt x="20" y="296"/>
                </a:cubicBezTo>
                <a:cubicBezTo>
                  <a:pt x="20" y="220"/>
                  <a:pt x="20" y="220"/>
                  <a:pt x="20" y="220"/>
                </a:cubicBezTo>
                <a:cubicBezTo>
                  <a:pt x="288" y="328"/>
                  <a:pt x="288" y="328"/>
                  <a:pt x="288" y="328"/>
                </a:cubicBezTo>
                <a:lnTo>
                  <a:pt x="288" y="392"/>
                </a:lnTo>
                <a:close/>
              </a:path>
            </a:pathLst>
          </a:custGeom>
          <a:solidFill>
            <a:schemeClr val="bg1">
              <a:lumMod val="50000"/>
            </a:schemeClr>
          </a:solidFill>
          <a:ln w="9525">
            <a:noFill/>
            <a:round/>
          </a:ln>
        </p:spPr>
        <p:txBody>
          <a:bodyPr vert="horz" wrap="square" lIns="121813" tIns="60907" rIns="121813" bIns="60907" numCol="1" anchor="t" anchorCtr="0" compatLnSpc="1">
            <a:noAutofit/>
          </a:bodyPr>
          <a:lstStyle/>
          <a:p>
            <a:pPr fontAlgn="ctr"/>
            <a:endParaRPr lang="en-US"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矩形 136"/>
          <p:cNvSpPr/>
          <p:nvPr/>
        </p:nvSpPr>
        <p:spPr bwMode="gray">
          <a:xfrm>
            <a:off x="2829631" y="4047253"/>
            <a:ext cx="868527" cy="462769"/>
          </a:xfrm>
          <a:prstGeom prst="rect">
            <a:avLst/>
          </a:prstGeom>
        </p:spPr>
        <p:txBody>
          <a:bodyPr wrap="square">
            <a:noAutofit/>
          </a:bodyPr>
          <a:lstStyle/>
          <a:p>
            <a:pPr algn="ctr" fontAlgn="ct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HR</a:t>
            </a: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服务器资源组</a:t>
            </a:r>
          </a:p>
        </p:txBody>
      </p:sp>
      <p:grpSp>
        <p:nvGrpSpPr>
          <p:cNvPr id="142" name="组合 28"/>
          <p:cNvGrpSpPr/>
          <p:nvPr/>
        </p:nvGrpSpPr>
        <p:grpSpPr bwMode="gray">
          <a:xfrm>
            <a:off x="2086630" y="4088273"/>
            <a:ext cx="114976" cy="114976"/>
            <a:chOff x="5076056" y="3356992"/>
            <a:chExt cx="436268" cy="436268"/>
          </a:xfrm>
        </p:grpSpPr>
        <p:sp>
          <p:nvSpPr>
            <p:cNvPr id="143"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784225" rtl="0" eaLnBrk="0" fontAlgn="ctr" latinLnBrk="0" hangingPunct="0">
                <a:lnSpc>
                  <a:spcPct val="100000"/>
                </a:lnSpc>
                <a:spcBef>
                  <a:spcPct val="0"/>
                </a:spcBef>
                <a:spcAft>
                  <a:spcPct val="0"/>
                </a:spcAft>
                <a:buClrTx/>
                <a:buSzTx/>
                <a:buFontTx/>
                <a:buNone/>
              </a:pPr>
              <a:endParaRPr kumimoji="0" lang="en-US" altLang="zh-CN" sz="21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5" name="Freeform 9"/>
          <p:cNvSpPr>
            <a:spLocks noEditPoints="1"/>
          </p:cNvSpPr>
          <p:nvPr/>
        </p:nvSpPr>
        <p:spPr bwMode="gray">
          <a:xfrm>
            <a:off x="6497447" y="3461659"/>
            <a:ext cx="244698" cy="377881"/>
          </a:xfrm>
          <a:custGeom>
            <a:avLst/>
            <a:gdLst/>
            <a:ahLst/>
            <a:cxnLst>
              <a:cxn ang="0">
                <a:pos x="396" y="0"/>
              </a:cxn>
              <a:cxn ang="0">
                <a:pos x="0" y="176"/>
              </a:cxn>
              <a:cxn ang="0">
                <a:pos x="0" y="828"/>
              </a:cxn>
              <a:cxn ang="0">
                <a:pos x="312" y="960"/>
              </a:cxn>
              <a:cxn ang="0">
                <a:pos x="660" y="752"/>
              </a:cxn>
              <a:cxn ang="0">
                <a:pos x="660" y="100"/>
              </a:cxn>
              <a:cxn ang="0">
                <a:pos x="396" y="0"/>
              </a:cxn>
              <a:cxn ang="0">
                <a:pos x="159" y="820"/>
              </a:cxn>
              <a:cxn ang="0">
                <a:pos x="142" y="803"/>
              </a:cxn>
              <a:cxn ang="0">
                <a:pos x="159" y="786"/>
              </a:cxn>
              <a:cxn ang="0">
                <a:pos x="176" y="803"/>
              </a:cxn>
              <a:cxn ang="0">
                <a:pos x="159" y="820"/>
              </a:cxn>
              <a:cxn ang="0">
                <a:pos x="252" y="778"/>
              </a:cxn>
              <a:cxn ang="0">
                <a:pos x="64" y="698"/>
              </a:cxn>
              <a:cxn ang="0">
                <a:pos x="68" y="630"/>
              </a:cxn>
              <a:cxn ang="0">
                <a:pos x="256" y="706"/>
              </a:cxn>
              <a:cxn ang="0">
                <a:pos x="252" y="778"/>
              </a:cxn>
              <a:cxn ang="0">
                <a:pos x="288" y="636"/>
              </a:cxn>
              <a:cxn ang="0">
                <a:pos x="20" y="530"/>
              </a:cxn>
              <a:cxn ang="0">
                <a:pos x="20" y="464"/>
              </a:cxn>
              <a:cxn ang="0">
                <a:pos x="288" y="568"/>
              </a:cxn>
              <a:cxn ang="0">
                <a:pos x="288" y="636"/>
              </a:cxn>
              <a:cxn ang="0">
                <a:pos x="288" y="550"/>
              </a:cxn>
              <a:cxn ang="0">
                <a:pos x="20" y="448"/>
              </a:cxn>
              <a:cxn ang="0">
                <a:pos x="20" y="392"/>
              </a:cxn>
              <a:cxn ang="0">
                <a:pos x="288" y="490"/>
              </a:cxn>
              <a:cxn ang="0">
                <a:pos x="288" y="550"/>
              </a:cxn>
              <a:cxn ang="0">
                <a:pos x="288" y="471"/>
              </a:cxn>
              <a:cxn ang="0">
                <a:pos x="20" y="357"/>
              </a:cxn>
              <a:cxn ang="0">
                <a:pos x="20" y="306"/>
              </a:cxn>
              <a:cxn ang="0">
                <a:pos x="288" y="408"/>
              </a:cxn>
              <a:cxn ang="0">
                <a:pos x="288" y="471"/>
              </a:cxn>
              <a:cxn ang="0">
                <a:pos x="288" y="392"/>
              </a:cxn>
              <a:cxn ang="0">
                <a:pos x="20" y="296"/>
              </a:cxn>
              <a:cxn ang="0">
                <a:pos x="20" y="220"/>
              </a:cxn>
              <a:cxn ang="0">
                <a:pos x="288" y="328"/>
              </a:cxn>
              <a:cxn ang="0">
                <a:pos x="288" y="392"/>
              </a:cxn>
            </a:cxnLst>
            <a:rect l="0" t="0" r="r" b="b"/>
            <a:pathLst>
              <a:path w="660" h="960">
                <a:moveTo>
                  <a:pt x="396" y="0"/>
                </a:moveTo>
                <a:cubicBezTo>
                  <a:pt x="0" y="176"/>
                  <a:pt x="0" y="176"/>
                  <a:pt x="0" y="176"/>
                </a:cubicBezTo>
                <a:cubicBezTo>
                  <a:pt x="0" y="828"/>
                  <a:pt x="0" y="828"/>
                  <a:pt x="0" y="828"/>
                </a:cubicBezTo>
                <a:cubicBezTo>
                  <a:pt x="312" y="960"/>
                  <a:pt x="312" y="960"/>
                  <a:pt x="312" y="960"/>
                </a:cubicBezTo>
                <a:cubicBezTo>
                  <a:pt x="660" y="752"/>
                  <a:pt x="660" y="752"/>
                  <a:pt x="660" y="752"/>
                </a:cubicBezTo>
                <a:cubicBezTo>
                  <a:pt x="660" y="100"/>
                  <a:pt x="660" y="100"/>
                  <a:pt x="660" y="100"/>
                </a:cubicBezTo>
                <a:lnTo>
                  <a:pt x="396" y="0"/>
                </a:lnTo>
                <a:close/>
                <a:moveTo>
                  <a:pt x="159" y="820"/>
                </a:moveTo>
                <a:cubicBezTo>
                  <a:pt x="150" y="820"/>
                  <a:pt x="142" y="813"/>
                  <a:pt x="142" y="803"/>
                </a:cubicBezTo>
                <a:cubicBezTo>
                  <a:pt x="142" y="794"/>
                  <a:pt x="150" y="786"/>
                  <a:pt x="159" y="786"/>
                </a:cubicBezTo>
                <a:cubicBezTo>
                  <a:pt x="168" y="786"/>
                  <a:pt x="176" y="794"/>
                  <a:pt x="176" y="803"/>
                </a:cubicBezTo>
                <a:cubicBezTo>
                  <a:pt x="176" y="813"/>
                  <a:pt x="168" y="820"/>
                  <a:pt x="159" y="820"/>
                </a:cubicBezTo>
                <a:close/>
                <a:moveTo>
                  <a:pt x="252" y="778"/>
                </a:moveTo>
                <a:cubicBezTo>
                  <a:pt x="64" y="698"/>
                  <a:pt x="64" y="698"/>
                  <a:pt x="64" y="698"/>
                </a:cubicBezTo>
                <a:cubicBezTo>
                  <a:pt x="68" y="630"/>
                  <a:pt x="68" y="630"/>
                  <a:pt x="68" y="630"/>
                </a:cubicBezTo>
                <a:cubicBezTo>
                  <a:pt x="256" y="706"/>
                  <a:pt x="256" y="706"/>
                  <a:pt x="256" y="706"/>
                </a:cubicBezTo>
                <a:lnTo>
                  <a:pt x="252" y="778"/>
                </a:lnTo>
                <a:close/>
                <a:moveTo>
                  <a:pt x="288" y="636"/>
                </a:moveTo>
                <a:cubicBezTo>
                  <a:pt x="20" y="530"/>
                  <a:pt x="20" y="530"/>
                  <a:pt x="20" y="530"/>
                </a:cubicBezTo>
                <a:cubicBezTo>
                  <a:pt x="20" y="464"/>
                  <a:pt x="20" y="464"/>
                  <a:pt x="20" y="464"/>
                </a:cubicBezTo>
                <a:cubicBezTo>
                  <a:pt x="288" y="568"/>
                  <a:pt x="288" y="568"/>
                  <a:pt x="288" y="568"/>
                </a:cubicBezTo>
                <a:lnTo>
                  <a:pt x="288" y="636"/>
                </a:lnTo>
                <a:close/>
                <a:moveTo>
                  <a:pt x="288" y="550"/>
                </a:moveTo>
                <a:cubicBezTo>
                  <a:pt x="20" y="448"/>
                  <a:pt x="20" y="448"/>
                  <a:pt x="20" y="448"/>
                </a:cubicBezTo>
                <a:cubicBezTo>
                  <a:pt x="20" y="392"/>
                  <a:pt x="20" y="392"/>
                  <a:pt x="20" y="392"/>
                </a:cubicBezTo>
                <a:cubicBezTo>
                  <a:pt x="288" y="490"/>
                  <a:pt x="288" y="490"/>
                  <a:pt x="288" y="490"/>
                </a:cubicBezTo>
                <a:lnTo>
                  <a:pt x="288" y="550"/>
                </a:lnTo>
                <a:close/>
                <a:moveTo>
                  <a:pt x="288" y="471"/>
                </a:moveTo>
                <a:cubicBezTo>
                  <a:pt x="20" y="357"/>
                  <a:pt x="20" y="357"/>
                  <a:pt x="20" y="357"/>
                </a:cubicBezTo>
                <a:cubicBezTo>
                  <a:pt x="20" y="306"/>
                  <a:pt x="20" y="306"/>
                  <a:pt x="20" y="306"/>
                </a:cubicBezTo>
                <a:cubicBezTo>
                  <a:pt x="288" y="408"/>
                  <a:pt x="288" y="408"/>
                  <a:pt x="288" y="408"/>
                </a:cubicBezTo>
                <a:lnTo>
                  <a:pt x="288" y="471"/>
                </a:lnTo>
                <a:close/>
                <a:moveTo>
                  <a:pt x="288" y="392"/>
                </a:moveTo>
                <a:cubicBezTo>
                  <a:pt x="20" y="296"/>
                  <a:pt x="20" y="296"/>
                  <a:pt x="20" y="296"/>
                </a:cubicBezTo>
                <a:cubicBezTo>
                  <a:pt x="20" y="220"/>
                  <a:pt x="20" y="220"/>
                  <a:pt x="20" y="220"/>
                </a:cubicBezTo>
                <a:cubicBezTo>
                  <a:pt x="288" y="328"/>
                  <a:pt x="288" y="328"/>
                  <a:pt x="288" y="328"/>
                </a:cubicBezTo>
                <a:lnTo>
                  <a:pt x="288" y="392"/>
                </a:lnTo>
                <a:close/>
              </a:path>
            </a:pathLst>
          </a:custGeom>
          <a:solidFill>
            <a:schemeClr val="bg1">
              <a:lumMod val="50000"/>
            </a:schemeClr>
          </a:solidFill>
          <a:ln w="9525">
            <a:noFill/>
            <a:round/>
          </a:ln>
        </p:spPr>
        <p:txBody>
          <a:bodyPr vert="horz" wrap="square" lIns="121813" tIns="60907" rIns="121813" bIns="60907" numCol="1" anchor="t" anchorCtr="0" compatLnSpc="1">
            <a:noAutofit/>
          </a:bodyPr>
          <a:lstStyle/>
          <a:p>
            <a:pPr fontAlgn="ctr"/>
            <a:endParaRPr lang="en-US"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矩形 145"/>
          <p:cNvSpPr/>
          <p:nvPr/>
        </p:nvSpPr>
        <p:spPr bwMode="gray">
          <a:xfrm>
            <a:off x="6034096" y="3790242"/>
            <a:ext cx="1171400" cy="377881"/>
          </a:xfrm>
          <a:prstGeom prst="rect">
            <a:avLst/>
          </a:prstGeom>
        </p:spPr>
        <p:txBody>
          <a:bodyPr wrap="square">
            <a:noAutofit/>
          </a:bodyPr>
          <a:lstStyle/>
          <a:p>
            <a:pPr algn="ctr" font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研发代码库</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资源组</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矩形 146"/>
          <p:cNvSpPr/>
          <p:nvPr/>
        </p:nvSpPr>
        <p:spPr bwMode="gray">
          <a:xfrm>
            <a:off x="4149545" y="4747842"/>
            <a:ext cx="816321" cy="274594"/>
          </a:xfrm>
          <a:prstGeom prst="rect">
            <a:avLst/>
          </a:prstGeom>
        </p:spPr>
        <p:txBody>
          <a:bodyPr wrap="square">
            <a:noAutofit/>
          </a:bodyPr>
          <a:lstStyle/>
          <a:p>
            <a:pPr algn="ctr" font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研发组</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2" name="组合 28"/>
          <p:cNvGrpSpPr/>
          <p:nvPr/>
        </p:nvGrpSpPr>
        <p:grpSpPr bwMode="gray">
          <a:xfrm>
            <a:off x="2229093" y="5001204"/>
            <a:ext cx="114976" cy="114976"/>
            <a:chOff x="5076056" y="3356992"/>
            <a:chExt cx="436268" cy="436268"/>
          </a:xfrm>
        </p:grpSpPr>
        <p:sp>
          <p:nvSpPr>
            <p:cNvPr id="153"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784225" rtl="0" eaLnBrk="0" fontAlgn="ctr" latinLnBrk="0" hangingPunct="0">
                <a:lnSpc>
                  <a:spcPct val="100000"/>
                </a:lnSpc>
                <a:spcBef>
                  <a:spcPct val="0"/>
                </a:spcBef>
                <a:spcAft>
                  <a:spcPct val="0"/>
                </a:spcAft>
                <a:buClrTx/>
                <a:buSzTx/>
                <a:buFontTx/>
                <a:buNone/>
              </a:pPr>
              <a:endParaRPr kumimoji="0" lang="en-US" altLang="zh-CN" sz="21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55" name="组合 28"/>
          <p:cNvGrpSpPr/>
          <p:nvPr/>
        </p:nvGrpSpPr>
        <p:grpSpPr bwMode="gray">
          <a:xfrm>
            <a:off x="5588319" y="4708512"/>
            <a:ext cx="114976" cy="114976"/>
            <a:chOff x="5076056" y="3356992"/>
            <a:chExt cx="436268" cy="436268"/>
          </a:xfrm>
        </p:grpSpPr>
        <p:sp>
          <p:nvSpPr>
            <p:cNvPr id="156"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784225" rtl="0" eaLnBrk="0" fontAlgn="ctr" latinLnBrk="0" hangingPunct="0">
                <a:lnSpc>
                  <a:spcPct val="100000"/>
                </a:lnSpc>
                <a:spcBef>
                  <a:spcPct val="0"/>
                </a:spcBef>
                <a:spcAft>
                  <a:spcPct val="0"/>
                </a:spcAft>
                <a:buClrTx/>
                <a:buSzTx/>
                <a:buFontTx/>
                <a:buNone/>
              </a:pPr>
              <a:endParaRPr kumimoji="0" lang="en-US" altLang="zh-CN" sz="21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3513726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策略设计：安全组划分</a:t>
            </a:r>
            <a:endParaRPr lang="zh-CN" altLang="en-US" dirty="0">
              <a:sym typeface="Huawei Sans" panose="020C0503030203020204" pitchFamily="34" charset="0"/>
            </a:endParaRPr>
          </a:p>
        </p:txBody>
      </p:sp>
      <p:sp>
        <p:nvSpPr>
          <p:cNvPr id="7" name="文本占位符 6"/>
          <p:cNvSpPr>
            <a:spLocks noGrp="1"/>
          </p:cNvSpPr>
          <p:nvPr>
            <p:ph type="body" sz="quarter" idx="10"/>
          </p:nvPr>
        </p:nvSpPr>
        <p:spPr>
          <a:xfrm>
            <a:off x="455612" y="1047751"/>
            <a:ext cx="11293475" cy="4278394"/>
          </a:xfrm>
        </p:spPr>
        <p:txBody>
          <a:bodyPr/>
          <a:lstStyle/>
          <a:p>
            <a:r>
              <a:rPr lang="zh-CN" altLang="en-US" sz="2000" dirty="0"/>
              <a:t>动态安全组：通过</a:t>
            </a:r>
            <a:r>
              <a:rPr lang="en-US" altLang="zh-CN" sz="2000" dirty="0"/>
              <a:t>NAC</a:t>
            </a:r>
            <a:r>
              <a:rPr lang="zh-CN" altLang="en-US" sz="2000" dirty="0"/>
              <a:t>授权将接入网络的终端或用户划分为不同的安全组。</a:t>
            </a:r>
            <a:endParaRPr lang="en-US" altLang="zh-CN" sz="2000" dirty="0"/>
          </a:p>
          <a:p>
            <a:pPr lvl="1"/>
            <a:r>
              <a:rPr lang="zh-CN" altLang="en-US" sz="1800" dirty="0">
                <a:solidFill>
                  <a:srgbClr val="FF0000"/>
                </a:solidFill>
              </a:rPr>
              <a:t>根据企业组织架构定义企业员工的安全组</a:t>
            </a:r>
            <a:r>
              <a:rPr lang="zh-CN" altLang="en-US" sz="1800" dirty="0"/>
              <a:t>。</a:t>
            </a:r>
            <a:endParaRPr lang="en-US" altLang="zh-CN" sz="1800" dirty="0"/>
          </a:p>
          <a:p>
            <a:pPr lvl="1"/>
            <a:endParaRPr lang="en-US" altLang="zh-CN" sz="1800" dirty="0"/>
          </a:p>
          <a:p>
            <a:pPr lvl="1"/>
            <a:endParaRPr lang="en-US" altLang="zh-CN" sz="1800" dirty="0"/>
          </a:p>
          <a:p>
            <a:pPr lvl="1"/>
            <a:endParaRPr lang="en-US" altLang="zh-CN" sz="1800" dirty="0"/>
          </a:p>
          <a:p>
            <a:pPr lvl="1"/>
            <a:endParaRPr lang="zh-CN" altLang="en-US" sz="1800" dirty="0"/>
          </a:p>
          <a:p>
            <a:pPr lvl="1"/>
            <a:r>
              <a:rPr lang="zh-CN" altLang="en-US" sz="1800" dirty="0"/>
              <a:t>定义组织架构内特殊群体的安全组，如</a:t>
            </a:r>
            <a:r>
              <a:rPr lang="en-US" altLang="zh-CN" sz="1800" dirty="0"/>
              <a:t>VIP</a:t>
            </a:r>
            <a:r>
              <a:rPr lang="zh-CN" altLang="en-US" sz="1800" dirty="0"/>
              <a:t>组。</a:t>
            </a:r>
          </a:p>
          <a:p>
            <a:pPr lvl="1"/>
            <a:r>
              <a:rPr lang="zh-CN" altLang="en-US" sz="1800" dirty="0"/>
              <a:t>定义接入网络的非企业员工的安全组，如访客组。</a:t>
            </a:r>
          </a:p>
          <a:p>
            <a:pPr lvl="1"/>
            <a:r>
              <a:rPr lang="zh-CN" altLang="en-US" sz="1800" dirty="0"/>
              <a:t>定义接入网络的哑终端的安全组，如打印机、门禁等。</a:t>
            </a:r>
          </a:p>
        </p:txBody>
      </p:sp>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282986" y="2301223"/>
            <a:ext cx="419431" cy="347125"/>
          </a:xfrm>
          <a:prstGeom prst="rect">
            <a:avLst/>
          </a:prstGeom>
        </p:spPr>
      </p:pic>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22493" y="2301223"/>
            <a:ext cx="419431" cy="347125"/>
          </a:xfrm>
          <a:prstGeom prst="rect">
            <a:avLst/>
          </a:prstGeom>
        </p:spPr>
      </p:pic>
      <p:pic>
        <p:nvPicPr>
          <p:cNvPr id="10" name="图片 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96014" y="2301223"/>
            <a:ext cx="419431" cy="347125"/>
          </a:xfrm>
          <a:prstGeom prst="rect">
            <a:avLst/>
          </a:prstGeom>
        </p:spPr>
      </p:pic>
      <p:sp>
        <p:nvSpPr>
          <p:cNvPr id="11" name="文本框 10"/>
          <p:cNvSpPr txBox="1"/>
          <p:nvPr/>
        </p:nvSpPr>
        <p:spPr>
          <a:xfrm>
            <a:off x="4015648" y="2654689"/>
            <a:ext cx="954108"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硬件开发部</a:t>
            </a:r>
          </a:p>
        </p:txBody>
      </p:sp>
      <p:sp>
        <p:nvSpPr>
          <p:cNvPr id="12" name="文本框 11"/>
          <p:cNvSpPr txBox="1"/>
          <p:nvPr/>
        </p:nvSpPr>
        <p:spPr>
          <a:xfrm>
            <a:off x="5628676" y="2654689"/>
            <a:ext cx="954108"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软件开发部</a:t>
            </a:r>
          </a:p>
        </p:txBody>
      </p:sp>
      <p:sp>
        <p:nvSpPr>
          <p:cNvPr id="13" name="文本框 12"/>
          <p:cNvSpPr txBox="1"/>
          <p:nvPr/>
        </p:nvSpPr>
        <p:spPr>
          <a:xfrm>
            <a:off x="7509043" y="2654689"/>
            <a:ext cx="646332"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测试部</a:t>
            </a:r>
          </a:p>
        </p:txBody>
      </p:sp>
      <p:pic>
        <p:nvPicPr>
          <p:cNvPr id="14" name="图片 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282986" y="2996070"/>
            <a:ext cx="419431" cy="347125"/>
          </a:xfrm>
          <a:prstGeom prst="rect">
            <a:avLst/>
          </a:prstGeom>
        </p:spPr>
      </p:pic>
      <p:pic>
        <p:nvPicPr>
          <p:cNvPr id="15" name="图片 1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622493" y="2996070"/>
            <a:ext cx="419431" cy="347125"/>
          </a:xfrm>
          <a:prstGeom prst="rect">
            <a:avLst/>
          </a:prstGeom>
        </p:spPr>
      </p:pic>
      <p:pic>
        <p:nvPicPr>
          <p:cNvPr id="16" name="图片 1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96014" y="2996070"/>
            <a:ext cx="419431" cy="347125"/>
          </a:xfrm>
          <a:prstGeom prst="rect">
            <a:avLst/>
          </a:prstGeom>
        </p:spPr>
      </p:pic>
      <p:sp>
        <p:nvSpPr>
          <p:cNvPr id="17" name="文本框 16"/>
          <p:cNvSpPr txBox="1"/>
          <p:nvPr/>
        </p:nvSpPr>
        <p:spPr>
          <a:xfrm>
            <a:off x="5782564" y="3359502"/>
            <a:ext cx="646332"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财务部</a:t>
            </a:r>
          </a:p>
        </p:txBody>
      </p:sp>
      <p:sp>
        <p:nvSpPr>
          <p:cNvPr id="18" name="文本框 17"/>
          <p:cNvSpPr txBox="1"/>
          <p:nvPr/>
        </p:nvSpPr>
        <p:spPr>
          <a:xfrm>
            <a:off x="7355155" y="3359502"/>
            <a:ext cx="954108"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人力资源部</a:t>
            </a:r>
          </a:p>
        </p:txBody>
      </p:sp>
      <p:sp>
        <p:nvSpPr>
          <p:cNvPr id="19" name="文本框 18"/>
          <p:cNvSpPr txBox="1"/>
          <p:nvPr/>
        </p:nvSpPr>
        <p:spPr>
          <a:xfrm>
            <a:off x="4169535" y="3359502"/>
            <a:ext cx="646332"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市场部</a:t>
            </a:r>
          </a:p>
        </p:txBody>
      </p:sp>
      <p:sp>
        <p:nvSpPr>
          <p:cNvPr id="44" name="五边形 43"/>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45" name="燕尾形 44"/>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a:xfrm>
            <a:off x="455612" y="5587727"/>
            <a:ext cx="11293475" cy="348813"/>
          </a:xfrm>
          <a:prstGeom prst="rect">
            <a:avLst/>
          </a:prstGeom>
          <a:solidFill>
            <a:schemeClr val="bg1">
              <a:lumMod val="95000"/>
            </a:schemeClr>
          </a:solidFill>
        </p:spPr>
        <p:txBody>
          <a:bodyPr wrap="square">
            <a:spAutoFit/>
          </a:bodyPr>
          <a:lstStyle/>
          <a:p>
            <a:pPr algn="ctr">
              <a:lnSpc>
                <a:spcPts val="2000"/>
              </a:lnSpc>
              <a:spcAft>
                <a:spcPts val="600"/>
              </a:spcAft>
            </a:pP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5W1H</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原则授权动态安全组。</a:t>
            </a:r>
          </a:p>
        </p:txBody>
      </p:sp>
    </p:spTree>
    <p:extLst>
      <p:ext uri="{BB962C8B-B14F-4D97-AF65-F5344CB8AC3E}">
        <p14:creationId xmlns:p14="http://schemas.microsoft.com/office/powerpoint/2010/main" val="10872213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策略设计：资源组划分</a:t>
            </a:r>
          </a:p>
        </p:txBody>
      </p:sp>
      <p:sp>
        <p:nvSpPr>
          <p:cNvPr id="7" name="文本占位符 6"/>
          <p:cNvSpPr>
            <a:spLocks noGrp="1"/>
          </p:cNvSpPr>
          <p:nvPr>
            <p:ph type="body" sz="quarter" idx="10"/>
          </p:nvPr>
        </p:nvSpPr>
        <p:spPr bwMode="gray">
          <a:xfrm>
            <a:off x="455612" y="1047751"/>
            <a:ext cx="11293475" cy="1544620"/>
          </a:xfrm>
        </p:spPr>
        <p:txBody>
          <a:bodyPr/>
          <a:lstStyle/>
          <a:p>
            <a:r>
              <a:rPr lang="zh-CN" altLang="en-US" sz="2000" dirty="0"/>
              <a:t>静态资源组：将一组</a:t>
            </a:r>
            <a:r>
              <a:rPr lang="en-US" altLang="zh-CN" sz="2000" dirty="0"/>
              <a:t>IP</a:t>
            </a:r>
            <a:r>
              <a:rPr lang="zh-CN" altLang="en-US" sz="2000" dirty="0"/>
              <a:t>地址资源静态指定为一个资源组。</a:t>
            </a:r>
            <a:endParaRPr lang="en-US" altLang="zh-CN" sz="2000" dirty="0"/>
          </a:p>
          <a:p>
            <a:pPr lvl="1"/>
            <a:r>
              <a:rPr lang="zh-CN" altLang="en-US" sz="1800" dirty="0"/>
              <a:t>根据安全要求定义内网网络资源组，如</a:t>
            </a:r>
            <a:r>
              <a:rPr lang="en-US" altLang="zh-CN" sz="1800" dirty="0"/>
              <a:t>OA</a:t>
            </a:r>
            <a:r>
              <a:rPr lang="zh-CN" altLang="en-US" sz="1800" dirty="0"/>
              <a:t>资源组、研发资源组等。</a:t>
            </a:r>
          </a:p>
          <a:p>
            <a:pPr lvl="1"/>
            <a:r>
              <a:rPr lang="zh-CN" altLang="en-US" sz="1800" dirty="0"/>
              <a:t>如有</a:t>
            </a:r>
            <a:r>
              <a:rPr lang="en-US" altLang="zh-CN" sz="1800" dirty="0"/>
              <a:t>Internet</a:t>
            </a:r>
            <a:r>
              <a:rPr lang="zh-CN" altLang="en-US" sz="1800" dirty="0"/>
              <a:t>访问控制诉求，则定义</a:t>
            </a:r>
            <a:r>
              <a:rPr lang="en-US" altLang="zh-CN" sz="1800" dirty="0"/>
              <a:t>Internet</a:t>
            </a:r>
            <a:r>
              <a:rPr lang="zh-CN" altLang="en-US" sz="1800" dirty="0"/>
              <a:t>资源组。</a:t>
            </a:r>
          </a:p>
        </p:txBody>
      </p:sp>
      <p:sp>
        <p:nvSpPr>
          <p:cNvPr id="44" name="五边形 43"/>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45" name="燕尾形 44"/>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455612" y="5587727"/>
            <a:ext cx="11293475" cy="348813"/>
          </a:xfrm>
          <a:prstGeom prst="rect">
            <a:avLst/>
          </a:prstGeom>
          <a:solidFill>
            <a:schemeClr val="bg1">
              <a:lumMod val="95000"/>
            </a:schemeClr>
          </a:solidFill>
        </p:spPr>
        <p:txBody>
          <a:bodyPr wrap="square">
            <a:spAutoFit/>
          </a:bodyPr>
          <a:lstStyle/>
          <a:p>
            <a:pPr algn="ctr">
              <a:lnSpc>
                <a:spcPts val="2000"/>
              </a:lnSpc>
              <a:spcAft>
                <a:spcPts val="600"/>
              </a:spcAft>
            </a:pP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将企业分散的数据中心应用的</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地址聚合为资源组，简化部署。</a:t>
            </a:r>
          </a:p>
        </p:txBody>
      </p:sp>
      <p:sp>
        <p:nvSpPr>
          <p:cNvPr id="21" name="Freeform 159"/>
          <p:cNvSpPr/>
          <p:nvPr/>
        </p:nvSpPr>
        <p:spPr bwMode="gray">
          <a:xfrm flipH="1">
            <a:off x="3983310" y="2679420"/>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22" name="Right Arrow 158"/>
          <p:cNvSpPr/>
          <p:nvPr/>
        </p:nvSpPr>
        <p:spPr bwMode="gray">
          <a:xfrm>
            <a:off x="5658701" y="2767871"/>
            <a:ext cx="612000" cy="216000"/>
          </a:xfrm>
          <a:prstGeom prst="rightArrow">
            <a:avLst>
              <a:gd name="adj1" fmla="val 60911"/>
              <a:gd name="adj2" fmla="val 50000"/>
            </a:avLst>
          </a:prstGeom>
          <a:gradFill flip="none" rotWithShape="1">
            <a:gsLst>
              <a:gs pos="15000">
                <a:schemeClr val="accent1">
                  <a:lumMod val="5000"/>
                  <a:lumOff val="95000"/>
                  <a:alpha val="0"/>
                </a:schemeClr>
              </a:gs>
              <a:gs pos="81000">
                <a:srgbClr val="FFCC66"/>
              </a:gs>
            </a:gsLst>
            <a:lin ang="0" scaled="1"/>
            <a:tileRect/>
          </a:gradFill>
          <a:ln w="9525">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bwMode="gray">
          <a:xfrm>
            <a:off x="6714598" y="2737372"/>
            <a:ext cx="1426994" cy="307777"/>
          </a:xfrm>
          <a:prstGeom prst="rect">
            <a:avLst/>
          </a:prstGeom>
        </p:spPr>
        <p:txBody>
          <a:bodyPr wrap="none">
            <a:spAutoFit/>
          </a:bodyPr>
          <a:lstStyle/>
          <a:p>
            <a:r>
              <a:rPr lang="en-US" altLang="zh-CN"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资源组</a:t>
            </a:r>
          </a:p>
        </p:txBody>
      </p:sp>
      <p:pic>
        <p:nvPicPr>
          <p:cNvPr id="24" name="图片 40" descr="交换机.png"/>
          <p:cNvPicPr>
            <a:picLocks noChangeAspect="1"/>
          </p:cNvPicPr>
          <p:nvPr/>
        </p:nvPicPr>
        <p:blipFill>
          <a:blip r:embed="rId3" cstate="print"/>
          <a:stretch>
            <a:fillRect/>
          </a:stretch>
        </p:blipFill>
        <p:spPr bwMode="gray">
          <a:xfrm>
            <a:off x="4156274" y="3322816"/>
            <a:ext cx="405710" cy="331944"/>
          </a:xfrm>
          <a:prstGeom prst="rect">
            <a:avLst/>
          </a:prstGeom>
        </p:spPr>
      </p:pic>
      <p:sp>
        <p:nvSpPr>
          <p:cNvPr id="25" name="矩形 24"/>
          <p:cNvSpPr/>
          <p:nvPr/>
        </p:nvSpPr>
        <p:spPr bwMode="gray">
          <a:xfrm>
            <a:off x="3343466" y="3651807"/>
            <a:ext cx="2031326" cy="276999"/>
          </a:xfrm>
          <a:prstGeom prst="rect">
            <a:avLst/>
          </a:prstGeom>
        </p:spPr>
        <p:txBody>
          <a:bodyPr wrap="non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通用办公资源，网站、邮箱</a:t>
            </a:r>
          </a:p>
        </p:txBody>
      </p:sp>
      <p:sp>
        <p:nvSpPr>
          <p:cNvPr id="26" name="矩形 25"/>
          <p:cNvSpPr/>
          <p:nvPr/>
        </p:nvSpPr>
        <p:spPr bwMode="gray">
          <a:xfrm>
            <a:off x="6714598" y="3520772"/>
            <a:ext cx="990977" cy="307777"/>
          </a:xfrm>
          <a:prstGeom prst="rect">
            <a:avLst/>
          </a:prstGeom>
        </p:spPr>
        <p:txBody>
          <a:bodyPr wrap="none">
            <a:spAutoFit/>
          </a:bodyPr>
          <a:lstStyle/>
          <a:p>
            <a:r>
              <a:rPr lang="en-US" altLang="zh-CN"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资源组</a:t>
            </a:r>
          </a:p>
        </p:txBody>
      </p:sp>
      <p:pic>
        <p:nvPicPr>
          <p:cNvPr id="27" name="图片 40" descr="交换机.png"/>
          <p:cNvPicPr>
            <a:picLocks noChangeAspect="1"/>
          </p:cNvPicPr>
          <p:nvPr/>
        </p:nvPicPr>
        <p:blipFill>
          <a:blip r:embed="rId3" cstate="print"/>
          <a:stretch>
            <a:fillRect/>
          </a:stretch>
        </p:blipFill>
        <p:spPr bwMode="gray">
          <a:xfrm>
            <a:off x="4156274" y="4068966"/>
            <a:ext cx="405710" cy="331944"/>
          </a:xfrm>
          <a:prstGeom prst="rect">
            <a:avLst/>
          </a:prstGeom>
        </p:spPr>
      </p:pic>
      <p:sp>
        <p:nvSpPr>
          <p:cNvPr id="28" name="矩形 27"/>
          <p:cNvSpPr/>
          <p:nvPr/>
        </p:nvSpPr>
        <p:spPr bwMode="gray">
          <a:xfrm>
            <a:off x="3290567" y="4397957"/>
            <a:ext cx="2137125" cy="276999"/>
          </a:xfrm>
          <a:prstGeom prst="rect">
            <a:avLst/>
          </a:prstGeom>
        </p:spPr>
        <p:txBody>
          <a:bodyPr wrap="non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内部私有应用、文档、代码</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9" name="矩形 28"/>
          <p:cNvSpPr/>
          <p:nvPr/>
        </p:nvSpPr>
        <p:spPr bwMode="gray">
          <a:xfrm>
            <a:off x="6714598" y="4262410"/>
            <a:ext cx="1082348" cy="307777"/>
          </a:xfrm>
          <a:prstGeom prst="rect">
            <a:avLst/>
          </a:prstGeom>
        </p:spPr>
        <p:txBody>
          <a:bodyPr wrap="none">
            <a:spAutoFit/>
          </a:bodyPr>
          <a:lstStyle/>
          <a:p>
            <a:r>
              <a:rPr lang="zh-CN" altLang="en-US" sz="14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研发资源组</a:t>
            </a:r>
          </a:p>
        </p:txBody>
      </p:sp>
      <p:sp>
        <p:nvSpPr>
          <p:cNvPr id="30" name="Right Arrow 158"/>
          <p:cNvSpPr/>
          <p:nvPr/>
        </p:nvSpPr>
        <p:spPr bwMode="gray">
          <a:xfrm>
            <a:off x="5658701" y="3566661"/>
            <a:ext cx="612000" cy="216000"/>
          </a:xfrm>
          <a:prstGeom prst="rightArrow">
            <a:avLst>
              <a:gd name="adj1" fmla="val 60911"/>
              <a:gd name="adj2" fmla="val 50000"/>
            </a:avLst>
          </a:prstGeom>
          <a:gradFill flip="none" rotWithShape="1">
            <a:gsLst>
              <a:gs pos="15000">
                <a:schemeClr val="accent1">
                  <a:lumMod val="5000"/>
                  <a:lumOff val="95000"/>
                  <a:alpha val="0"/>
                </a:schemeClr>
              </a:gs>
              <a:gs pos="81000">
                <a:srgbClr val="FFCC66"/>
              </a:gs>
            </a:gsLst>
            <a:lin ang="0" scaled="1"/>
            <a:tileRect/>
          </a:gradFill>
          <a:ln w="9525">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Right Arrow 158"/>
          <p:cNvSpPr/>
          <p:nvPr/>
        </p:nvSpPr>
        <p:spPr bwMode="gray">
          <a:xfrm>
            <a:off x="5658701" y="4320456"/>
            <a:ext cx="612000" cy="216000"/>
          </a:xfrm>
          <a:prstGeom prst="rightArrow">
            <a:avLst>
              <a:gd name="adj1" fmla="val 60911"/>
              <a:gd name="adj2" fmla="val 50000"/>
            </a:avLst>
          </a:prstGeom>
          <a:gradFill flip="none" rotWithShape="1">
            <a:gsLst>
              <a:gs pos="15000">
                <a:schemeClr val="accent1">
                  <a:lumMod val="5000"/>
                  <a:lumOff val="95000"/>
                  <a:alpha val="0"/>
                </a:schemeClr>
              </a:gs>
              <a:gs pos="81000">
                <a:srgbClr val="FFCC66"/>
              </a:gs>
            </a:gsLst>
            <a:lin ang="0" scaled="1"/>
            <a:tileRect/>
          </a:gradFill>
          <a:ln w="9525">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528423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a:sym typeface="Huawei Sans" panose="020C0503030203020204" pitchFamily="34" charset="0"/>
              </a:rPr>
              <a:t>策略设计：</a:t>
            </a:r>
            <a:r>
              <a:rPr lang="zh-CN" altLang="en-US" dirty="0"/>
              <a:t>策略控制矩阵设计</a:t>
            </a:r>
          </a:p>
        </p:txBody>
      </p:sp>
      <p:sp>
        <p:nvSpPr>
          <p:cNvPr id="11" name="圆角矩形 75"/>
          <p:cNvSpPr/>
          <p:nvPr/>
        </p:nvSpPr>
        <p:spPr bwMode="gray">
          <a:xfrm>
            <a:off x="761526" y="1228298"/>
            <a:ext cx="10698638" cy="358200"/>
          </a:xfrm>
          <a:prstGeom prst="roundRect">
            <a:avLst>
              <a:gd name="adj" fmla="val 10604"/>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txBody>
          <a:bodyPr wrap="square">
            <a:spAutoFit/>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根据需求得出业务随行中动态安全组和静态安全组的划分，并根据网络访问权限得出网络权限的访问矩阵。</a:t>
            </a:r>
          </a:p>
        </p:txBody>
      </p:sp>
      <p:sp>
        <p:nvSpPr>
          <p:cNvPr id="12" name="圆角矩形 75"/>
          <p:cNvSpPr/>
          <p:nvPr/>
        </p:nvSpPr>
        <p:spPr bwMode="gray">
          <a:xfrm>
            <a:off x="761526" y="1912114"/>
            <a:ext cx="3022600"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动态安全组</a:t>
            </a:r>
          </a:p>
        </p:txBody>
      </p:sp>
      <p:sp>
        <p:nvSpPr>
          <p:cNvPr id="13" name="圆角矩形 75"/>
          <p:cNvSpPr/>
          <p:nvPr/>
        </p:nvSpPr>
        <p:spPr bwMode="gray">
          <a:xfrm>
            <a:off x="761526" y="2355438"/>
            <a:ext cx="3022600" cy="1303611"/>
          </a:xfrm>
          <a:prstGeom prst="roundRect">
            <a:avLst>
              <a:gd name="adj" fmla="val 1513"/>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marL="285750" indent="-285750">
              <a:lnSpc>
                <a:spcPts val="2400"/>
              </a:lnSpc>
              <a:buFont typeface="Arial" panose="020B0604020202020204" pitchFamily="34" charset="0"/>
              <a:buChar char="•"/>
            </a:pP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HR</a:t>
            </a:r>
            <a:endPar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研发</a:t>
            </a:r>
          </a:p>
          <a:p>
            <a:pPr marL="285750" indent="-285750">
              <a:lnSpc>
                <a:spcPts val="2400"/>
              </a:lnSpc>
              <a:buFont typeface="Arial" panose="020B0604020202020204" pitchFamily="34" charset="0"/>
              <a:buChar char="•"/>
            </a:pPr>
            <a:r>
              <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销售</a:t>
            </a:r>
          </a:p>
          <a:p>
            <a:pPr marL="285750" indent="-285750">
              <a:lnSpc>
                <a:spcPts val="2400"/>
              </a:lnSpc>
              <a:buFont typeface="Arial" panose="020B0604020202020204" pitchFamily="34" charset="0"/>
              <a:buChar char="•"/>
            </a:pPr>
            <a:r>
              <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访客</a:t>
            </a:r>
          </a:p>
        </p:txBody>
      </p:sp>
      <p:sp>
        <p:nvSpPr>
          <p:cNvPr id="14" name="圆角矩形 75"/>
          <p:cNvSpPr/>
          <p:nvPr/>
        </p:nvSpPr>
        <p:spPr bwMode="gray">
          <a:xfrm>
            <a:off x="761526" y="3932706"/>
            <a:ext cx="3022600"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静态安全组（资源组）</a:t>
            </a:r>
          </a:p>
        </p:txBody>
      </p:sp>
      <p:sp>
        <p:nvSpPr>
          <p:cNvPr id="15" name="圆角矩形 75"/>
          <p:cNvSpPr/>
          <p:nvPr/>
        </p:nvSpPr>
        <p:spPr bwMode="gray">
          <a:xfrm>
            <a:off x="761526" y="4376030"/>
            <a:ext cx="3022600" cy="1307299"/>
          </a:xfrm>
          <a:prstGeom prst="roundRect">
            <a:avLst>
              <a:gd name="adj" fmla="val 1513"/>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marL="285750" indent="-285750">
              <a:lnSpc>
                <a:spcPts val="2400"/>
              </a:lnSpc>
              <a:buFont typeface="Arial" panose="020B0604020202020204" pitchFamily="34" charset="0"/>
              <a:buChar char="•"/>
            </a:pP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研发代码库</a:t>
            </a:r>
          </a:p>
          <a:p>
            <a:pPr marL="285750" indent="-285750">
              <a:lnSpc>
                <a:spcPts val="2400"/>
              </a:lnSpc>
              <a:buFont typeface="Arial" panose="020B0604020202020204" pitchFamily="34" charset="0"/>
              <a:buChar char="•"/>
            </a:pPr>
            <a:r>
              <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市场文档库</a:t>
            </a:r>
          </a:p>
          <a:p>
            <a:pPr marL="285750" indent="-285750">
              <a:lnSpc>
                <a:spcPts val="2400"/>
              </a:lnSpc>
              <a:buFont typeface="Arial" panose="020B0604020202020204" pitchFamily="34" charset="0"/>
              <a:buChar char="•"/>
            </a:pP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graphicFrame>
        <p:nvGraphicFramePr>
          <p:cNvPr id="16" name="表格 15"/>
          <p:cNvGraphicFramePr>
            <a:graphicFrameLocks noGrp="1"/>
          </p:cNvGraphicFramePr>
          <p:nvPr>
            <p:extLst>
              <p:ext uri="{D42A27DB-BD31-4B8C-83A1-F6EECF244321}">
                <p14:modId xmlns:p14="http://schemas.microsoft.com/office/powerpoint/2010/main" val="1195702701"/>
              </p:ext>
            </p:extLst>
          </p:nvPr>
        </p:nvGraphicFramePr>
        <p:xfrm>
          <a:off x="3928533" y="2250829"/>
          <a:ext cx="7607831" cy="1737360"/>
        </p:xfrm>
        <a:graphic>
          <a:graphicData uri="http://schemas.openxmlformats.org/drawingml/2006/table">
            <a:tbl>
              <a:tblPr firstRow="1" bandRow="1">
                <a:tableStyleId>{5940675A-B579-460E-94D1-54222C63F5DA}</a:tableStyleId>
              </a:tblPr>
              <a:tblGrid>
                <a:gridCol w="820455">
                  <a:extLst>
                    <a:ext uri="{9D8B030D-6E8A-4147-A177-3AD203B41FA5}">
                      <a16:colId xmlns:a16="http://schemas.microsoft.com/office/drawing/2014/main" val="20000"/>
                    </a:ext>
                  </a:extLst>
                </a:gridCol>
                <a:gridCol w="964297">
                  <a:extLst>
                    <a:ext uri="{9D8B030D-6E8A-4147-A177-3AD203B41FA5}">
                      <a16:colId xmlns:a16="http://schemas.microsoft.com/office/drawing/2014/main" val="20001"/>
                    </a:ext>
                  </a:extLst>
                </a:gridCol>
                <a:gridCol w="964297">
                  <a:extLst>
                    <a:ext uri="{9D8B030D-6E8A-4147-A177-3AD203B41FA5}">
                      <a16:colId xmlns:a16="http://schemas.microsoft.com/office/drawing/2014/main" val="20002"/>
                    </a:ext>
                  </a:extLst>
                </a:gridCol>
                <a:gridCol w="964297">
                  <a:extLst>
                    <a:ext uri="{9D8B030D-6E8A-4147-A177-3AD203B41FA5}">
                      <a16:colId xmlns:a16="http://schemas.microsoft.com/office/drawing/2014/main" val="20003"/>
                    </a:ext>
                  </a:extLst>
                </a:gridCol>
                <a:gridCol w="964297">
                  <a:extLst>
                    <a:ext uri="{9D8B030D-6E8A-4147-A177-3AD203B41FA5}">
                      <a16:colId xmlns:a16="http://schemas.microsoft.com/office/drawing/2014/main" val="20004"/>
                    </a:ext>
                  </a:extLst>
                </a:gridCol>
                <a:gridCol w="732547">
                  <a:extLst>
                    <a:ext uri="{9D8B030D-6E8A-4147-A177-3AD203B41FA5}">
                      <a16:colId xmlns:a16="http://schemas.microsoft.com/office/drawing/2014/main" val="20005"/>
                    </a:ext>
                  </a:extLst>
                </a:gridCol>
                <a:gridCol w="732547">
                  <a:extLst>
                    <a:ext uri="{9D8B030D-6E8A-4147-A177-3AD203B41FA5}">
                      <a16:colId xmlns:a16="http://schemas.microsoft.com/office/drawing/2014/main" val="20006"/>
                    </a:ext>
                  </a:extLst>
                </a:gridCol>
                <a:gridCol w="732547">
                  <a:extLst>
                    <a:ext uri="{9D8B030D-6E8A-4147-A177-3AD203B41FA5}">
                      <a16:colId xmlns:a16="http://schemas.microsoft.com/office/drawing/2014/main" val="20007"/>
                    </a:ext>
                  </a:extLst>
                </a:gridCol>
                <a:gridCol w="732547">
                  <a:extLst>
                    <a:ext uri="{9D8B030D-6E8A-4147-A177-3AD203B41FA5}">
                      <a16:colId xmlns:a16="http://schemas.microsoft.com/office/drawing/2014/main" val="20008"/>
                    </a:ext>
                  </a:extLst>
                </a:gridCol>
              </a:tblGrid>
              <a:tr h="417618">
                <a:tc>
                  <a:txBody>
                    <a:bodyPr/>
                    <a:lstStyle/>
                    <a:p>
                      <a:pPr algn="ct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OA</a:t>
                      </a:r>
                    </a:p>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文档库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HR</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访客</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37491">
                <a:tc>
                  <a:txBody>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HR</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禁止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禁止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11365">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indent="0" algn="ctr" defTabSz="913706"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禁止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3706" rtl="0" eaLnBrk="1" fontAlgn="auto" latinLnBrk="0" hangingPunct="1">
                        <a:lnSpc>
                          <a:spcPct val="100000"/>
                        </a:lnSpc>
                        <a:spcBef>
                          <a:spcPts val="0"/>
                        </a:spcBef>
                        <a:spcAft>
                          <a:spcPts val="0"/>
                        </a:spcAft>
                        <a:buClrTx/>
                        <a:buSzTx/>
                        <a:buFontTx/>
                        <a:buNone/>
                        <a:tabLst/>
                        <a:defRPr/>
                      </a:pP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8302">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3706" rtl="0" eaLnBrk="1" fontAlgn="auto" latinLnBrk="0" hangingPunct="1">
                        <a:lnSpc>
                          <a:spcPct val="100000"/>
                        </a:lnSpc>
                        <a:spcBef>
                          <a:spcPts val="0"/>
                        </a:spcBef>
                        <a:spcAft>
                          <a:spcPts val="0"/>
                        </a:spcAft>
                        <a:buClrTx/>
                        <a:buSzTx/>
                        <a:buFontTx/>
                        <a:buNone/>
                        <a:tabLst/>
                        <a:defRPr/>
                      </a:pP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禁止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3706" rtl="0" eaLnBrk="1" fontAlgn="auto" latinLnBrk="0" hangingPunct="1">
                        <a:lnSpc>
                          <a:spcPct val="100000"/>
                        </a:lnSpc>
                        <a:spcBef>
                          <a:spcPts val="0"/>
                        </a:spcBef>
                        <a:spcAft>
                          <a:spcPts val="0"/>
                        </a:spcAft>
                        <a:buClrTx/>
                        <a:buSzTx/>
                        <a:buFontTx/>
                        <a:buNone/>
                        <a:tabLst/>
                        <a:defRPr/>
                      </a:pP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30959">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访客</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矩形 17"/>
          <p:cNvSpPr/>
          <p:nvPr/>
        </p:nvSpPr>
        <p:spPr bwMode="gray">
          <a:xfrm>
            <a:off x="3930664" y="2387157"/>
            <a:ext cx="315221" cy="400110"/>
          </a:xfrm>
          <a:prstGeom prst="rect">
            <a:avLst/>
          </a:prstGeom>
        </p:spPr>
        <p:txBody>
          <a:bodyPr wrap="square">
            <a:spAutoFit/>
          </a:bodyPr>
          <a:lstStyle/>
          <a:p>
            <a:pPr>
              <a:lnSpc>
                <a:spcPts val="24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源</a:t>
            </a:r>
          </a:p>
        </p:txBody>
      </p:sp>
      <p:sp>
        <p:nvSpPr>
          <p:cNvPr id="19" name="矩形 18"/>
          <p:cNvSpPr/>
          <p:nvPr/>
        </p:nvSpPr>
        <p:spPr bwMode="gray">
          <a:xfrm>
            <a:off x="4227031" y="2194444"/>
            <a:ext cx="641839" cy="400110"/>
          </a:xfrm>
          <a:prstGeom prst="rect">
            <a:avLst/>
          </a:prstGeom>
        </p:spPr>
        <p:txBody>
          <a:bodyPr wrap="square">
            <a:spAutoFit/>
          </a:bodyPr>
          <a:lstStyle/>
          <a:p>
            <a:pPr>
              <a:lnSpc>
                <a:spcPts val="24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目的</a:t>
            </a:r>
          </a:p>
        </p:txBody>
      </p:sp>
      <p:sp>
        <p:nvSpPr>
          <p:cNvPr id="24" name="矩形 23"/>
          <p:cNvSpPr/>
          <p:nvPr/>
        </p:nvSpPr>
        <p:spPr bwMode="gray">
          <a:xfrm>
            <a:off x="3814660" y="1849819"/>
            <a:ext cx="1399178" cy="400110"/>
          </a:xfrm>
          <a:prstGeom prst="rect">
            <a:avLst/>
          </a:prstGeom>
        </p:spPr>
        <p:txBody>
          <a:bodyPr wrap="square">
            <a:spAutoFit/>
          </a:bodyPr>
          <a:lstStyle/>
          <a:p>
            <a:pPr>
              <a:lnSpc>
                <a:spcPts val="24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策略控制矩阵：</a:t>
            </a:r>
          </a:p>
        </p:txBody>
      </p:sp>
      <p:sp>
        <p:nvSpPr>
          <p:cNvPr id="20" name="五边形 19"/>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21" name="燕尾形 20"/>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392619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认证点和策略执行点位置选择</a:t>
            </a:r>
          </a:p>
        </p:txBody>
      </p:sp>
      <p:sp>
        <p:nvSpPr>
          <p:cNvPr id="3" name="文本占位符 2"/>
          <p:cNvSpPr>
            <a:spLocks noGrp="1"/>
          </p:cNvSpPr>
          <p:nvPr>
            <p:ph type="body" sz="quarter" idx="10"/>
          </p:nvPr>
        </p:nvSpPr>
        <p:spPr/>
        <p:txBody>
          <a:bodyPr/>
          <a:lstStyle/>
          <a:p>
            <a:r>
              <a:rPr lang="zh-CN" altLang="en-US" sz="2000" dirty="0"/>
              <a:t>一般认证点选择用户网关设备，并且网关设备同时作为策略执行点，部署业务随行功能。主要原因：</a:t>
            </a:r>
          </a:p>
          <a:p>
            <a:pPr lvl="1"/>
            <a:r>
              <a:rPr lang="zh-CN" altLang="en-US" sz="1800" dirty="0"/>
              <a:t>接入交换机数量较多，在每台接入交换机上配置认证功能较为繁琐，管理起来也较为麻烦。</a:t>
            </a:r>
          </a:p>
          <a:p>
            <a:pPr lvl="1"/>
            <a:r>
              <a:rPr lang="zh-CN" altLang="en-US" sz="1800" dirty="0"/>
              <a:t>控制器需要向策略执行点设备同步权限策略，如果选用接入交换机作为认证点，则策略执行点设备的数量会大幅增加（因为接入交换机数量较多），不仅增加了控制器上设备管理的工作量和难度，还延长了每次同步策略的时间。</a:t>
            </a:r>
          </a:p>
          <a:p>
            <a:r>
              <a:rPr lang="zh-CN" altLang="en-US" sz="2000" dirty="0"/>
              <a:t>对于用户网关以下的二层网络中能够互通的用户，如果想要进行互访控制，可以部署二层隔离，使用户在二层不能互通，流量必须经过用户网关。</a:t>
            </a:r>
          </a:p>
          <a:p>
            <a:endParaRPr lang="zh-CN" altLang="en-US" sz="2000" dirty="0"/>
          </a:p>
        </p:txBody>
      </p:sp>
      <p:sp>
        <p:nvSpPr>
          <p:cNvPr id="4" name="五边形 3"/>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5" name="燕尾形 4"/>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6"/>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956639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traight Connector 167"/>
          <p:cNvCxnSpPr/>
          <p:nvPr/>
        </p:nvCxnSpPr>
        <p:spPr bwMode="gray">
          <a:xfrm flipH="1">
            <a:off x="2772023" y="2069833"/>
            <a:ext cx="1" cy="102572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0" name="Straight Connector 167"/>
          <p:cNvCxnSpPr/>
          <p:nvPr/>
        </p:nvCxnSpPr>
        <p:spPr bwMode="gray">
          <a:xfrm flipH="1">
            <a:off x="1936109" y="3025261"/>
            <a:ext cx="2023849"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nvGrpSpPr>
          <p:cNvPr id="47" name="Group 165"/>
          <p:cNvGrpSpPr/>
          <p:nvPr/>
        </p:nvGrpSpPr>
        <p:grpSpPr bwMode="gray">
          <a:xfrm rot="16200000">
            <a:off x="1817320" y="2481950"/>
            <a:ext cx="1056786" cy="1097283"/>
            <a:chOff x="-1233037" y="914446"/>
            <a:chExt cx="1573823" cy="778776"/>
          </a:xfrm>
        </p:grpSpPr>
        <p:cxnSp>
          <p:nvCxnSpPr>
            <p:cNvPr id="48"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bwMode="gray"/>
        <p:txBody>
          <a:bodyPr/>
          <a:lstStyle/>
          <a:p>
            <a:r>
              <a:rPr lang="en-US" altLang="zh-CN" dirty="0">
                <a:sym typeface="Huawei Sans" panose="020C0503030203020204" pitchFamily="34" charset="0"/>
              </a:rPr>
              <a:t>IP-Group</a:t>
            </a:r>
            <a:r>
              <a:rPr lang="zh-CN" altLang="en-US" dirty="0">
                <a:sym typeface="Huawei Sans" panose="020C0503030203020204" pitchFamily="34" charset="0"/>
              </a:rPr>
              <a:t>同步</a:t>
            </a:r>
          </a:p>
        </p:txBody>
      </p:sp>
      <p:sp>
        <p:nvSpPr>
          <p:cNvPr id="3" name="圆角矩形 75"/>
          <p:cNvSpPr/>
          <p:nvPr/>
        </p:nvSpPr>
        <p:spPr bwMode="gray">
          <a:xfrm>
            <a:off x="477521" y="1029817"/>
            <a:ext cx="5112839" cy="360000"/>
          </a:xfrm>
          <a:prstGeom prst="roundRect">
            <a:avLst>
              <a:gd name="adj" fmla="val 8676"/>
            </a:avLst>
          </a:prstGeom>
          <a:gradFill>
            <a:gsLst>
              <a:gs pos="0">
                <a:schemeClr val="bg1"/>
              </a:gs>
              <a:gs pos="100000">
                <a:schemeClr val="bg1">
                  <a:lumMod val="95000"/>
                </a:schemeClr>
              </a:gs>
            </a:gsLst>
            <a:lin ang="5400000" scaled="1"/>
          </a:gra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技术背景</a:t>
            </a:r>
          </a:p>
        </p:txBody>
      </p:sp>
      <p:sp>
        <p:nvSpPr>
          <p:cNvPr id="4" name="圆角矩形 75"/>
          <p:cNvSpPr/>
          <p:nvPr/>
        </p:nvSpPr>
        <p:spPr bwMode="gray">
          <a:xfrm>
            <a:off x="5684520" y="1029817"/>
            <a:ext cx="602995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安全组）同步原理</a:t>
            </a:r>
          </a:p>
        </p:txBody>
      </p:sp>
      <p:sp>
        <p:nvSpPr>
          <p:cNvPr id="5" name="圆角矩形 75"/>
          <p:cNvSpPr/>
          <p:nvPr/>
        </p:nvSpPr>
        <p:spPr bwMode="gray">
          <a:xfrm>
            <a:off x="477521" y="1433773"/>
            <a:ext cx="5112839" cy="4702454"/>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 name="圆角矩形 75"/>
          <p:cNvSpPr/>
          <p:nvPr/>
        </p:nvSpPr>
        <p:spPr bwMode="gray">
          <a:xfrm>
            <a:off x="5684520" y="1433773"/>
            <a:ext cx="6029959" cy="4702454"/>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矩形 6"/>
          <p:cNvSpPr/>
          <p:nvPr/>
        </p:nvSpPr>
        <p:spPr bwMode="gray">
          <a:xfrm>
            <a:off x="5814061" y="1507881"/>
            <a:ext cx="5793674" cy="1015663"/>
          </a:xfrm>
          <a:prstGeom prst="rect">
            <a:avLst/>
          </a:prstGeom>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控制器向策略执行点交换机</a:t>
            </a: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同步用户</a:t>
            </a:r>
            <a:r>
              <a:rPr lang="en-US" altLang="zh-CN"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地址和</a:t>
            </a:r>
            <a:r>
              <a:rPr lang="en-US" altLang="zh-CN"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Group</a:t>
            </a: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的关联信息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，如此一来，</a:t>
            </a: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认证点和策略执行点可分离</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，从而实现灵活组网，且第三方设备混合组网也可轻松应对。</a:t>
            </a:r>
          </a:p>
        </p:txBody>
      </p:sp>
      <p:grpSp>
        <p:nvGrpSpPr>
          <p:cNvPr id="8" name="Group 165"/>
          <p:cNvGrpSpPr/>
          <p:nvPr/>
        </p:nvGrpSpPr>
        <p:grpSpPr bwMode="gray">
          <a:xfrm rot="10800000">
            <a:off x="7736729" y="3954973"/>
            <a:ext cx="1972656" cy="797524"/>
            <a:chOff x="-1233037" y="914446"/>
            <a:chExt cx="1573823" cy="778776"/>
          </a:xfrm>
        </p:grpSpPr>
        <p:cxnSp>
          <p:nvCxnSpPr>
            <p:cNvPr id="9"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1" name="图片 86" descr="核心交换机.png"/>
          <p:cNvPicPr>
            <a:picLocks noChangeAspect="1"/>
          </p:cNvPicPr>
          <p:nvPr/>
        </p:nvPicPr>
        <p:blipFill>
          <a:blip r:embed="rId3" cstate="print"/>
          <a:stretch>
            <a:fillRect/>
          </a:stretch>
        </p:blipFill>
        <p:spPr bwMode="gray">
          <a:xfrm>
            <a:off x="8503267" y="3802405"/>
            <a:ext cx="405710" cy="331945"/>
          </a:xfrm>
          <a:prstGeom prst="rect">
            <a:avLst/>
          </a:prstGeom>
        </p:spPr>
      </p:pic>
      <p:sp>
        <p:nvSpPr>
          <p:cNvPr id="13" name="Oval 4"/>
          <p:cNvSpPr>
            <a:spLocks noChangeAspect="1"/>
          </p:cNvSpPr>
          <p:nvPr/>
        </p:nvSpPr>
        <p:spPr bwMode="gray">
          <a:xfrm>
            <a:off x="6980264" y="5211211"/>
            <a:ext cx="211977" cy="211977"/>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Oval 4"/>
          <p:cNvSpPr>
            <a:spLocks noChangeAspect="1"/>
          </p:cNvSpPr>
          <p:nvPr/>
        </p:nvSpPr>
        <p:spPr bwMode="gray">
          <a:xfrm>
            <a:off x="9777397" y="2354523"/>
            <a:ext cx="211977" cy="211977"/>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926374" y="2726189"/>
            <a:ext cx="1629683" cy="300556"/>
          </a:xfrm>
          <a:prstGeom prst="rect">
            <a:avLst/>
          </a:prstGeom>
        </p:spPr>
      </p:pic>
      <p:cxnSp>
        <p:nvCxnSpPr>
          <p:cNvPr id="19" name="Straight Connector 167"/>
          <p:cNvCxnSpPr/>
          <p:nvPr/>
        </p:nvCxnSpPr>
        <p:spPr bwMode="gray">
          <a:xfrm flipH="1">
            <a:off x="7680921" y="4870925"/>
            <a:ext cx="1" cy="52636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67"/>
          <p:cNvCxnSpPr/>
          <p:nvPr/>
        </p:nvCxnSpPr>
        <p:spPr bwMode="gray">
          <a:xfrm flipH="1">
            <a:off x="9759036" y="4870925"/>
            <a:ext cx="1" cy="52636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21" name="Table 84"/>
          <p:cNvGraphicFramePr>
            <a:graphicFrameLocks noGrp="1"/>
          </p:cNvGraphicFramePr>
          <p:nvPr>
            <p:extLst>
              <p:ext uri="{D42A27DB-BD31-4B8C-83A1-F6EECF244321}">
                <p14:modId xmlns:p14="http://schemas.microsoft.com/office/powerpoint/2010/main" val="2772331969"/>
              </p:ext>
            </p:extLst>
          </p:nvPr>
        </p:nvGraphicFramePr>
        <p:xfrm>
          <a:off x="10059655" y="2631917"/>
          <a:ext cx="1453080" cy="822960"/>
        </p:xfrm>
        <a:graphic>
          <a:graphicData uri="http://schemas.openxmlformats.org/drawingml/2006/table">
            <a:tbl>
              <a:tblPr firstRow="1" bandRow="1">
                <a:tableStyleId>{5940675A-B579-460E-94D1-54222C63F5DA}</a:tableStyleId>
              </a:tblPr>
              <a:tblGrid>
                <a:gridCol w="701487">
                  <a:extLst>
                    <a:ext uri="{9D8B030D-6E8A-4147-A177-3AD203B41FA5}">
                      <a16:colId xmlns:a16="http://schemas.microsoft.com/office/drawing/2014/main" val="20000"/>
                    </a:ext>
                  </a:extLst>
                </a:gridCol>
                <a:gridCol w="751593">
                  <a:extLst>
                    <a:ext uri="{9D8B030D-6E8A-4147-A177-3AD203B41FA5}">
                      <a16:colId xmlns:a16="http://schemas.microsoft.com/office/drawing/2014/main" val="20001"/>
                    </a:ext>
                  </a:extLst>
                </a:gridCol>
              </a:tblGrid>
              <a:tr h="0">
                <a:tc>
                  <a:txBody>
                    <a:bodyPr/>
                    <a:lstStyle/>
                    <a:p>
                      <a:pPr algn="ctr" font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IP</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Group</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1.1.1.1</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Group1</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1"/>
                  </a:ext>
                </a:extLst>
              </a:tr>
              <a:tr h="0">
                <a:tc>
                  <a:txBody>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2.2.2.2</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Group2</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22" name="文本框 21"/>
          <p:cNvSpPr txBox="1"/>
          <p:nvPr/>
        </p:nvSpPr>
        <p:spPr bwMode="gray">
          <a:xfrm>
            <a:off x="7136323" y="5742538"/>
            <a:ext cx="1093569"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PC1</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1.1.1.1</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9216220" y="5742538"/>
            <a:ext cx="1093569"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PC2</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任意多边形 23"/>
          <p:cNvSpPr/>
          <p:nvPr/>
        </p:nvSpPr>
        <p:spPr bwMode="gray">
          <a:xfrm>
            <a:off x="7243508" y="3027420"/>
            <a:ext cx="608709" cy="1557867"/>
          </a:xfrm>
          <a:custGeom>
            <a:avLst/>
            <a:gdLst>
              <a:gd name="connsiteX0" fmla="*/ 0 w 3530601"/>
              <a:gd name="connsiteY0" fmla="*/ 779713 h 779713"/>
              <a:gd name="connsiteX1" fmla="*/ 3530601 w 3530601"/>
              <a:gd name="connsiteY1" fmla="*/ 754313 h 779713"/>
              <a:gd name="connsiteX0" fmla="*/ 0 w 1380068"/>
              <a:gd name="connsiteY0" fmla="*/ 1107384 h 1107384"/>
              <a:gd name="connsiteX1" fmla="*/ 1380068 w 1380068"/>
              <a:gd name="connsiteY1" fmla="*/ 557051 h 1107384"/>
              <a:gd name="connsiteX0" fmla="*/ 0 w 1380068"/>
              <a:gd name="connsiteY0" fmla="*/ 1111639 h 1111639"/>
              <a:gd name="connsiteX1" fmla="*/ 1380068 w 1380068"/>
              <a:gd name="connsiteY1" fmla="*/ 561306 h 1111639"/>
              <a:gd name="connsiteX0" fmla="*/ 101475 w 567143"/>
              <a:gd name="connsiteY0" fmla="*/ 1899472 h 1899472"/>
              <a:gd name="connsiteX1" fmla="*/ 567143 w 567143"/>
              <a:gd name="connsiteY1" fmla="*/ 358539 h 1899472"/>
              <a:gd name="connsiteX0" fmla="*/ 79364 w 545032"/>
              <a:gd name="connsiteY0" fmla="*/ 1540933 h 1540933"/>
              <a:gd name="connsiteX1" fmla="*/ 545032 w 545032"/>
              <a:gd name="connsiteY1" fmla="*/ 0 h 1540933"/>
              <a:gd name="connsiteX0" fmla="*/ 148464 w 529465"/>
              <a:gd name="connsiteY0" fmla="*/ 1557867 h 1557867"/>
              <a:gd name="connsiteX1" fmla="*/ 529465 w 529465"/>
              <a:gd name="connsiteY1" fmla="*/ 0 h 1557867"/>
              <a:gd name="connsiteX0" fmla="*/ 522234 w 903235"/>
              <a:gd name="connsiteY0" fmla="*/ 1557867 h 1557867"/>
              <a:gd name="connsiteX1" fmla="*/ 903235 w 903235"/>
              <a:gd name="connsiteY1" fmla="*/ 0 h 1557867"/>
              <a:gd name="connsiteX0" fmla="*/ 227708 w 608709"/>
              <a:gd name="connsiteY0" fmla="*/ 1557867 h 1557867"/>
              <a:gd name="connsiteX1" fmla="*/ 608709 w 608709"/>
              <a:gd name="connsiteY1" fmla="*/ 0 h 1557867"/>
            </a:gdLst>
            <a:ahLst/>
            <a:cxnLst>
              <a:cxn ang="0">
                <a:pos x="connsiteX0" y="connsiteY0"/>
              </a:cxn>
              <a:cxn ang="0">
                <a:pos x="connsiteX1" y="connsiteY1"/>
              </a:cxn>
            </a:cxnLst>
            <a:rect l="l" t="t" r="r" b="b"/>
            <a:pathLst>
              <a:path w="608709" h="1557867">
                <a:moveTo>
                  <a:pt x="227708" y="1557867"/>
                </a:moveTo>
                <a:cubicBezTo>
                  <a:pt x="-178692" y="1205091"/>
                  <a:pt x="-34757" y="522110"/>
                  <a:pt x="608709" y="0"/>
                </a:cubicBezTo>
              </a:path>
            </a:pathLst>
          </a:custGeom>
          <a:ln w="38100">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 name="Straight Connector 167"/>
          <p:cNvCxnSpPr/>
          <p:nvPr/>
        </p:nvCxnSpPr>
        <p:spPr bwMode="gray">
          <a:xfrm flipV="1">
            <a:off x="7309927" y="4997334"/>
            <a:ext cx="1" cy="395462"/>
          </a:xfrm>
          <a:prstGeom prst="line">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bwMode="gray">
          <a:xfrm>
            <a:off x="6155613" y="5182637"/>
            <a:ext cx="902811" cy="307777"/>
          </a:xfrm>
          <a:prstGeom prst="rect">
            <a:avLst/>
          </a:prstGeom>
          <a:noFill/>
        </p:spPr>
        <p:txBody>
          <a:bodyPr wrap="none" rtlCol="0">
            <a:spAutoFit/>
          </a:bodyPr>
          <a:lstStyle/>
          <a:p>
            <a:pPr algn="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用户接入</a:t>
            </a:r>
          </a:p>
        </p:txBody>
      </p:sp>
      <p:sp>
        <p:nvSpPr>
          <p:cNvPr id="27" name="Oval 4"/>
          <p:cNvSpPr>
            <a:spLocks noChangeAspect="1"/>
          </p:cNvSpPr>
          <p:nvPr/>
        </p:nvSpPr>
        <p:spPr bwMode="gray">
          <a:xfrm>
            <a:off x="7136323" y="3954974"/>
            <a:ext cx="211977" cy="211977"/>
          </a:xfrm>
          <a:prstGeom prst="ellipse">
            <a:avLst/>
          </a:prstGeom>
          <a:solidFill>
            <a:srgbClr val="30B5C5"/>
          </a:solidFill>
          <a:ln w="19050">
            <a:no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6186383" y="3907073"/>
            <a:ext cx="902812" cy="307777"/>
          </a:xfrm>
          <a:prstGeom prst="rect">
            <a:avLst/>
          </a:prstGeom>
          <a:noFill/>
        </p:spPr>
        <p:txBody>
          <a:bodyPr wrap="none" rtlCol="0">
            <a:spAutoFit/>
          </a:bodyPr>
          <a:lstStyle/>
          <a:p>
            <a:pPr algn="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用户认证</a:t>
            </a:r>
          </a:p>
        </p:txBody>
      </p:sp>
      <p:sp>
        <p:nvSpPr>
          <p:cNvPr id="29" name="任意多边形 28"/>
          <p:cNvSpPr/>
          <p:nvPr/>
        </p:nvSpPr>
        <p:spPr bwMode="gray">
          <a:xfrm flipH="1" flipV="1">
            <a:off x="9028927" y="3086687"/>
            <a:ext cx="506589" cy="890150"/>
          </a:xfrm>
          <a:custGeom>
            <a:avLst/>
            <a:gdLst>
              <a:gd name="connsiteX0" fmla="*/ 0 w 3530601"/>
              <a:gd name="connsiteY0" fmla="*/ 779713 h 779713"/>
              <a:gd name="connsiteX1" fmla="*/ 3530601 w 3530601"/>
              <a:gd name="connsiteY1" fmla="*/ 754313 h 779713"/>
              <a:gd name="connsiteX0" fmla="*/ 0 w 1380068"/>
              <a:gd name="connsiteY0" fmla="*/ 1107384 h 1107384"/>
              <a:gd name="connsiteX1" fmla="*/ 1380068 w 1380068"/>
              <a:gd name="connsiteY1" fmla="*/ 557051 h 1107384"/>
              <a:gd name="connsiteX0" fmla="*/ 0 w 1380068"/>
              <a:gd name="connsiteY0" fmla="*/ 1111639 h 1111639"/>
              <a:gd name="connsiteX1" fmla="*/ 1380068 w 1380068"/>
              <a:gd name="connsiteY1" fmla="*/ 561306 h 1111639"/>
              <a:gd name="connsiteX0" fmla="*/ 101475 w 567143"/>
              <a:gd name="connsiteY0" fmla="*/ 1899472 h 1899472"/>
              <a:gd name="connsiteX1" fmla="*/ 567143 w 567143"/>
              <a:gd name="connsiteY1" fmla="*/ 358539 h 1899472"/>
              <a:gd name="connsiteX0" fmla="*/ 79364 w 545032"/>
              <a:gd name="connsiteY0" fmla="*/ 1540933 h 1540933"/>
              <a:gd name="connsiteX1" fmla="*/ 545032 w 545032"/>
              <a:gd name="connsiteY1" fmla="*/ 0 h 1540933"/>
              <a:gd name="connsiteX0" fmla="*/ 148464 w 529465"/>
              <a:gd name="connsiteY0" fmla="*/ 1557867 h 1557867"/>
              <a:gd name="connsiteX1" fmla="*/ 529465 w 529465"/>
              <a:gd name="connsiteY1" fmla="*/ 0 h 1557867"/>
              <a:gd name="connsiteX0" fmla="*/ 522234 w 903235"/>
              <a:gd name="connsiteY0" fmla="*/ 1557867 h 1557867"/>
              <a:gd name="connsiteX1" fmla="*/ 903235 w 903235"/>
              <a:gd name="connsiteY1" fmla="*/ 0 h 1557867"/>
              <a:gd name="connsiteX0" fmla="*/ 227708 w 608709"/>
              <a:gd name="connsiteY0" fmla="*/ 1557867 h 1557867"/>
              <a:gd name="connsiteX1" fmla="*/ 608709 w 608709"/>
              <a:gd name="connsiteY1" fmla="*/ 0 h 1557867"/>
              <a:gd name="connsiteX0" fmla="*/ 214835 w 638095"/>
              <a:gd name="connsiteY0" fmla="*/ 1609718 h 1609718"/>
              <a:gd name="connsiteX1" fmla="*/ 638095 w 638095"/>
              <a:gd name="connsiteY1" fmla="*/ 0 h 1609718"/>
              <a:gd name="connsiteX0" fmla="*/ 99200 w 522460"/>
              <a:gd name="connsiteY0" fmla="*/ 1609718 h 1609718"/>
              <a:gd name="connsiteX1" fmla="*/ 522460 w 522460"/>
              <a:gd name="connsiteY1" fmla="*/ 0 h 1609718"/>
              <a:gd name="connsiteX0" fmla="*/ 99200 w 522460"/>
              <a:gd name="connsiteY0" fmla="*/ 1817121 h 1817121"/>
              <a:gd name="connsiteX1" fmla="*/ 522460 w 522460"/>
              <a:gd name="connsiteY1" fmla="*/ 0 h 1817121"/>
              <a:gd name="connsiteX0" fmla="*/ 82446 w 505706"/>
              <a:gd name="connsiteY0" fmla="*/ 1817121 h 1817121"/>
              <a:gd name="connsiteX1" fmla="*/ 505706 w 505706"/>
              <a:gd name="connsiteY1" fmla="*/ 0 h 1817121"/>
            </a:gdLst>
            <a:ahLst/>
            <a:cxnLst>
              <a:cxn ang="0">
                <a:pos x="connsiteX0" y="connsiteY0"/>
              </a:cxn>
              <a:cxn ang="0">
                <a:pos x="connsiteX1" y="connsiteY1"/>
              </a:cxn>
            </a:cxnLst>
            <a:rect l="l" t="t" r="r" b="b"/>
            <a:pathLst>
              <a:path w="505706" h="1817121">
                <a:moveTo>
                  <a:pt x="82446" y="1817121"/>
                </a:moveTo>
                <a:cubicBezTo>
                  <a:pt x="-61945" y="1049539"/>
                  <a:pt x="-70145" y="522110"/>
                  <a:pt x="505706" y="0"/>
                </a:cubicBezTo>
              </a:path>
            </a:pathLst>
          </a:cu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Oval 4"/>
          <p:cNvSpPr>
            <a:spLocks noChangeAspect="1"/>
          </p:cNvSpPr>
          <p:nvPr/>
        </p:nvSpPr>
        <p:spPr bwMode="gray">
          <a:xfrm>
            <a:off x="9379882" y="3599897"/>
            <a:ext cx="211977" cy="211977"/>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9581969" y="3663672"/>
            <a:ext cx="2046151" cy="523220"/>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HTTP2.0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主动同步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绑定信息</a:t>
            </a:r>
          </a:p>
        </p:txBody>
      </p:sp>
      <p:sp>
        <p:nvSpPr>
          <p:cNvPr id="32" name="任意多边形 31"/>
          <p:cNvSpPr/>
          <p:nvPr/>
        </p:nvSpPr>
        <p:spPr bwMode="gray">
          <a:xfrm>
            <a:off x="7995311" y="4279347"/>
            <a:ext cx="1464733" cy="1265040"/>
          </a:xfrm>
          <a:custGeom>
            <a:avLst/>
            <a:gdLst>
              <a:gd name="connsiteX0" fmla="*/ 0 w 3530601"/>
              <a:gd name="connsiteY0" fmla="*/ 779713 h 779713"/>
              <a:gd name="connsiteX1" fmla="*/ 3530601 w 3530601"/>
              <a:gd name="connsiteY1" fmla="*/ 754313 h 779713"/>
              <a:gd name="connsiteX0" fmla="*/ 0 w 1380068"/>
              <a:gd name="connsiteY0" fmla="*/ 1107384 h 1107384"/>
              <a:gd name="connsiteX1" fmla="*/ 1380068 w 1380068"/>
              <a:gd name="connsiteY1" fmla="*/ 557051 h 1107384"/>
              <a:gd name="connsiteX0" fmla="*/ 0 w 1380068"/>
              <a:gd name="connsiteY0" fmla="*/ 1111639 h 1111639"/>
              <a:gd name="connsiteX1" fmla="*/ 1380068 w 1380068"/>
              <a:gd name="connsiteY1" fmla="*/ 561306 h 1111639"/>
              <a:gd name="connsiteX0" fmla="*/ 101475 w 567143"/>
              <a:gd name="connsiteY0" fmla="*/ 1899472 h 1899472"/>
              <a:gd name="connsiteX1" fmla="*/ 567143 w 567143"/>
              <a:gd name="connsiteY1" fmla="*/ 358539 h 1899472"/>
              <a:gd name="connsiteX0" fmla="*/ 79364 w 545032"/>
              <a:gd name="connsiteY0" fmla="*/ 1540933 h 1540933"/>
              <a:gd name="connsiteX1" fmla="*/ 545032 w 545032"/>
              <a:gd name="connsiteY1" fmla="*/ 0 h 1540933"/>
              <a:gd name="connsiteX0" fmla="*/ 148464 w 529465"/>
              <a:gd name="connsiteY0" fmla="*/ 1557867 h 1557867"/>
              <a:gd name="connsiteX1" fmla="*/ 529465 w 529465"/>
              <a:gd name="connsiteY1" fmla="*/ 0 h 1557867"/>
              <a:gd name="connsiteX0" fmla="*/ 522234 w 903235"/>
              <a:gd name="connsiteY0" fmla="*/ 1557867 h 1557867"/>
              <a:gd name="connsiteX1" fmla="*/ 903235 w 903235"/>
              <a:gd name="connsiteY1" fmla="*/ 0 h 1557867"/>
              <a:gd name="connsiteX0" fmla="*/ 227708 w 608709"/>
              <a:gd name="connsiteY0" fmla="*/ 1557867 h 1557867"/>
              <a:gd name="connsiteX1" fmla="*/ 608709 w 608709"/>
              <a:gd name="connsiteY1" fmla="*/ 0 h 1557867"/>
              <a:gd name="connsiteX0" fmla="*/ 86775 w 1441442"/>
              <a:gd name="connsiteY0" fmla="*/ 211667 h 211667"/>
              <a:gd name="connsiteX1" fmla="*/ 1441442 w 1441442"/>
              <a:gd name="connsiteY1" fmla="*/ 0 h 211667"/>
              <a:gd name="connsiteX0" fmla="*/ 92257 w 1446924"/>
              <a:gd name="connsiteY0" fmla="*/ 1252616 h 1252616"/>
              <a:gd name="connsiteX1" fmla="*/ 1446924 w 1446924"/>
              <a:gd name="connsiteY1" fmla="*/ 1040949 h 1252616"/>
              <a:gd name="connsiteX0" fmla="*/ 0 w 1354667"/>
              <a:gd name="connsiteY0" fmla="*/ 1348814 h 1348814"/>
              <a:gd name="connsiteX1" fmla="*/ 1354667 w 1354667"/>
              <a:gd name="connsiteY1" fmla="*/ 1137147 h 1348814"/>
              <a:gd name="connsiteX0" fmla="*/ 0 w 1498600"/>
              <a:gd name="connsiteY0" fmla="*/ 1342946 h 1342946"/>
              <a:gd name="connsiteX1" fmla="*/ 1498600 w 1498600"/>
              <a:gd name="connsiteY1" fmla="*/ 1139745 h 1342946"/>
              <a:gd name="connsiteX0" fmla="*/ 0 w 1498600"/>
              <a:gd name="connsiteY0" fmla="*/ 1358329 h 1358329"/>
              <a:gd name="connsiteX1" fmla="*/ 1498600 w 1498600"/>
              <a:gd name="connsiteY1" fmla="*/ 1155128 h 1358329"/>
              <a:gd name="connsiteX0" fmla="*/ 0 w 1464733"/>
              <a:gd name="connsiteY0" fmla="*/ 1272425 h 1272425"/>
              <a:gd name="connsiteX1" fmla="*/ 1464733 w 1464733"/>
              <a:gd name="connsiteY1" fmla="*/ 1196224 h 1272425"/>
              <a:gd name="connsiteX0" fmla="*/ 0 w 1464733"/>
              <a:gd name="connsiteY0" fmla="*/ 1265040 h 1265040"/>
              <a:gd name="connsiteX1" fmla="*/ 1464733 w 1464733"/>
              <a:gd name="connsiteY1" fmla="*/ 1188839 h 1265040"/>
            </a:gdLst>
            <a:ahLst/>
            <a:cxnLst>
              <a:cxn ang="0">
                <a:pos x="connsiteX0" y="connsiteY0"/>
              </a:cxn>
              <a:cxn ang="0">
                <a:pos x="connsiteX1" y="connsiteY1"/>
              </a:cxn>
            </a:cxnLst>
            <a:rect l="l" t="t" r="r" b="b"/>
            <a:pathLst>
              <a:path w="1464733" h="1265040">
                <a:moveTo>
                  <a:pt x="0" y="1265040"/>
                </a:moveTo>
                <a:cubicBezTo>
                  <a:pt x="25400" y="455065"/>
                  <a:pt x="931334" y="-1083052"/>
                  <a:pt x="1464733" y="1188839"/>
                </a:cubicBezTo>
              </a:path>
            </a:pathLst>
          </a:cu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Oval 4"/>
          <p:cNvSpPr>
            <a:spLocks noChangeAspect="1"/>
          </p:cNvSpPr>
          <p:nvPr/>
        </p:nvSpPr>
        <p:spPr bwMode="gray">
          <a:xfrm>
            <a:off x="8629981" y="4218198"/>
            <a:ext cx="211977" cy="211977"/>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8361113" y="4485762"/>
            <a:ext cx="867797" cy="954107"/>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用户流量到达，执行组间策略</a:t>
            </a:r>
          </a:p>
        </p:txBody>
      </p:sp>
      <p:sp>
        <p:nvSpPr>
          <p:cNvPr id="35" name="文本框 34"/>
          <p:cNvSpPr txBox="1"/>
          <p:nvPr/>
        </p:nvSpPr>
        <p:spPr bwMode="gray">
          <a:xfrm>
            <a:off x="6424443" y="4637385"/>
            <a:ext cx="1082348" cy="307777"/>
          </a:xfrm>
          <a:prstGeom prst="rect">
            <a:avLst/>
          </a:prstGeom>
          <a:noFill/>
        </p:spPr>
        <p:txBody>
          <a:bodyPr wrap="none" rtlCol="0">
            <a:spAutoFit/>
          </a:bodyPr>
          <a:lstStyle/>
          <a:p>
            <a:r>
              <a:rPr lang="zh-CN" altLang="en-US"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第三方设备</a:t>
            </a:r>
          </a:p>
        </p:txBody>
      </p:sp>
      <p:pic>
        <p:nvPicPr>
          <p:cNvPr id="37" name="图片 3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28696" y="1793916"/>
            <a:ext cx="1629683" cy="300556"/>
          </a:xfrm>
          <a:prstGeom prst="rect">
            <a:avLst/>
          </a:prstGeom>
        </p:spPr>
      </p:pic>
      <p:pic>
        <p:nvPicPr>
          <p:cNvPr id="38" name="图片 123" descr="AC-黄.png"/>
          <p:cNvPicPr>
            <a:picLocks noChangeAspect="1"/>
          </p:cNvPicPr>
          <p:nvPr/>
        </p:nvPicPr>
        <p:blipFill>
          <a:blip r:embed="rId5" cstate="print"/>
          <a:stretch>
            <a:fillRect/>
          </a:stretch>
        </p:blipFill>
        <p:spPr bwMode="gray">
          <a:xfrm>
            <a:off x="1567282" y="2882172"/>
            <a:ext cx="368827" cy="301768"/>
          </a:xfrm>
          <a:prstGeom prst="rect">
            <a:avLst/>
          </a:prstGeom>
        </p:spPr>
      </p:pic>
      <p:pic>
        <p:nvPicPr>
          <p:cNvPr id="39" name="图片 97" descr="接入交换机.png"/>
          <p:cNvPicPr>
            <a:picLocks noChangeAspect="1"/>
          </p:cNvPicPr>
          <p:nvPr/>
        </p:nvPicPr>
        <p:blipFill>
          <a:blip r:embed="rId6" cstate="print"/>
          <a:stretch>
            <a:fillRect/>
          </a:stretch>
        </p:blipFill>
        <p:spPr bwMode="gray">
          <a:xfrm>
            <a:off x="1567283" y="3467286"/>
            <a:ext cx="368827" cy="301768"/>
          </a:xfrm>
          <a:prstGeom prst="rect">
            <a:avLst/>
          </a:prstGeom>
        </p:spPr>
      </p:pic>
      <p:pic>
        <p:nvPicPr>
          <p:cNvPr id="40" name="Picture 2" descr="G:\做的项目\公共\扁平图标切换\更新2015_01_21\oss扁平图标库2015_01_21更新-04.png"/>
          <p:cNvPicPr>
            <a:picLocks noChangeAspect="1" noChangeArrowheads="1"/>
          </p:cNvPicPr>
          <p:nvPr/>
        </p:nvPicPr>
        <p:blipFill>
          <a:blip r:embed="rId7" cstate="print"/>
          <a:srcRect/>
          <a:stretch>
            <a:fillRect/>
          </a:stretch>
        </p:blipFill>
        <p:spPr bwMode="gray">
          <a:xfrm>
            <a:off x="1567284" y="2297057"/>
            <a:ext cx="368827" cy="301768"/>
          </a:xfrm>
          <a:prstGeom prst="rect">
            <a:avLst/>
          </a:prstGeom>
          <a:noFill/>
        </p:spPr>
      </p:pic>
      <p:sp>
        <p:nvSpPr>
          <p:cNvPr id="41" name="文本框 40"/>
          <p:cNvSpPr txBox="1"/>
          <p:nvPr/>
        </p:nvSpPr>
        <p:spPr bwMode="gray">
          <a:xfrm>
            <a:off x="685800" y="4078600"/>
            <a:ext cx="4793276" cy="1978415"/>
          </a:xfrm>
          <a:prstGeom prst="rect">
            <a:avLst/>
          </a:prstGeom>
          <a:noFill/>
        </p:spPr>
        <p:txBody>
          <a:bodyPr wrap="square" rtlCol="0">
            <a:noAutofit/>
          </a:bodyPr>
          <a:lstStyle/>
          <a:p>
            <a:pPr font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以上设备不支持业务随行，方案中如需纳入这些设备，该如何考虑方案完整性？</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不支持业务随行的交换机</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（无线控制器）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第三方设备（非华为）</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 name="图片 11" descr="开放网络-蓝.png"/>
          <p:cNvPicPr>
            <a:picLocks noChangeAspect="1"/>
          </p:cNvPicPr>
          <p:nvPr/>
        </p:nvPicPr>
        <p:blipFill>
          <a:blip r:embed="rId8" cstate="print"/>
          <a:stretch>
            <a:fillRect/>
          </a:stretch>
        </p:blipFill>
        <p:spPr bwMode="gray">
          <a:xfrm>
            <a:off x="7433592" y="5347076"/>
            <a:ext cx="445956" cy="343290"/>
          </a:xfrm>
          <a:prstGeom prst="rect">
            <a:avLst/>
          </a:prstGeom>
        </p:spPr>
      </p:pic>
      <p:pic>
        <p:nvPicPr>
          <p:cNvPr id="43" name="图片 11" descr="开放网络-蓝.png"/>
          <p:cNvPicPr>
            <a:picLocks noChangeAspect="1"/>
          </p:cNvPicPr>
          <p:nvPr/>
        </p:nvPicPr>
        <p:blipFill>
          <a:blip r:embed="rId8" cstate="print"/>
          <a:stretch>
            <a:fillRect/>
          </a:stretch>
        </p:blipFill>
        <p:spPr bwMode="gray">
          <a:xfrm>
            <a:off x="9532696" y="5347076"/>
            <a:ext cx="445956" cy="343290"/>
          </a:xfrm>
          <a:prstGeom prst="rect">
            <a:avLst/>
          </a:prstGeom>
        </p:spPr>
      </p:pic>
      <p:pic>
        <p:nvPicPr>
          <p:cNvPr id="44" name="图片 97" descr="接入交换机.png"/>
          <p:cNvPicPr>
            <a:picLocks noChangeAspect="1"/>
          </p:cNvPicPr>
          <p:nvPr/>
        </p:nvPicPr>
        <p:blipFill>
          <a:blip r:embed="rId6" cstate="print"/>
          <a:stretch>
            <a:fillRect/>
          </a:stretch>
        </p:blipFill>
        <p:spPr bwMode="gray">
          <a:xfrm>
            <a:off x="7478064" y="4630535"/>
            <a:ext cx="405710" cy="331945"/>
          </a:xfrm>
          <a:prstGeom prst="rect">
            <a:avLst/>
          </a:prstGeom>
        </p:spPr>
      </p:pic>
      <p:pic>
        <p:nvPicPr>
          <p:cNvPr id="45" name="图片 76" descr="接入交换机.png"/>
          <p:cNvPicPr>
            <a:picLocks noChangeAspect="1"/>
          </p:cNvPicPr>
          <p:nvPr/>
        </p:nvPicPr>
        <p:blipFill>
          <a:blip r:embed="rId9" cstate="print"/>
          <a:stretch>
            <a:fillRect/>
          </a:stretch>
        </p:blipFill>
        <p:spPr bwMode="gray">
          <a:xfrm>
            <a:off x="9551330" y="4630535"/>
            <a:ext cx="405710" cy="331945"/>
          </a:xfrm>
          <a:prstGeom prst="rect">
            <a:avLst/>
          </a:prstGeom>
        </p:spPr>
      </p:pic>
      <p:pic>
        <p:nvPicPr>
          <p:cNvPr id="46" name="图片 86" descr="核心交换机.png"/>
          <p:cNvPicPr>
            <a:picLocks noChangeAspect="1"/>
          </p:cNvPicPr>
          <p:nvPr/>
        </p:nvPicPr>
        <p:blipFill>
          <a:blip r:embed="rId3" cstate="print"/>
          <a:stretch>
            <a:fillRect/>
          </a:stretch>
        </p:blipFill>
        <p:spPr bwMode="gray">
          <a:xfrm>
            <a:off x="2576877" y="2849354"/>
            <a:ext cx="405710" cy="331945"/>
          </a:xfrm>
          <a:prstGeom prst="rect">
            <a:avLst/>
          </a:prstGeom>
        </p:spPr>
      </p:pic>
      <p:pic>
        <p:nvPicPr>
          <p:cNvPr id="55" name="图片 76" descr="接入交换机.png"/>
          <p:cNvPicPr>
            <a:picLocks noChangeAspect="1"/>
          </p:cNvPicPr>
          <p:nvPr/>
        </p:nvPicPr>
        <p:blipFill>
          <a:blip r:embed="rId9" cstate="print"/>
          <a:stretch>
            <a:fillRect/>
          </a:stretch>
        </p:blipFill>
        <p:spPr bwMode="gray">
          <a:xfrm>
            <a:off x="3759416" y="2851995"/>
            <a:ext cx="405710" cy="331945"/>
          </a:xfrm>
          <a:prstGeom prst="rect">
            <a:avLst/>
          </a:prstGeom>
        </p:spPr>
      </p:pic>
      <p:grpSp>
        <p:nvGrpSpPr>
          <p:cNvPr id="79" name="组合 78"/>
          <p:cNvGrpSpPr>
            <a:grpSpLocks noChangeAspect="1"/>
          </p:cNvGrpSpPr>
          <p:nvPr/>
        </p:nvGrpSpPr>
        <p:grpSpPr bwMode="gray">
          <a:xfrm>
            <a:off x="2838016" y="3089596"/>
            <a:ext cx="178825" cy="178825"/>
            <a:chOff x="10467178" y="5640414"/>
            <a:chExt cx="213540" cy="213540"/>
          </a:xfrm>
        </p:grpSpPr>
        <p:sp>
          <p:nvSpPr>
            <p:cNvPr id="80" name="椭圆 79"/>
            <p:cNvSpPr>
              <a:spLocks noChangeAspect="1"/>
            </p:cNvSpPr>
            <p:nvPr/>
          </p:nvSpPr>
          <p:spPr bwMode="gray">
            <a:xfrm>
              <a:off x="10467178" y="5640414"/>
              <a:ext cx="213540" cy="213540"/>
            </a:xfrm>
            <a:prstGeom prst="ellipse">
              <a:avLst/>
            </a:prstGeom>
            <a:solidFill>
              <a:schemeClr val="bg1">
                <a:lumMod val="65000"/>
              </a:scheme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任意多边形 80"/>
            <p:cNvSpPr/>
            <p:nvPr/>
          </p:nvSpPr>
          <p:spPr bwMode="gray">
            <a:xfrm>
              <a:off x="10513146" y="5723327"/>
              <a:ext cx="126327" cy="66895"/>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28575" cap="rnd" cmpd="sng" algn="ctr">
              <a:solidFill>
                <a:sysClr val="window" lastClr="FFFFFF"/>
              </a:solidFill>
              <a:prstDash val="solid"/>
              <a:round/>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2" name="组合 81"/>
          <p:cNvGrpSpPr>
            <a:grpSpLocks noChangeAspect="1"/>
          </p:cNvGrpSpPr>
          <p:nvPr/>
        </p:nvGrpSpPr>
        <p:grpSpPr bwMode="gray">
          <a:xfrm>
            <a:off x="4065572" y="3089596"/>
            <a:ext cx="178825" cy="178825"/>
            <a:chOff x="10467178" y="5640414"/>
            <a:chExt cx="213540" cy="213540"/>
          </a:xfrm>
        </p:grpSpPr>
        <p:sp>
          <p:nvSpPr>
            <p:cNvPr id="83" name="椭圆 82"/>
            <p:cNvSpPr>
              <a:spLocks noChangeAspect="1"/>
            </p:cNvSpPr>
            <p:nvPr/>
          </p:nvSpPr>
          <p:spPr bwMode="gray">
            <a:xfrm>
              <a:off x="10467178" y="5640414"/>
              <a:ext cx="213540" cy="213540"/>
            </a:xfrm>
            <a:prstGeom prst="ellipse">
              <a:avLst/>
            </a:prstGeom>
            <a:solidFill>
              <a:schemeClr val="bg1">
                <a:lumMod val="65000"/>
              </a:scheme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任意多边形 83"/>
            <p:cNvSpPr/>
            <p:nvPr/>
          </p:nvSpPr>
          <p:spPr bwMode="gray">
            <a:xfrm>
              <a:off x="10513146" y="5723327"/>
              <a:ext cx="126327" cy="66895"/>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28575" cap="rnd" cmpd="sng" algn="ctr">
              <a:solidFill>
                <a:sysClr val="window" lastClr="FFFFFF"/>
              </a:solidFill>
              <a:prstDash val="solid"/>
              <a:round/>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5" name="组合 84"/>
          <p:cNvGrpSpPr>
            <a:grpSpLocks noChangeAspect="1"/>
          </p:cNvGrpSpPr>
          <p:nvPr/>
        </p:nvGrpSpPr>
        <p:grpSpPr bwMode="gray">
          <a:xfrm>
            <a:off x="1498778" y="2491812"/>
            <a:ext cx="196708" cy="196708"/>
            <a:chOff x="3737918" y="3408078"/>
            <a:chExt cx="238017" cy="238017"/>
          </a:xfrm>
        </p:grpSpPr>
        <p:sp>
          <p:nvSpPr>
            <p:cNvPr id="86" name="椭圆 85"/>
            <p:cNvSpPr>
              <a:spLocks noChangeAspect="1"/>
            </p:cNvSpPr>
            <p:nvPr/>
          </p:nvSpPr>
          <p:spPr bwMode="gray">
            <a:xfrm>
              <a:off x="3737918" y="3408078"/>
              <a:ext cx="238017" cy="238017"/>
            </a:xfrm>
            <a:prstGeom prst="ellipse">
              <a:avLst/>
            </a:prstGeom>
            <a:solidFill>
              <a:schemeClr val="bg1">
                <a:lumMod val="65000"/>
              </a:scheme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十字形 86"/>
            <p:cNvSpPr/>
            <p:nvPr/>
          </p:nvSpPr>
          <p:spPr bwMode="gray">
            <a:xfrm rot="2785165">
              <a:off x="3788612" y="3458772"/>
              <a:ext cx="136629" cy="136629"/>
            </a:xfrm>
            <a:prstGeom prst="plus">
              <a:avLst>
                <a:gd name="adj" fmla="val 39697"/>
              </a:avLst>
            </a:prstGeom>
            <a:solidFill>
              <a:schemeClr val="bg1"/>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8" name="组合 87"/>
          <p:cNvGrpSpPr>
            <a:grpSpLocks noChangeAspect="1"/>
          </p:cNvGrpSpPr>
          <p:nvPr/>
        </p:nvGrpSpPr>
        <p:grpSpPr bwMode="gray">
          <a:xfrm>
            <a:off x="1498778" y="3033239"/>
            <a:ext cx="196708" cy="196708"/>
            <a:chOff x="3737918" y="3408078"/>
            <a:chExt cx="238017" cy="238017"/>
          </a:xfrm>
        </p:grpSpPr>
        <p:sp>
          <p:nvSpPr>
            <p:cNvPr id="89" name="椭圆 88"/>
            <p:cNvSpPr>
              <a:spLocks noChangeAspect="1"/>
            </p:cNvSpPr>
            <p:nvPr/>
          </p:nvSpPr>
          <p:spPr bwMode="gray">
            <a:xfrm>
              <a:off x="3737918" y="3408078"/>
              <a:ext cx="238017" cy="238017"/>
            </a:xfrm>
            <a:prstGeom prst="ellipse">
              <a:avLst/>
            </a:prstGeom>
            <a:solidFill>
              <a:schemeClr val="bg1">
                <a:lumMod val="65000"/>
              </a:scheme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十字形 89"/>
            <p:cNvSpPr/>
            <p:nvPr/>
          </p:nvSpPr>
          <p:spPr bwMode="gray">
            <a:xfrm rot="2785165">
              <a:off x="3788612" y="3458772"/>
              <a:ext cx="136629" cy="136629"/>
            </a:xfrm>
            <a:prstGeom prst="plus">
              <a:avLst>
                <a:gd name="adj" fmla="val 39697"/>
              </a:avLst>
            </a:prstGeom>
            <a:solidFill>
              <a:schemeClr val="bg1"/>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1" name="组合 90"/>
          <p:cNvGrpSpPr>
            <a:grpSpLocks noChangeAspect="1"/>
          </p:cNvGrpSpPr>
          <p:nvPr/>
        </p:nvGrpSpPr>
        <p:grpSpPr bwMode="gray">
          <a:xfrm>
            <a:off x="1498778" y="3638060"/>
            <a:ext cx="196708" cy="196708"/>
            <a:chOff x="3737918" y="3408078"/>
            <a:chExt cx="238017" cy="238017"/>
          </a:xfrm>
        </p:grpSpPr>
        <p:sp>
          <p:nvSpPr>
            <p:cNvPr id="92" name="椭圆 91"/>
            <p:cNvSpPr>
              <a:spLocks noChangeAspect="1"/>
            </p:cNvSpPr>
            <p:nvPr/>
          </p:nvSpPr>
          <p:spPr bwMode="gray">
            <a:xfrm>
              <a:off x="3737918" y="3408078"/>
              <a:ext cx="238017" cy="238017"/>
            </a:xfrm>
            <a:prstGeom prst="ellipse">
              <a:avLst/>
            </a:prstGeom>
            <a:solidFill>
              <a:schemeClr val="bg1">
                <a:lumMod val="65000"/>
              </a:scheme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十字形 92"/>
            <p:cNvSpPr/>
            <p:nvPr/>
          </p:nvSpPr>
          <p:spPr bwMode="gray">
            <a:xfrm rot="2785165">
              <a:off x="3788612" y="3458772"/>
              <a:ext cx="136629" cy="136629"/>
            </a:xfrm>
            <a:prstGeom prst="plus">
              <a:avLst>
                <a:gd name="adj" fmla="val 39697"/>
              </a:avLst>
            </a:prstGeom>
            <a:solidFill>
              <a:schemeClr val="bg1"/>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6" name="组合 95"/>
          <p:cNvGrpSpPr/>
          <p:nvPr/>
        </p:nvGrpSpPr>
        <p:grpSpPr bwMode="gray">
          <a:xfrm>
            <a:off x="4211719" y="1681893"/>
            <a:ext cx="1398654" cy="543648"/>
            <a:chOff x="4211719" y="1746441"/>
            <a:chExt cx="1398654" cy="543648"/>
          </a:xfrm>
        </p:grpSpPr>
        <p:grpSp>
          <p:nvGrpSpPr>
            <p:cNvPr id="73" name="组合 72"/>
            <p:cNvGrpSpPr>
              <a:grpSpLocks noChangeAspect="1"/>
            </p:cNvGrpSpPr>
            <p:nvPr/>
          </p:nvGrpSpPr>
          <p:grpSpPr bwMode="gray">
            <a:xfrm>
              <a:off x="4211720" y="1802238"/>
              <a:ext cx="178825" cy="178825"/>
              <a:chOff x="10467178" y="5640414"/>
              <a:chExt cx="213540" cy="213540"/>
            </a:xfrm>
          </p:grpSpPr>
          <p:sp>
            <p:nvSpPr>
              <p:cNvPr id="74" name="椭圆 73"/>
              <p:cNvSpPr>
                <a:spLocks noChangeAspect="1"/>
              </p:cNvSpPr>
              <p:nvPr/>
            </p:nvSpPr>
            <p:spPr bwMode="gray">
              <a:xfrm>
                <a:off x="10467178" y="5640414"/>
                <a:ext cx="213540" cy="213540"/>
              </a:xfrm>
              <a:prstGeom prst="ellipse">
                <a:avLst/>
              </a:prstGeom>
              <a:solidFill>
                <a:schemeClr val="bg1">
                  <a:lumMod val="65000"/>
                </a:scheme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任意多边形 74"/>
              <p:cNvSpPr/>
              <p:nvPr/>
            </p:nvSpPr>
            <p:spPr bwMode="gray">
              <a:xfrm>
                <a:off x="10513146" y="5723327"/>
                <a:ext cx="126327" cy="66895"/>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28575" cap="rnd" cmpd="sng" algn="ctr">
                <a:solidFill>
                  <a:sysClr val="window" lastClr="FFFFFF"/>
                </a:solidFill>
                <a:prstDash val="solid"/>
                <a:round/>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6" name="组合 75"/>
            <p:cNvGrpSpPr>
              <a:grpSpLocks noChangeAspect="1"/>
            </p:cNvGrpSpPr>
            <p:nvPr/>
          </p:nvGrpSpPr>
          <p:grpSpPr bwMode="gray">
            <a:xfrm>
              <a:off x="4211719" y="2056974"/>
              <a:ext cx="178825" cy="178825"/>
              <a:chOff x="3737918" y="3408078"/>
              <a:chExt cx="238017" cy="238017"/>
            </a:xfrm>
          </p:grpSpPr>
          <p:sp>
            <p:nvSpPr>
              <p:cNvPr id="77" name="椭圆 76"/>
              <p:cNvSpPr>
                <a:spLocks noChangeAspect="1"/>
              </p:cNvSpPr>
              <p:nvPr/>
            </p:nvSpPr>
            <p:spPr bwMode="gray">
              <a:xfrm>
                <a:off x="3737918" y="3408078"/>
                <a:ext cx="238017" cy="238017"/>
              </a:xfrm>
              <a:prstGeom prst="ellipse">
                <a:avLst/>
              </a:prstGeom>
              <a:solidFill>
                <a:schemeClr val="bg1">
                  <a:lumMod val="65000"/>
                </a:scheme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十字形 77"/>
              <p:cNvSpPr/>
              <p:nvPr/>
            </p:nvSpPr>
            <p:spPr bwMode="gray">
              <a:xfrm rot="2785165">
                <a:off x="3788612" y="3458772"/>
                <a:ext cx="136629" cy="136629"/>
              </a:xfrm>
              <a:prstGeom prst="plus">
                <a:avLst>
                  <a:gd name="adj" fmla="val 39697"/>
                </a:avLst>
              </a:prstGeom>
              <a:solidFill>
                <a:schemeClr val="bg1"/>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4" name="文本框 93"/>
            <p:cNvSpPr txBox="1"/>
            <p:nvPr/>
          </p:nvSpPr>
          <p:spPr bwMode="gray">
            <a:xfrm>
              <a:off x="4348489" y="1746441"/>
              <a:ext cx="1107996"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支持业务随行</a:t>
              </a:r>
            </a:p>
          </p:txBody>
        </p:sp>
        <p:sp>
          <p:nvSpPr>
            <p:cNvPr id="95" name="文本框 94"/>
            <p:cNvSpPr txBox="1"/>
            <p:nvPr/>
          </p:nvSpPr>
          <p:spPr bwMode="gray">
            <a:xfrm>
              <a:off x="4348489" y="2013090"/>
              <a:ext cx="1261884"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不支持业务随行</a:t>
              </a:r>
            </a:p>
          </p:txBody>
        </p:sp>
      </p:grpSp>
      <p:sp>
        <p:nvSpPr>
          <p:cNvPr id="72" name="文本框 71"/>
          <p:cNvSpPr txBox="1"/>
          <p:nvPr/>
        </p:nvSpPr>
        <p:spPr bwMode="gray">
          <a:xfrm>
            <a:off x="9957040" y="2297057"/>
            <a:ext cx="1717533" cy="307777"/>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生成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p>
        </p:txBody>
      </p:sp>
      <p:sp>
        <p:nvSpPr>
          <p:cNvPr id="100" name="五边形 99"/>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101" name="燕尾形 100"/>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燕尾形 101"/>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燕尾形 102"/>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485521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43"/>
          <p:cNvSpPr/>
          <p:nvPr/>
        </p:nvSpPr>
        <p:spPr bwMode="gray">
          <a:xfrm flipV="1">
            <a:off x="1219520" y="2610717"/>
            <a:ext cx="4168405" cy="588951"/>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8856 w 1219200"/>
              <a:gd name="connsiteY0" fmla="*/ 0 h 626057"/>
              <a:gd name="connsiteX1" fmla="*/ 0 w 1219200"/>
              <a:gd name="connsiteY1" fmla="*/ 626057 h 626057"/>
              <a:gd name="connsiteX2" fmla="*/ 1219200 w 1219200"/>
              <a:gd name="connsiteY2" fmla="*/ 626057 h 626057"/>
              <a:gd name="connsiteX3" fmla="*/ 68856 w 1219200"/>
              <a:gd name="connsiteY3" fmla="*/ 0 h 626057"/>
              <a:gd name="connsiteX0" fmla="*/ 291803 w 1442147"/>
              <a:gd name="connsiteY0" fmla="*/ 0 h 626057"/>
              <a:gd name="connsiteX1" fmla="*/ 0 w 1442147"/>
              <a:gd name="connsiteY1" fmla="*/ 437808 h 626057"/>
              <a:gd name="connsiteX2" fmla="*/ 1442147 w 1442147"/>
              <a:gd name="connsiteY2" fmla="*/ 626057 h 626057"/>
              <a:gd name="connsiteX3" fmla="*/ 291803 w 1442147"/>
              <a:gd name="connsiteY3" fmla="*/ 0 h 626057"/>
              <a:gd name="connsiteX0" fmla="*/ 291803 w 3894566"/>
              <a:gd name="connsiteY0" fmla="*/ 0 h 437808"/>
              <a:gd name="connsiteX1" fmla="*/ 0 w 3894566"/>
              <a:gd name="connsiteY1" fmla="*/ 437808 h 437808"/>
              <a:gd name="connsiteX2" fmla="*/ 3894566 w 3894566"/>
              <a:gd name="connsiteY2" fmla="*/ 437808 h 437808"/>
              <a:gd name="connsiteX3" fmla="*/ 291803 w 3894566"/>
              <a:gd name="connsiteY3" fmla="*/ 0 h 437808"/>
              <a:gd name="connsiteX0" fmla="*/ 228920 w 3894566"/>
              <a:gd name="connsiteY0" fmla="*/ 0 h 1129748"/>
              <a:gd name="connsiteX1" fmla="*/ 0 w 3894566"/>
              <a:gd name="connsiteY1" fmla="*/ 1129748 h 1129748"/>
              <a:gd name="connsiteX2" fmla="*/ 3894566 w 3894566"/>
              <a:gd name="connsiteY2" fmla="*/ 1129748 h 1129748"/>
              <a:gd name="connsiteX3" fmla="*/ 228920 w 3894566"/>
              <a:gd name="connsiteY3" fmla="*/ 0 h 1129748"/>
              <a:gd name="connsiteX0" fmla="*/ 188904 w 3894566"/>
              <a:gd name="connsiteY0" fmla="*/ 0 h 1177234"/>
              <a:gd name="connsiteX1" fmla="*/ 0 w 3894566"/>
              <a:gd name="connsiteY1" fmla="*/ 1177234 h 1177234"/>
              <a:gd name="connsiteX2" fmla="*/ 3894566 w 3894566"/>
              <a:gd name="connsiteY2" fmla="*/ 1177234 h 1177234"/>
              <a:gd name="connsiteX3" fmla="*/ 188904 w 3894566"/>
              <a:gd name="connsiteY3" fmla="*/ 0 h 1177234"/>
              <a:gd name="connsiteX0" fmla="*/ 1566603 w 5272265"/>
              <a:gd name="connsiteY0" fmla="*/ 0 h 1177234"/>
              <a:gd name="connsiteX1" fmla="*/ 0 w 5272265"/>
              <a:gd name="connsiteY1" fmla="*/ 1089046 h 1177234"/>
              <a:gd name="connsiteX2" fmla="*/ 5272265 w 5272265"/>
              <a:gd name="connsiteY2" fmla="*/ 1177234 h 1177234"/>
              <a:gd name="connsiteX3" fmla="*/ 1566603 w 5272265"/>
              <a:gd name="connsiteY3" fmla="*/ 0 h 1177234"/>
              <a:gd name="connsiteX0" fmla="*/ 1566603 w 4517675"/>
              <a:gd name="connsiteY0" fmla="*/ 0 h 1089046"/>
              <a:gd name="connsiteX1" fmla="*/ 0 w 4517675"/>
              <a:gd name="connsiteY1" fmla="*/ 1089046 h 1089046"/>
              <a:gd name="connsiteX2" fmla="*/ 4517675 w 4517675"/>
              <a:gd name="connsiteY2" fmla="*/ 1089046 h 1089046"/>
              <a:gd name="connsiteX3" fmla="*/ 1566603 w 4517675"/>
              <a:gd name="connsiteY3" fmla="*/ 0 h 1089046"/>
              <a:gd name="connsiteX0" fmla="*/ 2732788 w 5683860"/>
              <a:gd name="connsiteY0" fmla="*/ 0 h 1089046"/>
              <a:gd name="connsiteX1" fmla="*/ 0 w 5683860"/>
              <a:gd name="connsiteY1" fmla="*/ 1075479 h 1089046"/>
              <a:gd name="connsiteX2" fmla="*/ 5683860 w 5683860"/>
              <a:gd name="connsiteY2" fmla="*/ 1089046 h 1089046"/>
              <a:gd name="connsiteX3" fmla="*/ 2732788 w 5683860"/>
              <a:gd name="connsiteY3" fmla="*/ 0 h 1089046"/>
              <a:gd name="connsiteX0" fmla="*/ 2732788 w 4677739"/>
              <a:gd name="connsiteY0" fmla="*/ 0 h 1089046"/>
              <a:gd name="connsiteX1" fmla="*/ 0 w 4677739"/>
              <a:gd name="connsiteY1" fmla="*/ 1075479 h 1089046"/>
              <a:gd name="connsiteX2" fmla="*/ 4677739 w 4677739"/>
              <a:gd name="connsiteY2" fmla="*/ 1089046 h 1089046"/>
              <a:gd name="connsiteX3" fmla="*/ 2732788 w 4677739"/>
              <a:gd name="connsiteY3" fmla="*/ 0 h 1089046"/>
              <a:gd name="connsiteX0" fmla="*/ 3641727 w 4677739"/>
              <a:gd name="connsiteY0" fmla="*/ 0 h 1089046"/>
              <a:gd name="connsiteX1" fmla="*/ 0 w 4677739"/>
              <a:gd name="connsiteY1" fmla="*/ 1075479 h 1089046"/>
              <a:gd name="connsiteX2" fmla="*/ 4677739 w 4677739"/>
              <a:gd name="connsiteY2" fmla="*/ 1089046 h 1089046"/>
              <a:gd name="connsiteX3" fmla="*/ 3641727 w 4677739"/>
              <a:gd name="connsiteY3" fmla="*/ 0 h 1089046"/>
              <a:gd name="connsiteX0" fmla="*/ 3641727 w 4664713"/>
              <a:gd name="connsiteY0" fmla="*/ 0 h 1075479"/>
              <a:gd name="connsiteX1" fmla="*/ 0 w 4664713"/>
              <a:gd name="connsiteY1" fmla="*/ 1075479 h 1075479"/>
              <a:gd name="connsiteX2" fmla="*/ 4664713 w 4664713"/>
              <a:gd name="connsiteY2" fmla="*/ 934480 h 1075479"/>
              <a:gd name="connsiteX3" fmla="*/ 3641727 w 4664713"/>
              <a:gd name="connsiteY3" fmla="*/ 0 h 1075479"/>
              <a:gd name="connsiteX0" fmla="*/ 3667777 w 4690763"/>
              <a:gd name="connsiteY0" fmla="*/ 0 h 951827"/>
              <a:gd name="connsiteX1" fmla="*/ 0 w 4690763"/>
              <a:gd name="connsiteY1" fmla="*/ 951827 h 951827"/>
              <a:gd name="connsiteX2" fmla="*/ 4690763 w 4690763"/>
              <a:gd name="connsiteY2" fmla="*/ 934480 h 951827"/>
              <a:gd name="connsiteX3" fmla="*/ 3667777 w 4690763"/>
              <a:gd name="connsiteY3" fmla="*/ 0 h 951827"/>
              <a:gd name="connsiteX0" fmla="*/ 3764245 w 4690763"/>
              <a:gd name="connsiteY0" fmla="*/ 0 h 786474"/>
              <a:gd name="connsiteX1" fmla="*/ 0 w 4690763"/>
              <a:gd name="connsiteY1" fmla="*/ 786474 h 786474"/>
              <a:gd name="connsiteX2" fmla="*/ 4690763 w 4690763"/>
              <a:gd name="connsiteY2" fmla="*/ 769127 h 786474"/>
              <a:gd name="connsiteX3" fmla="*/ 3764245 w 4690763"/>
              <a:gd name="connsiteY3" fmla="*/ 0 h 786474"/>
            </a:gdLst>
            <a:ahLst/>
            <a:cxnLst>
              <a:cxn ang="0">
                <a:pos x="connsiteX0" y="connsiteY0"/>
              </a:cxn>
              <a:cxn ang="0">
                <a:pos x="connsiteX1" y="connsiteY1"/>
              </a:cxn>
              <a:cxn ang="0">
                <a:pos x="connsiteX2" y="connsiteY2"/>
              </a:cxn>
              <a:cxn ang="0">
                <a:pos x="connsiteX3" y="connsiteY3"/>
              </a:cxn>
            </a:cxnLst>
            <a:rect l="l" t="t" r="r" b="b"/>
            <a:pathLst>
              <a:path w="4690763" h="786474">
                <a:moveTo>
                  <a:pt x="3764245" y="0"/>
                </a:moveTo>
                <a:lnTo>
                  <a:pt x="0" y="786474"/>
                </a:lnTo>
                <a:lnTo>
                  <a:pt x="4690763" y="769127"/>
                </a:lnTo>
                <a:lnTo>
                  <a:pt x="3764245" y="0"/>
                </a:lnTo>
                <a:close/>
              </a:path>
            </a:pathLst>
          </a:custGeom>
          <a:gradFill flip="none" rotWithShape="1">
            <a:gsLst>
              <a:gs pos="0">
                <a:schemeClr val="accent1">
                  <a:lumMod val="5000"/>
                  <a:lumOff val="95000"/>
                  <a:alpha val="0"/>
                </a:schemeClr>
              </a:gs>
              <a:gs pos="79000">
                <a:srgbClr val="94DAE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bwMode="gray">
          <a:xfrm>
            <a:off x="1231294" y="1064990"/>
            <a:ext cx="4142490" cy="1806929"/>
          </a:xfrm>
          <a:prstGeom prst="rect">
            <a:avLst/>
          </a:prstGeom>
          <a:solidFill>
            <a:schemeClr val="bg1"/>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Straight Connector 166"/>
          <p:cNvCxnSpPr/>
          <p:nvPr/>
        </p:nvCxnSpPr>
        <p:spPr bwMode="gray">
          <a:xfrm>
            <a:off x="841533" y="5244091"/>
            <a:ext cx="0" cy="6199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166"/>
          <p:cNvCxnSpPr/>
          <p:nvPr/>
        </p:nvCxnSpPr>
        <p:spPr bwMode="gray">
          <a:xfrm flipH="1">
            <a:off x="2380615" y="3384792"/>
            <a:ext cx="19983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65"/>
          <p:cNvGrpSpPr/>
          <p:nvPr/>
        </p:nvGrpSpPr>
        <p:grpSpPr bwMode="gray">
          <a:xfrm rot="10800000">
            <a:off x="947302" y="3375705"/>
            <a:ext cx="2618150" cy="892260"/>
            <a:chOff x="-1233037" y="914446"/>
            <a:chExt cx="1573823" cy="778776"/>
          </a:xfrm>
        </p:grpSpPr>
        <p:cxnSp>
          <p:nvCxnSpPr>
            <p:cNvPr id="21"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业务随行场景化方案 </a:t>
            </a:r>
            <a:r>
              <a:rPr lang="en-US" altLang="zh-CN" dirty="0">
                <a:sym typeface="Huawei Sans" panose="020C0503030203020204" pitchFamily="34" charset="0"/>
              </a:rPr>
              <a:t>(1)</a:t>
            </a:r>
            <a:endParaRPr lang="zh-CN" altLang="en-US" dirty="0">
              <a:sym typeface="Huawei Sans" panose="020C0503030203020204" pitchFamily="34" charset="0"/>
            </a:endParaRPr>
          </a:p>
        </p:txBody>
      </p:sp>
      <p:pic>
        <p:nvPicPr>
          <p:cNvPr id="3" name="图片 86" descr="核心交换机.png"/>
          <p:cNvPicPr>
            <a:picLocks noChangeAspect="1"/>
          </p:cNvPicPr>
          <p:nvPr/>
        </p:nvPicPr>
        <p:blipFill>
          <a:blip r:embed="rId3" cstate="print"/>
          <a:stretch>
            <a:fillRect/>
          </a:stretch>
        </p:blipFill>
        <p:spPr bwMode="gray">
          <a:xfrm>
            <a:off x="2032326" y="3202223"/>
            <a:ext cx="446281" cy="365140"/>
          </a:xfrm>
          <a:prstGeom prst="rect">
            <a:avLst/>
          </a:prstGeom>
        </p:spPr>
      </p:pic>
      <p:pic>
        <p:nvPicPr>
          <p:cNvPr id="4" name="图片 87" descr="汇聚交换机.png"/>
          <p:cNvPicPr>
            <a:picLocks noChangeAspect="1"/>
          </p:cNvPicPr>
          <p:nvPr/>
        </p:nvPicPr>
        <p:blipFill>
          <a:blip r:embed="rId4" cstate="print"/>
          <a:stretch>
            <a:fillRect/>
          </a:stretch>
        </p:blipFill>
        <p:spPr bwMode="gray">
          <a:xfrm>
            <a:off x="657119" y="4187663"/>
            <a:ext cx="368827" cy="301768"/>
          </a:xfrm>
          <a:prstGeom prst="rect">
            <a:avLst/>
          </a:prstGeom>
        </p:spPr>
      </p:pic>
      <p:pic>
        <p:nvPicPr>
          <p:cNvPr id="6" name="图片 105" descr="AP.png"/>
          <p:cNvPicPr>
            <a:picLocks noChangeAspect="1"/>
          </p:cNvPicPr>
          <p:nvPr/>
        </p:nvPicPr>
        <p:blipFill>
          <a:blip r:embed="rId5" cstate="print"/>
          <a:stretch>
            <a:fillRect/>
          </a:stretch>
        </p:blipFill>
        <p:spPr bwMode="gray">
          <a:xfrm>
            <a:off x="4546039" y="4982418"/>
            <a:ext cx="368827" cy="301768"/>
          </a:xfrm>
          <a:prstGeom prst="rect">
            <a:avLst/>
          </a:prstGeom>
        </p:spPr>
      </p:pic>
      <p:pic>
        <p:nvPicPr>
          <p:cNvPr id="5" name="图片 76" descr="接入交换机.png"/>
          <p:cNvPicPr>
            <a:picLocks noChangeAspect="1"/>
          </p:cNvPicPr>
          <p:nvPr/>
        </p:nvPicPr>
        <p:blipFill>
          <a:blip r:embed="rId6" cstate="print"/>
          <a:stretch>
            <a:fillRect/>
          </a:stretch>
        </p:blipFill>
        <p:spPr bwMode="gray">
          <a:xfrm>
            <a:off x="657119" y="4982418"/>
            <a:ext cx="368827" cy="301768"/>
          </a:xfrm>
          <a:prstGeom prst="rect">
            <a:avLst/>
          </a:prstGeom>
        </p:spPr>
      </p:pic>
      <p:pic>
        <p:nvPicPr>
          <p:cNvPr id="7" name="图片 76" descr="接入交换机.png"/>
          <p:cNvPicPr>
            <a:picLocks noChangeAspect="1"/>
          </p:cNvPicPr>
          <p:nvPr/>
        </p:nvPicPr>
        <p:blipFill>
          <a:blip r:embed="rId6" cstate="print"/>
          <a:stretch>
            <a:fillRect/>
          </a:stretch>
        </p:blipFill>
        <p:spPr bwMode="gray">
          <a:xfrm>
            <a:off x="3484985" y="4982418"/>
            <a:ext cx="368827" cy="301768"/>
          </a:xfrm>
          <a:prstGeom prst="rect">
            <a:avLst/>
          </a:prstGeom>
        </p:spPr>
      </p:pic>
      <p:pic>
        <p:nvPicPr>
          <p:cNvPr id="19" name="图片 87" descr="汇聚交换机.png"/>
          <p:cNvPicPr>
            <a:picLocks noChangeAspect="1"/>
          </p:cNvPicPr>
          <p:nvPr/>
        </p:nvPicPr>
        <p:blipFill>
          <a:blip r:embed="rId4" cstate="print"/>
          <a:stretch>
            <a:fillRect/>
          </a:stretch>
        </p:blipFill>
        <p:spPr bwMode="gray">
          <a:xfrm>
            <a:off x="3484985" y="4187663"/>
            <a:ext cx="368827" cy="301768"/>
          </a:xfrm>
          <a:prstGeom prst="rect">
            <a:avLst/>
          </a:prstGeom>
        </p:spPr>
      </p:pic>
      <p:cxnSp>
        <p:nvCxnSpPr>
          <p:cNvPr id="23" name="Straight Connector 166"/>
          <p:cNvCxnSpPr>
            <a:stCxn id="4" idx="2"/>
            <a:endCxn id="5" idx="0"/>
          </p:cNvCxnSpPr>
          <p:nvPr/>
        </p:nvCxnSpPr>
        <p:spPr bwMode="gray">
          <a:xfrm>
            <a:off x="841533" y="4489431"/>
            <a:ext cx="0" cy="492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166"/>
          <p:cNvCxnSpPr>
            <a:stCxn id="19" idx="2"/>
            <a:endCxn id="7" idx="0"/>
          </p:cNvCxnSpPr>
          <p:nvPr/>
        </p:nvCxnSpPr>
        <p:spPr bwMode="gray">
          <a:xfrm>
            <a:off x="3669399" y="4489431"/>
            <a:ext cx="0" cy="492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166"/>
          <p:cNvCxnSpPr>
            <a:stCxn id="6" idx="1"/>
            <a:endCxn id="7" idx="3"/>
          </p:cNvCxnSpPr>
          <p:nvPr/>
        </p:nvCxnSpPr>
        <p:spPr bwMode="gray">
          <a:xfrm flipH="1">
            <a:off x="3853812" y="5133302"/>
            <a:ext cx="6922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bwMode="gray">
          <a:xfrm>
            <a:off x="6230144" y="1480353"/>
            <a:ext cx="5345112" cy="3785652"/>
          </a:xfrm>
          <a:prstGeom prst="rect">
            <a:avLst/>
          </a:prstGeom>
          <a:noFill/>
        </p:spPr>
        <p:txBody>
          <a:bodyPr wrap="square" rtlCol="0">
            <a:spAutoFit/>
          </a:bodyPr>
          <a:lstStyle/>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场景描述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集中的认证点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集中的策略执行点。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认证点与策略执行点合一。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设备不支持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场景特点</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作为全网有线、无线用户的集中认证点。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作为业务随行的策略执行点。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拥有全网用户的认证信息，流量转发至该设备后，由其根据用户所定义的策略控制矩阵进行策略执行。</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网络无需支持或部署</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14" descr="日志告警服务器-蓝.png"/>
          <p:cNvPicPr>
            <a:picLocks noChangeAspect="1"/>
          </p:cNvPicPr>
          <p:nvPr/>
        </p:nvPicPr>
        <p:blipFill>
          <a:blip r:embed="rId7" cstate="print"/>
          <a:stretch>
            <a:fillRect/>
          </a:stretch>
        </p:blipFill>
        <p:spPr bwMode="gray">
          <a:xfrm>
            <a:off x="596256" y="5779409"/>
            <a:ext cx="490552" cy="306312"/>
          </a:xfrm>
          <a:prstGeom prst="rect">
            <a:avLst/>
          </a:prstGeom>
        </p:spPr>
      </p:pic>
      <p:pic>
        <p:nvPicPr>
          <p:cNvPr id="36" name="图片 157" descr="故障链路.png"/>
          <p:cNvPicPr>
            <a:picLocks noChangeAspect="1"/>
          </p:cNvPicPr>
          <p:nvPr/>
        </p:nvPicPr>
        <p:blipFill>
          <a:blip r:embed="rId8" cstate="print"/>
          <a:stretch>
            <a:fillRect/>
          </a:stretch>
        </p:blipFill>
        <p:spPr bwMode="gray">
          <a:xfrm>
            <a:off x="4546039" y="5766174"/>
            <a:ext cx="446281" cy="332783"/>
          </a:xfrm>
          <a:prstGeom prst="rect">
            <a:avLst/>
          </a:prstGeom>
        </p:spPr>
      </p:pic>
      <p:grpSp>
        <p:nvGrpSpPr>
          <p:cNvPr id="38" name="组合 758"/>
          <p:cNvGrpSpPr/>
          <p:nvPr/>
        </p:nvGrpSpPr>
        <p:grpSpPr bwMode="gray">
          <a:xfrm flipV="1">
            <a:off x="4612344" y="5324181"/>
            <a:ext cx="236214" cy="200032"/>
            <a:chOff x="7440613" y="4868863"/>
            <a:chExt cx="1019175" cy="828675"/>
          </a:xfrm>
          <a:solidFill>
            <a:schemeClr val="bg1">
              <a:lumMod val="75000"/>
            </a:schemeClr>
          </a:solidFill>
        </p:grpSpPr>
        <p:sp>
          <p:nvSpPr>
            <p:cNvPr id="39"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41" name="表格 40"/>
          <p:cNvGraphicFramePr>
            <a:graphicFrameLocks noGrp="1"/>
          </p:cNvGraphicFramePr>
          <p:nvPr>
            <p:extLst>
              <p:ext uri="{D42A27DB-BD31-4B8C-83A1-F6EECF244321}">
                <p14:modId xmlns:p14="http://schemas.microsoft.com/office/powerpoint/2010/main" val="1325605292"/>
              </p:ext>
            </p:extLst>
          </p:nvPr>
        </p:nvGraphicFramePr>
        <p:xfrm>
          <a:off x="1394681" y="1441072"/>
          <a:ext cx="1008000" cy="1371600"/>
        </p:xfrm>
        <a:graphic>
          <a:graphicData uri="http://schemas.openxmlformats.org/drawingml/2006/table">
            <a:tbl>
              <a:tblPr firstRow="1" bandRow="1"/>
              <a:tblGrid>
                <a:gridCol w="504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tblGrid>
              <a:tr h="226352">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组名</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a:t>
                      </a: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26352">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26352">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6352">
                <a:tc>
                  <a:txBody>
                    <a:bodyPr/>
                    <a:lstStyle/>
                    <a:p>
                      <a:pPr algn="ctr"/>
                      <a:r>
                        <a:rPr lang="zh-CN" altLang="en-US"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26352">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graphicFrame>
        <p:nvGraphicFramePr>
          <p:cNvPr id="43" name="表格 42"/>
          <p:cNvGraphicFramePr>
            <a:graphicFrameLocks noGrp="1"/>
          </p:cNvGraphicFramePr>
          <p:nvPr>
            <p:extLst>
              <p:ext uri="{D42A27DB-BD31-4B8C-83A1-F6EECF244321}">
                <p14:modId xmlns:p14="http://schemas.microsoft.com/office/powerpoint/2010/main" val="3839753167"/>
              </p:ext>
            </p:extLst>
          </p:nvPr>
        </p:nvGraphicFramePr>
        <p:xfrm>
          <a:off x="2692930" y="1441072"/>
          <a:ext cx="2520000" cy="1371600"/>
        </p:xfrm>
        <a:graphic>
          <a:graphicData uri="http://schemas.openxmlformats.org/drawingml/2006/table">
            <a:tbl>
              <a:tblPr firstRow="1" bandRow="1"/>
              <a:tblGrid>
                <a:gridCol w="504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504000">
                  <a:extLst>
                    <a:ext uri="{9D8B030D-6E8A-4147-A177-3AD203B41FA5}">
                      <a16:colId xmlns:a16="http://schemas.microsoft.com/office/drawing/2014/main" val="20002"/>
                    </a:ext>
                  </a:extLst>
                </a:gridCol>
                <a:gridCol w="504000">
                  <a:extLst>
                    <a:ext uri="{9D8B030D-6E8A-4147-A177-3AD203B41FA5}">
                      <a16:colId xmlns:a16="http://schemas.microsoft.com/office/drawing/2014/main" val="20003"/>
                    </a:ext>
                  </a:extLst>
                </a:gridCol>
                <a:gridCol w="504000">
                  <a:extLst>
                    <a:ext uri="{9D8B030D-6E8A-4147-A177-3AD203B41FA5}">
                      <a16:colId xmlns:a16="http://schemas.microsoft.com/office/drawing/2014/main" val="20004"/>
                    </a:ext>
                  </a:extLst>
                </a:gridCol>
              </a:tblGrid>
              <a:tr h="224010">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2824">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45" name="文本框 44"/>
          <p:cNvSpPr txBox="1"/>
          <p:nvPr/>
        </p:nvSpPr>
        <p:spPr bwMode="gray">
          <a:xfrm>
            <a:off x="1097520" y="5701732"/>
            <a:ext cx="982961" cy="461665"/>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PC1 1.1.1.1</a:t>
            </a:r>
          </a:p>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销售</a:t>
            </a:r>
          </a:p>
        </p:txBody>
      </p:sp>
      <p:sp>
        <p:nvSpPr>
          <p:cNvPr id="46" name="文本框 45"/>
          <p:cNvSpPr txBox="1"/>
          <p:nvPr/>
        </p:nvSpPr>
        <p:spPr bwMode="gray">
          <a:xfrm>
            <a:off x="5030316" y="5701732"/>
            <a:ext cx="954107"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PC3 3.3.3.3</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市场</a:t>
            </a:r>
          </a:p>
        </p:txBody>
      </p:sp>
      <p:sp>
        <p:nvSpPr>
          <p:cNvPr id="49" name="文本框 48"/>
          <p:cNvSpPr txBox="1"/>
          <p:nvPr/>
        </p:nvSpPr>
        <p:spPr bwMode="gray">
          <a:xfrm>
            <a:off x="1507887" y="3042320"/>
            <a:ext cx="521297" cy="276999"/>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Core</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1016475" y="4194161"/>
            <a:ext cx="603050" cy="276999"/>
          </a:xfrm>
          <a:prstGeom prst="rect">
            <a:avLst/>
          </a:prstGeom>
          <a:noFill/>
        </p:spPr>
        <p:txBody>
          <a:bodyPr wrap="none" rtlCol="0">
            <a:spAutoFit/>
          </a:bodyP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AGG1</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2900404" y="4194161"/>
            <a:ext cx="603050" cy="276999"/>
          </a:xfrm>
          <a:prstGeom prst="rect">
            <a:avLst/>
          </a:prstGeom>
          <a:noFill/>
        </p:spPr>
        <p:txBody>
          <a:bodyPr wrap="none" rtlCol="0">
            <a:spAutoFit/>
          </a:bodyPr>
          <a:lstStyle/>
          <a:p>
            <a:pPr algn="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AGG2</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1016475" y="4982418"/>
            <a:ext cx="750526" cy="276999"/>
          </a:xfrm>
          <a:prstGeom prst="rect">
            <a:avLst/>
          </a:prstGeom>
          <a:noFill/>
        </p:spPr>
        <p:txBody>
          <a:bodyPr wrap="none" rtlCol="0">
            <a:spAutoFit/>
          </a:bodyP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Access1</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2752928" y="4982418"/>
            <a:ext cx="750526" cy="276999"/>
          </a:xfrm>
          <a:prstGeom prst="rect">
            <a:avLst/>
          </a:prstGeom>
          <a:noFill/>
        </p:spPr>
        <p:txBody>
          <a:bodyPr wrap="none" rtlCol="0">
            <a:spAutoFit/>
          </a:bodyPr>
          <a:lstStyle/>
          <a:p>
            <a:pPr algn="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Access2</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1578308" y="1125150"/>
            <a:ext cx="646332"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安全组</a:t>
            </a:r>
          </a:p>
        </p:txBody>
      </p:sp>
      <p:sp>
        <p:nvSpPr>
          <p:cNvPr id="47" name="文本框 46"/>
          <p:cNvSpPr txBox="1"/>
          <p:nvPr/>
        </p:nvSpPr>
        <p:spPr bwMode="gray">
          <a:xfrm>
            <a:off x="3002479" y="1125150"/>
            <a:ext cx="203132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基于安全组的策略控制矩阵</a:t>
            </a:r>
          </a:p>
        </p:txBody>
      </p:sp>
      <p:cxnSp>
        <p:nvCxnSpPr>
          <p:cNvPr id="48" name="Straight Connector 166"/>
          <p:cNvCxnSpPr>
            <a:stCxn id="7" idx="2"/>
            <a:endCxn id="54" idx="0"/>
          </p:cNvCxnSpPr>
          <p:nvPr/>
        </p:nvCxnSpPr>
        <p:spPr bwMode="gray">
          <a:xfrm flipH="1">
            <a:off x="3669398" y="5284186"/>
            <a:ext cx="1" cy="495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4" name="图片 14" descr="日志告警服务器-蓝.png"/>
          <p:cNvPicPr>
            <a:picLocks noChangeAspect="1"/>
          </p:cNvPicPr>
          <p:nvPr/>
        </p:nvPicPr>
        <p:blipFill>
          <a:blip r:embed="rId7" cstate="print"/>
          <a:stretch>
            <a:fillRect/>
          </a:stretch>
        </p:blipFill>
        <p:spPr bwMode="gray">
          <a:xfrm>
            <a:off x="3424122" y="5779409"/>
            <a:ext cx="490552" cy="306312"/>
          </a:xfrm>
          <a:prstGeom prst="rect">
            <a:avLst/>
          </a:prstGeom>
        </p:spPr>
      </p:pic>
      <p:sp>
        <p:nvSpPr>
          <p:cNvPr id="55" name="文本框 54"/>
          <p:cNvSpPr txBox="1"/>
          <p:nvPr/>
        </p:nvSpPr>
        <p:spPr bwMode="gray">
          <a:xfrm>
            <a:off x="2480626" y="5701732"/>
            <a:ext cx="954108" cy="461665"/>
          </a:xfrm>
          <a:prstGeom prst="rect">
            <a:avLst/>
          </a:prstGeom>
          <a:noFill/>
        </p:spPr>
        <p:txBody>
          <a:bodyPr wrap="none" rtlCol="0">
            <a:spAutoFit/>
          </a:bodyPr>
          <a:lstStyle/>
          <a:p>
            <a:pPr algn="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PC2 2.2.2.2</a:t>
            </a:r>
          </a:p>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研发</a:t>
            </a:r>
          </a:p>
        </p:txBody>
      </p:sp>
      <p:sp>
        <p:nvSpPr>
          <p:cNvPr id="57" name="椭圆 56"/>
          <p:cNvSpPr>
            <a:spLocks noChangeAspect="1"/>
          </p:cNvSpPr>
          <p:nvPr/>
        </p:nvSpPr>
        <p:spPr bwMode="gray">
          <a:xfrm>
            <a:off x="6353237" y="5987355"/>
            <a:ext cx="108000" cy="108000"/>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椭圆 57"/>
          <p:cNvSpPr>
            <a:spLocks noChangeAspect="1"/>
          </p:cNvSpPr>
          <p:nvPr/>
        </p:nvSpPr>
        <p:spPr bwMode="gray">
          <a:xfrm>
            <a:off x="7388453" y="5987355"/>
            <a:ext cx="108000" cy="108000"/>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6428164" y="5902856"/>
            <a:ext cx="818698"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7479819" y="5902856"/>
            <a:ext cx="945825"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0" name="图片 6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4037313" y="3222528"/>
            <a:ext cx="947389" cy="538549"/>
          </a:xfrm>
          <a:prstGeom prst="rect">
            <a:avLst/>
          </a:prstGeom>
        </p:spPr>
      </p:pic>
      <p:cxnSp>
        <p:nvCxnSpPr>
          <p:cNvPr id="17" name="直接箭头连接符 16"/>
          <p:cNvCxnSpPr/>
          <p:nvPr/>
        </p:nvCxnSpPr>
        <p:spPr bwMode="gray">
          <a:xfrm flipH="1">
            <a:off x="8563935" y="6041355"/>
            <a:ext cx="294640" cy="0"/>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71" name="文本框 70"/>
          <p:cNvSpPr txBox="1"/>
          <p:nvPr/>
        </p:nvSpPr>
        <p:spPr bwMode="gray">
          <a:xfrm>
            <a:off x="8858575" y="5790427"/>
            <a:ext cx="1165562"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安全组及策略控制矩阵下发</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2" name="直接箭头连接符 71"/>
          <p:cNvCxnSpPr/>
          <p:nvPr/>
        </p:nvCxnSpPr>
        <p:spPr bwMode="gray">
          <a:xfrm flipH="1">
            <a:off x="2752928" y="3505045"/>
            <a:ext cx="1534592" cy="0"/>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73" name="任意多边形 72"/>
          <p:cNvSpPr/>
          <p:nvPr/>
        </p:nvSpPr>
        <p:spPr bwMode="gray">
          <a:xfrm>
            <a:off x="1084654" y="3378165"/>
            <a:ext cx="2418800" cy="2379916"/>
          </a:xfrm>
          <a:custGeom>
            <a:avLst/>
            <a:gdLst>
              <a:gd name="connsiteX0" fmla="*/ 0 w 2621280"/>
              <a:gd name="connsiteY0" fmla="*/ 30480 h 30480"/>
              <a:gd name="connsiteX1" fmla="*/ 2621280 w 2621280"/>
              <a:gd name="connsiteY1" fmla="*/ 0 h 30480"/>
              <a:gd name="connsiteX0" fmla="*/ 0 w 2621280"/>
              <a:gd name="connsiteY0" fmla="*/ 1315181 h 1315181"/>
              <a:gd name="connsiteX1" fmla="*/ 2621280 w 2621280"/>
              <a:gd name="connsiteY1" fmla="*/ 1284701 h 1315181"/>
              <a:gd name="connsiteX0" fmla="*/ 0 w 2621280"/>
              <a:gd name="connsiteY0" fmla="*/ 2368858 h 2368858"/>
              <a:gd name="connsiteX1" fmla="*/ 2621280 w 2621280"/>
              <a:gd name="connsiteY1" fmla="*/ 2338378 h 2368858"/>
              <a:gd name="connsiteX0" fmla="*/ 0 w 2570480"/>
              <a:gd name="connsiteY0" fmla="*/ 2374209 h 2374209"/>
              <a:gd name="connsiteX1" fmla="*/ 2570480 w 2570480"/>
              <a:gd name="connsiteY1" fmla="*/ 2333569 h 2374209"/>
              <a:gd name="connsiteX0" fmla="*/ 0 w 2570480"/>
              <a:gd name="connsiteY0" fmla="*/ 2399960 h 2399960"/>
              <a:gd name="connsiteX1" fmla="*/ 2570480 w 2570480"/>
              <a:gd name="connsiteY1" fmla="*/ 2359320 h 2399960"/>
              <a:gd name="connsiteX0" fmla="*/ 0 w 2570480"/>
              <a:gd name="connsiteY0" fmla="*/ 2374209 h 2374209"/>
              <a:gd name="connsiteX1" fmla="*/ 2570480 w 2570480"/>
              <a:gd name="connsiteY1" fmla="*/ 2333569 h 2374209"/>
              <a:gd name="connsiteX0" fmla="*/ 0 w 2570480"/>
              <a:gd name="connsiteY0" fmla="*/ 2374209 h 2374209"/>
              <a:gd name="connsiteX1" fmla="*/ 2570480 w 2570480"/>
              <a:gd name="connsiteY1" fmla="*/ 2333569 h 2374209"/>
              <a:gd name="connsiteX0" fmla="*/ 0 w 2570480"/>
              <a:gd name="connsiteY0" fmla="*/ 2386163 h 2386163"/>
              <a:gd name="connsiteX1" fmla="*/ 2570480 w 2570480"/>
              <a:gd name="connsiteY1" fmla="*/ 2345523 h 2386163"/>
              <a:gd name="connsiteX0" fmla="*/ 0 w 2447132"/>
              <a:gd name="connsiteY0" fmla="*/ 2402494 h 2402494"/>
              <a:gd name="connsiteX1" fmla="*/ 2447132 w 2447132"/>
              <a:gd name="connsiteY1" fmla="*/ 2331085 h 2402494"/>
            </a:gdLst>
            <a:ahLst/>
            <a:cxnLst>
              <a:cxn ang="0">
                <a:pos x="connsiteX0" y="connsiteY0"/>
              </a:cxn>
              <a:cxn ang="0">
                <a:pos x="connsiteX1" y="connsiteY1"/>
              </a:cxn>
            </a:cxnLst>
            <a:rect l="l" t="t" r="r" b="b"/>
            <a:pathLst>
              <a:path w="2447132" h="2402494">
                <a:moveTo>
                  <a:pt x="0" y="2402494"/>
                </a:moveTo>
                <a:cubicBezTo>
                  <a:pt x="497840" y="-543906"/>
                  <a:pt x="1749186" y="-1022005"/>
                  <a:pt x="2447132" y="2331085"/>
                </a:cubicBezTo>
              </a:path>
            </a:pathLst>
          </a:custGeom>
          <a:noFill/>
          <a:ln w="57150">
            <a:solidFill>
              <a:srgbClr val="EC7061">
                <a:alpha val="50000"/>
              </a:srgb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任意多边形 73"/>
          <p:cNvSpPr/>
          <p:nvPr/>
        </p:nvSpPr>
        <p:spPr bwMode="gray">
          <a:xfrm>
            <a:off x="646016" y="3132688"/>
            <a:ext cx="3966328" cy="2625393"/>
          </a:xfrm>
          <a:custGeom>
            <a:avLst/>
            <a:gdLst>
              <a:gd name="connsiteX0" fmla="*/ 0 w 2621280"/>
              <a:gd name="connsiteY0" fmla="*/ 30480 h 30480"/>
              <a:gd name="connsiteX1" fmla="*/ 2621280 w 2621280"/>
              <a:gd name="connsiteY1" fmla="*/ 0 h 30480"/>
              <a:gd name="connsiteX0" fmla="*/ 0 w 2621280"/>
              <a:gd name="connsiteY0" fmla="*/ 1315181 h 1315181"/>
              <a:gd name="connsiteX1" fmla="*/ 2621280 w 2621280"/>
              <a:gd name="connsiteY1" fmla="*/ 1284701 h 1315181"/>
              <a:gd name="connsiteX0" fmla="*/ 0 w 2621280"/>
              <a:gd name="connsiteY0" fmla="*/ 2368858 h 2368858"/>
              <a:gd name="connsiteX1" fmla="*/ 2621280 w 2621280"/>
              <a:gd name="connsiteY1" fmla="*/ 2338378 h 2368858"/>
              <a:gd name="connsiteX0" fmla="*/ 0 w 2570480"/>
              <a:gd name="connsiteY0" fmla="*/ 2374209 h 2374209"/>
              <a:gd name="connsiteX1" fmla="*/ 2570480 w 2570480"/>
              <a:gd name="connsiteY1" fmla="*/ 2333569 h 2374209"/>
              <a:gd name="connsiteX0" fmla="*/ 0 w 2570480"/>
              <a:gd name="connsiteY0" fmla="*/ 2399960 h 2399960"/>
              <a:gd name="connsiteX1" fmla="*/ 2570480 w 2570480"/>
              <a:gd name="connsiteY1" fmla="*/ 2359320 h 2399960"/>
              <a:gd name="connsiteX0" fmla="*/ 0 w 2570480"/>
              <a:gd name="connsiteY0" fmla="*/ 2374209 h 2374209"/>
              <a:gd name="connsiteX1" fmla="*/ 2570480 w 2570480"/>
              <a:gd name="connsiteY1" fmla="*/ 2333569 h 2374209"/>
              <a:gd name="connsiteX0" fmla="*/ 0 w 2570480"/>
              <a:gd name="connsiteY0" fmla="*/ 2374209 h 2374209"/>
              <a:gd name="connsiteX1" fmla="*/ 2570480 w 2570480"/>
              <a:gd name="connsiteY1" fmla="*/ 2333569 h 2374209"/>
              <a:gd name="connsiteX0" fmla="*/ 0 w 2570480"/>
              <a:gd name="connsiteY0" fmla="*/ 2386163 h 2386163"/>
              <a:gd name="connsiteX1" fmla="*/ 2570480 w 2570480"/>
              <a:gd name="connsiteY1" fmla="*/ 2345523 h 2386163"/>
              <a:gd name="connsiteX0" fmla="*/ 0 w 2447132"/>
              <a:gd name="connsiteY0" fmla="*/ 2402494 h 2402494"/>
              <a:gd name="connsiteX1" fmla="*/ 2447132 w 2447132"/>
              <a:gd name="connsiteY1" fmla="*/ 2331085 h 2402494"/>
            </a:gdLst>
            <a:ahLst/>
            <a:cxnLst>
              <a:cxn ang="0">
                <a:pos x="connsiteX0" y="connsiteY0"/>
              </a:cxn>
              <a:cxn ang="0">
                <a:pos x="connsiteX1" y="connsiteY1"/>
              </a:cxn>
            </a:cxnLst>
            <a:rect l="l" t="t" r="r" b="b"/>
            <a:pathLst>
              <a:path w="2447132" h="2402494">
                <a:moveTo>
                  <a:pt x="0" y="2402494"/>
                </a:moveTo>
                <a:cubicBezTo>
                  <a:pt x="497840" y="-543906"/>
                  <a:pt x="1749186" y="-1022005"/>
                  <a:pt x="2447132" y="2331085"/>
                </a:cubicBezTo>
              </a:path>
            </a:pathLst>
          </a:custGeom>
          <a:noFill/>
          <a:ln w="57150">
            <a:solidFill>
              <a:srgbClr val="EC7061">
                <a:alpha val="50000"/>
              </a:srgb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椭圆 74"/>
          <p:cNvSpPr>
            <a:spLocks noChangeAspect="1"/>
          </p:cNvSpPr>
          <p:nvPr/>
        </p:nvSpPr>
        <p:spPr bwMode="gray">
          <a:xfrm>
            <a:off x="2092035" y="3524905"/>
            <a:ext cx="150801" cy="150801"/>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椭圆 75"/>
          <p:cNvSpPr>
            <a:spLocks noChangeAspect="1"/>
          </p:cNvSpPr>
          <p:nvPr/>
        </p:nvSpPr>
        <p:spPr bwMode="gray">
          <a:xfrm>
            <a:off x="2266511" y="3524905"/>
            <a:ext cx="150801" cy="150801"/>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8" name="组合 28"/>
          <p:cNvGrpSpPr>
            <a:grpSpLocks noChangeAspect="1"/>
          </p:cNvGrpSpPr>
          <p:nvPr/>
        </p:nvGrpSpPr>
        <p:grpSpPr bwMode="gray">
          <a:xfrm>
            <a:off x="2259689" y="3248203"/>
            <a:ext cx="238817" cy="238817"/>
            <a:chOff x="5076056" y="3356992"/>
            <a:chExt cx="436268" cy="436268"/>
          </a:xfrm>
        </p:grpSpPr>
        <p:sp>
          <p:nvSpPr>
            <p:cNvPr id="79" name="椭圆 27"/>
            <p:cNvSpPr/>
            <p:nvPr/>
          </p:nvSpPr>
          <p:spPr bwMode="gray">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禁止符 23"/>
            <p:cNvSpPr/>
            <p:nvPr/>
          </p:nvSpPr>
          <p:spPr bwMode="gray">
            <a:xfrm>
              <a:off x="5076056" y="3356992"/>
              <a:ext cx="436268" cy="436268"/>
            </a:xfrm>
            <a:prstGeom prst="noSmoking">
              <a:avLst>
                <a:gd name="adj" fmla="val 15475"/>
              </a:avLst>
            </a:prstGeom>
            <a:solidFill>
              <a:srgbClr val="EC7061">
                <a:lumMod val="100000"/>
              </a:srgbClr>
            </a:solidFill>
            <a:ln w="12700" cap="flat" cmpd="sng" algn="ctr">
              <a:noFill/>
              <a:prstDash val="solid"/>
              <a:miter lim="800000"/>
            </a:ln>
            <a:effectLst/>
          </p:spPr>
          <p:txBody>
            <a:bodyPr rtlCol="0" anchor="ctr"/>
            <a:lstStyle/>
            <a:p>
              <a:pPr marL="0" marR="0" lvl="0" indent="0" algn="ctr" defTabSz="914478" eaLnBrk="1"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1" name="五边形 60"/>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62" name="燕尾形 61"/>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65"/>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66"/>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967125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直接箭头连接符 136"/>
          <p:cNvCxnSpPr/>
          <p:nvPr/>
        </p:nvCxnSpPr>
        <p:spPr bwMode="gray">
          <a:xfrm flipH="1">
            <a:off x="2752928" y="3270626"/>
            <a:ext cx="1534592" cy="0"/>
          </a:xfrm>
          <a:prstGeom prst="straightConnector1">
            <a:avLst/>
          </a:prstGeom>
          <a:noFill/>
          <a:ln w="190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36" name="任意多边形 135"/>
          <p:cNvSpPr/>
          <p:nvPr/>
        </p:nvSpPr>
        <p:spPr bwMode="gray">
          <a:xfrm flipV="1">
            <a:off x="533720" y="2623707"/>
            <a:ext cx="5482855" cy="575961"/>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8856 w 1219200"/>
              <a:gd name="connsiteY0" fmla="*/ 0 h 626057"/>
              <a:gd name="connsiteX1" fmla="*/ 0 w 1219200"/>
              <a:gd name="connsiteY1" fmla="*/ 626057 h 626057"/>
              <a:gd name="connsiteX2" fmla="*/ 1219200 w 1219200"/>
              <a:gd name="connsiteY2" fmla="*/ 626057 h 626057"/>
              <a:gd name="connsiteX3" fmla="*/ 68856 w 1219200"/>
              <a:gd name="connsiteY3" fmla="*/ 0 h 626057"/>
              <a:gd name="connsiteX0" fmla="*/ 291803 w 1442147"/>
              <a:gd name="connsiteY0" fmla="*/ 0 h 626057"/>
              <a:gd name="connsiteX1" fmla="*/ 0 w 1442147"/>
              <a:gd name="connsiteY1" fmla="*/ 437808 h 626057"/>
              <a:gd name="connsiteX2" fmla="*/ 1442147 w 1442147"/>
              <a:gd name="connsiteY2" fmla="*/ 626057 h 626057"/>
              <a:gd name="connsiteX3" fmla="*/ 291803 w 1442147"/>
              <a:gd name="connsiteY3" fmla="*/ 0 h 626057"/>
              <a:gd name="connsiteX0" fmla="*/ 291803 w 3894566"/>
              <a:gd name="connsiteY0" fmla="*/ 0 h 437808"/>
              <a:gd name="connsiteX1" fmla="*/ 0 w 3894566"/>
              <a:gd name="connsiteY1" fmla="*/ 437808 h 437808"/>
              <a:gd name="connsiteX2" fmla="*/ 3894566 w 3894566"/>
              <a:gd name="connsiteY2" fmla="*/ 437808 h 437808"/>
              <a:gd name="connsiteX3" fmla="*/ 291803 w 3894566"/>
              <a:gd name="connsiteY3" fmla="*/ 0 h 437808"/>
              <a:gd name="connsiteX0" fmla="*/ 228920 w 3894566"/>
              <a:gd name="connsiteY0" fmla="*/ 0 h 1129748"/>
              <a:gd name="connsiteX1" fmla="*/ 0 w 3894566"/>
              <a:gd name="connsiteY1" fmla="*/ 1129748 h 1129748"/>
              <a:gd name="connsiteX2" fmla="*/ 3894566 w 3894566"/>
              <a:gd name="connsiteY2" fmla="*/ 1129748 h 1129748"/>
              <a:gd name="connsiteX3" fmla="*/ 228920 w 3894566"/>
              <a:gd name="connsiteY3" fmla="*/ 0 h 1129748"/>
              <a:gd name="connsiteX0" fmla="*/ 188904 w 3894566"/>
              <a:gd name="connsiteY0" fmla="*/ 0 h 1177234"/>
              <a:gd name="connsiteX1" fmla="*/ 0 w 3894566"/>
              <a:gd name="connsiteY1" fmla="*/ 1177234 h 1177234"/>
              <a:gd name="connsiteX2" fmla="*/ 3894566 w 3894566"/>
              <a:gd name="connsiteY2" fmla="*/ 1177234 h 1177234"/>
              <a:gd name="connsiteX3" fmla="*/ 188904 w 3894566"/>
              <a:gd name="connsiteY3" fmla="*/ 0 h 1177234"/>
              <a:gd name="connsiteX0" fmla="*/ 1566603 w 5272265"/>
              <a:gd name="connsiteY0" fmla="*/ 0 h 1177234"/>
              <a:gd name="connsiteX1" fmla="*/ 0 w 5272265"/>
              <a:gd name="connsiteY1" fmla="*/ 1089046 h 1177234"/>
              <a:gd name="connsiteX2" fmla="*/ 5272265 w 5272265"/>
              <a:gd name="connsiteY2" fmla="*/ 1177234 h 1177234"/>
              <a:gd name="connsiteX3" fmla="*/ 1566603 w 5272265"/>
              <a:gd name="connsiteY3" fmla="*/ 0 h 1177234"/>
              <a:gd name="connsiteX0" fmla="*/ 1566603 w 4517675"/>
              <a:gd name="connsiteY0" fmla="*/ 0 h 1089046"/>
              <a:gd name="connsiteX1" fmla="*/ 0 w 4517675"/>
              <a:gd name="connsiteY1" fmla="*/ 1089046 h 1089046"/>
              <a:gd name="connsiteX2" fmla="*/ 4517675 w 4517675"/>
              <a:gd name="connsiteY2" fmla="*/ 1089046 h 1089046"/>
              <a:gd name="connsiteX3" fmla="*/ 1566603 w 4517675"/>
              <a:gd name="connsiteY3" fmla="*/ 0 h 1089046"/>
              <a:gd name="connsiteX0" fmla="*/ 2732788 w 5683860"/>
              <a:gd name="connsiteY0" fmla="*/ 0 h 1089046"/>
              <a:gd name="connsiteX1" fmla="*/ 0 w 5683860"/>
              <a:gd name="connsiteY1" fmla="*/ 1075479 h 1089046"/>
              <a:gd name="connsiteX2" fmla="*/ 5683860 w 5683860"/>
              <a:gd name="connsiteY2" fmla="*/ 1089046 h 1089046"/>
              <a:gd name="connsiteX3" fmla="*/ 2732788 w 5683860"/>
              <a:gd name="connsiteY3" fmla="*/ 0 h 1089046"/>
              <a:gd name="connsiteX0" fmla="*/ 2732788 w 4677739"/>
              <a:gd name="connsiteY0" fmla="*/ 0 h 1089046"/>
              <a:gd name="connsiteX1" fmla="*/ 0 w 4677739"/>
              <a:gd name="connsiteY1" fmla="*/ 1075479 h 1089046"/>
              <a:gd name="connsiteX2" fmla="*/ 4677739 w 4677739"/>
              <a:gd name="connsiteY2" fmla="*/ 1089046 h 1089046"/>
              <a:gd name="connsiteX3" fmla="*/ 2732788 w 4677739"/>
              <a:gd name="connsiteY3" fmla="*/ 0 h 1089046"/>
              <a:gd name="connsiteX0" fmla="*/ 3641727 w 4677739"/>
              <a:gd name="connsiteY0" fmla="*/ 0 h 1089046"/>
              <a:gd name="connsiteX1" fmla="*/ 0 w 4677739"/>
              <a:gd name="connsiteY1" fmla="*/ 1075479 h 1089046"/>
              <a:gd name="connsiteX2" fmla="*/ 4677739 w 4677739"/>
              <a:gd name="connsiteY2" fmla="*/ 1089046 h 1089046"/>
              <a:gd name="connsiteX3" fmla="*/ 3641727 w 4677739"/>
              <a:gd name="connsiteY3" fmla="*/ 0 h 1089046"/>
              <a:gd name="connsiteX0" fmla="*/ 3641727 w 4664713"/>
              <a:gd name="connsiteY0" fmla="*/ 0 h 1075479"/>
              <a:gd name="connsiteX1" fmla="*/ 0 w 4664713"/>
              <a:gd name="connsiteY1" fmla="*/ 1075479 h 1075479"/>
              <a:gd name="connsiteX2" fmla="*/ 4664713 w 4664713"/>
              <a:gd name="connsiteY2" fmla="*/ 934480 h 1075479"/>
              <a:gd name="connsiteX3" fmla="*/ 3641727 w 4664713"/>
              <a:gd name="connsiteY3" fmla="*/ 0 h 1075479"/>
              <a:gd name="connsiteX0" fmla="*/ 3667777 w 4690763"/>
              <a:gd name="connsiteY0" fmla="*/ 0 h 951827"/>
              <a:gd name="connsiteX1" fmla="*/ 0 w 4690763"/>
              <a:gd name="connsiteY1" fmla="*/ 951827 h 951827"/>
              <a:gd name="connsiteX2" fmla="*/ 4690763 w 4690763"/>
              <a:gd name="connsiteY2" fmla="*/ 934480 h 951827"/>
              <a:gd name="connsiteX3" fmla="*/ 3667777 w 4690763"/>
              <a:gd name="connsiteY3" fmla="*/ 0 h 951827"/>
              <a:gd name="connsiteX0" fmla="*/ 3764245 w 4690763"/>
              <a:gd name="connsiteY0" fmla="*/ 0 h 786474"/>
              <a:gd name="connsiteX1" fmla="*/ 0 w 4690763"/>
              <a:gd name="connsiteY1" fmla="*/ 786474 h 786474"/>
              <a:gd name="connsiteX2" fmla="*/ 4690763 w 4690763"/>
              <a:gd name="connsiteY2" fmla="*/ 769127 h 786474"/>
              <a:gd name="connsiteX3" fmla="*/ 3764245 w 4690763"/>
              <a:gd name="connsiteY3" fmla="*/ 0 h 786474"/>
              <a:gd name="connsiteX0" fmla="*/ 4535985 w 5462503"/>
              <a:gd name="connsiteY0" fmla="*/ 0 h 769127"/>
              <a:gd name="connsiteX1" fmla="*/ 0 w 5462503"/>
              <a:gd name="connsiteY1" fmla="*/ 761035 h 769127"/>
              <a:gd name="connsiteX2" fmla="*/ 5462503 w 5462503"/>
              <a:gd name="connsiteY2" fmla="*/ 769127 h 769127"/>
              <a:gd name="connsiteX3" fmla="*/ 4535985 w 5462503"/>
              <a:gd name="connsiteY3" fmla="*/ 0 h 769127"/>
              <a:gd name="connsiteX0" fmla="*/ 4535985 w 6169931"/>
              <a:gd name="connsiteY0" fmla="*/ 0 h 769127"/>
              <a:gd name="connsiteX1" fmla="*/ 0 w 6169931"/>
              <a:gd name="connsiteY1" fmla="*/ 761035 h 769127"/>
              <a:gd name="connsiteX2" fmla="*/ 6169931 w 6169931"/>
              <a:gd name="connsiteY2" fmla="*/ 769127 h 769127"/>
              <a:gd name="connsiteX3" fmla="*/ 4535985 w 6169931"/>
              <a:gd name="connsiteY3" fmla="*/ 0 h 769127"/>
            </a:gdLst>
            <a:ahLst/>
            <a:cxnLst>
              <a:cxn ang="0">
                <a:pos x="connsiteX0" y="connsiteY0"/>
              </a:cxn>
              <a:cxn ang="0">
                <a:pos x="connsiteX1" y="connsiteY1"/>
              </a:cxn>
              <a:cxn ang="0">
                <a:pos x="connsiteX2" y="connsiteY2"/>
              </a:cxn>
              <a:cxn ang="0">
                <a:pos x="connsiteX3" y="connsiteY3"/>
              </a:cxn>
            </a:cxnLst>
            <a:rect l="l" t="t" r="r" b="b"/>
            <a:pathLst>
              <a:path w="6169931" h="769127">
                <a:moveTo>
                  <a:pt x="4535985" y="0"/>
                </a:moveTo>
                <a:lnTo>
                  <a:pt x="0" y="761035"/>
                </a:lnTo>
                <a:lnTo>
                  <a:pt x="6169931" y="769127"/>
                </a:lnTo>
                <a:lnTo>
                  <a:pt x="4535985" y="0"/>
                </a:lnTo>
                <a:close/>
              </a:path>
            </a:pathLst>
          </a:custGeom>
          <a:gradFill flip="none" rotWithShape="1">
            <a:gsLst>
              <a:gs pos="0">
                <a:schemeClr val="accent1">
                  <a:lumMod val="5000"/>
                  <a:lumOff val="95000"/>
                  <a:alpha val="0"/>
                </a:schemeClr>
              </a:gs>
              <a:gs pos="79000">
                <a:srgbClr val="94DAE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业务随行场景化方案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63" name="矩形 62"/>
          <p:cNvSpPr/>
          <p:nvPr/>
        </p:nvSpPr>
        <p:spPr bwMode="gray">
          <a:xfrm>
            <a:off x="498612" y="1064990"/>
            <a:ext cx="4142490" cy="1819529"/>
          </a:xfrm>
          <a:prstGeom prst="rect">
            <a:avLst/>
          </a:prstGeom>
          <a:solidFill>
            <a:schemeClr val="bg1"/>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Straight Connector 166"/>
          <p:cNvCxnSpPr/>
          <p:nvPr/>
        </p:nvCxnSpPr>
        <p:spPr bwMode="gray">
          <a:xfrm>
            <a:off x="841533" y="5244091"/>
            <a:ext cx="0" cy="6199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166"/>
          <p:cNvCxnSpPr/>
          <p:nvPr/>
        </p:nvCxnSpPr>
        <p:spPr bwMode="gray">
          <a:xfrm flipH="1">
            <a:off x="2380615" y="3384792"/>
            <a:ext cx="19983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Group 165"/>
          <p:cNvGrpSpPr/>
          <p:nvPr/>
        </p:nvGrpSpPr>
        <p:grpSpPr bwMode="gray">
          <a:xfrm rot="10800000">
            <a:off x="947302" y="3375705"/>
            <a:ext cx="2618150" cy="892260"/>
            <a:chOff x="-1233037" y="914446"/>
            <a:chExt cx="1573823" cy="778776"/>
          </a:xfrm>
        </p:grpSpPr>
        <p:cxnSp>
          <p:nvCxnSpPr>
            <p:cNvPr id="67"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9" name="图片 86" descr="核心交换机.png"/>
          <p:cNvPicPr>
            <a:picLocks noChangeAspect="1"/>
          </p:cNvPicPr>
          <p:nvPr/>
        </p:nvPicPr>
        <p:blipFill>
          <a:blip r:embed="rId3" cstate="print"/>
          <a:stretch>
            <a:fillRect/>
          </a:stretch>
        </p:blipFill>
        <p:spPr bwMode="gray">
          <a:xfrm>
            <a:off x="2032326" y="3202223"/>
            <a:ext cx="446281" cy="365140"/>
          </a:xfrm>
          <a:prstGeom prst="rect">
            <a:avLst/>
          </a:prstGeom>
        </p:spPr>
      </p:pic>
      <p:pic>
        <p:nvPicPr>
          <p:cNvPr id="77" name="图片 87" descr="汇聚交换机.png"/>
          <p:cNvPicPr>
            <a:picLocks noChangeAspect="1"/>
          </p:cNvPicPr>
          <p:nvPr/>
        </p:nvPicPr>
        <p:blipFill>
          <a:blip r:embed="rId4" cstate="print"/>
          <a:stretch>
            <a:fillRect/>
          </a:stretch>
        </p:blipFill>
        <p:spPr bwMode="gray">
          <a:xfrm>
            <a:off x="657119" y="4187663"/>
            <a:ext cx="368827" cy="301768"/>
          </a:xfrm>
          <a:prstGeom prst="rect">
            <a:avLst/>
          </a:prstGeom>
        </p:spPr>
      </p:pic>
      <p:pic>
        <p:nvPicPr>
          <p:cNvPr id="81" name="图片 105" descr="AP.png"/>
          <p:cNvPicPr>
            <a:picLocks noChangeAspect="1"/>
          </p:cNvPicPr>
          <p:nvPr/>
        </p:nvPicPr>
        <p:blipFill>
          <a:blip r:embed="rId5" cstate="print"/>
          <a:stretch>
            <a:fillRect/>
          </a:stretch>
        </p:blipFill>
        <p:spPr bwMode="gray">
          <a:xfrm>
            <a:off x="4546039" y="4982418"/>
            <a:ext cx="368827" cy="301768"/>
          </a:xfrm>
          <a:prstGeom prst="rect">
            <a:avLst/>
          </a:prstGeom>
        </p:spPr>
      </p:pic>
      <p:pic>
        <p:nvPicPr>
          <p:cNvPr id="82" name="图片 76" descr="接入交换机.png"/>
          <p:cNvPicPr>
            <a:picLocks noChangeAspect="1"/>
          </p:cNvPicPr>
          <p:nvPr/>
        </p:nvPicPr>
        <p:blipFill>
          <a:blip r:embed="rId6" cstate="print"/>
          <a:stretch>
            <a:fillRect/>
          </a:stretch>
        </p:blipFill>
        <p:spPr bwMode="gray">
          <a:xfrm>
            <a:off x="657119" y="4982418"/>
            <a:ext cx="368827" cy="301768"/>
          </a:xfrm>
          <a:prstGeom prst="rect">
            <a:avLst/>
          </a:prstGeom>
        </p:spPr>
      </p:pic>
      <p:pic>
        <p:nvPicPr>
          <p:cNvPr id="83" name="图片 76" descr="接入交换机.png"/>
          <p:cNvPicPr>
            <a:picLocks noChangeAspect="1"/>
          </p:cNvPicPr>
          <p:nvPr/>
        </p:nvPicPr>
        <p:blipFill>
          <a:blip r:embed="rId6" cstate="print"/>
          <a:stretch>
            <a:fillRect/>
          </a:stretch>
        </p:blipFill>
        <p:spPr bwMode="gray">
          <a:xfrm>
            <a:off x="3484985" y="4982418"/>
            <a:ext cx="368827" cy="301768"/>
          </a:xfrm>
          <a:prstGeom prst="rect">
            <a:avLst/>
          </a:prstGeom>
        </p:spPr>
      </p:pic>
      <p:pic>
        <p:nvPicPr>
          <p:cNvPr id="84" name="图片 87" descr="汇聚交换机.png"/>
          <p:cNvPicPr>
            <a:picLocks noChangeAspect="1"/>
          </p:cNvPicPr>
          <p:nvPr/>
        </p:nvPicPr>
        <p:blipFill>
          <a:blip r:embed="rId4" cstate="print"/>
          <a:stretch>
            <a:fillRect/>
          </a:stretch>
        </p:blipFill>
        <p:spPr bwMode="gray">
          <a:xfrm>
            <a:off x="3484985" y="4187663"/>
            <a:ext cx="368827" cy="301768"/>
          </a:xfrm>
          <a:prstGeom prst="rect">
            <a:avLst/>
          </a:prstGeom>
        </p:spPr>
      </p:pic>
      <p:cxnSp>
        <p:nvCxnSpPr>
          <p:cNvPr id="85" name="Straight Connector 166"/>
          <p:cNvCxnSpPr>
            <a:stCxn id="77" idx="2"/>
            <a:endCxn id="82" idx="0"/>
          </p:cNvCxnSpPr>
          <p:nvPr/>
        </p:nvCxnSpPr>
        <p:spPr bwMode="gray">
          <a:xfrm>
            <a:off x="841533" y="4489431"/>
            <a:ext cx="0" cy="492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166"/>
          <p:cNvCxnSpPr>
            <a:stCxn id="84" idx="2"/>
            <a:endCxn id="83" idx="0"/>
          </p:cNvCxnSpPr>
          <p:nvPr/>
        </p:nvCxnSpPr>
        <p:spPr bwMode="gray">
          <a:xfrm>
            <a:off x="3669399" y="4489431"/>
            <a:ext cx="0" cy="492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166"/>
          <p:cNvCxnSpPr>
            <a:stCxn id="81" idx="1"/>
            <a:endCxn id="83" idx="3"/>
          </p:cNvCxnSpPr>
          <p:nvPr/>
        </p:nvCxnSpPr>
        <p:spPr bwMode="gray">
          <a:xfrm flipH="1">
            <a:off x="3853812" y="5133302"/>
            <a:ext cx="6922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9" name="图片 14" descr="日志告警服务器-蓝.png"/>
          <p:cNvPicPr>
            <a:picLocks noChangeAspect="1"/>
          </p:cNvPicPr>
          <p:nvPr/>
        </p:nvPicPr>
        <p:blipFill>
          <a:blip r:embed="rId7" cstate="print"/>
          <a:stretch>
            <a:fillRect/>
          </a:stretch>
        </p:blipFill>
        <p:spPr bwMode="gray">
          <a:xfrm>
            <a:off x="596256" y="5779409"/>
            <a:ext cx="490552" cy="306312"/>
          </a:xfrm>
          <a:prstGeom prst="rect">
            <a:avLst/>
          </a:prstGeom>
        </p:spPr>
      </p:pic>
      <p:pic>
        <p:nvPicPr>
          <p:cNvPr id="90" name="图片 157" descr="故障链路.png"/>
          <p:cNvPicPr>
            <a:picLocks noChangeAspect="1"/>
          </p:cNvPicPr>
          <p:nvPr/>
        </p:nvPicPr>
        <p:blipFill>
          <a:blip r:embed="rId8" cstate="print"/>
          <a:stretch>
            <a:fillRect/>
          </a:stretch>
        </p:blipFill>
        <p:spPr bwMode="gray">
          <a:xfrm>
            <a:off x="4546039" y="5766174"/>
            <a:ext cx="446281" cy="332783"/>
          </a:xfrm>
          <a:prstGeom prst="rect">
            <a:avLst/>
          </a:prstGeom>
        </p:spPr>
      </p:pic>
      <p:grpSp>
        <p:nvGrpSpPr>
          <p:cNvPr id="91" name="组合 758"/>
          <p:cNvGrpSpPr/>
          <p:nvPr/>
        </p:nvGrpSpPr>
        <p:grpSpPr bwMode="gray">
          <a:xfrm flipV="1">
            <a:off x="4612344" y="5324181"/>
            <a:ext cx="236214" cy="200032"/>
            <a:chOff x="7440613" y="4868863"/>
            <a:chExt cx="1019175" cy="828675"/>
          </a:xfrm>
          <a:solidFill>
            <a:schemeClr val="bg1">
              <a:lumMod val="75000"/>
            </a:schemeClr>
          </a:solidFill>
        </p:grpSpPr>
        <p:sp>
          <p:nvSpPr>
            <p:cNvPr id="9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94" name="表格 93"/>
          <p:cNvGraphicFramePr>
            <a:graphicFrameLocks noGrp="1"/>
          </p:cNvGraphicFramePr>
          <p:nvPr>
            <p:extLst>
              <p:ext uri="{D42A27DB-BD31-4B8C-83A1-F6EECF244321}">
                <p14:modId xmlns:p14="http://schemas.microsoft.com/office/powerpoint/2010/main" val="4014768782"/>
              </p:ext>
            </p:extLst>
          </p:nvPr>
        </p:nvGraphicFramePr>
        <p:xfrm>
          <a:off x="661999" y="1441072"/>
          <a:ext cx="1008000" cy="1371600"/>
        </p:xfrm>
        <a:graphic>
          <a:graphicData uri="http://schemas.openxmlformats.org/drawingml/2006/table">
            <a:tbl>
              <a:tblPr firstRow="1" bandRow="1"/>
              <a:tblGrid>
                <a:gridCol w="504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tblGrid>
              <a:tr h="224010">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组名</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a:t>
                      </a: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2824">
                <a:tc>
                  <a:txBody>
                    <a:bodyPr/>
                    <a:lstStyle/>
                    <a:p>
                      <a:pPr algn="ctr"/>
                      <a:r>
                        <a:rPr lang="zh-CN" altLang="en-US"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graphicFrame>
        <p:nvGraphicFramePr>
          <p:cNvPr id="95" name="表格 94"/>
          <p:cNvGraphicFramePr>
            <a:graphicFrameLocks noGrp="1"/>
          </p:cNvGraphicFramePr>
          <p:nvPr>
            <p:extLst>
              <p:ext uri="{D42A27DB-BD31-4B8C-83A1-F6EECF244321}">
                <p14:modId xmlns:p14="http://schemas.microsoft.com/office/powerpoint/2010/main" val="1037178181"/>
              </p:ext>
            </p:extLst>
          </p:nvPr>
        </p:nvGraphicFramePr>
        <p:xfrm>
          <a:off x="1960248" y="1441072"/>
          <a:ext cx="2520000" cy="1371600"/>
        </p:xfrm>
        <a:graphic>
          <a:graphicData uri="http://schemas.openxmlformats.org/drawingml/2006/table">
            <a:tbl>
              <a:tblPr firstRow="1" bandRow="1"/>
              <a:tblGrid>
                <a:gridCol w="504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504000">
                  <a:extLst>
                    <a:ext uri="{9D8B030D-6E8A-4147-A177-3AD203B41FA5}">
                      <a16:colId xmlns:a16="http://schemas.microsoft.com/office/drawing/2014/main" val="20002"/>
                    </a:ext>
                  </a:extLst>
                </a:gridCol>
                <a:gridCol w="504000">
                  <a:extLst>
                    <a:ext uri="{9D8B030D-6E8A-4147-A177-3AD203B41FA5}">
                      <a16:colId xmlns:a16="http://schemas.microsoft.com/office/drawing/2014/main" val="20003"/>
                    </a:ext>
                  </a:extLst>
                </a:gridCol>
                <a:gridCol w="504000">
                  <a:extLst>
                    <a:ext uri="{9D8B030D-6E8A-4147-A177-3AD203B41FA5}">
                      <a16:colId xmlns:a16="http://schemas.microsoft.com/office/drawing/2014/main" val="20004"/>
                    </a:ext>
                  </a:extLst>
                </a:gridCol>
              </a:tblGrid>
              <a:tr h="224010">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2824">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98" name="文本框 97"/>
          <p:cNvSpPr txBox="1"/>
          <p:nvPr/>
        </p:nvSpPr>
        <p:spPr bwMode="gray">
          <a:xfrm>
            <a:off x="1758005" y="2955477"/>
            <a:ext cx="521297"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Core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文本框 98"/>
          <p:cNvSpPr txBox="1"/>
          <p:nvPr/>
        </p:nvSpPr>
        <p:spPr bwMode="gray">
          <a:xfrm>
            <a:off x="1016475" y="4194161"/>
            <a:ext cx="603050" cy="276999"/>
          </a:xfrm>
          <a:prstGeom prst="rect">
            <a:avLst/>
          </a:prstGeom>
          <a:noFill/>
        </p:spPr>
        <p:txBody>
          <a:bodyPr wrap="none" rtlCol="0">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AGG1</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文本框 99"/>
          <p:cNvSpPr txBox="1"/>
          <p:nvPr/>
        </p:nvSpPr>
        <p:spPr bwMode="gray">
          <a:xfrm>
            <a:off x="2900404" y="4194161"/>
            <a:ext cx="603050" cy="276999"/>
          </a:xfrm>
          <a:prstGeom prst="rect">
            <a:avLst/>
          </a:prstGeom>
          <a:noFill/>
        </p:spPr>
        <p:txBody>
          <a:bodyPr wrap="none" rtlCol="0">
            <a:spAutoFit/>
          </a:bodyPr>
          <a:lstStyle/>
          <a:p>
            <a:pPr algn="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AGG2</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文本框 100"/>
          <p:cNvSpPr txBox="1"/>
          <p:nvPr/>
        </p:nvSpPr>
        <p:spPr bwMode="gray">
          <a:xfrm>
            <a:off x="1016475" y="4982418"/>
            <a:ext cx="750526" cy="276999"/>
          </a:xfrm>
          <a:prstGeom prst="rect">
            <a:avLst/>
          </a:prstGeom>
          <a:noFill/>
        </p:spPr>
        <p:txBody>
          <a:bodyPr wrap="none" rtlCol="0">
            <a:spAutoFit/>
          </a:bodyP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Access1</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101"/>
          <p:cNvSpPr txBox="1"/>
          <p:nvPr/>
        </p:nvSpPr>
        <p:spPr bwMode="gray">
          <a:xfrm>
            <a:off x="2752928" y="4982418"/>
            <a:ext cx="750526" cy="276999"/>
          </a:xfrm>
          <a:prstGeom prst="rect">
            <a:avLst/>
          </a:prstGeom>
          <a:noFill/>
        </p:spPr>
        <p:txBody>
          <a:bodyPr wrap="none" rtlCol="0">
            <a:spAutoFit/>
          </a:bodyPr>
          <a:lstStyle/>
          <a:p>
            <a:pPr algn="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Access2</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文本框 102"/>
          <p:cNvSpPr txBox="1"/>
          <p:nvPr/>
        </p:nvSpPr>
        <p:spPr bwMode="gray">
          <a:xfrm>
            <a:off x="845626" y="1125150"/>
            <a:ext cx="646332"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安全组</a:t>
            </a:r>
          </a:p>
        </p:txBody>
      </p:sp>
      <p:sp>
        <p:nvSpPr>
          <p:cNvPr id="104" name="文本框 103"/>
          <p:cNvSpPr txBox="1"/>
          <p:nvPr/>
        </p:nvSpPr>
        <p:spPr bwMode="gray">
          <a:xfrm>
            <a:off x="2269797" y="1125150"/>
            <a:ext cx="203132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基于安全组的策略控制矩阵</a:t>
            </a:r>
          </a:p>
        </p:txBody>
      </p:sp>
      <p:cxnSp>
        <p:nvCxnSpPr>
          <p:cNvPr id="105" name="Straight Connector 166"/>
          <p:cNvCxnSpPr>
            <a:stCxn id="83" idx="2"/>
            <a:endCxn id="106" idx="0"/>
          </p:cNvCxnSpPr>
          <p:nvPr/>
        </p:nvCxnSpPr>
        <p:spPr bwMode="gray">
          <a:xfrm flipH="1">
            <a:off x="3669398" y="5284186"/>
            <a:ext cx="1" cy="495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6" name="图片 14" descr="日志告警服务器-蓝.png"/>
          <p:cNvPicPr>
            <a:picLocks noChangeAspect="1"/>
          </p:cNvPicPr>
          <p:nvPr/>
        </p:nvPicPr>
        <p:blipFill>
          <a:blip r:embed="rId7" cstate="print"/>
          <a:stretch>
            <a:fillRect/>
          </a:stretch>
        </p:blipFill>
        <p:spPr bwMode="gray">
          <a:xfrm>
            <a:off x="3424122" y="5779409"/>
            <a:ext cx="490552" cy="306312"/>
          </a:xfrm>
          <a:prstGeom prst="rect">
            <a:avLst/>
          </a:prstGeom>
        </p:spPr>
      </p:pic>
      <p:pic>
        <p:nvPicPr>
          <p:cNvPr id="114" name="图片 11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4037313" y="3222528"/>
            <a:ext cx="947389" cy="538549"/>
          </a:xfrm>
          <a:prstGeom prst="rect">
            <a:avLst/>
          </a:prstGeom>
        </p:spPr>
      </p:pic>
      <p:cxnSp>
        <p:nvCxnSpPr>
          <p:cNvPr id="117" name="直接箭头连接符 116"/>
          <p:cNvCxnSpPr/>
          <p:nvPr/>
        </p:nvCxnSpPr>
        <p:spPr bwMode="gray">
          <a:xfrm flipH="1">
            <a:off x="2752928" y="3505045"/>
            <a:ext cx="1534592" cy="0"/>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18" name="任意多边形 117"/>
          <p:cNvSpPr/>
          <p:nvPr/>
        </p:nvSpPr>
        <p:spPr bwMode="gray">
          <a:xfrm>
            <a:off x="1084654" y="3378165"/>
            <a:ext cx="2418800" cy="2379916"/>
          </a:xfrm>
          <a:custGeom>
            <a:avLst/>
            <a:gdLst>
              <a:gd name="connsiteX0" fmla="*/ 0 w 2621280"/>
              <a:gd name="connsiteY0" fmla="*/ 30480 h 30480"/>
              <a:gd name="connsiteX1" fmla="*/ 2621280 w 2621280"/>
              <a:gd name="connsiteY1" fmla="*/ 0 h 30480"/>
              <a:gd name="connsiteX0" fmla="*/ 0 w 2621280"/>
              <a:gd name="connsiteY0" fmla="*/ 1315181 h 1315181"/>
              <a:gd name="connsiteX1" fmla="*/ 2621280 w 2621280"/>
              <a:gd name="connsiteY1" fmla="*/ 1284701 h 1315181"/>
              <a:gd name="connsiteX0" fmla="*/ 0 w 2621280"/>
              <a:gd name="connsiteY0" fmla="*/ 2368858 h 2368858"/>
              <a:gd name="connsiteX1" fmla="*/ 2621280 w 2621280"/>
              <a:gd name="connsiteY1" fmla="*/ 2338378 h 2368858"/>
              <a:gd name="connsiteX0" fmla="*/ 0 w 2570480"/>
              <a:gd name="connsiteY0" fmla="*/ 2374209 h 2374209"/>
              <a:gd name="connsiteX1" fmla="*/ 2570480 w 2570480"/>
              <a:gd name="connsiteY1" fmla="*/ 2333569 h 2374209"/>
              <a:gd name="connsiteX0" fmla="*/ 0 w 2570480"/>
              <a:gd name="connsiteY0" fmla="*/ 2399960 h 2399960"/>
              <a:gd name="connsiteX1" fmla="*/ 2570480 w 2570480"/>
              <a:gd name="connsiteY1" fmla="*/ 2359320 h 2399960"/>
              <a:gd name="connsiteX0" fmla="*/ 0 w 2570480"/>
              <a:gd name="connsiteY0" fmla="*/ 2374209 h 2374209"/>
              <a:gd name="connsiteX1" fmla="*/ 2570480 w 2570480"/>
              <a:gd name="connsiteY1" fmla="*/ 2333569 h 2374209"/>
              <a:gd name="connsiteX0" fmla="*/ 0 w 2570480"/>
              <a:gd name="connsiteY0" fmla="*/ 2374209 h 2374209"/>
              <a:gd name="connsiteX1" fmla="*/ 2570480 w 2570480"/>
              <a:gd name="connsiteY1" fmla="*/ 2333569 h 2374209"/>
              <a:gd name="connsiteX0" fmla="*/ 0 w 2570480"/>
              <a:gd name="connsiteY0" fmla="*/ 2386163 h 2386163"/>
              <a:gd name="connsiteX1" fmla="*/ 2570480 w 2570480"/>
              <a:gd name="connsiteY1" fmla="*/ 2345523 h 2386163"/>
              <a:gd name="connsiteX0" fmla="*/ 0 w 2447132"/>
              <a:gd name="connsiteY0" fmla="*/ 2402494 h 2402494"/>
              <a:gd name="connsiteX1" fmla="*/ 2447132 w 2447132"/>
              <a:gd name="connsiteY1" fmla="*/ 2331085 h 2402494"/>
            </a:gdLst>
            <a:ahLst/>
            <a:cxnLst>
              <a:cxn ang="0">
                <a:pos x="connsiteX0" y="connsiteY0"/>
              </a:cxn>
              <a:cxn ang="0">
                <a:pos x="connsiteX1" y="connsiteY1"/>
              </a:cxn>
            </a:cxnLst>
            <a:rect l="l" t="t" r="r" b="b"/>
            <a:pathLst>
              <a:path w="2447132" h="2402494">
                <a:moveTo>
                  <a:pt x="0" y="2402494"/>
                </a:moveTo>
                <a:cubicBezTo>
                  <a:pt x="497840" y="-543906"/>
                  <a:pt x="1749186" y="-1022005"/>
                  <a:pt x="2447132" y="2331085"/>
                </a:cubicBezTo>
              </a:path>
            </a:pathLst>
          </a:custGeom>
          <a:noFill/>
          <a:ln w="57150">
            <a:solidFill>
              <a:srgbClr val="EC7061">
                <a:alpha val="50000"/>
              </a:srgb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任意多边形 118"/>
          <p:cNvSpPr/>
          <p:nvPr/>
        </p:nvSpPr>
        <p:spPr bwMode="gray">
          <a:xfrm>
            <a:off x="646016" y="3132688"/>
            <a:ext cx="3966328" cy="2625393"/>
          </a:xfrm>
          <a:custGeom>
            <a:avLst/>
            <a:gdLst>
              <a:gd name="connsiteX0" fmla="*/ 0 w 2621280"/>
              <a:gd name="connsiteY0" fmla="*/ 30480 h 30480"/>
              <a:gd name="connsiteX1" fmla="*/ 2621280 w 2621280"/>
              <a:gd name="connsiteY1" fmla="*/ 0 h 30480"/>
              <a:gd name="connsiteX0" fmla="*/ 0 w 2621280"/>
              <a:gd name="connsiteY0" fmla="*/ 1315181 h 1315181"/>
              <a:gd name="connsiteX1" fmla="*/ 2621280 w 2621280"/>
              <a:gd name="connsiteY1" fmla="*/ 1284701 h 1315181"/>
              <a:gd name="connsiteX0" fmla="*/ 0 w 2621280"/>
              <a:gd name="connsiteY0" fmla="*/ 2368858 h 2368858"/>
              <a:gd name="connsiteX1" fmla="*/ 2621280 w 2621280"/>
              <a:gd name="connsiteY1" fmla="*/ 2338378 h 2368858"/>
              <a:gd name="connsiteX0" fmla="*/ 0 w 2570480"/>
              <a:gd name="connsiteY0" fmla="*/ 2374209 h 2374209"/>
              <a:gd name="connsiteX1" fmla="*/ 2570480 w 2570480"/>
              <a:gd name="connsiteY1" fmla="*/ 2333569 h 2374209"/>
              <a:gd name="connsiteX0" fmla="*/ 0 w 2570480"/>
              <a:gd name="connsiteY0" fmla="*/ 2399960 h 2399960"/>
              <a:gd name="connsiteX1" fmla="*/ 2570480 w 2570480"/>
              <a:gd name="connsiteY1" fmla="*/ 2359320 h 2399960"/>
              <a:gd name="connsiteX0" fmla="*/ 0 w 2570480"/>
              <a:gd name="connsiteY0" fmla="*/ 2374209 h 2374209"/>
              <a:gd name="connsiteX1" fmla="*/ 2570480 w 2570480"/>
              <a:gd name="connsiteY1" fmla="*/ 2333569 h 2374209"/>
              <a:gd name="connsiteX0" fmla="*/ 0 w 2570480"/>
              <a:gd name="connsiteY0" fmla="*/ 2374209 h 2374209"/>
              <a:gd name="connsiteX1" fmla="*/ 2570480 w 2570480"/>
              <a:gd name="connsiteY1" fmla="*/ 2333569 h 2374209"/>
              <a:gd name="connsiteX0" fmla="*/ 0 w 2570480"/>
              <a:gd name="connsiteY0" fmla="*/ 2386163 h 2386163"/>
              <a:gd name="connsiteX1" fmla="*/ 2570480 w 2570480"/>
              <a:gd name="connsiteY1" fmla="*/ 2345523 h 2386163"/>
              <a:gd name="connsiteX0" fmla="*/ 0 w 2447132"/>
              <a:gd name="connsiteY0" fmla="*/ 2402494 h 2402494"/>
              <a:gd name="connsiteX1" fmla="*/ 2447132 w 2447132"/>
              <a:gd name="connsiteY1" fmla="*/ 2331085 h 2402494"/>
            </a:gdLst>
            <a:ahLst/>
            <a:cxnLst>
              <a:cxn ang="0">
                <a:pos x="connsiteX0" y="connsiteY0"/>
              </a:cxn>
              <a:cxn ang="0">
                <a:pos x="connsiteX1" y="connsiteY1"/>
              </a:cxn>
            </a:cxnLst>
            <a:rect l="l" t="t" r="r" b="b"/>
            <a:pathLst>
              <a:path w="2447132" h="2402494">
                <a:moveTo>
                  <a:pt x="0" y="2402494"/>
                </a:moveTo>
                <a:cubicBezTo>
                  <a:pt x="497840" y="-543906"/>
                  <a:pt x="1749186" y="-1022005"/>
                  <a:pt x="2447132" y="2331085"/>
                </a:cubicBezTo>
              </a:path>
            </a:pathLst>
          </a:custGeom>
          <a:noFill/>
          <a:ln w="57150">
            <a:solidFill>
              <a:srgbClr val="EC7061">
                <a:alpha val="50000"/>
              </a:srgb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椭圆 119"/>
          <p:cNvSpPr>
            <a:spLocks noChangeAspect="1"/>
          </p:cNvSpPr>
          <p:nvPr/>
        </p:nvSpPr>
        <p:spPr bwMode="gray">
          <a:xfrm>
            <a:off x="601209" y="4395759"/>
            <a:ext cx="150801" cy="150801"/>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椭圆 120"/>
          <p:cNvSpPr>
            <a:spLocks noChangeAspect="1"/>
          </p:cNvSpPr>
          <p:nvPr/>
        </p:nvSpPr>
        <p:spPr bwMode="gray">
          <a:xfrm>
            <a:off x="2173754" y="3524905"/>
            <a:ext cx="150801" cy="150801"/>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椭圆 124"/>
          <p:cNvSpPr>
            <a:spLocks noChangeAspect="1"/>
          </p:cNvSpPr>
          <p:nvPr/>
        </p:nvSpPr>
        <p:spPr bwMode="gray">
          <a:xfrm>
            <a:off x="3435624" y="4395759"/>
            <a:ext cx="150801" cy="150801"/>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文本框 125"/>
          <p:cNvSpPr txBox="1"/>
          <p:nvPr/>
        </p:nvSpPr>
        <p:spPr bwMode="gray">
          <a:xfrm>
            <a:off x="6230144" y="1480353"/>
            <a:ext cx="5345112" cy="3785652"/>
          </a:xfrm>
          <a:prstGeom prst="rect">
            <a:avLst/>
          </a:prstGeom>
          <a:noFill/>
        </p:spPr>
        <p:txBody>
          <a:bodyPr wrap="square" rtlCol="0">
            <a:spAutoFit/>
          </a:bodyPr>
          <a:lstStyle/>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场景描述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多个认证点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集中的策略执行点。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认证点与策略执行点分离。</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设备不支持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场景特点</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全网存在多个认证点，例如认证点分散在汇聚交换机上。</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作为业务随行的策略执行点。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向</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同步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绑定信息，流量转发至</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后，由其根据用户所定义的策略控制矩阵进行策略执行。</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网络无需支持或部署</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椭圆 126"/>
          <p:cNvSpPr>
            <a:spLocks noChangeAspect="1"/>
          </p:cNvSpPr>
          <p:nvPr/>
        </p:nvSpPr>
        <p:spPr bwMode="gray">
          <a:xfrm>
            <a:off x="6353237" y="5987355"/>
            <a:ext cx="108000" cy="108000"/>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椭圆 127"/>
          <p:cNvSpPr>
            <a:spLocks noChangeAspect="1"/>
          </p:cNvSpPr>
          <p:nvPr/>
        </p:nvSpPr>
        <p:spPr bwMode="gray">
          <a:xfrm>
            <a:off x="7388453" y="5987355"/>
            <a:ext cx="108000" cy="108000"/>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p:cNvSpPr txBox="1"/>
          <p:nvPr/>
        </p:nvSpPr>
        <p:spPr bwMode="gray">
          <a:xfrm>
            <a:off x="6428164" y="5902856"/>
            <a:ext cx="818698"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文本框 129"/>
          <p:cNvSpPr txBox="1"/>
          <p:nvPr/>
        </p:nvSpPr>
        <p:spPr bwMode="gray">
          <a:xfrm>
            <a:off x="7479819" y="5902856"/>
            <a:ext cx="945825"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1" name="直接箭头连接符 130"/>
          <p:cNvCxnSpPr/>
          <p:nvPr/>
        </p:nvCxnSpPr>
        <p:spPr bwMode="gray">
          <a:xfrm flipH="1">
            <a:off x="8563935" y="6041355"/>
            <a:ext cx="294640" cy="0"/>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32" name="文本框 131"/>
          <p:cNvSpPr txBox="1"/>
          <p:nvPr/>
        </p:nvSpPr>
        <p:spPr bwMode="gray">
          <a:xfrm>
            <a:off x="8858575" y="5790427"/>
            <a:ext cx="1165562"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安全组及策略控制矩阵下发</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矩形 132"/>
          <p:cNvSpPr/>
          <p:nvPr/>
        </p:nvSpPr>
        <p:spPr bwMode="gray">
          <a:xfrm>
            <a:off x="4703224" y="1064990"/>
            <a:ext cx="1392776" cy="1819529"/>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34" name="表格 133"/>
          <p:cNvGraphicFramePr>
            <a:graphicFrameLocks noGrp="1"/>
          </p:cNvGraphicFramePr>
          <p:nvPr>
            <p:extLst>
              <p:ext uri="{D42A27DB-BD31-4B8C-83A1-F6EECF244321}">
                <p14:modId xmlns:p14="http://schemas.microsoft.com/office/powerpoint/2010/main" val="2031384083"/>
              </p:ext>
            </p:extLst>
          </p:nvPr>
        </p:nvGraphicFramePr>
        <p:xfrm>
          <a:off x="4800935" y="1441072"/>
          <a:ext cx="1215640" cy="1371600"/>
        </p:xfrm>
        <a:graphic>
          <a:graphicData uri="http://schemas.openxmlformats.org/drawingml/2006/table">
            <a:tbl>
              <a:tblPr firstRow="1" bandRow="1"/>
              <a:tblGrid>
                <a:gridCol w="666641">
                  <a:extLst>
                    <a:ext uri="{9D8B030D-6E8A-4147-A177-3AD203B41FA5}">
                      <a16:colId xmlns:a16="http://schemas.microsoft.com/office/drawing/2014/main" val="20000"/>
                    </a:ext>
                  </a:extLst>
                </a:gridCol>
                <a:gridCol w="548999">
                  <a:extLst>
                    <a:ext uri="{9D8B030D-6E8A-4147-A177-3AD203B41FA5}">
                      <a16:colId xmlns:a16="http://schemas.microsoft.com/office/drawing/2014/main" val="20001"/>
                    </a:ext>
                  </a:extLst>
                </a:gridCol>
              </a:tblGrid>
              <a:tr h="224010">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a:t>
                      </a: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1.1.1.1</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2824">
                <a:tc>
                  <a:txBody>
                    <a:bodyPr/>
                    <a:lstStyle/>
                    <a:p>
                      <a:pPr algn="ct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3.3.3.3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35" name="文本框 134"/>
          <p:cNvSpPr txBox="1"/>
          <p:nvPr/>
        </p:nvSpPr>
        <p:spPr bwMode="gray">
          <a:xfrm>
            <a:off x="4877073" y="1125150"/>
            <a:ext cx="963725"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p>
        </p:txBody>
      </p:sp>
      <p:cxnSp>
        <p:nvCxnSpPr>
          <p:cNvPr id="138" name="直接箭头连接符 137"/>
          <p:cNvCxnSpPr/>
          <p:nvPr/>
        </p:nvCxnSpPr>
        <p:spPr bwMode="gray">
          <a:xfrm flipH="1">
            <a:off x="10030477" y="6041355"/>
            <a:ext cx="294640" cy="0"/>
          </a:xfrm>
          <a:prstGeom prst="straightConnector1">
            <a:avLst/>
          </a:prstGeom>
          <a:noFill/>
          <a:ln w="190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39" name="文本框 138"/>
          <p:cNvSpPr txBox="1"/>
          <p:nvPr/>
        </p:nvSpPr>
        <p:spPr bwMode="gray">
          <a:xfrm>
            <a:off x="10325116" y="5882759"/>
            <a:ext cx="1423971"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同步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a:t>
            </a:r>
          </a:p>
        </p:txBody>
      </p:sp>
      <p:sp>
        <p:nvSpPr>
          <p:cNvPr id="61" name="文本框 60"/>
          <p:cNvSpPr txBox="1"/>
          <p:nvPr/>
        </p:nvSpPr>
        <p:spPr bwMode="gray">
          <a:xfrm>
            <a:off x="1097520" y="5701732"/>
            <a:ext cx="982961" cy="461665"/>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PC1 1.1.1.1</a:t>
            </a:r>
          </a:p>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销售</a:t>
            </a:r>
          </a:p>
        </p:txBody>
      </p:sp>
      <p:sp>
        <p:nvSpPr>
          <p:cNvPr id="62" name="文本框 61"/>
          <p:cNvSpPr txBox="1"/>
          <p:nvPr/>
        </p:nvSpPr>
        <p:spPr bwMode="gray">
          <a:xfrm>
            <a:off x="5030316" y="5701732"/>
            <a:ext cx="954107" cy="461665"/>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PC3 3.3.3.3</a:t>
            </a:r>
          </a:p>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市场</a:t>
            </a:r>
          </a:p>
        </p:txBody>
      </p:sp>
      <p:sp>
        <p:nvSpPr>
          <p:cNvPr id="70" name="文本框 69"/>
          <p:cNvSpPr txBox="1"/>
          <p:nvPr/>
        </p:nvSpPr>
        <p:spPr bwMode="gray">
          <a:xfrm>
            <a:off x="2480626" y="5701732"/>
            <a:ext cx="954108" cy="461665"/>
          </a:xfrm>
          <a:prstGeom prst="rect">
            <a:avLst/>
          </a:prstGeom>
          <a:noFill/>
        </p:spPr>
        <p:txBody>
          <a:bodyPr wrap="none" rtlCol="0">
            <a:spAutoFit/>
          </a:bodyPr>
          <a:lstStyle/>
          <a:p>
            <a:pPr algn="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PC2 2.2.2.2</a:t>
            </a:r>
          </a:p>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研发</a:t>
            </a:r>
          </a:p>
        </p:txBody>
      </p:sp>
      <p:grpSp>
        <p:nvGrpSpPr>
          <p:cNvPr id="74" name="组合 28"/>
          <p:cNvGrpSpPr>
            <a:grpSpLocks noChangeAspect="1"/>
          </p:cNvGrpSpPr>
          <p:nvPr/>
        </p:nvGrpSpPr>
        <p:grpSpPr bwMode="gray">
          <a:xfrm>
            <a:off x="2259689" y="3248203"/>
            <a:ext cx="238817" cy="238817"/>
            <a:chOff x="5076056" y="3356992"/>
            <a:chExt cx="436268" cy="436268"/>
          </a:xfrm>
        </p:grpSpPr>
        <p:sp>
          <p:nvSpPr>
            <p:cNvPr id="75" name="椭圆 27"/>
            <p:cNvSpPr/>
            <p:nvPr/>
          </p:nvSpPr>
          <p:spPr bwMode="gray">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禁止符 23"/>
            <p:cNvSpPr/>
            <p:nvPr/>
          </p:nvSpPr>
          <p:spPr bwMode="gray">
            <a:xfrm>
              <a:off x="5076056" y="3356992"/>
              <a:ext cx="436268" cy="436268"/>
            </a:xfrm>
            <a:prstGeom prst="noSmoking">
              <a:avLst>
                <a:gd name="adj" fmla="val 15475"/>
              </a:avLst>
            </a:prstGeom>
            <a:solidFill>
              <a:srgbClr val="EC7061">
                <a:lumMod val="100000"/>
              </a:srgbClr>
            </a:solidFill>
            <a:ln w="12700" cap="flat" cmpd="sng" algn="ctr">
              <a:noFill/>
              <a:prstDash val="solid"/>
              <a:miter lim="800000"/>
            </a:ln>
            <a:effectLst/>
          </p:spPr>
          <p:txBody>
            <a:bodyPr rtlCol="0" anchor="ctr"/>
            <a:lstStyle/>
            <a:p>
              <a:pPr marL="0" marR="0" lvl="0" indent="0" algn="ctr" defTabSz="914478" eaLnBrk="1"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8" name="文本框 77"/>
          <p:cNvSpPr txBox="1"/>
          <p:nvPr/>
        </p:nvSpPr>
        <p:spPr bwMode="gray">
          <a:xfrm>
            <a:off x="586432" y="3104816"/>
            <a:ext cx="1518227" cy="276999"/>
          </a:xfrm>
          <a:prstGeom prst="rect">
            <a:avLst/>
          </a:prstGeom>
          <a:noFill/>
        </p:spPr>
        <p:txBody>
          <a:bodyPr wrap="square" rtlCol="0">
            <a:spAutoFit/>
          </a:bodyPr>
          <a:lstStyle/>
          <a:p>
            <a:pPr algn="ctr"/>
            <a:r>
              <a:rPr lang="en-US" altLang="zh-CN"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订阅设备</a:t>
            </a:r>
          </a:p>
        </p:txBody>
      </p:sp>
      <p:sp>
        <p:nvSpPr>
          <p:cNvPr id="71" name="五边形 70"/>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72" name="燕尾形 71"/>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燕尾形 95"/>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115620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任意多边形 77"/>
          <p:cNvSpPr/>
          <p:nvPr/>
        </p:nvSpPr>
        <p:spPr bwMode="gray">
          <a:xfrm>
            <a:off x="678231" y="3187291"/>
            <a:ext cx="3129508" cy="1537529"/>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业务随行场景化方案 </a:t>
            </a:r>
            <a:r>
              <a:rPr lang="en-US" altLang="zh-CN" dirty="0">
                <a:sym typeface="Huawei Sans" panose="020C0503030203020204" pitchFamily="34" charset="0"/>
              </a:rPr>
              <a:t>(3)</a:t>
            </a:r>
            <a:endParaRPr lang="zh-CN" altLang="en-US" dirty="0">
              <a:sym typeface="Huawei Sans" panose="020C0503030203020204" pitchFamily="34" charset="0"/>
            </a:endParaRPr>
          </a:p>
        </p:txBody>
      </p:sp>
      <p:cxnSp>
        <p:nvCxnSpPr>
          <p:cNvPr id="64" name="Straight Connector 166"/>
          <p:cNvCxnSpPr/>
          <p:nvPr/>
        </p:nvCxnSpPr>
        <p:spPr bwMode="gray">
          <a:xfrm>
            <a:off x="841533" y="5244091"/>
            <a:ext cx="0" cy="6199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166"/>
          <p:cNvCxnSpPr/>
          <p:nvPr/>
        </p:nvCxnSpPr>
        <p:spPr bwMode="gray">
          <a:xfrm flipH="1">
            <a:off x="2380615" y="3384792"/>
            <a:ext cx="19983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Group 165"/>
          <p:cNvGrpSpPr/>
          <p:nvPr/>
        </p:nvGrpSpPr>
        <p:grpSpPr bwMode="gray">
          <a:xfrm rot="10800000">
            <a:off x="947302" y="3375705"/>
            <a:ext cx="2618150" cy="892260"/>
            <a:chOff x="-1233037" y="914446"/>
            <a:chExt cx="1573823" cy="778776"/>
          </a:xfrm>
        </p:grpSpPr>
        <p:cxnSp>
          <p:nvCxnSpPr>
            <p:cNvPr id="67"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9" name="图片 86" descr="核心交换机.png"/>
          <p:cNvPicPr>
            <a:picLocks noChangeAspect="1"/>
          </p:cNvPicPr>
          <p:nvPr/>
        </p:nvPicPr>
        <p:blipFill>
          <a:blip r:embed="rId3" cstate="print"/>
          <a:stretch>
            <a:fillRect/>
          </a:stretch>
        </p:blipFill>
        <p:spPr bwMode="gray">
          <a:xfrm>
            <a:off x="2032326" y="3202223"/>
            <a:ext cx="446281" cy="365140"/>
          </a:xfrm>
          <a:prstGeom prst="rect">
            <a:avLst/>
          </a:prstGeom>
        </p:spPr>
      </p:pic>
      <p:pic>
        <p:nvPicPr>
          <p:cNvPr id="77" name="图片 87" descr="汇聚交换机.png"/>
          <p:cNvPicPr>
            <a:picLocks noChangeAspect="1"/>
          </p:cNvPicPr>
          <p:nvPr/>
        </p:nvPicPr>
        <p:blipFill>
          <a:blip r:embed="rId4" cstate="print"/>
          <a:stretch>
            <a:fillRect/>
          </a:stretch>
        </p:blipFill>
        <p:spPr bwMode="gray">
          <a:xfrm>
            <a:off x="657119" y="4187663"/>
            <a:ext cx="368827" cy="301768"/>
          </a:xfrm>
          <a:prstGeom prst="rect">
            <a:avLst/>
          </a:prstGeom>
        </p:spPr>
      </p:pic>
      <p:pic>
        <p:nvPicPr>
          <p:cNvPr id="81" name="图片 105" descr="AP.png"/>
          <p:cNvPicPr>
            <a:picLocks noChangeAspect="1"/>
          </p:cNvPicPr>
          <p:nvPr/>
        </p:nvPicPr>
        <p:blipFill>
          <a:blip r:embed="rId5" cstate="print"/>
          <a:stretch>
            <a:fillRect/>
          </a:stretch>
        </p:blipFill>
        <p:spPr bwMode="gray">
          <a:xfrm>
            <a:off x="4546039" y="4982418"/>
            <a:ext cx="368827" cy="301768"/>
          </a:xfrm>
          <a:prstGeom prst="rect">
            <a:avLst/>
          </a:prstGeom>
        </p:spPr>
      </p:pic>
      <p:pic>
        <p:nvPicPr>
          <p:cNvPr id="82" name="图片 76" descr="接入交换机.png"/>
          <p:cNvPicPr>
            <a:picLocks noChangeAspect="1"/>
          </p:cNvPicPr>
          <p:nvPr/>
        </p:nvPicPr>
        <p:blipFill>
          <a:blip r:embed="rId6" cstate="print"/>
          <a:stretch>
            <a:fillRect/>
          </a:stretch>
        </p:blipFill>
        <p:spPr bwMode="gray">
          <a:xfrm>
            <a:off x="657119" y="4982418"/>
            <a:ext cx="368827" cy="301768"/>
          </a:xfrm>
          <a:prstGeom prst="rect">
            <a:avLst/>
          </a:prstGeom>
        </p:spPr>
      </p:pic>
      <p:pic>
        <p:nvPicPr>
          <p:cNvPr id="83" name="图片 76" descr="接入交换机.png"/>
          <p:cNvPicPr>
            <a:picLocks noChangeAspect="1"/>
          </p:cNvPicPr>
          <p:nvPr/>
        </p:nvPicPr>
        <p:blipFill>
          <a:blip r:embed="rId6" cstate="print"/>
          <a:stretch>
            <a:fillRect/>
          </a:stretch>
        </p:blipFill>
        <p:spPr bwMode="gray">
          <a:xfrm>
            <a:off x="3484985" y="4982418"/>
            <a:ext cx="368827" cy="301768"/>
          </a:xfrm>
          <a:prstGeom prst="rect">
            <a:avLst/>
          </a:prstGeom>
        </p:spPr>
      </p:pic>
      <p:pic>
        <p:nvPicPr>
          <p:cNvPr id="84" name="图片 87" descr="汇聚交换机.png"/>
          <p:cNvPicPr>
            <a:picLocks noChangeAspect="1"/>
          </p:cNvPicPr>
          <p:nvPr/>
        </p:nvPicPr>
        <p:blipFill>
          <a:blip r:embed="rId4" cstate="print"/>
          <a:stretch>
            <a:fillRect/>
          </a:stretch>
        </p:blipFill>
        <p:spPr bwMode="gray">
          <a:xfrm>
            <a:off x="3484985" y="4187663"/>
            <a:ext cx="368827" cy="301768"/>
          </a:xfrm>
          <a:prstGeom prst="rect">
            <a:avLst/>
          </a:prstGeom>
        </p:spPr>
      </p:pic>
      <p:cxnSp>
        <p:nvCxnSpPr>
          <p:cNvPr id="85" name="Straight Connector 166"/>
          <p:cNvCxnSpPr>
            <a:stCxn id="77" idx="2"/>
            <a:endCxn id="82" idx="0"/>
          </p:cNvCxnSpPr>
          <p:nvPr/>
        </p:nvCxnSpPr>
        <p:spPr bwMode="gray">
          <a:xfrm>
            <a:off x="841533" y="4489431"/>
            <a:ext cx="0" cy="492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166"/>
          <p:cNvCxnSpPr>
            <a:stCxn id="84" idx="2"/>
            <a:endCxn id="83" idx="0"/>
          </p:cNvCxnSpPr>
          <p:nvPr/>
        </p:nvCxnSpPr>
        <p:spPr bwMode="gray">
          <a:xfrm>
            <a:off x="3669399" y="4489431"/>
            <a:ext cx="0" cy="492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166"/>
          <p:cNvCxnSpPr>
            <a:stCxn id="81" idx="1"/>
            <a:endCxn id="83" idx="3"/>
          </p:cNvCxnSpPr>
          <p:nvPr/>
        </p:nvCxnSpPr>
        <p:spPr bwMode="gray">
          <a:xfrm flipH="1">
            <a:off x="3853812" y="5133302"/>
            <a:ext cx="6922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9" name="图片 14" descr="日志告警服务器-蓝.png"/>
          <p:cNvPicPr>
            <a:picLocks noChangeAspect="1"/>
          </p:cNvPicPr>
          <p:nvPr/>
        </p:nvPicPr>
        <p:blipFill>
          <a:blip r:embed="rId7" cstate="print"/>
          <a:stretch>
            <a:fillRect/>
          </a:stretch>
        </p:blipFill>
        <p:spPr bwMode="gray">
          <a:xfrm>
            <a:off x="596256" y="5779409"/>
            <a:ext cx="490552" cy="306312"/>
          </a:xfrm>
          <a:prstGeom prst="rect">
            <a:avLst/>
          </a:prstGeom>
        </p:spPr>
      </p:pic>
      <p:pic>
        <p:nvPicPr>
          <p:cNvPr id="90" name="图片 157" descr="故障链路.png"/>
          <p:cNvPicPr>
            <a:picLocks noChangeAspect="1"/>
          </p:cNvPicPr>
          <p:nvPr/>
        </p:nvPicPr>
        <p:blipFill>
          <a:blip r:embed="rId8" cstate="print"/>
          <a:stretch>
            <a:fillRect/>
          </a:stretch>
        </p:blipFill>
        <p:spPr bwMode="gray">
          <a:xfrm>
            <a:off x="4546039" y="5766174"/>
            <a:ext cx="446281" cy="332783"/>
          </a:xfrm>
          <a:prstGeom prst="rect">
            <a:avLst/>
          </a:prstGeom>
        </p:spPr>
      </p:pic>
      <p:grpSp>
        <p:nvGrpSpPr>
          <p:cNvPr id="91" name="组合 758"/>
          <p:cNvGrpSpPr/>
          <p:nvPr/>
        </p:nvGrpSpPr>
        <p:grpSpPr bwMode="gray">
          <a:xfrm flipV="1">
            <a:off x="4612344" y="5324181"/>
            <a:ext cx="236214" cy="200032"/>
            <a:chOff x="7440613" y="4868863"/>
            <a:chExt cx="1019175" cy="828675"/>
          </a:xfrm>
          <a:solidFill>
            <a:schemeClr val="bg1">
              <a:lumMod val="75000"/>
            </a:schemeClr>
          </a:solidFill>
        </p:grpSpPr>
        <p:sp>
          <p:nvSpPr>
            <p:cNvPr id="9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8" name="文本框 97"/>
          <p:cNvSpPr txBox="1"/>
          <p:nvPr/>
        </p:nvSpPr>
        <p:spPr bwMode="gray">
          <a:xfrm>
            <a:off x="1507887" y="3042320"/>
            <a:ext cx="521297" cy="276999"/>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Core</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文本框 98"/>
          <p:cNvSpPr txBox="1"/>
          <p:nvPr/>
        </p:nvSpPr>
        <p:spPr bwMode="gray">
          <a:xfrm>
            <a:off x="1016475" y="4194161"/>
            <a:ext cx="603050" cy="276999"/>
          </a:xfrm>
          <a:prstGeom prst="rect">
            <a:avLst/>
          </a:prstGeom>
          <a:noFill/>
        </p:spPr>
        <p:txBody>
          <a:bodyPr wrap="none" rtlCol="0">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AGG1</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文本框 99"/>
          <p:cNvSpPr txBox="1"/>
          <p:nvPr/>
        </p:nvSpPr>
        <p:spPr bwMode="gray">
          <a:xfrm>
            <a:off x="2900404" y="4194161"/>
            <a:ext cx="603050" cy="276999"/>
          </a:xfrm>
          <a:prstGeom prst="rect">
            <a:avLst/>
          </a:prstGeom>
          <a:noFill/>
        </p:spPr>
        <p:txBody>
          <a:bodyPr wrap="none" rtlCol="0">
            <a:spAutoFit/>
          </a:bodyPr>
          <a:lstStyle/>
          <a:p>
            <a:pPr algn="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AGG2</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文本框 100"/>
          <p:cNvSpPr txBox="1"/>
          <p:nvPr/>
        </p:nvSpPr>
        <p:spPr bwMode="gray">
          <a:xfrm>
            <a:off x="1016475" y="4982418"/>
            <a:ext cx="750526" cy="276999"/>
          </a:xfrm>
          <a:prstGeom prst="rect">
            <a:avLst/>
          </a:prstGeom>
          <a:noFill/>
        </p:spPr>
        <p:txBody>
          <a:bodyPr wrap="none" rtlCol="0">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Access1</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101"/>
          <p:cNvSpPr txBox="1"/>
          <p:nvPr/>
        </p:nvSpPr>
        <p:spPr bwMode="gray">
          <a:xfrm>
            <a:off x="2752928" y="4982418"/>
            <a:ext cx="750526" cy="276999"/>
          </a:xfrm>
          <a:prstGeom prst="rect">
            <a:avLst/>
          </a:prstGeom>
          <a:noFill/>
        </p:spPr>
        <p:txBody>
          <a:bodyPr wrap="none" rtlCol="0">
            <a:spAutoFit/>
          </a:bodyPr>
          <a:lstStyle/>
          <a:p>
            <a:pPr algn="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Access2</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5" name="Straight Connector 166"/>
          <p:cNvCxnSpPr>
            <a:stCxn id="83" idx="2"/>
            <a:endCxn id="106" idx="0"/>
          </p:cNvCxnSpPr>
          <p:nvPr/>
        </p:nvCxnSpPr>
        <p:spPr bwMode="gray">
          <a:xfrm flipH="1">
            <a:off x="3669398" y="5284186"/>
            <a:ext cx="1" cy="495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6" name="图片 14" descr="日志告警服务器-蓝.png"/>
          <p:cNvPicPr>
            <a:picLocks noChangeAspect="1"/>
          </p:cNvPicPr>
          <p:nvPr/>
        </p:nvPicPr>
        <p:blipFill>
          <a:blip r:embed="rId7" cstate="print"/>
          <a:stretch>
            <a:fillRect/>
          </a:stretch>
        </p:blipFill>
        <p:spPr bwMode="gray">
          <a:xfrm>
            <a:off x="3424122" y="5779409"/>
            <a:ext cx="490552" cy="306312"/>
          </a:xfrm>
          <a:prstGeom prst="rect">
            <a:avLst/>
          </a:prstGeom>
        </p:spPr>
      </p:pic>
      <p:pic>
        <p:nvPicPr>
          <p:cNvPr id="114" name="图片 11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4037313" y="3222528"/>
            <a:ext cx="947389" cy="538549"/>
          </a:xfrm>
          <a:prstGeom prst="rect">
            <a:avLst/>
          </a:prstGeom>
        </p:spPr>
      </p:pic>
      <p:cxnSp>
        <p:nvCxnSpPr>
          <p:cNvPr id="117" name="直接箭头连接符 116"/>
          <p:cNvCxnSpPr>
            <a:endCxn id="99" idx="3"/>
          </p:cNvCxnSpPr>
          <p:nvPr/>
        </p:nvCxnSpPr>
        <p:spPr bwMode="gray">
          <a:xfrm flipH="1">
            <a:off x="1619525" y="3505045"/>
            <a:ext cx="2667995" cy="827616"/>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18" name="任意多边形 117"/>
          <p:cNvSpPr/>
          <p:nvPr/>
        </p:nvSpPr>
        <p:spPr bwMode="gray">
          <a:xfrm>
            <a:off x="1084654" y="3378165"/>
            <a:ext cx="2418800" cy="2379916"/>
          </a:xfrm>
          <a:custGeom>
            <a:avLst/>
            <a:gdLst>
              <a:gd name="connsiteX0" fmla="*/ 0 w 2621280"/>
              <a:gd name="connsiteY0" fmla="*/ 30480 h 30480"/>
              <a:gd name="connsiteX1" fmla="*/ 2621280 w 2621280"/>
              <a:gd name="connsiteY1" fmla="*/ 0 h 30480"/>
              <a:gd name="connsiteX0" fmla="*/ 0 w 2621280"/>
              <a:gd name="connsiteY0" fmla="*/ 1315181 h 1315181"/>
              <a:gd name="connsiteX1" fmla="*/ 2621280 w 2621280"/>
              <a:gd name="connsiteY1" fmla="*/ 1284701 h 1315181"/>
              <a:gd name="connsiteX0" fmla="*/ 0 w 2621280"/>
              <a:gd name="connsiteY0" fmla="*/ 2368858 h 2368858"/>
              <a:gd name="connsiteX1" fmla="*/ 2621280 w 2621280"/>
              <a:gd name="connsiteY1" fmla="*/ 2338378 h 2368858"/>
              <a:gd name="connsiteX0" fmla="*/ 0 w 2570480"/>
              <a:gd name="connsiteY0" fmla="*/ 2374209 h 2374209"/>
              <a:gd name="connsiteX1" fmla="*/ 2570480 w 2570480"/>
              <a:gd name="connsiteY1" fmla="*/ 2333569 h 2374209"/>
              <a:gd name="connsiteX0" fmla="*/ 0 w 2570480"/>
              <a:gd name="connsiteY0" fmla="*/ 2399960 h 2399960"/>
              <a:gd name="connsiteX1" fmla="*/ 2570480 w 2570480"/>
              <a:gd name="connsiteY1" fmla="*/ 2359320 h 2399960"/>
              <a:gd name="connsiteX0" fmla="*/ 0 w 2570480"/>
              <a:gd name="connsiteY0" fmla="*/ 2374209 h 2374209"/>
              <a:gd name="connsiteX1" fmla="*/ 2570480 w 2570480"/>
              <a:gd name="connsiteY1" fmla="*/ 2333569 h 2374209"/>
              <a:gd name="connsiteX0" fmla="*/ 0 w 2570480"/>
              <a:gd name="connsiteY0" fmla="*/ 2374209 h 2374209"/>
              <a:gd name="connsiteX1" fmla="*/ 2570480 w 2570480"/>
              <a:gd name="connsiteY1" fmla="*/ 2333569 h 2374209"/>
              <a:gd name="connsiteX0" fmla="*/ 0 w 2570480"/>
              <a:gd name="connsiteY0" fmla="*/ 2386163 h 2386163"/>
              <a:gd name="connsiteX1" fmla="*/ 2570480 w 2570480"/>
              <a:gd name="connsiteY1" fmla="*/ 2345523 h 2386163"/>
              <a:gd name="connsiteX0" fmla="*/ 0 w 2447132"/>
              <a:gd name="connsiteY0" fmla="*/ 2402494 h 2402494"/>
              <a:gd name="connsiteX1" fmla="*/ 2447132 w 2447132"/>
              <a:gd name="connsiteY1" fmla="*/ 2331085 h 2402494"/>
            </a:gdLst>
            <a:ahLst/>
            <a:cxnLst>
              <a:cxn ang="0">
                <a:pos x="connsiteX0" y="connsiteY0"/>
              </a:cxn>
              <a:cxn ang="0">
                <a:pos x="connsiteX1" y="connsiteY1"/>
              </a:cxn>
            </a:cxnLst>
            <a:rect l="l" t="t" r="r" b="b"/>
            <a:pathLst>
              <a:path w="2447132" h="2402494">
                <a:moveTo>
                  <a:pt x="0" y="2402494"/>
                </a:moveTo>
                <a:cubicBezTo>
                  <a:pt x="497840" y="-543906"/>
                  <a:pt x="1749186" y="-1022005"/>
                  <a:pt x="2447132" y="2331085"/>
                </a:cubicBezTo>
              </a:path>
            </a:pathLst>
          </a:custGeom>
          <a:noFill/>
          <a:ln w="57150">
            <a:solidFill>
              <a:srgbClr val="EC7061">
                <a:alpha val="50000"/>
              </a:srgb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任意多边形 118"/>
          <p:cNvSpPr/>
          <p:nvPr/>
        </p:nvSpPr>
        <p:spPr bwMode="gray">
          <a:xfrm>
            <a:off x="646016" y="3132688"/>
            <a:ext cx="3966328" cy="2625393"/>
          </a:xfrm>
          <a:custGeom>
            <a:avLst/>
            <a:gdLst>
              <a:gd name="connsiteX0" fmla="*/ 0 w 2621280"/>
              <a:gd name="connsiteY0" fmla="*/ 30480 h 30480"/>
              <a:gd name="connsiteX1" fmla="*/ 2621280 w 2621280"/>
              <a:gd name="connsiteY1" fmla="*/ 0 h 30480"/>
              <a:gd name="connsiteX0" fmla="*/ 0 w 2621280"/>
              <a:gd name="connsiteY0" fmla="*/ 1315181 h 1315181"/>
              <a:gd name="connsiteX1" fmla="*/ 2621280 w 2621280"/>
              <a:gd name="connsiteY1" fmla="*/ 1284701 h 1315181"/>
              <a:gd name="connsiteX0" fmla="*/ 0 w 2621280"/>
              <a:gd name="connsiteY0" fmla="*/ 2368858 h 2368858"/>
              <a:gd name="connsiteX1" fmla="*/ 2621280 w 2621280"/>
              <a:gd name="connsiteY1" fmla="*/ 2338378 h 2368858"/>
              <a:gd name="connsiteX0" fmla="*/ 0 w 2570480"/>
              <a:gd name="connsiteY0" fmla="*/ 2374209 h 2374209"/>
              <a:gd name="connsiteX1" fmla="*/ 2570480 w 2570480"/>
              <a:gd name="connsiteY1" fmla="*/ 2333569 h 2374209"/>
              <a:gd name="connsiteX0" fmla="*/ 0 w 2570480"/>
              <a:gd name="connsiteY0" fmla="*/ 2399960 h 2399960"/>
              <a:gd name="connsiteX1" fmla="*/ 2570480 w 2570480"/>
              <a:gd name="connsiteY1" fmla="*/ 2359320 h 2399960"/>
              <a:gd name="connsiteX0" fmla="*/ 0 w 2570480"/>
              <a:gd name="connsiteY0" fmla="*/ 2374209 h 2374209"/>
              <a:gd name="connsiteX1" fmla="*/ 2570480 w 2570480"/>
              <a:gd name="connsiteY1" fmla="*/ 2333569 h 2374209"/>
              <a:gd name="connsiteX0" fmla="*/ 0 w 2570480"/>
              <a:gd name="connsiteY0" fmla="*/ 2374209 h 2374209"/>
              <a:gd name="connsiteX1" fmla="*/ 2570480 w 2570480"/>
              <a:gd name="connsiteY1" fmla="*/ 2333569 h 2374209"/>
              <a:gd name="connsiteX0" fmla="*/ 0 w 2570480"/>
              <a:gd name="connsiteY0" fmla="*/ 2386163 h 2386163"/>
              <a:gd name="connsiteX1" fmla="*/ 2570480 w 2570480"/>
              <a:gd name="connsiteY1" fmla="*/ 2345523 h 2386163"/>
              <a:gd name="connsiteX0" fmla="*/ 0 w 2447132"/>
              <a:gd name="connsiteY0" fmla="*/ 2402494 h 2402494"/>
              <a:gd name="connsiteX1" fmla="*/ 2447132 w 2447132"/>
              <a:gd name="connsiteY1" fmla="*/ 2331085 h 2402494"/>
            </a:gdLst>
            <a:ahLst/>
            <a:cxnLst>
              <a:cxn ang="0">
                <a:pos x="connsiteX0" y="connsiteY0"/>
              </a:cxn>
              <a:cxn ang="0">
                <a:pos x="connsiteX1" y="connsiteY1"/>
              </a:cxn>
            </a:cxnLst>
            <a:rect l="l" t="t" r="r" b="b"/>
            <a:pathLst>
              <a:path w="2447132" h="2402494">
                <a:moveTo>
                  <a:pt x="0" y="2402494"/>
                </a:moveTo>
                <a:cubicBezTo>
                  <a:pt x="497840" y="-543906"/>
                  <a:pt x="1749186" y="-1022005"/>
                  <a:pt x="2447132" y="2331085"/>
                </a:cubicBezTo>
              </a:path>
            </a:pathLst>
          </a:custGeom>
          <a:noFill/>
          <a:ln w="57150">
            <a:solidFill>
              <a:srgbClr val="EC7061">
                <a:alpha val="50000"/>
              </a:srgb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椭圆 119"/>
          <p:cNvSpPr>
            <a:spLocks noChangeAspect="1"/>
          </p:cNvSpPr>
          <p:nvPr/>
        </p:nvSpPr>
        <p:spPr bwMode="gray">
          <a:xfrm>
            <a:off x="601209" y="4395759"/>
            <a:ext cx="150801" cy="150801"/>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2" name="组合 28"/>
          <p:cNvGrpSpPr>
            <a:grpSpLocks noChangeAspect="1"/>
          </p:cNvGrpSpPr>
          <p:nvPr/>
        </p:nvGrpSpPr>
        <p:grpSpPr bwMode="gray">
          <a:xfrm>
            <a:off x="3121665" y="4638924"/>
            <a:ext cx="238817" cy="238817"/>
            <a:chOff x="5076056" y="3356992"/>
            <a:chExt cx="436268" cy="436268"/>
          </a:xfrm>
        </p:grpSpPr>
        <p:sp>
          <p:nvSpPr>
            <p:cNvPr id="123" name="椭圆 27"/>
            <p:cNvSpPr/>
            <p:nvPr/>
          </p:nvSpPr>
          <p:spPr bwMode="gray">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禁止符 23"/>
            <p:cNvSpPr/>
            <p:nvPr/>
          </p:nvSpPr>
          <p:spPr bwMode="gray">
            <a:xfrm>
              <a:off x="5076056" y="3356992"/>
              <a:ext cx="436268" cy="436268"/>
            </a:xfrm>
            <a:prstGeom prst="noSmoking">
              <a:avLst>
                <a:gd name="adj" fmla="val 15475"/>
              </a:avLst>
            </a:prstGeom>
            <a:solidFill>
              <a:srgbClr val="EC7061">
                <a:lumMod val="100000"/>
              </a:srgbClr>
            </a:solidFill>
            <a:ln w="12700" cap="flat" cmpd="sng" algn="ctr">
              <a:noFill/>
              <a:prstDash val="solid"/>
              <a:miter lim="800000"/>
            </a:ln>
            <a:effectLst/>
          </p:spPr>
          <p:txBody>
            <a:bodyPr rtlCol="0" anchor="ctr"/>
            <a:lstStyle/>
            <a:p>
              <a:pPr marL="0" marR="0" lvl="0" indent="0" algn="ctr" defTabSz="914478" eaLnBrk="1"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5" name="椭圆 124"/>
          <p:cNvSpPr>
            <a:spLocks noChangeAspect="1"/>
          </p:cNvSpPr>
          <p:nvPr/>
        </p:nvSpPr>
        <p:spPr bwMode="gray">
          <a:xfrm>
            <a:off x="3435624" y="4395759"/>
            <a:ext cx="150801" cy="150801"/>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文本框 125"/>
          <p:cNvSpPr txBox="1"/>
          <p:nvPr/>
        </p:nvSpPr>
        <p:spPr bwMode="gray">
          <a:xfrm>
            <a:off x="6230144" y="1480353"/>
            <a:ext cx="5345112" cy="3708708"/>
          </a:xfrm>
          <a:prstGeom prst="rect">
            <a:avLst/>
          </a:prstGeom>
          <a:noFill/>
        </p:spPr>
        <p:txBody>
          <a:bodyPr wrap="square" rtlCol="0">
            <a:spAutoFit/>
          </a:bodyPr>
          <a:lstStyle/>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场景描述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的虚拟化园区，业务自动发放。</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多个认证点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场景特点</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全网存在多个认证点，例如认证点分散在汇聚交换机上。</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汇聚交换机支持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，作为策略执行点。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同一台汇聚交换机下的流量互访在该交换机上执行策略。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不同汇聚交换机下的接入用户之间的互访流量，通过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进行封装，并在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封装中写入源安全组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，在远端汇聚交换机上执行策略。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任意多边形 60"/>
          <p:cNvSpPr/>
          <p:nvPr/>
        </p:nvSpPr>
        <p:spPr bwMode="gray">
          <a:xfrm flipV="1">
            <a:off x="1219520" y="2610717"/>
            <a:ext cx="4168405" cy="588951"/>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8856 w 1219200"/>
              <a:gd name="connsiteY0" fmla="*/ 0 h 626057"/>
              <a:gd name="connsiteX1" fmla="*/ 0 w 1219200"/>
              <a:gd name="connsiteY1" fmla="*/ 626057 h 626057"/>
              <a:gd name="connsiteX2" fmla="*/ 1219200 w 1219200"/>
              <a:gd name="connsiteY2" fmla="*/ 626057 h 626057"/>
              <a:gd name="connsiteX3" fmla="*/ 68856 w 1219200"/>
              <a:gd name="connsiteY3" fmla="*/ 0 h 626057"/>
              <a:gd name="connsiteX0" fmla="*/ 291803 w 1442147"/>
              <a:gd name="connsiteY0" fmla="*/ 0 h 626057"/>
              <a:gd name="connsiteX1" fmla="*/ 0 w 1442147"/>
              <a:gd name="connsiteY1" fmla="*/ 437808 h 626057"/>
              <a:gd name="connsiteX2" fmla="*/ 1442147 w 1442147"/>
              <a:gd name="connsiteY2" fmla="*/ 626057 h 626057"/>
              <a:gd name="connsiteX3" fmla="*/ 291803 w 1442147"/>
              <a:gd name="connsiteY3" fmla="*/ 0 h 626057"/>
              <a:gd name="connsiteX0" fmla="*/ 291803 w 3894566"/>
              <a:gd name="connsiteY0" fmla="*/ 0 h 437808"/>
              <a:gd name="connsiteX1" fmla="*/ 0 w 3894566"/>
              <a:gd name="connsiteY1" fmla="*/ 437808 h 437808"/>
              <a:gd name="connsiteX2" fmla="*/ 3894566 w 3894566"/>
              <a:gd name="connsiteY2" fmla="*/ 437808 h 437808"/>
              <a:gd name="connsiteX3" fmla="*/ 291803 w 3894566"/>
              <a:gd name="connsiteY3" fmla="*/ 0 h 437808"/>
              <a:gd name="connsiteX0" fmla="*/ 228920 w 3894566"/>
              <a:gd name="connsiteY0" fmla="*/ 0 h 1129748"/>
              <a:gd name="connsiteX1" fmla="*/ 0 w 3894566"/>
              <a:gd name="connsiteY1" fmla="*/ 1129748 h 1129748"/>
              <a:gd name="connsiteX2" fmla="*/ 3894566 w 3894566"/>
              <a:gd name="connsiteY2" fmla="*/ 1129748 h 1129748"/>
              <a:gd name="connsiteX3" fmla="*/ 228920 w 3894566"/>
              <a:gd name="connsiteY3" fmla="*/ 0 h 1129748"/>
              <a:gd name="connsiteX0" fmla="*/ 188904 w 3894566"/>
              <a:gd name="connsiteY0" fmla="*/ 0 h 1177234"/>
              <a:gd name="connsiteX1" fmla="*/ 0 w 3894566"/>
              <a:gd name="connsiteY1" fmla="*/ 1177234 h 1177234"/>
              <a:gd name="connsiteX2" fmla="*/ 3894566 w 3894566"/>
              <a:gd name="connsiteY2" fmla="*/ 1177234 h 1177234"/>
              <a:gd name="connsiteX3" fmla="*/ 188904 w 3894566"/>
              <a:gd name="connsiteY3" fmla="*/ 0 h 1177234"/>
              <a:gd name="connsiteX0" fmla="*/ 1566603 w 5272265"/>
              <a:gd name="connsiteY0" fmla="*/ 0 h 1177234"/>
              <a:gd name="connsiteX1" fmla="*/ 0 w 5272265"/>
              <a:gd name="connsiteY1" fmla="*/ 1089046 h 1177234"/>
              <a:gd name="connsiteX2" fmla="*/ 5272265 w 5272265"/>
              <a:gd name="connsiteY2" fmla="*/ 1177234 h 1177234"/>
              <a:gd name="connsiteX3" fmla="*/ 1566603 w 5272265"/>
              <a:gd name="connsiteY3" fmla="*/ 0 h 1177234"/>
              <a:gd name="connsiteX0" fmla="*/ 1566603 w 4517675"/>
              <a:gd name="connsiteY0" fmla="*/ 0 h 1089046"/>
              <a:gd name="connsiteX1" fmla="*/ 0 w 4517675"/>
              <a:gd name="connsiteY1" fmla="*/ 1089046 h 1089046"/>
              <a:gd name="connsiteX2" fmla="*/ 4517675 w 4517675"/>
              <a:gd name="connsiteY2" fmla="*/ 1089046 h 1089046"/>
              <a:gd name="connsiteX3" fmla="*/ 1566603 w 4517675"/>
              <a:gd name="connsiteY3" fmla="*/ 0 h 1089046"/>
              <a:gd name="connsiteX0" fmla="*/ 2732788 w 5683860"/>
              <a:gd name="connsiteY0" fmla="*/ 0 h 1089046"/>
              <a:gd name="connsiteX1" fmla="*/ 0 w 5683860"/>
              <a:gd name="connsiteY1" fmla="*/ 1075479 h 1089046"/>
              <a:gd name="connsiteX2" fmla="*/ 5683860 w 5683860"/>
              <a:gd name="connsiteY2" fmla="*/ 1089046 h 1089046"/>
              <a:gd name="connsiteX3" fmla="*/ 2732788 w 5683860"/>
              <a:gd name="connsiteY3" fmla="*/ 0 h 1089046"/>
              <a:gd name="connsiteX0" fmla="*/ 2732788 w 4677739"/>
              <a:gd name="connsiteY0" fmla="*/ 0 h 1089046"/>
              <a:gd name="connsiteX1" fmla="*/ 0 w 4677739"/>
              <a:gd name="connsiteY1" fmla="*/ 1075479 h 1089046"/>
              <a:gd name="connsiteX2" fmla="*/ 4677739 w 4677739"/>
              <a:gd name="connsiteY2" fmla="*/ 1089046 h 1089046"/>
              <a:gd name="connsiteX3" fmla="*/ 2732788 w 4677739"/>
              <a:gd name="connsiteY3" fmla="*/ 0 h 1089046"/>
              <a:gd name="connsiteX0" fmla="*/ 3641727 w 4677739"/>
              <a:gd name="connsiteY0" fmla="*/ 0 h 1089046"/>
              <a:gd name="connsiteX1" fmla="*/ 0 w 4677739"/>
              <a:gd name="connsiteY1" fmla="*/ 1075479 h 1089046"/>
              <a:gd name="connsiteX2" fmla="*/ 4677739 w 4677739"/>
              <a:gd name="connsiteY2" fmla="*/ 1089046 h 1089046"/>
              <a:gd name="connsiteX3" fmla="*/ 3641727 w 4677739"/>
              <a:gd name="connsiteY3" fmla="*/ 0 h 1089046"/>
              <a:gd name="connsiteX0" fmla="*/ 3641727 w 4664713"/>
              <a:gd name="connsiteY0" fmla="*/ 0 h 1075479"/>
              <a:gd name="connsiteX1" fmla="*/ 0 w 4664713"/>
              <a:gd name="connsiteY1" fmla="*/ 1075479 h 1075479"/>
              <a:gd name="connsiteX2" fmla="*/ 4664713 w 4664713"/>
              <a:gd name="connsiteY2" fmla="*/ 934480 h 1075479"/>
              <a:gd name="connsiteX3" fmla="*/ 3641727 w 4664713"/>
              <a:gd name="connsiteY3" fmla="*/ 0 h 1075479"/>
              <a:gd name="connsiteX0" fmla="*/ 3667777 w 4690763"/>
              <a:gd name="connsiteY0" fmla="*/ 0 h 951827"/>
              <a:gd name="connsiteX1" fmla="*/ 0 w 4690763"/>
              <a:gd name="connsiteY1" fmla="*/ 951827 h 951827"/>
              <a:gd name="connsiteX2" fmla="*/ 4690763 w 4690763"/>
              <a:gd name="connsiteY2" fmla="*/ 934480 h 951827"/>
              <a:gd name="connsiteX3" fmla="*/ 3667777 w 4690763"/>
              <a:gd name="connsiteY3" fmla="*/ 0 h 951827"/>
              <a:gd name="connsiteX0" fmla="*/ 3764245 w 4690763"/>
              <a:gd name="connsiteY0" fmla="*/ 0 h 786474"/>
              <a:gd name="connsiteX1" fmla="*/ 0 w 4690763"/>
              <a:gd name="connsiteY1" fmla="*/ 786474 h 786474"/>
              <a:gd name="connsiteX2" fmla="*/ 4690763 w 4690763"/>
              <a:gd name="connsiteY2" fmla="*/ 769127 h 786474"/>
              <a:gd name="connsiteX3" fmla="*/ 3764245 w 4690763"/>
              <a:gd name="connsiteY3" fmla="*/ 0 h 786474"/>
            </a:gdLst>
            <a:ahLst/>
            <a:cxnLst>
              <a:cxn ang="0">
                <a:pos x="connsiteX0" y="connsiteY0"/>
              </a:cxn>
              <a:cxn ang="0">
                <a:pos x="connsiteX1" y="connsiteY1"/>
              </a:cxn>
              <a:cxn ang="0">
                <a:pos x="connsiteX2" y="connsiteY2"/>
              </a:cxn>
              <a:cxn ang="0">
                <a:pos x="connsiteX3" y="connsiteY3"/>
              </a:cxn>
            </a:cxnLst>
            <a:rect l="l" t="t" r="r" b="b"/>
            <a:pathLst>
              <a:path w="4690763" h="786474">
                <a:moveTo>
                  <a:pt x="3764245" y="0"/>
                </a:moveTo>
                <a:lnTo>
                  <a:pt x="0" y="786474"/>
                </a:lnTo>
                <a:lnTo>
                  <a:pt x="4690763" y="769127"/>
                </a:lnTo>
                <a:lnTo>
                  <a:pt x="3764245" y="0"/>
                </a:lnTo>
                <a:close/>
              </a:path>
            </a:pathLst>
          </a:custGeom>
          <a:gradFill flip="none" rotWithShape="1">
            <a:gsLst>
              <a:gs pos="0">
                <a:schemeClr val="accent1">
                  <a:lumMod val="5000"/>
                  <a:lumOff val="95000"/>
                  <a:alpha val="0"/>
                </a:schemeClr>
              </a:gs>
              <a:gs pos="79000">
                <a:srgbClr val="94DAE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a:off x="1231294" y="1064990"/>
            <a:ext cx="4142490" cy="1828727"/>
          </a:xfrm>
          <a:prstGeom prst="rect">
            <a:avLst/>
          </a:prstGeom>
          <a:solidFill>
            <a:schemeClr val="bg1"/>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0" name="表格 69"/>
          <p:cNvGraphicFramePr>
            <a:graphicFrameLocks noGrp="1"/>
          </p:cNvGraphicFramePr>
          <p:nvPr>
            <p:extLst>
              <p:ext uri="{D42A27DB-BD31-4B8C-83A1-F6EECF244321}">
                <p14:modId xmlns:p14="http://schemas.microsoft.com/office/powerpoint/2010/main" val="2619236555"/>
              </p:ext>
            </p:extLst>
          </p:nvPr>
        </p:nvGraphicFramePr>
        <p:xfrm>
          <a:off x="1394681" y="1441072"/>
          <a:ext cx="1008000" cy="1371600"/>
        </p:xfrm>
        <a:graphic>
          <a:graphicData uri="http://schemas.openxmlformats.org/drawingml/2006/table">
            <a:tbl>
              <a:tblPr firstRow="1" bandRow="1"/>
              <a:tblGrid>
                <a:gridCol w="504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tblGrid>
              <a:tr h="224010">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组名</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a:t>
                      </a: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2824">
                <a:tc>
                  <a:txBody>
                    <a:bodyPr/>
                    <a:lstStyle/>
                    <a:p>
                      <a:pPr algn="ctr"/>
                      <a:r>
                        <a:rPr lang="zh-CN" altLang="en-US"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graphicFrame>
        <p:nvGraphicFramePr>
          <p:cNvPr id="71" name="表格 70"/>
          <p:cNvGraphicFramePr>
            <a:graphicFrameLocks noGrp="1"/>
          </p:cNvGraphicFramePr>
          <p:nvPr>
            <p:extLst>
              <p:ext uri="{D42A27DB-BD31-4B8C-83A1-F6EECF244321}">
                <p14:modId xmlns:p14="http://schemas.microsoft.com/office/powerpoint/2010/main" val="1700479010"/>
              </p:ext>
            </p:extLst>
          </p:nvPr>
        </p:nvGraphicFramePr>
        <p:xfrm>
          <a:off x="2692930" y="1441072"/>
          <a:ext cx="2520000" cy="1371600"/>
        </p:xfrm>
        <a:graphic>
          <a:graphicData uri="http://schemas.openxmlformats.org/drawingml/2006/table">
            <a:tbl>
              <a:tblPr firstRow="1" bandRow="1"/>
              <a:tblGrid>
                <a:gridCol w="504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504000">
                  <a:extLst>
                    <a:ext uri="{9D8B030D-6E8A-4147-A177-3AD203B41FA5}">
                      <a16:colId xmlns:a16="http://schemas.microsoft.com/office/drawing/2014/main" val="20002"/>
                    </a:ext>
                  </a:extLst>
                </a:gridCol>
                <a:gridCol w="504000">
                  <a:extLst>
                    <a:ext uri="{9D8B030D-6E8A-4147-A177-3AD203B41FA5}">
                      <a16:colId xmlns:a16="http://schemas.microsoft.com/office/drawing/2014/main" val="20003"/>
                    </a:ext>
                  </a:extLst>
                </a:gridCol>
                <a:gridCol w="504000">
                  <a:extLst>
                    <a:ext uri="{9D8B030D-6E8A-4147-A177-3AD203B41FA5}">
                      <a16:colId xmlns:a16="http://schemas.microsoft.com/office/drawing/2014/main" val="20004"/>
                    </a:ext>
                  </a:extLst>
                </a:gridCol>
              </a:tblGrid>
              <a:tr h="224010">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研发</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2824">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市场</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824">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72" name="文本框 71"/>
          <p:cNvSpPr txBox="1"/>
          <p:nvPr/>
        </p:nvSpPr>
        <p:spPr bwMode="gray">
          <a:xfrm>
            <a:off x="1578308" y="1125150"/>
            <a:ext cx="646332"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安全组</a:t>
            </a:r>
          </a:p>
        </p:txBody>
      </p:sp>
      <p:sp>
        <p:nvSpPr>
          <p:cNvPr id="73" name="文本框 72"/>
          <p:cNvSpPr txBox="1"/>
          <p:nvPr/>
        </p:nvSpPr>
        <p:spPr bwMode="gray">
          <a:xfrm>
            <a:off x="3002479" y="1125150"/>
            <a:ext cx="203132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基于安全组的策略控制矩阵</a:t>
            </a:r>
          </a:p>
        </p:txBody>
      </p:sp>
      <p:sp>
        <p:nvSpPr>
          <p:cNvPr id="74" name="椭圆 73"/>
          <p:cNvSpPr>
            <a:spLocks noChangeAspect="1"/>
          </p:cNvSpPr>
          <p:nvPr/>
        </p:nvSpPr>
        <p:spPr bwMode="gray">
          <a:xfrm>
            <a:off x="896202" y="4395759"/>
            <a:ext cx="150801" cy="150801"/>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椭圆 74"/>
          <p:cNvSpPr>
            <a:spLocks noChangeAspect="1"/>
          </p:cNvSpPr>
          <p:nvPr/>
        </p:nvSpPr>
        <p:spPr bwMode="gray">
          <a:xfrm>
            <a:off x="3725958" y="4395759"/>
            <a:ext cx="150801" cy="150801"/>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6" name="直接箭头连接符 75"/>
          <p:cNvCxnSpPr>
            <a:stCxn id="114" idx="2"/>
          </p:cNvCxnSpPr>
          <p:nvPr/>
        </p:nvCxnSpPr>
        <p:spPr bwMode="gray">
          <a:xfrm flipH="1">
            <a:off x="3952930" y="3761077"/>
            <a:ext cx="558078" cy="598181"/>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79" name="文本框 78"/>
          <p:cNvSpPr txBox="1"/>
          <p:nvPr/>
        </p:nvSpPr>
        <p:spPr bwMode="gray">
          <a:xfrm>
            <a:off x="1830170" y="4391286"/>
            <a:ext cx="668774" cy="276999"/>
          </a:xfrm>
          <a:prstGeom prst="rect">
            <a:avLst/>
          </a:prstGeom>
          <a:noFill/>
        </p:spPr>
        <p:txBody>
          <a:bodyPr wrap="none" rtlCol="0">
            <a:spAutoFit/>
          </a:bodyPr>
          <a:lstStyle/>
          <a:p>
            <a:pPr algn="ctr"/>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p:cNvSpPr txBox="1"/>
          <p:nvPr/>
        </p:nvSpPr>
        <p:spPr bwMode="gray">
          <a:xfrm>
            <a:off x="1097520" y="5701732"/>
            <a:ext cx="982961" cy="461665"/>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PC1 1.1.1.1</a:t>
            </a:r>
          </a:p>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销售</a:t>
            </a:r>
          </a:p>
        </p:txBody>
      </p:sp>
      <p:sp>
        <p:nvSpPr>
          <p:cNvPr id="94" name="文本框 93"/>
          <p:cNvSpPr txBox="1"/>
          <p:nvPr/>
        </p:nvSpPr>
        <p:spPr bwMode="gray">
          <a:xfrm>
            <a:off x="5030316" y="5701732"/>
            <a:ext cx="954107" cy="461665"/>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PC3 3.3.3.3</a:t>
            </a:r>
          </a:p>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市场</a:t>
            </a:r>
          </a:p>
        </p:txBody>
      </p:sp>
      <p:sp>
        <p:nvSpPr>
          <p:cNvPr id="95" name="文本框 94"/>
          <p:cNvSpPr txBox="1"/>
          <p:nvPr/>
        </p:nvSpPr>
        <p:spPr bwMode="gray">
          <a:xfrm>
            <a:off x="2480626" y="5701732"/>
            <a:ext cx="954108" cy="461665"/>
          </a:xfrm>
          <a:prstGeom prst="rect">
            <a:avLst/>
          </a:prstGeom>
          <a:noFill/>
        </p:spPr>
        <p:txBody>
          <a:bodyPr wrap="none" rtlCol="0">
            <a:spAutoFit/>
          </a:bodyPr>
          <a:lstStyle/>
          <a:p>
            <a:pPr algn="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PC2 2.2.2.2</a:t>
            </a:r>
          </a:p>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研发</a:t>
            </a:r>
          </a:p>
        </p:txBody>
      </p:sp>
      <p:sp>
        <p:nvSpPr>
          <p:cNvPr id="63" name="五边形 62"/>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80" name="燕尾形 79"/>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燕尾形 103"/>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燕尾形 106"/>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椭圆 95"/>
          <p:cNvSpPr>
            <a:spLocks noChangeAspect="1"/>
          </p:cNvSpPr>
          <p:nvPr/>
        </p:nvSpPr>
        <p:spPr bwMode="gray">
          <a:xfrm>
            <a:off x="6353237" y="5987355"/>
            <a:ext cx="108000" cy="108000"/>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椭圆 96"/>
          <p:cNvSpPr>
            <a:spLocks noChangeAspect="1"/>
          </p:cNvSpPr>
          <p:nvPr/>
        </p:nvSpPr>
        <p:spPr bwMode="gray">
          <a:xfrm>
            <a:off x="7388453" y="5987355"/>
            <a:ext cx="108000" cy="108000"/>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文本框 102"/>
          <p:cNvSpPr txBox="1"/>
          <p:nvPr/>
        </p:nvSpPr>
        <p:spPr bwMode="gray">
          <a:xfrm>
            <a:off x="6428164" y="5902856"/>
            <a:ext cx="818698"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107"/>
          <p:cNvSpPr txBox="1"/>
          <p:nvPr/>
        </p:nvSpPr>
        <p:spPr bwMode="gray">
          <a:xfrm>
            <a:off x="7479819" y="5902856"/>
            <a:ext cx="945825"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9" name="直接箭头连接符 108"/>
          <p:cNvCxnSpPr/>
          <p:nvPr/>
        </p:nvCxnSpPr>
        <p:spPr bwMode="gray">
          <a:xfrm flipH="1">
            <a:off x="8563935" y="6041355"/>
            <a:ext cx="294640" cy="0"/>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10" name="文本框 109"/>
          <p:cNvSpPr txBox="1"/>
          <p:nvPr/>
        </p:nvSpPr>
        <p:spPr bwMode="gray">
          <a:xfrm>
            <a:off x="8858575" y="5790427"/>
            <a:ext cx="1165562"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安全组及策略控制矩阵下发</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758308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任意多边形 71"/>
          <p:cNvSpPr/>
          <p:nvPr/>
        </p:nvSpPr>
        <p:spPr bwMode="gray">
          <a:xfrm>
            <a:off x="3148226" y="2084146"/>
            <a:ext cx="2715924" cy="1661848"/>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业务随行场景化方案 </a:t>
            </a:r>
            <a:r>
              <a:rPr lang="en-US" altLang="zh-CN" dirty="0">
                <a:sym typeface="Huawei Sans" panose="020C0503030203020204" pitchFamily="34" charset="0"/>
              </a:rPr>
              <a:t>(4)</a:t>
            </a:r>
            <a:endParaRPr lang="zh-CN" altLang="en-US" dirty="0">
              <a:sym typeface="Huawei Sans" panose="020C0503030203020204" pitchFamily="34" charset="0"/>
            </a:endParaRPr>
          </a:p>
        </p:txBody>
      </p:sp>
      <p:sp>
        <p:nvSpPr>
          <p:cNvPr id="3" name="文本框 2"/>
          <p:cNvSpPr txBox="1"/>
          <p:nvPr/>
        </p:nvSpPr>
        <p:spPr bwMode="gray">
          <a:xfrm>
            <a:off x="3155850" y="5660768"/>
            <a:ext cx="615874" cy="461665"/>
          </a:xfrm>
          <a:prstGeom prst="rect">
            <a:avLst/>
          </a:prstGeom>
          <a:noFill/>
        </p:spPr>
        <p:txBody>
          <a:bodyPr wrap="none" rtlCol="0">
            <a:spAutoFit/>
          </a:bodyPr>
          <a:lstStyle/>
          <a:p>
            <a:pPr 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Host1</a:t>
            </a:r>
          </a:p>
          <a:p>
            <a:pPr algn="ctr"/>
            <a:r>
              <a:rPr lang="zh-CN" altLang="en-US" sz="12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销售</a:t>
            </a:r>
          </a:p>
        </p:txBody>
      </p:sp>
      <p:cxnSp>
        <p:nvCxnSpPr>
          <p:cNvPr id="5" name="Straight Connector 166"/>
          <p:cNvCxnSpPr>
            <a:stCxn id="12" idx="2"/>
          </p:cNvCxnSpPr>
          <p:nvPr/>
        </p:nvCxnSpPr>
        <p:spPr bwMode="gray">
          <a:xfrm>
            <a:off x="5409689" y="4015770"/>
            <a:ext cx="0" cy="898654"/>
          </a:xfrm>
          <a:prstGeom prst="line">
            <a:avLst/>
          </a:prstGeom>
          <a:noFill/>
          <a:ln w="12700" cap="flat" cmpd="sng" algn="ctr">
            <a:solidFill>
              <a:sysClr val="windowText" lastClr="000000"/>
            </a:solidFill>
            <a:prstDash val="solid"/>
            <a:miter lim="800000"/>
          </a:ln>
          <a:effectLst/>
        </p:spPr>
      </p:cxnSp>
      <p:grpSp>
        <p:nvGrpSpPr>
          <p:cNvPr id="6" name="组合 5"/>
          <p:cNvGrpSpPr/>
          <p:nvPr/>
        </p:nvGrpSpPr>
        <p:grpSpPr bwMode="gray">
          <a:xfrm>
            <a:off x="3470871" y="2659432"/>
            <a:ext cx="1938819" cy="1173359"/>
            <a:chOff x="2475049" y="2881410"/>
            <a:chExt cx="1938819" cy="1173359"/>
          </a:xfrm>
        </p:grpSpPr>
        <p:cxnSp>
          <p:nvCxnSpPr>
            <p:cNvPr id="8" name="Straight Connector 166"/>
            <p:cNvCxnSpPr/>
            <p:nvPr/>
          </p:nvCxnSpPr>
          <p:spPr bwMode="gray">
            <a:xfrm flipH="1">
              <a:off x="2475049" y="2881410"/>
              <a:ext cx="1938819" cy="1173359"/>
            </a:xfrm>
            <a:prstGeom prst="line">
              <a:avLst/>
            </a:prstGeom>
            <a:noFill/>
            <a:ln w="12700" cap="flat" cmpd="sng" algn="ctr">
              <a:solidFill>
                <a:sysClr val="windowText" lastClr="000000"/>
              </a:solidFill>
              <a:prstDash val="solid"/>
              <a:miter lim="800000"/>
            </a:ln>
            <a:effectLst/>
          </p:spPr>
        </p:cxnSp>
        <p:cxnSp>
          <p:nvCxnSpPr>
            <p:cNvPr id="10" name="Straight Connector 166"/>
            <p:cNvCxnSpPr/>
            <p:nvPr/>
          </p:nvCxnSpPr>
          <p:spPr bwMode="gray">
            <a:xfrm flipV="1">
              <a:off x="4413867" y="2881410"/>
              <a:ext cx="1" cy="1173359"/>
            </a:xfrm>
            <a:prstGeom prst="line">
              <a:avLst/>
            </a:prstGeom>
            <a:noFill/>
            <a:ln w="12700" cap="flat" cmpd="sng" algn="ctr">
              <a:solidFill>
                <a:sysClr val="windowText" lastClr="000000"/>
              </a:solidFill>
              <a:prstDash val="solid"/>
              <a:miter lim="800000"/>
            </a:ln>
            <a:effectLst/>
          </p:spPr>
        </p:cxnSp>
      </p:grpSp>
      <p:pic>
        <p:nvPicPr>
          <p:cNvPr id="11" name="图片 10" descr="汇聚交换机.png"/>
          <p:cNvPicPr>
            <a:picLocks noChangeAspect="1"/>
          </p:cNvPicPr>
          <p:nvPr/>
        </p:nvPicPr>
        <p:blipFill>
          <a:blip r:embed="rId3" cstate="print"/>
          <a:stretch>
            <a:fillRect/>
          </a:stretch>
        </p:blipFill>
        <p:spPr bwMode="gray">
          <a:xfrm>
            <a:off x="3247730" y="3650630"/>
            <a:ext cx="446281" cy="365140"/>
          </a:xfrm>
          <a:prstGeom prst="rect">
            <a:avLst/>
          </a:prstGeom>
        </p:spPr>
      </p:pic>
      <p:pic>
        <p:nvPicPr>
          <p:cNvPr id="12" name="图片 11" descr="汇聚交换机.png"/>
          <p:cNvPicPr>
            <a:picLocks noChangeAspect="1"/>
          </p:cNvPicPr>
          <p:nvPr/>
        </p:nvPicPr>
        <p:blipFill>
          <a:blip r:embed="rId3" cstate="print"/>
          <a:stretch>
            <a:fillRect/>
          </a:stretch>
        </p:blipFill>
        <p:spPr bwMode="gray">
          <a:xfrm>
            <a:off x="5186548" y="3650630"/>
            <a:ext cx="446281" cy="365140"/>
          </a:xfrm>
          <a:prstGeom prst="rect">
            <a:avLst/>
          </a:prstGeom>
        </p:spPr>
      </p:pic>
      <p:pic>
        <p:nvPicPr>
          <p:cNvPr id="13" name="图片 76" descr="接入交换机.png"/>
          <p:cNvPicPr>
            <a:picLocks noChangeAspect="1"/>
          </p:cNvPicPr>
          <p:nvPr/>
        </p:nvPicPr>
        <p:blipFill>
          <a:blip r:embed="rId4" cstate="print"/>
          <a:stretch>
            <a:fillRect/>
          </a:stretch>
        </p:blipFill>
        <p:spPr bwMode="gray">
          <a:xfrm>
            <a:off x="5186548" y="4619112"/>
            <a:ext cx="446281" cy="365140"/>
          </a:xfrm>
          <a:prstGeom prst="rect">
            <a:avLst/>
          </a:prstGeom>
        </p:spPr>
      </p:pic>
      <p:cxnSp>
        <p:nvCxnSpPr>
          <p:cNvPr id="14" name="Straight Connector 166"/>
          <p:cNvCxnSpPr>
            <a:stCxn id="11" idx="2"/>
          </p:cNvCxnSpPr>
          <p:nvPr/>
        </p:nvCxnSpPr>
        <p:spPr bwMode="gray">
          <a:xfrm>
            <a:off x="3470871" y="4015770"/>
            <a:ext cx="0" cy="1371326"/>
          </a:xfrm>
          <a:prstGeom prst="line">
            <a:avLst/>
          </a:prstGeom>
          <a:noFill/>
          <a:ln w="12700" cap="flat" cmpd="sng" algn="ctr">
            <a:solidFill>
              <a:sysClr val="windowText" lastClr="000000"/>
            </a:solidFill>
            <a:prstDash val="solid"/>
            <a:miter lim="800000"/>
          </a:ln>
          <a:effectLst/>
        </p:spPr>
      </p:cxnSp>
      <p:pic>
        <p:nvPicPr>
          <p:cNvPr id="15" name="图片 105" descr="AP.png"/>
          <p:cNvPicPr>
            <a:picLocks noChangeAspect="1"/>
          </p:cNvPicPr>
          <p:nvPr/>
        </p:nvPicPr>
        <p:blipFill>
          <a:blip r:embed="rId5" cstate="print"/>
          <a:stretch>
            <a:fillRect/>
          </a:stretch>
        </p:blipFill>
        <p:spPr bwMode="gray">
          <a:xfrm>
            <a:off x="5992568" y="4619112"/>
            <a:ext cx="446281" cy="365140"/>
          </a:xfrm>
          <a:prstGeom prst="rect">
            <a:avLst/>
          </a:prstGeom>
        </p:spPr>
      </p:pic>
      <p:pic>
        <p:nvPicPr>
          <p:cNvPr id="17" name="图片 86" descr="核心交换机.png"/>
          <p:cNvPicPr>
            <a:picLocks noChangeAspect="1"/>
          </p:cNvPicPr>
          <p:nvPr/>
        </p:nvPicPr>
        <p:blipFill>
          <a:blip r:embed="rId6" cstate="print"/>
          <a:stretch>
            <a:fillRect/>
          </a:stretch>
        </p:blipFill>
        <p:spPr bwMode="gray">
          <a:xfrm>
            <a:off x="5186549" y="2393044"/>
            <a:ext cx="446281" cy="365140"/>
          </a:xfrm>
          <a:prstGeom prst="rect">
            <a:avLst/>
          </a:prstGeom>
        </p:spPr>
      </p:pic>
      <p:sp>
        <p:nvSpPr>
          <p:cNvPr id="20" name="文本框 19"/>
          <p:cNvSpPr txBox="1"/>
          <p:nvPr/>
        </p:nvSpPr>
        <p:spPr bwMode="gray">
          <a:xfrm>
            <a:off x="3647637" y="3733375"/>
            <a:ext cx="643125" cy="276999"/>
          </a:xfrm>
          <a:prstGeom prst="rect">
            <a:avLst/>
          </a:prstGeom>
          <a:noFill/>
        </p:spPr>
        <p:txBody>
          <a:bodyPr wrap="none" rtlCol="0">
            <a:spAutoFit/>
          </a:bodyPr>
          <a:lstStyle/>
          <a:p>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en-US" altLang="zh-CN" sz="1200" b="1"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Agg</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4580545" y="3752425"/>
            <a:ext cx="633507" cy="276999"/>
          </a:xfrm>
          <a:prstGeom prst="rect">
            <a:avLst/>
          </a:prstGeom>
          <a:noFill/>
        </p:spPr>
        <p:txBody>
          <a:bodyPr wrap="none" rtlCol="0">
            <a:spAutoFit/>
          </a:bodyPr>
          <a:lstStyle/>
          <a:p>
            <a:pPr algn="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t>
            </a:r>
            <a:r>
              <a:rPr lang="en-US" altLang="zh-CN" sz="1200" b="1"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Agg</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4394596" y="4687253"/>
            <a:ext cx="819456" cy="276999"/>
          </a:xfrm>
          <a:prstGeom prst="rect">
            <a:avLst/>
          </a:prstGeom>
          <a:noFill/>
        </p:spPr>
        <p:txBody>
          <a:bodyPr wrap="none" rtlCol="0">
            <a:spAutoFit/>
          </a:bodyPr>
          <a:lstStyle/>
          <a:p>
            <a:pPr algn="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B-Access</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图片 2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027878" y="1476090"/>
            <a:ext cx="949944" cy="540000"/>
          </a:xfrm>
          <a:prstGeom prst="rect">
            <a:avLst/>
          </a:prstGeom>
        </p:spPr>
      </p:pic>
      <p:grpSp>
        <p:nvGrpSpPr>
          <p:cNvPr id="24" name="组合 23"/>
          <p:cNvGrpSpPr/>
          <p:nvPr/>
        </p:nvGrpSpPr>
        <p:grpSpPr bwMode="gray">
          <a:xfrm>
            <a:off x="533326" y="1685509"/>
            <a:ext cx="3271866" cy="3833982"/>
            <a:chOff x="611382" y="1718992"/>
            <a:chExt cx="3642617" cy="3833982"/>
          </a:xfrm>
        </p:grpSpPr>
        <p:cxnSp>
          <p:nvCxnSpPr>
            <p:cNvPr id="26" name="直接连接符 25"/>
            <p:cNvCxnSpPr/>
            <p:nvPr/>
          </p:nvCxnSpPr>
          <p:spPr bwMode="gray">
            <a:xfrm flipH="1">
              <a:off x="611383" y="1718992"/>
              <a:ext cx="3642616" cy="0"/>
            </a:xfrm>
            <a:prstGeom prst="line">
              <a:avLst/>
            </a:prstGeom>
            <a:noFill/>
            <a:ln w="12700" cap="flat" cmpd="sng" algn="ctr">
              <a:solidFill>
                <a:schemeClr val="bg1">
                  <a:lumMod val="85000"/>
                </a:schemeClr>
              </a:solidFill>
              <a:prstDash val="sysDash"/>
              <a:miter lim="800000"/>
            </a:ln>
            <a:effectLst/>
          </p:spPr>
        </p:cxnSp>
        <p:cxnSp>
          <p:nvCxnSpPr>
            <p:cNvPr id="27" name="直接连接符 26"/>
            <p:cNvCxnSpPr/>
            <p:nvPr/>
          </p:nvCxnSpPr>
          <p:spPr bwMode="gray">
            <a:xfrm flipH="1">
              <a:off x="611382" y="3894395"/>
              <a:ext cx="2923183" cy="0"/>
            </a:xfrm>
            <a:prstGeom prst="line">
              <a:avLst/>
            </a:prstGeom>
            <a:noFill/>
            <a:ln w="12700" cap="flat" cmpd="sng" algn="ctr">
              <a:solidFill>
                <a:schemeClr val="bg1">
                  <a:lumMod val="85000"/>
                </a:schemeClr>
              </a:solidFill>
              <a:prstDash val="sysDash"/>
              <a:miter lim="800000"/>
            </a:ln>
            <a:effectLst/>
          </p:spPr>
        </p:cxnSp>
        <p:cxnSp>
          <p:nvCxnSpPr>
            <p:cNvPr id="28" name="直接连接符 27"/>
            <p:cNvCxnSpPr/>
            <p:nvPr/>
          </p:nvCxnSpPr>
          <p:spPr bwMode="gray">
            <a:xfrm flipH="1">
              <a:off x="611382" y="4835165"/>
              <a:ext cx="2923183" cy="0"/>
            </a:xfrm>
            <a:prstGeom prst="line">
              <a:avLst/>
            </a:prstGeom>
            <a:noFill/>
            <a:ln w="12700" cap="flat" cmpd="sng" algn="ctr">
              <a:solidFill>
                <a:schemeClr val="bg1">
                  <a:lumMod val="85000"/>
                </a:schemeClr>
              </a:solidFill>
              <a:prstDash val="sysDash"/>
              <a:miter lim="800000"/>
            </a:ln>
            <a:effectLst/>
          </p:spPr>
        </p:cxnSp>
        <p:cxnSp>
          <p:nvCxnSpPr>
            <p:cNvPr id="29" name="直接连接符 28"/>
            <p:cNvCxnSpPr/>
            <p:nvPr/>
          </p:nvCxnSpPr>
          <p:spPr bwMode="gray">
            <a:xfrm flipH="1">
              <a:off x="611383" y="5552974"/>
              <a:ext cx="2468865" cy="0"/>
            </a:xfrm>
            <a:prstGeom prst="line">
              <a:avLst/>
            </a:prstGeom>
            <a:noFill/>
            <a:ln w="12700" cap="flat" cmpd="sng" algn="ctr">
              <a:solidFill>
                <a:schemeClr val="bg1">
                  <a:lumMod val="85000"/>
                </a:schemeClr>
              </a:solidFill>
              <a:prstDash val="sysDash"/>
              <a:miter lim="800000"/>
            </a:ln>
            <a:effectLst/>
          </p:spPr>
        </p:cxnSp>
      </p:grpSp>
      <p:cxnSp>
        <p:nvCxnSpPr>
          <p:cNvPr id="30" name="直接连接符 29"/>
          <p:cNvCxnSpPr/>
          <p:nvPr/>
        </p:nvCxnSpPr>
        <p:spPr bwMode="gray">
          <a:xfrm flipV="1">
            <a:off x="788542" y="4801682"/>
            <a:ext cx="0" cy="703045"/>
          </a:xfrm>
          <a:prstGeom prst="line">
            <a:avLst/>
          </a:prstGeom>
          <a:noFill/>
          <a:ln w="38100" cap="flat" cmpd="sng" algn="ctr">
            <a:solidFill>
              <a:srgbClr val="56C4D2"/>
            </a:solidFill>
            <a:prstDash val="solid"/>
            <a:miter lim="800000"/>
            <a:tailEnd type="triangle"/>
          </a:ln>
          <a:effectLst/>
        </p:spPr>
      </p:cxnSp>
      <p:cxnSp>
        <p:nvCxnSpPr>
          <p:cNvPr id="31" name="直接连接符 30"/>
          <p:cNvCxnSpPr/>
          <p:nvPr/>
        </p:nvCxnSpPr>
        <p:spPr bwMode="gray">
          <a:xfrm flipV="1">
            <a:off x="1096607" y="1685509"/>
            <a:ext cx="0" cy="3105805"/>
          </a:xfrm>
          <a:prstGeom prst="line">
            <a:avLst/>
          </a:prstGeom>
          <a:noFill/>
          <a:ln w="38100" cap="flat" cmpd="sng" algn="ctr">
            <a:solidFill>
              <a:srgbClr val="56C4D2"/>
            </a:solidFill>
            <a:prstDash val="solid"/>
            <a:miter lim="800000"/>
            <a:headEnd type="triangle"/>
            <a:tailEnd type="triangle"/>
          </a:ln>
          <a:effectLst/>
        </p:spPr>
      </p:cxnSp>
      <p:sp>
        <p:nvSpPr>
          <p:cNvPr id="32" name="椭圆 31"/>
          <p:cNvSpPr>
            <a:spLocks noChangeAspect="1"/>
          </p:cNvSpPr>
          <p:nvPr/>
        </p:nvSpPr>
        <p:spPr bwMode="gray">
          <a:xfrm>
            <a:off x="693876" y="5153204"/>
            <a:ext cx="189332" cy="189332"/>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椭圆 32"/>
          <p:cNvSpPr>
            <a:spLocks noChangeAspect="1"/>
          </p:cNvSpPr>
          <p:nvPr/>
        </p:nvSpPr>
        <p:spPr bwMode="gray">
          <a:xfrm>
            <a:off x="1001941" y="4237399"/>
            <a:ext cx="189332" cy="189332"/>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椭圆 33"/>
          <p:cNvSpPr>
            <a:spLocks noChangeAspect="1"/>
          </p:cNvSpPr>
          <p:nvPr/>
        </p:nvSpPr>
        <p:spPr bwMode="gray">
          <a:xfrm>
            <a:off x="1388927" y="1579061"/>
            <a:ext cx="189332" cy="189332"/>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连接符 34"/>
          <p:cNvCxnSpPr/>
          <p:nvPr/>
        </p:nvCxnSpPr>
        <p:spPr bwMode="gray">
          <a:xfrm>
            <a:off x="1936530" y="1685509"/>
            <a:ext cx="0" cy="2147282"/>
          </a:xfrm>
          <a:prstGeom prst="line">
            <a:avLst/>
          </a:prstGeom>
          <a:noFill/>
          <a:ln w="38100" cap="flat" cmpd="sng" algn="ctr">
            <a:solidFill>
              <a:srgbClr val="56C4D2"/>
            </a:solidFill>
            <a:prstDash val="solid"/>
            <a:miter lim="800000"/>
            <a:tailEnd type="triangle"/>
          </a:ln>
          <a:effectLst/>
        </p:spPr>
      </p:cxnSp>
      <p:sp>
        <p:nvSpPr>
          <p:cNvPr id="36" name="椭圆 35"/>
          <p:cNvSpPr>
            <a:spLocks noChangeAspect="1"/>
          </p:cNvSpPr>
          <p:nvPr/>
        </p:nvSpPr>
        <p:spPr bwMode="gray">
          <a:xfrm>
            <a:off x="1841864" y="1966562"/>
            <a:ext cx="189332" cy="189332"/>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4</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连接符 36"/>
          <p:cNvCxnSpPr/>
          <p:nvPr/>
        </p:nvCxnSpPr>
        <p:spPr bwMode="gray">
          <a:xfrm flipV="1">
            <a:off x="2304861" y="4015770"/>
            <a:ext cx="0" cy="1488959"/>
          </a:xfrm>
          <a:prstGeom prst="line">
            <a:avLst/>
          </a:prstGeom>
          <a:noFill/>
          <a:ln w="38100" cap="flat" cmpd="sng" algn="ctr">
            <a:solidFill>
              <a:srgbClr val="56C4D2"/>
            </a:solidFill>
            <a:prstDash val="solid"/>
            <a:miter lim="800000"/>
            <a:tailEnd type="triangle"/>
          </a:ln>
          <a:effectLst/>
        </p:spPr>
      </p:cxnSp>
      <p:sp>
        <p:nvSpPr>
          <p:cNvPr id="38" name="椭圆 37"/>
          <p:cNvSpPr>
            <a:spLocks noChangeAspect="1"/>
          </p:cNvSpPr>
          <p:nvPr/>
        </p:nvSpPr>
        <p:spPr bwMode="gray">
          <a:xfrm>
            <a:off x="2210195" y="3766246"/>
            <a:ext cx="189332" cy="189332"/>
          </a:xfrm>
          <a:prstGeom prst="ellipse">
            <a:avLst/>
          </a:prstGeom>
          <a:solidFill>
            <a:srgbClr val="56C4D2"/>
          </a:solidFill>
          <a:ln w="19050" cap="flat" cmpd="sng" algn="ctr">
            <a:noFill/>
            <a:prstDash val="solid"/>
            <a:miter lim="800000"/>
          </a:ln>
          <a:effectLst/>
        </p:spPr>
        <p:txBody>
          <a:bodyPr wrap="none" lIns="0" tIns="0" rIns="0" bIns="0" rtlCol="0" anchor="ctr"/>
          <a:lstStyle/>
          <a:p>
            <a:pPr marL="0" marR="0" lvl="0" indent="0" algn="ctr" defTabSz="914478" eaLnBrk="1"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5</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6009022" y="4377542"/>
            <a:ext cx="383439" cy="276999"/>
          </a:xfrm>
          <a:prstGeom prst="rect">
            <a:avLst/>
          </a:prstGeom>
          <a:noFill/>
        </p:spPr>
        <p:txBody>
          <a:bodyPr wrap="none" rtlCol="0">
            <a:spAutoFit/>
          </a:bodyPr>
          <a:lstStyle/>
          <a:p>
            <a:pPr algn="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769214" y="4983056"/>
            <a:ext cx="927532" cy="461665"/>
          </a:xfrm>
          <a:prstGeom prst="rect">
            <a:avLst/>
          </a:prstGeom>
          <a:noFill/>
        </p:spPr>
        <p:txBody>
          <a:bodyPr wrap="square" rtlCol="0">
            <a:spAutoFit/>
          </a:bodyPr>
          <a:lstStyle/>
          <a:p>
            <a:pPr algn="ct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终端上线发起认证</a:t>
            </a:r>
            <a:endParaRPr lang="zh-CN" altLang="en-US" sz="1200">
              <a:solidFill>
                <a:schemeClr val="accent6">
                  <a:lumMod val="7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101686" y="4207013"/>
            <a:ext cx="927532" cy="276999"/>
          </a:xfrm>
          <a:prstGeom prst="rect">
            <a:avLst/>
          </a:prstGeom>
          <a:noFill/>
        </p:spPr>
        <p:txBody>
          <a:bodyPr wrap="square" rtlCol="0">
            <a:spAutoFit/>
          </a:bodyPr>
          <a:lstStyle/>
          <a:p>
            <a:pPr algn="ct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用户认证</a:t>
            </a:r>
            <a:endParaRPr lang="zh-CN" altLang="en-US" sz="1200">
              <a:solidFill>
                <a:schemeClr val="accent6">
                  <a:lumMod val="7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769214" y="1284275"/>
            <a:ext cx="1519198" cy="276999"/>
          </a:xfrm>
          <a:prstGeom prst="rect">
            <a:avLst/>
          </a:prstGeom>
          <a:noFill/>
        </p:spPr>
        <p:txBody>
          <a:bodyPr wrap="square" rtlCol="0">
            <a:spAutoFit/>
          </a:bodyPr>
          <a:lstStyle/>
          <a:p>
            <a:pPr algn="ct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创建</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表项</a:t>
            </a:r>
            <a:endParaRPr lang="zh-CN" altLang="en-US" sz="1200" dirty="0">
              <a:solidFill>
                <a:schemeClr val="accent6">
                  <a:lumMod val="7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1987449" y="1878392"/>
            <a:ext cx="1066069" cy="461665"/>
          </a:xfrm>
          <a:prstGeom prst="rect">
            <a:avLst/>
          </a:prstGeom>
          <a:noFill/>
        </p:spPr>
        <p:txBody>
          <a:bodyPr wrap="square" rtlCol="0">
            <a:spAutoFit/>
          </a:bodyPr>
          <a:lstStyle/>
          <a:p>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下发</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表项</a:t>
            </a:r>
            <a:endParaRPr lang="zh-CN" altLang="en-US" sz="1200" dirty="0">
              <a:solidFill>
                <a:schemeClr val="accent6">
                  <a:lumMod val="7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2097349" y="3319324"/>
            <a:ext cx="1233631" cy="461665"/>
          </a:xfrm>
          <a:prstGeom prst="rect">
            <a:avLst/>
          </a:prstGeom>
          <a:noFill/>
        </p:spPr>
        <p:txBody>
          <a:bodyPr wrap="square" rtlCol="0">
            <a:spAutoFit/>
          </a:bodyPr>
          <a:lstStyle/>
          <a:p>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流量到达，执行组间策略</a:t>
            </a:r>
            <a:endParaRPr lang="zh-CN" altLang="en-US" sz="1200">
              <a:solidFill>
                <a:schemeClr val="accent6">
                  <a:lumMod val="7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5" name="图片 100" descr="汇聚交换机.png"/>
          <p:cNvPicPr>
            <a:picLocks noChangeAspect="1"/>
          </p:cNvPicPr>
          <p:nvPr/>
        </p:nvPicPr>
        <p:blipFill>
          <a:blip r:embed="rId8" cstate="print"/>
          <a:stretch>
            <a:fillRect/>
          </a:stretch>
        </p:blipFill>
        <p:spPr bwMode="gray">
          <a:xfrm>
            <a:off x="3222648" y="3660929"/>
            <a:ext cx="490909" cy="401653"/>
          </a:xfrm>
          <a:prstGeom prst="rect">
            <a:avLst/>
          </a:prstGeom>
        </p:spPr>
      </p:pic>
      <p:sp>
        <p:nvSpPr>
          <p:cNvPr id="46" name="文本框 45"/>
          <p:cNvSpPr txBox="1"/>
          <p:nvPr/>
        </p:nvSpPr>
        <p:spPr bwMode="gray">
          <a:xfrm>
            <a:off x="3683529" y="3894921"/>
            <a:ext cx="841897" cy="461665"/>
          </a:xfrm>
          <a:prstGeom prst="rect">
            <a:avLst/>
          </a:prstGeom>
          <a:noFill/>
        </p:spPr>
        <p:txBody>
          <a:bodyPr wrap="none" rtlCol="0">
            <a:spAutoFit/>
          </a:bodyPr>
          <a:lstStyle/>
          <a:p>
            <a:pPr algn="ctr"/>
            <a:r>
              <a:rPr lang="en-US" altLang="zh-CN"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IP-Group</a:t>
            </a:r>
          </a:p>
          <a:p>
            <a:pPr algn="ctr"/>
            <a:r>
              <a:rPr lang="zh-CN" altLang="en-US"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订阅设备</a:t>
            </a:r>
          </a:p>
        </p:txBody>
      </p:sp>
      <p:pic>
        <p:nvPicPr>
          <p:cNvPr id="47" name="图片 76" descr="接入交换机.png"/>
          <p:cNvPicPr>
            <a:picLocks noChangeAspect="1"/>
          </p:cNvPicPr>
          <p:nvPr/>
        </p:nvPicPr>
        <p:blipFill>
          <a:blip r:embed="rId9" cstate="print">
            <a:extLst>
              <a:ext uri="{BEBA8EAE-BF5A-486C-A8C5-ECC9F3942E4B}">
                <a14:imgProps xmlns:a14="http://schemas.microsoft.com/office/drawing/2010/main">
                  <a14:imgLayer r:embed="rId10">
                    <a14:imgEffect>
                      <a14:saturation sat="0"/>
                    </a14:imgEffect>
                  </a14:imgLayer>
                </a14:imgProps>
              </a:ext>
            </a:extLst>
          </a:blip>
          <a:stretch>
            <a:fillRect/>
          </a:stretch>
        </p:blipFill>
        <p:spPr bwMode="gray">
          <a:xfrm>
            <a:off x="3247729" y="4619112"/>
            <a:ext cx="446281" cy="365140"/>
          </a:xfrm>
          <a:prstGeom prst="rect">
            <a:avLst/>
          </a:prstGeom>
        </p:spPr>
      </p:pic>
      <p:sp>
        <p:nvSpPr>
          <p:cNvPr id="48" name="文本框 47"/>
          <p:cNvSpPr txBox="1"/>
          <p:nvPr/>
        </p:nvSpPr>
        <p:spPr bwMode="gray">
          <a:xfrm>
            <a:off x="3647637" y="4668203"/>
            <a:ext cx="954107" cy="461665"/>
          </a:xfrm>
          <a:prstGeom prst="rect">
            <a:avLst/>
          </a:prstGeom>
          <a:noFill/>
        </p:spPr>
        <p:txBody>
          <a:bodyPr wrap="none" rtlCol="0">
            <a:spAutoFit/>
          </a:bodyPr>
          <a:lstStyle/>
          <a:p>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A-Access</a:t>
            </a:r>
          </a:p>
          <a:p>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（第三方）</a:t>
            </a:r>
          </a:p>
        </p:txBody>
      </p:sp>
      <p:grpSp>
        <p:nvGrpSpPr>
          <p:cNvPr id="49" name="组合 758"/>
          <p:cNvGrpSpPr/>
          <p:nvPr/>
        </p:nvGrpSpPr>
        <p:grpSpPr bwMode="gray">
          <a:xfrm flipV="1">
            <a:off x="6069344" y="5040230"/>
            <a:ext cx="310424" cy="262875"/>
            <a:chOff x="7440613" y="4868863"/>
            <a:chExt cx="1019175" cy="828675"/>
          </a:xfrm>
          <a:solidFill>
            <a:schemeClr val="bg1">
              <a:lumMod val="75000"/>
            </a:schemeClr>
          </a:solidFill>
        </p:grpSpPr>
        <p:sp>
          <p:nvSpPr>
            <p:cNvPr id="50"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2" name="Straight Connector 166"/>
          <p:cNvCxnSpPr>
            <a:stCxn id="15" idx="1"/>
            <a:endCxn id="13" idx="3"/>
          </p:cNvCxnSpPr>
          <p:nvPr/>
        </p:nvCxnSpPr>
        <p:spPr bwMode="gray">
          <a:xfrm flipH="1">
            <a:off x="5632829" y="4801682"/>
            <a:ext cx="359739" cy="0"/>
          </a:xfrm>
          <a:prstGeom prst="line">
            <a:avLst/>
          </a:prstGeom>
          <a:noFill/>
          <a:ln w="12700" cap="flat" cmpd="sng" algn="ctr">
            <a:solidFill>
              <a:sysClr val="windowText" lastClr="000000"/>
            </a:solidFill>
            <a:prstDash val="solid"/>
            <a:miter lim="800000"/>
          </a:ln>
          <a:effectLst/>
        </p:spPr>
      </p:cxnSp>
      <p:sp>
        <p:nvSpPr>
          <p:cNvPr id="53" name="文本框 52"/>
          <p:cNvSpPr txBox="1"/>
          <p:nvPr/>
        </p:nvSpPr>
        <p:spPr bwMode="gray">
          <a:xfrm>
            <a:off x="5949784" y="5660768"/>
            <a:ext cx="615874" cy="461665"/>
          </a:xfrm>
          <a:prstGeom prst="rect">
            <a:avLst/>
          </a:prstGeom>
          <a:noFill/>
        </p:spPr>
        <p:txBody>
          <a:bodyPr wrap="none" rtlCol="0">
            <a:spAutoFit/>
          </a:bodyPr>
          <a:lstStyle/>
          <a:p>
            <a:pPr 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Host4</a:t>
            </a:r>
          </a:p>
          <a:p>
            <a:pPr algn="ctr"/>
            <a:r>
              <a:rPr lang="zh-CN" altLang="en-US" sz="12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访客</a:t>
            </a:r>
          </a:p>
        </p:txBody>
      </p:sp>
      <p:sp>
        <p:nvSpPr>
          <p:cNvPr id="55" name="文本框 54"/>
          <p:cNvSpPr txBox="1"/>
          <p:nvPr/>
        </p:nvSpPr>
        <p:spPr bwMode="gray">
          <a:xfrm>
            <a:off x="6537027" y="1480353"/>
            <a:ext cx="4731346" cy="4093428"/>
          </a:xfrm>
          <a:prstGeom prst="rect">
            <a:avLst/>
          </a:prstGeom>
          <a:noFill/>
        </p:spPr>
        <p:txBody>
          <a:bodyPr wrap="square" rtlCol="0">
            <a:spAutoFit/>
          </a:bodyPr>
          <a:lstStyle/>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场景描述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的虚拟化园区。</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多个认证点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第三方设备作为用户认证点。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场景特点</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网络中存在第三方交换机，且作为用户认证点。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汇聚交换机支持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，且作为策略执行点。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同一台汇聚交换机下的流量互访在该交换机上执行策略。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不同汇聚交换机下的接入用户之间的互访流量，通过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进行封装，并在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封装中写入源安全组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，在远端汇聚交换机上执行策略。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箭头连接符 55"/>
          <p:cNvCxnSpPr/>
          <p:nvPr/>
        </p:nvCxnSpPr>
        <p:spPr bwMode="gray">
          <a:xfrm flipH="1">
            <a:off x="3683529" y="2058149"/>
            <a:ext cx="818469" cy="1566367"/>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7" name="直接箭头连接符 56"/>
          <p:cNvCxnSpPr/>
          <p:nvPr/>
        </p:nvCxnSpPr>
        <p:spPr bwMode="gray">
          <a:xfrm>
            <a:off x="4496248" y="2054526"/>
            <a:ext cx="687103" cy="1596104"/>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69" name="椭圆 68"/>
          <p:cNvSpPr>
            <a:spLocks noChangeAspect="1"/>
          </p:cNvSpPr>
          <p:nvPr/>
        </p:nvSpPr>
        <p:spPr bwMode="gray">
          <a:xfrm>
            <a:off x="3205106" y="4884554"/>
            <a:ext cx="143748" cy="143748"/>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椭圆 69"/>
          <p:cNvSpPr>
            <a:spLocks noChangeAspect="1"/>
          </p:cNvSpPr>
          <p:nvPr/>
        </p:nvSpPr>
        <p:spPr bwMode="gray">
          <a:xfrm>
            <a:off x="3205106" y="3967463"/>
            <a:ext cx="143748" cy="143748"/>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4317903" y="3338716"/>
            <a:ext cx="668774" cy="276999"/>
          </a:xfrm>
          <a:prstGeom prst="rect">
            <a:avLst/>
          </a:prstGeom>
          <a:noFill/>
        </p:spPr>
        <p:txBody>
          <a:bodyPr wrap="none" rtlCol="0">
            <a:spAutoFit/>
          </a:bodyPr>
          <a:lstStyle/>
          <a:p>
            <a:pPr algn="ctr"/>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67"/>
          <p:cNvSpPr>
            <a:spLocks noChangeAspect="1"/>
          </p:cNvSpPr>
          <p:nvPr/>
        </p:nvSpPr>
        <p:spPr bwMode="gray">
          <a:xfrm>
            <a:off x="5489080" y="3967463"/>
            <a:ext cx="143748" cy="143748"/>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a:spLocks noChangeAspect="1"/>
          </p:cNvSpPr>
          <p:nvPr/>
        </p:nvSpPr>
        <p:spPr bwMode="gray">
          <a:xfrm>
            <a:off x="5186549" y="3967463"/>
            <a:ext cx="143748" cy="143748"/>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3" name="直接箭头连接符 82"/>
          <p:cNvCxnSpPr/>
          <p:nvPr/>
        </p:nvCxnSpPr>
        <p:spPr bwMode="gray">
          <a:xfrm flipH="1">
            <a:off x="3501525" y="2029608"/>
            <a:ext cx="818469" cy="1566367"/>
          </a:xfrm>
          <a:prstGeom prst="straightConnector1">
            <a:avLst/>
          </a:prstGeom>
          <a:noFill/>
          <a:ln w="190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71" name="五边形 70"/>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84" name="燕尾形 83"/>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燕尾形 84"/>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燕尾形 88"/>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椭圆 85"/>
          <p:cNvSpPr>
            <a:spLocks noChangeAspect="1"/>
          </p:cNvSpPr>
          <p:nvPr/>
        </p:nvSpPr>
        <p:spPr bwMode="gray">
          <a:xfrm>
            <a:off x="6654684" y="5987355"/>
            <a:ext cx="108000" cy="108000"/>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椭圆 86"/>
          <p:cNvSpPr>
            <a:spLocks noChangeAspect="1"/>
          </p:cNvSpPr>
          <p:nvPr/>
        </p:nvSpPr>
        <p:spPr bwMode="gray">
          <a:xfrm>
            <a:off x="7689900" y="5987355"/>
            <a:ext cx="108000" cy="108000"/>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p:cNvSpPr txBox="1"/>
          <p:nvPr/>
        </p:nvSpPr>
        <p:spPr bwMode="gray">
          <a:xfrm>
            <a:off x="6729611" y="5902856"/>
            <a:ext cx="818698"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bwMode="gray">
          <a:xfrm>
            <a:off x="7781266" y="5902856"/>
            <a:ext cx="945825"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1" name="直接箭头连接符 90"/>
          <p:cNvCxnSpPr/>
          <p:nvPr/>
        </p:nvCxnSpPr>
        <p:spPr bwMode="gray">
          <a:xfrm flipH="1">
            <a:off x="8865382" y="6041355"/>
            <a:ext cx="294640" cy="0"/>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92" name="文本框 91"/>
          <p:cNvSpPr txBox="1"/>
          <p:nvPr/>
        </p:nvSpPr>
        <p:spPr bwMode="gray">
          <a:xfrm>
            <a:off x="9160022" y="5790427"/>
            <a:ext cx="1165562"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安全组及策略控制矩阵下发</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直接箭头连接符 92"/>
          <p:cNvCxnSpPr/>
          <p:nvPr/>
        </p:nvCxnSpPr>
        <p:spPr bwMode="gray">
          <a:xfrm flipH="1">
            <a:off x="10331924" y="6041355"/>
            <a:ext cx="294640" cy="0"/>
          </a:xfrm>
          <a:prstGeom prst="straightConnector1">
            <a:avLst/>
          </a:prstGeom>
          <a:noFill/>
          <a:ln w="190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94" name="文本框 93"/>
          <p:cNvSpPr txBox="1"/>
          <p:nvPr/>
        </p:nvSpPr>
        <p:spPr bwMode="gray">
          <a:xfrm>
            <a:off x="10626564" y="5790426"/>
            <a:ext cx="1122523"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同步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a:t>
            </a:r>
          </a:p>
        </p:txBody>
      </p:sp>
      <p:pic>
        <p:nvPicPr>
          <p:cNvPr id="75" name="图片 14" descr="日志告警服务器-蓝.png"/>
          <p:cNvPicPr>
            <a:picLocks noChangeAspect="1"/>
          </p:cNvPicPr>
          <p:nvPr/>
        </p:nvPicPr>
        <p:blipFill>
          <a:blip r:embed="rId11" cstate="print"/>
          <a:stretch>
            <a:fillRect/>
          </a:stretch>
        </p:blipFill>
        <p:spPr bwMode="gray">
          <a:xfrm>
            <a:off x="3223005" y="5376745"/>
            <a:ext cx="490552" cy="306312"/>
          </a:xfrm>
          <a:prstGeom prst="rect">
            <a:avLst/>
          </a:prstGeom>
        </p:spPr>
      </p:pic>
      <p:pic>
        <p:nvPicPr>
          <p:cNvPr id="76" name="图片 14" descr="日志告警服务器-蓝.png"/>
          <p:cNvPicPr>
            <a:picLocks noChangeAspect="1"/>
          </p:cNvPicPr>
          <p:nvPr/>
        </p:nvPicPr>
        <p:blipFill>
          <a:blip r:embed="rId11" cstate="print"/>
          <a:stretch>
            <a:fillRect/>
          </a:stretch>
        </p:blipFill>
        <p:spPr bwMode="gray">
          <a:xfrm>
            <a:off x="5976193" y="5376745"/>
            <a:ext cx="490552" cy="306312"/>
          </a:xfrm>
          <a:prstGeom prst="rect">
            <a:avLst/>
          </a:prstGeom>
        </p:spPr>
      </p:pic>
    </p:spTree>
    <p:extLst>
      <p:ext uri="{BB962C8B-B14F-4D97-AF65-F5344CB8AC3E}">
        <p14:creationId xmlns:p14="http://schemas.microsoft.com/office/powerpoint/2010/main" val="12732332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业务随行场景化方案 </a:t>
            </a:r>
            <a:r>
              <a:rPr lang="en-US" altLang="zh-CN" dirty="0">
                <a:sym typeface="Huawei Sans" panose="020C0503030203020204" pitchFamily="34" charset="0"/>
              </a:rPr>
              <a:t>(5)</a:t>
            </a:r>
            <a:endParaRPr lang="zh-CN" altLang="en-US" dirty="0">
              <a:sym typeface="Huawei Sans" panose="020C0503030203020204" pitchFamily="34" charset="0"/>
            </a:endParaRPr>
          </a:p>
        </p:txBody>
      </p:sp>
      <p:cxnSp>
        <p:nvCxnSpPr>
          <p:cNvPr id="67" name="Straight Connector 166"/>
          <p:cNvCxnSpPr/>
          <p:nvPr/>
        </p:nvCxnSpPr>
        <p:spPr bwMode="gray">
          <a:xfrm>
            <a:off x="2334791" y="1707326"/>
            <a:ext cx="0" cy="13155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166"/>
          <p:cNvCxnSpPr/>
          <p:nvPr/>
        </p:nvCxnSpPr>
        <p:spPr bwMode="gray">
          <a:xfrm flipH="1">
            <a:off x="2554710" y="3066159"/>
            <a:ext cx="15391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bwMode="gray">
          <a:xfrm>
            <a:off x="5978868" y="2152134"/>
            <a:ext cx="5770219" cy="2631490"/>
          </a:xfrm>
          <a:prstGeom prst="rect">
            <a:avLst/>
          </a:prstGeom>
          <a:noFill/>
        </p:spPr>
        <p:txBody>
          <a:bodyPr wrap="square" rtlCol="0">
            <a:spAutoFit/>
          </a:bodyPr>
          <a:lstStyle/>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场景描述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的虚拟化园区。</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作为无线用户认证点，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作为无线用户的网关。</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p>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场景特点</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作为无线用户认证点，与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对接完成用户认证。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作为业务随行策略执行点，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信息同步给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任意多边形 73"/>
          <p:cNvSpPr/>
          <p:nvPr/>
        </p:nvSpPr>
        <p:spPr bwMode="gray">
          <a:xfrm>
            <a:off x="763507" y="3075246"/>
            <a:ext cx="3224196" cy="1772536"/>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Straight Connector 166"/>
          <p:cNvCxnSpPr/>
          <p:nvPr/>
        </p:nvCxnSpPr>
        <p:spPr bwMode="gray">
          <a:xfrm flipH="1">
            <a:off x="2390725" y="1956272"/>
            <a:ext cx="1539190" cy="1066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0" name="Group 165"/>
          <p:cNvGrpSpPr/>
          <p:nvPr/>
        </p:nvGrpSpPr>
        <p:grpSpPr bwMode="gray">
          <a:xfrm rot="10800000">
            <a:off x="1023405" y="3057071"/>
            <a:ext cx="2618150" cy="892260"/>
            <a:chOff x="-1233037" y="914446"/>
            <a:chExt cx="1573823" cy="778776"/>
          </a:xfrm>
        </p:grpSpPr>
        <p:cxnSp>
          <p:nvCxnSpPr>
            <p:cNvPr id="81"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83" name="图片 86" descr="核心交换机.png"/>
          <p:cNvPicPr>
            <a:picLocks noChangeAspect="1"/>
          </p:cNvPicPr>
          <p:nvPr/>
        </p:nvPicPr>
        <p:blipFill>
          <a:blip r:embed="rId3" cstate="print"/>
          <a:stretch>
            <a:fillRect/>
          </a:stretch>
        </p:blipFill>
        <p:spPr bwMode="gray">
          <a:xfrm>
            <a:off x="2108429" y="2883589"/>
            <a:ext cx="446281" cy="365140"/>
          </a:xfrm>
          <a:prstGeom prst="rect">
            <a:avLst/>
          </a:prstGeom>
        </p:spPr>
      </p:pic>
      <p:pic>
        <p:nvPicPr>
          <p:cNvPr id="84" name="图片 87" descr="汇聚交换机.png"/>
          <p:cNvPicPr>
            <a:picLocks noChangeAspect="1"/>
          </p:cNvPicPr>
          <p:nvPr/>
        </p:nvPicPr>
        <p:blipFill>
          <a:blip r:embed="rId4" cstate="print"/>
          <a:stretch>
            <a:fillRect/>
          </a:stretch>
        </p:blipFill>
        <p:spPr bwMode="gray">
          <a:xfrm>
            <a:off x="733222" y="3869029"/>
            <a:ext cx="368827" cy="301768"/>
          </a:xfrm>
          <a:prstGeom prst="rect">
            <a:avLst/>
          </a:prstGeom>
        </p:spPr>
      </p:pic>
      <p:pic>
        <p:nvPicPr>
          <p:cNvPr id="87" name="图片 87" descr="汇聚交换机.png"/>
          <p:cNvPicPr>
            <a:picLocks noChangeAspect="1"/>
          </p:cNvPicPr>
          <p:nvPr/>
        </p:nvPicPr>
        <p:blipFill>
          <a:blip r:embed="rId4" cstate="print"/>
          <a:stretch>
            <a:fillRect/>
          </a:stretch>
        </p:blipFill>
        <p:spPr bwMode="gray">
          <a:xfrm>
            <a:off x="3561088" y="3869029"/>
            <a:ext cx="368827" cy="301768"/>
          </a:xfrm>
          <a:prstGeom prst="rect">
            <a:avLst/>
          </a:prstGeom>
        </p:spPr>
      </p:pic>
      <p:cxnSp>
        <p:nvCxnSpPr>
          <p:cNvPr id="88" name="Straight Connector 166"/>
          <p:cNvCxnSpPr>
            <a:stCxn id="84" idx="2"/>
          </p:cNvCxnSpPr>
          <p:nvPr/>
        </p:nvCxnSpPr>
        <p:spPr bwMode="gray">
          <a:xfrm>
            <a:off x="917636" y="4170797"/>
            <a:ext cx="0" cy="12140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166"/>
          <p:cNvCxnSpPr>
            <a:stCxn id="87" idx="2"/>
          </p:cNvCxnSpPr>
          <p:nvPr/>
        </p:nvCxnSpPr>
        <p:spPr bwMode="gray">
          <a:xfrm>
            <a:off x="3745502" y="4170797"/>
            <a:ext cx="0" cy="12140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文本框 92"/>
          <p:cNvSpPr txBox="1"/>
          <p:nvPr/>
        </p:nvSpPr>
        <p:spPr bwMode="gray">
          <a:xfrm>
            <a:off x="1705708" y="2631871"/>
            <a:ext cx="521297"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Core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5" name="图片 10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987703" y="1443553"/>
            <a:ext cx="947389" cy="538549"/>
          </a:xfrm>
          <a:prstGeom prst="rect">
            <a:avLst/>
          </a:prstGeom>
        </p:spPr>
      </p:pic>
      <p:sp>
        <p:nvSpPr>
          <p:cNvPr id="106" name="文本框 105"/>
          <p:cNvSpPr txBox="1"/>
          <p:nvPr/>
        </p:nvSpPr>
        <p:spPr bwMode="gray">
          <a:xfrm>
            <a:off x="1966357" y="4085645"/>
            <a:ext cx="668774" cy="276999"/>
          </a:xfrm>
          <a:prstGeom prst="rect">
            <a:avLst/>
          </a:prstGeom>
          <a:noFill/>
        </p:spPr>
        <p:txBody>
          <a:bodyPr wrap="none" rtlCol="0">
            <a:spAutoFit/>
          </a:bodyPr>
          <a:lstStyle/>
          <a:p>
            <a:pPr algn="ctr"/>
            <a:r>
              <a:rPr lang="en-US" altLang="zh-CN" sz="120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107"/>
          <p:cNvSpPr txBox="1"/>
          <p:nvPr/>
        </p:nvSpPr>
        <p:spPr bwMode="gray">
          <a:xfrm>
            <a:off x="4470317" y="2918571"/>
            <a:ext cx="38023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087023" y="1506500"/>
            <a:ext cx="490909" cy="401653"/>
          </a:xfrm>
          <a:prstGeom prst="rect">
            <a:avLst/>
          </a:prstGeom>
        </p:spPr>
      </p:pic>
      <p:sp>
        <p:nvSpPr>
          <p:cNvPr id="115" name="椭圆 114"/>
          <p:cNvSpPr>
            <a:spLocks noChangeAspect="1"/>
          </p:cNvSpPr>
          <p:nvPr/>
        </p:nvSpPr>
        <p:spPr bwMode="gray">
          <a:xfrm>
            <a:off x="2151536" y="3197104"/>
            <a:ext cx="130680" cy="130680"/>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6" name="直接箭头连接符 115"/>
          <p:cNvCxnSpPr/>
          <p:nvPr/>
        </p:nvCxnSpPr>
        <p:spPr bwMode="gray">
          <a:xfrm flipH="1">
            <a:off x="2529743" y="1875926"/>
            <a:ext cx="1315720" cy="911778"/>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18" name="直接箭头连接符 117"/>
          <p:cNvCxnSpPr/>
          <p:nvPr/>
        </p:nvCxnSpPr>
        <p:spPr bwMode="gray">
          <a:xfrm flipH="1">
            <a:off x="2529743" y="1758156"/>
            <a:ext cx="1315720" cy="911778"/>
          </a:xfrm>
          <a:prstGeom prst="straightConnector1">
            <a:avLst/>
          </a:prstGeom>
          <a:noFill/>
          <a:ln w="190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29" name="文本框 128"/>
          <p:cNvSpPr txBox="1"/>
          <p:nvPr/>
        </p:nvSpPr>
        <p:spPr bwMode="gray">
          <a:xfrm>
            <a:off x="1273557" y="2835163"/>
            <a:ext cx="841898" cy="461665"/>
          </a:xfrm>
          <a:prstGeom prst="rect">
            <a:avLst/>
          </a:prstGeom>
          <a:noFill/>
        </p:spPr>
        <p:txBody>
          <a:bodyPr wrap="none" rtlCol="0">
            <a:spAutoFit/>
          </a:bodyPr>
          <a:lstStyle/>
          <a:p>
            <a:pPr algn="r"/>
            <a:r>
              <a:rPr lang="en-US" altLang="zh-CN"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IP-Group</a:t>
            </a:r>
          </a:p>
          <a:p>
            <a:pPr algn="r"/>
            <a:r>
              <a:rPr lang="zh-CN" altLang="en-US"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订阅设备</a:t>
            </a:r>
          </a:p>
        </p:txBody>
      </p:sp>
      <p:pic>
        <p:nvPicPr>
          <p:cNvPr id="130" name="图片 102" descr="AC-蓝.png"/>
          <p:cNvPicPr>
            <a:picLocks noChangeAspect="1"/>
          </p:cNvPicPr>
          <p:nvPr/>
        </p:nvPicPr>
        <p:blipFill>
          <a:blip r:embed="rId7" cstate="print"/>
          <a:stretch>
            <a:fillRect/>
          </a:stretch>
        </p:blipFill>
        <p:spPr>
          <a:xfrm>
            <a:off x="3987703" y="2866073"/>
            <a:ext cx="490909" cy="401653"/>
          </a:xfrm>
          <a:prstGeom prst="rect">
            <a:avLst/>
          </a:prstGeom>
        </p:spPr>
      </p:pic>
      <p:sp>
        <p:nvSpPr>
          <p:cNvPr id="131" name="椭圆 130"/>
          <p:cNvSpPr>
            <a:spLocks noChangeAspect="1"/>
          </p:cNvSpPr>
          <p:nvPr/>
        </p:nvSpPr>
        <p:spPr bwMode="gray">
          <a:xfrm>
            <a:off x="3953423" y="3164800"/>
            <a:ext cx="143748" cy="143748"/>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3" name="图片 105" descr="AP.png"/>
          <p:cNvPicPr>
            <a:picLocks noChangeAspect="1"/>
          </p:cNvPicPr>
          <p:nvPr/>
        </p:nvPicPr>
        <p:blipFill>
          <a:blip r:embed="rId8" cstate="print"/>
          <a:stretch>
            <a:fillRect/>
          </a:stretch>
        </p:blipFill>
        <p:spPr bwMode="gray">
          <a:xfrm>
            <a:off x="3561087" y="5329893"/>
            <a:ext cx="368827" cy="301768"/>
          </a:xfrm>
          <a:prstGeom prst="rect">
            <a:avLst/>
          </a:prstGeom>
        </p:spPr>
      </p:pic>
      <p:pic>
        <p:nvPicPr>
          <p:cNvPr id="134" name="图片 76" descr="接入交换机.png"/>
          <p:cNvPicPr>
            <a:picLocks noChangeAspect="1"/>
          </p:cNvPicPr>
          <p:nvPr/>
        </p:nvPicPr>
        <p:blipFill>
          <a:blip r:embed="rId9" cstate="print"/>
          <a:stretch>
            <a:fillRect/>
          </a:stretch>
        </p:blipFill>
        <p:spPr bwMode="gray">
          <a:xfrm>
            <a:off x="3561088" y="4663784"/>
            <a:ext cx="368827" cy="301768"/>
          </a:xfrm>
          <a:prstGeom prst="rect">
            <a:avLst/>
          </a:prstGeom>
        </p:spPr>
      </p:pic>
      <p:grpSp>
        <p:nvGrpSpPr>
          <p:cNvPr id="136" name="组合 758"/>
          <p:cNvGrpSpPr/>
          <p:nvPr/>
        </p:nvGrpSpPr>
        <p:grpSpPr bwMode="gray">
          <a:xfrm rot="5400000" flipV="1">
            <a:off x="3226668" y="5345012"/>
            <a:ext cx="310424" cy="262875"/>
            <a:chOff x="7440613" y="4868863"/>
            <a:chExt cx="1019175" cy="828675"/>
          </a:xfrm>
          <a:solidFill>
            <a:schemeClr val="bg1">
              <a:lumMod val="75000"/>
            </a:schemeClr>
          </a:solidFill>
        </p:grpSpPr>
        <p:sp>
          <p:nvSpPr>
            <p:cNvPr id="137"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40" name="图片 76" descr="接入交换机.png"/>
          <p:cNvPicPr>
            <a:picLocks noChangeAspect="1"/>
          </p:cNvPicPr>
          <p:nvPr/>
        </p:nvPicPr>
        <p:blipFill>
          <a:blip r:embed="rId9" cstate="print"/>
          <a:stretch>
            <a:fillRect/>
          </a:stretch>
        </p:blipFill>
        <p:spPr bwMode="gray">
          <a:xfrm>
            <a:off x="733222" y="4663784"/>
            <a:ext cx="368827" cy="301768"/>
          </a:xfrm>
          <a:prstGeom prst="rect">
            <a:avLst/>
          </a:prstGeom>
        </p:spPr>
      </p:pic>
      <p:sp>
        <p:nvSpPr>
          <p:cNvPr id="46" name="五边形 45"/>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47" name="燕尾形 46"/>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p:cNvSpPr>
            <a:spLocks noChangeAspect="1"/>
          </p:cNvSpPr>
          <p:nvPr/>
        </p:nvSpPr>
        <p:spPr bwMode="gray">
          <a:xfrm>
            <a:off x="6654684" y="5987355"/>
            <a:ext cx="108000" cy="108000"/>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p:cNvSpPr>
            <a:spLocks noChangeAspect="1"/>
          </p:cNvSpPr>
          <p:nvPr/>
        </p:nvSpPr>
        <p:spPr bwMode="gray">
          <a:xfrm>
            <a:off x="7689900" y="5987355"/>
            <a:ext cx="108000" cy="108000"/>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6729611" y="5902856"/>
            <a:ext cx="818698"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7781266" y="5902856"/>
            <a:ext cx="945825"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箭头连接符 53"/>
          <p:cNvCxnSpPr/>
          <p:nvPr/>
        </p:nvCxnSpPr>
        <p:spPr bwMode="gray">
          <a:xfrm flipH="1">
            <a:off x="8865382" y="6041355"/>
            <a:ext cx="294640" cy="0"/>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55" name="文本框 54"/>
          <p:cNvSpPr txBox="1"/>
          <p:nvPr/>
        </p:nvSpPr>
        <p:spPr bwMode="gray">
          <a:xfrm>
            <a:off x="9160022" y="5790427"/>
            <a:ext cx="1165562"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安全组及策略控制矩阵下发</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箭头连接符 55"/>
          <p:cNvCxnSpPr/>
          <p:nvPr/>
        </p:nvCxnSpPr>
        <p:spPr bwMode="gray">
          <a:xfrm flipH="1">
            <a:off x="10331924" y="6041355"/>
            <a:ext cx="294640" cy="0"/>
          </a:xfrm>
          <a:prstGeom prst="straightConnector1">
            <a:avLst/>
          </a:prstGeom>
          <a:noFill/>
          <a:ln w="190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57" name="文本框 56"/>
          <p:cNvSpPr txBox="1"/>
          <p:nvPr/>
        </p:nvSpPr>
        <p:spPr bwMode="gray">
          <a:xfrm>
            <a:off x="10626564" y="5790426"/>
            <a:ext cx="1122524"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同步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a:t>
            </a:r>
          </a:p>
        </p:txBody>
      </p:sp>
      <p:pic>
        <p:nvPicPr>
          <p:cNvPr id="58" name="图片 14" descr="日志告警服务器-蓝.png"/>
          <p:cNvPicPr>
            <a:picLocks noChangeAspect="1"/>
          </p:cNvPicPr>
          <p:nvPr/>
        </p:nvPicPr>
        <p:blipFill>
          <a:blip r:embed="rId10" cstate="print"/>
          <a:stretch>
            <a:fillRect/>
          </a:stretch>
        </p:blipFill>
        <p:spPr bwMode="gray">
          <a:xfrm>
            <a:off x="672359" y="5321237"/>
            <a:ext cx="490552" cy="306312"/>
          </a:xfrm>
          <a:prstGeom prst="rect">
            <a:avLst/>
          </a:prstGeom>
        </p:spPr>
      </p:pic>
      <p:pic>
        <p:nvPicPr>
          <p:cNvPr id="59" name="图片 14" descr="日志告警服务器-蓝.png"/>
          <p:cNvPicPr>
            <a:picLocks noChangeAspect="1"/>
          </p:cNvPicPr>
          <p:nvPr/>
        </p:nvPicPr>
        <p:blipFill>
          <a:blip r:embed="rId10" cstate="print"/>
          <a:stretch>
            <a:fillRect/>
          </a:stretch>
        </p:blipFill>
        <p:spPr bwMode="gray">
          <a:xfrm>
            <a:off x="2621979" y="5321237"/>
            <a:ext cx="490552" cy="306312"/>
          </a:xfrm>
          <a:prstGeom prst="rect">
            <a:avLst/>
          </a:prstGeom>
        </p:spPr>
      </p:pic>
    </p:spTree>
    <p:extLst>
      <p:ext uri="{BB962C8B-B14F-4D97-AF65-F5344CB8AC3E}">
        <p14:creationId xmlns:p14="http://schemas.microsoft.com/office/powerpoint/2010/main" val="13218480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业务随行场景化方案 </a:t>
            </a:r>
            <a:r>
              <a:rPr lang="en-US" altLang="zh-CN" dirty="0">
                <a:sym typeface="Huawei Sans" panose="020C0503030203020204" pitchFamily="34" charset="0"/>
              </a:rPr>
              <a:t>(6)</a:t>
            </a:r>
            <a:endParaRPr lang="zh-CN" altLang="en-US" dirty="0"/>
          </a:p>
        </p:txBody>
      </p:sp>
      <p:sp>
        <p:nvSpPr>
          <p:cNvPr id="3" name="五边形 2"/>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4" name="燕尾形 3"/>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4"/>
          <p:cNvSpPr/>
          <p:nvPr/>
        </p:nvSpPr>
        <p:spPr bwMode="gray">
          <a:xfrm>
            <a:off x="1002413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84908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Straight Connector 166"/>
          <p:cNvCxnSpPr/>
          <p:nvPr/>
        </p:nvCxnSpPr>
        <p:spPr bwMode="gray">
          <a:xfrm>
            <a:off x="2334791" y="1707326"/>
            <a:ext cx="0" cy="13155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166"/>
          <p:cNvCxnSpPr/>
          <p:nvPr/>
        </p:nvCxnSpPr>
        <p:spPr bwMode="gray">
          <a:xfrm flipH="1">
            <a:off x="2554710" y="3066159"/>
            <a:ext cx="15391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bwMode="gray">
          <a:xfrm>
            <a:off x="5650814" y="1139959"/>
            <a:ext cx="6098273" cy="4678397"/>
          </a:xfrm>
          <a:prstGeom prst="rect">
            <a:avLst/>
          </a:prstGeom>
          <a:noFill/>
        </p:spPr>
        <p:txBody>
          <a:bodyPr wrap="square" rtlCol="0">
            <a:spAutoFit/>
          </a:bodyPr>
          <a:lstStyle/>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场景描述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的虚拟化园区。</a:t>
            </a: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第三方设备（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BRAS </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带宽接入服务器）作为用户认证点。终端需通过</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PPPoE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认证实现外网访问。可支持业务随行。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p>
          <a:p>
            <a:pPr>
              <a:lnSpc>
                <a:spcPts val="2400"/>
              </a:lnSpc>
              <a:spcAft>
                <a:spcPts val="6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（可以理解为第三方服务器认证模式）</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场景特点</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第三方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BRAS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作为用户认证点，与</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对接完成用户认证。</a:t>
            </a: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配置自动发放，为用户在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BRAS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上的认证数据提供</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隧道，实现终端与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BRAS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的二层通信。</a:t>
            </a: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上完成外部网络“</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共享式”配置，实现与第三方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BRAS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设备的对接。</a:t>
            </a: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作为业务随行策略执行点，</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信息同步给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任意多边形 9"/>
          <p:cNvSpPr/>
          <p:nvPr/>
        </p:nvSpPr>
        <p:spPr bwMode="gray">
          <a:xfrm>
            <a:off x="763507" y="3075246"/>
            <a:ext cx="3224196" cy="1772536"/>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Straight Connector 166"/>
          <p:cNvCxnSpPr/>
          <p:nvPr/>
        </p:nvCxnSpPr>
        <p:spPr bwMode="gray">
          <a:xfrm flipH="1">
            <a:off x="2390725" y="1956272"/>
            <a:ext cx="1539190" cy="1066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65"/>
          <p:cNvGrpSpPr/>
          <p:nvPr/>
        </p:nvGrpSpPr>
        <p:grpSpPr bwMode="gray">
          <a:xfrm rot="10800000">
            <a:off x="1023405" y="3057071"/>
            <a:ext cx="2618150" cy="892260"/>
            <a:chOff x="-1233037" y="914446"/>
            <a:chExt cx="1573823" cy="778776"/>
          </a:xfrm>
        </p:grpSpPr>
        <p:cxnSp>
          <p:nvCxnSpPr>
            <p:cNvPr id="13"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5" name="图片 86" descr="核心交换机.png"/>
          <p:cNvPicPr>
            <a:picLocks noChangeAspect="1"/>
          </p:cNvPicPr>
          <p:nvPr/>
        </p:nvPicPr>
        <p:blipFill>
          <a:blip r:embed="rId3" cstate="print"/>
          <a:stretch>
            <a:fillRect/>
          </a:stretch>
        </p:blipFill>
        <p:spPr bwMode="gray">
          <a:xfrm>
            <a:off x="2108429" y="2883589"/>
            <a:ext cx="446281" cy="365140"/>
          </a:xfrm>
          <a:prstGeom prst="rect">
            <a:avLst/>
          </a:prstGeom>
        </p:spPr>
      </p:pic>
      <p:pic>
        <p:nvPicPr>
          <p:cNvPr id="16" name="图片 87" descr="汇聚交换机.png"/>
          <p:cNvPicPr>
            <a:picLocks noChangeAspect="1"/>
          </p:cNvPicPr>
          <p:nvPr/>
        </p:nvPicPr>
        <p:blipFill>
          <a:blip r:embed="rId4" cstate="print"/>
          <a:stretch>
            <a:fillRect/>
          </a:stretch>
        </p:blipFill>
        <p:spPr bwMode="gray">
          <a:xfrm>
            <a:off x="733222" y="3869029"/>
            <a:ext cx="368827" cy="301768"/>
          </a:xfrm>
          <a:prstGeom prst="rect">
            <a:avLst/>
          </a:prstGeom>
        </p:spPr>
      </p:pic>
      <p:pic>
        <p:nvPicPr>
          <p:cNvPr id="17" name="图片 87" descr="汇聚交换机.png"/>
          <p:cNvPicPr>
            <a:picLocks noChangeAspect="1"/>
          </p:cNvPicPr>
          <p:nvPr/>
        </p:nvPicPr>
        <p:blipFill>
          <a:blip r:embed="rId4" cstate="print"/>
          <a:stretch>
            <a:fillRect/>
          </a:stretch>
        </p:blipFill>
        <p:spPr bwMode="gray">
          <a:xfrm>
            <a:off x="3561088" y="3869029"/>
            <a:ext cx="368827" cy="301768"/>
          </a:xfrm>
          <a:prstGeom prst="rect">
            <a:avLst/>
          </a:prstGeom>
        </p:spPr>
      </p:pic>
      <p:cxnSp>
        <p:nvCxnSpPr>
          <p:cNvPr id="18" name="Straight Connector 166"/>
          <p:cNvCxnSpPr>
            <a:stCxn id="16" idx="2"/>
          </p:cNvCxnSpPr>
          <p:nvPr/>
        </p:nvCxnSpPr>
        <p:spPr bwMode="gray">
          <a:xfrm>
            <a:off x="917636" y="4170797"/>
            <a:ext cx="0" cy="12140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66"/>
          <p:cNvCxnSpPr>
            <a:stCxn id="17" idx="2"/>
          </p:cNvCxnSpPr>
          <p:nvPr/>
        </p:nvCxnSpPr>
        <p:spPr bwMode="gray">
          <a:xfrm>
            <a:off x="3745502" y="4170797"/>
            <a:ext cx="0" cy="12140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bwMode="gray">
          <a:xfrm>
            <a:off x="1705708" y="2631871"/>
            <a:ext cx="521297"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Core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987703" y="1443553"/>
            <a:ext cx="947389" cy="538549"/>
          </a:xfrm>
          <a:prstGeom prst="rect">
            <a:avLst/>
          </a:prstGeom>
        </p:spPr>
      </p:pic>
      <p:sp>
        <p:nvSpPr>
          <p:cNvPr id="22" name="文本框 21"/>
          <p:cNvSpPr txBox="1"/>
          <p:nvPr/>
        </p:nvSpPr>
        <p:spPr bwMode="gray">
          <a:xfrm>
            <a:off x="1966357" y="4085645"/>
            <a:ext cx="668774" cy="276999"/>
          </a:xfrm>
          <a:prstGeom prst="rect">
            <a:avLst/>
          </a:prstGeom>
          <a:noFill/>
        </p:spPr>
        <p:txBody>
          <a:bodyPr wrap="none" rtlCol="0">
            <a:spAutoFit/>
          </a:bodyPr>
          <a:lstStyle/>
          <a:p>
            <a:pPr algn="ctr"/>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470317" y="2918571"/>
            <a:ext cx="1016625"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第三方</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BRAS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087023" y="1506500"/>
            <a:ext cx="490909" cy="401653"/>
          </a:xfrm>
          <a:prstGeom prst="rect">
            <a:avLst/>
          </a:prstGeom>
        </p:spPr>
      </p:pic>
      <p:sp>
        <p:nvSpPr>
          <p:cNvPr id="25" name="椭圆 24"/>
          <p:cNvSpPr>
            <a:spLocks noChangeAspect="1"/>
          </p:cNvSpPr>
          <p:nvPr/>
        </p:nvSpPr>
        <p:spPr bwMode="gray">
          <a:xfrm>
            <a:off x="2151536" y="3197104"/>
            <a:ext cx="130680" cy="130680"/>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箭头连接符 25"/>
          <p:cNvCxnSpPr/>
          <p:nvPr/>
        </p:nvCxnSpPr>
        <p:spPr bwMode="gray">
          <a:xfrm flipH="1">
            <a:off x="2529743" y="1875926"/>
            <a:ext cx="1315720" cy="911778"/>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7" name="直接箭头连接符 26"/>
          <p:cNvCxnSpPr/>
          <p:nvPr/>
        </p:nvCxnSpPr>
        <p:spPr bwMode="gray">
          <a:xfrm flipH="1">
            <a:off x="2529743" y="1758156"/>
            <a:ext cx="1315720" cy="911778"/>
          </a:xfrm>
          <a:prstGeom prst="straightConnector1">
            <a:avLst/>
          </a:prstGeom>
          <a:noFill/>
          <a:ln w="190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8" name="文本框 27"/>
          <p:cNvSpPr txBox="1"/>
          <p:nvPr/>
        </p:nvSpPr>
        <p:spPr bwMode="gray">
          <a:xfrm>
            <a:off x="1273557" y="2835163"/>
            <a:ext cx="841898" cy="461665"/>
          </a:xfrm>
          <a:prstGeom prst="rect">
            <a:avLst/>
          </a:prstGeom>
          <a:noFill/>
        </p:spPr>
        <p:txBody>
          <a:bodyPr wrap="none" rtlCol="0">
            <a:spAutoFit/>
          </a:bodyPr>
          <a:lstStyle/>
          <a:p>
            <a:pPr algn="r"/>
            <a:r>
              <a:rPr lang="en-US" altLang="zh-CN"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IP-Group</a:t>
            </a:r>
          </a:p>
          <a:p>
            <a:pPr algn="r"/>
            <a:r>
              <a:rPr lang="zh-CN" altLang="en-US"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订阅设备</a:t>
            </a:r>
          </a:p>
        </p:txBody>
      </p:sp>
      <p:pic>
        <p:nvPicPr>
          <p:cNvPr id="31" name="图片 105" descr="AP.png"/>
          <p:cNvPicPr>
            <a:picLocks noChangeAspect="1"/>
          </p:cNvPicPr>
          <p:nvPr/>
        </p:nvPicPr>
        <p:blipFill>
          <a:blip r:embed="rId7" cstate="print"/>
          <a:stretch>
            <a:fillRect/>
          </a:stretch>
        </p:blipFill>
        <p:spPr bwMode="gray">
          <a:xfrm>
            <a:off x="3561087" y="5329893"/>
            <a:ext cx="368827" cy="301768"/>
          </a:xfrm>
          <a:prstGeom prst="rect">
            <a:avLst/>
          </a:prstGeom>
        </p:spPr>
      </p:pic>
      <p:pic>
        <p:nvPicPr>
          <p:cNvPr id="32" name="图片 76" descr="接入交换机.png"/>
          <p:cNvPicPr>
            <a:picLocks noChangeAspect="1"/>
          </p:cNvPicPr>
          <p:nvPr/>
        </p:nvPicPr>
        <p:blipFill>
          <a:blip r:embed="rId8" cstate="print"/>
          <a:stretch>
            <a:fillRect/>
          </a:stretch>
        </p:blipFill>
        <p:spPr bwMode="gray">
          <a:xfrm>
            <a:off x="3561088" y="4663784"/>
            <a:ext cx="368827" cy="301768"/>
          </a:xfrm>
          <a:prstGeom prst="rect">
            <a:avLst/>
          </a:prstGeom>
        </p:spPr>
      </p:pic>
      <p:grpSp>
        <p:nvGrpSpPr>
          <p:cNvPr id="34" name="组合 758"/>
          <p:cNvGrpSpPr/>
          <p:nvPr/>
        </p:nvGrpSpPr>
        <p:grpSpPr bwMode="gray">
          <a:xfrm rot="5400000" flipV="1">
            <a:off x="3226668" y="5345012"/>
            <a:ext cx="310424" cy="262875"/>
            <a:chOff x="7440613" y="4868863"/>
            <a:chExt cx="1019175" cy="828675"/>
          </a:xfrm>
          <a:solidFill>
            <a:schemeClr val="bg1">
              <a:lumMod val="75000"/>
            </a:schemeClr>
          </a:solidFill>
        </p:grpSpPr>
        <p:sp>
          <p:nvSpPr>
            <p:cNvPr id="35"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38" name="图片 76" descr="接入交换机.png"/>
          <p:cNvPicPr>
            <a:picLocks noChangeAspect="1"/>
          </p:cNvPicPr>
          <p:nvPr/>
        </p:nvPicPr>
        <p:blipFill>
          <a:blip r:embed="rId8" cstate="print"/>
          <a:stretch>
            <a:fillRect/>
          </a:stretch>
        </p:blipFill>
        <p:spPr bwMode="gray">
          <a:xfrm>
            <a:off x="733222" y="4663784"/>
            <a:ext cx="368827" cy="301768"/>
          </a:xfrm>
          <a:prstGeom prst="rect">
            <a:avLst/>
          </a:prstGeom>
        </p:spPr>
      </p:pic>
      <p:sp>
        <p:nvSpPr>
          <p:cNvPr id="39" name="椭圆 38"/>
          <p:cNvSpPr>
            <a:spLocks noChangeAspect="1"/>
          </p:cNvSpPr>
          <p:nvPr/>
        </p:nvSpPr>
        <p:spPr bwMode="gray">
          <a:xfrm>
            <a:off x="6654684" y="5987355"/>
            <a:ext cx="108000" cy="108000"/>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椭圆 39"/>
          <p:cNvSpPr>
            <a:spLocks noChangeAspect="1"/>
          </p:cNvSpPr>
          <p:nvPr/>
        </p:nvSpPr>
        <p:spPr bwMode="gray">
          <a:xfrm>
            <a:off x="7689900" y="5987355"/>
            <a:ext cx="108000" cy="108000"/>
          </a:xfrm>
          <a:prstGeom prst="ellipse">
            <a:avLst/>
          </a:prstGeom>
          <a:solidFill>
            <a:srgbClr val="FCC800"/>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6729611" y="5902856"/>
            <a:ext cx="818698"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7781266" y="5902856"/>
            <a:ext cx="945825" cy="276999"/>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3" name="直接箭头连接符 42"/>
          <p:cNvCxnSpPr/>
          <p:nvPr/>
        </p:nvCxnSpPr>
        <p:spPr bwMode="gray">
          <a:xfrm flipH="1">
            <a:off x="8865382" y="6041355"/>
            <a:ext cx="294640" cy="0"/>
          </a:xfrm>
          <a:prstGeom prst="straightConnector1">
            <a:avLst/>
          </a:prstGeom>
          <a:noFill/>
          <a:ln w="19050">
            <a:solidFill>
              <a:schemeClr val="bg1">
                <a:lumMod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44" name="文本框 43"/>
          <p:cNvSpPr txBox="1"/>
          <p:nvPr/>
        </p:nvSpPr>
        <p:spPr bwMode="gray">
          <a:xfrm>
            <a:off x="9160022" y="5790427"/>
            <a:ext cx="1165562"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pPr>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安全组及策略控制矩阵下发</a:t>
            </a:r>
            <a:endParaRPr 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箭头连接符 44"/>
          <p:cNvCxnSpPr/>
          <p:nvPr/>
        </p:nvCxnSpPr>
        <p:spPr bwMode="gray">
          <a:xfrm flipH="1">
            <a:off x="10331924" y="6041355"/>
            <a:ext cx="294640" cy="0"/>
          </a:xfrm>
          <a:prstGeom prst="straightConnector1">
            <a:avLst/>
          </a:prstGeom>
          <a:noFill/>
          <a:ln w="190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46" name="文本框 45"/>
          <p:cNvSpPr txBox="1"/>
          <p:nvPr/>
        </p:nvSpPr>
        <p:spPr bwMode="gray">
          <a:xfrm>
            <a:off x="10626564" y="5790426"/>
            <a:ext cx="1122524" cy="461665"/>
          </a:xfrm>
          <a:prstGeom prst="rect">
            <a:avLst/>
          </a:prstGeom>
          <a:noFill/>
          <a:ln>
            <a:noFill/>
          </a:ln>
          <a:effectLst/>
          <a:scene3d>
            <a:camera prst="orthographicFront">
              <a:rot lat="0" lon="0" rev="0"/>
            </a:camera>
            <a:lightRig rig="threePt" dir="t"/>
          </a:scene3d>
        </p:spPr>
        <p:style>
          <a:lnRef idx="1">
            <a:schemeClr val="accent3"/>
          </a:lnRef>
          <a:fillRef idx="2">
            <a:schemeClr val="accent3"/>
          </a:fillRef>
          <a:effectRef idx="1">
            <a:schemeClr val="accent3"/>
          </a:effectRef>
          <a:fontRef idx="minor">
            <a:schemeClr val="dk1"/>
          </a:fontRef>
        </p:style>
        <p:txBody>
          <a:bodyPr wrap="square" rtlCol="0" anchor="ctr" anchorCtr="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同步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a:t>
            </a:r>
          </a:p>
        </p:txBody>
      </p:sp>
      <p:pic>
        <p:nvPicPr>
          <p:cNvPr id="47" name="图片 46" descr="开放网络-蓝.png"/>
          <p:cNvPicPr>
            <a:picLocks noChangeAspect="1"/>
          </p:cNvPicPr>
          <p:nvPr/>
        </p:nvPicPr>
        <p:blipFill>
          <a:blip r:embed="rId9" cstate="print"/>
          <a:stretch>
            <a:fillRect/>
          </a:stretch>
        </p:blipFill>
        <p:spPr bwMode="gray">
          <a:xfrm>
            <a:off x="3997152" y="2866073"/>
            <a:ext cx="482614" cy="395153"/>
          </a:xfrm>
          <a:prstGeom prst="rect">
            <a:avLst/>
          </a:prstGeom>
        </p:spPr>
      </p:pic>
      <p:sp>
        <p:nvSpPr>
          <p:cNvPr id="30" name="椭圆 29"/>
          <p:cNvSpPr>
            <a:spLocks noChangeAspect="1"/>
          </p:cNvSpPr>
          <p:nvPr/>
        </p:nvSpPr>
        <p:spPr bwMode="gray">
          <a:xfrm>
            <a:off x="3953423" y="3164800"/>
            <a:ext cx="143748" cy="143748"/>
          </a:xfrm>
          <a:prstGeom prst="ellipse">
            <a:avLst/>
          </a:prstGeom>
          <a:solidFill>
            <a:srgbClr val="C7000B"/>
          </a:solidFill>
          <a:ln w="19050">
            <a:noFill/>
            <a:prstDash val="dash"/>
            <a:tailEnd type="arrow"/>
          </a:ln>
          <a:effectLst/>
        </p:spPr>
        <p:txBody>
          <a:bodyPr wrap="square" rtlCol="0" anchor="ctr">
            <a:noAutofit/>
          </a:bodyPr>
          <a:lstStyle/>
          <a:p>
            <a:pPr algn="ctr">
              <a:spcBef>
                <a:spcPct val="0"/>
              </a:spcBef>
              <a:spcAft>
                <a:spcPct val="0"/>
              </a:spcAft>
            </a:pPr>
            <a:endParaRPr 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2849655" y="5718886"/>
            <a:ext cx="949299" cy="276999"/>
          </a:xfrm>
          <a:prstGeom prst="rect">
            <a:avLst/>
          </a:prstGeom>
          <a:noFill/>
        </p:spPr>
        <p:txBody>
          <a:bodyPr wrap="none" rtlCol="0">
            <a:spAutoFit/>
          </a:bodyPr>
          <a:lstStyle/>
          <a:p>
            <a:pPr algn="ct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PPPoE</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认证</a:t>
            </a:r>
          </a:p>
        </p:txBody>
      </p:sp>
      <p:sp>
        <p:nvSpPr>
          <p:cNvPr id="49" name="任意多边形 48"/>
          <p:cNvSpPr/>
          <p:nvPr/>
        </p:nvSpPr>
        <p:spPr bwMode="gray">
          <a:xfrm flipH="1">
            <a:off x="2358343" y="2988521"/>
            <a:ext cx="1289786" cy="1963652"/>
          </a:xfrm>
          <a:custGeom>
            <a:avLst/>
            <a:gdLst>
              <a:gd name="connsiteX0" fmla="*/ 259342 w 1053669"/>
              <a:gd name="connsiteY0" fmla="*/ 1976582 h 1976582"/>
              <a:gd name="connsiteX1" fmla="*/ 46906 w 1053669"/>
              <a:gd name="connsiteY1" fmla="*/ 905164 h 1976582"/>
              <a:gd name="connsiteX2" fmla="*/ 1053669 w 1053669"/>
              <a:gd name="connsiteY2" fmla="*/ 0 h 1976582"/>
              <a:gd name="connsiteX0" fmla="*/ 0 w 794327"/>
              <a:gd name="connsiteY0" fmla="*/ 1976582 h 1976582"/>
              <a:gd name="connsiteX1" fmla="*/ 794327 w 794327"/>
              <a:gd name="connsiteY1" fmla="*/ 0 h 1976582"/>
              <a:gd name="connsiteX0" fmla="*/ 0 w 794327"/>
              <a:gd name="connsiteY0" fmla="*/ 1930400 h 1930400"/>
              <a:gd name="connsiteX1" fmla="*/ 794327 w 794327"/>
              <a:gd name="connsiteY1" fmla="*/ 0 h 1930400"/>
              <a:gd name="connsiteX0" fmla="*/ 0 w 1366982"/>
              <a:gd name="connsiteY0" fmla="*/ 1985818 h 1985818"/>
              <a:gd name="connsiteX1" fmla="*/ 1366982 w 1366982"/>
              <a:gd name="connsiteY1" fmla="*/ 0 h 1985818"/>
              <a:gd name="connsiteX0" fmla="*/ 0 w 1366982"/>
              <a:gd name="connsiteY0" fmla="*/ 1985818 h 1985818"/>
              <a:gd name="connsiteX1" fmla="*/ 1366982 w 1366982"/>
              <a:gd name="connsiteY1" fmla="*/ 0 h 1985818"/>
              <a:gd name="connsiteX0" fmla="*/ 0 w 1283855"/>
              <a:gd name="connsiteY0" fmla="*/ 1976582 h 1976582"/>
              <a:gd name="connsiteX1" fmla="*/ 1283855 w 1283855"/>
              <a:gd name="connsiteY1" fmla="*/ 0 h 1976582"/>
              <a:gd name="connsiteX0" fmla="*/ 0 w 1283855"/>
              <a:gd name="connsiteY0" fmla="*/ 1976582 h 1976582"/>
              <a:gd name="connsiteX1" fmla="*/ 1283855 w 1283855"/>
              <a:gd name="connsiteY1" fmla="*/ 0 h 1976582"/>
              <a:gd name="connsiteX0" fmla="*/ 0 w 1283855"/>
              <a:gd name="connsiteY0" fmla="*/ 1976582 h 1976582"/>
              <a:gd name="connsiteX1" fmla="*/ 1283855 w 1283855"/>
              <a:gd name="connsiteY1" fmla="*/ 0 h 1976582"/>
              <a:gd name="connsiteX0" fmla="*/ 0 w 1283855"/>
              <a:gd name="connsiteY0" fmla="*/ 1976582 h 1976582"/>
              <a:gd name="connsiteX1" fmla="*/ 1283855 w 1283855"/>
              <a:gd name="connsiteY1" fmla="*/ 0 h 1976582"/>
              <a:gd name="connsiteX0" fmla="*/ 0 w 1764204"/>
              <a:gd name="connsiteY0" fmla="*/ 1976582 h 1976582"/>
              <a:gd name="connsiteX1" fmla="*/ 1283855 w 1764204"/>
              <a:gd name="connsiteY1" fmla="*/ 0 h 1976582"/>
              <a:gd name="connsiteX0" fmla="*/ 0 w 1792460"/>
              <a:gd name="connsiteY0" fmla="*/ 2105891 h 2105891"/>
              <a:gd name="connsiteX1" fmla="*/ 1320800 w 1792460"/>
              <a:gd name="connsiteY1" fmla="*/ 0 h 2105891"/>
              <a:gd name="connsiteX0" fmla="*/ 0 w 1801873"/>
              <a:gd name="connsiteY0" fmla="*/ 2105891 h 2105891"/>
              <a:gd name="connsiteX1" fmla="*/ 1320800 w 1801873"/>
              <a:gd name="connsiteY1" fmla="*/ 0 h 2105891"/>
              <a:gd name="connsiteX0" fmla="*/ 0 w 1758811"/>
              <a:gd name="connsiteY0" fmla="*/ 2105891 h 2105891"/>
              <a:gd name="connsiteX1" fmla="*/ 1320800 w 1758811"/>
              <a:gd name="connsiteY1" fmla="*/ 0 h 2105891"/>
              <a:gd name="connsiteX0" fmla="*/ 0 w 1767346"/>
              <a:gd name="connsiteY0" fmla="*/ 2105891 h 2105891"/>
              <a:gd name="connsiteX1" fmla="*/ 1320800 w 1767346"/>
              <a:gd name="connsiteY1" fmla="*/ 0 h 2105891"/>
              <a:gd name="connsiteX0" fmla="*/ 0 w 1767346"/>
              <a:gd name="connsiteY0" fmla="*/ 2105891 h 2105891"/>
              <a:gd name="connsiteX1" fmla="*/ 1320800 w 1767346"/>
              <a:gd name="connsiteY1" fmla="*/ 0 h 2105891"/>
              <a:gd name="connsiteX0" fmla="*/ 0 w 1767346"/>
              <a:gd name="connsiteY0" fmla="*/ 2105891 h 2105891"/>
              <a:gd name="connsiteX1" fmla="*/ 1320800 w 1767346"/>
              <a:gd name="connsiteY1" fmla="*/ 0 h 2105891"/>
              <a:gd name="connsiteX0" fmla="*/ 0 w 1815586"/>
              <a:gd name="connsiteY0" fmla="*/ 2243051 h 2243051"/>
              <a:gd name="connsiteX1" fmla="*/ 1381760 w 1815586"/>
              <a:gd name="connsiteY1" fmla="*/ 0 h 2243051"/>
              <a:gd name="connsiteX0" fmla="*/ 0 w 1754434"/>
              <a:gd name="connsiteY0" fmla="*/ 2243051 h 2243051"/>
              <a:gd name="connsiteX1" fmla="*/ 1227899 w 1754434"/>
              <a:gd name="connsiteY1" fmla="*/ 411942 h 2243051"/>
              <a:gd name="connsiteX2" fmla="*/ 1381760 w 1754434"/>
              <a:gd name="connsiteY2" fmla="*/ 0 h 2243051"/>
              <a:gd name="connsiteX0" fmla="*/ 0 w 2867779"/>
              <a:gd name="connsiteY0" fmla="*/ 1831109 h 1831109"/>
              <a:gd name="connsiteX1" fmla="*/ 1227899 w 2867779"/>
              <a:gd name="connsiteY1" fmla="*/ 0 h 1831109"/>
              <a:gd name="connsiteX2" fmla="*/ 2631440 w 2867779"/>
              <a:gd name="connsiteY2" fmla="*/ 609138 h 1831109"/>
              <a:gd name="connsiteX0" fmla="*/ 0 w 2631440"/>
              <a:gd name="connsiteY0" fmla="*/ 1831109 h 1831109"/>
              <a:gd name="connsiteX1" fmla="*/ 1227899 w 2631440"/>
              <a:gd name="connsiteY1" fmla="*/ 0 h 1831109"/>
              <a:gd name="connsiteX2" fmla="*/ 2631440 w 2631440"/>
              <a:gd name="connsiteY2" fmla="*/ 609138 h 1831109"/>
              <a:gd name="connsiteX0" fmla="*/ 0 w 2717800"/>
              <a:gd name="connsiteY0" fmla="*/ 1831109 h 1831109"/>
              <a:gd name="connsiteX1" fmla="*/ 1227899 w 2717800"/>
              <a:gd name="connsiteY1" fmla="*/ 0 h 1831109"/>
              <a:gd name="connsiteX2" fmla="*/ 2717800 w 2717800"/>
              <a:gd name="connsiteY2" fmla="*/ 1741978 h 1831109"/>
              <a:gd name="connsiteX0" fmla="*/ 0 w 2717800"/>
              <a:gd name="connsiteY0" fmla="*/ 2116332 h 2116332"/>
              <a:gd name="connsiteX1" fmla="*/ 1227899 w 2717800"/>
              <a:gd name="connsiteY1" fmla="*/ 285223 h 2116332"/>
              <a:gd name="connsiteX2" fmla="*/ 2717800 w 2717800"/>
              <a:gd name="connsiteY2" fmla="*/ 2027201 h 2116332"/>
              <a:gd name="connsiteX0" fmla="*/ 0 w 2717800"/>
              <a:gd name="connsiteY0" fmla="*/ 2224152 h 2224152"/>
              <a:gd name="connsiteX1" fmla="*/ 1451419 w 2717800"/>
              <a:gd name="connsiteY1" fmla="*/ 276203 h 2224152"/>
              <a:gd name="connsiteX2" fmla="*/ 2717800 w 2717800"/>
              <a:gd name="connsiteY2" fmla="*/ 2135021 h 2224152"/>
              <a:gd name="connsiteX0" fmla="*/ 0 w 2717800"/>
              <a:gd name="connsiteY0" fmla="*/ 2197881 h 2197881"/>
              <a:gd name="connsiteX1" fmla="*/ 1451419 w 2717800"/>
              <a:gd name="connsiteY1" fmla="*/ 249932 h 2197881"/>
              <a:gd name="connsiteX2" fmla="*/ 2717800 w 2717800"/>
              <a:gd name="connsiteY2" fmla="*/ 2108750 h 2197881"/>
              <a:gd name="connsiteX0" fmla="*/ 0 w 2829560"/>
              <a:gd name="connsiteY0" fmla="*/ 1948036 h 1948036"/>
              <a:gd name="connsiteX1" fmla="*/ 1451419 w 2829560"/>
              <a:gd name="connsiteY1" fmla="*/ 87 h 1948036"/>
              <a:gd name="connsiteX2" fmla="*/ 2829560 w 2829560"/>
              <a:gd name="connsiteY2" fmla="*/ 1879225 h 1948036"/>
              <a:gd name="connsiteX0" fmla="*/ 0 w 2829560"/>
              <a:gd name="connsiteY0" fmla="*/ 1948050 h 1948050"/>
              <a:gd name="connsiteX1" fmla="*/ 1451419 w 2829560"/>
              <a:gd name="connsiteY1" fmla="*/ 101 h 1948050"/>
              <a:gd name="connsiteX2" fmla="*/ 2829560 w 2829560"/>
              <a:gd name="connsiteY2" fmla="*/ 1879239 h 1948050"/>
              <a:gd name="connsiteX0" fmla="*/ 0 w 2829560"/>
              <a:gd name="connsiteY0" fmla="*/ 2191869 h 2191869"/>
              <a:gd name="connsiteX1" fmla="*/ 1349819 w 2829560"/>
              <a:gd name="connsiteY1" fmla="*/ 80 h 2191869"/>
              <a:gd name="connsiteX2" fmla="*/ 2829560 w 2829560"/>
              <a:gd name="connsiteY2" fmla="*/ 2123058 h 2191869"/>
              <a:gd name="connsiteX0" fmla="*/ 0 w 2829560"/>
              <a:gd name="connsiteY0" fmla="*/ 2199100 h 2199100"/>
              <a:gd name="connsiteX1" fmla="*/ 1807019 w 2829560"/>
              <a:gd name="connsiteY1" fmla="*/ 1460191 h 2199100"/>
              <a:gd name="connsiteX2" fmla="*/ 1349819 w 2829560"/>
              <a:gd name="connsiteY2" fmla="*/ 7311 h 2199100"/>
              <a:gd name="connsiteX3" fmla="*/ 2829560 w 2829560"/>
              <a:gd name="connsiteY3" fmla="*/ 2130289 h 2199100"/>
              <a:gd name="connsiteX0" fmla="*/ 0 w 2829560"/>
              <a:gd name="connsiteY0" fmla="*/ 2191806 h 2191806"/>
              <a:gd name="connsiteX1" fmla="*/ 1807019 w 2829560"/>
              <a:gd name="connsiteY1" fmla="*/ 1452897 h 2191806"/>
              <a:gd name="connsiteX2" fmla="*/ 1349819 w 2829560"/>
              <a:gd name="connsiteY2" fmla="*/ 17 h 2191806"/>
              <a:gd name="connsiteX3" fmla="*/ 2829560 w 2829560"/>
              <a:gd name="connsiteY3" fmla="*/ 2122995 h 2191806"/>
              <a:gd name="connsiteX0" fmla="*/ 0 w 2900680"/>
              <a:gd name="connsiteY0" fmla="*/ 2212126 h 2212126"/>
              <a:gd name="connsiteX1" fmla="*/ 1878139 w 2900680"/>
              <a:gd name="connsiteY1" fmla="*/ 1452897 h 2212126"/>
              <a:gd name="connsiteX2" fmla="*/ 1420939 w 2900680"/>
              <a:gd name="connsiteY2" fmla="*/ 17 h 2212126"/>
              <a:gd name="connsiteX3" fmla="*/ 2900680 w 2900680"/>
              <a:gd name="connsiteY3" fmla="*/ 2122995 h 2212126"/>
              <a:gd name="connsiteX0" fmla="*/ 0 w 2976880"/>
              <a:gd name="connsiteY0" fmla="*/ 2461046 h 2461046"/>
              <a:gd name="connsiteX1" fmla="*/ 1954339 w 2976880"/>
              <a:gd name="connsiteY1" fmla="*/ 1452897 h 2461046"/>
              <a:gd name="connsiteX2" fmla="*/ 1497139 w 2976880"/>
              <a:gd name="connsiteY2" fmla="*/ 17 h 2461046"/>
              <a:gd name="connsiteX3" fmla="*/ 2976880 w 2976880"/>
              <a:gd name="connsiteY3" fmla="*/ 2122995 h 2461046"/>
              <a:gd name="connsiteX0" fmla="*/ 19318 w 2996198"/>
              <a:gd name="connsiteY0" fmla="*/ 2461046 h 2461046"/>
              <a:gd name="connsiteX1" fmla="*/ 1973657 w 2996198"/>
              <a:gd name="connsiteY1" fmla="*/ 1452897 h 2461046"/>
              <a:gd name="connsiteX2" fmla="*/ 1516457 w 2996198"/>
              <a:gd name="connsiteY2" fmla="*/ 17 h 2461046"/>
              <a:gd name="connsiteX3" fmla="*/ 2996198 w 2996198"/>
              <a:gd name="connsiteY3" fmla="*/ 2122995 h 2461046"/>
              <a:gd name="connsiteX0" fmla="*/ 9919 w 2986799"/>
              <a:gd name="connsiteY0" fmla="*/ 2461046 h 2461046"/>
              <a:gd name="connsiteX1" fmla="*/ 1964258 w 2986799"/>
              <a:gd name="connsiteY1" fmla="*/ 1452897 h 2461046"/>
              <a:gd name="connsiteX2" fmla="*/ 1507058 w 2986799"/>
              <a:gd name="connsiteY2" fmla="*/ 17 h 2461046"/>
              <a:gd name="connsiteX3" fmla="*/ 2986799 w 2986799"/>
              <a:gd name="connsiteY3" fmla="*/ 2122995 h 2461046"/>
              <a:gd name="connsiteX0" fmla="*/ 1296 w 2978176"/>
              <a:gd name="connsiteY0" fmla="*/ 2461046 h 2461046"/>
              <a:gd name="connsiteX1" fmla="*/ 1955635 w 2978176"/>
              <a:gd name="connsiteY1" fmla="*/ 1452897 h 2461046"/>
              <a:gd name="connsiteX2" fmla="*/ 1498435 w 2978176"/>
              <a:gd name="connsiteY2" fmla="*/ 17 h 2461046"/>
              <a:gd name="connsiteX3" fmla="*/ 2978176 w 2978176"/>
              <a:gd name="connsiteY3" fmla="*/ 2122995 h 2461046"/>
              <a:gd name="connsiteX0" fmla="*/ 1296 w 2978176"/>
              <a:gd name="connsiteY0" fmla="*/ 2461046 h 2461046"/>
              <a:gd name="connsiteX1" fmla="*/ 1955635 w 2978176"/>
              <a:gd name="connsiteY1" fmla="*/ 1452897 h 2461046"/>
              <a:gd name="connsiteX2" fmla="*/ 1498435 w 2978176"/>
              <a:gd name="connsiteY2" fmla="*/ 17 h 2461046"/>
              <a:gd name="connsiteX3" fmla="*/ 2978176 w 2978176"/>
              <a:gd name="connsiteY3" fmla="*/ 2122995 h 2461046"/>
              <a:gd name="connsiteX0" fmla="*/ 1296 w 1991758"/>
              <a:gd name="connsiteY0" fmla="*/ 3098829 h 3098829"/>
              <a:gd name="connsiteX1" fmla="*/ 1955635 w 1991758"/>
              <a:gd name="connsiteY1" fmla="*/ 2090680 h 3098829"/>
              <a:gd name="connsiteX2" fmla="*/ 1498435 w 1991758"/>
              <a:gd name="connsiteY2" fmla="*/ 637800 h 3098829"/>
              <a:gd name="connsiteX3" fmla="*/ 1928309 w 1991758"/>
              <a:gd name="connsiteY3" fmla="*/ 347778 h 3098829"/>
              <a:gd name="connsiteX0" fmla="*/ 1296 w 2283909"/>
              <a:gd name="connsiteY0" fmla="*/ 2463430 h 2463430"/>
              <a:gd name="connsiteX1" fmla="*/ 1955635 w 2283909"/>
              <a:gd name="connsiteY1" fmla="*/ 1455281 h 2463430"/>
              <a:gd name="connsiteX2" fmla="*/ 1498435 w 2283909"/>
              <a:gd name="connsiteY2" fmla="*/ 2401 h 2463430"/>
              <a:gd name="connsiteX3" fmla="*/ 2283909 w 2283909"/>
              <a:gd name="connsiteY3" fmla="*/ 863845 h 2463430"/>
              <a:gd name="connsiteX0" fmla="*/ 1296 w 2411641"/>
              <a:gd name="connsiteY0" fmla="*/ 2461052 h 2461052"/>
              <a:gd name="connsiteX1" fmla="*/ 1955635 w 2411641"/>
              <a:gd name="connsiteY1" fmla="*/ 1452903 h 2461052"/>
              <a:gd name="connsiteX2" fmla="*/ 1498435 w 2411641"/>
              <a:gd name="connsiteY2" fmla="*/ 23 h 2461052"/>
              <a:gd name="connsiteX3" fmla="*/ 2283909 w 2411641"/>
              <a:gd name="connsiteY3" fmla="*/ 861467 h 2461052"/>
              <a:gd name="connsiteX0" fmla="*/ 1403 w 2531490"/>
              <a:gd name="connsiteY0" fmla="*/ 1599585 h 1599585"/>
              <a:gd name="connsiteX1" fmla="*/ 1955742 w 2531490"/>
              <a:gd name="connsiteY1" fmla="*/ 591436 h 1599585"/>
              <a:gd name="connsiteX2" fmla="*/ 2201275 w 2531490"/>
              <a:gd name="connsiteY2" fmla="*/ 781090 h 1599585"/>
              <a:gd name="connsiteX3" fmla="*/ 2284016 w 2531490"/>
              <a:gd name="connsiteY3" fmla="*/ 0 h 1599585"/>
              <a:gd name="connsiteX0" fmla="*/ 1672 w 2531759"/>
              <a:gd name="connsiteY0" fmla="*/ 1599585 h 1599585"/>
              <a:gd name="connsiteX1" fmla="*/ 1685077 w 2531759"/>
              <a:gd name="connsiteY1" fmla="*/ 1243369 h 1599585"/>
              <a:gd name="connsiteX2" fmla="*/ 2201544 w 2531759"/>
              <a:gd name="connsiteY2" fmla="*/ 781090 h 1599585"/>
              <a:gd name="connsiteX3" fmla="*/ 2284285 w 2531759"/>
              <a:gd name="connsiteY3" fmla="*/ 0 h 1599585"/>
              <a:gd name="connsiteX0" fmla="*/ 0 w 2530087"/>
              <a:gd name="connsiteY0" fmla="*/ 1599585 h 1599585"/>
              <a:gd name="connsiteX1" fmla="*/ 2199872 w 2530087"/>
              <a:gd name="connsiteY1" fmla="*/ 781090 h 1599585"/>
              <a:gd name="connsiteX2" fmla="*/ 2282613 w 2530087"/>
              <a:gd name="connsiteY2" fmla="*/ 0 h 1599585"/>
              <a:gd name="connsiteX0" fmla="*/ 0 w 1285487"/>
              <a:gd name="connsiteY0" fmla="*/ 1963652 h 1963652"/>
              <a:gd name="connsiteX1" fmla="*/ 955272 w 1285487"/>
              <a:gd name="connsiteY1" fmla="*/ 781090 h 1963652"/>
              <a:gd name="connsiteX2" fmla="*/ 1038013 w 1285487"/>
              <a:gd name="connsiteY2" fmla="*/ 0 h 1963652"/>
              <a:gd name="connsiteX0" fmla="*/ 3744 w 1289231"/>
              <a:gd name="connsiteY0" fmla="*/ 1963652 h 1963652"/>
              <a:gd name="connsiteX1" fmla="*/ 959016 w 1289231"/>
              <a:gd name="connsiteY1" fmla="*/ 781090 h 1963652"/>
              <a:gd name="connsiteX2" fmla="*/ 1041757 w 1289231"/>
              <a:gd name="connsiteY2" fmla="*/ 0 h 1963652"/>
              <a:gd name="connsiteX0" fmla="*/ 3062 w 1288549"/>
              <a:gd name="connsiteY0" fmla="*/ 1963652 h 1963652"/>
              <a:gd name="connsiteX1" fmla="*/ 958334 w 1288549"/>
              <a:gd name="connsiteY1" fmla="*/ 781090 h 1963652"/>
              <a:gd name="connsiteX2" fmla="*/ 1041075 w 1288549"/>
              <a:gd name="connsiteY2" fmla="*/ 0 h 1963652"/>
              <a:gd name="connsiteX0" fmla="*/ 4773 w 1384524"/>
              <a:gd name="connsiteY0" fmla="*/ 1963652 h 1963652"/>
              <a:gd name="connsiteX1" fmla="*/ 960045 w 1384524"/>
              <a:gd name="connsiteY1" fmla="*/ 781090 h 1963652"/>
              <a:gd name="connsiteX2" fmla="*/ 1042786 w 1384524"/>
              <a:gd name="connsiteY2" fmla="*/ 0 h 1963652"/>
              <a:gd name="connsiteX0" fmla="*/ 4128 w 1425071"/>
              <a:gd name="connsiteY0" fmla="*/ 1963652 h 1963652"/>
              <a:gd name="connsiteX1" fmla="*/ 1044067 w 1425071"/>
              <a:gd name="connsiteY1" fmla="*/ 518623 h 1963652"/>
              <a:gd name="connsiteX2" fmla="*/ 1042141 w 1425071"/>
              <a:gd name="connsiteY2" fmla="*/ 0 h 1963652"/>
              <a:gd name="connsiteX0" fmla="*/ 4302 w 1412333"/>
              <a:gd name="connsiteY0" fmla="*/ 1963652 h 1963652"/>
              <a:gd name="connsiteX1" fmla="*/ 1018841 w 1412333"/>
              <a:gd name="connsiteY1" fmla="*/ 459356 h 1963652"/>
              <a:gd name="connsiteX2" fmla="*/ 1042315 w 1412333"/>
              <a:gd name="connsiteY2" fmla="*/ 0 h 1963652"/>
              <a:gd name="connsiteX0" fmla="*/ 0 w 1038013"/>
              <a:gd name="connsiteY0" fmla="*/ 1963652 h 1963652"/>
              <a:gd name="connsiteX1" fmla="*/ 1038013 w 1038013"/>
              <a:gd name="connsiteY1" fmla="*/ 0 h 1963652"/>
              <a:gd name="connsiteX0" fmla="*/ 0 w 1408921"/>
              <a:gd name="connsiteY0" fmla="*/ 1971255 h 1971255"/>
              <a:gd name="connsiteX1" fmla="*/ 1038013 w 1408921"/>
              <a:gd name="connsiteY1" fmla="*/ 7603 h 1971255"/>
              <a:gd name="connsiteX0" fmla="*/ 8068 w 1361964"/>
              <a:gd name="connsiteY0" fmla="*/ 1981538 h 1981538"/>
              <a:gd name="connsiteX1" fmla="*/ 1046081 w 1361964"/>
              <a:gd name="connsiteY1" fmla="*/ 17886 h 1981538"/>
              <a:gd name="connsiteX0" fmla="*/ 630 w 1366022"/>
              <a:gd name="connsiteY0" fmla="*/ 1978852 h 1978852"/>
              <a:gd name="connsiteX1" fmla="*/ 1038643 w 1366022"/>
              <a:gd name="connsiteY1" fmla="*/ 15200 h 1978852"/>
              <a:gd name="connsiteX0" fmla="*/ 694 w 1285452"/>
              <a:gd name="connsiteY0" fmla="*/ 1963652 h 1963652"/>
              <a:gd name="connsiteX1" fmla="*/ 1038707 w 1285452"/>
              <a:gd name="connsiteY1" fmla="*/ 0 h 1963652"/>
              <a:gd name="connsiteX0" fmla="*/ 0 w 1289786"/>
              <a:gd name="connsiteY0" fmla="*/ 1963652 h 1963652"/>
              <a:gd name="connsiteX1" fmla="*/ 1038013 w 1289786"/>
              <a:gd name="connsiteY1" fmla="*/ 0 h 1963652"/>
              <a:gd name="connsiteX0" fmla="*/ 0 w 1289786"/>
              <a:gd name="connsiteY0" fmla="*/ 1963652 h 1963652"/>
              <a:gd name="connsiteX1" fmla="*/ 1038013 w 1289786"/>
              <a:gd name="connsiteY1" fmla="*/ 0 h 1963652"/>
            </a:gdLst>
            <a:ahLst/>
            <a:cxnLst>
              <a:cxn ang="0">
                <a:pos x="connsiteX0" y="connsiteY0"/>
              </a:cxn>
              <a:cxn ang="0">
                <a:pos x="connsiteX1" y="connsiteY1"/>
              </a:cxn>
            </a:cxnLst>
            <a:rect l="l" t="t" r="r" b="b"/>
            <a:pathLst>
              <a:path w="1289786" h="1963652">
                <a:moveTo>
                  <a:pt x="0" y="1963652"/>
                </a:moveTo>
                <a:cubicBezTo>
                  <a:pt x="13688" y="517044"/>
                  <a:pt x="1970476" y="197351"/>
                  <a:pt x="1038013" y="0"/>
                </a:cubicBezTo>
              </a:path>
            </a:pathLst>
          </a:custGeom>
          <a:noFill/>
          <a:ln w="1301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任意多边形 49"/>
          <p:cNvSpPr/>
          <p:nvPr/>
        </p:nvSpPr>
        <p:spPr bwMode="gray">
          <a:xfrm flipH="1">
            <a:off x="2362397" y="2901240"/>
            <a:ext cx="1471085" cy="2332459"/>
          </a:xfrm>
          <a:custGeom>
            <a:avLst/>
            <a:gdLst>
              <a:gd name="connsiteX0" fmla="*/ 259342 w 1053669"/>
              <a:gd name="connsiteY0" fmla="*/ 1976582 h 1976582"/>
              <a:gd name="connsiteX1" fmla="*/ 46906 w 1053669"/>
              <a:gd name="connsiteY1" fmla="*/ 905164 h 1976582"/>
              <a:gd name="connsiteX2" fmla="*/ 1053669 w 1053669"/>
              <a:gd name="connsiteY2" fmla="*/ 0 h 1976582"/>
              <a:gd name="connsiteX0" fmla="*/ 0 w 794327"/>
              <a:gd name="connsiteY0" fmla="*/ 1976582 h 1976582"/>
              <a:gd name="connsiteX1" fmla="*/ 794327 w 794327"/>
              <a:gd name="connsiteY1" fmla="*/ 0 h 1976582"/>
              <a:gd name="connsiteX0" fmla="*/ 0 w 794327"/>
              <a:gd name="connsiteY0" fmla="*/ 1930400 h 1930400"/>
              <a:gd name="connsiteX1" fmla="*/ 794327 w 794327"/>
              <a:gd name="connsiteY1" fmla="*/ 0 h 1930400"/>
              <a:gd name="connsiteX0" fmla="*/ 0 w 1366982"/>
              <a:gd name="connsiteY0" fmla="*/ 1985818 h 1985818"/>
              <a:gd name="connsiteX1" fmla="*/ 1366982 w 1366982"/>
              <a:gd name="connsiteY1" fmla="*/ 0 h 1985818"/>
              <a:gd name="connsiteX0" fmla="*/ 0 w 1366982"/>
              <a:gd name="connsiteY0" fmla="*/ 1985818 h 1985818"/>
              <a:gd name="connsiteX1" fmla="*/ 1366982 w 1366982"/>
              <a:gd name="connsiteY1" fmla="*/ 0 h 1985818"/>
              <a:gd name="connsiteX0" fmla="*/ 0 w 1283855"/>
              <a:gd name="connsiteY0" fmla="*/ 1976582 h 1976582"/>
              <a:gd name="connsiteX1" fmla="*/ 1283855 w 1283855"/>
              <a:gd name="connsiteY1" fmla="*/ 0 h 1976582"/>
              <a:gd name="connsiteX0" fmla="*/ 0 w 1283855"/>
              <a:gd name="connsiteY0" fmla="*/ 1976582 h 1976582"/>
              <a:gd name="connsiteX1" fmla="*/ 1283855 w 1283855"/>
              <a:gd name="connsiteY1" fmla="*/ 0 h 1976582"/>
              <a:gd name="connsiteX0" fmla="*/ 0 w 1283855"/>
              <a:gd name="connsiteY0" fmla="*/ 1976582 h 1976582"/>
              <a:gd name="connsiteX1" fmla="*/ 1283855 w 1283855"/>
              <a:gd name="connsiteY1" fmla="*/ 0 h 1976582"/>
              <a:gd name="connsiteX0" fmla="*/ 0 w 1283855"/>
              <a:gd name="connsiteY0" fmla="*/ 1976582 h 1976582"/>
              <a:gd name="connsiteX1" fmla="*/ 1283855 w 1283855"/>
              <a:gd name="connsiteY1" fmla="*/ 0 h 1976582"/>
              <a:gd name="connsiteX0" fmla="*/ 0 w 1764204"/>
              <a:gd name="connsiteY0" fmla="*/ 1976582 h 1976582"/>
              <a:gd name="connsiteX1" fmla="*/ 1283855 w 1764204"/>
              <a:gd name="connsiteY1" fmla="*/ 0 h 1976582"/>
              <a:gd name="connsiteX0" fmla="*/ 0 w 1792460"/>
              <a:gd name="connsiteY0" fmla="*/ 2105891 h 2105891"/>
              <a:gd name="connsiteX1" fmla="*/ 1320800 w 1792460"/>
              <a:gd name="connsiteY1" fmla="*/ 0 h 2105891"/>
              <a:gd name="connsiteX0" fmla="*/ 0 w 1801873"/>
              <a:gd name="connsiteY0" fmla="*/ 2105891 h 2105891"/>
              <a:gd name="connsiteX1" fmla="*/ 1320800 w 1801873"/>
              <a:gd name="connsiteY1" fmla="*/ 0 h 2105891"/>
              <a:gd name="connsiteX0" fmla="*/ 0 w 1758811"/>
              <a:gd name="connsiteY0" fmla="*/ 2105891 h 2105891"/>
              <a:gd name="connsiteX1" fmla="*/ 1320800 w 1758811"/>
              <a:gd name="connsiteY1" fmla="*/ 0 h 2105891"/>
              <a:gd name="connsiteX0" fmla="*/ 0 w 1767346"/>
              <a:gd name="connsiteY0" fmla="*/ 2105891 h 2105891"/>
              <a:gd name="connsiteX1" fmla="*/ 1320800 w 1767346"/>
              <a:gd name="connsiteY1" fmla="*/ 0 h 2105891"/>
              <a:gd name="connsiteX0" fmla="*/ 0 w 1767346"/>
              <a:gd name="connsiteY0" fmla="*/ 2105891 h 2105891"/>
              <a:gd name="connsiteX1" fmla="*/ 1320800 w 1767346"/>
              <a:gd name="connsiteY1" fmla="*/ 0 h 2105891"/>
              <a:gd name="connsiteX0" fmla="*/ 0 w 1767346"/>
              <a:gd name="connsiteY0" fmla="*/ 2105891 h 2105891"/>
              <a:gd name="connsiteX1" fmla="*/ 1320800 w 1767346"/>
              <a:gd name="connsiteY1" fmla="*/ 0 h 2105891"/>
              <a:gd name="connsiteX0" fmla="*/ 0 w 1815586"/>
              <a:gd name="connsiteY0" fmla="*/ 2243051 h 2243051"/>
              <a:gd name="connsiteX1" fmla="*/ 1381760 w 1815586"/>
              <a:gd name="connsiteY1" fmla="*/ 0 h 2243051"/>
              <a:gd name="connsiteX0" fmla="*/ 0 w 1754434"/>
              <a:gd name="connsiteY0" fmla="*/ 2243051 h 2243051"/>
              <a:gd name="connsiteX1" fmla="*/ 1227899 w 1754434"/>
              <a:gd name="connsiteY1" fmla="*/ 411942 h 2243051"/>
              <a:gd name="connsiteX2" fmla="*/ 1381760 w 1754434"/>
              <a:gd name="connsiteY2" fmla="*/ 0 h 2243051"/>
              <a:gd name="connsiteX0" fmla="*/ 0 w 2867779"/>
              <a:gd name="connsiteY0" fmla="*/ 1831109 h 1831109"/>
              <a:gd name="connsiteX1" fmla="*/ 1227899 w 2867779"/>
              <a:gd name="connsiteY1" fmla="*/ 0 h 1831109"/>
              <a:gd name="connsiteX2" fmla="*/ 2631440 w 2867779"/>
              <a:gd name="connsiteY2" fmla="*/ 609138 h 1831109"/>
              <a:gd name="connsiteX0" fmla="*/ 0 w 2631440"/>
              <a:gd name="connsiteY0" fmla="*/ 1831109 h 1831109"/>
              <a:gd name="connsiteX1" fmla="*/ 1227899 w 2631440"/>
              <a:gd name="connsiteY1" fmla="*/ 0 h 1831109"/>
              <a:gd name="connsiteX2" fmla="*/ 2631440 w 2631440"/>
              <a:gd name="connsiteY2" fmla="*/ 609138 h 1831109"/>
              <a:gd name="connsiteX0" fmla="*/ 0 w 2717800"/>
              <a:gd name="connsiteY0" fmla="*/ 1831109 h 1831109"/>
              <a:gd name="connsiteX1" fmla="*/ 1227899 w 2717800"/>
              <a:gd name="connsiteY1" fmla="*/ 0 h 1831109"/>
              <a:gd name="connsiteX2" fmla="*/ 2717800 w 2717800"/>
              <a:gd name="connsiteY2" fmla="*/ 1741978 h 1831109"/>
              <a:gd name="connsiteX0" fmla="*/ 0 w 2717800"/>
              <a:gd name="connsiteY0" fmla="*/ 2116332 h 2116332"/>
              <a:gd name="connsiteX1" fmla="*/ 1227899 w 2717800"/>
              <a:gd name="connsiteY1" fmla="*/ 285223 h 2116332"/>
              <a:gd name="connsiteX2" fmla="*/ 2717800 w 2717800"/>
              <a:gd name="connsiteY2" fmla="*/ 2027201 h 2116332"/>
              <a:gd name="connsiteX0" fmla="*/ 0 w 2717800"/>
              <a:gd name="connsiteY0" fmla="*/ 2224152 h 2224152"/>
              <a:gd name="connsiteX1" fmla="*/ 1451419 w 2717800"/>
              <a:gd name="connsiteY1" fmla="*/ 276203 h 2224152"/>
              <a:gd name="connsiteX2" fmla="*/ 2717800 w 2717800"/>
              <a:gd name="connsiteY2" fmla="*/ 2135021 h 2224152"/>
              <a:gd name="connsiteX0" fmla="*/ 0 w 2717800"/>
              <a:gd name="connsiteY0" fmla="*/ 2197881 h 2197881"/>
              <a:gd name="connsiteX1" fmla="*/ 1451419 w 2717800"/>
              <a:gd name="connsiteY1" fmla="*/ 249932 h 2197881"/>
              <a:gd name="connsiteX2" fmla="*/ 2717800 w 2717800"/>
              <a:gd name="connsiteY2" fmla="*/ 2108750 h 2197881"/>
              <a:gd name="connsiteX0" fmla="*/ 0 w 2829560"/>
              <a:gd name="connsiteY0" fmla="*/ 1948036 h 1948036"/>
              <a:gd name="connsiteX1" fmla="*/ 1451419 w 2829560"/>
              <a:gd name="connsiteY1" fmla="*/ 87 h 1948036"/>
              <a:gd name="connsiteX2" fmla="*/ 2829560 w 2829560"/>
              <a:gd name="connsiteY2" fmla="*/ 1879225 h 1948036"/>
              <a:gd name="connsiteX0" fmla="*/ 0 w 2829560"/>
              <a:gd name="connsiteY0" fmla="*/ 1948050 h 1948050"/>
              <a:gd name="connsiteX1" fmla="*/ 1451419 w 2829560"/>
              <a:gd name="connsiteY1" fmla="*/ 101 h 1948050"/>
              <a:gd name="connsiteX2" fmla="*/ 2829560 w 2829560"/>
              <a:gd name="connsiteY2" fmla="*/ 1879239 h 1948050"/>
              <a:gd name="connsiteX0" fmla="*/ 0 w 2829560"/>
              <a:gd name="connsiteY0" fmla="*/ 2191869 h 2191869"/>
              <a:gd name="connsiteX1" fmla="*/ 1349819 w 2829560"/>
              <a:gd name="connsiteY1" fmla="*/ 80 h 2191869"/>
              <a:gd name="connsiteX2" fmla="*/ 2829560 w 2829560"/>
              <a:gd name="connsiteY2" fmla="*/ 2123058 h 2191869"/>
              <a:gd name="connsiteX0" fmla="*/ 0 w 2829560"/>
              <a:gd name="connsiteY0" fmla="*/ 2199100 h 2199100"/>
              <a:gd name="connsiteX1" fmla="*/ 1807019 w 2829560"/>
              <a:gd name="connsiteY1" fmla="*/ 1460191 h 2199100"/>
              <a:gd name="connsiteX2" fmla="*/ 1349819 w 2829560"/>
              <a:gd name="connsiteY2" fmla="*/ 7311 h 2199100"/>
              <a:gd name="connsiteX3" fmla="*/ 2829560 w 2829560"/>
              <a:gd name="connsiteY3" fmla="*/ 2130289 h 2199100"/>
              <a:gd name="connsiteX0" fmla="*/ 0 w 2829560"/>
              <a:gd name="connsiteY0" fmla="*/ 2191806 h 2191806"/>
              <a:gd name="connsiteX1" fmla="*/ 1807019 w 2829560"/>
              <a:gd name="connsiteY1" fmla="*/ 1452897 h 2191806"/>
              <a:gd name="connsiteX2" fmla="*/ 1349819 w 2829560"/>
              <a:gd name="connsiteY2" fmla="*/ 17 h 2191806"/>
              <a:gd name="connsiteX3" fmla="*/ 2829560 w 2829560"/>
              <a:gd name="connsiteY3" fmla="*/ 2122995 h 2191806"/>
              <a:gd name="connsiteX0" fmla="*/ 0 w 2900680"/>
              <a:gd name="connsiteY0" fmla="*/ 2212126 h 2212126"/>
              <a:gd name="connsiteX1" fmla="*/ 1878139 w 2900680"/>
              <a:gd name="connsiteY1" fmla="*/ 1452897 h 2212126"/>
              <a:gd name="connsiteX2" fmla="*/ 1420939 w 2900680"/>
              <a:gd name="connsiteY2" fmla="*/ 17 h 2212126"/>
              <a:gd name="connsiteX3" fmla="*/ 2900680 w 2900680"/>
              <a:gd name="connsiteY3" fmla="*/ 2122995 h 2212126"/>
              <a:gd name="connsiteX0" fmla="*/ 0 w 2976880"/>
              <a:gd name="connsiteY0" fmla="*/ 2461046 h 2461046"/>
              <a:gd name="connsiteX1" fmla="*/ 1954339 w 2976880"/>
              <a:gd name="connsiteY1" fmla="*/ 1452897 h 2461046"/>
              <a:gd name="connsiteX2" fmla="*/ 1497139 w 2976880"/>
              <a:gd name="connsiteY2" fmla="*/ 17 h 2461046"/>
              <a:gd name="connsiteX3" fmla="*/ 2976880 w 2976880"/>
              <a:gd name="connsiteY3" fmla="*/ 2122995 h 2461046"/>
              <a:gd name="connsiteX0" fmla="*/ 19318 w 2996198"/>
              <a:gd name="connsiteY0" fmla="*/ 2461046 h 2461046"/>
              <a:gd name="connsiteX1" fmla="*/ 1973657 w 2996198"/>
              <a:gd name="connsiteY1" fmla="*/ 1452897 h 2461046"/>
              <a:gd name="connsiteX2" fmla="*/ 1516457 w 2996198"/>
              <a:gd name="connsiteY2" fmla="*/ 17 h 2461046"/>
              <a:gd name="connsiteX3" fmla="*/ 2996198 w 2996198"/>
              <a:gd name="connsiteY3" fmla="*/ 2122995 h 2461046"/>
              <a:gd name="connsiteX0" fmla="*/ 9919 w 2986799"/>
              <a:gd name="connsiteY0" fmla="*/ 2461046 h 2461046"/>
              <a:gd name="connsiteX1" fmla="*/ 1964258 w 2986799"/>
              <a:gd name="connsiteY1" fmla="*/ 1452897 h 2461046"/>
              <a:gd name="connsiteX2" fmla="*/ 1507058 w 2986799"/>
              <a:gd name="connsiteY2" fmla="*/ 17 h 2461046"/>
              <a:gd name="connsiteX3" fmla="*/ 2986799 w 2986799"/>
              <a:gd name="connsiteY3" fmla="*/ 2122995 h 2461046"/>
              <a:gd name="connsiteX0" fmla="*/ 1296 w 2978176"/>
              <a:gd name="connsiteY0" fmla="*/ 2461046 h 2461046"/>
              <a:gd name="connsiteX1" fmla="*/ 1955635 w 2978176"/>
              <a:gd name="connsiteY1" fmla="*/ 1452897 h 2461046"/>
              <a:gd name="connsiteX2" fmla="*/ 1498435 w 2978176"/>
              <a:gd name="connsiteY2" fmla="*/ 17 h 2461046"/>
              <a:gd name="connsiteX3" fmla="*/ 2978176 w 2978176"/>
              <a:gd name="connsiteY3" fmla="*/ 2122995 h 2461046"/>
              <a:gd name="connsiteX0" fmla="*/ 1296 w 2978176"/>
              <a:gd name="connsiteY0" fmla="*/ 2461046 h 2461046"/>
              <a:gd name="connsiteX1" fmla="*/ 1955635 w 2978176"/>
              <a:gd name="connsiteY1" fmla="*/ 1452897 h 2461046"/>
              <a:gd name="connsiteX2" fmla="*/ 1498435 w 2978176"/>
              <a:gd name="connsiteY2" fmla="*/ 17 h 2461046"/>
              <a:gd name="connsiteX3" fmla="*/ 2978176 w 2978176"/>
              <a:gd name="connsiteY3" fmla="*/ 2122995 h 2461046"/>
              <a:gd name="connsiteX0" fmla="*/ 1296 w 3077236"/>
              <a:gd name="connsiteY0" fmla="*/ 2479916 h 2602875"/>
              <a:gd name="connsiteX1" fmla="*/ 1955635 w 3077236"/>
              <a:gd name="connsiteY1" fmla="*/ 1471767 h 2602875"/>
              <a:gd name="connsiteX2" fmla="*/ 1498435 w 3077236"/>
              <a:gd name="connsiteY2" fmla="*/ 18887 h 2602875"/>
              <a:gd name="connsiteX3" fmla="*/ 3077236 w 3077236"/>
              <a:gd name="connsiteY3" fmla="*/ 2602875 h 2602875"/>
              <a:gd name="connsiteX0" fmla="*/ 1296 w 3138196"/>
              <a:gd name="connsiteY0" fmla="*/ 2484499 h 2756048"/>
              <a:gd name="connsiteX1" fmla="*/ 1955635 w 3138196"/>
              <a:gd name="connsiteY1" fmla="*/ 1476350 h 2756048"/>
              <a:gd name="connsiteX2" fmla="*/ 1498435 w 3138196"/>
              <a:gd name="connsiteY2" fmla="*/ 23470 h 2756048"/>
              <a:gd name="connsiteX3" fmla="*/ 3138196 w 3138196"/>
              <a:gd name="connsiteY3" fmla="*/ 2756048 h 2756048"/>
              <a:gd name="connsiteX0" fmla="*/ 1296 w 3138196"/>
              <a:gd name="connsiteY0" fmla="*/ 2484499 h 2756048"/>
              <a:gd name="connsiteX1" fmla="*/ 1955635 w 3138196"/>
              <a:gd name="connsiteY1" fmla="*/ 1476350 h 2756048"/>
              <a:gd name="connsiteX2" fmla="*/ 1498435 w 3138196"/>
              <a:gd name="connsiteY2" fmla="*/ 23470 h 2756048"/>
              <a:gd name="connsiteX3" fmla="*/ 3138196 w 3138196"/>
              <a:gd name="connsiteY3" fmla="*/ 2756048 h 2756048"/>
              <a:gd name="connsiteX0" fmla="*/ 1296 w 3138196"/>
              <a:gd name="connsiteY0" fmla="*/ 2471148 h 2742697"/>
              <a:gd name="connsiteX1" fmla="*/ 1955635 w 3138196"/>
              <a:gd name="connsiteY1" fmla="*/ 1462999 h 2742697"/>
              <a:gd name="connsiteX2" fmla="*/ 1498435 w 3138196"/>
              <a:gd name="connsiteY2" fmla="*/ 10119 h 2742697"/>
              <a:gd name="connsiteX3" fmla="*/ 3138196 w 3138196"/>
              <a:gd name="connsiteY3" fmla="*/ 2742697 h 2742697"/>
              <a:gd name="connsiteX0" fmla="*/ 1237 w 3223481"/>
              <a:gd name="connsiteY0" fmla="*/ 2916156 h 2916156"/>
              <a:gd name="connsiteX1" fmla="*/ 2040920 w 3223481"/>
              <a:gd name="connsiteY1" fmla="*/ 1462999 h 2916156"/>
              <a:gd name="connsiteX2" fmla="*/ 1583720 w 3223481"/>
              <a:gd name="connsiteY2" fmla="*/ 10119 h 2916156"/>
              <a:gd name="connsiteX3" fmla="*/ 3223481 w 3223481"/>
              <a:gd name="connsiteY3" fmla="*/ 2742697 h 2916156"/>
              <a:gd name="connsiteX0" fmla="*/ 4142 w 3226386"/>
              <a:gd name="connsiteY0" fmla="*/ 2916156 h 2916156"/>
              <a:gd name="connsiteX1" fmla="*/ 2043825 w 3226386"/>
              <a:gd name="connsiteY1" fmla="*/ 1462999 h 2916156"/>
              <a:gd name="connsiteX2" fmla="*/ 1586625 w 3226386"/>
              <a:gd name="connsiteY2" fmla="*/ 10119 h 2916156"/>
              <a:gd name="connsiteX3" fmla="*/ 3226386 w 3226386"/>
              <a:gd name="connsiteY3" fmla="*/ 2742697 h 2916156"/>
              <a:gd name="connsiteX0" fmla="*/ 28030 w 3250274"/>
              <a:gd name="connsiteY0" fmla="*/ 2916156 h 2916156"/>
              <a:gd name="connsiteX1" fmla="*/ 2067713 w 3250274"/>
              <a:gd name="connsiteY1" fmla="*/ 1462999 h 2916156"/>
              <a:gd name="connsiteX2" fmla="*/ 1610513 w 3250274"/>
              <a:gd name="connsiteY2" fmla="*/ 10119 h 2916156"/>
              <a:gd name="connsiteX3" fmla="*/ 3250274 w 3250274"/>
              <a:gd name="connsiteY3" fmla="*/ 2742697 h 2916156"/>
              <a:gd name="connsiteX0" fmla="*/ 28030 w 3275674"/>
              <a:gd name="connsiteY0" fmla="*/ 2929507 h 2929507"/>
              <a:gd name="connsiteX1" fmla="*/ 2067713 w 3275674"/>
              <a:gd name="connsiteY1" fmla="*/ 1476350 h 2929507"/>
              <a:gd name="connsiteX2" fmla="*/ 1610513 w 3275674"/>
              <a:gd name="connsiteY2" fmla="*/ 23470 h 2929507"/>
              <a:gd name="connsiteX3" fmla="*/ 3275674 w 3275674"/>
              <a:gd name="connsiteY3" fmla="*/ 2756048 h 2929507"/>
              <a:gd name="connsiteX0" fmla="*/ 28030 w 3275674"/>
              <a:gd name="connsiteY0" fmla="*/ 2918167 h 2918167"/>
              <a:gd name="connsiteX1" fmla="*/ 2067713 w 3275674"/>
              <a:gd name="connsiteY1" fmla="*/ 1465010 h 2918167"/>
              <a:gd name="connsiteX2" fmla="*/ 1610513 w 3275674"/>
              <a:gd name="connsiteY2" fmla="*/ 12130 h 2918167"/>
              <a:gd name="connsiteX3" fmla="*/ 3275674 w 3275674"/>
              <a:gd name="connsiteY3" fmla="*/ 2744708 h 2918167"/>
              <a:gd name="connsiteX0" fmla="*/ 28030 w 3275674"/>
              <a:gd name="connsiteY0" fmla="*/ 2934578 h 2934578"/>
              <a:gd name="connsiteX1" fmla="*/ 2067713 w 3275674"/>
              <a:gd name="connsiteY1" fmla="*/ 1481421 h 2934578"/>
              <a:gd name="connsiteX2" fmla="*/ 1610513 w 3275674"/>
              <a:gd name="connsiteY2" fmla="*/ 28541 h 2934578"/>
              <a:gd name="connsiteX3" fmla="*/ 3275674 w 3275674"/>
              <a:gd name="connsiteY3" fmla="*/ 2761119 h 2934578"/>
              <a:gd name="connsiteX0" fmla="*/ 28030 w 3275674"/>
              <a:gd name="connsiteY0" fmla="*/ 2943391 h 2943391"/>
              <a:gd name="connsiteX1" fmla="*/ 2067713 w 3275674"/>
              <a:gd name="connsiteY1" fmla="*/ 1490234 h 2943391"/>
              <a:gd name="connsiteX2" fmla="*/ 1610513 w 3275674"/>
              <a:gd name="connsiteY2" fmla="*/ 37354 h 2943391"/>
              <a:gd name="connsiteX3" fmla="*/ 3275674 w 3275674"/>
              <a:gd name="connsiteY3" fmla="*/ 2769932 h 2943391"/>
              <a:gd name="connsiteX0" fmla="*/ 28030 w 3275674"/>
              <a:gd name="connsiteY0" fmla="*/ 2993028 h 2993028"/>
              <a:gd name="connsiteX1" fmla="*/ 2067713 w 3275674"/>
              <a:gd name="connsiteY1" fmla="*/ 1539871 h 2993028"/>
              <a:gd name="connsiteX2" fmla="*/ 1580033 w 3275674"/>
              <a:gd name="connsiteY2" fmla="*/ 36191 h 2993028"/>
              <a:gd name="connsiteX3" fmla="*/ 3275674 w 3275674"/>
              <a:gd name="connsiteY3" fmla="*/ 2819569 h 2993028"/>
              <a:gd name="connsiteX0" fmla="*/ 28030 w 3275674"/>
              <a:gd name="connsiteY0" fmla="*/ 2987571 h 2987571"/>
              <a:gd name="connsiteX1" fmla="*/ 2067713 w 3275674"/>
              <a:gd name="connsiteY1" fmla="*/ 1534414 h 2987571"/>
              <a:gd name="connsiteX2" fmla="*/ 1580033 w 3275674"/>
              <a:gd name="connsiteY2" fmla="*/ 30734 h 2987571"/>
              <a:gd name="connsiteX3" fmla="*/ 3275674 w 3275674"/>
              <a:gd name="connsiteY3" fmla="*/ 2814112 h 2987571"/>
              <a:gd name="connsiteX0" fmla="*/ 28030 w 3306154"/>
              <a:gd name="connsiteY0" fmla="*/ 2979522 h 2979522"/>
              <a:gd name="connsiteX1" fmla="*/ 2067713 w 3306154"/>
              <a:gd name="connsiteY1" fmla="*/ 1526365 h 2979522"/>
              <a:gd name="connsiteX2" fmla="*/ 1580033 w 3306154"/>
              <a:gd name="connsiteY2" fmla="*/ 22685 h 2979522"/>
              <a:gd name="connsiteX3" fmla="*/ 3306154 w 3306154"/>
              <a:gd name="connsiteY3" fmla="*/ 2806063 h 2979522"/>
              <a:gd name="connsiteX0" fmla="*/ 28030 w 3306154"/>
              <a:gd name="connsiteY0" fmla="*/ 2979522 h 2979522"/>
              <a:gd name="connsiteX1" fmla="*/ 2067713 w 3306154"/>
              <a:gd name="connsiteY1" fmla="*/ 1526365 h 2979522"/>
              <a:gd name="connsiteX2" fmla="*/ 1580033 w 3306154"/>
              <a:gd name="connsiteY2" fmla="*/ 22685 h 2979522"/>
              <a:gd name="connsiteX3" fmla="*/ 3306154 w 3306154"/>
              <a:gd name="connsiteY3" fmla="*/ 2806063 h 2979522"/>
              <a:gd name="connsiteX0" fmla="*/ 28030 w 3306154"/>
              <a:gd name="connsiteY0" fmla="*/ 2965746 h 2965746"/>
              <a:gd name="connsiteX1" fmla="*/ 2067713 w 3306154"/>
              <a:gd name="connsiteY1" fmla="*/ 1512589 h 2965746"/>
              <a:gd name="connsiteX2" fmla="*/ 1580033 w 3306154"/>
              <a:gd name="connsiteY2" fmla="*/ 8909 h 2965746"/>
              <a:gd name="connsiteX3" fmla="*/ 3306154 w 3306154"/>
              <a:gd name="connsiteY3" fmla="*/ 2792287 h 2965746"/>
              <a:gd name="connsiteX0" fmla="*/ 28030 w 3306154"/>
              <a:gd name="connsiteY0" fmla="*/ 2970030 h 2970030"/>
              <a:gd name="connsiteX1" fmla="*/ 2067713 w 3306154"/>
              <a:gd name="connsiteY1" fmla="*/ 1516873 h 2970030"/>
              <a:gd name="connsiteX2" fmla="*/ 1580033 w 3306154"/>
              <a:gd name="connsiteY2" fmla="*/ 13193 h 2970030"/>
              <a:gd name="connsiteX3" fmla="*/ 3306154 w 3306154"/>
              <a:gd name="connsiteY3" fmla="*/ 2796571 h 2970030"/>
              <a:gd name="connsiteX0" fmla="*/ 28030 w 3306154"/>
              <a:gd name="connsiteY0" fmla="*/ 2963288 h 2963288"/>
              <a:gd name="connsiteX1" fmla="*/ 2067713 w 3306154"/>
              <a:gd name="connsiteY1" fmla="*/ 1510131 h 2963288"/>
              <a:gd name="connsiteX2" fmla="*/ 1580033 w 3306154"/>
              <a:gd name="connsiteY2" fmla="*/ 6451 h 2963288"/>
              <a:gd name="connsiteX3" fmla="*/ 3306154 w 3306154"/>
              <a:gd name="connsiteY3" fmla="*/ 2789829 h 2963288"/>
              <a:gd name="connsiteX0" fmla="*/ 28030 w 3306154"/>
              <a:gd name="connsiteY0" fmla="*/ 2963288 h 2963288"/>
              <a:gd name="connsiteX1" fmla="*/ 2067713 w 3306154"/>
              <a:gd name="connsiteY1" fmla="*/ 1510131 h 2963288"/>
              <a:gd name="connsiteX2" fmla="*/ 1544473 w 3306154"/>
              <a:gd name="connsiteY2" fmla="*/ 6451 h 2963288"/>
              <a:gd name="connsiteX3" fmla="*/ 3306154 w 3306154"/>
              <a:gd name="connsiteY3" fmla="*/ 2789829 h 2963288"/>
              <a:gd name="connsiteX0" fmla="*/ 1234850 w 1820574"/>
              <a:gd name="connsiteY0" fmla="*/ 3235167 h 3235167"/>
              <a:gd name="connsiteX1" fmla="*/ 582133 w 1820574"/>
              <a:gd name="connsiteY1" fmla="*/ 1511076 h 3235167"/>
              <a:gd name="connsiteX2" fmla="*/ 58893 w 1820574"/>
              <a:gd name="connsiteY2" fmla="*/ 7396 h 3235167"/>
              <a:gd name="connsiteX3" fmla="*/ 1820574 w 1820574"/>
              <a:gd name="connsiteY3" fmla="*/ 2790774 h 3235167"/>
              <a:gd name="connsiteX0" fmla="*/ 1182469 w 1768193"/>
              <a:gd name="connsiteY0" fmla="*/ 3227771 h 3227771"/>
              <a:gd name="connsiteX1" fmla="*/ 6512 w 1768193"/>
              <a:gd name="connsiteY1" fmla="*/ 0 h 3227771"/>
              <a:gd name="connsiteX2" fmla="*/ 1768193 w 1768193"/>
              <a:gd name="connsiteY2" fmla="*/ 2783378 h 3227771"/>
              <a:gd name="connsiteX0" fmla="*/ 29331 w 1276396"/>
              <a:gd name="connsiteY0" fmla="*/ 2067837 h 2067837"/>
              <a:gd name="connsiteX1" fmla="*/ 1249441 w 1276396"/>
              <a:gd name="connsiteY1" fmla="*/ 0 h 2067837"/>
              <a:gd name="connsiteX2" fmla="*/ 615055 w 1276396"/>
              <a:gd name="connsiteY2" fmla="*/ 1623444 h 2067837"/>
              <a:gd name="connsiteX0" fmla="*/ 378404 w 1616091"/>
              <a:gd name="connsiteY0" fmla="*/ 3146389 h 3146389"/>
              <a:gd name="connsiteX1" fmla="*/ 1598514 w 1616091"/>
              <a:gd name="connsiteY1" fmla="*/ 1078552 h 3146389"/>
              <a:gd name="connsiteX2" fmla="*/ 100528 w 1616091"/>
              <a:gd name="connsiteY2" fmla="*/ 754663 h 3146389"/>
              <a:gd name="connsiteX0" fmla="*/ 277876 w 1542456"/>
              <a:gd name="connsiteY0" fmla="*/ 2419953 h 2419953"/>
              <a:gd name="connsiteX1" fmla="*/ 1497986 w 1542456"/>
              <a:gd name="connsiteY1" fmla="*/ 352116 h 2419953"/>
              <a:gd name="connsiteX2" fmla="*/ 0 w 1542456"/>
              <a:gd name="connsiteY2" fmla="*/ 28227 h 2419953"/>
              <a:gd name="connsiteX0" fmla="*/ 277876 w 1542456"/>
              <a:gd name="connsiteY0" fmla="*/ 2419953 h 2419953"/>
              <a:gd name="connsiteX1" fmla="*/ 1497986 w 1542456"/>
              <a:gd name="connsiteY1" fmla="*/ 352116 h 2419953"/>
              <a:gd name="connsiteX2" fmla="*/ 0 w 1542456"/>
              <a:gd name="connsiteY2" fmla="*/ 28227 h 2419953"/>
              <a:gd name="connsiteX0" fmla="*/ 277876 w 1632591"/>
              <a:gd name="connsiteY0" fmla="*/ 2451614 h 2451614"/>
              <a:gd name="connsiteX1" fmla="*/ 1497986 w 1632591"/>
              <a:gd name="connsiteY1" fmla="*/ 383777 h 2451614"/>
              <a:gd name="connsiteX2" fmla="*/ 0 w 1632591"/>
              <a:gd name="connsiteY2" fmla="*/ 59888 h 2451614"/>
              <a:gd name="connsiteX0" fmla="*/ 277876 w 1472050"/>
              <a:gd name="connsiteY0" fmla="*/ 2432293 h 2432293"/>
              <a:gd name="connsiteX1" fmla="*/ 1320186 w 1472050"/>
              <a:gd name="connsiteY1" fmla="*/ 533790 h 2432293"/>
              <a:gd name="connsiteX2" fmla="*/ 0 w 1472050"/>
              <a:gd name="connsiteY2" fmla="*/ 40567 h 2432293"/>
              <a:gd name="connsiteX0" fmla="*/ 277876 w 1455729"/>
              <a:gd name="connsiteY0" fmla="*/ 2428271 h 2428271"/>
              <a:gd name="connsiteX1" fmla="*/ 1320186 w 1455729"/>
              <a:gd name="connsiteY1" fmla="*/ 529768 h 2428271"/>
              <a:gd name="connsiteX2" fmla="*/ 0 w 1455729"/>
              <a:gd name="connsiteY2" fmla="*/ 36545 h 2428271"/>
              <a:gd name="connsiteX0" fmla="*/ 277876 w 1478644"/>
              <a:gd name="connsiteY0" fmla="*/ 2425811 h 2425811"/>
              <a:gd name="connsiteX1" fmla="*/ 1320186 w 1478644"/>
              <a:gd name="connsiteY1" fmla="*/ 527308 h 2425811"/>
              <a:gd name="connsiteX2" fmla="*/ 0 w 1478644"/>
              <a:gd name="connsiteY2" fmla="*/ 34085 h 2425811"/>
              <a:gd name="connsiteX0" fmla="*/ 218610 w 1261659"/>
              <a:gd name="connsiteY0" fmla="*/ 2395408 h 2395408"/>
              <a:gd name="connsiteX1" fmla="*/ 1260920 w 1261659"/>
              <a:gd name="connsiteY1" fmla="*/ 496905 h 2395408"/>
              <a:gd name="connsiteX2" fmla="*/ 0 w 1261659"/>
              <a:gd name="connsiteY2" fmla="*/ 54482 h 2395408"/>
              <a:gd name="connsiteX0" fmla="*/ 218610 w 1261659"/>
              <a:gd name="connsiteY0" fmla="*/ 2387916 h 2387916"/>
              <a:gd name="connsiteX1" fmla="*/ 1260920 w 1261659"/>
              <a:gd name="connsiteY1" fmla="*/ 489413 h 2387916"/>
              <a:gd name="connsiteX2" fmla="*/ 0 w 1261659"/>
              <a:gd name="connsiteY2" fmla="*/ 55457 h 2387916"/>
              <a:gd name="connsiteX0" fmla="*/ 218610 w 1268268"/>
              <a:gd name="connsiteY0" fmla="*/ 2332459 h 2332459"/>
              <a:gd name="connsiteX1" fmla="*/ 1260920 w 1268268"/>
              <a:gd name="connsiteY1" fmla="*/ 433956 h 2332459"/>
              <a:gd name="connsiteX2" fmla="*/ 0 w 1268268"/>
              <a:gd name="connsiteY2" fmla="*/ 0 h 2332459"/>
              <a:gd name="connsiteX0" fmla="*/ 218610 w 1503078"/>
              <a:gd name="connsiteY0" fmla="*/ 2332459 h 2332459"/>
              <a:gd name="connsiteX1" fmla="*/ 1260920 w 1503078"/>
              <a:gd name="connsiteY1" fmla="*/ 433956 h 2332459"/>
              <a:gd name="connsiteX2" fmla="*/ 0 w 1503078"/>
              <a:gd name="connsiteY2" fmla="*/ 0 h 2332459"/>
              <a:gd name="connsiteX0" fmla="*/ 218610 w 1477769"/>
              <a:gd name="connsiteY0" fmla="*/ 2332459 h 2332459"/>
              <a:gd name="connsiteX1" fmla="*/ 1260920 w 1477769"/>
              <a:gd name="connsiteY1" fmla="*/ 433956 h 2332459"/>
              <a:gd name="connsiteX2" fmla="*/ 0 w 1477769"/>
              <a:gd name="connsiteY2" fmla="*/ 0 h 2332459"/>
              <a:gd name="connsiteX0" fmla="*/ 218610 w 1275798"/>
              <a:gd name="connsiteY0" fmla="*/ 2332459 h 2332459"/>
              <a:gd name="connsiteX1" fmla="*/ 662682 w 1275798"/>
              <a:gd name="connsiteY1" fmla="*/ 944147 h 2332459"/>
              <a:gd name="connsiteX2" fmla="*/ 1260920 w 1275798"/>
              <a:gd name="connsiteY2" fmla="*/ 433956 h 2332459"/>
              <a:gd name="connsiteX3" fmla="*/ 0 w 1275798"/>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38273"/>
              <a:gd name="connsiteY0" fmla="*/ 2332459 h 2332459"/>
              <a:gd name="connsiteX1" fmla="*/ 662682 w 1438273"/>
              <a:gd name="connsiteY1" fmla="*/ 944147 h 2332459"/>
              <a:gd name="connsiteX2" fmla="*/ 1260920 w 1438273"/>
              <a:gd name="connsiteY2" fmla="*/ 433956 h 2332459"/>
              <a:gd name="connsiteX3" fmla="*/ 0 w 1438273"/>
              <a:gd name="connsiteY3" fmla="*/ 0 h 2332459"/>
              <a:gd name="connsiteX0" fmla="*/ 218610 w 1471085"/>
              <a:gd name="connsiteY0" fmla="*/ 2332459 h 2332459"/>
              <a:gd name="connsiteX1" fmla="*/ 662682 w 1471085"/>
              <a:gd name="connsiteY1" fmla="*/ 944147 h 2332459"/>
              <a:gd name="connsiteX2" fmla="*/ 1302830 w 1471085"/>
              <a:gd name="connsiteY2" fmla="*/ 430146 h 2332459"/>
              <a:gd name="connsiteX3" fmla="*/ 0 w 1471085"/>
              <a:gd name="connsiteY3" fmla="*/ 0 h 2332459"/>
              <a:gd name="connsiteX0" fmla="*/ 218610 w 1471085"/>
              <a:gd name="connsiteY0" fmla="*/ 2332459 h 2332459"/>
              <a:gd name="connsiteX1" fmla="*/ 662682 w 1471085"/>
              <a:gd name="connsiteY1" fmla="*/ 944147 h 2332459"/>
              <a:gd name="connsiteX2" fmla="*/ 1302830 w 1471085"/>
              <a:gd name="connsiteY2" fmla="*/ 430146 h 2332459"/>
              <a:gd name="connsiteX3" fmla="*/ 0 w 1471085"/>
              <a:gd name="connsiteY3" fmla="*/ 0 h 2332459"/>
              <a:gd name="connsiteX0" fmla="*/ 218610 w 1471085"/>
              <a:gd name="connsiteY0" fmla="*/ 2332459 h 2332459"/>
              <a:gd name="connsiteX1" fmla="*/ 662682 w 1471085"/>
              <a:gd name="connsiteY1" fmla="*/ 944147 h 2332459"/>
              <a:gd name="connsiteX2" fmla="*/ 1302830 w 1471085"/>
              <a:gd name="connsiteY2" fmla="*/ 430146 h 2332459"/>
              <a:gd name="connsiteX3" fmla="*/ 0 w 1471085"/>
              <a:gd name="connsiteY3" fmla="*/ 0 h 2332459"/>
              <a:gd name="connsiteX0" fmla="*/ 218610 w 1471085"/>
              <a:gd name="connsiteY0" fmla="*/ 2332459 h 2332459"/>
              <a:gd name="connsiteX1" fmla="*/ 662682 w 1471085"/>
              <a:gd name="connsiteY1" fmla="*/ 944147 h 2332459"/>
              <a:gd name="connsiteX2" fmla="*/ 1302830 w 1471085"/>
              <a:gd name="connsiteY2" fmla="*/ 430146 h 2332459"/>
              <a:gd name="connsiteX3" fmla="*/ 0 w 1471085"/>
              <a:gd name="connsiteY3" fmla="*/ 0 h 2332459"/>
            </a:gdLst>
            <a:ahLst/>
            <a:cxnLst>
              <a:cxn ang="0">
                <a:pos x="connsiteX0" y="connsiteY0"/>
              </a:cxn>
              <a:cxn ang="0">
                <a:pos x="connsiteX1" y="connsiteY1"/>
              </a:cxn>
              <a:cxn ang="0">
                <a:pos x="connsiteX2" y="connsiteY2"/>
              </a:cxn>
              <a:cxn ang="0">
                <a:pos x="connsiteX3" y="connsiteY3"/>
              </a:cxn>
            </a:cxnLst>
            <a:rect l="l" t="t" r="r" b="b"/>
            <a:pathLst>
              <a:path w="1471085" h="2332459">
                <a:moveTo>
                  <a:pt x="218610" y="2332459"/>
                </a:moveTo>
                <a:cubicBezTo>
                  <a:pt x="103392" y="1631809"/>
                  <a:pt x="424829" y="1158329"/>
                  <a:pt x="662682" y="944147"/>
                </a:cubicBezTo>
                <a:cubicBezTo>
                  <a:pt x="900535" y="729965"/>
                  <a:pt x="952267" y="697994"/>
                  <a:pt x="1302830" y="430146"/>
                </a:cubicBezTo>
                <a:cubicBezTo>
                  <a:pt x="1653393" y="162298"/>
                  <a:pt x="1560907" y="24324"/>
                  <a:pt x="0" y="0"/>
                </a:cubicBezTo>
              </a:path>
            </a:pathLst>
          </a:custGeom>
          <a:noFill/>
          <a:ln w="28575">
            <a:solidFill>
              <a:srgbClr val="ED6D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1994424" y="3621992"/>
            <a:ext cx="976549" cy="276999"/>
          </a:xfrm>
          <a:prstGeom prst="rect">
            <a:avLst/>
          </a:prstGeom>
          <a:noFill/>
        </p:spPr>
        <p:txBody>
          <a:bodyPr wrap="none" rtlCol="0">
            <a:spAutoFit/>
          </a:bodyPr>
          <a:lstStyle/>
          <a:p>
            <a:pPr algn="ctr"/>
            <a:r>
              <a:rPr lang="en-US" altLang="zh-CN"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pic>
        <p:nvPicPr>
          <p:cNvPr id="52" name="图片 14" descr="日志告警服务器-蓝.png"/>
          <p:cNvPicPr>
            <a:picLocks noChangeAspect="1"/>
          </p:cNvPicPr>
          <p:nvPr/>
        </p:nvPicPr>
        <p:blipFill>
          <a:blip r:embed="rId10" cstate="print"/>
          <a:stretch>
            <a:fillRect/>
          </a:stretch>
        </p:blipFill>
        <p:spPr bwMode="gray">
          <a:xfrm>
            <a:off x="672359" y="5321237"/>
            <a:ext cx="490552" cy="306312"/>
          </a:xfrm>
          <a:prstGeom prst="rect">
            <a:avLst/>
          </a:prstGeom>
        </p:spPr>
      </p:pic>
      <p:pic>
        <p:nvPicPr>
          <p:cNvPr id="53" name="图片 14" descr="日志告警服务器-蓝.png"/>
          <p:cNvPicPr>
            <a:picLocks noChangeAspect="1"/>
          </p:cNvPicPr>
          <p:nvPr/>
        </p:nvPicPr>
        <p:blipFill>
          <a:blip r:embed="rId10" cstate="print"/>
          <a:stretch>
            <a:fillRect/>
          </a:stretch>
        </p:blipFill>
        <p:spPr bwMode="gray">
          <a:xfrm>
            <a:off x="2621979" y="5321237"/>
            <a:ext cx="490552" cy="306312"/>
          </a:xfrm>
          <a:prstGeom prst="rect">
            <a:avLst/>
          </a:prstGeom>
        </p:spPr>
      </p:pic>
    </p:spTree>
    <p:extLst>
      <p:ext uri="{BB962C8B-B14F-4D97-AF65-F5344CB8AC3E}">
        <p14:creationId xmlns:p14="http://schemas.microsoft.com/office/powerpoint/2010/main" val="14896047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终端识别方法设计 </a:t>
            </a:r>
            <a:r>
              <a:rPr lang="en-US" altLang="zh-CN">
                <a:sym typeface="Huawei Sans" panose="020C0503030203020204" pitchFamily="34" charset="0"/>
              </a:rPr>
              <a:t>(1)</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2" y="1047751"/>
            <a:ext cx="11293475" cy="1294758"/>
          </a:xfrm>
        </p:spPr>
        <p:txBody>
          <a:bodyPr/>
          <a:lstStyle/>
          <a:p>
            <a:r>
              <a:rPr lang="en-US" altLang="zh-CN" sz="2000" dirty="0" err="1"/>
              <a:t>iMaster</a:t>
            </a:r>
            <a:r>
              <a:rPr lang="en-US" altLang="zh-CN" sz="2000" dirty="0"/>
              <a:t> NCE-Campus</a:t>
            </a:r>
            <a:r>
              <a:rPr lang="zh-CN" altLang="en-US" sz="2000" dirty="0"/>
              <a:t>可查看整个园区网络终端的类型、操作系统等摘要信息，对终端进行多维度的精细化管理。对于园区</a:t>
            </a:r>
            <a:r>
              <a:rPr lang="en-US" altLang="zh-CN" sz="2000" dirty="0"/>
              <a:t>IP</a:t>
            </a:r>
            <a:r>
              <a:rPr lang="zh-CN" altLang="en-US" sz="2000" dirty="0"/>
              <a:t>话机、打印机、</a:t>
            </a:r>
            <a:r>
              <a:rPr lang="en-US" altLang="zh-CN" sz="2000" dirty="0"/>
              <a:t>IP</a:t>
            </a:r>
            <a:r>
              <a:rPr lang="zh-CN" altLang="en-US" sz="2000" dirty="0"/>
              <a:t>摄像头等哑终端设备，还可以实现基于终端识别的自动准入，从而减少管理员手动配置工作量。</a:t>
            </a:r>
          </a:p>
        </p:txBody>
      </p:sp>
      <p:sp>
        <p:nvSpPr>
          <p:cNvPr id="5" name="圆角矩形 75"/>
          <p:cNvSpPr/>
          <p:nvPr/>
        </p:nvSpPr>
        <p:spPr bwMode="gray">
          <a:xfrm>
            <a:off x="502267" y="2749441"/>
            <a:ext cx="3110065" cy="3437888"/>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gn="just">
              <a:lnSpc>
                <a:spcPts val="24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当园区网络管理员想通过</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NCE-Campus</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呈现终端的类型，基于终端类型做网络管理，需要完成如下工作：</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gn="just">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收集网络中的终端类型，比如：</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、手机、打印机、</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摄像头、门禁等。</a:t>
            </a:r>
          </a:p>
          <a:p>
            <a:pPr marL="285750" indent="-285750" algn="just">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确认网络是否部署</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Portal</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认证。</a:t>
            </a:r>
          </a:p>
          <a:p>
            <a:pPr marL="285750" indent="-285750" algn="just">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确认终端是动态</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DHCP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分配</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地址，还是静态分配</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a:t>
            </a:r>
          </a:p>
        </p:txBody>
      </p:sp>
      <p:sp>
        <p:nvSpPr>
          <p:cNvPr id="7" name="圆角矩形 75"/>
          <p:cNvSpPr/>
          <p:nvPr/>
        </p:nvSpPr>
        <p:spPr bwMode="gray">
          <a:xfrm>
            <a:off x="502267" y="2340064"/>
            <a:ext cx="3110065"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网络分析</a:t>
            </a:r>
          </a:p>
        </p:txBody>
      </p:sp>
      <p:graphicFrame>
        <p:nvGraphicFramePr>
          <p:cNvPr id="4" name="表格 3"/>
          <p:cNvGraphicFramePr>
            <a:graphicFrameLocks noGrp="1"/>
          </p:cNvGraphicFramePr>
          <p:nvPr>
            <p:extLst>
              <p:ext uri="{D42A27DB-BD31-4B8C-83A1-F6EECF244321}">
                <p14:modId xmlns:p14="http://schemas.microsoft.com/office/powerpoint/2010/main" val="2890316796"/>
              </p:ext>
            </p:extLst>
          </p:nvPr>
        </p:nvGraphicFramePr>
        <p:xfrm>
          <a:off x="3717124" y="3381664"/>
          <a:ext cx="7903132" cy="2762120"/>
        </p:xfrm>
        <a:graphic>
          <a:graphicData uri="http://schemas.openxmlformats.org/drawingml/2006/table">
            <a:tbl>
              <a:tblPr firstRow="1" firstCol="1" lastRow="1" lastCol="1" bandRow="1" bandCol="1">
                <a:tableStyleId>{5940675A-B579-460E-94D1-54222C63F5DA}</a:tableStyleId>
              </a:tblPr>
              <a:tblGrid>
                <a:gridCol w="1772562">
                  <a:extLst>
                    <a:ext uri="{9D8B030D-6E8A-4147-A177-3AD203B41FA5}">
                      <a16:colId xmlns:a16="http://schemas.microsoft.com/office/drawing/2014/main" val="20000"/>
                    </a:ext>
                  </a:extLst>
                </a:gridCol>
                <a:gridCol w="3349287">
                  <a:extLst>
                    <a:ext uri="{9D8B030D-6E8A-4147-A177-3AD203B41FA5}">
                      <a16:colId xmlns:a16="http://schemas.microsoft.com/office/drawing/2014/main" val="20001"/>
                    </a:ext>
                  </a:extLst>
                </a:gridCol>
                <a:gridCol w="2781283">
                  <a:extLst>
                    <a:ext uri="{9D8B030D-6E8A-4147-A177-3AD203B41FA5}">
                      <a16:colId xmlns:a16="http://schemas.microsoft.com/office/drawing/2014/main" val="20002"/>
                    </a:ext>
                  </a:extLst>
                </a:gridCol>
              </a:tblGrid>
              <a:tr h="298661">
                <a:tc>
                  <a:txBody>
                    <a:bodyPr/>
                    <a:lstStyle/>
                    <a:p>
                      <a:pPr>
                        <a:lnSpc>
                          <a:spcPct val="100000"/>
                        </a:lnSpc>
                        <a:spcBef>
                          <a:spcPts val="0"/>
                        </a:spcBef>
                        <a:spcAft>
                          <a:spcPts val="0"/>
                        </a:spcAft>
                      </a:pPr>
                      <a:r>
                        <a:rPr lang="zh-CN" sz="1200" b="1" dirty="0">
                          <a:effectLst/>
                          <a:latin typeface="Huawei Sans" panose="020C0503030203020204" pitchFamily="34" charset="0"/>
                          <a:ea typeface="方正兰亭黑简体" panose="02000000000000000000" pitchFamily="2" charset="-122"/>
                          <a:sym typeface="Huawei Sans" panose="020C0503030203020204" pitchFamily="34" charset="0"/>
                        </a:rPr>
                        <a:t>识别方法</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spcBef>
                          <a:spcPts val="0"/>
                        </a:spcBef>
                        <a:spcAft>
                          <a:spcPts val="0"/>
                        </a:spcAft>
                      </a:pPr>
                      <a:r>
                        <a:rPr lang="zh-CN" sz="1200" b="1" dirty="0">
                          <a:effectLst/>
                          <a:latin typeface="Huawei Sans" panose="020C0503030203020204" pitchFamily="34" charset="0"/>
                          <a:ea typeface="方正兰亭黑简体" panose="02000000000000000000" pitchFamily="2" charset="-122"/>
                          <a:sym typeface="Huawei Sans" panose="020C0503030203020204" pitchFamily="34" charset="0"/>
                        </a:rPr>
                        <a:t>可识别的终端类型</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spcBef>
                          <a:spcPts val="0"/>
                        </a:spcBef>
                        <a:spcAft>
                          <a:spcPts val="0"/>
                        </a:spcAft>
                      </a:pPr>
                      <a:r>
                        <a:rPr lang="zh-CN" sz="1200" b="1" dirty="0">
                          <a:effectLst/>
                          <a:latin typeface="Huawei Sans" panose="020C0503030203020204" pitchFamily="34" charset="0"/>
                          <a:ea typeface="方正兰亭黑简体" panose="02000000000000000000" pitchFamily="2" charset="-122"/>
                          <a:sym typeface="Huawei Sans" panose="020C0503030203020204" pitchFamily="34" charset="0"/>
                        </a:rPr>
                        <a:t>适用场景</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98661">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MAC OUI</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（厂商代码）</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所有</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终端</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仅识别设备厂商</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zh-CN" sz="1200">
                          <a:effectLst/>
                          <a:latin typeface="Huawei Sans" panose="020C0503030203020204" pitchFamily="34" charset="0"/>
                          <a:ea typeface="方正兰亭黑简体" panose="02000000000000000000" pitchFamily="2" charset="-122"/>
                          <a:sym typeface="Huawei Sans" panose="020C0503030203020204" pitchFamily="34" charset="0"/>
                        </a:rPr>
                        <a:t>通用场景</a:t>
                      </a:r>
                      <a:endParaRPr lang="zh-CN" sz="12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98661">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HTTP </a:t>
                      </a:r>
                      <a:r>
                        <a:rPr lang="en-US" sz="1200" dirty="0" err="1">
                          <a:effectLst/>
                          <a:latin typeface="Huawei Sans" panose="020C0503030203020204" pitchFamily="34" charset="0"/>
                          <a:ea typeface="方正兰亭黑简体" panose="02000000000000000000" pitchFamily="2" charset="-122"/>
                          <a:sym typeface="Huawei Sans" panose="020C0503030203020204" pitchFamily="34" charset="0"/>
                        </a:rPr>
                        <a:t>UserAgent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手机、平板型号、</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PC</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、工作站</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音视频智能终端</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仅</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Portal</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认证的终端场景</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12954">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DHCP Option</a:t>
                      </a:r>
                      <a:r>
                        <a:rPr lang="zh-CN" altLang="en-US" sz="1200">
                          <a:effectLst/>
                          <a:latin typeface="Huawei Sans" panose="020C0503030203020204" pitchFamily="34" charset="0"/>
                          <a:ea typeface="方正兰亭黑简体" panose="02000000000000000000" pitchFamily="2" charset="-122"/>
                          <a:sym typeface="Huawei Sans" panose="020C0503030203020204" pitchFamily="34" charset="0"/>
                        </a:rPr>
                        <a:t>（主机标识）</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手机、平板型号、</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PC</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、工作站</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摄像头、</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话机、打印机等</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仅终端是动态</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分配的场景</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98661">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LLDP</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话机、</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摄像头、网络设备等</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zh-CN" sz="1200">
                          <a:effectLst/>
                          <a:latin typeface="Huawei Sans" panose="020C0503030203020204" pitchFamily="34" charset="0"/>
                          <a:ea typeface="方正兰亭黑简体" panose="02000000000000000000" pitchFamily="2" charset="-122"/>
                          <a:sym typeface="Huawei Sans" panose="020C0503030203020204" pitchFamily="34" charset="0"/>
                        </a:rPr>
                        <a:t>通用场景</a:t>
                      </a:r>
                      <a:endParaRPr lang="zh-CN" sz="12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98661">
                <a:tc>
                  <a:txBody>
                    <a:bodyPr/>
                    <a:lstStyle/>
                    <a:p>
                      <a:pPr>
                        <a:lnSpc>
                          <a:spcPct val="100000"/>
                        </a:lnSpc>
                        <a:spcBef>
                          <a:spcPts val="0"/>
                        </a:spcBef>
                        <a:spcAft>
                          <a:spcPts val="0"/>
                        </a:spcAft>
                      </a:pPr>
                      <a:r>
                        <a:rPr lang="en-US" sz="1200" dirty="0" err="1">
                          <a:effectLst/>
                          <a:latin typeface="Huawei Sans" panose="020C0503030203020204" pitchFamily="34" charset="0"/>
                          <a:ea typeface="方正兰亭黑简体" panose="02000000000000000000" pitchFamily="2" charset="-122"/>
                          <a:sym typeface="Huawei Sans" panose="020C0503030203020204" pitchFamily="34" charset="0"/>
                        </a:rPr>
                        <a:t>mDNS</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打印机、</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摄像头等</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通用场景</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98661">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SNMP Query</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网络设备、打印机</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本地部署场景</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98661">
                <a:tc>
                  <a:txBody>
                    <a:bodyPr/>
                    <a:lstStyle/>
                    <a:p>
                      <a:pPr>
                        <a:lnSpc>
                          <a:spcPct val="100000"/>
                        </a:lnSpc>
                        <a:spcBef>
                          <a:spcPts val="0"/>
                        </a:spcBef>
                        <a:spcAft>
                          <a:spcPts val="0"/>
                        </a:spcAft>
                      </a:pPr>
                      <a:r>
                        <a:rPr lang="en-US" altLang="zh-CN" sz="1200" dirty="0" err="1">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Nmap</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、工作站、打印机、话机、</a:t>
                      </a: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摄像头等</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本地部署场景</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
        <p:nvSpPr>
          <p:cNvPr id="8" name="圆角矩形 75"/>
          <p:cNvSpPr/>
          <p:nvPr/>
        </p:nvSpPr>
        <p:spPr bwMode="gray">
          <a:xfrm>
            <a:off x="3717125" y="2340064"/>
            <a:ext cx="7906390"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根据下表逐项遍历</a:t>
            </a:r>
          </a:p>
        </p:txBody>
      </p:sp>
      <p:sp>
        <p:nvSpPr>
          <p:cNvPr id="9" name="圆角矩形 75"/>
          <p:cNvSpPr/>
          <p:nvPr/>
        </p:nvSpPr>
        <p:spPr bwMode="gray">
          <a:xfrm>
            <a:off x="3717123" y="2749441"/>
            <a:ext cx="7906391" cy="551108"/>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gn="just">
              <a:lnSpc>
                <a:spcPts val="18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利用搜集的信息，根据下表逐项遍历，选择需要开启的终端识别方法（多选，符合的识别方法都需开启）。</a:t>
            </a:r>
          </a:p>
        </p:txBody>
      </p:sp>
      <p:sp>
        <p:nvSpPr>
          <p:cNvPr id="12" name="Oval 4"/>
          <p:cNvSpPr>
            <a:spLocks noChangeAspect="1"/>
          </p:cNvSpPr>
          <p:nvPr/>
        </p:nvSpPr>
        <p:spPr bwMode="gray">
          <a:xfrm>
            <a:off x="731721" y="2394064"/>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Oval 4"/>
          <p:cNvSpPr>
            <a:spLocks noChangeAspect="1"/>
          </p:cNvSpPr>
          <p:nvPr/>
        </p:nvSpPr>
        <p:spPr bwMode="gray">
          <a:xfrm>
            <a:off x="3841786" y="2394064"/>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五边形 13"/>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18" name="燕尾形 17"/>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1002413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1084908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17955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终端识别方法设计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4380089"/>
            <a:ext cx="11256962" cy="1820686"/>
          </a:xfrm>
        </p:spPr>
        <p:txBody>
          <a:bodyPr/>
          <a:lstStyle/>
          <a:p>
            <a:r>
              <a:rPr lang="zh-CN" altLang="en-US" sz="1800" dirty="0">
                <a:sym typeface="Huawei Sans" panose="020C0503030203020204" pitchFamily="34" charset="0"/>
              </a:rPr>
              <a:t>若管理员无法精确选出应采用的终端识别的方法，推荐开启</a:t>
            </a:r>
            <a:r>
              <a:rPr lang="en-US" altLang="zh-CN" sz="1800" dirty="0">
                <a:sym typeface="Huawei Sans" panose="020C0503030203020204" pitchFamily="34" charset="0"/>
              </a:rPr>
              <a:t>5</a:t>
            </a:r>
            <a:r>
              <a:rPr lang="zh-CN" altLang="en-US" sz="1800" dirty="0">
                <a:sym typeface="Huawei Sans" panose="020C0503030203020204" pitchFamily="34" charset="0"/>
              </a:rPr>
              <a:t>个识别方法：</a:t>
            </a:r>
            <a:r>
              <a:rPr lang="en-US" altLang="zh-CN" sz="1800" dirty="0">
                <a:sym typeface="Huawei Sans" panose="020C0503030203020204" pitchFamily="34" charset="0"/>
              </a:rPr>
              <a:t>MAC OUI</a:t>
            </a:r>
            <a:r>
              <a:rPr lang="zh-CN" altLang="en-US" sz="1800" dirty="0">
                <a:sym typeface="Huawei Sans" panose="020C0503030203020204" pitchFamily="34" charset="0"/>
              </a:rPr>
              <a:t>、</a:t>
            </a:r>
            <a:r>
              <a:rPr lang="en-US" altLang="zh-CN" sz="1800" dirty="0">
                <a:sym typeface="Huawei Sans" panose="020C0503030203020204" pitchFamily="34" charset="0"/>
              </a:rPr>
              <a:t>HTTP </a:t>
            </a:r>
            <a:r>
              <a:rPr lang="en-US" altLang="zh-CN" sz="1800" dirty="0" err="1">
                <a:sym typeface="Huawei Sans" panose="020C0503030203020204" pitchFamily="34" charset="0"/>
              </a:rPr>
              <a:t>UserAgent</a:t>
            </a:r>
            <a:r>
              <a:rPr lang="zh-CN" altLang="en-US" sz="1800" dirty="0">
                <a:sym typeface="Huawei Sans" panose="020C0503030203020204" pitchFamily="34" charset="0"/>
              </a:rPr>
              <a:t>、</a:t>
            </a:r>
            <a:r>
              <a:rPr lang="en-US" altLang="zh-CN" sz="1800" dirty="0">
                <a:sym typeface="Huawei Sans" panose="020C0503030203020204" pitchFamily="34" charset="0"/>
              </a:rPr>
              <a:t>DHCP Option</a:t>
            </a:r>
            <a:r>
              <a:rPr lang="zh-CN" altLang="en-US" sz="1800" dirty="0">
                <a:sym typeface="Huawei Sans" panose="020C0503030203020204" pitchFamily="34" charset="0"/>
              </a:rPr>
              <a:t>、</a:t>
            </a:r>
            <a:r>
              <a:rPr lang="en-US" altLang="zh-CN" sz="1800" dirty="0">
                <a:sym typeface="Huawei Sans" panose="020C0503030203020204" pitchFamily="34" charset="0"/>
              </a:rPr>
              <a:t>LLDP</a:t>
            </a:r>
            <a:r>
              <a:rPr lang="zh-CN" altLang="en-US" sz="1800" dirty="0">
                <a:sym typeface="Huawei Sans" panose="020C0503030203020204" pitchFamily="34" charset="0"/>
              </a:rPr>
              <a:t>、</a:t>
            </a:r>
            <a:r>
              <a:rPr lang="en-US" altLang="zh-CN" sz="1800" dirty="0" err="1">
                <a:sym typeface="Huawei Sans" panose="020C0503030203020204" pitchFamily="34" charset="0"/>
              </a:rPr>
              <a:t>mDNS</a:t>
            </a:r>
            <a:r>
              <a:rPr lang="zh-CN" altLang="en-US" sz="1800" dirty="0">
                <a:sym typeface="Huawei Sans" panose="020C0503030203020204" pitchFamily="34" charset="0"/>
              </a:rPr>
              <a:t>。</a:t>
            </a:r>
          </a:p>
          <a:p>
            <a:r>
              <a:rPr lang="en-US" altLang="zh-CN" sz="1800" dirty="0" err="1">
                <a:sym typeface="Huawei Sans" panose="020C0503030203020204" pitchFamily="34" charset="0"/>
              </a:rPr>
              <a:t>Nmap</a:t>
            </a:r>
            <a:r>
              <a:rPr lang="zh-CN" altLang="en-US" sz="1800" dirty="0">
                <a:sym typeface="Huawei Sans" panose="020C0503030203020204" pitchFamily="34" charset="0"/>
              </a:rPr>
              <a:t>扫描方法识别周期长，推荐默认关闭，被动指纹识别方法无法满足终端识别的场景再开启</a:t>
            </a:r>
            <a:r>
              <a:rPr lang="en-US" altLang="zh-CN" sz="1800" dirty="0" err="1">
                <a:sym typeface="Huawei Sans" panose="020C0503030203020204" pitchFamily="34" charset="0"/>
              </a:rPr>
              <a:t>Nmap</a:t>
            </a:r>
            <a:r>
              <a:rPr lang="zh-CN" altLang="en-US" sz="1800" dirty="0">
                <a:sym typeface="Huawei Sans" panose="020C0503030203020204" pitchFamily="34" charset="0"/>
              </a:rPr>
              <a:t>识别方法。</a:t>
            </a:r>
          </a:p>
        </p:txBody>
      </p:sp>
      <p:sp>
        <p:nvSpPr>
          <p:cNvPr id="10" name="圆角矩形 75"/>
          <p:cNvSpPr/>
          <p:nvPr/>
        </p:nvSpPr>
        <p:spPr bwMode="gray">
          <a:xfrm>
            <a:off x="533090" y="1029060"/>
            <a:ext cx="11121247"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终端识别功能开启方法</a:t>
            </a:r>
          </a:p>
        </p:txBody>
      </p:sp>
      <p:graphicFrame>
        <p:nvGraphicFramePr>
          <p:cNvPr id="11" name="表格 10"/>
          <p:cNvGraphicFramePr>
            <a:graphicFrameLocks noGrp="1"/>
          </p:cNvGraphicFramePr>
          <p:nvPr>
            <p:extLst>
              <p:ext uri="{D42A27DB-BD31-4B8C-83A1-F6EECF244321}">
                <p14:modId xmlns:p14="http://schemas.microsoft.com/office/powerpoint/2010/main" val="786143066"/>
              </p:ext>
            </p:extLst>
          </p:nvPr>
        </p:nvGraphicFramePr>
        <p:xfrm>
          <a:off x="533090" y="1444879"/>
          <a:ext cx="11127186" cy="2926080"/>
        </p:xfrm>
        <a:graphic>
          <a:graphicData uri="http://schemas.openxmlformats.org/drawingml/2006/table">
            <a:tbl>
              <a:tblPr firstRow="1" firstCol="1" lastRow="1" lastCol="1" bandRow="1" bandCol="1">
                <a:tableStyleId>{5940675A-B579-460E-94D1-54222C63F5DA}</a:tableStyleId>
              </a:tblPr>
              <a:tblGrid>
                <a:gridCol w="2610802">
                  <a:extLst>
                    <a:ext uri="{9D8B030D-6E8A-4147-A177-3AD203B41FA5}">
                      <a16:colId xmlns:a16="http://schemas.microsoft.com/office/drawing/2014/main" val="20000"/>
                    </a:ext>
                  </a:extLst>
                </a:gridCol>
                <a:gridCol w="4258192">
                  <a:extLst>
                    <a:ext uri="{9D8B030D-6E8A-4147-A177-3AD203B41FA5}">
                      <a16:colId xmlns:a16="http://schemas.microsoft.com/office/drawing/2014/main" val="20001"/>
                    </a:ext>
                  </a:extLst>
                </a:gridCol>
                <a:gridCol w="4258192">
                  <a:extLst>
                    <a:ext uri="{9D8B030D-6E8A-4147-A177-3AD203B41FA5}">
                      <a16:colId xmlns:a16="http://schemas.microsoft.com/office/drawing/2014/main" val="20002"/>
                    </a:ext>
                  </a:extLst>
                </a:gridCol>
              </a:tblGrid>
              <a:tr h="0">
                <a:tc>
                  <a:txBody>
                    <a:bodyPr/>
                    <a:lstStyle/>
                    <a:p>
                      <a:pPr>
                        <a:lnSpc>
                          <a:spcPct val="100000"/>
                        </a:lnSpc>
                        <a:spcBef>
                          <a:spcPts val="0"/>
                        </a:spcBef>
                        <a:spcAft>
                          <a:spcPts val="0"/>
                        </a:spcAft>
                      </a:pPr>
                      <a:r>
                        <a:rPr lang="zh-CN" sz="1200" b="1" dirty="0">
                          <a:effectLst/>
                          <a:latin typeface="Huawei Sans" panose="020C0503030203020204" pitchFamily="34" charset="0"/>
                          <a:ea typeface="方正兰亭黑简体" panose="02000000000000000000" pitchFamily="2" charset="-122"/>
                          <a:sym typeface="Huawei Sans" panose="020C0503030203020204" pitchFamily="34" charset="0"/>
                        </a:rPr>
                        <a:t>识别方法</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nSpc>
                          <a:spcPct val="100000"/>
                        </a:lnSpc>
                        <a:spcBef>
                          <a:spcPts val="0"/>
                        </a:spcBef>
                        <a:spcAft>
                          <a:spcPts val="0"/>
                        </a:spcAft>
                      </a:pPr>
                      <a:r>
                        <a:rPr lang="en-US" altLang="zh-CN" sz="1200" b="1" dirty="0" err="1">
                          <a:effectLst/>
                          <a:latin typeface="Huawei Sans" panose="020C0503030203020204" pitchFamily="34" charset="0"/>
                          <a:ea typeface="方正兰亭黑简体" panose="02000000000000000000" pitchFamily="2" charset="-122"/>
                          <a:cs typeface="+mn-cs"/>
                          <a:sym typeface="Huawei Sans" panose="020C0503030203020204" pitchFamily="34" charset="0"/>
                        </a:rPr>
                        <a:t>iMaster</a:t>
                      </a:r>
                      <a:r>
                        <a:rPr lang="en-US" altLang="zh-CN" sz="1200" b="1" dirty="0">
                          <a:effectLst/>
                          <a:latin typeface="Huawei Sans" panose="020C0503030203020204" pitchFamily="34" charset="0"/>
                          <a:ea typeface="方正兰亭黑简体" panose="02000000000000000000" pitchFamily="2" charset="-122"/>
                          <a:cs typeface="+mn-cs"/>
                          <a:sym typeface="Huawei Sans" panose="020C0503030203020204" pitchFamily="34" charset="0"/>
                        </a:rPr>
                        <a:t> NCE-Campus</a:t>
                      </a:r>
                      <a:r>
                        <a:rPr lang="zh-CN" altLang="en-US" sz="1200" b="1" dirty="0">
                          <a:effectLst/>
                          <a:latin typeface="Huawei Sans" panose="020C0503030203020204" pitchFamily="34" charset="0"/>
                          <a:ea typeface="方正兰亭黑简体" panose="02000000000000000000" pitchFamily="2" charset="-122"/>
                          <a:cs typeface="+mn-cs"/>
                          <a:sym typeface="Huawei Sans" panose="020C0503030203020204" pitchFamily="34" charset="0"/>
                        </a:rPr>
                        <a:t>侧</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nSpc>
                          <a:spcPct val="100000"/>
                        </a:lnSpc>
                        <a:spcBef>
                          <a:spcPts val="0"/>
                        </a:spcBef>
                        <a:spcAft>
                          <a:spcPts val="0"/>
                        </a:spcAft>
                      </a:pPr>
                      <a:r>
                        <a:rPr lang="zh-CN" alt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网络侧</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MAC OUI</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开启终端识别功能。</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HTTP </a:t>
                      </a:r>
                      <a:r>
                        <a:rPr lang="en-US" sz="1200" dirty="0" err="1">
                          <a:effectLst/>
                          <a:latin typeface="Huawei Sans" panose="020C0503030203020204" pitchFamily="34" charset="0"/>
                          <a:ea typeface="方正兰亭黑简体" panose="02000000000000000000" pitchFamily="2" charset="-122"/>
                          <a:sym typeface="Huawei Sans" panose="020C0503030203020204" pitchFamily="34" charset="0"/>
                        </a:rPr>
                        <a:t>UserAgent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开启终端识别功能。</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mn-cs"/>
                          <a:sym typeface="Huawei Sans" panose="020C0503030203020204" pitchFamily="34" charset="0"/>
                        </a:rPr>
                        <a:t>开启终端识别上报功能。</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DHCP Option</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开启终端识别功能。</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开启终端识别上报功能。</a:t>
                      </a:r>
                      <a:endPar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2. </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开启</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DHCP Snooping</a:t>
                      </a:r>
                      <a:r>
                        <a:rPr lang="zh-CN" sz="1200" dirty="0">
                          <a:effectLst/>
                          <a:latin typeface="Huawei Sans" panose="020C0503030203020204" pitchFamily="34" charset="0"/>
                          <a:ea typeface="方正兰亭黑简体" panose="02000000000000000000" pitchFamily="2" charset="-122"/>
                          <a:sym typeface="Huawei Sans" panose="020C0503030203020204" pitchFamily="34" charset="0"/>
                        </a:rPr>
                        <a:t>功能</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nSpc>
                          <a:spcPct val="100000"/>
                        </a:lnSpc>
                        <a:spcBef>
                          <a:spcPts val="0"/>
                        </a:spcBef>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LLDP</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开启终端识别功能。</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mn-cs"/>
                          <a:sym typeface="Huawei Sans" panose="020C0503030203020204" pitchFamily="34" charset="0"/>
                        </a:rPr>
                        <a:t>默认开启。</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nSpc>
                          <a:spcPct val="100000"/>
                        </a:lnSpc>
                        <a:spcBef>
                          <a:spcPts val="0"/>
                        </a:spcBef>
                        <a:spcAft>
                          <a:spcPts val="0"/>
                        </a:spcAft>
                      </a:pPr>
                      <a:r>
                        <a:rPr lang="en-US" sz="1200" dirty="0" err="1">
                          <a:effectLst/>
                          <a:latin typeface="Huawei Sans" panose="020C0503030203020204" pitchFamily="34" charset="0"/>
                          <a:ea typeface="方正兰亭黑简体" panose="02000000000000000000" pitchFamily="2" charset="-122"/>
                          <a:sym typeface="Huawei Sans" panose="020C0503030203020204" pitchFamily="34" charset="0"/>
                        </a:rPr>
                        <a:t>mDNS</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开启终端识别功能。</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开启终端识别上报功能。</a:t>
                      </a:r>
                      <a:endPar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2. </a:t>
                      </a:r>
                      <a:r>
                        <a:rPr lang="zh-CN"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200" dirty="0" err="1">
                          <a:effectLst/>
                          <a:latin typeface="Huawei Sans" panose="020C0503030203020204" pitchFamily="34" charset="0"/>
                          <a:ea typeface="方正兰亭黑简体" panose="02000000000000000000" pitchFamily="2" charset="-122"/>
                          <a:sym typeface="Huawei Sans" panose="020C0503030203020204" pitchFamily="34" charset="0"/>
                        </a:rPr>
                        <a:t>mDNS</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 Snooping</a:t>
                      </a:r>
                      <a:r>
                        <a:rPr lang="zh-CN"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功能</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SNMP Query</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1.</a:t>
                      </a:r>
                      <a:r>
                        <a:rPr lang="en-US" altLang="zh-CN" sz="1200" baseline="0"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开启终端识别功能。</a:t>
                      </a:r>
                      <a:endPar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 </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开启</a:t>
                      </a: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SNMP</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扫描功能。</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nSpc>
                          <a:spcPct val="100000"/>
                        </a:lnSpc>
                        <a:spcBef>
                          <a:spcPts val="0"/>
                        </a:spcBef>
                        <a:spcAft>
                          <a:spcPts val="0"/>
                        </a:spcAft>
                      </a:pPr>
                      <a:r>
                        <a:rPr lang="en-US" altLang="zh-CN" sz="1200" dirty="0" err="1">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Nmap</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开启终端识别功能。</a:t>
                      </a:r>
                      <a:endPar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 </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加载</a:t>
                      </a:r>
                      <a:r>
                        <a:rPr lang="en-US" altLang="zh-CN" sz="1200" dirty="0" err="1">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Nmap</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插件。</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4" name="Oval 4"/>
          <p:cNvSpPr>
            <a:spLocks noChangeAspect="1"/>
          </p:cNvSpPr>
          <p:nvPr/>
        </p:nvSpPr>
        <p:spPr bwMode="gray">
          <a:xfrm>
            <a:off x="762543" y="1083060"/>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五边形 11"/>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13" name="燕尾形 12"/>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1002413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1084908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421603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终端策略设计</a:t>
            </a:r>
          </a:p>
        </p:txBody>
      </p:sp>
      <p:sp>
        <p:nvSpPr>
          <p:cNvPr id="4" name="文本占位符 3"/>
          <p:cNvSpPr>
            <a:spLocks noGrp="1"/>
          </p:cNvSpPr>
          <p:nvPr>
            <p:ph type="body" sz="quarter" idx="10"/>
          </p:nvPr>
        </p:nvSpPr>
        <p:spPr bwMode="gray">
          <a:xfrm>
            <a:off x="455612" y="1047750"/>
            <a:ext cx="11293475" cy="1472047"/>
          </a:xfrm>
        </p:spPr>
        <p:txBody>
          <a:bodyPr/>
          <a:lstStyle/>
          <a:p>
            <a:r>
              <a:rPr lang="zh-CN" altLang="en-US" sz="2000" dirty="0">
                <a:sym typeface="Huawei Sans" panose="020C0503030203020204" pitchFamily="34" charset="0"/>
              </a:rPr>
              <a:t>园区网络管理员可以通过</a:t>
            </a:r>
            <a:r>
              <a:rPr lang="en-US" altLang="zh-CN" sz="2000" dirty="0">
                <a:sym typeface="Huawei Sans" panose="020C0503030203020204" pitchFamily="34" charset="0"/>
              </a:rPr>
              <a:t>iMaster NCE-Campus</a:t>
            </a:r>
            <a:r>
              <a:rPr lang="zh-CN" altLang="en-US" sz="2000" dirty="0">
                <a:sym typeface="Huawei Sans" panose="020C0503030203020204" pitchFamily="34" charset="0"/>
              </a:rPr>
              <a:t>为终端设备自动下发对应策略，而无需手动为每种类型的业务终端配置不同的策略。</a:t>
            </a:r>
            <a:endParaRPr lang="en-US" altLang="zh-CN" sz="2000" dirty="0">
              <a:sym typeface="Huawei Sans" panose="020C0503030203020204" pitchFamily="34" charset="0"/>
            </a:endParaRPr>
          </a:p>
          <a:p>
            <a:r>
              <a:rPr lang="zh-CN" altLang="en-US" sz="2000" dirty="0">
                <a:sym typeface="Huawei Sans" panose="020C0503030203020204" pitchFamily="34" charset="0"/>
              </a:rPr>
              <a:t>终端策略支持基于终端类型或操作系统或生产厂商下发对应终端策略。</a:t>
            </a:r>
          </a:p>
          <a:p>
            <a:endParaRPr lang="zh-CN" altLang="en-US" sz="2000" dirty="0">
              <a:sym typeface="Huawei Sans" panose="020C0503030203020204" pitchFamily="34" charset="0"/>
            </a:endParaRPr>
          </a:p>
        </p:txBody>
      </p:sp>
      <p:sp>
        <p:nvSpPr>
          <p:cNvPr id="6" name="圆角矩形 75"/>
          <p:cNvSpPr/>
          <p:nvPr/>
        </p:nvSpPr>
        <p:spPr bwMode="gray">
          <a:xfrm>
            <a:off x="545688" y="2919510"/>
            <a:ext cx="5013864" cy="1309590"/>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开启基于终端类型的策略自动下发，根据准入认证授权策略。</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接入交换机和</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上需部署准入认证。</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有哑终端的场景需要在接入交换机和</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上开启</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认证。</a:t>
            </a:r>
          </a:p>
        </p:txBody>
      </p:sp>
      <p:sp>
        <p:nvSpPr>
          <p:cNvPr id="7" name="圆角矩形 75"/>
          <p:cNvSpPr/>
          <p:nvPr/>
        </p:nvSpPr>
        <p:spPr bwMode="gray">
          <a:xfrm>
            <a:off x="545688" y="2510133"/>
            <a:ext cx="5013864"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关于策略设计</a:t>
            </a:r>
          </a:p>
        </p:txBody>
      </p:sp>
      <p:sp>
        <p:nvSpPr>
          <p:cNvPr id="9" name="圆角矩形 75"/>
          <p:cNvSpPr/>
          <p:nvPr/>
        </p:nvSpPr>
        <p:spPr bwMode="gray">
          <a:xfrm>
            <a:off x="545688" y="5344336"/>
            <a:ext cx="5013864"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网络开启终端识别功能</a:t>
            </a:r>
          </a:p>
        </p:txBody>
      </p:sp>
      <p:sp>
        <p:nvSpPr>
          <p:cNvPr id="11" name="圆角矩形 75"/>
          <p:cNvSpPr/>
          <p:nvPr/>
        </p:nvSpPr>
        <p:spPr bwMode="gray">
          <a:xfrm>
            <a:off x="6181344" y="2510133"/>
            <a:ext cx="5440680" cy="651042"/>
          </a:xfrm>
          <a:prstGeom prst="roundRect">
            <a:avLst>
              <a:gd name="adj" fmla="val 5992"/>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梳理网络中需要自动下发策略的终端类型，</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并设计对应的授权策略，在</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上配置</a:t>
            </a:r>
          </a:p>
        </p:txBody>
      </p:sp>
      <p:graphicFrame>
        <p:nvGraphicFramePr>
          <p:cNvPr id="12" name="表格 11"/>
          <p:cNvGraphicFramePr>
            <a:graphicFrameLocks noGrp="1"/>
          </p:cNvGraphicFramePr>
          <p:nvPr>
            <p:extLst>
              <p:ext uri="{D42A27DB-BD31-4B8C-83A1-F6EECF244321}">
                <p14:modId xmlns:p14="http://schemas.microsoft.com/office/powerpoint/2010/main" val="1938442177"/>
              </p:ext>
            </p:extLst>
          </p:nvPr>
        </p:nvGraphicFramePr>
        <p:xfrm>
          <a:off x="6181343" y="3265936"/>
          <a:ext cx="5440680" cy="2438400"/>
        </p:xfrm>
        <a:graphic>
          <a:graphicData uri="http://schemas.openxmlformats.org/drawingml/2006/table">
            <a:tbl>
              <a:tblPr firstRow="1" firstCol="1" lastRow="1" lastCol="1" bandRow="1" bandCol="1"/>
              <a:tblGrid>
                <a:gridCol w="1957251">
                  <a:extLst>
                    <a:ext uri="{9D8B030D-6E8A-4147-A177-3AD203B41FA5}">
                      <a16:colId xmlns:a16="http://schemas.microsoft.com/office/drawing/2014/main" val="20000"/>
                    </a:ext>
                  </a:extLst>
                </a:gridCol>
                <a:gridCol w="1333880">
                  <a:extLst>
                    <a:ext uri="{9D8B030D-6E8A-4147-A177-3AD203B41FA5}">
                      <a16:colId xmlns:a16="http://schemas.microsoft.com/office/drawing/2014/main" val="20001"/>
                    </a:ext>
                  </a:extLst>
                </a:gridCol>
                <a:gridCol w="2149549">
                  <a:extLst>
                    <a:ext uri="{9D8B030D-6E8A-4147-A177-3AD203B41FA5}">
                      <a16:colId xmlns:a16="http://schemas.microsoft.com/office/drawing/2014/main" val="20002"/>
                    </a:ext>
                  </a:extLst>
                </a:gridCol>
              </a:tblGrid>
              <a:tr h="170367">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条件</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准入策略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授权策略</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70367">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操作系统：</a:t>
                      </a:r>
                      <a:r>
                        <a:rPr lang="en-US"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Android</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用户准入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授权</a:t>
                      </a:r>
                      <a:r>
                        <a:rPr lang="en-US"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ACL 1</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0367">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操作系统：</a:t>
                      </a:r>
                      <a:r>
                        <a:rPr lang="en-US"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IOS</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用户准入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授权</a:t>
                      </a:r>
                      <a:r>
                        <a:rPr lang="en-US"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ACL 2</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0367">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终端类型：打印机</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自动准入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授权</a:t>
                      </a:r>
                      <a:r>
                        <a:rPr lang="en-US"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VLAN10</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70367">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终端类型：</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摄像头</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自动准入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授权</a:t>
                      </a:r>
                      <a:r>
                        <a:rPr lang="en-US"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VLAN20 </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0367">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终端类型：</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话机</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自动准入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授权</a:t>
                      </a:r>
                      <a:r>
                        <a:rPr lang="en-US"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VLAN30 ; DSCP 48</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70367">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终端类型：门禁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自动准入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授权</a:t>
                      </a:r>
                      <a:r>
                        <a:rPr lang="en-US"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VLAN40 </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70367">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生产厂商：</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ABC</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用户准入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授权</a:t>
                      </a:r>
                      <a:r>
                        <a:rPr lang="en-US"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ACL 100</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3" name="Oval 4"/>
          <p:cNvSpPr>
            <a:spLocks noChangeAspect="1"/>
          </p:cNvSpPr>
          <p:nvPr/>
        </p:nvSpPr>
        <p:spPr bwMode="gray">
          <a:xfrm>
            <a:off x="797442" y="2564133"/>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Oval 4"/>
          <p:cNvSpPr>
            <a:spLocks noChangeAspect="1"/>
          </p:cNvSpPr>
          <p:nvPr/>
        </p:nvSpPr>
        <p:spPr bwMode="gray">
          <a:xfrm>
            <a:off x="797442" y="5398336"/>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Oval 4"/>
          <p:cNvSpPr>
            <a:spLocks noChangeAspect="1"/>
          </p:cNvSpPr>
          <p:nvPr/>
        </p:nvSpPr>
        <p:spPr bwMode="gray">
          <a:xfrm>
            <a:off x="6382057" y="2569174"/>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五边形 18"/>
          <p:cNvSpPr/>
          <p:nvPr/>
        </p:nvSpPr>
        <p:spPr bwMode="gray">
          <a:xfrm>
            <a:off x="8374235"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20" name="燕尾形 19"/>
          <p:cNvSpPr/>
          <p:nvPr/>
        </p:nvSpPr>
        <p:spPr bwMode="gray">
          <a:xfrm>
            <a:off x="9199186"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10024137"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策略管控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10849087"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终端识别</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0223225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800" dirty="0">
                <a:solidFill>
                  <a:schemeClr val="bg1">
                    <a:lumMod val="50000"/>
                  </a:schemeClr>
                </a:solidFill>
                <a:sym typeface="Huawei Sans" panose="020C0503030203020204" pitchFamily="34" charset="0"/>
              </a:rPr>
              <a:t>CloudCampus</a:t>
            </a:r>
            <a:r>
              <a:rPr lang="zh-CN" altLang="en-US" sz="1800" dirty="0">
                <a:solidFill>
                  <a:schemeClr val="bg1">
                    <a:lumMod val="50000"/>
                  </a:schemeClr>
                </a:solidFill>
                <a:sym typeface="Huawei Sans" panose="020C0503030203020204" pitchFamily="34" charset="0"/>
              </a:rPr>
              <a:t>解决方案及虚拟化园区网络概述</a:t>
            </a:r>
          </a:p>
          <a:p>
            <a:r>
              <a:rPr lang="zh-CN" altLang="en-US" sz="1800" dirty="0">
                <a:solidFill>
                  <a:schemeClr val="bg1">
                    <a:lumMod val="50000"/>
                  </a:schemeClr>
                </a:solidFill>
                <a:sym typeface="Huawei Sans" panose="020C0503030203020204" pitchFamily="34" charset="0"/>
              </a:rPr>
              <a:t>网络架构设计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Underlay</a:t>
            </a:r>
            <a:r>
              <a:rPr lang="zh-CN" altLang="en-US" sz="1800" dirty="0">
                <a:solidFill>
                  <a:schemeClr val="bg1">
                    <a:lumMod val="50000"/>
                  </a:schemeClr>
                </a:solidFill>
                <a:sym typeface="Huawei Sans" panose="020C0503030203020204" pitchFamily="34" charset="0"/>
              </a:rPr>
              <a:t>网络设计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Fabric</a:t>
            </a:r>
            <a:r>
              <a:rPr lang="zh-CN" altLang="en-US" sz="1800" dirty="0">
                <a:solidFill>
                  <a:schemeClr val="bg1">
                    <a:lumMod val="50000"/>
                  </a:schemeClr>
                </a:solidFill>
                <a:sym typeface="Huawei Sans" panose="020C0503030203020204" pitchFamily="34" charset="0"/>
              </a:rPr>
              <a:t>与</a:t>
            </a:r>
            <a:r>
              <a:rPr lang="en-US" altLang="zh-CN" sz="1800" dirty="0">
                <a:solidFill>
                  <a:schemeClr val="bg1">
                    <a:lumMod val="50000"/>
                  </a:schemeClr>
                </a:solidFill>
                <a:sym typeface="Huawei Sans" panose="020C0503030203020204" pitchFamily="34" charset="0"/>
              </a:rPr>
              <a:t>Overlay</a:t>
            </a:r>
            <a:r>
              <a:rPr lang="zh-CN" altLang="en-US" sz="1800" dirty="0">
                <a:solidFill>
                  <a:schemeClr val="bg1">
                    <a:lumMod val="50000"/>
                  </a:schemeClr>
                </a:solidFill>
                <a:sym typeface="Huawei Sans" panose="020C0503030203020204" pitchFamily="34" charset="0"/>
              </a:rPr>
              <a:t>网络设计</a:t>
            </a:r>
          </a:p>
          <a:p>
            <a:r>
              <a:rPr lang="zh-CN" altLang="en-US" sz="1800" dirty="0">
                <a:solidFill>
                  <a:schemeClr val="bg1">
                    <a:lumMod val="50000"/>
                  </a:schemeClr>
                </a:solidFill>
                <a:sym typeface="Huawei Sans" panose="020C0503030203020204" pitchFamily="34" charset="0"/>
              </a:rPr>
              <a:t>准入控制及业务随行设计</a:t>
            </a:r>
          </a:p>
          <a:p>
            <a:r>
              <a:rPr lang="en-US" altLang="zh-CN" sz="1800" b="1" dirty="0">
                <a:sym typeface="Huawei Sans" panose="020C0503030203020204" pitchFamily="34" charset="0"/>
              </a:rPr>
              <a:t>WLAN</a:t>
            </a:r>
            <a:r>
              <a:rPr lang="zh-CN" altLang="en-US" sz="1800" b="1" dirty="0">
                <a:sym typeface="Huawei Sans" panose="020C0503030203020204" pitchFamily="34" charset="0"/>
              </a:rPr>
              <a:t>设计</a:t>
            </a:r>
            <a:endParaRPr lang="en-US" altLang="zh-CN" sz="1800" b="1" dirty="0">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出口网络设计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网络安全与服务质量设计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运维管理设计</a:t>
            </a:r>
            <a:endParaRPr lang="en-US" altLang="zh-CN"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36922186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pPr hangingPunct="0"/>
            <a:r>
              <a:rPr lang="en-US" altLang="zh-CN" dirty="0">
                <a:sym typeface="Huawei Sans" panose="020C0503030203020204" pitchFamily="34" charset="0"/>
              </a:rPr>
              <a:t>WLAN</a:t>
            </a:r>
            <a:r>
              <a:rPr lang="zh-CN" altLang="en-US" dirty="0">
                <a:sym typeface="Huawei Sans" panose="020C0503030203020204" pitchFamily="34" charset="0"/>
              </a:rPr>
              <a:t>业务方案</a:t>
            </a:r>
          </a:p>
        </p:txBody>
      </p:sp>
      <p:sp>
        <p:nvSpPr>
          <p:cNvPr id="9" name="文本占位符 8"/>
          <p:cNvSpPr>
            <a:spLocks noGrp="1"/>
          </p:cNvSpPr>
          <p:nvPr>
            <p:ph type="body" sz="quarter" idx="10"/>
          </p:nvPr>
        </p:nvSpPr>
        <p:spPr>
          <a:xfrm>
            <a:off x="455612" y="1047750"/>
            <a:ext cx="11293475" cy="1303633"/>
          </a:xfrm>
        </p:spPr>
        <p:txBody>
          <a:bodyPr/>
          <a:lstStyle/>
          <a:p>
            <a:r>
              <a:rPr lang="zh-CN" altLang="en-US" sz="1800" dirty="0"/>
              <a:t>大中型园区的</a:t>
            </a:r>
            <a:r>
              <a:rPr lang="en-US" altLang="zh-CN" sz="1800" dirty="0"/>
              <a:t>WLAN</a:t>
            </a:r>
            <a:r>
              <a:rPr lang="zh-CN" altLang="en-US" sz="1800" dirty="0"/>
              <a:t>网络通常采用</a:t>
            </a:r>
            <a:r>
              <a:rPr lang="en-US" altLang="zh-CN" sz="1800" dirty="0"/>
              <a:t>AC + FIT AP</a:t>
            </a:r>
            <a:r>
              <a:rPr lang="zh-CN" altLang="en-US" sz="1800" dirty="0"/>
              <a:t>的组网架构。</a:t>
            </a:r>
            <a:endParaRPr lang="en-US" altLang="zh-CN" sz="1800" dirty="0"/>
          </a:p>
          <a:p>
            <a:r>
              <a:rPr lang="zh-CN" altLang="en-US" sz="1800" dirty="0"/>
              <a:t>根据</a:t>
            </a:r>
            <a:r>
              <a:rPr lang="en-US" altLang="zh-CN" sz="1800" dirty="0"/>
              <a:t>AC</a:t>
            </a:r>
            <a:r>
              <a:rPr lang="zh-CN" altLang="en-US" sz="1800" dirty="0"/>
              <a:t>在园区网络中的部署位置，可分为</a:t>
            </a:r>
            <a:r>
              <a:rPr lang="en-US" altLang="zh-CN" sz="1800" dirty="0"/>
              <a:t>AC</a:t>
            </a:r>
            <a:r>
              <a:rPr lang="zh-CN" altLang="en-US" sz="1800" dirty="0"/>
              <a:t>旁挂式组网和</a:t>
            </a:r>
            <a:r>
              <a:rPr lang="en-US" altLang="zh-CN" sz="1800" dirty="0"/>
              <a:t>AC</a:t>
            </a:r>
            <a:r>
              <a:rPr lang="zh-CN" altLang="en-US" sz="1800" dirty="0"/>
              <a:t>直连式组网。采用随板</a:t>
            </a:r>
            <a:r>
              <a:rPr lang="en-US" altLang="zh-CN" sz="1800" dirty="0"/>
              <a:t>AC</a:t>
            </a:r>
            <a:r>
              <a:rPr lang="zh-CN" altLang="en-US" sz="1800" dirty="0"/>
              <a:t>时，只能采用直连式组网；采用独立</a:t>
            </a:r>
            <a:r>
              <a:rPr lang="en-US" altLang="zh-CN" sz="1800" dirty="0"/>
              <a:t>AC</a:t>
            </a:r>
            <a:r>
              <a:rPr lang="zh-CN" altLang="en-US" sz="1800" dirty="0"/>
              <a:t>时，有直连式与旁挂式两种组网方式，推荐采用旁挂式组网。</a:t>
            </a:r>
          </a:p>
        </p:txBody>
      </p:sp>
      <p:cxnSp>
        <p:nvCxnSpPr>
          <p:cNvPr id="3" name="直接连接符 2"/>
          <p:cNvCxnSpPr/>
          <p:nvPr/>
        </p:nvCxnSpPr>
        <p:spPr bwMode="gray">
          <a:xfrm>
            <a:off x="7603087" y="4023973"/>
            <a:ext cx="7149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bwMode="gray">
          <a:xfrm>
            <a:off x="9288572" y="4023973"/>
            <a:ext cx="7149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圆角矩形 75"/>
          <p:cNvSpPr/>
          <p:nvPr/>
        </p:nvSpPr>
        <p:spPr bwMode="gray">
          <a:xfrm>
            <a:off x="446087" y="2401888"/>
            <a:ext cx="5607579"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方案</a:t>
            </a:r>
          </a:p>
        </p:txBody>
      </p:sp>
      <p:sp>
        <p:nvSpPr>
          <p:cNvPr id="6" name="圆角矩形 75"/>
          <p:cNvSpPr/>
          <p:nvPr/>
        </p:nvSpPr>
        <p:spPr bwMode="gray">
          <a:xfrm>
            <a:off x="446087" y="2793040"/>
            <a:ext cx="5607579" cy="3333750"/>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交换机内置</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功能。</a:t>
            </a:r>
          </a:p>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支持业务随行，有线无线用户统一在交换机上做策略。</a:t>
            </a:r>
          </a:p>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有线无线用户统一运维。</a:t>
            </a:r>
          </a:p>
          <a:p>
            <a:pPr algn="just" hangingPunct="0">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圆角矩形 75"/>
          <p:cNvSpPr/>
          <p:nvPr/>
        </p:nvSpPr>
        <p:spPr bwMode="gray">
          <a:xfrm>
            <a:off x="6138334" y="2401888"/>
            <a:ext cx="5574242"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独立</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方案</a:t>
            </a:r>
          </a:p>
        </p:txBody>
      </p:sp>
      <p:sp>
        <p:nvSpPr>
          <p:cNvPr id="8" name="圆角矩形 75"/>
          <p:cNvSpPr/>
          <p:nvPr/>
        </p:nvSpPr>
        <p:spPr bwMode="gray">
          <a:xfrm>
            <a:off x="6138334" y="2793040"/>
            <a:ext cx="5574242" cy="3333750"/>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独立</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（旁挂到核心设备）。</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无线用户支持业务随行，但需</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IP-Group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同步方案配合。</a:t>
            </a:r>
          </a:p>
          <a:p>
            <a:pPr marL="179388" indent="-179388" algn="just">
              <a:lnSpc>
                <a:spcPts val="18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有线无线用户不统一运维。</a:t>
            </a:r>
          </a:p>
        </p:txBody>
      </p:sp>
      <p:pic>
        <p:nvPicPr>
          <p:cNvPr id="12" name="图片 86" descr="核心交换机.png"/>
          <p:cNvPicPr>
            <a:picLocks noChangeAspect="1"/>
          </p:cNvPicPr>
          <p:nvPr/>
        </p:nvPicPr>
        <p:blipFill>
          <a:blip r:embed="rId3"/>
          <a:stretch>
            <a:fillRect/>
          </a:stretch>
        </p:blipFill>
        <p:spPr bwMode="gray">
          <a:xfrm>
            <a:off x="2842215" y="3875929"/>
            <a:ext cx="335885" cy="274815"/>
          </a:xfrm>
          <a:prstGeom prst="rect">
            <a:avLst/>
          </a:prstGeom>
        </p:spPr>
      </p:pic>
      <p:pic>
        <p:nvPicPr>
          <p:cNvPr id="13" name="图片 86" descr="核心交换机.png"/>
          <p:cNvPicPr>
            <a:picLocks noChangeAspect="1"/>
          </p:cNvPicPr>
          <p:nvPr/>
        </p:nvPicPr>
        <p:blipFill>
          <a:blip r:embed="rId3"/>
          <a:stretch>
            <a:fillRect/>
          </a:stretch>
        </p:blipFill>
        <p:spPr bwMode="gray">
          <a:xfrm>
            <a:off x="3560844" y="3875929"/>
            <a:ext cx="335885" cy="274815"/>
          </a:xfrm>
          <a:prstGeom prst="rect">
            <a:avLst/>
          </a:prstGeom>
        </p:spPr>
      </p:pic>
      <p:cxnSp>
        <p:nvCxnSpPr>
          <p:cNvPr id="14" name="直接连接符 13"/>
          <p:cNvCxnSpPr>
            <a:stCxn id="12" idx="3"/>
            <a:endCxn id="13" idx="1"/>
          </p:cNvCxnSpPr>
          <p:nvPr/>
        </p:nvCxnSpPr>
        <p:spPr bwMode="gray">
          <a:xfrm>
            <a:off x="3178100" y="4013337"/>
            <a:ext cx="38274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5" name="图片 87" descr="汇聚交换机.png"/>
          <p:cNvPicPr>
            <a:picLocks noChangeAspect="1"/>
          </p:cNvPicPr>
          <p:nvPr/>
        </p:nvPicPr>
        <p:blipFill>
          <a:blip r:embed="rId4"/>
          <a:stretch>
            <a:fillRect/>
          </a:stretch>
        </p:blipFill>
        <p:spPr bwMode="gray">
          <a:xfrm>
            <a:off x="2318643" y="4668010"/>
            <a:ext cx="335885" cy="274815"/>
          </a:xfrm>
          <a:prstGeom prst="rect">
            <a:avLst/>
          </a:prstGeom>
        </p:spPr>
      </p:pic>
      <p:pic>
        <p:nvPicPr>
          <p:cNvPr id="16" name="图片 87" descr="汇聚交换机.png"/>
          <p:cNvPicPr>
            <a:picLocks noChangeAspect="1"/>
          </p:cNvPicPr>
          <p:nvPr/>
        </p:nvPicPr>
        <p:blipFill>
          <a:blip r:embed="rId4"/>
          <a:stretch>
            <a:fillRect/>
          </a:stretch>
        </p:blipFill>
        <p:spPr bwMode="gray">
          <a:xfrm>
            <a:off x="1600014" y="4668010"/>
            <a:ext cx="335885" cy="274815"/>
          </a:xfrm>
          <a:prstGeom prst="rect">
            <a:avLst/>
          </a:prstGeom>
        </p:spPr>
      </p:pic>
      <p:cxnSp>
        <p:nvCxnSpPr>
          <p:cNvPr id="17" name="直接连接符 16"/>
          <p:cNvCxnSpPr>
            <a:stCxn id="16" idx="3"/>
            <a:endCxn id="15" idx="1"/>
          </p:cNvCxnSpPr>
          <p:nvPr/>
        </p:nvCxnSpPr>
        <p:spPr bwMode="gray">
          <a:xfrm>
            <a:off x="1935899" y="4805418"/>
            <a:ext cx="38274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8" name="图片 76" descr="接入交换机.png"/>
          <p:cNvPicPr>
            <a:picLocks noChangeAspect="1"/>
          </p:cNvPicPr>
          <p:nvPr/>
        </p:nvPicPr>
        <p:blipFill>
          <a:blip r:embed="rId5"/>
          <a:stretch>
            <a:fillRect/>
          </a:stretch>
        </p:blipFill>
        <p:spPr bwMode="gray">
          <a:xfrm>
            <a:off x="1601237" y="5227573"/>
            <a:ext cx="335885" cy="274815"/>
          </a:xfrm>
          <a:prstGeom prst="rect">
            <a:avLst/>
          </a:prstGeom>
        </p:spPr>
      </p:pic>
      <p:pic>
        <p:nvPicPr>
          <p:cNvPr id="19" name="图片 76" descr="接入交换机.png"/>
          <p:cNvPicPr>
            <a:picLocks noChangeAspect="1"/>
          </p:cNvPicPr>
          <p:nvPr/>
        </p:nvPicPr>
        <p:blipFill>
          <a:blip r:embed="rId5"/>
          <a:stretch>
            <a:fillRect/>
          </a:stretch>
        </p:blipFill>
        <p:spPr bwMode="gray">
          <a:xfrm>
            <a:off x="2317421" y="5227573"/>
            <a:ext cx="335885" cy="274815"/>
          </a:xfrm>
          <a:prstGeom prst="rect">
            <a:avLst/>
          </a:prstGeom>
        </p:spPr>
      </p:pic>
      <p:cxnSp>
        <p:nvCxnSpPr>
          <p:cNvPr id="20" name="直接连接符 19"/>
          <p:cNvCxnSpPr>
            <a:stCxn id="18" idx="3"/>
            <a:endCxn id="19" idx="1"/>
          </p:cNvCxnSpPr>
          <p:nvPr/>
        </p:nvCxnSpPr>
        <p:spPr bwMode="gray">
          <a:xfrm>
            <a:off x="1937122" y="5364981"/>
            <a:ext cx="38029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21" name="图片 87" descr="汇聚交换机.png"/>
          <p:cNvPicPr>
            <a:picLocks noChangeAspect="1"/>
          </p:cNvPicPr>
          <p:nvPr/>
        </p:nvPicPr>
        <p:blipFill>
          <a:blip r:embed="rId4"/>
          <a:stretch>
            <a:fillRect/>
          </a:stretch>
        </p:blipFill>
        <p:spPr bwMode="gray">
          <a:xfrm>
            <a:off x="4803044" y="4668010"/>
            <a:ext cx="335885" cy="274815"/>
          </a:xfrm>
          <a:prstGeom prst="rect">
            <a:avLst/>
          </a:prstGeom>
        </p:spPr>
      </p:pic>
      <p:pic>
        <p:nvPicPr>
          <p:cNvPr id="22" name="图片 87" descr="汇聚交换机.png"/>
          <p:cNvPicPr>
            <a:picLocks noChangeAspect="1"/>
          </p:cNvPicPr>
          <p:nvPr/>
        </p:nvPicPr>
        <p:blipFill>
          <a:blip r:embed="rId4"/>
          <a:stretch>
            <a:fillRect/>
          </a:stretch>
        </p:blipFill>
        <p:spPr bwMode="gray">
          <a:xfrm>
            <a:off x="4084415" y="4668010"/>
            <a:ext cx="335885" cy="274815"/>
          </a:xfrm>
          <a:prstGeom prst="rect">
            <a:avLst/>
          </a:prstGeom>
        </p:spPr>
      </p:pic>
      <p:cxnSp>
        <p:nvCxnSpPr>
          <p:cNvPr id="23" name="直接连接符 22"/>
          <p:cNvCxnSpPr>
            <a:stCxn id="22" idx="3"/>
            <a:endCxn id="21" idx="1"/>
          </p:cNvCxnSpPr>
          <p:nvPr/>
        </p:nvCxnSpPr>
        <p:spPr bwMode="gray">
          <a:xfrm>
            <a:off x="4420300" y="4805418"/>
            <a:ext cx="38274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24" name="图片 76" descr="接入交换机.png"/>
          <p:cNvPicPr>
            <a:picLocks noChangeAspect="1"/>
          </p:cNvPicPr>
          <p:nvPr/>
        </p:nvPicPr>
        <p:blipFill>
          <a:blip r:embed="rId5"/>
          <a:stretch>
            <a:fillRect/>
          </a:stretch>
        </p:blipFill>
        <p:spPr bwMode="gray">
          <a:xfrm>
            <a:off x="4085638" y="5227573"/>
            <a:ext cx="335885" cy="274815"/>
          </a:xfrm>
          <a:prstGeom prst="rect">
            <a:avLst/>
          </a:prstGeom>
        </p:spPr>
      </p:pic>
      <p:pic>
        <p:nvPicPr>
          <p:cNvPr id="25" name="图片 76" descr="接入交换机.png"/>
          <p:cNvPicPr>
            <a:picLocks noChangeAspect="1"/>
          </p:cNvPicPr>
          <p:nvPr/>
        </p:nvPicPr>
        <p:blipFill>
          <a:blip r:embed="rId5"/>
          <a:stretch>
            <a:fillRect/>
          </a:stretch>
        </p:blipFill>
        <p:spPr bwMode="gray">
          <a:xfrm>
            <a:off x="4801822" y="5227573"/>
            <a:ext cx="335885" cy="274815"/>
          </a:xfrm>
          <a:prstGeom prst="rect">
            <a:avLst/>
          </a:prstGeom>
        </p:spPr>
      </p:pic>
      <p:cxnSp>
        <p:nvCxnSpPr>
          <p:cNvPr id="26" name="直接连接符 25"/>
          <p:cNvCxnSpPr>
            <a:stCxn id="24" idx="3"/>
            <a:endCxn id="25" idx="1"/>
          </p:cNvCxnSpPr>
          <p:nvPr/>
        </p:nvCxnSpPr>
        <p:spPr bwMode="gray">
          <a:xfrm>
            <a:off x="4421523" y="5364981"/>
            <a:ext cx="38029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2" idx="2"/>
            <a:endCxn id="16" idx="0"/>
          </p:cNvCxnSpPr>
          <p:nvPr/>
        </p:nvCxnSpPr>
        <p:spPr bwMode="gray">
          <a:xfrm flipH="1">
            <a:off x="1767957" y="4150744"/>
            <a:ext cx="1242201" cy="517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2"/>
            <a:endCxn id="15" idx="0"/>
          </p:cNvCxnSpPr>
          <p:nvPr/>
        </p:nvCxnSpPr>
        <p:spPr bwMode="gray">
          <a:xfrm flipH="1">
            <a:off x="2486586" y="4150744"/>
            <a:ext cx="1242201" cy="517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2" idx="2"/>
            <a:endCxn id="22" idx="0"/>
          </p:cNvCxnSpPr>
          <p:nvPr/>
        </p:nvCxnSpPr>
        <p:spPr bwMode="gray">
          <a:xfrm>
            <a:off x="3010158" y="4150744"/>
            <a:ext cx="1242200" cy="517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3" idx="2"/>
            <a:endCxn id="21" idx="0"/>
          </p:cNvCxnSpPr>
          <p:nvPr/>
        </p:nvCxnSpPr>
        <p:spPr bwMode="gray">
          <a:xfrm>
            <a:off x="3728787" y="4150744"/>
            <a:ext cx="1242200" cy="517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6" idx="2"/>
            <a:endCxn id="18" idx="0"/>
          </p:cNvCxnSpPr>
          <p:nvPr/>
        </p:nvCxnSpPr>
        <p:spPr bwMode="gray">
          <a:xfrm>
            <a:off x="1767957" y="4942825"/>
            <a:ext cx="1223" cy="284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5" idx="2"/>
            <a:endCxn id="19" idx="0"/>
          </p:cNvCxnSpPr>
          <p:nvPr/>
        </p:nvCxnSpPr>
        <p:spPr bwMode="gray">
          <a:xfrm flipH="1">
            <a:off x="2485364" y="4942825"/>
            <a:ext cx="1222" cy="284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2" idx="2"/>
            <a:endCxn id="24" idx="0"/>
          </p:cNvCxnSpPr>
          <p:nvPr/>
        </p:nvCxnSpPr>
        <p:spPr bwMode="gray">
          <a:xfrm>
            <a:off x="4252358" y="4942825"/>
            <a:ext cx="1223" cy="284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1" idx="2"/>
            <a:endCxn id="25" idx="0"/>
          </p:cNvCxnSpPr>
          <p:nvPr/>
        </p:nvCxnSpPr>
        <p:spPr bwMode="gray">
          <a:xfrm flipH="1">
            <a:off x="4969765" y="4942825"/>
            <a:ext cx="1222" cy="284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5" name="图片 105" descr="AP.png"/>
          <p:cNvPicPr>
            <a:picLocks noChangeAspect="1"/>
          </p:cNvPicPr>
          <p:nvPr/>
        </p:nvPicPr>
        <p:blipFill>
          <a:blip r:embed="rId6"/>
          <a:stretch>
            <a:fillRect/>
          </a:stretch>
        </p:blipFill>
        <p:spPr bwMode="gray">
          <a:xfrm>
            <a:off x="2318038" y="5725637"/>
            <a:ext cx="335297" cy="274335"/>
          </a:xfrm>
          <a:prstGeom prst="rect">
            <a:avLst/>
          </a:prstGeom>
        </p:spPr>
      </p:pic>
      <p:pic>
        <p:nvPicPr>
          <p:cNvPr id="36" name="图片 105" descr="AP.png"/>
          <p:cNvPicPr>
            <a:picLocks noChangeAspect="1"/>
          </p:cNvPicPr>
          <p:nvPr/>
        </p:nvPicPr>
        <p:blipFill>
          <a:blip r:embed="rId6"/>
          <a:stretch>
            <a:fillRect/>
          </a:stretch>
        </p:blipFill>
        <p:spPr bwMode="gray">
          <a:xfrm>
            <a:off x="4085032" y="5725637"/>
            <a:ext cx="335297" cy="274335"/>
          </a:xfrm>
          <a:prstGeom prst="rect">
            <a:avLst/>
          </a:prstGeom>
        </p:spPr>
      </p:pic>
      <p:cxnSp>
        <p:nvCxnSpPr>
          <p:cNvPr id="37" name="直接连接符 36"/>
          <p:cNvCxnSpPr>
            <a:stCxn id="19" idx="2"/>
            <a:endCxn id="35" idx="0"/>
          </p:cNvCxnSpPr>
          <p:nvPr/>
        </p:nvCxnSpPr>
        <p:spPr bwMode="gray">
          <a:xfrm>
            <a:off x="2485364" y="5502388"/>
            <a:ext cx="323" cy="223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24" idx="2"/>
            <a:endCxn id="36" idx="0"/>
          </p:cNvCxnSpPr>
          <p:nvPr/>
        </p:nvCxnSpPr>
        <p:spPr bwMode="gray">
          <a:xfrm flipH="1">
            <a:off x="4252681" y="5502388"/>
            <a:ext cx="900" cy="223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图片 86" descr="核心交换机.png"/>
          <p:cNvPicPr>
            <a:picLocks noChangeAspect="1"/>
          </p:cNvPicPr>
          <p:nvPr/>
        </p:nvPicPr>
        <p:blipFill>
          <a:blip r:embed="rId3"/>
          <a:stretch>
            <a:fillRect/>
          </a:stretch>
        </p:blipFill>
        <p:spPr bwMode="gray">
          <a:xfrm>
            <a:off x="8318031" y="3875929"/>
            <a:ext cx="335885" cy="274815"/>
          </a:xfrm>
          <a:prstGeom prst="rect">
            <a:avLst/>
          </a:prstGeom>
        </p:spPr>
      </p:pic>
      <p:pic>
        <p:nvPicPr>
          <p:cNvPr id="43" name="图片 86" descr="核心交换机.png"/>
          <p:cNvPicPr>
            <a:picLocks noChangeAspect="1"/>
          </p:cNvPicPr>
          <p:nvPr/>
        </p:nvPicPr>
        <p:blipFill>
          <a:blip r:embed="rId3"/>
          <a:stretch>
            <a:fillRect/>
          </a:stretch>
        </p:blipFill>
        <p:spPr bwMode="gray">
          <a:xfrm>
            <a:off x="9036660" y="3875929"/>
            <a:ext cx="335885" cy="274815"/>
          </a:xfrm>
          <a:prstGeom prst="rect">
            <a:avLst/>
          </a:prstGeom>
        </p:spPr>
      </p:pic>
      <p:cxnSp>
        <p:nvCxnSpPr>
          <p:cNvPr id="44" name="直接连接符 43"/>
          <p:cNvCxnSpPr>
            <a:stCxn id="42" idx="3"/>
            <a:endCxn id="43" idx="1"/>
          </p:cNvCxnSpPr>
          <p:nvPr/>
        </p:nvCxnSpPr>
        <p:spPr bwMode="gray">
          <a:xfrm>
            <a:off x="8653916" y="4013337"/>
            <a:ext cx="38274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45" name="图片 87" descr="汇聚交换机.png"/>
          <p:cNvPicPr>
            <a:picLocks noChangeAspect="1"/>
          </p:cNvPicPr>
          <p:nvPr/>
        </p:nvPicPr>
        <p:blipFill>
          <a:blip r:embed="rId4"/>
          <a:stretch>
            <a:fillRect/>
          </a:stretch>
        </p:blipFill>
        <p:spPr bwMode="gray">
          <a:xfrm>
            <a:off x="7794459" y="4668010"/>
            <a:ext cx="335885" cy="274815"/>
          </a:xfrm>
          <a:prstGeom prst="rect">
            <a:avLst/>
          </a:prstGeom>
        </p:spPr>
      </p:pic>
      <p:pic>
        <p:nvPicPr>
          <p:cNvPr id="46" name="图片 87" descr="汇聚交换机.png"/>
          <p:cNvPicPr>
            <a:picLocks noChangeAspect="1"/>
          </p:cNvPicPr>
          <p:nvPr/>
        </p:nvPicPr>
        <p:blipFill>
          <a:blip r:embed="rId4"/>
          <a:stretch>
            <a:fillRect/>
          </a:stretch>
        </p:blipFill>
        <p:spPr bwMode="gray">
          <a:xfrm>
            <a:off x="7075830" y="4668010"/>
            <a:ext cx="335885" cy="274815"/>
          </a:xfrm>
          <a:prstGeom prst="rect">
            <a:avLst/>
          </a:prstGeom>
        </p:spPr>
      </p:pic>
      <p:cxnSp>
        <p:nvCxnSpPr>
          <p:cNvPr id="47" name="直接连接符 46"/>
          <p:cNvCxnSpPr>
            <a:stCxn id="46" idx="3"/>
            <a:endCxn id="45" idx="1"/>
          </p:cNvCxnSpPr>
          <p:nvPr/>
        </p:nvCxnSpPr>
        <p:spPr bwMode="gray">
          <a:xfrm>
            <a:off x="7411715" y="4805418"/>
            <a:ext cx="38274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48" name="图片 76" descr="接入交换机.png"/>
          <p:cNvPicPr>
            <a:picLocks noChangeAspect="1"/>
          </p:cNvPicPr>
          <p:nvPr/>
        </p:nvPicPr>
        <p:blipFill>
          <a:blip r:embed="rId5"/>
          <a:stretch>
            <a:fillRect/>
          </a:stretch>
        </p:blipFill>
        <p:spPr bwMode="gray">
          <a:xfrm>
            <a:off x="7077053" y="5227573"/>
            <a:ext cx="335885" cy="274815"/>
          </a:xfrm>
          <a:prstGeom prst="rect">
            <a:avLst/>
          </a:prstGeom>
        </p:spPr>
      </p:pic>
      <p:pic>
        <p:nvPicPr>
          <p:cNvPr id="49" name="图片 76" descr="接入交换机.png"/>
          <p:cNvPicPr>
            <a:picLocks noChangeAspect="1"/>
          </p:cNvPicPr>
          <p:nvPr/>
        </p:nvPicPr>
        <p:blipFill>
          <a:blip r:embed="rId5"/>
          <a:stretch>
            <a:fillRect/>
          </a:stretch>
        </p:blipFill>
        <p:spPr bwMode="gray">
          <a:xfrm>
            <a:off x="7793237" y="5227573"/>
            <a:ext cx="335885" cy="274815"/>
          </a:xfrm>
          <a:prstGeom prst="rect">
            <a:avLst/>
          </a:prstGeom>
        </p:spPr>
      </p:pic>
      <p:cxnSp>
        <p:nvCxnSpPr>
          <p:cNvPr id="50" name="直接连接符 49"/>
          <p:cNvCxnSpPr>
            <a:stCxn id="48" idx="3"/>
            <a:endCxn id="49" idx="1"/>
          </p:cNvCxnSpPr>
          <p:nvPr/>
        </p:nvCxnSpPr>
        <p:spPr bwMode="gray">
          <a:xfrm>
            <a:off x="7412938" y="5364981"/>
            <a:ext cx="38029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51" name="图片 87" descr="汇聚交换机.png"/>
          <p:cNvPicPr>
            <a:picLocks noChangeAspect="1"/>
          </p:cNvPicPr>
          <p:nvPr/>
        </p:nvPicPr>
        <p:blipFill>
          <a:blip r:embed="rId4"/>
          <a:stretch>
            <a:fillRect/>
          </a:stretch>
        </p:blipFill>
        <p:spPr bwMode="gray">
          <a:xfrm>
            <a:off x="10278860" y="4668010"/>
            <a:ext cx="335885" cy="274815"/>
          </a:xfrm>
          <a:prstGeom prst="rect">
            <a:avLst/>
          </a:prstGeom>
        </p:spPr>
      </p:pic>
      <p:pic>
        <p:nvPicPr>
          <p:cNvPr id="52" name="图片 87" descr="汇聚交换机.png"/>
          <p:cNvPicPr>
            <a:picLocks noChangeAspect="1"/>
          </p:cNvPicPr>
          <p:nvPr/>
        </p:nvPicPr>
        <p:blipFill>
          <a:blip r:embed="rId4"/>
          <a:stretch>
            <a:fillRect/>
          </a:stretch>
        </p:blipFill>
        <p:spPr bwMode="gray">
          <a:xfrm>
            <a:off x="9560231" y="4668010"/>
            <a:ext cx="335885" cy="274815"/>
          </a:xfrm>
          <a:prstGeom prst="rect">
            <a:avLst/>
          </a:prstGeom>
        </p:spPr>
      </p:pic>
      <p:cxnSp>
        <p:nvCxnSpPr>
          <p:cNvPr id="53" name="直接连接符 52"/>
          <p:cNvCxnSpPr>
            <a:stCxn id="52" idx="3"/>
            <a:endCxn id="51" idx="1"/>
          </p:cNvCxnSpPr>
          <p:nvPr/>
        </p:nvCxnSpPr>
        <p:spPr bwMode="gray">
          <a:xfrm>
            <a:off x="9896116" y="4805418"/>
            <a:ext cx="38274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54" name="图片 76" descr="接入交换机.png"/>
          <p:cNvPicPr>
            <a:picLocks noChangeAspect="1"/>
          </p:cNvPicPr>
          <p:nvPr/>
        </p:nvPicPr>
        <p:blipFill>
          <a:blip r:embed="rId5"/>
          <a:stretch>
            <a:fillRect/>
          </a:stretch>
        </p:blipFill>
        <p:spPr bwMode="gray">
          <a:xfrm>
            <a:off x="9561454" y="5227573"/>
            <a:ext cx="335885" cy="274815"/>
          </a:xfrm>
          <a:prstGeom prst="rect">
            <a:avLst/>
          </a:prstGeom>
        </p:spPr>
      </p:pic>
      <p:pic>
        <p:nvPicPr>
          <p:cNvPr id="55" name="图片 76" descr="接入交换机.png"/>
          <p:cNvPicPr>
            <a:picLocks noChangeAspect="1"/>
          </p:cNvPicPr>
          <p:nvPr/>
        </p:nvPicPr>
        <p:blipFill>
          <a:blip r:embed="rId5"/>
          <a:stretch>
            <a:fillRect/>
          </a:stretch>
        </p:blipFill>
        <p:spPr bwMode="gray">
          <a:xfrm>
            <a:off x="10277638" y="5227573"/>
            <a:ext cx="335885" cy="274815"/>
          </a:xfrm>
          <a:prstGeom prst="rect">
            <a:avLst/>
          </a:prstGeom>
        </p:spPr>
      </p:pic>
      <p:cxnSp>
        <p:nvCxnSpPr>
          <p:cNvPr id="56" name="直接连接符 55"/>
          <p:cNvCxnSpPr>
            <a:stCxn id="54" idx="3"/>
            <a:endCxn id="55" idx="1"/>
          </p:cNvCxnSpPr>
          <p:nvPr/>
        </p:nvCxnSpPr>
        <p:spPr bwMode="gray">
          <a:xfrm>
            <a:off x="9897339" y="5364981"/>
            <a:ext cx="38029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42" idx="2"/>
            <a:endCxn id="46" idx="0"/>
          </p:cNvCxnSpPr>
          <p:nvPr/>
        </p:nvCxnSpPr>
        <p:spPr bwMode="gray">
          <a:xfrm flipH="1">
            <a:off x="7243773" y="4150744"/>
            <a:ext cx="1242201" cy="517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3" idx="2"/>
            <a:endCxn id="45" idx="0"/>
          </p:cNvCxnSpPr>
          <p:nvPr/>
        </p:nvCxnSpPr>
        <p:spPr bwMode="gray">
          <a:xfrm flipH="1">
            <a:off x="7962402" y="4150744"/>
            <a:ext cx="1242201" cy="517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42" idx="2"/>
            <a:endCxn id="52" idx="0"/>
          </p:cNvCxnSpPr>
          <p:nvPr/>
        </p:nvCxnSpPr>
        <p:spPr bwMode="gray">
          <a:xfrm>
            <a:off x="8485974" y="4150744"/>
            <a:ext cx="1242200" cy="517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43" idx="2"/>
            <a:endCxn id="51" idx="0"/>
          </p:cNvCxnSpPr>
          <p:nvPr/>
        </p:nvCxnSpPr>
        <p:spPr bwMode="gray">
          <a:xfrm>
            <a:off x="9204603" y="4150744"/>
            <a:ext cx="1242200" cy="517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46" idx="2"/>
            <a:endCxn id="48" idx="0"/>
          </p:cNvCxnSpPr>
          <p:nvPr/>
        </p:nvCxnSpPr>
        <p:spPr bwMode="gray">
          <a:xfrm>
            <a:off x="7243773" y="4942825"/>
            <a:ext cx="1223" cy="284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45" idx="2"/>
            <a:endCxn id="49" idx="0"/>
          </p:cNvCxnSpPr>
          <p:nvPr/>
        </p:nvCxnSpPr>
        <p:spPr bwMode="gray">
          <a:xfrm flipH="1">
            <a:off x="7961180" y="4942825"/>
            <a:ext cx="1222" cy="284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2" idx="2"/>
            <a:endCxn id="54" idx="0"/>
          </p:cNvCxnSpPr>
          <p:nvPr/>
        </p:nvCxnSpPr>
        <p:spPr bwMode="gray">
          <a:xfrm>
            <a:off x="9728174" y="4942825"/>
            <a:ext cx="1223" cy="284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1" idx="2"/>
            <a:endCxn id="55" idx="0"/>
          </p:cNvCxnSpPr>
          <p:nvPr/>
        </p:nvCxnSpPr>
        <p:spPr bwMode="gray">
          <a:xfrm flipH="1">
            <a:off x="10445581" y="4942825"/>
            <a:ext cx="1222" cy="284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图片 105" descr="AP.png"/>
          <p:cNvPicPr>
            <a:picLocks noChangeAspect="1"/>
          </p:cNvPicPr>
          <p:nvPr/>
        </p:nvPicPr>
        <p:blipFill>
          <a:blip r:embed="rId6"/>
          <a:stretch>
            <a:fillRect/>
          </a:stretch>
        </p:blipFill>
        <p:spPr bwMode="gray">
          <a:xfrm>
            <a:off x="7793854" y="5725637"/>
            <a:ext cx="335297" cy="274335"/>
          </a:xfrm>
          <a:prstGeom prst="rect">
            <a:avLst/>
          </a:prstGeom>
        </p:spPr>
      </p:pic>
      <p:pic>
        <p:nvPicPr>
          <p:cNvPr id="66" name="图片 105" descr="AP.png"/>
          <p:cNvPicPr>
            <a:picLocks noChangeAspect="1"/>
          </p:cNvPicPr>
          <p:nvPr/>
        </p:nvPicPr>
        <p:blipFill>
          <a:blip r:embed="rId6"/>
          <a:stretch>
            <a:fillRect/>
          </a:stretch>
        </p:blipFill>
        <p:spPr bwMode="gray">
          <a:xfrm>
            <a:off x="9560848" y="5725637"/>
            <a:ext cx="335297" cy="274335"/>
          </a:xfrm>
          <a:prstGeom prst="rect">
            <a:avLst/>
          </a:prstGeom>
        </p:spPr>
      </p:pic>
      <p:cxnSp>
        <p:nvCxnSpPr>
          <p:cNvPr id="67" name="直接连接符 66"/>
          <p:cNvCxnSpPr>
            <a:stCxn id="49" idx="2"/>
            <a:endCxn id="65" idx="0"/>
          </p:cNvCxnSpPr>
          <p:nvPr/>
        </p:nvCxnSpPr>
        <p:spPr bwMode="gray">
          <a:xfrm>
            <a:off x="7961180" y="5502388"/>
            <a:ext cx="323" cy="223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4" idx="2"/>
            <a:endCxn id="66" idx="0"/>
          </p:cNvCxnSpPr>
          <p:nvPr/>
        </p:nvCxnSpPr>
        <p:spPr bwMode="gray">
          <a:xfrm flipH="1">
            <a:off x="9728497" y="5502388"/>
            <a:ext cx="900" cy="223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9" name="图片 123" descr="AC-黄.png"/>
          <p:cNvPicPr>
            <a:picLocks noChangeAspect="1"/>
          </p:cNvPicPr>
          <p:nvPr/>
        </p:nvPicPr>
        <p:blipFill>
          <a:blip r:embed="rId7"/>
          <a:stretch>
            <a:fillRect/>
          </a:stretch>
        </p:blipFill>
        <p:spPr bwMode="gray">
          <a:xfrm>
            <a:off x="7508607" y="3886806"/>
            <a:ext cx="335297" cy="274335"/>
          </a:xfrm>
          <a:prstGeom prst="rect">
            <a:avLst/>
          </a:prstGeom>
        </p:spPr>
      </p:pic>
      <p:pic>
        <p:nvPicPr>
          <p:cNvPr id="70" name="图片 123" descr="AC-黄.png"/>
          <p:cNvPicPr>
            <a:picLocks noChangeAspect="1"/>
          </p:cNvPicPr>
          <p:nvPr/>
        </p:nvPicPr>
        <p:blipFill>
          <a:blip r:embed="rId7"/>
          <a:stretch>
            <a:fillRect/>
          </a:stretch>
        </p:blipFill>
        <p:spPr bwMode="gray">
          <a:xfrm>
            <a:off x="9835868" y="3886806"/>
            <a:ext cx="335297" cy="274335"/>
          </a:xfrm>
          <a:prstGeom prst="rect">
            <a:avLst/>
          </a:prstGeom>
        </p:spPr>
      </p:pic>
      <p:sp>
        <p:nvSpPr>
          <p:cNvPr id="71" name="文本框 70"/>
          <p:cNvSpPr txBox="1"/>
          <p:nvPr/>
        </p:nvSpPr>
        <p:spPr bwMode="gray">
          <a:xfrm>
            <a:off x="7161403" y="3899531"/>
            <a:ext cx="386644" cy="276999"/>
          </a:xfrm>
          <a:prstGeom prst="rect">
            <a:avLst/>
          </a:prstGeom>
          <a:noFill/>
        </p:spPr>
        <p:txBody>
          <a:bodyPr wrap="none" rtlCol="0">
            <a:spAutoFit/>
          </a:bodyPr>
          <a:lstStyle/>
          <a:p>
            <a:pPr algn="ctr" hangingPunct="0"/>
            <a:r>
              <a:rPr lang="en-US" altLang="zh-CN" sz="12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sp>
        <p:nvSpPr>
          <p:cNvPr id="72" name="文本框 71"/>
          <p:cNvSpPr txBox="1"/>
          <p:nvPr/>
        </p:nvSpPr>
        <p:spPr bwMode="gray">
          <a:xfrm>
            <a:off x="10119100" y="3886806"/>
            <a:ext cx="386644" cy="276999"/>
          </a:xfrm>
          <a:prstGeom prst="rect">
            <a:avLst/>
          </a:prstGeom>
          <a:noFill/>
        </p:spPr>
        <p:txBody>
          <a:bodyPr wrap="none" rtlCol="0">
            <a:spAutoFit/>
          </a:bodyPr>
          <a:lstStyle/>
          <a:p>
            <a:pPr algn="ctr" hangingPunct="0"/>
            <a:r>
              <a:rPr lang="en-US" altLang="zh-CN" sz="12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sp>
        <p:nvSpPr>
          <p:cNvPr id="77" name="圆角矩形 76"/>
          <p:cNvSpPr/>
          <p:nvPr/>
        </p:nvSpPr>
        <p:spPr bwMode="gray">
          <a:xfrm>
            <a:off x="3799733" y="3961014"/>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hangingPunct="0"/>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bwMode="gray">
          <a:xfrm>
            <a:off x="3909358" y="3889134"/>
            <a:ext cx="694422" cy="276999"/>
          </a:xfrm>
          <a:prstGeom prst="rect">
            <a:avLst/>
          </a:prstGeom>
          <a:noFill/>
        </p:spPr>
        <p:txBody>
          <a:bodyPr wrap="none" rtlCol="0">
            <a:spAutoFit/>
          </a:bodyPr>
          <a:lstStyle/>
          <a:p>
            <a:pPr algn="ctr" hangingPunct="0"/>
            <a:r>
              <a:rPr lang="zh-CN" altLang="en-US" sz="12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sp>
        <p:nvSpPr>
          <p:cNvPr id="79" name="圆角矩形 78"/>
          <p:cNvSpPr/>
          <p:nvPr/>
        </p:nvSpPr>
        <p:spPr bwMode="gray">
          <a:xfrm>
            <a:off x="2723717" y="3961014"/>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hangingPunct="0"/>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780237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随板</a:t>
            </a:r>
            <a:r>
              <a:rPr lang="en-US" altLang="zh-CN" dirty="0">
                <a:sym typeface="Huawei Sans" panose="020C0503030203020204" pitchFamily="34" charset="0"/>
              </a:rPr>
              <a:t>AC</a:t>
            </a:r>
            <a:r>
              <a:rPr lang="zh-CN" altLang="en-US" dirty="0">
                <a:sym typeface="Huawei Sans" panose="020C0503030203020204" pitchFamily="34" charset="0"/>
              </a:rPr>
              <a:t>方案在</a:t>
            </a:r>
            <a:r>
              <a:rPr lang="en-US" altLang="zh-CN" dirty="0">
                <a:sym typeface="Huawei Sans" panose="020C0503030203020204" pitchFamily="34" charset="0"/>
              </a:rPr>
              <a:t>VXLAN</a:t>
            </a:r>
            <a:r>
              <a:rPr lang="zh-CN" altLang="en-US" dirty="0">
                <a:sym typeface="Huawei Sans" panose="020C0503030203020204" pitchFamily="34" charset="0"/>
              </a:rPr>
              <a:t>虚拟化园区中的部署</a:t>
            </a:r>
          </a:p>
        </p:txBody>
      </p:sp>
      <p:sp>
        <p:nvSpPr>
          <p:cNvPr id="38" name="圆角矩形 75"/>
          <p:cNvSpPr/>
          <p:nvPr/>
        </p:nvSpPr>
        <p:spPr bwMode="gray">
          <a:xfrm>
            <a:off x="452438" y="1130466"/>
            <a:ext cx="5608800"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集中式网关场景</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圆角矩形 75"/>
          <p:cNvSpPr/>
          <p:nvPr/>
        </p:nvSpPr>
        <p:spPr bwMode="gray">
          <a:xfrm>
            <a:off x="452439" y="1521617"/>
            <a:ext cx="5608800" cy="4679157"/>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0" name="文本框 39"/>
          <p:cNvSpPr txBox="1"/>
          <p:nvPr/>
        </p:nvSpPr>
        <p:spPr bwMode="gray">
          <a:xfrm>
            <a:off x="471489" y="4386940"/>
            <a:ext cx="5605793" cy="1813833"/>
          </a:xfrm>
          <a:prstGeom prst="rect">
            <a:avLst/>
          </a:prstGeom>
          <a:noFill/>
        </p:spPr>
        <p:txBody>
          <a:bodyPr wrap="square" rtlCol="0">
            <a:noAutofit/>
          </a:bodyPr>
          <a:lstStyle/>
          <a:p>
            <a:pPr marL="176213" indent="-176213">
              <a:lnSpc>
                <a:spcPts val="22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场景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交换机具备随板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功能，管理全网</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spcAft>
                <a:spcPts val="600"/>
              </a:spcAft>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推荐</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部署随板</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功能，</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推荐采用隧道转发模式。</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spcAft>
                <a:spcPts val="600"/>
              </a:spcAft>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无线用户在随板</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上进入</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作为无线用户网关。</a:t>
            </a:r>
          </a:p>
          <a:p>
            <a:pPr marL="360000" indent="-180000" defTabSz="914400">
              <a:lnSpc>
                <a:spcPct val="150000"/>
              </a:lnSpc>
              <a:spcAft>
                <a:spcPts val="600"/>
              </a:spcAft>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无线用户组策略在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上执行，支持业务随行。</a:t>
            </a:r>
          </a:p>
        </p:txBody>
      </p:sp>
      <p:sp>
        <p:nvSpPr>
          <p:cNvPr id="83" name="任意多边形 82"/>
          <p:cNvSpPr/>
          <p:nvPr/>
        </p:nvSpPr>
        <p:spPr bwMode="gray">
          <a:xfrm>
            <a:off x="1953533" y="1963213"/>
            <a:ext cx="2642412" cy="1565920"/>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4" name="图片 76" descr="接入交换机.png"/>
          <p:cNvPicPr>
            <a:picLocks noChangeAspect="1"/>
          </p:cNvPicPr>
          <p:nvPr/>
        </p:nvPicPr>
        <p:blipFill>
          <a:blip r:embed="rId3"/>
          <a:stretch>
            <a:fillRect/>
          </a:stretch>
        </p:blipFill>
        <p:spPr bwMode="gray">
          <a:xfrm>
            <a:off x="1902607" y="3340427"/>
            <a:ext cx="369474" cy="302298"/>
          </a:xfrm>
          <a:prstGeom prst="rect">
            <a:avLst/>
          </a:prstGeom>
        </p:spPr>
      </p:pic>
      <p:pic>
        <p:nvPicPr>
          <p:cNvPr id="85" name="图片 76" descr="接入交换机.png"/>
          <p:cNvPicPr>
            <a:picLocks noChangeAspect="1"/>
          </p:cNvPicPr>
          <p:nvPr/>
        </p:nvPicPr>
        <p:blipFill>
          <a:blip r:embed="rId3"/>
          <a:stretch>
            <a:fillRect/>
          </a:stretch>
        </p:blipFill>
        <p:spPr bwMode="gray">
          <a:xfrm>
            <a:off x="4184864" y="3340427"/>
            <a:ext cx="369474" cy="302298"/>
          </a:xfrm>
          <a:prstGeom prst="rect">
            <a:avLst/>
          </a:prstGeom>
        </p:spPr>
      </p:pic>
      <p:pic>
        <p:nvPicPr>
          <p:cNvPr id="86" name="图片 86" descr="核心交换机.png"/>
          <p:cNvPicPr>
            <a:picLocks noChangeAspect="1"/>
          </p:cNvPicPr>
          <p:nvPr/>
        </p:nvPicPr>
        <p:blipFill>
          <a:blip r:embed="rId4"/>
          <a:stretch>
            <a:fillRect/>
          </a:stretch>
        </p:blipFill>
        <p:spPr bwMode="gray">
          <a:xfrm>
            <a:off x="3097257" y="1834071"/>
            <a:ext cx="406421" cy="332528"/>
          </a:xfrm>
          <a:prstGeom prst="rect">
            <a:avLst/>
          </a:prstGeom>
        </p:spPr>
      </p:pic>
      <p:cxnSp>
        <p:nvCxnSpPr>
          <p:cNvPr id="87" name="直接连接符 86"/>
          <p:cNvCxnSpPr/>
          <p:nvPr/>
        </p:nvCxnSpPr>
        <p:spPr bwMode="gray">
          <a:xfrm>
            <a:off x="4352512" y="3623153"/>
            <a:ext cx="0" cy="4384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8" name="图片 105" descr="AP.png"/>
          <p:cNvPicPr>
            <a:picLocks noChangeAspect="1"/>
          </p:cNvPicPr>
          <p:nvPr/>
        </p:nvPicPr>
        <p:blipFill>
          <a:blip r:embed="rId5" cstate="print"/>
          <a:stretch>
            <a:fillRect/>
          </a:stretch>
        </p:blipFill>
        <p:spPr bwMode="gray">
          <a:xfrm>
            <a:off x="4184864" y="3855007"/>
            <a:ext cx="335297" cy="274335"/>
          </a:xfrm>
          <a:prstGeom prst="rect">
            <a:avLst/>
          </a:prstGeom>
        </p:spPr>
      </p:pic>
      <p:sp>
        <p:nvSpPr>
          <p:cNvPr id="89" name="圆角矩形 88"/>
          <p:cNvSpPr/>
          <p:nvPr/>
        </p:nvSpPr>
        <p:spPr bwMode="gray">
          <a:xfrm>
            <a:off x="3031869" y="1978651"/>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bwMode="gray">
          <a:xfrm>
            <a:off x="3488706" y="1806062"/>
            <a:ext cx="736099" cy="523220"/>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fontAlgn="auto"/>
            <a:r>
              <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Border</a:t>
            </a:r>
          </a:p>
          <a:p>
            <a:pPr fontAlgn="auto"/>
            <a:r>
              <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p:cNvSpPr txBox="1"/>
          <p:nvPr/>
        </p:nvSpPr>
        <p:spPr bwMode="gray">
          <a:xfrm>
            <a:off x="1325520" y="3331103"/>
            <a:ext cx="582211" cy="307777"/>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r" fontAlgn="auto"/>
            <a:r>
              <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92" name="文本框 91"/>
          <p:cNvSpPr txBox="1"/>
          <p:nvPr/>
        </p:nvSpPr>
        <p:spPr bwMode="gray">
          <a:xfrm>
            <a:off x="4545887" y="3331103"/>
            <a:ext cx="582211" cy="307777"/>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l" fontAlgn="auto"/>
            <a:r>
              <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94" name="圆角矩形 93"/>
          <p:cNvSpPr/>
          <p:nvPr/>
        </p:nvSpPr>
        <p:spPr bwMode="gray">
          <a:xfrm>
            <a:off x="599594" y="1675518"/>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文本框 94"/>
          <p:cNvSpPr txBox="1"/>
          <p:nvPr/>
        </p:nvSpPr>
        <p:spPr bwMode="gray">
          <a:xfrm>
            <a:off x="777778" y="1597910"/>
            <a:ext cx="851048" cy="244084"/>
          </a:xfrm>
          <a:prstGeom prst="rect">
            <a:avLst/>
          </a:prstGeom>
          <a:noFill/>
        </p:spPr>
        <p:txBody>
          <a:bodyPr wrap="square" rtlCol="0">
            <a:noAutofit/>
          </a:bodyPr>
          <a:lstStyle/>
          <a:p>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cxnSp>
        <p:nvCxnSpPr>
          <p:cNvPr id="96" name="Straight Connector 166"/>
          <p:cNvCxnSpPr/>
          <p:nvPr/>
        </p:nvCxnSpPr>
        <p:spPr bwMode="gray">
          <a:xfrm>
            <a:off x="579409" y="1967849"/>
            <a:ext cx="227950" cy="0"/>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97" name="矩形 96"/>
          <p:cNvSpPr/>
          <p:nvPr/>
        </p:nvSpPr>
        <p:spPr bwMode="gray">
          <a:xfrm>
            <a:off x="779229" y="1841994"/>
            <a:ext cx="1171854" cy="251711"/>
          </a:xfrm>
          <a:prstGeom prst="rect">
            <a:avLst/>
          </a:prstGeom>
        </p:spPr>
        <p:txBody>
          <a:bodyPr wrap="square">
            <a:no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CAPWAP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任意多边形 81"/>
          <p:cNvSpPr/>
          <p:nvPr/>
        </p:nvSpPr>
        <p:spPr bwMode="gray">
          <a:xfrm flipH="1">
            <a:off x="3412396" y="2194608"/>
            <a:ext cx="743279" cy="1816096"/>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8720"/>
              <a:gd name="connsiteY0" fmla="*/ 22855 h 5541091"/>
              <a:gd name="connsiteX1" fmla="*/ 18720 w 18720"/>
              <a:gd name="connsiteY1" fmla="*/ 5541091 h 5541091"/>
              <a:gd name="connsiteX0" fmla="*/ 0 w 18720"/>
              <a:gd name="connsiteY0" fmla="*/ 0 h 5518236"/>
              <a:gd name="connsiteX1" fmla="*/ 18720 w 18720"/>
              <a:gd name="connsiteY1" fmla="*/ 5518236 h 5518236"/>
              <a:gd name="connsiteX0" fmla="*/ 0 w 20070"/>
              <a:gd name="connsiteY0" fmla="*/ 0 h 5518236"/>
              <a:gd name="connsiteX1" fmla="*/ 18720 w 20070"/>
              <a:gd name="connsiteY1" fmla="*/ 5518236 h 5518236"/>
              <a:gd name="connsiteX0" fmla="*/ 319 w 5481"/>
              <a:gd name="connsiteY0" fmla="*/ 0 h 2546687"/>
              <a:gd name="connsiteX1" fmla="*/ 0 w 5481"/>
              <a:gd name="connsiteY1" fmla="*/ 2546687 h 2546687"/>
              <a:gd name="connsiteX0" fmla="*/ 0 w 10420"/>
              <a:gd name="connsiteY0" fmla="*/ 0 h 10000"/>
              <a:gd name="connsiteX1" fmla="*/ 1539 w 10420"/>
              <a:gd name="connsiteY1" fmla="*/ 10000 h 10000"/>
              <a:gd name="connsiteX0" fmla="*/ 572 w 9994"/>
              <a:gd name="connsiteY0" fmla="*/ 0 h 9810"/>
              <a:gd name="connsiteX1" fmla="*/ 0 w 9994"/>
              <a:gd name="connsiteY1" fmla="*/ 9810 h 9810"/>
              <a:gd name="connsiteX0" fmla="*/ 5061 w 12768"/>
              <a:gd name="connsiteY0" fmla="*/ 0 h 20927"/>
              <a:gd name="connsiteX1" fmla="*/ 0 w 12768"/>
              <a:gd name="connsiteY1" fmla="*/ 20927 h 20927"/>
              <a:gd name="connsiteX0" fmla="*/ 9271 w 9271"/>
              <a:gd name="connsiteY0" fmla="*/ 0 h 20927"/>
              <a:gd name="connsiteX1" fmla="*/ 4210 w 9271"/>
              <a:gd name="connsiteY1" fmla="*/ 20927 h 20927"/>
              <a:gd name="connsiteX0" fmla="*/ 37928 w 37928"/>
              <a:gd name="connsiteY0" fmla="*/ 0 h 14205"/>
              <a:gd name="connsiteX1" fmla="*/ 0 w 37928"/>
              <a:gd name="connsiteY1" fmla="*/ 14205 h 14205"/>
              <a:gd name="connsiteX0" fmla="*/ 58609 w 58609"/>
              <a:gd name="connsiteY0" fmla="*/ 0 h 14205"/>
              <a:gd name="connsiteX1" fmla="*/ 20681 w 58609"/>
              <a:gd name="connsiteY1" fmla="*/ 14205 h 14205"/>
              <a:gd name="connsiteX0" fmla="*/ 57971 w 57971"/>
              <a:gd name="connsiteY0" fmla="*/ 361 h 14566"/>
              <a:gd name="connsiteX1" fmla="*/ 20043 w 57971"/>
              <a:gd name="connsiteY1" fmla="*/ 14566 h 14566"/>
              <a:gd name="connsiteX0" fmla="*/ 27295 w 30950"/>
              <a:gd name="connsiteY0" fmla="*/ 361 h 14566"/>
              <a:gd name="connsiteX1" fmla="*/ 30950 w 30950"/>
              <a:gd name="connsiteY1" fmla="*/ 14566 h 14566"/>
              <a:gd name="connsiteX0" fmla="*/ 24221 w 27876"/>
              <a:gd name="connsiteY0" fmla="*/ 130 h 14335"/>
              <a:gd name="connsiteX1" fmla="*/ 27876 w 27876"/>
              <a:gd name="connsiteY1" fmla="*/ 14335 h 14335"/>
              <a:gd name="connsiteX0" fmla="*/ 25179 w 27410"/>
              <a:gd name="connsiteY0" fmla="*/ 130 h 14335"/>
              <a:gd name="connsiteX1" fmla="*/ 27410 w 27410"/>
              <a:gd name="connsiteY1" fmla="*/ 14335 h 14335"/>
              <a:gd name="connsiteX0" fmla="*/ 16262 w 18493"/>
              <a:gd name="connsiteY0" fmla="*/ 59 h 14264"/>
              <a:gd name="connsiteX1" fmla="*/ 18493 w 18493"/>
              <a:gd name="connsiteY1" fmla="*/ 14264 h 14264"/>
              <a:gd name="connsiteX0" fmla="*/ 17213 w 19444"/>
              <a:gd name="connsiteY0" fmla="*/ 0 h 14205"/>
              <a:gd name="connsiteX1" fmla="*/ 19444 w 19444"/>
              <a:gd name="connsiteY1" fmla="*/ 14205 h 14205"/>
              <a:gd name="connsiteX0" fmla="*/ 16974 w 19205"/>
              <a:gd name="connsiteY0" fmla="*/ 0 h 14205"/>
              <a:gd name="connsiteX1" fmla="*/ 19205 w 19205"/>
              <a:gd name="connsiteY1" fmla="*/ 14205 h 14205"/>
              <a:gd name="connsiteX0" fmla="*/ 50742 w 50742"/>
              <a:gd name="connsiteY0" fmla="*/ 0 h 15024"/>
              <a:gd name="connsiteX1" fmla="*/ 9866 w 50742"/>
              <a:gd name="connsiteY1" fmla="*/ 15024 h 15024"/>
              <a:gd name="connsiteX0" fmla="*/ 40876 w 40876"/>
              <a:gd name="connsiteY0" fmla="*/ 0 h 15024"/>
              <a:gd name="connsiteX1" fmla="*/ 0 w 40876"/>
              <a:gd name="connsiteY1" fmla="*/ 15024 h 15024"/>
              <a:gd name="connsiteX0" fmla="*/ 40876 w 41223"/>
              <a:gd name="connsiteY0" fmla="*/ 0 h 15024"/>
              <a:gd name="connsiteX1" fmla="*/ 0 w 41223"/>
              <a:gd name="connsiteY1" fmla="*/ 15024 h 15024"/>
            </a:gdLst>
            <a:ahLst/>
            <a:cxnLst>
              <a:cxn ang="0">
                <a:pos x="connsiteX0" y="connsiteY0"/>
              </a:cxn>
              <a:cxn ang="0">
                <a:pos x="connsiteX1" y="connsiteY1"/>
              </a:cxn>
            </a:cxnLst>
            <a:rect l="l" t="t" r="r" b="b"/>
            <a:pathLst>
              <a:path w="41223" h="15024">
                <a:moveTo>
                  <a:pt x="40876" y="0"/>
                </a:moveTo>
                <a:cubicBezTo>
                  <a:pt x="43879" y="7165"/>
                  <a:pt x="27208" y="11116"/>
                  <a:pt x="0" y="15024"/>
                </a:cubicBezTo>
              </a:path>
            </a:pathLst>
          </a:cu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圆角矩形 75"/>
          <p:cNvSpPr/>
          <p:nvPr/>
        </p:nvSpPr>
        <p:spPr bwMode="gray">
          <a:xfrm>
            <a:off x="6106471" y="1130464"/>
            <a:ext cx="5607579"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分布式网关场景</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75"/>
          <p:cNvSpPr/>
          <p:nvPr/>
        </p:nvSpPr>
        <p:spPr bwMode="gray">
          <a:xfrm>
            <a:off x="6106471" y="1521615"/>
            <a:ext cx="5607579" cy="4679159"/>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3" name="文本框 42"/>
          <p:cNvSpPr txBox="1"/>
          <p:nvPr/>
        </p:nvSpPr>
        <p:spPr bwMode="gray">
          <a:xfrm>
            <a:off x="6113943" y="4386940"/>
            <a:ext cx="5600108" cy="1813834"/>
          </a:xfrm>
          <a:prstGeom prst="rect">
            <a:avLst/>
          </a:prstGeom>
          <a:noFill/>
        </p:spPr>
        <p:txBody>
          <a:bodyPr wrap="square" rtlCol="0">
            <a:noAutofit/>
          </a:bodyPr>
          <a:lstStyle/>
          <a:p>
            <a:pPr marL="176213" indent="-176213">
              <a:lnSpc>
                <a:spcPts val="22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场景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交换机具备随板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功能，管理全网</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spcAft>
                <a:spcPts val="600"/>
              </a:spcAft>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当整网无线用户数量超过</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50K</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时，推荐分布式网关场景。在本场景中，</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推荐采用隧道转发模式。</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spcAft>
                <a:spcPts val="600"/>
              </a:spcAft>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无线用户在随板</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上进入</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作为无线用户网关。</a:t>
            </a:r>
          </a:p>
          <a:p>
            <a:pPr marL="360000" indent="-180000" defTabSz="914400">
              <a:lnSpc>
                <a:spcPct val="150000"/>
              </a:lnSpc>
              <a:spcAft>
                <a:spcPts val="600"/>
              </a:spcAft>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无线用户组策略在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上执行，支持业务随行。</a:t>
            </a:r>
          </a:p>
        </p:txBody>
      </p:sp>
      <p:sp>
        <p:nvSpPr>
          <p:cNvPr id="44" name="任意多边形 43"/>
          <p:cNvSpPr/>
          <p:nvPr/>
        </p:nvSpPr>
        <p:spPr bwMode="gray">
          <a:xfrm>
            <a:off x="7624651" y="1963213"/>
            <a:ext cx="2642412" cy="1565920"/>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5" name="图片 76" descr="接入交换机.png"/>
          <p:cNvPicPr>
            <a:picLocks noChangeAspect="1"/>
          </p:cNvPicPr>
          <p:nvPr/>
        </p:nvPicPr>
        <p:blipFill>
          <a:blip r:embed="rId3"/>
          <a:stretch>
            <a:fillRect/>
          </a:stretch>
        </p:blipFill>
        <p:spPr bwMode="gray">
          <a:xfrm>
            <a:off x="7573725" y="3340427"/>
            <a:ext cx="369474" cy="302298"/>
          </a:xfrm>
          <a:prstGeom prst="rect">
            <a:avLst/>
          </a:prstGeom>
        </p:spPr>
      </p:pic>
      <p:pic>
        <p:nvPicPr>
          <p:cNvPr id="46" name="图片 76" descr="接入交换机.png"/>
          <p:cNvPicPr>
            <a:picLocks noChangeAspect="1"/>
          </p:cNvPicPr>
          <p:nvPr/>
        </p:nvPicPr>
        <p:blipFill>
          <a:blip r:embed="rId3"/>
          <a:stretch>
            <a:fillRect/>
          </a:stretch>
        </p:blipFill>
        <p:spPr bwMode="gray">
          <a:xfrm>
            <a:off x="9855982" y="3340427"/>
            <a:ext cx="369474" cy="302298"/>
          </a:xfrm>
          <a:prstGeom prst="rect">
            <a:avLst/>
          </a:prstGeom>
        </p:spPr>
      </p:pic>
      <p:pic>
        <p:nvPicPr>
          <p:cNvPr id="47" name="图片 86" descr="核心交换机.png"/>
          <p:cNvPicPr>
            <a:picLocks noChangeAspect="1"/>
          </p:cNvPicPr>
          <p:nvPr/>
        </p:nvPicPr>
        <p:blipFill>
          <a:blip r:embed="rId4"/>
          <a:stretch>
            <a:fillRect/>
          </a:stretch>
        </p:blipFill>
        <p:spPr bwMode="gray">
          <a:xfrm>
            <a:off x="8768375" y="1834071"/>
            <a:ext cx="406421" cy="332528"/>
          </a:xfrm>
          <a:prstGeom prst="rect">
            <a:avLst/>
          </a:prstGeom>
        </p:spPr>
      </p:pic>
      <p:cxnSp>
        <p:nvCxnSpPr>
          <p:cNvPr id="48" name="直接连接符 47"/>
          <p:cNvCxnSpPr/>
          <p:nvPr/>
        </p:nvCxnSpPr>
        <p:spPr bwMode="gray">
          <a:xfrm>
            <a:off x="10023630" y="3623153"/>
            <a:ext cx="0" cy="4384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105" descr="AP.png"/>
          <p:cNvPicPr>
            <a:picLocks noChangeAspect="1"/>
          </p:cNvPicPr>
          <p:nvPr/>
        </p:nvPicPr>
        <p:blipFill>
          <a:blip r:embed="rId5" cstate="print"/>
          <a:stretch>
            <a:fillRect/>
          </a:stretch>
        </p:blipFill>
        <p:spPr bwMode="gray">
          <a:xfrm>
            <a:off x="9855982" y="3855007"/>
            <a:ext cx="335297" cy="274335"/>
          </a:xfrm>
          <a:prstGeom prst="rect">
            <a:avLst/>
          </a:prstGeom>
        </p:spPr>
      </p:pic>
      <p:sp>
        <p:nvSpPr>
          <p:cNvPr id="57" name="圆角矩形 56"/>
          <p:cNvSpPr/>
          <p:nvPr/>
        </p:nvSpPr>
        <p:spPr bwMode="gray">
          <a:xfrm>
            <a:off x="8679283" y="1959950"/>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9163831" y="1806062"/>
            <a:ext cx="728084" cy="307777"/>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fontAlgn="auto"/>
            <a:r>
              <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59" name="文本框 58"/>
          <p:cNvSpPr txBox="1"/>
          <p:nvPr/>
        </p:nvSpPr>
        <p:spPr bwMode="gray">
          <a:xfrm>
            <a:off x="6836338" y="3247102"/>
            <a:ext cx="742511" cy="523220"/>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r"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a:p>
            <a:pPr algn="r"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10217005" y="3247102"/>
            <a:ext cx="742511" cy="523220"/>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l"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a:p>
            <a:pPr algn="l"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圆角矩形 61"/>
          <p:cNvSpPr/>
          <p:nvPr/>
        </p:nvSpPr>
        <p:spPr bwMode="gray">
          <a:xfrm>
            <a:off x="6270712" y="1675518"/>
            <a:ext cx="178184" cy="88869"/>
          </a:xfrm>
          <a:prstGeom prst="roundRect">
            <a:avLst/>
          </a:prstGeom>
          <a:solidFill>
            <a:srgbClr val="FFC000"/>
          </a:solidFill>
          <a:ln>
            <a:solidFill>
              <a:srgbClr val="1262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6448896" y="1597910"/>
            <a:ext cx="851048" cy="244084"/>
          </a:xfrm>
          <a:prstGeom prst="rect">
            <a:avLst/>
          </a:prstGeom>
          <a:noFill/>
        </p:spPr>
        <p:txBody>
          <a:bodyPr wrap="square" rtlCol="0">
            <a:noAutofit/>
          </a:bodyPr>
          <a:lstStyle/>
          <a:p>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cxnSp>
        <p:nvCxnSpPr>
          <p:cNvPr id="64" name="Straight Connector 166"/>
          <p:cNvCxnSpPr/>
          <p:nvPr/>
        </p:nvCxnSpPr>
        <p:spPr bwMode="gray">
          <a:xfrm>
            <a:off x="6250527" y="1967849"/>
            <a:ext cx="227950" cy="0"/>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65" name="矩形 64"/>
          <p:cNvSpPr/>
          <p:nvPr/>
        </p:nvSpPr>
        <p:spPr bwMode="gray">
          <a:xfrm>
            <a:off x="6450347" y="1841994"/>
            <a:ext cx="1171854" cy="251711"/>
          </a:xfrm>
          <a:prstGeom prst="rect">
            <a:avLst/>
          </a:prstGeom>
        </p:spPr>
        <p:txBody>
          <a:bodyPr wrap="square">
            <a:no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CAPWAP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任意多边形 49"/>
          <p:cNvSpPr/>
          <p:nvPr/>
        </p:nvSpPr>
        <p:spPr bwMode="gray">
          <a:xfrm flipH="1">
            <a:off x="9045257" y="2194608"/>
            <a:ext cx="743279" cy="1816096"/>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8720"/>
              <a:gd name="connsiteY0" fmla="*/ 22855 h 5541091"/>
              <a:gd name="connsiteX1" fmla="*/ 18720 w 18720"/>
              <a:gd name="connsiteY1" fmla="*/ 5541091 h 5541091"/>
              <a:gd name="connsiteX0" fmla="*/ 0 w 18720"/>
              <a:gd name="connsiteY0" fmla="*/ 0 h 5518236"/>
              <a:gd name="connsiteX1" fmla="*/ 18720 w 18720"/>
              <a:gd name="connsiteY1" fmla="*/ 5518236 h 5518236"/>
              <a:gd name="connsiteX0" fmla="*/ 0 w 20070"/>
              <a:gd name="connsiteY0" fmla="*/ 0 h 5518236"/>
              <a:gd name="connsiteX1" fmla="*/ 18720 w 20070"/>
              <a:gd name="connsiteY1" fmla="*/ 5518236 h 5518236"/>
              <a:gd name="connsiteX0" fmla="*/ 319 w 5481"/>
              <a:gd name="connsiteY0" fmla="*/ 0 h 2546687"/>
              <a:gd name="connsiteX1" fmla="*/ 0 w 5481"/>
              <a:gd name="connsiteY1" fmla="*/ 2546687 h 2546687"/>
              <a:gd name="connsiteX0" fmla="*/ 0 w 10420"/>
              <a:gd name="connsiteY0" fmla="*/ 0 h 10000"/>
              <a:gd name="connsiteX1" fmla="*/ 1539 w 10420"/>
              <a:gd name="connsiteY1" fmla="*/ 10000 h 10000"/>
              <a:gd name="connsiteX0" fmla="*/ 572 w 9994"/>
              <a:gd name="connsiteY0" fmla="*/ 0 h 9810"/>
              <a:gd name="connsiteX1" fmla="*/ 0 w 9994"/>
              <a:gd name="connsiteY1" fmla="*/ 9810 h 9810"/>
              <a:gd name="connsiteX0" fmla="*/ 5061 w 12768"/>
              <a:gd name="connsiteY0" fmla="*/ 0 h 20927"/>
              <a:gd name="connsiteX1" fmla="*/ 0 w 12768"/>
              <a:gd name="connsiteY1" fmla="*/ 20927 h 20927"/>
              <a:gd name="connsiteX0" fmla="*/ 9271 w 9271"/>
              <a:gd name="connsiteY0" fmla="*/ 0 h 20927"/>
              <a:gd name="connsiteX1" fmla="*/ 4210 w 9271"/>
              <a:gd name="connsiteY1" fmla="*/ 20927 h 20927"/>
              <a:gd name="connsiteX0" fmla="*/ 37928 w 37928"/>
              <a:gd name="connsiteY0" fmla="*/ 0 h 14205"/>
              <a:gd name="connsiteX1" fmla="*/ 0 w 37928"/>
              <a:gd name="connsiteY1" fmla="*/ 14205 h 14205"/>
              <a:gd name="connsiteX0" fmla="*/ 58609 w 58609"/>
              <a:gd name="connsiteY0" fmla="*/ 0 h 14205"/>
              <a:gd name="connsiteX1" fmla="*/ 20681 w 58609"/>
              <a:gd name="connsiteY1" fmla="*/ 14205 h 14205"/>
              <a:gd name="connsiteX0" fmla="*/ 57971 w 57971"/>
              <a:gd name="connsiteY0" fmla="*/ 361 h 14566"/>
              <a:gd name="connsiteX1" fmla="*/ 20043 w 57971"/>
              <a:gd name="connsiteY1" fmla="*/ 14566 h 14566"/>
              <a:gd name="connsiteX0" fmla="*/ 27295 w 30950"/>
              <a:gd name="connsiteY0" fmla="*/ 361 h 14566"/>
              <a:gd name="connsiteX1" fmla="*/ 30950 w 30950"/>
              <a:gd name="connsiteY1" fmla="*/ 14566 h 14566"/>
              <a:gd name="connsiteX0" fmla="*/ 24221 w 27876"/>
              <a:gd name="connsiteY0" fmla="*/ 130 h 14335"/>
              <a:gd name="connsiteX1" fmla="*/ 27876 w 27876"/>
              <a:gd name="connsiteY1" fmla="*/ 14335 h 14335"/>
              <a:gd name="connsiteX0" fmla="*/ 25179 w 27410"/>
              <a:gd name="connsiteY0" fmla="*/ 130 h 14335"/>
              <a:gd name="connsiteX1" fmla="*/ 27410 w 27410"/>
              <a:gd name="connsiteY1" fmla="*/ 14335 h 14335"/>
              <a:gd name="connsiteX0" fmla="*/ 16262 w 18493"/>
              <a:gd name="connsiteY0" fmla="*/ 59 h 14264"/>
              <a:gd name="connsiteX1" fmla="*/ 18493 w 18493"/>
              <a:gd name="connsiteY1" fmla="*/ 14264 h 14264"/>
              <a:gd name="connsiteX0" fmla="*/ 17213 w 19444"/>
              <a:gd name="connsiteY0" fmla="*/ 0 h 14205"/>
              <a:gd name="connsiteX1" fmla="*/ 19444 w 19444"/>
              <a:gd name="connsiteY1" fmla="*/ 14205 h 14205"/>
              <a:gd name="connsiteX0" fmla="*/ 16974 w 19205"/>
              <a:gd name="connsiteY0" fmla="*/ 0 h 14205"/>
              <a:gd name="connsiteX1" fmla="*/ 19205 w 19205"/>
              <a:gd name="connsiteY1" fmla="*/ 14205 h 14205"/>
              <a:gd name="connsiteX0" fmla="*/ 50742 w 50742"/>
              <a:gd name="connsiteY0" fmla="*/ 0 h 15024"/>
              <a:gd name="connsiteX1" fmla="*/ 9866 w 50742"/>
              <a:gd name="connsiteY1" fmla="*/ 15024 h 15024"/>
              <a:gd name="connsiteX0" fmla="*/ 40876 w 40876"/>
              <a:gd name="connsiteY0" fmla="*/ 0 h 15024"/>
              <a:gd name="connsiteX1" fmla="*/ 0 w 40876"/>
              <a:gd name="connsiteY1" fmla="*/ 15024 h 15024"/>
              <a:gd name="connsiteX0" fmla="*/ 40876 w 41223"/>
              <a:gd name="connsiteY0" fmla="*/ 0 h 15024"/>
              <a:gd name="connsiteX1" fmla="*/ 0 w 41223"/>
              <a:gd name="connsiteY1" fmla="*/ 15024 h 15024"/>
            </a:gdLst>
            <a:ahLst/>
            <a:cxnLst>
              <a:cxn ang="0">
                <a:pos x="connsiteX0" y="connsiteY0"/>
              </a:cxn>
              <a:cxn ang="0">
                <a:pos x="connsiteX1" y="connsiteY1"/>
              </a:cxn>
            </a:cxnLst>
            <a:rect l="l" t="t" r="r" b="b"/>
            <a:pathLst>
              <a:path w="41223" h="15024">
                <a:moveTo>
                  <a:pt x="40876" y="0"/>
                </a:moveTo>
                <a:cubicBezTo>
                  <a:pt x="43879" y="7165"/>
                  <a:pt x="27208" y="11116"/>
                  <a:pt x="0" y="15024"/>
                </a:cubicBezTo>
              </a:path>
            </a:pathLst>
          </a:cu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6897164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直接连接符 39"/>
          <p:cNvCxnSpPr/>
          <p:nvPr/>
        </p:nvCxnSpPr>
        <p:spPr bwMode="gray">
          <a:xfrm flipH="1">
            <a:off x="3473149" y="1983251"/>
            <a:ext cx="6867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dirty="0">
                <a:sym typeface="Huawei Sans" panose="020C0503030203020204" pitchFamily="34" charset="0"/>
              </a:rPr>
              <a:t>独立</a:t>
            </a:r>
            <a:r>
              <a:rPr lang="en-US" altLang="zh-CN" dirty="0">
                <a:sym typeface="Huawei Sans" panose="020C0503030203020204" pitchFamily="34" charset="0"/>
              </a:rPr>
              <a:t>AC</a:t>
            </a:r>
            <a:r>
              <a:rPr lang="zh-CN" altLang="en-US" dirty="0">
                <a:sym typeface="Huawei Sans" panose="020C0503030203020204" pitchFamily="34" charset="0"/>
              </a:rPr>
              <a:t>方案在</a:t>
            </a:r>
            <a:r>
              <a:rPr lang="en-US" altLang="zh-CN" dirty="0">
                <a:sym typeface="Huawei Sans" panose="020C0503030203020204" pitchFamily="34" charset="0"/>
              </a:rPr>
              <a:t>VXLAN</a:t>
            </a:r>
            <a:r>
              <a:rPr lang="zh-CN" altLang="en-US" dirty="0">
                <a:sym typeface="Huawei Sans" panose="020C0503030203020204" pitchFamily="34" charset="0"/>
              </a:rPr>
              <a:t>虚拟化园区中的部署</a:t>
            </a:r>
            <a:endParaRPr lang="zh-CN" altLang="en-US" dirty="0"/>
          </a:p>
        </p:txBody>
      </p:sp>
      <p:sp>
        <p:nvSpPr>
          <p:cNvPr id="3" name="圆角矩形 75"/>
          <p:cNvSpPr/>
          <p:nvPr/>
        </p:nvSpPr>
        <p:spPr bwMode="gray">
          <a:xfrm>
            <a:off x="446087" y="1130464"/>
            <a:ext cx="5607579"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集中式网关场景</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75"/>
          <p:cNvSpPr/>
          <p:nvPr/>
        </p:nvSpPr>
        <p:spPr bwMode="gray">
          <a:xfrm>
            <a:off x="446087" y="1521615"/>
            <a:ext cx="5607579" cy="4679159"/>
          </a:xfrm>
          <a:prstGeom prst="roundRect">
            <a:avLst>
              <a:gd name="adj" fmla="val 95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 name="圆角矩形 75"/>
          <p:cNvSpPr/>
          <p:nvPr/>
        </p:nvSpPr>
        <p:spPr bwMode="gray">
          <a:xfrm>
            <a:off x="6109761" y="1521615"/>
            <a:ext cx="5574239" cy="4679159"/>
          </a:xfrm>
          <a:prstGeom prst="roundRect">
            <a:avLst>
              <a:gd name="adj" fmla="val 1117"/>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 name="任意多边形 5"/>
          <p:cNvSpPr/>
          <p:nvPr/>
        </p:nvSpPr>
        <p:spPr bwMode="gray">
          <a:xfrm>
            <a:off x="1964267" y="1963213"/>
            <a:ext cx="2642412" cy="1565920"/>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76" descr="接入交换机.png"/>
          <p:cNvPicPr>
            <a:picLocks noChangeAspect="1"/>
          </p:cNvPicPr>
          <p:nvPr/>
        </p:nvPicPr>
        <p:blipFill>
          <a:blip r:embed="rId3"/>
          <a:stretch>
            <a:fillRect/>
          </a:stretch>
        </p:blipFill>
        <p:spPr bwMode="gray">
          <a:xfrm>
            <a:off x="1913341" y="3340427"/>
            <a:ext cx="369474" cy="302298"/>
          </a:xfrm>
          <a:prstGeom prst="rect">
            <a:avLst/>
          </a:prstGeom>
        </p:spPr>
      </p:pic>
      <p:pic>
        <p:nvPicPr>
          <p:cNvPr id="8" name="图片 76" descr="接入交换机.png"/>
          <p:cNvPicPr>
            <a:picLocks noChangeAspect="1"/>
          </p:cNvPicPr>
          <p:nvPr/>
        </p:nvPicPr>
        <p:blipFill>
          <a:blip r:embed="rId3"/>
          <a:stretch>
            <a:fillRect/>
          </a:stretch>
        </p:blipFill>
        <p:spPr bwMode="gray">
          <a:xfrm>
            <a:off x="4195598" y="3340427"/>
            <a:ext cx="369474" cy="302298"/>
          </a:xfrm>
          <a:prstGeom prst="rect">
            <a:avLst/>
          </a:prstGeom>
        </p:spPr>
      </p:pic>
      <p:pic>
        <p:nvPicPr>
          <p:cNvPr id="9" name="图片 86" descr="核心交换机.png"/>
          <p:cNvPicPr>
            <a:picLocks noChangeAspect="1"/>
          </p:cNvPicPr>
          <p:nvPr/>
        </p:nvPicPr>
        <p:blipFill>
          <a:blip r:embed="rId4"/>
          <a:stretch>
            <a:fillRect/>
          </a:stretch>
        </p:blipFill>
        <p:spPr bwMode="gray">
          <a:xfrm>
            <a:off x="3107991" y="1834071"/>
            <a:ext cx="406421" cy="332528"/>
          </a:xfrm>
          <a:prstGeom prst="rect">
            <a:avLst/>
          </a:prstGeom>
        </p:spPr>
      </p:pic>
      <p:cxnSp>
        <p:nvCxnSpPr>
          <p:cNvPr id="10" name="直接连接符 9"/>
          <p:cNvCxnSpPr/>
          <p:nvPr/>
        </p:nvCxnSpPr>
        <p:spPr bwMode="gray">
          <a:xfrm>
            <a:off x="4380792" y="3623153"/>
            <a:ext cx="0" cy="4384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图片 105" descr="AP.png"/>
          <p:cNvPicPr>
            <a:picLocks noChangeAspect="1"/>
          </p:cNvPicPr>
          <p:nvPr/>
        </p:nvPicPr>
        <p:blipFill>
          <a:blip r:embed="rId5" cstate="print"/>
          <a:stretch>
            <a:fillRect/>
          </a:stretch>
        </p:blipFill>
        <p:spPr bwMode="gray">
          <a:xfrm>
            <a:off x="4213144" y="3855007"/>
            <a:ext cx="335297" cy="274335"/>
          </a:xfrm>
          <a:prstGeom prst="rect">
            <a:avLst/>
          </a:prstGeom>
        </p:spPr>
      </p:pic>
      <p:sp>
        <p:nvSpPr>
          <p:cNvPr id="15" name="文本框 14"/>
          <p:cNvSpPr txBox="1"/>
          <p:nvPr/>
        </p:nvSpPr>
        <p:spPr bwMode="gray">
          <a:xfrm>
            <a:off x="1689378" y="1806062"/>
            <a:ext cx="1454244" cy="523220"/>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r"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Border</a:t>
            </a:r>
          </a:p>
          <a:p>
            <a:pPr algn="r" fontAlgn="auto"/>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无线用户</a:t>
            </a:r>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1336254" y="3247102"/>
            <a:ext cx="582211" cy="307777"/>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r"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18" name="文本框 17"/>
          <p:cNvSpPr txBox="1"/>
          <p:nvPr/>
        </p:nvSpPr>
        <p:spPr bwMode="gray">
          <a:xfrm>
            <a:off x="4556621" y="3247102"/>
            <a:ext cx="582211" cy="307777"/>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l"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32" name="任意多边形 31"/>
          <p:cNvSpPr/>
          <p:nvPr/>
        </p:nvSpPr>
        <p:spPr bwMode="gray">
          <a:xfrm flipH="1">
            <a:off x="3784029" y="2132454"/>
            <a:ext cx="405400" cy="1852085"/>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8720"/>
              <a:gd name="connsiteY0" fmla="*/ 22855 h 5541091"/>
              <a:gd name="connsiteX1" fmla="*/ 18720 w 18720"/>
              <a:gd name="connsiteY1" fmla="*/ 5541091 h 5541091"/>
              <a:gd name="connsiteX0" fmla="*/ 0 w 18720"/>
              <a:gd name="connsiteY0" fmla="*/ 0 h 5518236"/>
              <a:gd name="connsiteX1" fmla="*/ 18720 w 18720"/>
              <a:gd name="connsiteY1" fmla="*/ 5518236 h 5518236"/>
              <a:gd name="connsiteX0" fmla="*/ 0 w 20070"/>
              <a:gd name="connsiteY0" fmla="*/ 0 h 5518236"/>
              <a:gd name="connsiteX1" fmla="*/ 18720 w 20070"/>
              <a:gd name="connsiteY1" fmla="*/ 5518236 h 5518236"/>
              <a:gd name="connsiteX0" fmla="*/ 319 w 5481"/>
              <a:gd name="connsiteY0" fmla="*/ 0 h 2546687"/>
              <a:gd name="connsiteX1" fmla="*/ 0 w 5481"/>
              <a:gd name="connsiteY1" fmla="*/ 2546687 h 2546687"/>
              <a:gd name="connsiteX0" fmla="*/ 0 w 10420"/>
              <a:gd name="connsiteY0" fmla="*/ 0 h 10000"/>
              <a:gd name="connsiteX1" fmla="*/ 1539 w 10420"/>
              <a:gd name="connsiteY1" fmla="*/ 10000 h 10000"/>
              <a:gd name="connsiteX0" fmla="*/ 572 w 9994"/>
              <a:gd name="connsiteY0" fmla="*/ 0 h 9810"/>
              <a:gd name="connsiteX1" fmla="*/ 0 w 9994"/>
              <a:gd name="connsiteY1" fmla="*/ 9810 h 9810"/>
              <a:gd name="connsiteX0" fmla="*/ 5061 w 12768"/>
              <a:gd name="connsiteY0" fmla="*/ 0 h 20927"/>
              <a:gd name="connsiteX1" fmla="*/ 0 w 12768"/>
              <a:gd name="connsiteY1" fmla="*/ 20927 h 20927"/>
              <a:gd name="connsiteX0" fmla="*/ 9271 w 9271"/>
              <a:gd name="connsiteY0" fmla="*/ 0 h 20927"/>
              <a:gd name="connsiteX1" fmla="*/ 4210 w 9271"/>
              <a:gd name="connsiteY1" fmla="*/ 20927 h 20927"/>
              <a:gd name="connsiteX0" fmla="*/ 37928 w 37928"/>
              <a:gd name="connsiteY0" fmla="*/ 0 h 14205"/>
              <a:gd name="connsiteX1" fmla="*/ 0 w 37928"/>
              <a:gd name="connsiteY1" fmla="*/ 14205 h 14205"/>
              <a:gd name="connsiteX0" fmla="*/ 58609 w 58609"/>
              <a:gd name="connsiteY0" fmla="*/ 0 h 14205"/>
              <a:gd name="connsiteX1" fmla="*/ 20681 w 58609"/>
              <a:gd name="connsiteY1" fmla="*/ 14205 h 14205"/>
              <a:gd name="connsiteX0" fmla="*/ 57971 w 57971"/>
              <a:gd name="connsiteY0" fmla="*/ 361 h 14566"/>
              <a:gd name="connsiteX1" fmla="*/ 20043 w 57971"/>
              <a:gd name="connsiteY1" fmla="*/ 14566 h 14566"/>
              <a:gd name="connsiteX0" fmla="*/ 27295 w 30950"/>
              <a:gd name="connsiteY0" fmla="*/ 361 h 14566"/>
              <a:gd name="connsiteX1" fmla="*/ 30950 w 30950"/>
              <a:gd name="connsiteY1" fmla="*/ 14566 h 14566"/>
              <a:gd name="connsiteX0" fmla="*/ 24221 w 27876"/>
              <a:gd name="connsiteY0" fmla="*/ 130 h 14335"/>
              <a:gd name="connsiteX1" fmla="*/ 27876 w 27876"/>
              <a:gd name="connsiteY1" fmla="*/ 14335 h 14335"/>
              <a:gd name="connsiteX0" fmla="*/ 25179 w 27410"/>
              <a:gd name="connsiteY0" fmla="*/ 130 h 14335"/>
              <a:gd name="connsiteX1" fmla="*/ 27410 w 27410"/>
              <a:gd name="connsiteY1" fmla="*/ 14335 h 14335"/>
              <a:gd name="connsiteX0" fmla="*/ 16262 w 18493"/>
              <a:gd name="connsiteY0" fmla="*/ 59 h 14264"/>
              <a:gd name="connsiteX1" fmla="*/ 18493 w 18493"/>
              <a:gd name="connsiteY1" fmla="*/ 14264 h 14264"/>
              <a:gd name="connsiteX0" fmla="*/ 17213 w 19444"/>
              <a:gd name="connsiteY0" fmla="*/ 0 h 14205"/>
              <a:gd name="connsiteX1" fmla="*/ 19444 w 19444"/>
              <a:gd name="connsiteY1" fmla="*/ 14205 h 14205"/>
              <a:gd name="connsiteX0" fmla="*/ 16974 w 19205"/>
              <a:gd name="connsiteY0" fmla="*/ 0 h 14205"/>
              <a:gd name="connsiteX1" fmla="*/ 19205 w 19205"/>
              <a:gd name="connsiteY1" fmla="*/ 14205 h 14205"/>
              <a:gd name="connsiteX0" fmla="*/ 2012 w 82824"/>
              <a:gd name="connsiteY0" fmla="*/ 0 h 84378"/>
              <a:gd name="connsiteX1" fmla="*/ 82824 w 82824"/>
              <a:gd name="connsiteY1" fmla="*/ 84378 h 84378"/>
              <a:gd name="connsiteX0" fmla="*/ 0 w 80812"/>
              <a:gd name="connsiteY0" fmla="*/ 0 h 84378"/>
              <a:gd name="connsiteX1" fmla="*/ 80812 w 80812"/>
              <a:gd name="connsiteY1" fmla="*/ 84378 h 84378"/>
              <a:gd name="connsiteX0" fmla="*/ 0 w 80812"/>
              <a:gd name="connsiteY0" fmla="*/ 0 h 84378"/>
              <a:gd name="connsiteX1" fmla="*/ 80812 w 80812"/>
              <a:gd name="connsiteY1" fmla="*/ 84378 h 84378"/>
              <a:gd name="connsiteX0" fmla="*/ 26691 w 47379"/>
              <a:gd name="connsiteY0" fmla="*/ 0 h 92216"/>
              <a:gd name="connsiteX1" fmla="*/ 19889 w 47379"/>
              <a:gd name="connsiteY1" fmla="*/ 92216 h 92216"/>
              <a:gd name="connsiteX0" fmla="*/ 6802 w 61288"/>
              <a:gd name="connsiteY0" fmla="*/ 0 h 92216"/>
              <a:gd name="connsiteX1" fmla="*/ 0 w 61288"/>
              <a:gd name="connsiteY1" fmla="*/ 92216 h 92216"/>
              <a:gd name="connsiteX0" fmla="*/ 6802 w 61288"/>
              <a:gd name="connsiteY0" fmla="*/ 0 h 92216"/>
              <a:gd name="connsiteX1" fmla="*/ 0 w 61288"/>
              <a:gd name="connsiteY1" fmla="*/ 92216 h 92216"/>
              <a:gd name="connsiteX0" fmla="*/ 4092 w 59907"/>
              <a:gd name="connsiteY0" fmla="*/ 0 h 90723"/>
              <a:gd name="connsiteX1" fmla="*/ 0 w 59907"/>
              <a:gd name="connsiteY1" fmla="*/ 90723 h 90723"/>
              <a:gd name="connsiteX0" fmla="*/ 4092 w 50627"/>
              <a:gd name="connsiteY0" fmla="*/ 0 h 90723"/>
              <a:gd name="connsiteX1" fmla="*/ 0 w 50627"/>
              <a:gd name="connsiteY1" fmla="*/ 90723 h 90723"/>
              <a:gd name="connsiteX0" fmla="*/ 4092 w 48054"/>
              <a:gd name="connsiteY0" fmla="*/ 0 h 90723"/>
              <a:gd name="connsiteX1" fmla="*/ 0 w 48054"/>
              <a:gd name="connsiteY1" fmla="*/ 90723 h 90723"/>
            </a:gdLst>
            <a:ahLst/>
            <a:cxnLst>
              <a:cxn ang="0">
                <a:pos x="connsiteX0" y="connsiteY0"/>
              </a:cxn>
              <a:cxn ang="0">
                <a:pos x="connsiteX1" y="connsiteY1"/>
              </a:cxn>
            </a:cxnLst>
            <a:rect l="l" t="t" r="r" b="b"/>
            <a:pathLst>
              <a:path w="48054" h="90723">
                <a:moveTo>
                  <a:pt x="4092" y="0"/>
                </a:moveTo>
                <a:cubicBezTo>
                  <a:pt x="71481" y="37451"/>
                  <a:pt x="54388" y="81526"/>
                  <a:pt x="0" y="90723"/>
                </a:cubicBezTo>
              </a:path>
            </a:pathLst>
          </a:cu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6" name="Straight Connector 166"/>
          <p:cNvCxnSpPr/>
          <p:nvPr/>
        </p:nvCxnSpPr>
        <p:spPr bwMode="gray">
          <a:xfrm>
            <a:off x="590143" y="1967849"/>
            <a:ext cx="227950" cy="0"/>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37" name="矩形 36"/>
          <p:cNvSpPr/>
          <p:nvPr/>
        </p:nvSpPr>
        <p:spPr bwMode="gray">
          <a:xfrm>
            <a:off x="789963" y="1841994"/>
            <a:ext cx="1174304" cy="251711"/>
          </a:xfrm>
          <a:prstGeom prst="rect">
            <a:avLst/>
          </a:prstGeom>
        </p:spPr>
        <p:txBody>
          <a:bodyPr wrap="square">
            <a:no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CAPWAP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圆角矩形 75"/>
          <p:cNvSpPr/>
          <p:nvPr/>
        </p:nvSpPr>
        <p:spPr bwMode="gray">
          <a:xfrm>
            <a:off x="6109760" y="1130464"/>
            <a:ext cx="5574239"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分布式网关场景</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9" name="图片 102" descr="AC-蓝.png"/>
          <p:cNvPicPr>
            <a:picLocks noChangeAspect="1"/>
          </p:cNvPicPr>
          <p:nvPr/>
        </p:nvPicPr>
        <p:blipFill>
          <a:blip r:embed="rId6" cstate="print"/>
          <a:stretch>
            <a:fillRect/>
          </a:stretch>
        </p:blipFill>
        <p:spPr bwMode="gray">
          <a:xfrm>
            <a:off x="4159362" y="1828340"/>
            <a:ext cx="405710" cy="331945"/>
          </a:xfrm>
          <a:prstGeom prst="rect">
            <a:avLst/>
          </a:prstGeom>
        </p:spPr>
      </p:pic>
      <p:sp>
        <p:nvSpPr>
          <p:cNvPr id="43" name="文本框 42"/>
          <p:cNvSpPr txBox="1"/>
          <p:nvPr/>
        </p:nvSpPr>
        <p:spPr bwMode="gray">
          <a:xfrm>
            <a:off x="453559" y="4386940"/>
            <a:ext cx="5600108" cy="1374735"/>
          </a:xfrm>
          <a:prstGeom prst="rect">
            <a:avLst/>
          </a:prstGeom>
          <a:noFill/>
        </p:spPr>
        <p:txBody>
          <a:bodyPr wrap="square" rtlCol="0">
            <a:spAutoFit/>
          </a:bodyPr>
          <a:lstStyle/>
          <a:p>
            <a:pPr marL="176213" indent="-176213">
              <a:lnSpc>
                <a:spcPts val="22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统一管理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，采用隧道转发方式，无线用户流量经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CAPWAP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封装后送达</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解封装后，在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作为无线用户网关。</a:t>
            </a:r>
          </a:p>
          <a:p>
            <a:pPr marL="176213" indent="-176213">
              <a:lnSpc>
                <a:spcPts val="22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无线用户组策略在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上执行，支持业务随行。</a:t>
            </a:r>
          </a:p>
        </p:txBody>
      </p:sp>
      <p:sp>
        <p:nvSpPr>
          <p:cNvPr id="44" name="文本框 43"/>
          <p:cNvSpPr txBox="1"/>
          <p:nvPr/>
        </p:nvSpPr>
        <p:spPr bwMode="gray">
          <a:xfrm>
            <a:off x="4489469" y="1806062"/>
            <a:ext cx="825867" cy="307777"/>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l" fontAlgn="auto"/>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独立</a:t>
            </a:r>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cxnSp>
        <p:nvCxnSpPr>
          <p:cNvPr id="45" name="直接连接符 44"/>
          <p:cNvCxnSpPr/>
          <p:nvPr/>
        </p:nvCxnSpPr>
        <p:spPr bwMode="gray">
          <a:xfrm flipH="1">
            <a:off x="9221756" y="1983251"/>
            <a:ext cx="6867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任意多边形 45"/>
          <p:cNvSpPr/>
          <p:nvPr/>
        </p:nvSpPr>
        <p:spPr bwMode="gray">
          <a:xfrm>
            <a:off x="7712874" y="1963213"/>
            <a:ext cx="2642412" cy="1565920"/>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7" name="图片 76" descr="接入交换机.png"/>
          <p:cNvPicPr>
            <a:picLocks noChangeAspect="1"/>
          </p:cNvPicPr>
          <p:nvPr/>
        </p:nvPicPr>
        <p:blipFill>
          <a:blip r:embed="rId3"/>
          <a:stretch>
            <a:fillRect/>
          </a:stretch>
        </p:blipFill>
        <p:spPr bwMode="gray">
          <a:xfrm>
            <a:off x="7661948" y="3340427"/>
            <a:ext cx="369474" cy="302298"/>
          </a:xfrm>
          <a:prstGeom prst="rect">
            <a:avLst/>
          </a:prstGeom>
        </p:spPr>
      </p:pic>
      <p:pic>
        <p:nvPicPr>
          <p:cNvPr id="48" name="图片 76" descr="接入交换机.png"/>
          <p:cNvPicPr>
            <a:picLocks noChangeAspect="1"/>
          </p:cNvPicPr>
          <p:nvPr/>
        </p:nvPicPr>
        <p:blipFill>
          <a:blip r:embed="rId3"/>
          <a:stretch>
            <a:fillRect/>
          </a:stretch>
        </p:blipFill>
        <p:spPr bwMode="gray">
          <a:xfrm>
            <a:off x="9944205" y="3340427"/>
            <a:ext cx="369474" cy="302298"/>
          </a:xfrm>
          <a:prstGeom prst="rect">
            <a:avLst/>
          </a:prstGeom>
        </p:spPr>
      </p:pic>
      <p:pic>
        <p:nvPicPr>
          <p:cNvPr id="49" name="图片 86" descr="核心交换机.png"/>
          <p:cNvPicPr>
            <a:picLocks noChangeAspect="1"/>
          </p:cNvPicPr>
          <p:nvPr/>
        </p:nvPicPr>
        <p:blipFill>
          <a:blip r:embed="rId4"/>
          <a:stretch>
            <a:fillRect/>
          </a:stretch>
        </p:blipFill>
        <p:spPr bwMode="gray">
          <a:xfrm>
            <a:off x="8856598" y="1834071"/>
            <a:ext cx="406421" cy="332528"/>
          </a:xfrm>
          <a:prstGeom prst="rect">
            <a:avLst/>
          </a:prstGeom>
        </p:spPr>
      </p:pic>
      <p:sp>
        <p:nvSpPr>
          <p:cNvPr id="53" name="文本框 52"/>
          <p:cNvSpPr txBox="1"/>
          <p:nvPr/>
        </p:nvSpPr>
        <p:spPr bwMode="gray">
          <a:xfrm>
            <a:off x="7437985" y="1806062"/>
            <a:ext cx="1454244" cy="523220"/>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r"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Border</a:t>
            </a:r>
          </a:p>
          <a:p>
            <a:pPr algn="r" fontAlgn="auto"/>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无线用户</a:t>
            </a:r>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6212828" y="3247102"/>
            <a:ext cx="1454244" cy="523220"/>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r"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a:p>
            <a:pPr algn="r" fontAlgn="auto"/>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有线用户</a:t>
            </a:r>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10305228" y="3247102"/>
            <a:ext cx="1454244" cy="523220"/>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l" fontAlgn="auto"/>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Edge</a:t>
            </a:r>
          </a:p>
          <a:p>
            <a:pPr algn="l" fontAlgn="auto"/>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有线用户</a:t>
            </a:r>
            <a:r>
              <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Straight Connector 166"/>
          <p:cNvCxnSpPr/>
          <p:nvPr/>
        </p:nvCxnSpPr>
        <p:spPr bwMode="gray">
          <a:xfrm>
            <a:off x="6338750" y="1967849"/>
            <a:ext cx="227950" cy="0"/>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59" name="矩形 58"/>
          <p:cNvSpPr/>
          <p:nvPr/>
        </p:nvSpPr>
        <p:spPr bwMode="gray">
          <a:xfrm>
            <a:off x="6538570" y="1841994"/>
            <a:ext cx="1174304" cy="251711"/>
          </a:xfrm>
          <a:prstGeom prst="rect">
            <a:avLst/>
          </a:prstGeom>
        </p:spPr>
        <p:txBody>
          <a:bodyPr wrap="square">
            <a:no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CAPWAP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图片 102" descr="AC-蓝.png"/>
          <p:cNvPicPr>
            <a:picLocks noChangeAspect="1"/>
          </p:cNvPicPr>
          <p:nvPr/>
        </p:nvPicPr>
        <p:blipFill>
          <a:blip r:embed="rId6" cstate="print"/>
          <a:stretch>
            <a:fillRect/>
          </a:stretch>
        </p:blipFill>
        <p:spPr bwMode="gray">
          <a:xfrm>
            <a:off x="9907969" y="1828340"/>
            <a:ext cx="405710" cy="331945"/>
          </a:xfrm>
          <a:prstGeom prst="rect">
            <a:avLst/>
          </a:prstGeom>
        </p:spPr>
      </p:pic>
      <p:sp>
        <p:nvSpPr>
          <p:cNvPr id="61" name="文本框 60"/>
          <p:cNvSpPr txBox="1"/>
          <p:nvPr/>
        </p:nvSpPr>
        <p:spPr bwMode="gray">
          <a:xfrm>
            <a:off x="10238076" y="1806062"/>
            <a:ext cx="825867" cy="307777"/>
          </a:xfrm>
          <a:prstGeom prst="rect">
            <a:avLst/>
          </a:prstGeom>
          <a:noFill/>
        </p:spPr>
        <p:txBody>
          <a:bodyPr wrap="none" rtlCol="0">
            <a:spAutoFit/>
          </a:bodyPr>
          <a:lstStyle>
            <a:defPPr>
              <a:defRPr lang="en-US"/>
            </a:defPPr>
            <a:lvl1pPr algn="ctr" fontAlgn="ctr">
              <a:defRPr sz="1400">
                <a:solidFill>
                  <a:srgbClr val="0070C0"/>
                </a:solidFill>
                <a:latin typeface="Arial" panose="020B0604020202020204" pitchFamily="34" charset="0"/>
              </a:defRPr>
            </a:lvl1pPr>
          </a:lstStyle>
          <a:p>
            <a:pPr algn="l" fontAlgn="auto"/>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独立</a:t>
            </a:r>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sp>
        <p:nvSpPr>
          <p:cNvPr id="62" name="文本框 61"/>
          <p:cNvSpPr txBox="1"/>
          <p:nvPr/>
        </p:nvSpPr>
        <p:spPr bwMode="gray">
          <a:xfrm>
            <a:off x="6212828" y="4386940"/>
            <a:ext cx="5451708" cy="1374735"/>
          </a:xfrm>
          <a:prstGeom prst="rect">
            <a:avLst/>
          </a:prstGeom>
          <a:noFill/>
        </p:spPr>
        <p:txBody>
          <a:bodyPr wrap="square" rtlCol="0">
            <a:spAutoFit/>
          </a:bodyPr>
          <a:lstStyle/>
          <a:p>
            <a:pPr marL="176213" indent="-176213">
              <a:lnSpc>
                <a:spcPts val="22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统一管理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，采用隧道转发方式，无线用户流量经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CAPWAP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封装后送达</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解封装后，在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作为无线用户网关。</a:t>
            </a:r>
          </a:p>
          <a:p>
            <a:pPr marL="176213" indent="-176213">
              <a:lnSpc>
                <a:spcPts val="22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无线用户组策略在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上执行，支持业务随行。</a:t>
            </a:r>
          </a:p>
        </p:txBody>
      </p:sp>
      <p:sp>
        <p:nvSpPr>
          <p:cNvPr id="63" name="任意多边形 62"/>
          <p:cNvSpPr/>
          <p:nvPr/>
        </p:nvSpPr>
        <p:spPr bwMode="gray">
          <a:xfrm flipH="1">
            <a:off x="9535478" y="2132454"/>
            <a:ext cx="405400" cy="1852085"/>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8720"/>
              <a:gd name="connsiteY0" fmla="*/ 22855 h 5541091"/>
              <a:gd name="connsiteX1" fmla="*/ 18720 w 18720"/>
              <a:gd name="connsiteY1" fmla="*/ 5541091 h 5541091"/>
              <a:gd name="connsiteX0" fmla="*/ 0 w 18720"/>
              <a:gd name="connsiteY0" fmla="*/ 0 h 5518236"/>
              <a:gd name="connsiteX1" fmla="*/ 18720 w 18720"/>
              <a:gd name="connsiteY1" fmla="*/ 5518236 h 5518236"/>
              <a:gd name="connsiteX0" fmla="*/ 0 w 20070"/>
              <a:gd name="connsiteY0" fmla="*/ 0 h 5518236"/>
              <a:gd name="connsiteX1" fmla="*/ 18720 w 20070"/>
              <a:gd name="connsiteY1" fmla="*/ 5518236 h 5518236"/>
              <a:gd name="connsiteX0" fmla="*/ 319 w 5481"/>
              <a:gd name="connsiteY0" fmla="*/ 0 h 2546687"/>
              <a:gd name="connsiteX1" fmla="*/ 0 w 5481"/>
              <a:gd name="connsiteY1" fmla="*/ 2546687 h 2546687"/>
              <a:gd name="connsiteX0" fmla="*/ 0 w 10420"/>
              <a:gd name="connsiteY0" fmla="*/ 0 h 10000"/>
              <a:gd name="connsiteX1" fmla="*/ 1539 w 10420"/>
              <a:gd name="connsiteY1" fmla="*/ 10000 h 10000"/>
              <a:gd name="connsiteX0" fmla="*/ 572 w 9994"/>
              <a:gd name="connsiteY0" fmla="*/ 0 h 9810"/>
              <a:gd name="connsiteX1" fmla="*/ 0 w 9994"/>
              <a:gd name="connsiteY1" fmla="*/ 9810 h 9810"/>
              <a:gd name="connsiteX0" fmla="*/ 5061 w 12768"/>
              <a:gd name="connsiteY0" fmla="*/ 0 h 20927"/>
              <a:gd name="connsiteX1" fmla="*/ 0 w 12768"/>
              <a:gd name="connsiteY1" fmla="*/ 20927 h 20927"/>
              <a:gd name="connsiteX0" fmla="*/ 9271 w 9271"/>
              <a:gd name="connsiteY0" fmla="*/ 0 h 20927"/>
              <a:gd name="connsiteX1" fmla="*/ 4210 w 9271"/>
              <a:gd name="connsiteY1" fmla="*/ 20927 h 20927"/>
              <a:gd name="connsiteX0" fmla="*/ 37928 w 37928"/>
              <a:gd name="connsiteY0" fmla="*/ 0 h 14205"/>
              <a:gd name="connsiteX1" fmla="*/ 0 w 37928"/>
              <a:gd name="connsiteY1" fmla="*/ 14205 h 14205"/>
              <a:gd name="connsiteX0" fmla="*/ 58609 w 58609"/>
              <a:gd name="connsiteY0" fmla="*/ 0 h 14205"/>
              <a:gd name="connsiteX1" fmla="*/ 20681 w 58609"/>
              <a:gd name="connsiteY1" fmla="*/ 14205 h 14205"/>
              <a:gd name="connsiteX0" fmla="*/ 57971 w 57971"/>
              <a:gd name="connsiteY0" fmla="*/ 361 h 14566"/>
              <a:gd name="connsiteX1" fmla="*/ 20043 w 57971"/>
              <a:gd name="connsiteY1" fmla="*/ 14566 h 14566"/>
              <a:gd name="connsiteX0" fmla="*/ 27295 w 30950"/>
              <a:gd name="connsiteY0" fmla="*/ 361 h 14566"/>
              <a:gd name="connsiteX1" fmla="*/ 30950 w 30950"/>
              <a:gd name="connsiteY1" fmla="*/ 14566 h 14566"/>
              <a:gd name="connsiteX0" fmla="*/ 24221 w 27876"/>
              <a:gd name="connsiteY0" fmla="*/ 130 h 14335"/>
              <a:gd name="connsiteX1" fmla="*/ 27876 w 27876"/>
              <a:gd name="connsiteY1" fmla="*/ 14335 h 14335"/>
              <a:gd name="connsiteX0" fmla="*/ 25179 w 27410"/>
              <a:gd name="connsiteY0" fmla="*/ 130 h 14335"/>
              <a:gd name="connsiteX1" fmla="*/ 27410 w 27410"/>
              <a:gd name="connsiteY1" fmla="*/ 14335 h 14335"/>
              <a:gd name="connsiteX0" fmla="*/ 16262 w 18493"/>
              <a:gd name="connsiteY0" fmla="*/ 59 h 14264"/>
              <a:gd name="connsiteX1" fmla="*/ 18493 w 18493"/>
              <a:gd name="connsiteY1" fmla="*/ 14264 h 14264"/>
              <a:gd name="connsiteX0" fmla="*/ 17213 w 19444"/>
              <a:gd name="connsiteY0" fmla="*/ 0 h 14205"/>
              <a:gd name="connsiteX1" fmla="*/ 19444 w 19444"/>
              <a:gd name="connsiteY1" fmla="*/ 14205 h 14205"/>
              <a:gd name="connsiteX0" fmla="*/ 16974 w 19205"/>
              <a:gd name="connsiteY0" fmla="*/ 0 h 14205"/>
              <a:gd name="connsiteX1" fmla="*/ 19205 w 19205"/>
              <a:gd name="connsiteY1" fmla="*/ 14205 h 14205"/>
              <a:gd name="connsiteX0" fmla="*/ 2012 w 82824"/>
              <a:gd name="connsiteY0" fmla="*/ 0 h 84378"/>
              <a:gd name="connsiteX1" fmla="*/ 82824 w 82824"/>
              <a:gd name="connsiteY1" fmla="*/ 84378 h 84378"/>
              <a:gd name="connsiteX0" fmla="*/ 0 w 80812"/>
              <a:gd name="connsiteY0" fmla="*/ 0 h 84378"/>
              <a:gd name="connsiteX1" fmla="*/ 80812 w 80812"/>
              <a:gd name="connsiteY1" fmla="*/ 84378 h 84378"/>
              <a:gd name="connsiteX0" fmla="*/ 0 w 80812"/>
              <a:gd name="connsiteY0" fmla="*/ 0 h 84378"/>
              <a:gd name="connsiteX1" fmla="*/ 80812 w 80812"/>
              <a:gd name="connsiteY1" fmla="*/ 84378 h 84378"/>
              <a:gd name="connsiteX0" fmla="*/ 26691 w 47379"/>
              <a:gd name="connsiteY0" fmla="*/ 0 h 92216"/>
              <a:gd name="connsiteX1" fmla="*/ 19889 w 47379"/>
              <a:gd name="connsiteY1" fmla="*/ 92216 h 92216"/>
              <a:gd name="connsiteX0" fmla="*/ 6802 w 61288"/>
              <a:gd name="connsiteY0" fmla="*/ 0 h 92216"/>
              <a:gd name="connsiteX1" fmla="*/ 0 w 61288"/>
              <a:gd name="connsiteY1" fmla="*/ 92216 h 92216"/>
              <a:gd name="connsiteX0" fmla="*/ 6802 w 61288"/>
              <a:gd name="connsiteY0" fmla="*/ 0 h 92216"/>
              <a:gd name="connsiteX1" fmla="*/ 0 w 61288"/>
              <a:gd name="connsiteY1" fmla="*/ 92216 h 92216"/>
              <a:gd name="connsiteX0" fmla="*/ 4092 w 59907"/>
              <a:gd name="connsiteY0" fmla="*/ 0 h 90723"/>
              <a:gd name="connsiteX1" fmla="*/ 0 w 59907"/>
              <a:gd name="connsiteY1" fmla="*/ 90723 h 90723"/>
              <a:gd name="connsiteX0" fmla="*/ 4092 w 50627"/>
              <a:gd name="connsiteY0" fmla="*/ 0 h 90723"/>
              <a:gd name="connsiteX1" fmla="*/ 0 w 50627"/>
              <a:gd name="connsiteY1" fmla="*/ 90723 h 90723"/>
              <a:gd name="connsiteX0" fmla="*/ 4092 w 48054"/>
              <a:gd name="connsiteY0" fmla="*/ 0 h 90723"/>
              <a:gd name="connsiteX1" fmla="*/ 0 w 48054"/>
              <a:gd name="connsiteY1" fmla="*/ 90723 h 90723"/>
            </a:gdLst>
            <a:ahLst/>
            <a:cxnLst>
              <a:cxn ang="0">
                <a:pos x="connsiteX0" y="connsiteY0"/>
              </a:cxn>
              <a:cxn ang="0">
                <a:pos x="connsiteX1" y="connsiteY1"/>
              </a:cxn>
            </a:cxnLst>
            <a:rect l="l" t="t" r="r" b="b"/>
            <a:pathLst>
              <a:path w="48054" h="90723">
                <a:moveTo>
                  <a:pt x="4092" y="0"/>
                </a:moveTo>
                <a:cubicBezTo>
                  <a:pt x="71481" y="37451"/>
                  <a:pt x="54388" y="81526"/>
                  <a:pt x="0" y="90723"/>
                </a:cubicBezTo>
              </a:path>
            </a:pathLst>
          </a:cu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64" name="直接连接符 63"/>
          <p:cNvCxnSpPr/>
          <p:nvPr/>
        </p:nvCxnSpPr>
        <p:spPr bwMode="gray">
          <a:xfrm>
            <a:off x="10137579" y="3623153"/>
            <a:ext cx="0" cy="4384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图片 105" descr="AP.png"/>
          <p:cNvPicPr>
            <a:picLocks noChangeAspect="1"/>
          </p:cNvPicPr>
          <p:nvPr/>
        </p:nvPicPr>
        <p:blipFill>
          <a:blip r:embed="rId5" cstate="print"/>
          <a:stretch>
            <a:fillRect/>
          </a:stretch>
        </p:blipFill>
        <p:spPr bwMode="gray">
          <a:xfrm>
            <a:off x="9969931" y="3855007"/>
            <a:ext cx="335297" cy="274335"/>
          </a:xfrm>
          <a:prstGeom prst="rect">
            <a:avLst/>
          </a:prstGeom>
        </p:spPr>
      </p:pic>
    </p:spTree>
    <p:extLst>
      <p:ext uri="{BB962C8B-B14F-4D97-AF65-F5344CB8AC3E}">
        <p14:creationId xmlns:p14="http://schemas.microsoft.com/office/powerpoint/2010/main" val="158061795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Huawei Sans" panose="020C0503030203020204" pitchFamily="34" charset="0"/>
              </a:rPr>
              <a:t>虚拟化园区网络中</a:t>
            </a:r>
            <a:r>
              <a:rPr lang="en-US" altLang="zh-CN" dirty="0">
                <a:sym typeface="Huawei Sans" panose="020C0503030203020204" pitchFamily="34" charset="0"/>
              </a:rPr>
              <a:t>WLAN</a:t>
            </a:r>
            <a:r>
              <a:rPr lang="zh-CN" altLang="en-US" dirty="0">
                <a:sym typeface="Huawei Sans" panose="020C0503030203020204" pitchFamily="34" charset="0"/>
              </a:rPr>
              <a:t>部署方案设计</a:t>
            </a:r>
          </a:p>
        </p:txBody>
      </p:sp>
      <p:sp>
        <p:nvSpPr>
          <p:cNvPr id="7" name="文本占位符 6"/>
          <p:cNvSpPr>
            <a:spLocks noGrp="1"/>
          </p:cNvSpPr>
          <p:nvPr>
            <p:ph type="body" sz="quarter" idx="10"/>
          </p:nvPr>
        </p:nvSpPr>
        <p:spPr/>
        <p:txBody>
          <a:bodyPr/>
          <a:lstStyle/>
          <a:p>
            <a:r>
              <a:rPr lang="zh-CN" altLang="en-US" sz="2000" dirty="0">
                <a:sym typeface="Huawei Sans" panose="020C0503030203020204" pitchFamily="34" charset="0"/>
              </a:rPr>
              <a:t>对于集中式网关和分布式网关组网，</a:t>
            </a:r>
            <a:r>
              <a:rPr lang="en-US" altLang="zh-CN" sz="2000" dirty="0">
                <a:sym typeface="Huawei Sans" panose="020C0503030203020204" pitchFamily="34" charset="0"/>
              </a:rPr>
              <a:t>WLAN</a:t>
            </a:r>
            <a:r>
              <a:rPr lang="zh-CN" altLang="en-US" sz="2000" dirty="0">
                <a:sym typeface="Huawei Sans" panose="020C0503030203020204" pitchFamily="34" charset="0"/>
              </a:rPr>
              <a:t>部署方案设计推荐如下：</a:t>
            </a:r>
            <a:endParaRPr lang="en-US" altLang="zh-CN" sz="2000" dirty="0">
              <a:sym typeface="Huawei Sans" panose="020C0503030203020204" pitchFamily="34" charset="0"/>
            </a:endParaRPr>
          </a:p>
          <a:p>
            <a:endParaRPr lang="en-US" altLang="zh-CN" sz="2000" dirty="0">
              <a:sym typeface="Huawei Sans" panose="020C0503030203020204" pitchFamily="34" charset="0"/>
            </a:endParaRPr>
          </a:p>
          <a:p>
            <a:endParaRPr lang="en-US" altLang="zh-CN" sz="2000" dirty="0">
              <a:sym typeface="Huawei Sans" panose="020C0503030203020204" pitchFamily="34" charset="0"/>
            </a:endParaRPr>
          </a:p>
          <a:p>
            <a:endParaRPr lang="en-US" altLang="zh-CN" sz="2000" dirty="0">
              <a:sym typeface="Huawei Sans" panose="020C0503030203020204" pitchFamily="34" charset="0"/>
            </a:endParaRPr>
          </a:p>
          <a:p>
            <a:endParaRPr lang="en-US" altLang="zh-CN" sz="2000" dirty="0">
              <a:sym typeface="Huawei Sans" panose="020C0503030203020204" pitchFamily="34" charset="0"/>
            </a:endParaRPr>
          </a:p>
          <a:p>
            <a:endParaRPr lang="en-US" altLang="zh-CN" sz="2000" dirty="0">
              <a:sym typeface="Huawei Sans" panose="020C0503030203020204" pitchFamily="34" charset="0"/>
            </a:endParaRPr>
          </a:p>
          <a:p>
            <a:r>
              <a:rPr lang="zh-CN" altLang="en-US" sz="2000" dirty="0">
                <a:sym typeface="Huawei Sans" panose="020C0503030203020204" pitchFamily="34" charset="0"/>
              </a:rPr>
              <a:t>在虚拟化网络方案中，对于新建和有线无线同步改造场景，优先推荐随板</a:t>
            </a:r>
            <a:r>
              <a:rPr lang="en-US" altLang="zh-CN" sz="2000" dirty="0">
                <a:sym typeface="Huawei Sans" panose="020C0503030203020204" pitchFamily="34" charset="0"/>
              </a:rPr>
              <a:t>AC</a:t>
            </a:r>
            <a:r>
              <a:rPr lang="zh-CN" altLang="en-US" sz="2000" dirty="0">
                <a:sym typeface="Huawei Sans" panose="020C0503030203020204" pitchFamily="34" charset="0"/>
              </a:rPr>
              <a:t>，</a:t>
            </a:r>
            <a:r>
              <a:rPr lang="en-US" altLang="zh-CN" sz="2000" dirty="0">
                <a:sym typeface="Huawei Sans" panose="020C0503030203020204" pitchFamily="34" charset="0"/>
              </a:rPr>
              <a:t>AP</a:t>
            </a:r>
            <a:r>
              <a:rPr lang="zh-CN" altLang="en-US" sz="2000" dirty="0">
                <a:sym typeface="Huawei Sans" panose="020C0503030203020204" pitchFamily="34" charset="0"/>
              </a:rPr>
              <a:t>优先选择隧道转发模式。</a:t>
            </a:r>
          </a:p>
        </p:txBody>
      </p:sp>
      <p:graphicFrame>
        <p:nvGraphicFramePr>
          <p:cNvPr id="3" name="表格 2"/>
          <p:cNvGraphicFramePr>
            <a:graphicFrameLocks noGrp="1"/>
          </p:cNvGraphicFramePr>
          <p:nvPr>
            <p:extLst>
              <p:ext uri="{D42A27DB-BD31-4B8C-83A1-F6EECF244321}">
                <p14:modId xmlns:p14="http://schemas.microsoft.com/office/powerpoint/2010/main" val="590103074"/>
              </p:ext>
            </p:extLst>
          </p:nvPr>
        </p:nvGraphicFramePr>
        <p:xfrm>
          <a:off x="716024" y="1846318"/>
          <a:ext cx="10858660" cy="1925941"/>
        </p:xfrm>
        <a:graphic>
          <a:graphicData uri="http://schemas.openxmlformats.org/drawingml/2006/table">
            <a:tbl>
              <a:tblPr firstRow="1" firstCol="1" lastRow="1" lastCol="1" bandRow="1" bandCol="1"/>
              <a:tblGrid>
                <a:gridCol w="1153160">
                  <a:extLst>
                    <a:ext uri="{9D8B030D-6E8A-4147-A177-3AD203B41FA5}">
                      <a16:colId xmlns:a16="http://schemas.microsoft.com/office/drawing/2014/main" val="20000"/>
                    </a:ext>
                  </a:extLst>
                </a:gridCol>
                <a:gridCol w="1564640">
                  <a:extLst>
                    <a:ext uri="{9D8B030D-6E8A-4147-A177-3AD203B41FA5}">
                      <a16:colId xmlns:a16="http://schemas.microsoft.com/office/drawing/2014/main" val="20001"/>
                    </a:ext>
                  </a:extLst>
                </a:gridCol>
                <a:gridCol w="1260096">
                  <a:extLst>
                    <a:ext uri="{9D8B030D-6E8A-4147-A177-3AD203B41FA5}">
                      <a16:colId xmlns:a16="http://schemas.microsoft.com/office/drawing/2014/main" val="20002"/>
                    </a:ext>
                  </a:extLst>
                </a:gridCol>
                <a:gridCol w="1262743">
                  <a:extLst>
                    <a:ext uri="{9D8B030D-6E8A-4147-A177-3AD203B41FA5}">
                      <a16:colId xmlns:a16="http://schemas.microsoft.com/office/drawing/2014/main" val="20003"/>
                    </a:ext>
                  </a:extLst>
                </a:gridCol>
                <a:gridCol w="1835801">
                  <a:extLst>
                    <a:ext uri="{9D8B030D-6E8A-4147-A177-3AD203B41FA5}">
                      <a16:colId xmlns:a16="http://schemas.microsoft.com/office/drawing/2014/main" val="20004"/>
                    </a:ext>
                  </a:extLst>
                </a:gridCol>
                <a:gridCol w="1397835">
                  <a:extLst>
                    <a:ext uri="{9D8B030D-6E8A-4147-A177-3AD203B41FA5}">
                      <a16:colId xmlns:a16="http://schemas.microsoft.com/office/drawing/2014/main" val="20005"/>
                    </a:ext>
                  </a:extLst>
                </a:gridCol>
                <a:gridCol w="2384385">
                  <a:extLst>
                    <a:ext uri="{9D8B030D-6E8A-4147-A177-3AD203B41FA5}">
                      <a16:colId xmlns:a16="http://schemas.microsoft.com/office/drawing/2014/main" val="20006"/>
                    </a:ext>
                  </a:extLst>
                </a:gridCol>
              </a:tblGrid>
              <a:tr h="269716">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组网</a:t>
                      </a:r>
                      <a:endParaRPr lang="zh-CN" sz="1400" b="1" dirty="0">
                        <a:solidFill>
                          <a:schemeClr val="tx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AC</a:t>
                      </a:r>
                      <a:endParaRPr lang="zh-CN" sz="1400" b="1" dirty="0">
                        <a:solidFill>
                          <a:schemeClr val="tx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无线终端网关</a:t>
                      </a:r>
                      <a:endParaRPr lang="zh-CN" sz="1400" b="1" dirty="0">
                        <a:solidFill>
                          <a:schemeClr val="tx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en-US" sz="1400" b="1" dirty="0">
                          <a:effectLst/>
                          <a:latin typeface="Huawei Sans" panose="020C0503030203020204" pitchFamily="34" charset="0"/>
                          <a:ea typeface="方正兰亭黑简体" panose="02000000000000000000" pitchFamily="2" charset="-122"/>
                          <a:sym typeface="Huawei Sans" panose="020C0503030203020204" pitchFamily="34" charset="0"/>
                        </a:rPr>
                        <a:t>AP</a:t>
                      </a: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转发模式</a:t>
                      </a:r>
                      <a:endParaRPr lang="zh-CN" sz="1400" b="1" dirty="0">
                        <a:solidFill>
                          <a:schemeClr val="tx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无线流量虚拟化位置</a:t>
                      </a:r>
                      <a:endParaRPr lang="zh-CN" sz="1400" b="1" dirty="0">
                        <a:solidFill>
                          <a:schemeClr val="tx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终端规模</a:t>
                      </a:r>
                      <a:endParaRPr lang="zh-CN" sz="1400" b="1" dirty="0">
                        <a:solidFill>
                          <a:schemeClr val="tx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lnSpc>
                          <a:spcPct val="100000"/>
                        </a:lnSpc>
                        <a:spcBef>
                          <a:spcPts val="0"/>
                        </a:spcBef>
                        <a:spcAft>
                          <a:spcPts val="0"/>
                        </a:spcAft>
                      </a:pPr>
                      <a:r>
                        <a:rPr lang="zh-CN" sz="1400" b="1" dirty="0">
                          <a:effectLst/>
                          <a:latin typeface="Huawei Sans" panose="020C0503030203020204" pitchFamily="34" charset="0"/>
                          <a:ea typeface="方正兰亭黑简体" panose="02000000000000000000" pitchFamily="2" charset="-122"/>
                          <a:sym typeface="Huawei Sans" panose="020C0503030203020204" pitchFamily="34" charset="0"/>
                        </a:rPr>
                        <a:t>适用场景</a:t>
                      </a:r>
                      <a:endParaRPr lang="zh-CN" sz="1400" b="1" dirty="0">
                        <a:solidFill>
                          <a:schemeClr val="tx1"/>
                        </a:solidFill>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562745">
                <a:tc rowSpan="2">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集中式网关</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Border</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随板</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AC</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Border</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sym typeface="Huawei Sans" panose="020C0503030203020204" pitchFamily="34" charset="0"/>
                        </a:rPr>
                        <a:t>隧道转发</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Border</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&lt;=50000</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无线终端集中转发，终端规模不超过</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50000</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，优先推荐</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72706">
                <a:tc vMerge="1">
                  <a:txBody>
                    <a:bodyPr/>
                    <a:lstStyle/>
                    <a:p>
                      <a:endParaRPr lang="zh-CN" altLang="en-US"/>
                    </a:p>
                  </a:txBody>
                  <a:tcPr/>
                </a:tc>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独立</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AC</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旁挂</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Border</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Border</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zh-CN" sz="1400">
                          <a:effectLst/>
                          <a:latin typeface="Huawei Sans" panose="020C0503030203020204" pitchFamily="34" charset="0"/>
                          <a:ea typeface="方正兰亭黑简体" panose="02000000000000000000" pitchFamily="2" charset="-122"/>
                          <a:sym typeface="Huawei Sans" panose="020C0503030203020204" pitchFamily="34" charset="0"/>
                        </a:rPr>
                        <a:t>隧道转发</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Border</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&lt;=50000</a:t>
                      </a:r>
                      <a:endParaRPr lang="zh-CN" sz="14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tc>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有线网络先改造，无线终端集中转发，优先推荐</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540236">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分布式网关</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AC</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Border</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隧道转发</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Border</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50000</a:t>
                      </a: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100000</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终端规模超过</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50000</a:t>
                      </a:r>
                      <a:r>
                        <a:rPr lang="zh-CN" sz="1400" dirty="0">
                          <a:effectLst/>
                          <a:latin typeface="Huawei Sans" panose="020C0503030203020204" pitchFamily="34" charset="0"/>
                          <a:ea typeface="方正兰亭黑简体" panose="02000000000000000000" pitchFamily="2" charset="-122"/>
                          <a:sym typeface="Huawei Sans" panose="020C0503030203020204" pitchFamily="34" charset="0"/>
                        </a:rPr>
                        <a:t>，无线终端集中转发，优先推荐</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6090399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sz="1800" dirty="0">
                <a:solidFill>
                  <a:schemeClr val="bg1">
                    <a:lumMod val="50000"/>
                  </a:schemeClr>
                </a:solidFill>
                <a:sym typeface="Huawei Sans" panose="020C0503030203020204" pitchFamily="34" charset="0"/>
              </a:rPr>
              <a:t>CloudCampus</a:t>
            </a:r>
            <a:r>
              <a:rPr lang="zh-CN" altLang="en-US" sz="1800" dirty="0">
                <a:solidFill>
                  <a:schemeClr val="bg1">
                    <a:lumMod val="50000"/>
                  </a:schemeClr>
                </a:solidFill>
                <a:sym typeface="Huawei Sans" panose="020C0503030203020204" pitchFamily="34" charset="0"/>
              </a:rPr>
              <a:t>解决方案及虚拟化园区网络概述</a:t>
            </a:r>
          </a:p>
          <a:p>
            <a:r>
              <a:rPr lang="zh-CN" altLang="en-US" sz="1800" dirty="0">
                <a:solidFill>
                  <a:schemeClr val="bg1">
                    <a:lumMod val="50000"/>
                  </a:schemeClr>
                </a:solidFill>
                <a:sym typeface="Huawei Sans" panose="020C0503030203020204" pitchFamily="34" charset="0"/>
              </a:rPr>
              <a:t>网络架构设计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Underlay</a:t>
            </a:r>
            <a:r>
              <a:rPr lang="zh-CN" altLang="en-US" sz="1800" dirty="0">
                <a:solidFill>
                  <a:schemeClr val="bg1">
                    <a:lumMod val="50000"/>
                  </a:schemeClr>
                </a:solidFill>
                <a:sym typeface="Huawei Sans" panose="020C0503030203020204" pitchFamily="34" charset="0"/>
              </a:rPr>
              <a:t>网络设计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Fabric</a:t>
            </a:r>
            <a:r>
              <a:rPr lang="zh-CN" altLang="en-US" sz="1800" dirty="0">
                <a:solidFill>
                  <a:schemeClr val="bg1">
                    <a:lumMod val="50000"/>
                  </a:schemeClr>
                </a:solidFill>
                <a:sym typeface="Huawei Sans" panose="020C0503030203020204" pitchFamily="34" charset="0"/>
              </a:rPr>
              <a:t>与</a:t>
            </a:r>
            <a:r>
              <a:rPr lang="en-US" altLang="zh-CN" sz="1800" dirty="0">
                <a:solidFill>
                  <a:schemeClr val="bg1">
                    <a:lumMod val="50000"/>
                  </a:schemeClr>
                </a:solidFill>
                <a:sym typeface="Huawei Sans" panose="020C0503030203020204" pitchFamily="34" charset="0"/>
              </a:rPr>
              <a:t>Overlay</a:t>
            </a:r>
            <a:r>
              <a:rPr lang="zh-CN" altLang="en-US" sz="1800" dirty="0">
                <a:solidFill>
                  <a:schemeClr val="bg1">
                    <a:lumMod val="50000"/>
                  </a:schemeClr>
                </a:solidFill>
                <a:sym typeface="Huawei Sans" panose="020C0503030203020204" pitchFamily="34" charset="0"/>
              </a:rPr>
              <a:t>网络设计</a:t>
            </a:r>
          </a:p>
          <a:p>
            <a:r>
              <a:rPr lang="zh-CN" altLang="en-US" sz="1800" dirty="0">
                <a:solidFill>
                  <a:schemeClr val="bg1">
                    <a:lumMod val="50000"/>
                  </a:schemeClr>
                </a:solidFill>
                <a:sym typeface="Huawei Sans" panose="020C0503030203020204" pitchFamily="34" charset="0"/>
              </a:rPr>
              <a:t>准入控制及业务随行设计</a:t>
            </a:r>
          </a:p>
          <a:p>
            <a:r>
              <a:rPr lang="en-US" altLang="zh-CN" sz="1800" dirty="0">
                <a:solidFill>
                  <a:schemeClr val="bg1">
                    <a:lumMod val="50000"/>
                  </a:schemeClr>
                </a:solidFill>
                <a:sym typeface="Huawei Sans" panose="020C0503030203020204" pitchFamily="34" charset="0"/>
              </a:rPr>
              <a:t>WLAN</a:t>
            </a:r>
            <a:r>
              <a:rPr lang="zh-CN" altLang="en-US" sz="1800" dirty="0">
                <a:solidFill>
                  <a:schemeClr val="bg1">
                    <a:lumMod val="50000"/>
                  </a:schemeClr>
                </a:solidFill>
                <a:sym typeface="Huawei Sans" panose="020C0503030203020204" pitchFamily="34" charset="0"/>
              </a:rPr>
              <a:t>设计</a:t>
            </a:r>
            <a:endParaRPr lang="en-US" altLang="zh-CN" sz="1800" dirty="0">
              <a:solidFill>
                <a:schemeClr val="bg1">
                  <a:lumMod val="50000"/>
                </a:schemeClr>
              </a:solidFill>
              <a:sym typeface="Huawei Sans" panose="020C0503030203020204" pitchFamily="34" charset="0"/>
            </a:endParaRPr>
          </a:p>
          <a:p>
            <a:r>
              <a:rPr lang="zh-CN" altLang="en-US" sz="1800" b="1" dirty="0">
                <a:sym typeface="Huawei Sans" panose="020C0503030203020204" pitchFamily="34" charset="0"/>
              </a:rPr>
              <a:t>出口网络设计</a:t>
            </a:r>
            <a:endParaRPr lang="en-US" altLang="zh-CN" sz="1800" b="1" dirty="0">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网络安全与服务质量设计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运维管理设计</a:t>
            </a:r>
            <a:endParaRPr lang="en-US" altLang="zh-CN"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04825873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ounded Rectangle 96"/>
          <p:cNvSpPr/>
          <p:nvPr/>
        </p:nvSpPr>
        <p:spPr bwMode="gray">
          <a:xfrm>
            <a:off x="1129128" y="1619879"/>
            <a:ext cx="3591375" cy="810007"/>
          </a:xfrm>
          <a:prstGeom prst="roundRect">
            <a:avLst>
              <a:gd name="adj" fmla="val 7423"/>
            </a:avLst>
          </a:prstGeom>
          <a:pattFill prst="dkUpDiag">
            <a:fgClr>
              <a:srgbClr val="E3F6F8"/>
            </a:fgClr>
            <a:bgClr>
              <a:schemeClr val="bg1"/>
            </a:bgClr>
          </a:patt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网络出口设计概述</a:t>
            </a:r>
          </a:p>
        </p:txBody>
      </p:sp>
      <p:sp>
        <p:nvSpPr>
          <p:cNvPr id="127" name="文本占位符 126"/>
          <p:cNvSpPr>
            <a:spLocks noGrp="1"/>
          </p:cNvSpPr>
          <p:nvPr>
            <p:ph type="body" sz="quarter" idx="4294967295"/>
          </p:nvPr>
        </p:nvSpPr>
        <p:spPr bwMode="gray">
          <a:xfrm>
            <a:off x="5233988" y="989013"/>
            <a:ext cx="6478587" cy="4879975"/>
          </a:xfrm>
        </p:spPr>
        <p:txBody>
          <a:bodyPr/>
          <a:lstStyle/>
          <a:p>
            <a:pPr fontAlgn="base"/>
            <a:r>
              <a:rPr lang="zh-CN" altLang="en-US" sz="1800" dirty="0">
                <a:sym typeface="Huawei Sans" panose="020C0503030203020204" pitchFamily="34" charset="0"/>
              </a:rPr>
              <a:t>出口区作为园区网与外部网络（包括互联网、广域网）的分界线，担负着内外网的互通和安全防护的功能。</a:t>
            </a:r>
          </a:p>
          <a:p>
            <a:pPr fontAlgn="base"/>
            <a:r>
              <a:rPr lang="zh-CN" altLang="en-US" sz="1800" dirty="0">
                <a:sym typeface="Huawei Sans" panose="020C0503030203020204" pitchFamily="34" charset="0"/>
              </a:rPr>
              <a:t>出口区设计的要求通常包括：</a:t>
            </a:r>
            <a:endParaRPr lang="en-US" altLang="zh-CN" sz="1800" dirty="0">
              <a:sym typeface="Huawei Sans" panose="020C0503030203020204" pitchFamily="34" charset="0"/>
            </a:endParaRPr>
          </a:p>
          <a:p>
            <a:pPr lvl="1" fontAlgn="base"/>
            <a:r>
              <a:rPr lang="zh-CN" altLang="en-US" sz="1600" b="1" dirty="0">
                <a:sym typeface="Huawei Sans" panose="020C0503030203020204" pitchFamily="34" charset="0"/>
              </a:rPr>
              <a:t>网络畅通：</a:t>
            </a:r>
            <a:r>
              <a:rPr lang="zh-CN" altLang="en-US" sz="1600" dirty="0">
                <a:sym typeface="Huawei Sans" panose="020C0503030203020204" pitchFamily="34" charset="0"/>
              </a:rPr>
              <a:t>内部用户可以顺利访问外部网络；如果对外提供网络访问，还要求外部用户可以访问园区内网服务。</a:t>
            </a:r>
          </a:p>
          <a:p>
            <a:pPr lvl="1" fontAlgn="base"/>
            <a:r>
              <a:rPr lang="zh-CN" altLang="en-US" sz="1600" b="1" dirty="0">
                <a:sym typeface="Huawei Sans" panose="020C0503030203020204" pitchFamily="34" charset="0"/>
              </a:rPr>
              <a:t>网络安全：</a:t>
            </a:r>
            <a:r>
              <a:rPr lang="zh-CN" altLang="en-US" sz="1600" dirty="0">
                <a:sym typeface="Huawei Sans" panose="020C0503030203020204" pitchFamily="34" charset="0"/>
              </a:rPr>
              <a:t>保证园区网安全可控，尤其是边界安全，需要配置防火墙、</a:t>
            </a:r>
            <a:r>
              <a:rPr lang="en-US" altLang="zh-CN" sz="1600" dirty="0">
                <a:sym typeface="Huawei Sans" panose="020C0503030203020204" pitchFamily="34" charset="0"/>
              </a:rPr>
              <a:t>IPS</a:t>
            </a:r>
            <a:r>
              <a:rPr lang="zh-CN" altLang="en-US" sz="1600" dirty="0">
                <a:sym typeface="Huawei Sans" panose="020C0503030203020204" pitchFamily="34" charset="0"/>
              </a:rPr>
              <a:t>（</a:t>
            </a:r>
            <a:r>
              <a:rPr lang="en-US" altLang="zh-CN" sz="1600" dirty="0">
                <a:sym typeface="Huawei Sans" panose="020C0503030203020204" pitchFamily="34" charset="0"/>
              </a:rPr>
              <a:t>Intrusion Prevention System</a:t>
            </a:r>
            <a:r>
              <a:rPr lang="zh-CN" altLang="en-US" sz="1600" dirty="0">
                <a:sym typeface="Huawei Sans" panose="020C0503030203020204" pitchFamily="34" charset="0"/>
              </a:rPr>
              <a:t>，入侵防御系统）等，根据不同的安全性要求和投资规模选择安全部件。</a:t>
            </a:r>
          </a:p>
          <a:p>
            <a:pPr lvl="1" fontAlgn="base"/>
            <a:r>
              <a:rPr lang="zh-CN" altLang="en-US" sz="1600" b="1" dirty="0">
                <a:sym typeface="Huawei Sans" panose="020C0503030203020204" pitchFamily="34" charset="0"/>
              </a:rPr>
              <a:t>接入方式丰富灵活：</a:t>
            </a:r>
            <a:r>
              <a:rPr lang="zh-CN" altLang="en-US" sz="1600" dirty="0">
                <a:sym typeface="Huawei Sans" panose="020C0503030203020204" pitchFamily="34" charset="0"/>
              </a:rPr>
              <a:t>提供多种多样的接入手段和方式，如</a:t>
            </a:r>
            <a:r>
              <a:rPr lang="en-US" altLang="zh-CN" sz="1600" dirty="0">
                <a:sym typeface="Huawei Sans" panose="020C0503030203020204" pitchFamily="34" charset="0"/>
              </a:rPr>
              <a:t>LAN</a:t>
            </a:r>
            <a:r>
              <a:rPr lang="zh-CN" altLang="en-US" sz="1600" dirty="0">
                <a:sym typeface="Huawei Sans" panose="020C0503030203020204" pitchFamily="34" charset="0"/>
              </a:rPr>
              <a:t>侧和</a:t>
            </a:r>
            <a:r>
              <a:rPr lang="en-US" altLang="zh-CN" sz="1600" dirty="0">
                <a:sym typeface="Huawei Sans" panose="020C0503030203020204" pitchFamily="34" charset="0"/>
              </a:rPr>
              <a:t>WAN</a:t>
            </a:r>
            <a:r>
              <a:rPr lang="zh-CN" altLang="en-US" sz="1600" dirty="0">
                <a:sym typeface="Huawei Sans" panose="020C0503030203020204" pitchFamily="34" charset="0"/>
              </a:rPr>
              <a:t>侧接入等。</a:t>
            </a:r>
          </a:p>
          <a:p>
            <a:pPr lvl="1" fontAlgn="base"/>
            <a:r>
              <a:rPr lang="zh-CN" altLang="en-US" sz="1600" b="1" dirty="0">
                <a:sym typeface="Huawei Sans" panose="020C0503030203020204" pitchFamily="34" charset="0"/>
              </a:rPr>
              <a:t>业务控制能力强：</a:t>
            </a:r>
            <a:r>
              <a:rPr lang="zh-CN" altLang="en-US" sz="1600" dirty="0">
                <a:sym typeface="Huawei Sans" panose="020C0503030203020204" pitchFamily="34" charset="0"/>
              </a:rPr>
              <a:t>方便业务部署和隔离，如提供各类</a:t>
            </a:r>
            <a:r>
              <a:rPr lang="en-US" altLang="zh-CN" sz="1600" dirty="0">
                <a:sym typeface="Huawei Sans" panose="020C0503030203020204" pitchFamily="34" charset="0"/>
              </a:rPr>
              <a:t>VPN</a:t>
            </a:r>
            <a:r>
              <a:rPr lang="zh-CN" altLang="en-US" sz="1600" dirty="0">
                <a:sym typeface="Huawei Sans" panose="020C0503030203020204" pitchFamily="34" charset="0"/>
              </a:rPr>
              <a:t>接入方式，包括</a:t>
            </a:r>
            <a:r>
              <a:rPr lang="en-US" altLang="zh-CN" sz="1600" dirty="0">
                <a:sym typeface="Huawei Sans" panose="020C0503030203020204" pitchFamily="34" charset="0"/>
              </a:rPr>
              <a:t>IPsec VPN</a:t>
            </a:r>
            <a:r>
              <a:rPr lang="zh-CN" altLang="en-US" sz="1600" dirty="0">
                <a:sym typeface="Huawei Sans" panose="020C0503030203020204" pitchFamily="34" charset="0"/>
              </a:rPr>
              <a:t>、</a:t>
            </a:r>
            <a:r>
              <a:rPr lang="en-US" altLang="zh-CN" sz="1600" dirty="0">
                <a:sym typeface="Huawei Sans" panose="020C0503030203020204" pitchFamily="34" charset="0"/>
              </a:rPr>
              <a:t>SSL VPN</a:t>
            </a:r>
            <a:r>
              <a:rPr lang="zh-CN" altLang="en-US" sz="1600" dirty="0">
                <a:sym typeface="Huawei Sans" panose="020C0503030203020204" pitchFamily="34" charset="0"/>
              </a:rPr>
              <a:t>、</a:t>
            </a:r>
            <a:r>
              <a:rPr lang="en-US" altLang="zh-CN" sz="1600" dirty="0">
                <a:sym typeface="Huawei Sans" panose="020C0503030203020204" pitchFamily="34" charset="0"/>
              </a:rPr>
              <a:t>MPLS VPN</a:t>
            </a:r>
            <a:r>
              <a:rPr lang="zh-CN" altLang="en-US" sz="1600" dirty="0">
                <a:sym typeface="Huawei Sans" panose="020C0503030203020204" pitchFamily="34" charset="0"/>
              </a:rPr>
              <a:t>等。</a:t>
            </a:r>
          </a:p>
        </p:txBody>
      </p:sp>
      <p:pic>
        <p:nvPicPr>
          <p:cNvPr id="9" name="图片 105" descr="AP.png"/>
          <p:cNvPicPr>
            <a:picLocks noChangeAspect="1"/>
          </p:cNvPicPr>
          <p:nvPr/>
        </p:nvPicPr>
        <p:blipFill>
          <a:blip r:embed="rId3" cstate="print"/>
          <a:stretch>
            <a:fillRect/>
          </a:stretch>
        </p:blipFill>
        <p:spPr bwMode="gray">
          <a:xfrm>
            <a:off x="4139806" y="4860690"/>
            <a:ext cx="335297" cy="274335"/>
          </a:xfrm>
          <a:prstGeom prst="rect">
            <a:avLst/>
          </a:prstGeom>
        </p:spPr>
      </p:pic>
      <p:cxnSp>
        <p:nvCxnSpPr>
          <p:cNvPr id="10" name="Straight Connector 9"/>
          <p:cNvCxnSpPr>
            <a:stCxn id="9" idx="0"/>
            <a:endCxn id="37" idx="2"/>
          </p:cNvCxnSpPr>
          <p:nvPr/>
        </p:nvCxnSpPr>
        <p:spPr bwMode="gray">
          <a:xfrm flipV="1">
            <a:off x="4307455" y="4673563"/>
            <a:ext cx="927" cy="187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图片 105" descr="AP.png"/>
          <p:cNvPicPr>
            <a:picLocks noChangeAspect="1"/>
          </p:cNvPicPr>
          <p:nvPr/>
        </p:nvPicPr>
        <p:blipFill>
          <a:blip r:embed="rId3" cstate="print"/>
          <a:stretch>
            <a:fillRect/>
          </a:stretch>
        </p:blipFill>
        <p:spPr bwMode="gray">
          <a:xfrm>
            <a:off x="2651711" y="4860690"/>
            <a:ext cx="335297" cy="274335"/>
          </a:xfrm>
          <a:prstGeom prst="rect">
            <a:avLst/>
          </a:prstGeom>
        </p:spPr>
      </p:pic>
      <p:cxnSp>
        <p:nvCxnSpPr>
          <p:cNvPr id="14" name="Straight Connector 14"/>
          <p:cNvCxnSpPr>
            <a:stCxn id="12" idx="3"/>
            <a:endCxn id="13" idx="1"/>
          </p:cNvCxnSpPr>
          <p:nvPr/>
        </p:nvCxnSpPr>
        <p:spPr bwMode="gray">
          <a:xfrm>
            <a:off x="2926649" y="3139936"/>
            <a:ext cx="493160"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pic>
        <p:nvPicPr>
          <p:cNvPr id="15" name="图片 87" descr="汇聚交换机.png"/>
          <p:cNvPicPr>
            <a:picLocks noChangeAspect="1"/>
          </p:cNvPicPr>
          <p:nvPr/>
        </p:nvPicPr>
        <p:blipFill>
          <a:blip r:embed="rId4" cstate="print"/>
          <a:stretch>
            <a:fillRect/>
          </a:stretch>
        </p:blipFill>
        <p:spPr bwMode="gray">
          <a:xfrm>
            <a:off x="1832949" y="3739272"/>
            <a:ext cx="335297" cy="274335"/>
          </a:xfrm>
          <a:prstGeom prst="rect">
            <a:avLst/>
          </a:prstGeom>
        </p:spPr>
      </p:pic>
      <p:pic>
        <p:nvPicPr>
          <p:cNvPr id="16" name="图片 87" descr="汇聚交换机.png"/>
          <p:cNvPicPr>
            <a:picLocks noChangeAspect="1"/>
          </p:cNvPicPr>
          <p:nvPr/>
        </p:nvPicPr>
        <p:blipFill>
          <a:blip r:embed="rId4" cstate="print"/>
          <a:stretch>
            <a:fillRect/>
          </a:stretch>
        </p:blipFill>
        <p:spPr bwMode="gray">
          <a:xfrm>
            <a:off x="2652698" y="3739272"/>
            <a:ext cx="335297" cy="274335"/>
          </a:xfrm>
          <a:prstGeom prst="rect">
            <a:avLst/>
          </a:prstGeom>
        </p:spPr>
      </p:pic>
      <p:cxnSp>
        <p:nvCxnSpPr>
          <p:cNvPr id="17" name="Straight Connector 17"/>
          <p:cNvCxnSpPr>
            <a:stCxn id="15" idx="3"/>
            <a:endCxn id="16" idx="1"/>
          </p:cNvCxnSpPr>
          <p:nvPr/>
        </p:nvCxnSpPr>
        <p:spPr bwMode="gray">
          <a:xfrm>
            <a:off x="2168246" y="3876440"/>
            <a:ext cx="484452"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pic>
        <p:nvPicPr>
          <p:cNvPr id="18" name="图片 87" descr="汇聚交换机.png"/>
          <p:cNvPicPr>
            <a:picLocks noChangeAspect="1"/>
          </p:cNvPicPr>
          <p:nvPr/>
        </p:nvPicPr>
        <p:blipFill>
          <a:blip r:embed="rId4" cstate="print"/>
          <a:stretch>
            <a:fillRect/>
          </a:stretch>
        </p:blipFill>
        <p:spPr bwMode="gray">
          <a:xfrm>
            <a:off x="3319997" y="3739272"/>
            <a:ext cx="335297" cy="274335"/>
          </a:xfrm>
          <a:prstGeom prst="rect">
            <a:avLst/>
          </a:prstGeom>
        </p:spPr>
      </p:pic>
      <p:pic>
        <p:nvPicPr>
          <p:cNvPr id="19" name="图片 87" descr="汇聚交换机.png"/>
          <p:cNvPicPr>
            <a:picLocks noChangeAspect="1"/>
          </p:cNvPicPr>
          <p:nvPr/>
        </p:nvPicPr>
        <p:blipFill>
          <a:blip r:embed="rId4" cstate="print"/>
          <a:stretch>
            <a:fillRect/>
          </a:stretch>
        </p:blipFill>
        <p:spPr bwMode="gray">
          <a:xfrm>
            <a:off x="4140733" y="3739272"/>
            <a:ext cx="335297" cy="274335"/>
          </a:xfrm>
          <a:prstGeom prst="rect">
            <a:avLst/>
          </a:prstGeom>
        </p:spPr>
      </p:pic>
      <p:cxnSp>
        <p:nvCxnSpPr>
          <p:cNvPr id="20" name="Straight Connector 22"/>
          <p:cNvCxnSpPr>
            <a:stCxn id="18" idx="3"/>
            <a:endCxn id="19" idx="1"/>
          </p:cNvCxnSpPr>
          <p:nvPr/>
        </p:nvCxnSpPr>
        <p:spPr bwMode="gray">
          <a:xfrm>
            <a:off x="3655294" y="3876440"/>
            <a:ext cx="485439"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1" name="Straight Connector 23"/>
          <p:cNvCxnSpPr>
            <a:stCxn id="15" idx="0"/>
            <a:endCxn id="12" idx="2"/>
          </p:cNvCxnSpPr>
          <p:nvPr/>
        </p:nvCxnSpPr>
        <p:spPr bwMode="gray">
          <a:xfrm flipV="1">
            <a:off x="2000598" y="3277103"/>
            <a:ext cx="758403" cy="462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4"/>
          <p:cNvCxnSpPr>
            <a:stCxn id="16" idx="0"/>
            <a:endCxn id="13" idx="2"/>
          </p:cNvCxnSpPr>
          <p:nvPr/>
        </p:nvCxnSpPr>
        <p:spPr bwMode="gray">
          <a:xfrm flipV="1">
            <a:off x="2820347" y="3277103"/>
            <a:ext cx="767111" cy="462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5"/>
          <p:cNvCxnSpPr>
            <a:stCxn id="18" idx="0"/>
            <a:endCxn id="12" idx="2"/>
          </p:cNvCxnSpPr>
          <p:nvPr/>
        </p:nvCxnSpPr>
        <p:spPr bwMode="gray">
          <a:xfrm flipH="1" flipV="1">
            <a:off x="2759001" y="3277103"/>
            <a:ext cx="728645" cy="462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6"/>
          <p:cNvCxnSpPr>
            <a:stCxn id="19" idx="0"/>
            <a:endCxn id="13" idx="2"/>
          </p:cNvCxnSpPr>
          <p:nvPr/>
        </p:nvCxnSpPr>
        <p:spPr bwMode="gray">
          <a:xfrm flipH="1" flipV="1">
            <a:off x="3587458" y="3277103"/>
            <a:ext cx="720924" cy="462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7"/>
          <p:cNvSpPr/>
          <p:nvPr/>
        </p:nvSpPr>
        <p:spPr bwMode="gray">
          <a:xfrm rot="2387647">
            <a:off x="2502653" y="3479765"/>
            <a:ext cx="527776"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106" descr="堆叠交换机蓝.png"/>
          <p:cNvPicPr>
            <a:picLocks noChangeAspect="1"/>
          </p:cNvPicPr>
          <p:nvPr/>
        </p:nvPicPr>
        <p:blipFill>
          <a:blip r:embed="rId5" cstate="print"/>
          <a:stretch>
            <a:fillRect/>
          </a:stretch>
        </p:blipFill>
        <p:spPr bwMode="gray">
          <a:xfrm>
            <a:off x="1832052" y="4397761"/>
            <a:ext cx="337091" cy="275802"/>
          </a:xfrm>
          <a:prstGeom prst="rect">
            <a:avLst/>
          </a:prstGeom>
        </p:spPr>
      </p:pic>
      <p:pic>
        <p:nvPicPr>
          <p:cNvPr id="27" name="图片 106" descr="堆叠交换机蓝.png"/>
          <p:cNvPicPr>
            <a:picLocks noChangeAspect="1"/>
          </p:cNvPicPr>
          <p:nvPr/>
        </p:nvPicPr>
        <p:blipFill>
          <a:blip r:embed="rId5" cstate="print"/>
          <a:stretch>
            <a:fillRect/>
          </a:stretch>
        </p:blipFill>
        <p:spPr bwMode="gray">
          <a:xfrm>
            <a:off x="2651801" y="4397761"/>
            <a:ext cx="337091" cy="275802"/>
          </a:xfrm>
          <a:prstGeom prst="rect">
            <a:avLst/>
          </a:prstGeom>
        </p:spPr>
      </p:pic>
      <p:cxnSp>
        <p:nvCxnSpPr>
          <p:cNvPr id="28" name="Straight Connector 30"/>
          <p:cNvCxnSpPr>
            <a:stCxn id="26" idx="0"/>
            <a:endCxn id="15" idx="2"/>
          </p:cNvCxnSpPr>
          <p:nvPr/>
        </p:nvCxnSpPr>
        <p:spPr bwMode="gray">
          <a:xfrm flipV="1">
            <a:off x="2000598" y="4013607"/>
            <a:ext cx="0"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31"/>
          <p:cNvCxnSpPr>
            <a:stCxn id="26" idx="0"/>
            <a:endCxn id="16" idx="2"/>
          </p:cNvCxnSpPr>
          <p:nvPr/>
        </p:nvCxnSpPr>
        <p:spPr bwMode="gray">
          <a:xfrm flipV="1">
            <a:off x="2000598" y="4013607"/>
            <a:ext cx="819749"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32"/>
          <p:cNvCxnSpPr>
            <a:stCxn id="27" idx="0"/>
            <a:endCxn id="15" idx="2"/>
          </p:cNvCxnSpPr>
          <p:nvPr/>
        </p:nvCxnSpPr>
        <p:spPr bwMode="gray">
          <a:xfrm flipH="1" flipV="1">
            <a:off x="2000598" y="4013607"/>
            <a:ext cx="819749"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3"/>
          <p:cNvCxnSpPr>
            <a:stCxn id="27" idx="0"/>
            <a:endCxn id="16" idx="2"/>
          </p:cNvCxnSpPr>
          <p:nvPr/>
        </p:nvCxnSpPr>
        <p:spPr bwMode="gray">
          <a:xfrm flipV="1">
            <a:off x="2820347" y="4013607"/>
            <a:ext cx="0"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 34"/>
          <p:cNvGrpSpPr/>
          <p:nvPr/>
        </p:nvGrpSpPr>
        <p:grpSpPr bwMode="gray">
          <a:xfrm>
            <a:off x="2279489" y="4503864"/>
            <a:ext cx="261965" cy="61979"/>
            <a:chOff x="559282" y="6488261"/>
            <a:chExt cx="261965" cy="61979"/>
          </a:xfrm>
          <a:solidFill>
            <a:schemeClr val="bg1">
              <a:lumMod val="50000"/>
            </a:schemeClr>
          </a:solidFill>
        </p:grpSpPr>
        <p:sp>
          <p:nvSpPr>
            <p:cNvPr id="33" name="Oval 35"/>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Oval 36"/>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Oval 37"/>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36" name="图片 106" descr="堆叠交换机蓝.png"/>
          <p:cNvPicPr>
            <a:picLocks noChangeAspect="1"/>
          </p:cNvPicPr>
          <p:nvPr/>
        </p:nvPicPr>
        <p:blipFill>
          <a:blip r:embed="rId5" cstate="print"/>
          <a:stretch>
            <a:fillRect/>
          </a:stretch>
        </p:blipFill>
        <p:spPr bwMode="gray">
          <a:xfrm>
            <a:off x="3319100" y="4397761"/>
            <a:ext cx="337091" cy="275802"/>
          </a:xfrm>
          <a:prstGeom prst="rect">
            <a:avLst/>
          </a:prstGeom>
        </p:spPr>
      </p:pic>
      <p:pic>
        <p:nvPicPr>
          <p:cNvPr id="37" name="图片 106" descr="堆叠交换机蓝.png"/>
          <p:cNvPicPr>
            <a:picLocks noChangeAspect="1"/>
          </p:cNvPicPr>
          <p:nvPr/>
        </p:nvPicPr>
        <p:blipFill>
          <a:blip r:embed="rId5" cstate="print"/>
          <a:stretch>
            <a:fillRect/>
          </a:stretch>
        </p:blipFill>
        <p:spPr bwMode="gray">
          <a:xfrm>
            <a:off x="4139836" y="4397761"/>
            <a:ext cx="337091" cy="275802"/>
          </a:xfrm>
          <a:prstGeom prst="rect">
            <a:avLst/>
          </a:prstGeom>
        </p:spPr>
      </p:pic>
      <p:grpSp>
        <p:nvGrpSpPr>
          <p:cNvPr id="38" name="Group 40"/>
          <p:cNvGrpSpPr/>
          <p:nvPr/>
        </p:nvGrpSpPr>
        <p:grpSpPr bwMode="gray">
          <a:xfrm>
            <a:off x="3767524" y="4503864"/>
            <a:ext cx="261965" cy="61979"/>
            <a:chOff x="559282" y="6488261"/>
            <a:chExt cx="261965" cy="61979"/>
          </a:xfrm>
          <a:solidFill>
            <a:schemeClr val="bg1">
              <a:lumMod val="50000"/>
            </a:schemeClr>
          </a:solidFill>
        </p:grpSpPr>
        <p:sp>
          <p:nvSpPr>
            <p:cNvPr id="39" name="Oval 4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42"/>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Oval 43"/>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2" name="Straight Connector 44"/>
          <p:cNvCxnSpPr>
            <a:stCxn id="36" idx="0"/>
            <a:endCxn id="18" idx="2"/>
          </p:cNvCxnSpPr>
          <p:nvPr/>
        </p:nvCxnSpPr>
        <p:spPr bwMode="gray">
          <a:xfrm flipV="1">
            <a:off x="3487646" y="4013607"/>
            <a:ext cx="0"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5"/>
          <p:cNvCxnSpPr>
            <a:stCxn id="37" idx="0"/>
            <a:endCxn id="19" idx="2"/>
          </p:cNvCxnSpPr>
          <p:nvPr/>
        </p:nvCxnSpPr>
        <p:spPr bwMode="gray">
          <a:xfrm flipV="1">
            <a:off x="4308382" y="4013607"/>
            <a:ext cx="0"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6"/>
          <p:cNvCxnSpPr>
            <a:stCxn id="36" idx="0"/>
            <a:endCxn id="19" idx="2"/>
          </p:cNvCxnSpPr>
          <p:nvPr/>
        </p:nvCxnSpPr>
        <p:spPr bwMode="gray">
          <a:xfrm flipV="1">
            <a:off x="3487646" y="4013607"/>
            <a:ext cx="820736"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7"/>
          <p:cNvCxnSpPr>
            <a:stCxn id="37" idx="0"/>
            <a:endCxn id="18" idx="2"/>
          </p:cNvCxnSpPr>
          <p:nvPr/>
        </p:nvCxnSpPr>
        <p:spPr bwMode="gray">
          <a:xfrm flipH="1" flipV="1">
            <a:off x="3487646" y="4013607"/>
            <a:ext cx="820736" cy="384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8"/>
          <p:cNvCxnSpPr>
            <a:stCxn id="11" idx="0"/>
            <a:endCxn id="27" idx="2"/>
          </p:cNvCxnSpPr>
          <p:nvPr/>
        </p:nvCxnSpPr>
        <p:spPr bwMode="gray">
          <a:xfrm flipV="1">
            <a:off x="2819360" y="4673563"/>
            <a:ext cx="987" cy="187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8"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gray">
          <a:xfrm>
            <a:off x="3418912" y="1660897"/>
            <a:ext cx="337091" cy="275801"/>
          </a:xfrm>
          <a:prstGeom prst="rect">
            <a:avLst/>
          </a:prstGeom>
          <a:noFill/>
        </p:spPr>
      </p:pic>
      <p:pic>
        <p:nvPicPr>
          <p:cNvPr id="47"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gray">
          <a:xfrm>
            <a:off x="2590455" y="1660897"/>
            <a:ext cx="337091" cy="275801"/>
          </a:xfrm>
          <a:prstGeom prst="rect">
            <a:avLst/>
          </a:prstGeom>
          <a:noFill/>
        </p:spPr>
      </p:pic>
      <p:cxnSp>
        <p:nvCxnSpPr>
          <p:cNvPr id="49" name="Straight Connector 52"/>
          <p:cNvCxnSpPr>
            <a:stCxn id="48" idx="2"/>
            <a:endCxn id="58" idx="0"/>
          </p:cNvCxnSpPr>
          <p:nvPr/>
        </p:nvCxnSpPr>
        <p:spPr bwMode="gray">
          <a:xfrm>
            <a:off x="3587458" y="1936698"/>
            <a:ext cx="0" cy="1694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53"/>
          <p:cNvCxnSpPr>
            <a:stCxn id="47" idx="2"/>
            <a:endCxn id="57" idx="0"/>
          </p:cNvCxnSpPr>
          <p:nvPr/>
        </p:nvCxnSpPr>
        <p:spPr bwMode="gray">
          <a:xfrm>
            <a:off x="2759001" y="1936698"/>
            <a:ext cx="0" cy="1694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4"/>
          <p:cNvCxnSpPr>
            <a:stCxn id="47" idx="3"/>
            <a:endCxn id="48" idx="1"/>
          </p:cNvCxnSpPr>
          <p:nvPr/>
        </p:nvCxnSpPr>
        <p:spPr bwMode="gray">
          <a:xfrm>
            <a:off x="2927546" y="1798798"/>
            <a:ext cx="4913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Oval 57"/>
          <p:cNvSpPr/>
          <p:nvPr/>
        </p:nvSpPr>
        <p:spPr bwMode="gray">
          <a:xfrm rot="1782887">
            <a:off x="1933720" y="4217497"/>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Oval 58"/>
          <p:cNvSpPr/>
          <p:nvPr/>
        </p:nvSpPr>
        <p:spPr bwMode="gray">
          <a:xfrm rot="19401600">
            <a:off x="2581315" y="4205971"/>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Oval 59"/>
          <p:cNvSpPr/>
          <p:nvPr/>
        </p:nvSpPr>
        <p:spPr bwMode="gray">
          <a:xfrm rot="1782887">
            <a:off x="3406824" y="4229020"/>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Oval 60"/>
          <p:cNvSpPr/>
          <p:nvPr/>
        </p:nvSpPr>
        <p:spPr bwMode="gray">
          <a:xfrm rot="19401600">
            <a:off x="4070537" y="4224266"/>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Oval 72"/>
          <p:cNvSpPr/>
          <p:nvPr/>
        </p:nvSpPr>
        <p:spPr bwMode="gray">
          <a:xfrm rot="19137847">
            <a:off x="3274497" y="3467994"/>
            <a:ext cx="555162"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8"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418912" y="2106182"/>
            <a:ext cx="337091" cy="275801"/>
          </a:xfrm>
          <a:prstGeom prst="rect">
            <a:avLst/>
          </a:prstGeom>
        </p:spPr>
      </p:pic>
      <p:pic>
        <p:nvPicPr>
          <p:cNvPr id="57"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2590455" y="2106182"/>
            <a:ext cx="337091" cy="275801"/>
          </a:xfrm>
          <a:prstGeom prst="rect">
            <a:avLst/>
          </a:prstGeom>
        </p:spPr>
      </p:pic>
      <p:cxnSp>
        <p:nvCxnSpPr>
          <p:cNvPr id="59" name="Straight Connector 93"/>
          <p:cNvCxnSpPr>
            <a:stCxn id="57" idx="3"/>
            <a:endCxn id="58" idx="1"/>
          </p:cNvCxnSpPr>
          <p:nvPr/>
        </p:nvCxnSpPr>
        <p:spPr bwMode="gray">
          <a:xfrm>
            <a:off x="2927546" y="2244083"/>
            <a:ext cx="491366"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2" name="TextBox 86"/>
          <p:cNvSpPr txBox="1"/>
          <p:nvPr/>
        </p:nvSpPr>
        <p:spPr bwMode="gray">
          <a:xfrm>
            <a:off x="1068798" y="3030882"/>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63" name="TextBox 88"/>
          <p:cNvSpPr txBox="1"/>
          <p:nvPr/>
        </p:nvSpPr>
        <p:spPr bwMode="gray">
          <a:xfrm>
            <a:off x="1068798" y="3761803"/>
            <a:ext cx="646331"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64" name="TextBox 89"/>
          <p:cNvSpPr txBox="1"/>
          <p:nvPr/>
        </p:nvSpPr>
        <p:spPr bwMode="gray">
          <a:xfrm>
            <a:off x="1068798" y="4419716"/>
            <a:ext cx="646331"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接入层</a:t>
            </a:r>
          </a:p>
        </p:txBody>
      </p:sp>
      <p:cxnSp>
        <p:nvCxnSpPr>
          <p:cNvPr id="65" name="Straight Connector 81"/>
          <p:cNvCxnSpPr/>
          <p:nvPr/>
        </p:nvCxnSpPr>
        <p:spPr bwMode="gray">
          <a:xfrm>
            <a:off x="1120504" y="5205154"/>
            <a:ext cx="3600000" cy="0"/>
          </a:xfrm>
          <a:prstGeom prst="line">
            <a:avLst/>
          </a:prstGeom>
          <a:noFill/>
          <a:ln w="19050" cap="flat" cmpd="sng" algn="ctr">
            <a:solidFill>
              <a:sysClr val="window" lastClr="FFFFFF">
                <a:lumMod val="85000"/>
              </a:sysClr>
            </a:solidFill>
            <a:prstDash val="sysDot"/>
            <a:miter lim="800000"/>
          </a:ln>
          <a:effectLst/>
        </p:spPr>
      </p:cxnSp>
      <p:cxnSp>
        <p:nvCxnSpPr>
          <p:cNvPr id="66" name="Straight Connector 82"/>
          <p:cNvCxnSpPr/>
          <p:nvPr/>
        </p:nvCxnSpPr>
        <p:spPr bwMode="gray">
          <a:xfrm flipV="1">
            <a:off x="1120504" y="5695244"/>
            <a:ext cx="3600000" cy="10473"/>
          </a:xfrm>
          <a:prstGeom prst="line">
            <a:avLst/>
          </a:prstGeom>
          <a:noFill/>
          <a:ln w="19050" cap="flat" cmpd="sng" algn="ctr">
            <a:solidFill>
              <a:sysClr val="window" lastClr="FFFFFF">
                <a:lumMod val="85000"/>
              </a:sysClr>
            </a:solidFill>
            <a:prstDash val="sysDot"/>
            <a:miter lim="800000"/>
          </a:ln>
          <a:effectLst/>
        </p:spPr>
      </p:cxnSp>
      <p:cxnSp>
        <p:nvCxnSpPr>
          <p:cNvPr id="67" name="Straight Connector 19"/>
          <p:cNvCxnSpPr/>
          <p:nvPr/>
        </p:nvCxnSpPr>
        <p:spPr bwMode="gray">
          <a:xfrm>
            <a:off x="3368596" y="6015824"/>
            <a:ext cx="268482" cy="0"/>
          </a:xfrm>
          <a:prstGeom prst="line">
            <a:avLst/>
          </a:prstGeom>
          <a:ln w="28575">
            <a:solidFill>
              <a:srgbClr val="30B5C5"/>
            </a:solidFill>
          </a:ln>
        </p:spPr>
        <p:style>
          <a:lnRef idx="1">
            <a:schemeClr val="accent1"/>
          </a:lnRef>
          <a:fillRef idx="0">
            <a:schemeClr val="accent1"/>
          </a:fillRef>
          <a:effectRef idx="0">
            <a:schemeClr val="accent1"/>
          </a:effectRef>
          <a:fontRef idx="minor">
            <a:schemeClr val="tx1"/>
          </a:fontRef>
        </p:style>
      </p:cxnSp>
      <p:sp>
        <p:nvSpPr>
          <p:cNvPr id="68" name="TextBox 20"/>
          <p:cNvSpPr txBox="1"/>
          <p:nvPr/>
        </p:nvSpPr>
        <p:spPr bwMode="gray">
          <a:xfrm>
            <a:off x="3637078" y="5875296"/>
            <a:ext cx="8595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堆叠</a:t>
            </a:r>
          </a:p>
        </p:txBody>
      </p:sp>
      <p:pic>
        <p:nvPicPr>
          <p:cNvPr id="69" name="图片 14" descr="日志告警服务器-蓝.png"/>
          <p:cNvPicPr>
            <a:picLocks noChangeAspect="1"/>
          </p:cNvPicPr>
          <p:nvPr/>
        </p:nvPicPr>
        <p:blipFill>
          <a:blip r:embed="rId8" cstate="print"/>
          <a:stretch>
            <a:fillRect/>
          </a:stretch>
        </p:blipFill>
        <p:spPr bwMode="gray">
          <a:xfrm>
            <a:off x="1784168" y="5376151"/>
            <a:ext cx="304595" cy="190195"/>
          </a:xfrm>
          <a:prstGeom prst="rect">
            <a:avLst/>
          </a:prstGeom>
        </p:spPr>
      </p:pic>
      <p:pic>
        <p:nvPicPr>
          <p:cNvPr id="70" name="图片 42" descr="IP电话.png"/>
          <p:cNvPicPr>
            <a:picLocks noChangeAspect="1"/>
          </p:cNvPicPr>
          <p:nvPr/>
        </p:nvPicPr>
        <p:blipFill>
          <a:blip r:embed="rId9" cstate="print"/>
          <a:stretch>
            <a:fillRect/>
          </a:stretch>
        </p:blipFill>
        <p:spPr bwMode="gray">
          <a:xfrm>
            <a:off x="2639812" y="5313658"/>
            <a:ext cx="335265" cy="315180"/>
          </a:xfrm>
          <a:prstGeom prst="rect">
            <a:avLst/>
          </a:prstGeom>
        </p:spPr>
      </p:pic>
      <p:pic>
        <p:nvPicPr>
          <p:cNvPr id="71" name="图片 11" descr="开放网络-蓝.png"/>
          <p:cNvPicPr>
            <a:picLocks noChangeAspect="1"/>
          </p:cNvPicPr>
          <p:nvPr/>
        </p:nvPicPr>
        <p:blipFill>
          <a:blip r:embed="rId10" cstate="print"/>
          <a:stretch>
            <a:fillRect/>
          </a:stretch>
        </p:blipFill>
        <p:spPr bwMode="gray">
          <a:xfrm>
            <a:off x="3303283" y="5354012"/>
            <a:ext cx="304595" cy="234472"/>
          </a:xfrm>
          <a:prstGeom prst="rect">
            <a:avLst/>
          </a:prstGeom>
        </p:spPr>
      </p:pic>
      <p:pic>
        <p:nvPicPr>
          <p:cNvPr id="72" name="图片 158" descr="SAN网络-蓝.png"/>
          <p:cNvPicPr>
            <a:picLocks noChangeAspect="1"/>
          </p:cNvPicPr>
          <p:nvPr/>
        </p:nvPicPr>
        <p:blipFill>
          <a:blip r:embed="rId11" cstate="print"/>
          <a:stretch>
            <a:fillRect/>
          </a:stretch>
        </p:blipFill>
        <p:spPr bwMode="gray">
          <a:xfrm>
            <a:off x="2281227" y="5335170"/>
            <a:ext cx="166121" cy="272157"/>
          </a:xfrm>
          <a:prstGeom prst="rect">
            <a:avLst/>
          </a:prstGeom>
        </p:spPr>
      </p:pic>
      <p:pic>
        <p:nvPicPr>
          <p:cNvPr id="73" name="图片 47" descr="打印机.png"/>
          <p:cNvPicPr>
            <a:picLocks noChangeAspect="1"/>
          </p:cNvPicPr>
          <p:nvPr/>
        </p:nvPicPr>
        <p:blipFill>
          <a:blip r:embed="rId12" cstate="print"/>
          <a:stretch>
            <a:fillRect/>
          </a:stretch>
        </p:blipFill>
        <p:spPr bwMode="gray">
          <a:xfrm>
            <a:off x="4179184" y="5338246"/>
            <a:ext cx="334175" cy="266004"/>
          </a:xfrm>
          <a:prstGeom prst="rect">
            <a:avLst/>
          </a:prstGeom>
        </p:spPr>
      </p:pic>
      <p:pic>
        <p:nvPicPr>
          <p:cNvPr id="74" name="图片 157" descr="故障链路.png"/>
          <p:cNvPicPr>
            <a:picLocks noChangeAspect="1"/>
          </p:cNvPicPr>
          <p:nvPr/>
        </p:nvPicPr>
        <p:blipFill>
          <a:blip r:embed="rId13" cstate="print"/>
          <a:stretch>
            <a:fillRect/>
          </a:stretch>
        </p:blipFill>
        <p:spPr bwMode="gray">
          <a:xfrm>
            <a:off x="3725883" y="5346236"/>
            <a:ext cx="335297" cy="250025"/>
          </a:xfrm>
          <a:prstGeom prst="rect">
            <a:avLst/>
          </a:prstGeom>
        </p:spPr>
      </p:pic>
      <p:sp>
        <p:nvSpPr>
          <p:cNvPr id="81" name="TextBox 89"/>
          <p:cNvSpPr txBox="1"/>
          <p:nvPr/>
        </p:nvSpPr>
        <p:spPr bwMode="gray">
          <a:xfrm>
            <a:off x="1068798" y="5334053"/>
            <a:ext cx="646331"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终端层</a:t>
            </a:r>
          </a:p>
        </p:txBody>
      </p:sp>
      <p:cxnSp>
        <p:nvCxnSpPr>
          <p:cNvPr id="82" name="Straight Connector 81"/>
          <p:cNvCxnSpPr/>
          <p:nvPr/>
        </p:nvCxnSpPr>
        <p:spPr bwMode="gray">
          <a:xfrm>
            <a:off x="1120504" y="4157758"/>
            <a:ext cx="3600000" cy="0"/>
          </a:xfrm>
          <a:prstGeom prst="line">
            <a:avLst/>
          </a:prstGeom>
          <a:noFill/>
          <a:ln w="19050" cap="flat" cmpd="sng" algn="ctr">
            <a:solidFill>
              <a:sysClr val="window" lastClr="FFFFFF">
                <a:lumMod val="85000"/>
              </a:sysClr>
            </a:solidFill>
            <a:prstDash val="sysDot"/>
            <a:miter lim="800000"/>
          </a:ln>
          <a:effectLst/>
        </p:spPr>
      </p:cxnSp>
      <p:cxnSp>
        <p:nvCxnSpPr>
          <p:cNvPr id="83" name="Straight Connector 81"/>
          <p:cNvCxnSpPr/>
          <p:nvPr/>
        </p:nvCxnSpPr>
        <p:spPr bwMode="gray">
          <a:xfrm>
            <a:off x="1120504" y="3496855"/>
            <a:ext cx="3600000" cy="0"/>
          </a:xfrm>
          <a:prstGeom prst="line">
            <a:avLst/>
          </a:prstGeom>
          <a:noFill/>
          <a:ln w="19050" cap="flat" cmpd="sng" algn="ctr">
            <a:solidFill>
              <a:sysClr val="window" lastClr="FFFFFF">
                <a:lumMod val="85000"/>
              </a:sysClr>
            </a:solidFill>
            <a:prstDash val="sysDot"/>
            <a:miter lim="800000"/>
          </a:ln>
          <a:effectLst/>
        </p:spPr>
      </p:cxnSp>
      <p:cxnSp>
        <p:nvCxnSpPr>
          <p:cNvPr id="84" name="Straight Connector 81"/>
          <p:cNvCxnSpPr/>
          <p:nvPr/>
        </p:nvCxnSpPr>
        <p:spPr bwMode="gray">
          <a:xfrm>
            <a:off x="1120504" y="2881219"/>
            <a:ext cx="3600000" cy="0"/>
          </a:xfrm>
          <a:prstGeom prst="line">
            <a:avLst/>
          </a:prstGeom>
          <a:noFill/>
          <a:ln w="19050" cap="flat" cmpd="sng" algn="ctr">
            <a:solidFill>
              <a:sysClr val="window" lastClr="FFFFFF">
                <a:lumMod val="85000"/>
              </a:sysClr>
            </a:solidFill>
            <a:prstDash val="sysDot"/>
            <a:miter lim="800000"/>
          </a:ln>
          <a:effectLst/>
        </p:spPr>
      </p:cxnSp>
      <p:cxnSp>
        <p:nvCxnSpPr>
          <p:cNvPr id="85" name="Straight Connector 79"/>
          <p:cNvCxnSpPr/>
          <p:nvPr/>
        </p:nvCxnSpPr>
        <p:spPr bwMode="gray">
          <a:xfrm flipH="1">
            <a:off x="3615376" y="2872486"/>
            <a:ext cx="309238" cy="330261"/>
          </a:xfrm>
          <a:prstGeom prst="line">
            <a:avLst/>
          </a:prstGeom>
          <a:noFill/>
          <a:ln w="19050" cap="flat" cmpd="sng" algn="ctr">
            <a:solidFill>
              <a:sysClr val="windowText" lastClr="000000"/>
            </a:solidFill>
            <a:prstDash val="solid"/>
            <a:miter lim="800000"/>
          </a:ln>
          <a:effectLst/>
        </p:spPr>
      </p:cxnSp>
      <p:cxnSp>
        <p:nvCxnSpPr>
          <p:cNvPr id="86" name="Straight Connector 79"/>
          <p:cNvCxnSpPr/>
          <p:nvPr/>
        </p:nvCxnSpPr>
        <p:spPr bwMode="gray">
          <a:xfrm flipH="1">
            <a:off x="3918726" y="2874709"/>
            <a:ext cx="1185521" cy="0"/>
          </a:xfrm>
          <a:prstGeom prst="line">
            <a:avLst/>
          </a:prstGeom>
          <a:noFill/>
          <a:ln w="19050" cap="flat" cmpd="sng" algn="ctr">
            <a:solidFill>
              <a:sysClr val="windowText" lastClr="000000"/>
            </a:solidFill>
            <a:prstDash val="solid"/>
            <a:miter lim="800000"/>
          </a:ln>
          <a:effectLst/>
        </p:spPr>
      </p:cxnSp>
      <p:cxnSp>
        <p:nvCxnSpPr>
          <p:cNvPr id="87" name="Straight Connector 79"/>
          <p:cNvCxnSpPr/>
          <p:nvPr/>
        </p:nvCxnSpPr>
        <p:spPr bwMode="gray">
          <a:xfrm flipH="1">
            <a:off x="2789791" y="2810013"/>
            <a:ext cx="309238" cy="330261"/>
          </a:xfrm>
          <a:prstGeom prst="line">
            <a:avLst/>
          </a:prstGeom>
          <a:noFill/>
          <a:ln w="19050" cap="flat" cmpd="sng" algn="ctr">
            <a:solidFill>
              <a:sysClr val="windowText" lastClr="000000"/>
            </a:solidFill>
            <a:prstDash val="solid"/>
            <a:miter lim="800000"/>
          </a:ln>
          <a:effectLst/>
        </p:spPr>
      </p:cxnSp>
      <p:cxnSp>
        <p:nvCxnSpPr>
          <p:cNvPr id="88" name="Straight Connector 79"/>
          <p:cNvCxnSpPr/>
          <p:nvPr/>
        </p:nvCxnSpPr>
        <p:spPr bwMode="gray">
          <a:xfrm flipH="1" flipV="1">
            <a:off x="3178003" y="2754790"/>
            <a:ext cx="343673" cy="363166"/>
          </a:xfrm>
          <a:prstGeom prst="line">
            <a:avLst/>
          </a:prstGeom>
          <a:noFill/>
          <a:ln w="19050" cap="flat" cmpd="sng" algn="ctr">
            <a:solidFill>
              <a:sysClr val="windowText" lastClr="000000"/>
            </a:solidFill>
            <a:prstDash val="solid"/>
            <a:miter lim="800000"/>
          </a:ln>
          <a:effectLst/>
        </p:spPr>
      </p:cxnSp>
      <p:cxnSp>
        <p:nvCxnSpPr>
          <p:cNvPr id="89" name="Straight Connector 79"/>
          <p:cNvCxnSpPr/>
          <p:nvPr/>
        </p:nvCxnSpPr>
        <p:spPr bwMode="gray">
          <a:xfrm flipH="1" flipV="1">
            <a:off x="2422564" y="2812236"/>
            <a:ext cx="343673" cy="363166"/>
          </a:xfrm>
          <a:prstGeom prst="line">
            <a:avLst/>
          </a:prstGeom>
          <a:noFill/>
          <a:ln w="19050" cap="flat" cmpd="sng" algn="ctr">
            <a:solidFill>
              <a:sysClr val="windowText" lastClr="000000"/>
            </a:solidFill>
            <a:prstDash val="solid"/>
            <a:miter lim="800000"/>
          </a:ln>
          <a:effectLst/>
        </p:spPr>
      </p:cxnSp>
      <p:cxnSp>
        <p:nvCxnSpPr>
          <p:cNvPr id="91" name="Straight Connector 79"/>
          <p:cNvCxnSpPr/>
          <p:nvPr/>
        </p:nvCxnSpPr>
        <p:spPr bwMode="gray">
          <a:xfrm flipH="1">
            <a:off x="1998666" y="2752865"/>
            <a:ext cx="1190149" cy="0"/>
          </a:xfrm>
          <a:prstGeom prst="line">
            <a:avLst/>
          </a:prstGeom>
          <a:noFill/>
          <a:ln w="19050" cap="flat" cmpd="sng" algn="ctr">
            <a:solidFill>
              <a:sysClr val="windowText" lastClr="000000"/>
            </a:solidFill>
            <a:prstDash val="solid"/>
            <a:miter lim="800000"/>
          </a:ln>
          <a:effectLst/>
        </p:spPr>
      </p:cxnSp>
      <p:cxnSp>
        <p:nvCxnSpPr>
          <p:cNvPr id="92" name="Straight Connector 79"/>
          <p:cNvCxnSpPr/>
          <p:nvPr/>
        </p:nvCxnSpPr>
        <p:spPr bwMode="gray">
          <a:xfrm flipH="1">
            <a:off x="1998666" y="2812236"/>
            <a:ext cx="430513" cy="0"/>
          </a:xfrm>
          <a:prstGeom prst="line">
            <a:avLst/>
          </a:prstGeom>
          <a:noFill/>
          <a:ln w="19050" cap="flat" cmpd="sng" algn="ctr">
            <a:solidFill>
              <a:sysClr val="windowText" lastClr="000000"/>
            </a:solidFill>
            <a:prstDash val="solid"/>
            <a:miter lim="800000"/>
          </a:ln>
          <a:effectLst/>
        </p:spPr>
      </p:cxnSp>
      <p:sp>
        <p:nvSpPr>
          <p:cNvPr id="93" name="Freeform 159"/>
          <p:cNvSpPr/>
          <p:nvPr/>
        </p:nvSpPr>
        <p:spPr bwMode="gray">
          <a:xfrm flipH="1">
            <a:off x="1300756" y="2459902"/>
            <a:ext cx="1012066"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lumMod val="95000"/>
            </a:sysClr>
          </a:solidFill>
          <a:ln w="28575" cap="flat" cmpd="sng" algn="ctr">
            <a:solidFill>
              <a:sysClr val="window" lastClr="FFFFFF">
                <a:lumMod val="65000"/>
              </a:sysClr>
            </a:solidFill>
            <a:prstDash val="solid"/>
            <a:miter lim="800000"/>
          </a:ln>
          <a:effectLst/>
        </p:spPr>
        <p:txBody>
          <a:bodyPr wrap="square" tIns="180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b="1" kern="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kumimoji="0" lang="en-US" sz="1200" b="1"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4" name="Straight Connector 79"/>
          <p:cNvCxnSpPr/>
          <p:nvPr/>
        </p:nvCxnSpPr>
        <p:spPr bwMode="gray">
          <a:xfrm flipH="1">
            <a:off x="3093141" y="2812236"/>
            <a:ext cx="1185521" cy="0"/>
          </a:xfrm>
          <a:prstGeom prst="line">
            <a:avLst/>
          </a:prstGeom>
          <a:noFill/>
          <a:ln w="19050" cap="flat" cmpd="sng" algn="ctr">
            <a:solidFill>
              <a:sysClr val="windowText" lastClr="000000"/>
            </a:solidFill>
            <a:prstDash val="solid"/>
            <a:miter lim="800000"/>
          </a:ln>
          <a:effectLst/>
        </p:spPr>
      </p:cxnSp>
      <p:pic>
        <p:nvPicPr>
          <p:cNvPr id="13" name="图片 86" descr="核心交换机.png"/>
          <p:cNvPicPr>
            <a:picLocks noChangeAspect="1"/>
          </p:cNvPicPr>
          <p:nvPr/>
        </p:nvPicPr>
        <p:blipFill>
          <a:blip r:embed="rId14" cstate="print"/>
          <a:stretch>
            <a:fillRect/>
          </a:stretch>
        </p:blipFill>
        <p:spPr bwMode="gray">
          <a:xfrm>
            <a:off x="3419809" y="3002768"/>
            <a:ext cx="335297" cy="274335"/>
          </a:xfrm>
          <a:prstGeom prst="rect">
            <a:avLst/>
          </a:prstGeom>
        </p:spPr>
      </p:pic>
      <p:pic>
        <p:nvPicPr>
          <p:cNvPr id="12" name="图片 86" descr="核心交换机.png"/>
          <p:cNvPicPr>
            <a:picLocks noChangeAspect="1"/>
          </p:cNvPicPr>
          <p:nvPr/>
        </p:nvPicPr>
        <p:blipFill>
          <a:blip r:embed="rId14" cstate="print"/>
          <a:stretch>
            <a:fillRect/>
          </a:stretch>
        </p:blipFill>
        <p:spPr bwMode="gray">
          <a:xfrm>
            <a:off x="2591352" y="3002768"/>
            <a:ext cx="335297" cy="274335"/>
          </a:xfrm>
          <a:prstGeom prst="rect">
            <a:avLst/>
          </a:prstGeom>
        </p:spPr>
      </p:pic>
      <p:sp>
        <p:nvSpPr>
          <p:cNvPr id="95" name="圆角矩形 94"/>
          <p:cNvSpPr/>
          <p:nvPr/>
        </p:nvSpPr>
        <p:spPr bwMode="gray">
          <a:xfrm>
            <a:off x="4222834" y="2709299"/>
            <a:ext cx="995339" cy="278033"/>
          </a:xfrm>
          <a:prstGeom prst="roundRect">
            <a:avLst>
              <a:gd name="adj" fmla="val 2563"/>
            </a:avLst>
          </a:prstGeom>
          <a:solidFill>
            <a:sysClr val="window" lastClr="FFFFFF">
              <a:lumMod val="95000"/>
            </a:sysClr>
          </a:solidFill>
          <a:ln w="12700" cap="flat" cmpd="sng" algn="ctr">
            <a:solidFill>
              <a:sysClr val="window" lastClr="FFFFFF">
                <a:lumMod val="7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网管运维区</a:t>
            </a:r>
          </a:p>
        </p:txBody>
      </p:sp>
      <p:cxnSp>
        <p:nvCxnSpPr>
          <p:cNvPr id="97" name="Straight Connector 53"/>
          <p:cNvCxnSpPr>
            <a:stCxn id="57" idx="2"/>
            <a:endCxn id="12" idx="0"/>
          </p:cNvCxnSpPr>
          <p:nvPr/>
        </p:nvCxnSpPr>
        <p:spPr bwMode="gray">
          <a:xfrm>
            <a:off x="2759001" y="2381983"/>
            <a:ext cx="0" cy="6207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53"/>
          <p:cNvCxnSpPr>
            <a:stCxn id="58" idx="2"/>
            <a:endCxn id="13" idx="0"/>
          </p:cNvCxnSpPr>
          <p:nvPr/>
        </p:nvCxnSpPr>
        <p:spPr bwMode="gray">
          <a:xfrm>
            <a:off x="3587458" y="2381983"/>
            <a:ext cx="0" cy="6207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7" name="Group 17"/>
          <p:cNvGrpSpPr/>
          <p:nvPr/>
        </p:nvGrpSpPr>
        <p:grpSpPr bwMode="gray">
          <a:xfrm>
            <a:off x="2367071" y="1226341"/>
            <a:ext cx="740908" cy="375207"/>
            <a:chOff x="8023910" y="4961247"/>
            <a:chExt cx="740908" cy="375207"/>
          </a:xfrm>
        </p:grpSpPr>
        <p:grpSp>
          <p:nvGrpSpPr>
            <p:cNvPr id="108" name="组合 35"/>
            <p:cNvGrpSpPr/>
            <p:nvPr/>
          </p:nvGrpSpPr>
          <p:grpSpPr bwMode="gray">
            <a:xfrm>
              <a:off x="8077829" y="4961247"/>
              <a:ext cx="633070" cy="358898"/>
              <a:chOff x="3269076" y="1744970"/>
              <a:chExt cx="1860118" cy="1054529"/>
            </a:xfrm>
            <a:solidFill>
              <a:sysClr val="window" lastClr="FFFFFF">
                <a:lumMod val="75000"/>
              </a:sysClr>
            </a:solidFill>
          </p:grpSpPr>
          <p:sp>
            <p:nvSpPr>
              <p:cNvPr id="110"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9" name="TextBox 114"/>
            <p:cNvSpPr txBox="1"/>
            <p:nvPr/>
          </p:nvSpPr>
          <p:spPr bwMode="gray">
            <a:xfrm>
              <a:off x="8023910" y="5059455"/>
              <a:ext cx="740908"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a:t>
              </a:r>
              <a:endParaRPr kumimoji="0" lang="zh-CN" altLang="en-US" sz="12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6" name="Group 115"/>
          <p:cNvGrpSpPr/>
          <p:nvPr/>
        </p:nvGrpSpPr>
        <p:grpSpPr bwMode="gray">
          <a:xfrm>
            <a:off x="3261606" y="1226341"/>
            <a:ext cx="633070" cy="375207"/>
            <a:chOff x="8077829" y="4961247"/>
            <a:chExt cx="633070" cy="375207"/>
          </a:xfrm>
        </p:grpSpPr>
        <p:grpSp>
          <p:nvGrpSpPr>
            <p:cNvPr id="117" name="组合 35"/>
            <p:cNvGrpSpPr/>
            <p:nvPr/>
          </p:nvGrpSpPr>
          <p:grpSpPr bwMode="gray">
            <a:xfrm>
              <a:off x="8077829" y="4961247"/>
              <a:ext cx="633070" cy="358898"/>
              <a:chOff x="3269076" y="1744970"/>
              <a:chExt cx="1860118" cy="1054529"/>
            </a:xfrm>
            <a:solidFill>
              <a:sysClr val="window" lastClr="FFFFFF">
                <a:lumMod val="75000"/>
              </a:sysClr>
            </a:solidFill>
          </p:grpSpPr>
          <p:sp>
            <p:nvSpPr>
              <p:cNvPr id="119"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8" name="TextBox 117"/>
            <p:cNvSpPr txBox="1"/>
            <p:nvPr/>
          </p:nvSpPr>
          <p:spPr bwMode="gray">
            <a:xfrm>
              <a:off x="8118488" y="5059455"/>
              <a:ext cx="551754"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WAN</a:t>
              </a:r>
              <a:endParaRPr kumimoji="0" lang="zh-CN" altLang="en-US" sz="12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6" name="TextBox 86"/>
          <p:cNvSpPr txBox="1"/>
          <p:nvPr/>
        </p:nvSpPr>
        <p:spPr bwMode="gray">
          <a:xfrm>
            <a:off x="1068798" y="1879832"/>
            <a:ext cx="646331" cy="276999"/>
          </a:xfrm>
          <a:prstGeom prst="rect">
            <a:avLst/>
          </a:prstGeom>
          <a:noFill/>
        </p:spPr>
        <p:txBody>
          <a:bodyPr wrap="none" rtlCol="0">
            <a:spAutoFit/>
          </a:bodyPr>
          <a:lstStyle/>
          <a:p>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出口区</a:t>
            </a:r>
          </a:p>
        </p:txBody>
      </p:sp>
    </p:spTree>
    <p:extLst>
      <p:ext uri="{BB962C8B-B14F-4D97-AF65-F5344CB8AC3E}">
        <p14:creationId xmlns:p14="http://schemas.microsoft.com/office/powerpoint/2010/main" val="237411527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7" name="肘形连接符 146"/>
          <p:cNvCxnSpPr/>
          <p:nvPr/>
        </p:nvCxnSpPr>
        <p:spPr bwMode="gray">
          <a:xfrm rot="16200000" flipV="1">
            <a:off x="166091" y="2971215"/>
            <a:ext cx="1968054" cy="728133"/>
          </a:xfrm>
          <a:prstGeom prst="bentConnector3">
            <a:avLst>
              <a:gd name="adj1" fmla="val 9004"/>
            </a:avLst>
          </a:prstGeom>
          <a:noFill/>
          <a:ln w="19050">
            <a:solidFill>
              <a:srgbClr val="56C4D2"/>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肘形连接符 148"/>
          <p:cNvCxnSpPr/>
          <p:nvPr/>
        </p:nvCxnSpPr>
        <p:spPr bwMode="gray">
          <a:xfrm rot="16200000" flipV="1">
            <a:off x="428312" y="2952740"/>
            <a:ext cx="1968054" cy="728133"/>
          </a:xfrm>
          <a:prstGeom prst="bentConnector3">
            <a:avLst>
              <a:gd name="adj1" fmla="val 14015"/>
            </a:avLst>
          </a:prstGeom>
          <a:noFill/>
          <a:ln w="19050">
            <a:solidFill>
              <a:srgbClr val="56C4D2"/>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肘形连接符 150"/>
          <p:cNvCxnSpPr/>
          <p:nvPr/>
        </p:nvCxnSpPr>
        <p:spPr bwMode="gray">
          <a:xfrm rot="16200000" flipV="1">
            <a:off x="690533" y="2952740"/>
            <a:ext cx="1968054" cy="728133"/>
          </a:xfrm>
          <a:prstGeom prst="bentConnector3">
            <a:avLst>
              <a:gd name="adj1" fmla="val 21759"/>
            </a:avLst>
          </a:prstGeom>
          <a:noFill/>
          <a:ln w="19050">
            <a:solidFill>
              <a:srgbClr val="56C4D2"/>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肘形连接符 152"/>
          <p:cNvCxnSpPr/>
          <p:nvPr/>
        </p:nvCxnSpPr>
        <p:spPr bwMode="gray">
          <a:xfrm rot="16200000" flipV="1">
            <a:off x="952753" y="2947544"/>
            <a:ext cx="1968054" cy="728133"/>
          </a:xfrm>
          <a:prstGeom prst="bentConnector3">
            <a:avLst>
              <a:gd name="adj1" fmla="val 29047"/>
            </a:avLst>
          </a:prstGeom>
          <a:noFill/>
          <a:ln w="19050">
            <a:solidFill>
              <a:srgbClr val="56C4D2"/>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肘形连接符 154"/>
          <p:cNvCxnSpPr/>
          <p:nvPr/>
        </p:nvCxnSpPr>
        <p:spPr bwMode="gray">
          <a:xfrm rot="5400000" flipH="1" flipV="1">
            <a:off x="1644605" y="3188923"/>
            <a:ext cx="1950963" cy="262222"/>
          </a:xfrm>
          <a:prstGeom prst="bentConnector3">
            <a:avLst>
              <a:gd name="adj1" fmla="val 15537"/>
            </a:avLst>
          </a:prstGeom>
          <a:noFill/>
          <a:ln w="19050">
            <a:solidFill>
              <a:srgbClr val="56C4D2"/>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肘形连接符 156"/>
          <p:cNvCxnSpPr/>
          <p:nvPr/>
        </p:nvCxnSpPr>
        <p:spPr bwMode="gray">
          <a:xfrm rot="5400000" flipH="1" flipV="1">
            <a:off x="1937190" y="3153427"/>
            <a:ext cx="1950900" cy="322885"/>
          </a:xfrm>
          <a:prstGeom prst="bentConnector3">
            <a:avLst>
              <a:gd name="adj1" fmla="val 8643"/>
            </a:avLst>
          </a:prstGeom>
          <a:noFill/>
          <a:ln w="19050">
            <a:solidFill>
              <a:srgbClr val="56C4D2"/>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出口网络的业务使用场景</a:t>
            </a:r>
          </a:p>
        </p:txBody>
      </p:sp>
      <p:sp>
        <p:nvSpPr>
          <p:cNvPr id="128" name="TextBox 177"/>
          <p:cNvSpPr txBox="1"/>
          <p:nvPr/>
        </p:nvSpPr>
        <p:spPr bwMode="gray">
          <a:xfrm>
            <a:off x="905113" y="4259650"/>
            <a:ext cx="2428886" cy="1490133"/>
          </a:xfrm>
          <a:prstGeom prst="rect">
            <a:avLst/>
          </a:pr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latin typeface="Huawei Sans" panose="020C0503030203020204" pitchFamily="34" charset="0"/>
                <a:ea typeface="方正兰亭黑简体" panose="02000000000000000000" pitchFamily="2" charset="-122"/>
              </a:defRPr>
            </a:lvl1pPr>
          </a:lstStyle>
          <a:p>
            <a:endParaRPr lang="en-US" altLang="zh-CN" dirty="0">
              <a:sym typeface="Huawei Sans" panose="020C0503030203020204" pitchFamily="34" charset="0"/>
            </a:endParaRPr>
          </a:p>
        </p:txBody>
      </p:sp>
      <p:pic>
        <p:nvPicPr>
          <p:cNvPr id="134"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1206687" y="5238856"/>
            <a:ext cx="369473" cy="302297"/>
          </a:xfrm>
          <a:prstGeom prst="rect">
            <a:avLst/>
          </a:prstGeom>
        </p:spPr>
      </p:pic>
      <p:pic>
        <p:nvPicPr>
          <p:cNvPr id="135" name="Picture 2" descr="G:\做的项目\公共\扁平图标切换\更新2015_01_21\oss扁平图标库2015_01_21更新-04.png"/>
          <p:cNvPicPr>
            <a:picLocks noChangeAspect="1" noChangeArrowheads="1"/>
          </p:cNvPicPr>
          <p:nvPr/>
        </p:nvPicPr>
        <p:blipFill>
          <a:blip r:embed="rId4"/>
          <a:stretch>
            <a:fillRect/>
          </a:stretch>
        </p:blipFill>
        <p:spPr bwMode="gray">
          <a:xfrm>
            <a:off x="1206687" y="4461577"/>
            <a:ext cx="369473" cy="302297"/>
          </a:xfrm>
          <a:prstGeom prst="rect">
            <a:avLst/>
          </a:prstGeom>
          <a:noFill/>
        </p:spPr>
      </p:pic>
      <p:pic>
        <p:nvPicPr>
          <p:cNvPr id="136"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2662954" y="5238856"/>
            <a:ext cx="369473" cy="302297"/>
          </a:xfrm>
          <a:prstGeom prst="rect">
            <a:avLst/>
          </a:prstGeom>
        </p:spPr>
      </p:pic>
      <p:pic>
        <p:nvPicPr>
          <p:cNvPr id="137" name="Picture 2" descr="G:\做的项目\公共\扁平图标切换\更新2015_01_21\oss扁平图标库2015_01_21更新-04.png"/>
          <p:cNvPicPr>
            <a:picLocks noChangeAspect="1" noChangeArrowheads="1"/>
          </p:cNvPicPr>
          <p:nvPr/>
        </p:nvPicPr>
        <p:blipFill>
          <a:blip r:embed="rId4"/>
          <a:stretch>
            <a:fillRect/>
          </a:stretch>
        </p:blipFill>
        <p:spPr bwMode="gray">
          <a:xfrm>
            <a:off x="2662954" y="4461577"/>
            <a:ext cx="369473" cy="302297"/>
          </a:xfrm>
          <a:prstGeom prst="rect">
            <a:avLst/>
          </a:prstGeom>
          <a:noFill/>
        </p:spPr>
      </p:pic>
      <p:cxnSp>
        <p:nvCxnSpPr>
          <p:cNvPr id="138" name="直接连接符 137"/>
          <p:cNvCxnSpPr>
            <a:stCxn id="135" idx="3"/>
            <a:endCxn id="137" idx="1"/>
          </p:cNvCxnSpPr>
          <p:nvPr/>
        </p:nvCxnSpPr>
        <p:spPr bwMode="gray">
          <a:xfrm>
            <a:off x="1576160" y="4612726"/>
            <a:ext cx="10867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a:stCxn id="135" idx="2"/>
            <a:endCxn id="134" idx="0"/>
          </p:cNvCxnSpPr>
          <p:nvPr/>
        </p:nvCxnSpPr>
        <p:spPr bwMode="gray">
          <a:xfrm flipH="1">
            <a:off x="1391424" y="4763874"/>
            <a:ext cx="0" cy="4749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a:stCxn id="137" idx="2"/>
            <a:endCxn id="136" idx="0"/>
          </p:cNvCxnSpPr>
          <p:nvPr/>
        </p:nvCxnSpPr>
        <p:spPr bwMode="gray">
          <a:xfrm flipH="1">
            <a:off x="2847691" y="4763874"/>
            <a:ext cx="0" cy="4749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a:stCxn id="136" idx="1"/>
            <a:endCxn id="134" idx="3"/>
          </p:cNvCxnSpPr>
          <p:nvPr/>
        </p:nvCxnSpPr>
        <p:spPr bwMode="gray">
          <a:xfrm flipH="1">
            <a:off x="1576160" y="5390005"/>
            <a:ext cx="108679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bwMode="gray">
          <a:xfrm>
            <a:off x="503596" y="1619312"/>
            <a:ext cx="1276050" cy="760627"/>
            <a:chOff x="695363" y="1448357"/>
            <a:chExt cx="929071" cy="475412"/>
          </a:xfrm>
        </p:grpSpPr>
        <p:sp>
          <p:nvSpPr>
            <p:cNvPr id="142" name="Freeform 159"/>
            <p:cNvSpPr/>
            <p:nvPr/>
          </p:nvSpPr>
          <p:spPr bwMode="gray">
            <a:xfrm flipH="1">
              <a:off x="714952" y="1448357"/>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文本框 142"/>
            <p:cNvSpPr txBox="1"/>
            <p:nvPr/>
          </p:nvSpPr>
          <p:spPr bwMode="gray">
            <a:xfrm>
              <a:off x="695363" y="1631765"/>
              <a:ext cx="909482" cy="229615"/>
            </a:xfrm>
            <a:prstGeom prst="rect">
              <a:avLst/>
            </a:prstGeom>
            <a:noFill/>
          </p:spPr>
          <p:txBody>
            <a:bodyPr wrap="square" rtlCol="0">
              <a:noAutofit/>
            </a:bodyPr>
            <a:lstStyle/>
            <a:p>
              <a:pPr algn="ctr" font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sp>
        <p:nvSpPr>
          <p:cNvPr id="146" name="矩形 145"/>
          <p:cNvSpPr/>
          <p:nvPr/>
        </p:nvSpPr>
        <p:spPr bwMode="gray">
          <a:xfrm>
            <a:off x="1670767" y="4831306"/>
            <a:ext cx="894974" cy="305105"/>
          </a:xfrm>
          <a:prstGeom prst="rect">
            <a:avLst/>
          </a:prstGeom>
        </p:spPr>
        <p:txBody>
          <a:bodyPr wrap="square">
            <a:noAutofit/>
          </a:bodyPr>
          <a:lstStyle/>
          <a:p>
            <a:pPr algn="ctr" fontAlgn="ctr"/>
            <a:r>
              <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出口区</a:t>
            </a:r>
          </a:p>
        </p:txBody>
      </p:sp>
      <p:sp>
        <p:nvSpPr>
          <p:cNvPr id="148" name="矩形 147"/>
          <p:cNvSpPr/>
          <p:nvPr/>
        </p:nvSpPr>
        <p:spPr bwMode="gray">
          <a:xfrm>
            <a:off x="547279" y="2639824"/>
            <a:ext cx="277907" cy="551844"/>
          </a:xfrm>
          <a:prstGeom prst="rect">
            <a:avLst/>
          </a:prstGeom>
        </p:spPr>
        <p:txBody>
          <a:bodyPr wrap="square">
            <a:noAutofit/>
          </a:bodyPr>
          <a:lstStyle/>
          <a:p>
            <a:pPr algn="ctr" fontAlgn="ctr"/>
            <a:r>
              <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安全</a:t>
            </a:r>
          </a:p>
        </p:txBody>
      </p:sp>
      <p:sp>
        <p:nvSpPr>
          <p:cNvPr id="150" name="矩形 149"/>
          <p:cNvSpPr/>
          <p:nvPr/>
        </p:nvSpPr>
        <p:spPr bwMode="gray">
          <a:xfrm>
            <a:off x="804169" y="2639824"/>
            <a:ext cx="277907" cy="551844"/>
          </a:xfrm>
          <a:prstGeom prst="rect">
            <a:avLst/>
          </a:prstGeom>
        </p:spPr>
        <p:txBody>
          <a:bodyPr wrap="square">
            <a:noAutofit/>
          </a:bodyPr>
          <a:lstStyle/>
          <a:p>
            <a:pPr algn="ctr" fontAlgn="ctr"/>
            <a:r>
              <a:rPr lang="en-US" altLang="zh-CN"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
            </a:r>
          </a:p>
          <a:p>
            <a:pPr algn="ctr" fontAlgn="ctr"/>
            <a:r>
              <a:rPr lang="en-US" altLang="zh-CN"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a:t>
            </a:r>
          </a:p>
          <a:p>
            <a:pPr algn="ctr" fontAlgn="ctr"/>
            <a:r>
              <a:rPr lang="en-US" altLang="zh-CN"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T</a:t>
            </a:r>
            <a:endPar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矩形 151"/>
          <p:cNvSpPr/>
          <p:nvPr/>
        </p:nvSpPr>
        <p:spPr bwMode="gray">
          <a:xfrm>
            <a:off x="1061059" y="2639824"/>
            <a:ext cx="277907" cy="814800"/>
          </a:xfrm>
          <a:prstGeom prst="rect">
            <a:avLst/>
          </a:prstGeom>
        </p:spPr>
        <p:txBody>
          <a:bodyPr wrap="square">
            <a:noAutofit/>
          </a:bodyPr>
          <a:lstStyle/>
          <a:p>
            <a:pPr algn="ctr" fontAlgn="ctr"/>
            <a:r>
              <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远程接入</a:t>
            </a:r>
          </a:p>
        </p:txBody>
      </p:sp>
      <p:sp>
        <p:nvSpPr>
          <p:cNvPr id="154" name="矩形 153"/>
          <p:cNvSpPr/>
          <p:nvPr/>
        </p:nvSpPr>
        <p:spPr bwMode="gray">
          <a:xfrm>
            <a:off x="1334726" y="2639823"/>
            <a:ext cx="277907" cy="993697"/>
          </a:xfrm>
          <a:prstGeom prst="rect">
            <a:avLst/>
          </a:prstGeom>
        </p:spPr>
        <p:txBody>
          <a:bodyPr wrap="square">
            <a:noAutofit/>
          </a:bodyPr>
          <a:lstStyle/>
          <a:p>
            <a:pPr algn="ctr" fontAlgn="ctr"/>
            <a:r>
              <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多园区互联</a:t>
            </a:r>
          </a:p>
        </p:txBody>
      </p:sp>
      <p:sp>
        <p:nvSpPr>
          <p:cNvPr id="156" name="矩形 155"/>
          <p:cNvSpPr/>
          <p:nvPr/>
        </p:nvSpPr>
        <p:spPr bwMode="gray">
          <a:xfrm>
            <a:off x="2713760" y="2633121"/>
            <a:ext cx="277907" cy="551844"/>
          </a:xfrm>
          <a:prstGeom prst="rect">
            <a:avLst/>
          </a:prstGeom>
        </p:spPr>
        <p:txBody>
          <a:bodyPr wrap="square">
            <a:noAutofit/>
          </a:bodyPr>
          <a:lstStyle/>
          <a:p>
            <a:pPr algn="ctr" fontAlgn="ctr"/>
            <a:r>
              <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安全</a:t>
            </a:r>
          </a:p>
        </p:txBody>
      </p:sp>
      <p:sp>
        <p:nvSpPr>
          <p:cNvPr id="158" name="矩形 157"/>
          <p:cNvSpPr/>
          <p:nvPr/>
        </p:nvSpPr>
        <p:spPr bwMode="gray">
          <a:xfrm>
            <a:off x="3047789" y="2633120"/>
            <a:ext cx="277907" cy="1000399"/>
          </a:xfrm>
          <a:prstGeom prst="rect">
            <a:avLst/>
          </a:prstGeom>
        </p:spPr>
        <p:txBody>
          <a:bodyPr wrap="square">
            <a:noAutofit/>
          </a:bodyPr>
          <a:lstStyle/>
          <a:p>
            <a:pPr algn="ctr" fontAlgn="ctr"/>
            <a:r>
              <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多园区互联</a:t>
            </a:r>
          </a:p>
        </p:txBody>
      </p:sp>
      <p:grpSp>
        <p:nvGrpSpPr>
          <p:cNvPr id="159" name="组合 158"/>
          <p:cNvGrpSpPr/>
          <p:nvPr/>
        </p:nvGrpSpPr>
        <p:grpSpPr bwMode="gray">
          <a:xfrm>
            <a:off x="2271880" y="1619312"/>
            <a:ext cx="1276050" cy="760627"/>
            <a:chOff x="695363" y="1448357"/>
            <a:chExt cx="929071" cy="475412"/>
          </a:xfrm>
        </p:grpSpPr>
        <p:sp>
          <p:nvSpPr>
            <p:cNvPr id="160" name="Freeform 159"/>
            <p:cNvSpPr/>
            <p:nvPr/>
          </p:nvSpPr>
          <p:spPr bwMode="gray">
            <a:xfrm flipH="1">
              <a:off x="714952" y="1448357"/>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文本框 160"/>
            <p:cNvSpPr txBox="1"/>
            <p:nvPr/>
          </p:nvSpPr>
          <p:spPr bwMode="gray">
            <a:xfrm>
              <a:off x="695363" y="1627800"/>
              <a:ext cx="909482" cy="229615"/>
            </a:xfrm>
            <a:prstGeom prst="rect">
              <a:avLst/>
            </a:prstGeom>
            <a:noFill/>
          </p:spPr>
          <p:txBody>
            <a:bodyPr wrap="square" rtlCol="0">
              <a:noAutofit/>
            </a:bodyPr>
            <a:lstStyle/>
            <a:p>
              <a:pPr algn="ctr" font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WAN</a:t>
              </a:r>
            </a:p>
          </p:txBody>
        </p:sp>
      </p:grpSp>
      <p:graphicFrame>
        <p:nvGraphicFramePr>
          <p:cNvPr id="7" name="表格 6"/>
          <p:cNvGraphicFramePr>
            <a:graphicFrameLocks noGrp="1"/>
          </p:cNvGraphicFramePr>
          <p:nvPr>
            <p:extLst>
              <p:ext uri="{D42A27DB-BD31-4B8C-83A1-F6EECF244321}">
                <p14:modId xmlns:p14="http://schemas.microsoft.com/office/powerpoint/2010/main" val="299382263"/>
              </p:ext>
            </p:extLst>
          </p:nvPr>
        </p:nvGraphicFramePr>
        <p:xfrm>
          <a:off x="3781183" y="1573315"/>
          <a:ext cx="7839007" cy="4080057"/>
        </p:xfrm>
        <a:graphic>
          <a:graphicData uri="http://schemas.openxmlformats.org/drawingml/2006/table">
            <a:tbl>
              <a:tblPr firstRow="1" firstCol="1" lastRow="1" lastCol="1" bandRow="1" bandCol="1">
                <a:tableStyleId>{5940675A-B579-460E-94D1-54222C63F5DA}</a:tableStyleId>
              </a:tblPr>
              <a:tblGrid>
                <a:gridCol w="867637">
                  <a:extLst>
                    <a:ext uri="{9D8B030D-6E8A-4147-A177-3AD203B41FA5}">
                      <a16:colId xmlns:a16="http://schemas.microsoft.com/office/drawing/2014/main" val="20000"/>
                    </a:ext>
                  </a:extLst>
                </a:gridCol>
                <a:gridCol w="1076292">
                  <a:extLst>
                    <a:ext uri="{9D8B030D-6E8A-4147-A177-3AD203B41FA5}">
                      <a16:colId xmlns:a16="http://schemas.microsoft.com/office/drawing/2014/main" val="20001"/>
                    </a:ext>
                  </a:extLst>
                </a:gridCol>
                <a:gridCol w="5052822">
                  <a:extLst>
                    <a:ext uri="{9D8B030D-6E8A-4147-A177-3AD203B41FA5}">
                      <a16:colId xmlns:a16="http://schemas.microsoft.com/office/drawing/2014/main" val="20002"/>
                    </a:ext>
                  </a:extLst>
                </a:gridCol>
                <a:gridCol w="842256">
                  <a:extLst>
                    <a:ext uri="{9D8B030D-6E8A-4147-A177-3AD203B41FA5}">
                      <a16:colId xmlns:a16="http://schemas.microsoft.com/office/drawing/2014/main" val="20003"/>
                    </a:ext>
                  </a:extLst>
                </a:gridCol>
              </a:tblGrid>
              <a:tr h="331017">
                <a:tc>
                  <a:txBody>
                    <a:bodyPr/>
                    <a:lstStyle/>
                    <a:p>
                      <a:pPr algn="ctr">
                        <a:lnSpc>
                          <a:spcPct val="100000"/>
                        </a:lnSpc>
                        <a:spcBef>
                          <a:spcPts val="0"/>
                        </a:spcBef>
                        <a:spcAft>
                          <a:spcPts val="0"/>
                        </a:spcAft>
                      </a:pPr>
                      <a:r>
                        <a:rPr lang="zh-CN" altLang="en-US"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业务场景</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Bef>
                          <a:spcPts val="0"/>
                        </a:spcBef>
                        <a:spcAft>
                          <a:spcPts val="0"/>
                        </a:spcAft>
                      </a:pPr>
                      <a:r>
                        <a:rPr lang="zh-CN" altLang="en-US"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子场景</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Bef>
                          <a:spcPts val="0"/>
                        </a:spcBef>
                        <a:spcAft>
                          <a:spcPts val="0"/>
                        </a:spcAft>
                      </a:pPr>
                      <a:r>
                        <a:rPr lang="zh-CN" altLang="en-US"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场景描述</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Bef>
                          <a:spcPts val="0"/>
                        </a:spcBef>
                        <a:spcAft>
                          <a:spcPts val="0"/>
                        </a:spcAft>
                      </a:pPr>
                      <a:r>
                        <a:rPr lang="zh-CN" altLang="en-US"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rPr>
                        <a:t>适用网络</a:t>
                      </a:r>
                      <a:endParaRPr lang="zh-CN" sz="1200" b="1" dirty="0">
                        <a:effectLst/>
                        <a:latin typeface="Huawei Sans" panose="020C0503030203020204" pitchFamily="34" charset="0"/>
                        <a:ea typeface="方正兰亭黑简体" panose="02000000000000000000" pitchFamily="2" charset="-122"/>
                        <a:cs typeface="Book Antiqua" panose="02040602050305030304" pitchFamily="18"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57200">
                <a:tc rowSpan="2">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防火墙</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防火墙通过安全区域来划分网络、标识报文流动的“路线”，当报文在不同的安全区域之间流动时可执行安全检查，并实施相应的安全策略。</a:t>
                      </a:r>
                      <a:endParaRPr lang="zh-CN"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互联网</a:t>
                      </a:r>
                      <a:endParaRPr lang="en-US" altLang="zh-CN" sz="12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ctr">
                        <a:lnSpc>
                          <a:spcPct val="100000"/>
                        </a:lnSpc>
                        <a:spcBef>
                          <a:spcPts val="0"/>
                        </a:spcBef>
                        <a:spcAft>
                          <a:spcPts val="0"/>
                        </a:spcAft>
                      </a:pPr>
                      <a:r>
                        <a:rPr lang="zh-CN" altLang="en-US" sz="12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专线</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2000">
                <a:tc vMerge="1">
                  <a:txBody>
                    <a:bodyPr/>
                    <a:lstStyle/>
                    <a:p>
                      <a:pPr algn="ctr">
                        <a:lnSpc>
                          <a:spcPct val="100000"/>
                        </a:lnSpc>
                        <a:spcBef>
                          <a:spcPts val="0"/>
                        </a:spcBef>
                        <a:spcAft>
                          <a:spcPts val="0"/>
                        </a:spcAft>
                      </a:pP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72000" marR="72000" marT="72000" marB="7200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URL</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过滤</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ltLang="zh-CN"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URL</a:t>
                      </a:r>
                      <a:r>
                        <a:rPr lang="zh-CN" altLang="zh-CN"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过滤可以对</a:t>
                      </a:r>
                      <a:r>
                        <a:rPr lang="zh-CN" altLang="en-US"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内网</a:t>
                      </a:r>
                      <a:r>
                        <a:rPr lang="zh-CN" altLang="zh-CN"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用户</a:t>
                      </a:r>
                      <a:r>
                        <a:rPr lang="zh-CN" altLang="en-US"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访问外网</a:t>
                      </a:r>
                      <a:r>
                        <a:rPr lang="zh-CN" altLang="zh-CN"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的</a:t>
                      </a:r>
                      <a:r>
                        <a:rPr lang="en-US" altLang="zh-CN"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URL</a:t>
                      </a:r>
                      <a:r>
                        <a:rPr lang="zh-CN" altLang="zh-CN"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请求进行访问控制，允许或者禁止用户访问某些网页资源，达到规范上网行为的目的</a:t>
                      </a:r>
                      <a:r>
                        <a:rPr lang="zh-CN" altLang="en-US"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zh-CN" altLang="zh-CN" sz="1200" b="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互联网</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2000">
                <a:tc rowSpan="2">
                  <a:txBody>
                    <a:bodyPr/>
                    <a:lstStyle/>
                    <a:p>
                      <a:pPr algn="ctr">
                        <a:lnSpc>
                          <a:spcPct val="100000"/>
                        </a:lnSpc>
                        <a:spcBef>
                          <a:spcPts val="0"/>
                        </a:spcBef>
                        <a:spcAft>
                          <a:spcPts val="0"/>
                        </a:spcAft>
                      </a:pPr>
                      <a:r>
                        <a:rPr lang="en-US" altLang="zh-CN" sz="12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NAT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源</a:t>
                      </a: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NAT</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园区内网用户通常使用私网地址，访问互联网时，需要对源地址进行私网到公网地址的转换，保障成功访问互联网业务。</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互联网</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40000">
                <a:tc vMerge="1">
                  <a:txBody>
                    <a:bodyPr/>
                    <a:lstStyle/>
                    <a:p>
                      <a:pPr algn="ctr">
                        <a:lnSpc>
                          <a:spcPct val="100000"/>
                        </a:lnSpc>
                        <a:spcBef>
                          <a:spcPts val="0"/>
                        </a:spcBef>
                        <a:spcAft>
                          <a:spcPts val="0"/>
                        </a:spcAft>
                      </a:pPr>
                      <a:endParaRPr lang="zh-CN" sz="14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72000" marR="72000" marT="72000" marB="7200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NAT Server</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园区内部部署的服务器，例如文件服务器，通过</a:t>
                      </a: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NAT Server</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可以将这些服务器通过公网地址或公网地址和端口的方式映射到互联网，供互联网访问。</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互联网</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20000">
                <a:tc>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远程接入</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SSL VPN</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接入</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0"/>
                        </a:spcBef>
                        <a:spcAft>
                          <a:spcPts val="0"/>
                        </a:spcAft>
                      </a:pPr>
                      <a:r>
                        <a:rPr lang="en-US" altLang="zh-CN"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SSL VPN</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接入网关连接至</a:t>
                      </a:r>
                      <a:r>
                        <a:rPr lang="en-US" altLang="zh-CN"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Internet</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，并向移动办公用户（即出差员工）提供</a:t>
                      </a:r>
                      <a:r>
                        <a:rPr lang="en-US" altLang="zh-CN"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SSL VPN</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接入服务。移动办公用户使用终端（如便携机或智能手机）与其建立</a:t>
                      </a:r>
                      <a:r>
                        <a:rPr lang="en-US" altLang="zh-CN"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SSL VPN</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隧道以后，就能通过</a:t>
                      </a:r>
                      <a:r>
                        <a:rPr lang="en-US" altLang="zh-CN"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SSL VPN</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隧道远程访问企业内网的</a:t>
                      </a:r>
                      <a:r>
                        <a:rPr lang="en-US" altLang="zh-CN"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Web</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服务器、文件服务器、邮件服务器等资源。</a:t>
                      </a:r>
                      <a:endParaRPr lang="zh-CN" sz="1200" kern="1200" dirty="0">
                        <a:solidFill>
                          <a:schemeClr val="tx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互联网</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0000">
                <a:tc rowSpan="2">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多园区</a:t>
                      </a:r>
                      <a:endPar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传统</a:t>
                      </a: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MPLS VPN</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CE</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设备可以连接至专线</a:t>
                      </a: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MPLS VPN</a:t>
                      </a: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120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专线</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0000">
                <a:tc vMerge="1">
                  <a:txBody>
                    <a:bodyPr/>
                    <a:lstStyle/>
                    <a:p>
                      <a:pPr algn="ctr">
                        <a:lnSpc>
                          <a:spcPct val="100000"/>
                        </a:lnSpc>
                        <a:spcBef>
                          <a:spcPts val="0"/>
                        </a:spcBef>
                        <a:spcAft>
                          <a:spcPts val="0"/>
                        </a:spcAft>
                      </a:pP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IPsec VPN</a:t>
                      </a:r>
                    </a:p>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a:t>
                      </a: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多园区之间建立</a:t>
                      </a:r>
                      <a:r>
                        <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IPsec</a:t>
                      </a:r>
                      <a:r>
                        <a:rPr lang="en-US" altLang="zh-CN" sz="1200" baseline="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VPN</a:t>
                      </a:r>
                      <a:r>
                        <a:rPr lang="zh-CN" altLang="en-US" sz="1200" baseline="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加密隧道，保障在低安全承载网络中构筑安全的数据传输通道。</a:t>
                      </a:r>
                      <a:endParaRPr 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互联网</a:t>
                      </a:r>
                      <a:endParaRPr lang="en-US"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gn="ctr">
                        <a:lnSpc>
                          <a:spcPct val="100000"/>
                        </a:lnSpc>
                        <a:spcBef>
                          <a:spcPts val="0"/>
                        </a:spcBef>
                        <a:spcAft>
                          <a:spcPts val="0"/>
                        </a:spcAft>
                      </a:pPr>
                      <a:r>
                        <a:rPr lang="zh-CN" altLang="en-US"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专线</a:t>
                      </a:r>
                      <a:endParaRPr lang="zh-CN" altLang="zh-CN" sz="1200" dirty="0">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4596242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Freeform 159"/>
          <p:cNvSpPr/>
          <p:nvPr/>
        </p:nvSpPr>
        <p:spPr bwMode="gray">
          <a:xfrm flipH="1">
            <a:off x="7492348" y="3891433"/>
            <a:ext cx="871633" cy="5147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Freeform 159"/>
          <p:cNvSpPr/>
          <p:nvPr/>
        </p:nvSpPr>
        <p:spPr bwMode="gray">
          <a:xfrm flipH="1">
            <a:off x="5351535" y="3891433"/>
            <a:ext cx="871633" cy="5147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连接</a:t>
            </a:r>
            <a:r>
              <a:rPr lang="en-US" altLang="zh-CN" dirty="0">
                <a:sym typeface="Huawei Sans" panose="020C0503030203020204" pitchFamily="34" charset="0"/>
              </a:rPr>
              <a:t>WAN</a:t>
            </a:r>
            <a:r>
              <a:rPr lang="zh-CN" altLang="en-US" dirty="0">
                <a:sym typeface="Huawei Sans" panose="020C0503030203020204" pitchFamily="34" charset="0"/>
              </a:rPr>
              <a:t>侧设计</a:t>
            </a:r>
          </a:p>
        </p:txBody>
      </p:sp>
      <p:cxnSp>
        <p:nvCxnSpPr>
          <p:cNvPr id="54" name="直接连接符 53"/>
          <p:cNvCxnSpPr>
            <a:stCxn id="57" idx="2"/>
            <a:endCxn id="58" idx="0"/>
          </p:cNvCxnSpPr>
          <p:nvPr/>
        </p:nvCxnSpPr>
        <p:spPr bwMode="gray">
          <a:xfrm>
            <a:off x="1493045" y="1548601"/>
            <a:ext cx="0" cy="6244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 name="组合 54"/>
          <p:cNvGrpSpPr/>
          <p:nvPr/>
        </p:nvGrpSpPr>
        <p:grpSpPr bwMode="gray">
          <a:xfrm>
            <a:off x="1038304" y="1069470"/>
            <a:ext cx="909482" cy="480535"/>
            <a:chOff x="591922" y="1761021"/>
            <a:chExt cx="909482" cy="480535"/>
          </a:xfrm>
        </p:grpSpPr>
        <p:sp>
          <p:nvSpPr>
            <p:cNvPr id="56"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pic>
        <p:nvPicPr>
          <p:cNvPr id="58" name="Picture 2" descr="G:\做的项目\公共\扁平图标切换\更新2015_01_21\oss扁平图标库2015_01_21更新-04.png"/>
          <p:cNvPicPr>
            <a:picLocks noChangeAspect="1" noChangeArrowheads="1"/>
          </p:cNvPicPr>
          <p:nvPr/>
        </p:nvPicPr>
        <p:blipFill>
          <a:blip r:embed="rId3"/>
          <a:stretch>
            <a:fillRect/>
          </a:stretch>
        </p:blipFill>
        <p:spPr bwMode="gray">
          <a:xfrm>
            <a:off x="1308308" y="2173092"/>
            <a:ext cx="369473" cy="302297"/>
          </a:xfrm>
          <a:prstGeom prst="rect">
            <a:avLst/>
          </a:prstGeom>
          <a:noFill/>
        </p:spPr>
      </p:pic>
      <p:grpSp>
        <p:nvGrpSpPr>
          <p:cNvPr id="59" name="组合 58"/>
          <p:cNvGrpSpPr/>
          <p:nvPr/>
        </p:nvGrpSpPr>
        <p:grpSpPr bwMode="gray">
          <a:xfrm>
            <a:off x="3123901" y="1069470"/>
            <a:ext cx="909482" cy="480535"/>
            <a:chOff x="591922" y="1761021"/>
            <a:chExt cx="909482" cy="480535"/>
          </a:xfrm>
        </p:grpSpPr>
        <p:sp>
          <p:nvSpPr>
            <p:cNvPr id="60"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p>
          </p:txBody>
        </p:sp>
      </p:grpSp>
      <p:grpSp>
        <p:nvGrpSpPr>
          <p:cNvPr id="62" name="组合 61"/>
          <p:cNvGrpSpPr/>
          <p:nvPr/>
        </p:nvGrpSpPr>
        <p:grpSpPr bwMode="gray">
          <a:xfrm>
            <a:off x="2166512" y="1069470"/>
            <a:ext cx="909482" cy="480535"/>
            <a:chOff x="591922" y="1761021"/>
            <a:chExt cx="909482" cy="480535"/>
          </a:xfrm>
        </p:grpSpPr>
        <p:sp>
          <p:nvSpPr>
            <p:cNvPr id="63"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cxnSp>
        <p:nvCxnSpPr>
          <p:cNvPr id="65" name="肘形连接符 64"/>
          <p:cNvCxnSpPr/>
          <p:nvPr/>
        </p:nvCxnSpPr>
        <p:spPr bwMode="gray">
          <a:xfrm rot="5400000" flipH="1" flipV="1">
            <a:off x="3037355" y="1588246"/>
            <a:ext cx="626197" cy="546908"/>
          </a:xfrm>
          <a:prstGeom prst="bentConnector3">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6" name="肘形连接符 65"/>
          <p:cNvCxnSpPr/>
          <p:nvPr/>
        </p:nvCxnSpPr>
        <p:spPr bwMode="gray">
          <a:xfrm rot="16200000" flipV="1">
            <a:off x="2459078" y="1656459"/>
            <a:ext cx="626197" cy="410481"/>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Freeform 159"/>
          <p:cNvSpPr/>
          <p:nvPr/>
        </p:nvSpPr>
        <p:spPr bwMode="gray">
          <a:xfrm flipH="1">
            <a:off x="5264826" y="1043730"/>
            <a:ext cx="871633" cy="5147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bwMode="gray">
          <a:xfrm>
            <a:off x="5217449" y="1148919"/>
            <a:ext cx="995237" cy="400161"/>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Internet2</a:t>
            </a:r>
          </a:p>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p>
        </p:txBody>
      </p:sp>
      <p:grpSp>
        <p:nvGrpSpPr>
          <p:cNvPr id="70" name="组合 69"/>
          <p:cNvGrpSpPr/>
          <p:nvPr/>
        </p:nvGrpSpPr>
        <p:grpSpPr bwMode="gray">
          <a:xfrm>
            <a:off x="4283344" y="1069470"/>
            <a:ext cx="909482" cy="480535"/>
            <a:chOff x="591922" y="1761021"/>
            <a:chExt cx="909482" cy="480535"/>
          </a:xfrm>
        </p:grpSpPr>
        <p:sp>
          <p:nvSpPr>
            <p:cNvPr id="71"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Internet1</a:t>
              </a:r>
            </a:p>
          </p:txBody>
        </p:sp>
      </p:grpSp>
      <p:cxnSp>
        <p:nvCxnSpPr>
          <p:cNvPr id="73" name="直接连接符 72"/>
          <p:cNvCxnSpPr>
            <a:stCxn id="72" idx="2"/>
            <a:endCxn id="77" idx="0"/>
          </p:cNvCxnSpPr>
          <p:nvPr/>
        </p:nvCxnSpPr>
        <p:spPr bwMode="gray">
          <a:xfrm>
            <a:off x="4738085" y="1548601"/>
            <a:ext cx="1" cy="6261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endCxn id="78" idx="0"/>
          </p:cNvCxnSpPr>
          <p:nvPr/>
        </p:nvCxnSpPr>
        <p:spPr bwMode="gray">
          <a:xfrm>
            <a:off x="5705532" y="1550005"/>
            <a:ext cx="1" cy="62479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78" idx="1"/>
            <a:endCxn id="77" idx="3"/>
          </p:cNvCxnSpPr>
          <p:nvPr/>
        </p:nvCxnSpPr>
        <p:spPr bwMode="grayWhite">
          <a:xfrm flipH="1">
            <a:off x="4922822" y="2325947"/>
            <a:ext cx="5979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6" name="Picture 2" descr="G:\做的项目\公共\扁平图标切换\更新2015_01_21\oss扁平图标库2015_01_21更新-04.png"/>
          <p:cNvPicPr>
            <a:picLocks noChangeAspect="1" noChangeArrowheads="1"/>
          </p:cNvPicPr>
          <p:nvPr/>
        </p:nvPicPr>
        <p:blipFill>
          <a:blip r:embed="rId3"/>
          <a:stretch>
            <a:fillRect/>
          </a:stretch>
        </p:blipFill>
        <p:spPr bwMode="gray">
          <a:xfrm>
            <a:off x="2846997" y="2174798"/>
            <a:ext cx="369473" cy="302297"/>
          </a:xfrm>
          <a:prstGeom prst="rect">
            <a:avLst/>
          </a:prstGeom>
          <a:noFill/>
        </p:spPr>
      </p:pic>
      <p:pic>
        <p:nvPicPr>
          <p:cNvPr id="77" name="Picture 2" descr="G:\做的项目\公共\扁平图标切换\更新2015_01_21\oss扁平图标库2015_01_21更新-04.png"/>
          <p:cNvPicPr>
            <a:picLocks noChangeAspect="1" noChangeArrowheads="1"/>
          </p:cNvPicPr>
          <p:nvPr/>
        </p:nvPicPr>
        <p:blipFill>
          <a:blip r:embed="rId3"/>
          <a:stretch>
            <a:fillRect/>
          </a:stretch>
        </p:blipFill>
        <p:spPr bwMode="gray">
          <a:xfrm>
            <a:off x="4553349" y="2174798"/>
            <a:ext cx="369473" cy="302297"/>
          </a:xfrm>
          <a:prstGeom prst="rect">
            <a:avLst/>
          </a:prstGeom>
          <a:noFill/>
        </p:spPr>
      </p:pic>
      <p:pic>
        <p:nvPicPr>
          <p:cNvPr id="78" name="Picture 2" descr="G:\做的项目\公共\扁平图标切换\更新2015_01_21\oss扁平图标库2015_01_21更新-04.png"/>
          <p:cNvPicPr>
            <a:picLocks noChangeAspect="1" noChangeArrowheads="1"/>
          </p:cNvPicPr>
          <p:nvPr/>
        </p:nvPicPr>
        <p:blipFill>
          <a:blip r:embed="rId3"/>
          <a:stretch>
            <a:fillRect/>
          </a:stretch>
        </p:blipFill>
        <p:spPr bwMode="gray">
          <a:xfrm>
            <a:off x="5520796" y="2174798"/>
            <a:ext cx="369473" cy="302297"/>
          </a:xfrm>
          <a:prstGeom prst="rect">
            <a:avLst/>
          </a:prstGeom>
          <a:noFill/>
        </p:spPr>
      </p:pic>
      <p:pic>
        <p:nvPicPr>
          <p:cNvPr id="79"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1308308" y="2775785"/>
            <a:ext cx="369473" cy="302297"/>
          </a:xfrm>
          <a:prstGeom prst="rect">
            <a:avLst/>
          </a:prstGeom>
        </p:spPr>
      </p:pic>
      <p:cxnSp>
        <p:nvCxnSpPr>
          <p:cNvPr id="80" name="直接连接符 79"/>
          <p:cNvCxnSpPr>
            <a:stCxn id="58" idx="2"/>
            <a:endCxn id="79" idx="0"/>
          </p:cNvCxnSpPr>
          <p:nvPr/>
        </p:nvCxnSpPr>
        <p:spPr bwMode="gray">
          <a:xfrm>
            <a:off x="1493045" y="2475389"/>
            <a:ext cx="0" cy="3003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bwMode="gray">
          <a:xfrm>
            <a:off x="1650554" y="2793360"/>
            <a:ext cx="490820"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可选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2"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2846997" y="2775785"/>
            <a:ext cx="369473" cy="302297"/>
          </a:xfrm>
          <a:prstGeom prst="rect">
            <a:avLst/>
          </a:prstGeom>
        </p:spPr>
      </p:pic>
      <p:cxnSp>
        <p:nvCxnSpPr>
          <p:cNvPr id="83" name="直接连接符 82"/>
          <p:cNvCxnSpPr>
            <a:stCxn id="76" idx="2"/>
            <a:endCxn id="82" idx="0"/>
          </p:cNvCxnSpPr>
          <p:nvPr/>
        </p:nvCxnSpPr>
        <p:spPr bwMode="gray">
          <a:xfrm>
            <a:off x="3031734" y="2477095"/>
            <a:ext cx="0" cy="2986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4"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4553349" y="2775785"/>
            <a:ext cx="369473" cy="302297"/>
          </a:xfrm>
          <a:prstGeom prst="rect">
            <a:avLst/>
          </a:prstGeom>
        </p:spPr>
      </p:pic>
      <p:pic>
        <p:nvPicPr>
          <p:cNvPr id="85"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5520796" y="2775785"/>
            <a:ext cx="369473" cy="302297"/>
          </a:xfrm>
          <a:prstGeom prst="rect">
            <a:avLst/>
          </a:prstGeom>
        </p:spPr>
      </p:pic>
      <p:cxnSp>
        <p:nvCxnSpPr>
          <p:cNvPr id="86" name="直接连接符 85"/>
          <p:cNvCxnSpPr>
            <a:stCxn id="77" idx="2"/>
            <a:endCxn id="84" idx="0"/>
          </p:cNvCxnSpPr>
          <p:nvPr/>
        </p:nvCxnSpPr>
        <p:spPr bwMode="gray">
          <a:xfrm>
            <a:off x="4738086" y="2477095"/>
            <a:ext cx="0" cy="2986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78" idx="2"/>
            <a:endCxn id="85" idx="0"/>
          </p:cNvCxnSpPr>
          <p:nvPr/>
        </p:nvCxnSpPr>
        <p:spPr bwMode="gray">
          <a:xfrm>
            <a:off x="5705533" y="2477095"/>
            <a:ext cx="0" cy="29869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85" idx="1"/>
            <a:endCxn id="84" idx="3"/>
          </p:cNvCxnSpPr>
          <p:nvPr/>
        </p:nvCxnSpPr>
        <p:spPr bwMode="gray">
          <a:xfrm flipH="1">
            <a:off x="4922822" y="2926934"/>
            <a:ext cx="597974"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grpSp>
        <p:nvGrpSpPr>
          <p:cNvPr id="89" name="组合 88"/>
          <p:cNvGrpSpPr/>
          <p:nvPr/>
        </p:nvGrpSpPr>
        <p:grpSpPr bwMode="gray">
          <a:xfrm>
            <a:off x="7402535" y="1069470"/>
            <a:ext cx="909482" cy="480535"/>
            <a:chOff x="591922" y="1761021"/>
            <a:chExt cx="909482" cy="480535"/>
          </a:xfrm>
        </p:grpSpPr>
        <p:sp>
          <p:nvSpPr>
            <p:cNvPr id="90"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p:cNvSpPr txBox="1"/>
            <p:nvPr/>
          </p:nvSpPr>
          <p:spPr bwMode="gray">
            <a:xfrm>
              <a:off x="591922" y="1921441"/>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p>
          </p:txBody>
        </p:sp>
      </p:grpSp>
      <p:grpSp>
        <p:nvGrpSpPr>
          <p:cNvPr id="92" name="组合 91"/>
          <p:cNvGrpSpPr/>
          <p:nvPr/>
        </p:nvGrpSpPr>
        <p:grpSpPr bwMode="gray">
          <a:xfrm>
            <a:off x="6445146" y="1069470"/>
            <a:ext cx="909482" cy="480535"/>
            <a:chOff x="591922" y="1761021"/>
            <a:chExt cx="909482" cy="480535"/>
          </a:xfrm>
        </p:grpSpPr>
        <p:sp>
          <p:nvSpPr>
            <p:cNvPr id="93"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文本框 93"/>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cxnSp>
        <p:nvCxnSpPr>
          <p:cNvPr id="95" name="直接连接符 94"/>
          <p:cNvCxnSpPr>
            <a:stCxn id="94" idx="2"/>
            <a:endCxn id="98" idx="0"/>
          </p:cNvCxnSpPr>
          <p:nvPr/>
        </p:nvCxnSpPr>
        <p:spPr bwMode="gray">
          <a:xfrm>
            <a:off x="6899887" y="1548601"/>
            <a:ext cx="1" cy="6233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stCxn id="91" idx="2"/>
            <a:endCxn id="99" idx="0"/>
          </p:cNvCxnSpPr>
          <p:nvPr/>
        </p:nvCxnSpPr>
        <p:spPr bwMode="gray">
          <a:xfrm>
            <a:off x="7857276" y="1534995"/>
            <a:ext cx="1" cy="63699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stCxn id="99" idx="1"/>
            <a:endCxn id="98" idx="3"/>
          </p:cNvCxnSpPr>
          <p:nvPr/>
        </p:nvCxnSpPr>
        <p:spPr bwMode="grayWhite">
          <a:xfrm flipH="1">
            <a:off x="7084624" y="2323138"/>
            <a:ext cx="5879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98" name="Picture 2" descr="G:\做的项目\公共\扁平图标切换\更新2015_01_21\oss扁平图标库2015_01_21更新-04.png"/>
          <p:cNvPicPr>
            <a:picLocks noChangeAspect="1" noChangeArrowheads="1"/>
          </p:cNvPicPr>
          <p:nvPr/>
        </p:nvPicPr>
        <p:blipFill>
          <a:blip r:embed="rId3"/>
          <a:stretch>
            <a:fillRect/>
          </a:stretch>
        </p:blipFill>
        <p:spPr bwMode="gray">
          <a:xfrm>
            <a:off x="6715151" y="2171989"/>
            <a:ext cx="369473" cy="302297"/>
          </a:xfrm>
          <a:prstGeom prst="rect">
            <a:avLst/>
          </a:prstGeom>
          <a:noFill/>
        </p:spPr>
      </p:pic>
      <p:pic>
        <p:nvPicPr>
          <p:cNvPr id="99" name="Picture 2" descr="G:\做的项目\公共\扁平图标切换\更新2015_01_21\oss扁平图标库2015_01_21更新-04.png"/>
          <p:cNvPicPr>
            <a:picLocks noChangeAspect="1" noChangeArrowheads="1"/>
          </p:cNvPicPr>
          <p:nvPr/>
        </p:nvPicPr>
        <p:blipFill>
          <a:blip r:embed="rId3"/>
          <a:stretch>
            <a:fillRect/>
          </a:stretch>
        </p:blipFill>
        <p:spPr bwMode="gray">
          <a:xfrm>
            <a:off x="7672540" y="2171989"/>
            <a:ext cx="369473" cy="302297"/>
          </a:xfrm>
          <a:prstGeom prst="rect">
            <a:avLst/>
          </a:prstGeom>
          <a:noFill/>
        </p:spPr>
      </p:pic>
      <p:pic>
        <p:nvPicPr>
          <p:cNvPr id="10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6715151" y="2775785"/>
            <a:ext cx="369473" cy="302297"/>
          </a:xfrm>
          <a:prstGeom prst="rect">
            <a:avLst/>
          </a:prstGeom>
        </p:spPr>
      </p:pic>
      <p:pic>
        <p:nvPicPr>
          <p:cNvPr id="101"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7672540" y="2775785"/>
            <a:ext cx="369473" cy="302297"/>
          </a:xfrm>
          <a:prstGeom prst="rect">
            <a:avLst/>
          </a:prstGeom>
        </p:spPr>
      </p:pic>
      <p:cxnSp>
        <p:nvCxnSpPr>
          <p:cNvPr id="102" name="直接连接符 101"/>
          <p:cNvCxnSpPr>
            <a:stCxn id="98" idx="2"/>
            <a:endCxn id="100" idx="0"/>
          </p:cNvCxnSpPr>
          <p:nvPr/>
        </p:nvCxnSpPr>
        <p:spPr bwMode="gray">
          <a:xfrm>
            <a:off x="6899888" y="2474286"/>
            <a:ext cx="0" cy="3014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99" idx="2"/>
            <a:endCxn id="101" idx="0"/>
          </p:cNvCxnSpPr>
          <p:nvPr/>
        </p:nvCxnSpPr>
        <p:spPr bwMode="gray">
          <a:xfrm>
            <a:off x="7857277" y="2474286"/>
            <a:ext cx="0" cy="301499"/>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101" idx="1"/>
            <a:endCxn id="100" idx="3"/>
          </p:cNvCxnSpPr>
          <p:nvPr/>
        </p:nvCxnSpPr>
        <p:spPr bwMode="gray">
          <a:xfrm flipH="1">
            <a:off x="7084624" y="2926934"/>
            <a:ext cx="587916"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94" idx="2"/>
            <a:endCxn id="99" idx="0"/>
          </p:cNvCxnSpPr>
          <p:nvPr/>
        </p:nvCxnSpPr>
        <p:spPr bwMode="gray">
          <a:xfrm>
            <a:off x="6899887" y="1548601"/>
            <a:ext cx="957390" cy="6233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91" idx="2"/>
            <a:endCxn id="98" idx="0"/>
          </p:cNvCxnSpPr>
          <p:nvPr/>
        </p:nvCxnSpPr>
        <p:spPr bwMode="gray">
          <a:xfrm flipH="1">
            <a:off x="6899888" y="1534995"/>
            <a:ext cx="957388" cy="63699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07" name="组合 106"/>
          <p:cNvGrpSpPr/>
          <p:nvPr/>
        </p:nvGrpSpPr>
        <p:grpSpPr bwMode="gray">
          <a:xfrm>
            <a:off x="9718507" y="1069470"/>
            <a:ext cx="909482" cy="480535"/>
            <a:chOff x="591922" y="1761021"/>
            <a:chExt cx="909482" cy="480535"/>
          </a:xfrm>
        </p:grpSpPr>
        <p:sp>
          <p:nvSpPr>
            <p:cNvPr id="108"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文本框 108"/>
            <p:cNvSpPr txBox="1"/>
            <p:nvPr/>
          </p:nvSpPr>
          <p:spPr bwMode="gray">
            <a:xfrm>
              <a:off x="591922" y="1921441"/>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p>
          </p:txBody>
        </p:sp>
      </p:grpSp>
      <p:grpSp>
        <p:nvGrpSpPr>
          <p:cNvPr id="110" name="组合 109"/>
          <p:cNvGrpSpPr/>
          <p:nvPr/>
        </p:nvGrpSpPr>
        <p:grpSpPr bwMode="gray">
          <a:xfrm>
            <a:off x="8761118" y="1069470"/>
            <a:ext cx="909482" cy="480535"/>
            <a:chOff x="591922" y="1761021"/>
            <a:chExt cx="909482" cy="480535"/>
          </a:xfrm>
        </p:grpSpPr>
        <p:sp>
          <p:nvSpPr>
            <p:cNvPr id="111"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文本框 111"/>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cxnSp>
        <p:nvCxnSpPr>
          <p:cNvPr id="113" name="直接连接符 112"/>
          <p:cNvCxnSpPr>
            <a:stCxn id="112" idx="2"/>
            <a:endCxn id="116" idx="0"/>
          </p:cNvCxnSpPr>
          <p:nvPr/>
        </p:nvCxnSpPr>
        <p:spPr bwMode="gray">
          <a:xfrm>
            <a:off x="9215859" y="1548601"/>
            <a:ext cx="1" cy="6205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09" idx="2"/>
            <a:endCxn id="117" idx="0"/>
          </p:cNvCxnSpPr>
          <p:nvPr/>
        </p:nvCxnSpPr>
        <p:spPr bwMode="gray">
          <a:xfrm>
            <a:off x="10173248" y="1534995"/>
            <a:ext cx="1" cy="634185"/>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bwMode="grayWhite">
          <a:xfrm flipH="1">
            <a:off x="9396894" y="2324542"/>
            <a:ext cx="5866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6" name="Picture 2" descr="G:\做的项目\公共\扁平图标切换\更新2015_01_21\oss扁平图标库2015_01_21更新-04.png"/>
          <p:cNvPicPr>
            <a:picLocks noChangeAspect="1" noChangeArrowheads="1"/>
          </p:cNvPicPr>
          <p:nvPr/>
        </p:nvPicPr>
        <p:blipFill>
          <a:blip r:embed="rId3"/>
          <a:stretch>
            <a:fillRect/>
          </a:stretch>
        </p:blipFill>
        <p:spPr bwMode="gray">
          <a:xfrm>
            <a:off x="9031123" y="2169180"/>
            <a:ext cx="369473" cy="302297"/>
          </a:xfrm>
          <a:prstGeom prst="rect">
            <a:avLst/>
          </a:prstGeom>
          <a:noFill/>
        </p:spPr>
      </p:pic>
      <p:pic>
        <p:nvPicPr>
          <p:cNvPr id="117" name="Picture 2" descr="G:\做的项目\公共\扁平图标切换\更新2015_01_21\oss扁平图标库2015_01_21更新-04.png"/>
          <p:cNvPicPr>
            <a:picLocks noChangeAspect="1" noChangeArrowheads="1"/>
          </p:cNvPicPr>
          <p:nvPr/>
        </p:nvPicPr>
        <p:blipFill>
          <a:blip r:embed="rId3"/>
          <a:stretch>
            <a:fillRect/>
          </a:stretch>
        </p:blipFill>
        <p:spPr bwMode="gray">
          <a:xfrm>
            <a:off x="9988512" y="2169180"/>
            <a:ext cx="369473" cy="302297"/>
          </a:xfrm>
          <a:prstGeom prst="rect">
            <a:avLst/>
          </a:prstGeom>
          <a:noFill/>
        </p:spPr>
      </p:pic>
      <p:pic>
        <p:nvPicPr>
          <p:cNvPr id="118"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9031123" y="2775785"/>
            <a:ext cx="369473" cy="302297"/>
          </a:xfrm>
          <a:prstGeom prst="rect">
            <a:avLst/>
          </a:prstGeom>
        </p:spPr>
      </p:pic>
      <p:pic>
        <p:nvPicPr>
          <p:cNvPr id="119"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9988512" y="2775785"/>
            <a:ext cx="369473" cy="302297"/>
          </a:xfrm>
          <a:prstGeom prst="rect">
            <a:avLst/>
          </a:prstGeom>
        </p:spPr>
      </p:pic>
      <p:cxnSp>
        <p:nvCxnSpPr>
          <p:cNvPr id="120" name="直接连接符 119"/>
          <p:cNvCxnSpPr>
            <a:stCxn id="116" idx="2"/>
            <a:endCxn id="118" idx="0"/>
          </p:cNvCxnSpPr>
          <p:nvPr/>
        </p:nvCxnSpPr>
        <p:spPr bwMode="gray">
          <a:xfrm>
            <a:off x="9215860" y="2471477"/>
            <a:ext cx="0" cy="3043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17" idx="2"/>
            <a:endCxn id="119" idx="0"/>
          </p:cNvCxnSpPr>
          <p:nvPr/>
        </p:nvCxnSpPr>
        <p:spPr bwMode="gray">
          <a:xfrm>
            <a:off x="10173249" y="2471477"/>
            <a:ext cx="0" cy="304308"/>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19" idx="1"/>
            <a:endCxn id="118" idx="3"/>
          </p:cNvCxnSpPr>
          <p:nvPr/>
        </p:nvCxnSpPr>
        <p:spPr bwMode="gray">
          <a:xfrm flipH="1">
            <a:off x="9400596" y="2926934"/>
            <a:ext cx="587916"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112" idx="2"/>
            <a:endCxn id="117" idx="0"/>
          </p:cNvCxnSpPr>
          <p:nvPr/>
        </p:nvCxnSpPr>
        <p:spPr bwMode="gray">
          <a:xfrm>
            <a:off x="9215859" y="1548601"/>
            <a:ext cx="957390" cy="6205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09" idx="2"/>
            <a:endCxn id="116" idx="0"/>
          </p:cNvCxnSpPr>
          <p:nvPr/>
        </p:nvCxnSpPr>
        <p:spPr bwMode="gray">
          <a:xfrm flipH="1">
            <a:off x="9215860" y="1534995"/>
            <a:ext cx="957388" cy="634185"/>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127" idx="2"/>
            <a:endCxn id="117" idx="0"/>
          </p:cNvCxnSpPr>
          <p:nvPr/>
        </p:nvCxnSpPr>
        <p:spPr bwMode="gray">
          <a:xfrm flipH="1">
            <a:off x="10173249" y="1534995"/>
            <a:ext cx="967627" cy="634185"/>
          </a:xfrm>
          <a:prstGeom prst="line">
            <a:avLst/>
          </a:prstGeom>
          <a:ln w="19050">
            <a:solidFill>
              <a:srgbClr val="ED6D00"/>
            </a:solidFill>
          </a:ln>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bwMode="gray">
          <a:xfrm>
            <a:off x="906632" y="3098465"/>
            <a:ext cx="1180031" cy="476712"/>
          </a:xfrm>
          <a:prstGeom prst="rect">
            <a:avLst/>
          </a:prstGeom>
          <a:noFill/>
        </p:spPr>
        <p:txBody>
          <a:bodyPr wrap="square" rtlCol="0">
            <a:noAutofit/>
          </a:bodyPr>
          <a:lstStyle/>
          <a:p>
            <a:pPr algn="ctr" fontAlgn="base"/>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单路由器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单出口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文本框 129"/>
          <p:cNvSpPr txBox="1"/>
          <p:nvPr/>
        </p:nvSpPr>
        <p:spPr bwMode="gray">
          <a:xfrm>
            <a:off x="2469822" y="3098465"/>
            <a:ext cx="1180031" cy="523499"/>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单路由器</a:t>
            </a:r>
            <a:endParaRPr lang="en-US" altLang="zh-CN" dirty="0">
              <a:sym typeface="Huawei Sans" panose="020C0503030203020204" pitchFamily="34" charset="0"/>
            </a:endParaRPr>
          </a:p>
          <a:p>
            <a:r>
              <a:rPr lang="zh-CN" altLang="en-US" dirty="0">
                <a:sym typeface="Huawei Sans" panose="020C0503030203020204" pitchFamily="34" charset="0"/>
              </a:rPr>
              <a:t>双出口</a:t>
            </a:r>
            <a:endParaRPr lang="en-US" altLang="zh-CN" dirty="0">
              <a:sym typeface="Huawei Sans" panose="020C0503030203020204" pitchFamily="34" charset="0"/>
            </a:endParaRPr>
          </a:p>
        </p:txBody>
      </p:sp>
      <p:sp>
        <p:nvSpPr>
          <p:cNvPr id="131" name="文本框 130"/>
          <p:cNvSpPr txBox="1"/>
          <p:nvPr/>
        </p:nvSpPr>
        <p:spPr bwMode="gray">
          <a:xfrm>
            <a:off x="4652596" y="3098465"/>
            <a:ext cx="1180031" cy="529898"/>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双路由器</a:t>
            </a:r>
            <a:endParaRPr lang="en-US" altLang="zh-CN" dirty="0">
              <a:sym typeface="Huawei Sans" panose="020C0503030203020204" pitchFamily="34" charset="0"/>
            </a:endParaRPr>
          </a:p>
          <a:p>
            <a:r>
              <a:rPr lang="zh-CN" altLang="en-US" dirty="0">
                <a:sym typeface="Huawei Sans" panose="020C0503030203020204" pitchFamily="34" charset="0"/>
              </a:rPr>
              <a:t>单出口</a:t>
            </a:r>
            <a:endParaRPr lang="en-US" altLang="zh-CN" dirty="0">
              <a:sym typeface="Huawei Sans" panose="020C0503030203020204" pitchFamily="34" charset="0"/>
            </a:endParaRPr>
          </a:p>
        </p:txBody>
      </p:sp>
      <p:sp>
        <p:nvSpPr>
          <p:cNvPr id="132" name="文本框 131"/>
          <p:cNvSpPr txBox="1"/>
          <p:nvPr/>
        </p:nvSpPr>
        <p:spPr bwMode="gray">
          <a:xfrm>
            <a:off x="6836209" y="3098465"/>
            <a:ext cx="1180031" cy="523499"/>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双路由器</a:t>
            </a:r>
            <a:endParaRPr lang="en-US" altLang="zh-CN" dirty="0">
              <a:sym typeface="Huawei Sans" panose="020C0503030203020204" pitchFamily="34" charset="0"/>
            </a:endParaRPr>
          </a:p>
          <a:p>
            <a:r>
              <a:rPr lang="zh-CN" altLang="en-US" dirty="0">
                <a:sym typeface="Huawei Sans" panose="020C0503030203020204" pitchFamily="34" charset="0"/>
              </a:rPr>
              <a:t>双出口</a:t>
            </a:r>
            <a:endParaRPr lang="en-US" altLang="zh-CN" dirty="0">
              <a:sym typeface="Huawei Sans" panose="020C0503030203020204" pitchFamily="34" charset="0"/>
            </a:endParaRPr>
          </a:p>
        </p:txBody>
      </p:sp>
      <p:sp>
        <p:nvSpPr>
          <p:cNvPr id="133" name="文本框 132"/>
          <p:cNvSpPr txBox="1"/>
          <p:nvPr/>
        </p:nvSpPr>
        <p:spPr bwMode="gray">
          <a:xfrm>
            <a:off x="9094740" y="3098465"/>
            <a:ext cx="1180031" cy="523499"/>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双路由器</a:t>
            </a:r>
            <a:endParaRPr lang="en-US" altLang="zh-CN" dirty="0">
              <a:sym typeface="Huawei Sans" panose="020C0503030203020204" pitchFamily="34" charset="0"/>
            </a:endParaRPr>
          </a:p>
          <a:p>
            <a:r>
              <a:rPr lang="zh-CN" altLang="en-US" dirty="0">
                <a:sym typeface="Huawei Sans" panose="020C0503030203020204" pitchFamily="34" charset="0"/>
              </a:rPr>
              <a:t>多出口</a:t>
            </a:r>
            <a:endParaRPr lang="en-US" altLang="zh-CN" dirty="0">
              <a:sym typeface="Huawei Sans" panose="020C0503030203020204" pitchFamily="34" charset="0"/>
            </a:endParaRPr>
          </a:p>
        </p:txBody>
      </p:sp>
      <p:sp>
        <p:nvSpPr>
          <p:cNvPr id="134" name="文本框 133"/>
          <p:cNvSpPr txBox="1"/>
          <p:nvPr/>
        </p:nvSpPr>
        <p:spPr bwMode="gray">
          <a:xfrm>
            <a:off x="3215569" y="2793360"/>
            <a:ext cx="490820"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可选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文本框 134"/>
          <p:cNvSpPr txBox="1"/>
          <p:nvPr/>
        </p:nvSpPr>
        <p:spPr bwMode="gray">
          <a:xfrm>
            <a:off x="5882387" y="2793360"/>
            <a:ext cx="490820"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可选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文本框 135"/>
          <p:cNvSpPr txBox="1"/>
          <p:nvPr/>
        </p:nvSpPr>
        <p:spPr bwMode="gray">
          <a:xfrm>
            <a:off x="8044189" y="2793360"/>
            <a:ext cx="490820"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可选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文本框 136"/>
          <p:cNvSpPr txBox="1"/>
          <p:nvPr/>
        </p:nvSpPr>
        <p:spPr bwMode="gray">
          <a:xfrm>
            <a:off x="10360161" y="2793360"/>
            <a:ext cx="490820"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可选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圆角矩形 75"/>
          <p:cNvSpPr/>
          <p:nvPr/>
        </p:nvSpPr>
        <p:spPr bwMode="gray">
          <a:xfrm>
            <a:off x="442913" y="944563"/>
            <a:ext cx="483869" cy="2686639"/>
          </a:xfrm>
          <a:prstGeom prst="roundRect">
            <a:avLst>
              <a:gd name="adj" fmla="val 10604"/>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4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路由器出口</a:t>
            </a:r>
          </a:p>
        </p:txBody>
      </p:sp>
      <p:sp>
        <p:nvSpPr>
          <p:cNvPr id="139" name="圆角矩形 75"/>
          <p:cNvSpPr/>
          <p:nvPr/>
        </p:nvSpPr>
        <p:spPr bwMode="gray">
          <a:xfrm>
            <a:off x="975959" y="944563"/>
            <a:ext cx="10700403" cy="2686639"/>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fontAlgn="ctr">
              <a:lnSpc>
                <a:spcPts val="2400"/>
              </a:lnSpc>
              <a:spcAft>
                <a:spcPts val="600"/>
              </a:spcAft>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圆角矩形 75"/>
          <p:cNvSpPr/>
          <p:nvPr/>
        </p:nvSpPr>
        <p:spPr bwMode="gray">
          <a:xfrm>
            <a:off x="442913" y="3718566"/>
            <a:ext cx="483869" cy="2476008"/>
          </a:xfrm>
          <a:prstGeom prst="roundRect">
            <a:avLst>
              <a:gd name="adj" fmla="val 10604"/>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4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防火墙出口</a:t>
            </a:r>
          </a:p>
        </p:txBody>
      </p:sp>
      <p:sp>
        <p:nvSpPr>
          <p:cNvPr id="141" name="圆角矩形 75"/>
          <p:cNvSpPr/>
          <p:nvPr/>
        </p:nvSpPr>
        <p:spPr bwMode="gray">
          <a:xfrm>
            <a:off x="975959" y="3718566"/>
            <a:ext cx="7785159" cy="2476008"/>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fontAlgn="ctr">
              <a:lnSpc>
                <a:spcPts val="2400"/>
              </a:lnSpc>
              <a:spcAft>
                <a:spcPts val="600"/>
              </a:spcAft>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6"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1401412" y="5407726"/>
            <a:ext cx="369473" cy="302297"/>
          </a:xfrm>
          <a:prstGeom prst="rect">
            <a:avLst/>
          </a:prstGeom>
        </p:spPr>
      </p:pic>
      <p:cxnSp>
        <p:nvCxnSpPr>
          <p:cNvPr id="177" name="直接连接符 176"/>
          <p:cNvCxnSpPr>
            <a:stCxn id="180" idx="2"/>
            <a:endCxn id="176" idx="0"/>
          </p:cNvCxnSpPr>
          <p:nvPr/>
        </p:nvCxnSpPr>
        <p:spPr bwMode="gray">
          <a:xfrm>
            <a:off x="1584942" y="4404796"/>
            <a:ext cx="1207" cy="10029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8" name="组合 177"/>
          <p:cNvGrpSpPr/>
          <p:nvPr/>
        </p:nvGrpSpPr>
        <p:grpSpPr bwMode="gray">
          <a:xfrm>
            <a:off x="1130201" y="3925665"/>
            <a:ext cx="909482" cy="480535"/>
            <a:chOff x="591922" y="1761021"/>
            <a:chExt cx="909482" cy="480535"/>
          </a:xfrm>
        </p:grpSpPr>
        <p:sp>
          <p:nvSpPr>
            <p:cNvPr id="179"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0" name="文本框 179"/>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grpSp>
        <p:nvGrpSpPr>
          <p:cNvPr id="181" name="组合 180"/>
          <p:cNvGrpSpPr/>
          <p:nvPr/>
        </p:nvGrpSpPr>
        <p:grpSpPr bwMode="gray">
          <a:xfrm>
            <a:off x="3219714" y="3924261"/>
            <a:ext cx="909482" cy="480535"/>
            <a:chOff x="591922" y="1761021"/>
            <a:chExt cx="909482" cy="480535"/>
          </a:xfrm>
        </p:grpSpPr>
        <p:sp>
          <p:nvSpPr>
            <p:cNvPr id="182"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文本框 182"/>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p>
          </p:txBody>
        </p:sp>
      </p:grpSp>
      <p:pic>
        <p:nvPicPr>
          <p:cNvPr id="184"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2939164" y="5406322"/>
            <a:ext cx="369473" cy="302297"/>
          </a:xfrm>
          <a:prstGeom prst="rect">
            <a:avLst/>
          </a:prstGeom>
        </p:spPr>
      </p:pic>
      <p:grpSp>
        <p:nvGrpSpPr>
          <p:cNvPr id="185" name="组合 184"/>
          <p:cNvGrpSpPr/>
          <p:nvPr/>
        </p:nvGrpSpPr>
        <p:grpSpPr bwMode="gray">
          <a:xfrm>
            <a:off x="2262325" y="3924261"/>
            <a:ext cx="909482" cy="480535"/>
            <a:chOff x="591922" y="1761021"/>
            <a:chExt cx="909482" cy="480535"/>
          </a:xfrm>
        </p:grpSpPr>
        <p:sp>
          <p:nvSpPr>
            <p:cNvPr id="186"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7" name="文本框 186"/>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cxnSp>
        <p:nvCxnSpPr>
          <p:cNvPr id="188" name="肘形连接符 187"/>
          <p:cNvCxnSpPr>
            <a:endCxn id="183" idx="2"/>
          </p:cNvCxnSpPr>
          <p:nvPr/>
        </p:nvCxnSpPr>
        <p:spPr bwMode="gray">
          <a:xfrm rot="5400000" flipH="1" flipV="1">
            <a:off x="2913588" y="4645455"/>
            <a:ext cx="1002930" cy="518804"/>
          </a:xfrm>
          <a:prstGeom prst="bentConnector3">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9" name="肘形连接符 188"/>
          <p:cNvCxnSpPr/>
          <p:nvPr/>
        </p:nvCxnSpPr>
        <p:spPr bwMode="gray">
          <a:xfrm rot="16200000" flipV="1">
            <a:off x="2390211" y="4710731"/>
            <a:ext cx="984346" cy="406836"/>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2" name="文本框 191"/>
          <p:cNvSpPr txBox="1"/>
          <p:nvPr/>
        </p:nvSpPr>
        <p:spPr bwMode="gray">
          <a:xfrm>
            <a:off x="5336546" y="4010664"/>
            <a:ext cx="909482" cy="411312"/>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Internet2</a:t>
            </a:r>
          </a:p>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p>
        </p:txBody>
      </p:sp>
      <p:pic>
        <p:nvPicPr>
          <p:cNvPr id="193"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4649162" y="5406319"/>
            <a:ext cx="369473" cy="302297"/>
          </a:xfrm>
          <a:prstGeom prst="rect">
            <a:avLst/>
          </a:prstGeom>
        </p:spPr>
      </p:pic>
      <p:grpSp>
        <p:nvGrpSpPr>
          <p:cNvPr id="194" name="组合 193"/>
          <p:cNvGrpSpPr/>
          <p:nvPr/>
        </p:nvGrpSpPr>
        <p:grpSpPr bwMode="gray">
          <a:xfrm>
            <a:off x="4379157" y="3925665"/>
            <a:ext cx="909482" cy="480535"/>
            <a:chOff x="591922" y="1761021"/>
            <a:chExt cx="909482" cy="480535"/>
          </a:xfrm>
        </p:grpSpPr>
        <p:sp>
          <p:nvSpPr>
            <p:cNvPr id="195"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6" name="文本框 195"/>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Internet1</a:t>
              </a:r>
            </a:p>
          </p:txBody>
        </p:sp>
      </p:grpSp>
      <p:pic>
        <p:nvPicPr>
          <p:cNvPr id="197"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5606551" y="5406319"/>
            <a:ext cx="369473" cy="302297"/>
          </a:xfrm>
          <a:prstGeom prst="rect">
            <a:avLst/>
          </a:prstGeom>
        </p:spPr>
      </p:pic>
      <p:cxnSp>
        <p:nvCxnSpPr>
          <p:cNvPr id="198" name="直接连接符 197"/>
          <p:cNvCxnSpPr>
            <a:stCxn id="196" idx="2"/>
            <a:endCxn id="193" idx="0"/>
          </p:cNvCxnSpPr>
          <p:nvPr/>
        </p:nvCxnSpPr>
        <p:spPr bwMode="gray">
          <a:xfrm>
            <a:off x="4833898" y="4404796"/>
            <a:ext cx="1" cy="10015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a:stCxn id="192" idx="2"/>
            <a:endCxn id="197" idx="0"/>
          </p:cNvCxnSpPr>
          <p:nvPr/>
        </p:nvCxnSpPr>
        <p:spPr bwMode="gray">
          <a:xfrm>
            <a:off x="5791287" y="4421976"/>
            <a:ext cx="1" cy="984343"/>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a:stCxn id="197" idx="1"/>
            <a:endCxn id="193" idx="3"/>
          </p:cNvCxnSpPr>
          <p:nvPr/>
        </p:nvCxnSpPr>
        <p:spPr bwMode="gray">
          <a:xfrm flipH="1">
            <a:off x="5018635" y="5557468"/>
            <a:ext cx="587916"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sp>
        <p:nvSpPr>
          <p:cNvPr id="203" name="文本框 202"/>
          <p:cNvSpPr txBox="1"/>
          <p:nvPr/>
        </p:nvSpPr>
        <p:spPr bwMode="gray">
          <a:xfrm>
            <a:off x="7496283" y="3999678"/>
            <a:ext cx="909482" cy="419346"/>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Internet2</a:t>
            </a:r>
          </a:p>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p>
        </p:txBody>
      </p:sp>
      <p:pic>
        <p:nvPicPr>
          <p:cNvPr id="204"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6808899" y="5406319"/>
            <a:ext cx="369473" cy="302297"/>
          </a:xfrm>
          <a:prstGeom prst="rect">
            <a:avLst/>
          </a:prstGeom>
        </p:spPr>
      </p:pic>
      <p:grpSp>
        <p:nvGrpSpPr>
          <p:cNvPr id="205" name="组合 204"/>
          <p:cNvGrpSpPr/>
          <p:nvPr/>
        </p:nvGrpSpPr>
        <p:grpSpPr bwMode="gray">
          <a:xfrm>
            <a:off x="6538894" y="3925665"/>
            <a:ext cx="909482" cy="480535"/>
            <a:chOff x="591922" y="1761021"/>
            <a:chExt cx="909482" cy="480535"/>
          </a:xfrm>
        </p:grpSpPr>
        <p:sp>
          <p:nvSpPr>
            <p:cNvPr id="206"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文本框 206"/>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Internet1</a:t>
              </a:r>
            </a:p>
          </p:txBody>
        </p:sp>
      </p:grpSp>
      <p:pic>
        <p:nvPicPr>
          <p:cNvPr id="208"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7766288" y="5406319"/>
            <a:ext cx="369473" cy="302297"/>
          </a:xfrm>
          <a:prstGeom prst="rect">
            <a:avLst/>
          </a:prstGeom>
        </p:spPr>
      </p:pic>
      <p:cxnSp>
        <p:nvCxnSpPr>
          <p:cNvPr id="209" name="直接连接符 208"/>
          <p:cNvCxnSpPr>
            <a:stCxn id="212" idx="2"/>
            <a:endCxn id="204" idx="0"/>
          </p:cNvCxnSpPr>
          <p:nvPr/>
        </p:nvCxnSpPr>
        <p:spPr bwMode="gray">
          <a:xfrm>
            <a:off x="6993636" y="4939235"/>
            <a:ext cx="0" cy="4670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a:stCxn id="213" idx="2"/>
            <a:endCxn id="208" idx="0"/>
          </p:cNvCxnSpPr>
          <p:nvPr/>
        </p:nvCxnSpPr>
        <p:spPr bwMode="gray">
          <a:xfrm>
            <a:off x="7951025" y="4939235"/>
            <a:ext cx="0" cy="46708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a:stCxn id="208" idx="1"/>
            <a:endCxn id="204" idx="3"/>
          </p:cNvCxnSpPr>
          <p:nvPr/>
        </p:nvCxnSpPr>
        <p:spPr bwMode="gray">
          <a:xfrm flipH="1">
            <a:off x="7178372" y="5557468"/>
            <a:ext cx="587916"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pic>
        <p:nvPicPr>
          <p:cNvPr id="212" name="图片 211" descr="接入交换机.png"/>
          <p:cNvPicPr>
            <a:picLocks noChangeAspect="1"/>
          </p:cNvPicPr>
          <p:nvPr/>
        </p:nvPicPr>
        <p:blipFill>
          <a:blip r:embed="rId5" cstate="print"/>
          <a:stretch>
            <a:fillRect/>
          </a:stretch>
        </p:blipFill>
        <p:spPr bwMode="gray">
          <a:xfrm>
            <a:off x="6831872" y="4674531"/>
            <a:ext cx="323527" cy="264704"/>
          </a:xfrm>
          <a:prstGeom prst="rect">
            <a:avLst/>
          </a:prstGeom>
        </p:spPr>
      </p:pic>
      <p:pic>
        <p:nvPicPr>
          <p:cNvPr id="213" name="图片 212" descr="接入交换机.png"/>
          <p:cNvPicPr>
            <a:picLocks noChangeAspect="1"/>
          </p:cNvPicPr>
          <p:nvPr/>
        </p:nvPicPr>
        <p:blipFill>
          <a:blip r:embed="rId5" cstate="print"/>
          <a:stretch>
            <a:fillRect/>
          </a:stretch>
        </p:blipFill>
        <p:spPr bwMode="gray">
          <a:xfrm>
            <a:off x="7789261" y="4674531"/>
            <a:ext cx="323527" cy="264704"/>
          </a:xfrm>
          <a:prstGeom prst="rect">
            <a:avLst/>
          </a:prstGeom>
        </p:spPr>
      </p:pic>
      <p:cxnSp>
        <p:nvCxnSpPr>
          <p:cNvPr id="214" name="直接连接符 213"/>
          <p:cNvCxnSpPr>
            <a:stCxn id="212" idx="2"/>
            <a:endCxn id="208" idx="0"/>
          </p:cNvCxnSpPr>
          <p:nvPr/>
        </p:nvCxnSpPr>
        <p:spPr bwMode="gray">
          <a:xfrm>
            <a:off x="6993636" y="4939235"/>
            <a:ext cx="957389" cy="4670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stCxn id="207" idx="2"/>
            <a:endCxn id="212" idx="0"/>
          </p:cNvCxnSpPr>
          <p:nvPr/>
        </p:nvCxnSpPr>
        <p:spPr bwMode="gray">
          <a:xfrm>
            <a:off x="6993635" y="4404796"/>
            <a:ext cx="1" cy="2697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a:stCxn id="213" idx="2"/>
            <a:endCxn id="204" idx="0"/>
          </p:cNvCxnSpPr>
          <p:nvPr/>
        </p:nvCxnSpPr>
        <p:spPr bwMode="gray">
          <a:xfrm flipH="1">
            <a:off x="6993636" y="4939235"/>
            <a:ext cx="957389" cy="46708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a:endCxn id="213" idx="0"/>
          </p:cNvCxnSpPr>
          <p:nvPr/>
        </p:nvCxnSpPr>
        <p:spPr bwMode="gray">
          <a:xfrm>
            <a:off x="7951025" y="4421976"/>
            <a:ext cx="0" cy="252555"/>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8" name="文本框 217"/>
          <p:cNvSpPr txBox="1"/>
          <p:nvPr/>
        </p:nvSpPr>
        <p:spPr bwMode="gray">
          <a:xfrm>
            <a:off x="1074543" y="5715339"/>
            <a:ext cx="1180031"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单</a:t>
            </a:r>
            <a:r>
              <a:rPr lang="en-US" altLang="zh-CN" dirty="0">
                <a:sym typeface="Huawei Sans" panose="020C0503030203020204" pitchFamily="34" charset="0"/>
              </a:rPr>
              <a:t>FW</a:t>
            </a:r>
            <a:r>
              <a:rPr lang="zh-CN" altLang="en-US" dirty="0">
                <a:sym typeface="Huawei Sans" panose="020C0503030203020204" pitchFamily="34" charset="0"/>
              </a:rPr>
              <a:t>单出口</a:t>
            </a:r>
            <a:endParaRPr lang="en-US" altLang="zh-CN" dirty="0">
              <a:sym typeface="Huawei Sans" panose="020C0503030203020204" pitchFamily="34" charset="0"/>
            </a:endParaRPr>
          </a:p>
        </p:txBody>
      </p:sp>
      <p:sp>
        <p:nvSpPr>
          <p:cNvPr id="219" name="文本框 218"/>
          <p:cNvSpPr txBox="1"/>
          <p:nvPr/>
        </p:nvSpPr>
        <p:spPr bwMode="gray">
          <a:xfrm>
            <a:off x="2518895" y="5715339"/>
            <a:ext cx="1180031"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单</a:t>
            </a:r>
            <a:r>
              <a:rPr lang="en-US" altLang="zh-CN" dirty="0">
                <a:sym typeface="Huawei Sans" panose="020C0503030203020204" pitchFamily="34" charset="0"/>
              </a:rPr>
              <a:t>FW</a:t>
            </a:r>
            <a:r>
              <a:rPr lang="zh-CN" altLang="en-US" dirty="0">
                <a:sym typeface="Huawei Sans" panose="020C0503030203020204" pitchFamily="34" charset="0"/>
              </a:rPr>
              <a:t>双出口</a:t>
            </a:r>
            <a:endParaRPr lang="en-US" altLang="zh-CN" dirty="0">
              <a:sym typeface="Huawei Sans" panose="020C0503030203020204" pitchFamily="34" charset="0"/>
            </a:endParaRPr>
          </a:p>
        </p:txBody>
      </p:sp>
      <p:sp>
        <p:nvSpPr>
          <p:cNvPr id="220" name="文本框 219"/>
          <p:cNvSpPr txBox="1"/>
          <p:nvPr/>
        </p:nvSpPr>
        <p:spPr bwMode="gray">
          <a:xfrm>
            <a:off x="4701669" y="5715339"/>
            <a:ext cx="1180031"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双</a:t>
            </a:r>
            <a:r>
              <a:rPr lang="en-US" altLang="zh-CN" dirty="0">
                <a:sym typeface="Huawei Sans" panose="020C0503030203020204" pitchFamily="34" charset="0"/>
              </a:rPr>
              <a:t>FW</a:t>
            </a:r>
            <a:r>
              <a:rPr lang="zh-CN" altLang="en-US" dirty="0">
                <a:sym typeface="Huawei Sans" panose="020C0503030203020204" pitchFamily="34" charset="0"/>
              </a:rPr>
              <a:t>单出口</a:t>
            </a:r>
            <a:endParaRPr lang="en-US" altLang="zh-CN" dirty="0">
              <a:sym typeface="Huawei Sans" panose="020C0503030203020204" pitchFamily="34" charset="0"/>
            </a:endParaRPr>
          </a:p>
        </p:txBody>
      </p:sp>
      <p:sp>
        <p:nvSpPr>
          <p:cNvPr id="221" name="文本框 220"/>
          <p:cNvSpPr txBox="1"/>
          <p:nvPr/>
        </p:nvSpPr>
        <p:spPr bwMode="gray">
          <a:xfrm>
            <a:off x="6885282" y="5715339"/>
            <a:ext cx="1180031"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双</a:t>
            </a:r>
            <a:r>
              <a:rPr lang="en-US" altLang="zh-CN" dirty="0">
                <a:sym typeface="Huawei Sans" panose="020C0503030203020204" pitchFamily="34" charset="0"/>
              </a:rPr>
              <a:t>FW</a:t>
            </a:r>
            <a:r>
              <a:rPr lang="zh-CN" altLang="en-US" dirty="0">
                <a:sym typeface="Huawei Sans" panose="020C0503030203020204" pitchFamily="34" charset="0"/>
              </a:rPr>
              <a:t>双出口</a:t>
            </a:r>
            <a:endParaRPr lang="en-US" altLang="zh-CN" dirty="0">
              <a:sym typeface="Huawei Sans" panose="020C0503030203020204" pitchFamily="34" charset="0"/>
            </a:endParaRPr>
          </a:p>
        </p:txBody>
      </p:sp>
      <p:sp>
        <p:nvSpPr>
          <p:cNvPr id="224" name="文本框 223"/>
          <p:cNvSpPr txBox="1"/>
          <p:nvPr/>
        </p:nvSpPr>
        <p:spPr bwMode="gray">
          <a:xfrm>
            <a:off x="10234433" y="5880716"/>
            <a:ext cx="1176472"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心跳热备链路</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5" name="直接连接符 224"/>
          <p:cNvCxnSpPr/>
          <p:nvPr/>
        </p:nvCxnSpPr>
        <p:spPr bwMode="gray">
          <a:xfrm flipH="1">
            <a:off x="9835858" y="6020444"/>
            <a:ext cx="360000"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sp>
        <p:nvSpPr>
          <p:cNvPr id="228" name="圆角矩形 75"/>
          <p:cNvSpPr/>
          <p:nvPr/>
        </p:nvSpPr>
        <p:spPr bwMode="gray">
          <a:xfrm>
            <a:off x="8856931" y="3856219"/>
            <a:ext cx="2855644" cy="1475716"/>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fontAlgn="ct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连接</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侧设计，需要考虑的有：</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fontAlgn="ctr">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出口链路类型</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fontAlgn="ctr">
              <a:lnSpc>
                <a:spcPts val="24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SD-WAN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fontAlgn="ctr">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协议对接需求</a:t>
            </a:r>
          </a:p>
        </p:txBody>
      </p:sp>
      <p:grpSp>
        <p:nvGrpSpPr>
          <p:cNvPr id="125" name="组合 124"/>
          <p:cNvGrpSpPr/>
          <p:nvPr/>
        </p:nvGrpSpPr>
        <p:grpSpPr bwMode="gray">
          <a:xfrm>
            <a:off x="10686135" y="1069470"/>
            <a:ext cx="909482" cy="480535"/>
            <a:chOff x="591922" y="1761021"/>
            <a:chExt cx="909482" cy="480535"/>
          </a:xfrm>
        </p:grpSpPr>
        <p:sp>
          <p:nvSpPr>
            <p:cNvPr id="126"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文本框 126"/>
            <p:cNvSpPr txBox="1"/>
            <p:nvPr/>
          </p:nvSpPr>
          <p:spPr bwMode="gray">
            <a:xfrm>
              <a:off x="591922" y="1921441"/>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LTE</a:t>
              </a:r>
            </a:p>
          </p:txBody>
        </p:sp>
      </p:grpSp>
      <p:sp>
        <p:nvSpPr>
          <p:cNvPr id="145" name="文本框 144"/>
          <p:cNvSpPr txBox="1"/>
          <p:nvPr/>
        </p:nvSpPr>
        <p:spPr bwMode="gray">
          <a:xfrm>
            <a:off x="10360160" y="2168079"/>
            <a:ext cx="986935"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必须为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a:t>
            </a:r>
          </a:p>
        </p:txBody>
      </p:sp>
    </p:spTree>
    <p:extLst>
      <p:ext uri="{BB962C8B-B14F-4D97-AF65-F5344CB8AC3E}">
        <p14:creationId xmlns:p14="http://schemas.microsoft.com/office/powerpoint/2010/main" val="37108524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连接</a:t>
            </a:r>
            <a:r>
              <a:rPr lang="en-US" altLang="zh-CN" dirty="0">
                <a:sym typeface="Huawei Sans" panose="020C0503030203020204" pitchFamily="34" charset="0"/>
              </a:rPr>
              <a:t>LAN</a:t>
            </a:r>
            <a:r>
              <a:rPr lang="zh-CN" altLang="en-US" dirty="0">
                <a:sym typeface="Huawei Sans" panose="020C0503030203020204" pitchFamily="34" charset="0"/>
              </a:rPr>
              <a:t>侧设计</a:t>
            </a:r>
          </a:p>
        </p:txBody>
      </p:sp>
      <p:pic>
        <p:nvPicPr>
          <p:cNvPr id="145"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656243" y="1647478"/>
            <a:ext cx="369473" cy="302297"/>
          </a:xfrm>
          <a:prstGeom prst="rect">
            <a:avLst/>
          </a:prstGeom>
        </p:spPr>
      </p:pic>
      <p:cxnSp>
        <p:nvCxnSpPr>
          <p:cNvPr id="146" name="直接连接符 145"/>
          <p:cNvCxnSpPr>
            <a:stCxn id="145" idx="2"/>
            <a:endCxn id="148" idx="0"/>
          </p:cNvCxnSpPr>
          <p:nvPr/>
        </p:nvCxnSpPr>
        <p:spPr bwMode="gray">
          <a:xfrm>
            <a:off x="840980" y="1949775"/>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47" name="Picture 2" descr="G:\做的项目\公共\扁平图标切换\更新2015_01_21\oss扁平图标库2015_01_21更新-04.png"/>
          <p:cNvPicPr>
            <a:picLocks noChangeAspect="1" noChangeArrowheads="1"/>
          </p:cNvPicPr>
          <p:nvPr/>
        </p:nvPicPr>
        <p:blipFill>
          <a:blip r:embed="rId4"/>
          <a:stretch>
            <a:fillRect/>
          </a:stretch>
        </p:blipFill>
        <p:spPr bwMode="gray">
          <a:xfrm>
            <a:off x="663413" y="4076257"/>
            <a:ext cx="369473" cy="302297"/>
          </a:xfrm>
          <a:prstGeom prst="rect">
            <a:avLst/>
          </a:prstGeom>
          <a:noFill/>
        </p:spPr>
      </p:pic>
      <p:pic>
        <p:nvPicPr>
          <p:cNvPr id="148" name="图片 86" descr="核心交换机.png"/>
          <p:cNvPicPr>
            <a:picLocks noChangeAspect="1"/>
          </p:cNvPicPr>
          <p:nvPr/>
        </p:nvPicPr>
        <p:blipFill>
          <a:blip r:embed="rId5" cstate="print"/>
          <a:stretch>
            <a:fillRect/>
          </a:stretch>
        </p:blipFill>
        <p:spPr bwMode="gray">
          <a:xfrm>
            <a:off x="656243" y="2632164"/>
            <a:ext cx="370800" cy="303383"/>
          </a:xfrm>
          <a:prstGeom prst="rect">
            <a:avLst/>
          </a:prstGeom>
        </p:spPr>
      </p:pic>
      <p:pic>
        <p:nvPicPr>
          <p:cNvPr id="149"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1689912" y="1647478"/>
            <a:ext cx="369473" cy="302297"/>
          </a:xfrm>
          <a:prstGeom prst="rect">
            <a:avLst/>
          </a:prstGeom>
        </p:spPr>
      </p:pic>
      <p:cxnSp>
        <p:nvCxnSpPr>
          <p:cNvPr id="150" name="直接连接符 149"/>
          <p:cNvCxnSpPr/>
          <p:nvPr/>
        </p:nvCxnSpPr>
        <p:spPr bwMode="gray">
          <a:xfrm>
            <a:off x="1842845" y="1949775"/>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51" name="图片 86" descr="核心交换机.png"/>
          <p:cNvPicPr>
            <a:picLocks noChangeAspect="1"/>
          </p:cNvPicPr>
          <p:nvPr/>
        </p:nvPicPr>
        <p:blipFill>
          <a:blip r:embed="rId5" cstate="print"/>
          <a:stretch>
            <a:fillRect/>
          </a:stretch>
        </p:blipFill>
        <p:spPr bwMode="gray">
          <a:xfrm>
            <a:off x="1689912" y="2632164"/>
            <a:ext cx="370800" cy="303383"/>
          </a:xfrm>
          <a:prstGeom prst="rect">
            <a:avLst/>
          </a:prstGeom>
        </p:spPr>
      </p:pic>
      <p:cxnSp>
        <p:nvCxnSpPr>
          <p:cNvPr id="152" name="直接连接符 151"/>
          <p:cNvCxnSpPr/>
          <p:nvPr/>
        </p:nvCxnSpPr>
        <p:spPr bwMode="gray">
          <a:xfrm>
            <a:off x="1897985" y="1945082"/>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3" name="椭圆 152"/>
          <p:cNvSpPr/>
          <p:nvPr/>
        </p:nvSpPr>
        <p:spPr bwMode="gray">
          <a:xfrm>
            <a:off x="1775568" y="2157366"/>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4"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2765419" y="1644706"/>
            <a:ext cx="369473" cy="302297"/>
          </a:xfrm>
          <a:prstGeom prst="rect">
            <a:avLst/>
          </a:prstGeom>
        </p:spPr>
      </p:pic>
      <p:pic>
        <p:nvPicPr>
          <p:cNvPr id="155"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3721508" y="1644706"/>
            <a:ext cx="369473" cy="302297"/>
          </a:xfrm>
          <a:prstGeom prst="rect">
            <a:avLst/>
          </a:prstGeom>
        </p:spPr>
      </p:pic>
      <p:cxnSp>
        <p:nvCxnSpPr>
          <p:cNvPr id="156" name="直接连接符 155"/>
          <p:cNvCxnSpPr>
            <a:stCxn id="155" idx="1"/>
            <a:endCxn id="154" idx="3"/>
          </p:cNvCxnSpPr>
          <p:nvPr/>
        </p:nvCxnSpPr>
        <p:spPr bwMode="gray">
          <a:xfrm flipH="1">
            <a:off x="3134892" y="1795855"/>
            <a:ext cx="586616"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pic>
        <p:nvPicPr>
          <p:cNvPr id="157" name="图片 86" descr="核心交换机.png"/>
          <p:cNvPicPr>
            <a:picLocks noChangeAspect="1"/>
          </p:cNvPicPr>
          <p:nvPr/>
        </p:nvPicPr>
        <p:blipFill>
          <a:blip r:embed="rId5" cstate="print"/>
          <a:stretch>
            <a:fillRect/>
          </a:stretch>
        </p:blipFill>
        <p:spPr bwMode="gray">
          <a:xfrm>
            <a:off x="2764092" y="2634085"/>
            <a:ext cx="370800" cy="303383"/>
          </a:xfrm>
          <a:prstGeom prst="rect">
            <a:avLst/>
          </a:prstGeom>
        </p:spPr>
      </p:pic>
      <p:pic>
        <p:nvPicPr>
          <p:cNvPr id="158" name="图片 86" descr="核心交换机.png"/>
          <p:cNvPicPr>
            <a:picLocks noChangeAspect="1"/>
          </p:cNvPicPr>
          <p:nvPr/>
        </p:nvPicPr>
        <p:blipFill>
          <a:blip r:embed="rId5" cstate="print"/>
          <a:stretch>
            <a:fillRect/>
          </a:stretch>
        </p:blipFill>
        <p:spPr bwMode="gray">
          <a:xfrm>
            <a:off x="3720181" y="2634085"/>
            <a:ext cx="370800" cy="303383"/>
          </a:xfrm>
          <a:prstGeom prst="rect">
            <a:avLst/>
          </a:prstGeom>
        </p:spPr>
      </p:pic>
      <p:grpSp>
        <p:nvGrpSpPr>
          <p:cNvPr id="159" name="组合 158"/>
          <p:cNvGrpSpPr/>
          <p:nvPr/>
        </p:nvGrpSpPr>
        <p:grpSpPr bwMode="gray">
          <a:xfrm>
            <a:off x="3134892" y="2657577"/>
            <a:ext cx="585289" cy="248087"/>
            <a:chOff x="3229772" y="2341282"/>
            <a:chExt cx="585289" cy="248087"/>
          </a:xfrm>
        </p:grpSpPr>
        <p:cxnSp>
          <p:nvCxnSpPr>
            <p:cNvPr id="160" name="直接连接符 159"/>
            <p:cNvCxnSpPr/>
            <p:nvPr/>
          </p:nvCxnSpPr>
          <p:spPr bwMode="gray">
            <a:xfrm flipH="1">
              <a:off x="3229772" y="242177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bwMode="gray">
            <a:xfrm flipH="1">
              <a:off x="3229772" y="2509241"/>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162" name="椭圆 161"/>
            <p:cNvSpPr/>
            <p:nvPr/>
          </p:nvSpPr>
          <p:spPr bwMode="gray">
            <a:xfrm>
              <a:off x="3455707" y="2341282"/>
              <a:ext cx="130330"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4" name="文本框 163"/>
          <p:cNvSpPr txBox="1"/>
          <p:nvPr/>
        </p:nvSpPr>
        <p:spPr bwMode="gray">
          <a:xfrm>
            <a:off x="674124" y="2963849"/>
            <a:ext cx="1385259" cy="447881"/>
          </a:xfrm>
          <a:prstGeom prst="rect">
            <a:avLst/>
          </a:prstGeom>
          <a:noFill/>
        </p:spPr>
        <p:txBody>
          <a:bodyPr wrap="square" rtlCol="0">
            <a:noAutofit/>
          </a:bodyPr>
          <a:lstStyle/>
          <a:p>
            <a:pPr algn="ctr" fontAlgn="base"/>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单</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单核心交换机</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文本框 164"/>
          <p:cNvSpPr txBox="1"/>
          <p:nvPr/>
        </p:nvSpPr>
        <p:spPr bwMode="gray">
          <a:xfrm>
            <a:off x="2693826" y="2965770"/>
            <a:ext cx="1453345" cy="445960"/>
          </a:xfrm>
          <a:prstGeom prst="rect">
            <a:avLst/>
          </a:prstGeom>
          <a:noFill/>
        </p:spPr>
        <p:txBody>
          <a:bodyPr wrap="square" rtlCol="0">
            <a:noAutofit/>
          </a:bodyPr>
          <a:lstStyle>
            <a:defPPr>
              <a:defRPr lang="en-US"/>
            </a:defPPr>
            <a:lvl1pPr fontAlgn="base">
              <a:defRPr sz="1200">
                <a:latin typeface="Huawei Sans" panose="020C0503030203020204" pitchFamily="34" charset="0"/>
                <a:ea typeface="方正兰亭黑简体" panose="02000000000000000000" pitchFamily="2" charset="-122"/>
              </a:defRPr>
            </a:lvl1pPr>
          </a:lstStyle>
          <a:p>
            <a:pPr algn="ctr"/>
            <a:r>
              <a:rPr lang="zh-CN" altLang="en-US" sz="1400" dirty="0">
                <a:sym typeface="Huawei Sans" panose="020C0503030203020204" pitchFamily="34" charset="0"/>
              </a:rPr>
              <a:t>双</a:t>
            </a:r>
            <a:r>
              <a:rPr lang="en-US" altLang="zh-CN" sz="1400" dirty="0">
                <a:sym typeface="Huawei Sans" panose="020C0503030203020204" pitchFamily="34" charset="0"/>
              </a:rPr>
              <a:t>FW</a:t>
            </a:r>
            <a:r>
              <a:rPr lang="zh-CN" altLang="en-US" sz="1400" dirty="0">
                <a:sym typeface="Huawei Sans" panose="020C0503030203020204" pitchFamily="34" charset="0"/>
              </a:rPr>
              <a:t>口型对接</a:t>
            </a:r>
            <a:endParaRPr lang="en-US" altLang="zh-CN" sz="1400" dirty="0">
              <a:sym typeface="Huawei Sans" panose="020C0503030203020204" pitchFamily="34" charset="0"/>
            </a:endParaRPr>
          </a:p>
          <a:p>
            <a:pPr algn="ctr"/>
            <a:r>
              <a:rPr lang="zh-CN" altLang="en-US" sz="1400" dirty="0">
                <a:sym typeface="Huawei Sans" panose="020C0503030203020204" pitchFamily="34" charset="0"/>
              </a:rPr>
              <a:t>堆叠核心交换机</a:t>
            </a:r>
            <a:endParaRPr lang="en-US" altLang="zh-CN" sz="1400" dirty="0">
              <a:sym typeface="Huawei Sans" panose="020C0503030203020204" pitchFamily="34" charset="0"/>
            </a:endParaRPr>
          </a:p>
        </p:txBody>
      </p:sp>
      <p:cxnSp>
        <p:nvCxnSpPr>
          <p:cNvPr id="166" name="直接连接符 165"/>
          <p:cNvCxnSpPr>
            <a:stCxn id="147" idx="2"/>
            <a:endCxn id="167" idx="0"/>
          </p:cNvCxnSpPr>
          <p:nvPr/>
        </p:nvCxnSpPr>
        <p:spPr bwMode="gray">
          <a:xfrm>
            <a:off x="848150" y="4378554"/>
            <a:ext cx="663" cy="677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67" name="图片 86" descr="核心交换机.png"/>
          <p:cNvPicPr>
            <a:picLocks noChangeAspect="1"/>
          </p:cNvPicPr>
          <p:nvPr/>
        </p:nvPicPr>
        <p:blipFill>
          <a:blip r:embed="rId5" cstate="print"/>
          <a:stretch>
            <a:fillRect/>
          </a:stretch>
        </p:blipFill>
        <p:spPr bwMode="gray">
          <a:xfrm>
            <a:off x="663413" y="5055993"/>
            <a:ext cx="370800" cy="303383"/>
          </a:xfrm>
          <a:prstGeom prst="rect">
            <a:avLst/>
          </a:prstGeom>
        </p:spPr>
      </p:pic>
      <p:cxnSp>
        <p:nvCxnSpPr>
          <p:cNvPr id="168" name="直接连接符 167"/>
          <p:cNvCxnSpPr/>
          <p:nvPr/>
        </p:nvCxnSpPr>
        <p:spPr bwMode="gray">
          <a:xfrm>
            <a:off x="1850016" y="4373604"/>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69" name="图片 86" descr="核心交换机.png"/>
          <p:cNvPicPr>
            <a:picLocks noChangeAspect="1"/>
          </p:cNvPicPr>
          <p:nvPr/>
        </p:nvPicPr>
        <p:blipFill>
          <a:blip r:embed="rId5" cstate="print"/>
          <a:stretch>
            <a:fillRect/>
          </a:stretch>
        </p:blipFill>
        <p:spPr bwMode="gray">
          <a:xfrm>
            <a:off x="1697083" y="5055993"/>
            <a:ext cx="370800" cy="303383"/>
          </a:xfrm>
          <a:prstGeom prst="rect">
            <a:avLst/>
          </a:prstGeom>
        </p:spPr>
      </p:pic>
      <p:cxnSp>
        <p:nvCxnSpPr>
          <p:cNvPr id="170" name="直接连接符 169"/>
          <p:cNvCxnSpPr/>
          <p:nvPr/>
        </p:nvCxnSpPr>
        <p:spPr bwMode="gray">
          <a:xfrm>
            <a:off x="1905156" y="4368911"/>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椭圆 170"/>
          <p:cNvSpPr/>
          <p:nvPr/>
        </p:nvSpPr>
        <p:spPr bwMode="gray">
          <a:xfrm>
            <a:off x="1782739" y="4581195"/>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2" name="直接连接符 171"/>
          <p:cNvCxnSpPr/>
          <p:nvPr/>
        </p:nvCxnSpPr>
        <p:spPr bwMode="grayWhite">
          <a:xfrm flipH="1">
            <a:off x="3142063" y="4219684"/>
            <a:ext cx="5866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73" name="图片 86" descr="核心交换机.png"/>
          <p:cNvPicPr>
            <a:picLocks noChangeAspect="1"/>
          </p:cNvPicPr>
          <p:nvPr/>
        </p:nvPicPr>
        <p:blipFill>
          <a:blip r:embed="rId5" cstate="print"/>
          <a:stretch>
            <a:fillRect/>
          </a:stretch>
        </p:blipFill>
        <p:spPr bwMode="gray">
          <a:xfrm>
            <a:off x="2771263" y="5057914"/>
            <a:ext cx="370800" cy="303383"/>
          </a:xfrm>
          <a:prstGeom prst="rect">
            <a:avLst/>
          </a:prstGeom>
        </p:spPr>
      </p:pic>
      <p:pic>
        <p:nvPicPr>
          <p:cNvPr id="174" name="图片 86" descr="核心交换机.png"/>
          <p:cNvPicPr>
            <a:picLocks noChangeAspect="1"/>
          </p:cNvPicPr>
          <p:nvPr/>
        </p:nvPicPr>
        <p:blipFill>
          <a:blip r:embed="rId5" cstate="print"/>
          <a:stretch>
            <a:fillRect/>
          </a:stretch>
        </p:blipFill>
        <p:spPr bwMode="gray">
          <a:xfrm>
            <a:off x="3727352" y="5057914"/>
            <a:ext cx="370800" cy="303383"/>
          </a:xfrm>
          <a:prstGeom prst="rect">
            <a:avLst/>
          </a:prstGeom>
        </p:spPr>
      </p:pic>
      <p:grpSp>
        <p:nvGrpSpPr>
          <p:cNvPr id="175" name="组合 174"/>
          <p:cNvGrpSpPr/>
          <p:nvPr/>
        </p:nvGrpSpPr>
        <p:grpSpPr bwMode="gray">
          <a:xfrm>
            <a:off x="3142063" y="5081406"/>
            <a:ext cx="585289" cy="248087"/>
            <a:chOff x="3229772" y="2341282"/>
            <a:chExt cx="585289" cy="248087"/>
          </a:xfrm>
        </p:grpSpPr>
        <p:cxnSp>
          <p:nvCxnSpPr>
            <p:cNvPr id="222" name="直接连接符 221"/>
            <p:cNvCxnSpPr/>
            <p:nvPr/>
          </p:nvCxnSpPr>
          <p:spPr bwMode="gray">
            <a:xfrm flipH="1">
              <a:off x="3229772" y="242177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bwMode="gray">
            <a:xfrm flipH="1">
              <a:off x="3229772" y="2509241"/>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229" name="椭圆 228"/>
            <p:cNvSpPr/>
            <p:nvPr/>
          </p:nvSpPr>
          <p:spPr bwMode="gray">
            <a:xfrm>
              <a:off x="3455707" y="2341282"/>
              <a:ext cx="130330"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31" name="文本框 230"/>
          <p:cNvSpPr txBox="1"/>
          <p:nvPr/>
        </p:nvSpPr>
        <p:spPr bwMode="gray">
          <a:xfrm>
            <a:off x="674125" y="5378035"/>
            <a:ext cx="1385259" cy="463965"/>
          </a:xfrm>
          <a:prstGeom prst="rect">
            <a:avLst/>
          </a:prstGeom>
          <a:noFill/>
        </p:spPr>
        <p:txBody>
          <a:bodyPr wrap="square" rtlCol="0">
            <a:noAutofit/>
          </a:bodyPr>
          <a:lstStyle>
            <a:defPPr>
              <a:defRPr lang="en-US"/>
            </a:defPPr>
            <a:lvl1pPr fontAlgn="base">
              <a:defRPr sz="1200">
                <a:latin typeface="Huawei Sans" panose="020C0503030203020204" pitchFamily="34" charset="0"/>
                <a:ea typeface="方正兰亭黑简体" panose="02000000000000000000" pitchFamily="2" charset="-122"/>
              </a:defRPr>
            </a:lvl1pPr>
          </a:lstStyle>
          <a:p>
            <a:pPr algn="ctr"/>
            <a:r>
              <a:rPr lang="zh-CN" altLang="en-US" sz="1400" dirty="0">
                <a:sym typeface="Huawei Sans" panose="020C0503030203020204" pitchFamily="34" charset="0"/>
              </a:rPr>
              <a:t>单路由器对接</a:t>
            </a:r>
            <a:endParaRPr lang="en-US" altLang="zh-CN" sz="1400" dirty="0">
              <a:sym typeface="Huawei Sans" panose="020C0503030203020204" pitchFamily="34" charset="0"/>
            </a:endParaRPr>
          </a:p>
          <a:p>
            <a:pPr algn="ctr"/>
            <a:r>
              <a:rPr lang="zh-CN" altLang="en-US" sz="1400" dirty="0">
                <a:sym typeface="Huawei Sans" panose="020C0503030203020204" pitchFamily="34" charset="0"/>
              </a:rPr>
              <a:t>单核心交换机</a:t>
            </a:r>
            <a:endParaRPr lang="en-US" altLang="zh-CN" sz="1400" dirty="0">
              <a:sym typeface="Huawei Sans" panose="020C0503030203020204" pitchFamily="34" charset="0"/>
            </a:endParaRPr>
          </a:p>
        </p:txBody>
      </p:sp>
      <p:sp>
        <p:nvSpPr>
          <p:cNvPr id="232" name="文本框 231"/>
          <p:cNvSpPr txBox="1"/>
          <p:nvPr/>
        </p:nvSpPr>
        <p:spPr bwMode="gray">
          <a:xfrm>
            <a:off x="2443152" y="5379956"/>
            <a:ext cx="1934855" cy="466459"/>
          </a:xfrm>
          <a:prstGeom prst="rect">
            <a:avLst/>
          </a:prstGeom>
          <a:noFill/>
        </p:spPr>
        <p:txBody>
          <a:bodyPr wrap="square" rtlCol="0">
            <a:noAutofit/>
          </a:bodyPr>
          <a:lstStyle>
            <a:defPPr>
              <a:defRPr lang="en-US"/>
            </a:defPPr>
            <a:lvl1pPr fontAlgn="base">
              <a:defRPr sz="1200">
                <a:latin typeface="Huawei Sans" panose="020C0503030203020204" pitchFamily="34" charset="0"/>
                <a:ea typeface="方正兰亭黑简体" panose="02000000000000000000" pitchFamily="2" charset="-122"/>
              </a:defRPr>
            </a:lvl1pPr>
          </a:lstStyle>
          <a:p>
            <a:pPr algn="ctr"/>
            <a:r>
              <a:rPr lang="zh-CN" altLang="en-US" sz="1400" dirty="0">
                <a:sym typeface="Huawei Sans" panose="020C0503030203020204" pitchFamily="34" charset="0"/>
              </a:rPr>
              <a:t>双路由器口型对接</a:t>
            </a:r>
            <a:endParaRPr lang="en-US" altLang="zh-CN" sz="1400" dirty="0">
              <a:sym typeface="Huawei Sans" panose="020C0503030203020204" pitchFamily="34" charset="0"/>
            </a:endParaRPr>
          </a:p>
          <a:p>
            <a:pPr algn="ctr"/>
            <a:r>
              <a:rPr lang="zh-CN" altLang="en-US" sz="1400" dirty="0">
                <a:sym typeface="Huawei Sans" panose="020C0503030203020204" pitchFamily="34" charset="0"/>
              </a:rPr>
              <a:t>堆叠核心交换机</a:t>
            </a:r>
            <a:endParaRPr lang="en-US" altLang="zh-CN" sz="1400" dirty="0">
              <a:sym typeface="Huawei Sans" panose="020C0503030203020204" pitchFamily="34" charset="0"/>
            </a:endParaRPr>
          </a:p>
        </p:txBody>
      </p:sp>
      <p:pic>
        <p:nvPicPr>
          <p:cNvPr id="233" name="Picture 2" descr="G:\做的项目\公共\扁平图标切换\更新2015_01_21\oss扁平图标库2015_01_21更新-04.png"/>
          <p:cNvPicPr>
            <a:picLocks noChangeAspect="1" noChangeArrowheads="1"/>
          </p:cNvPicPr>
          <p:nvPr/>
        </p:nvPicPr>
        <p:blipFill>
          <a:blip r:embed="rId4"/>
          <a:stretch>
            <a:fillRect/>
          </a:stretch>
        </p:blipFill>
        <p:spPr bwMode="gray">
          <a:xfrm>
            <a:off x="1697083" y="4076257"/>
            <a:ext cx="369473" cy="302297"/>
          </a:xfrm>
          <a:prstGeom prst="rect">
            <a:avLst/>
          </a:prstGeom>
          <a:noFill/>
        </p:spPr>
      </p:pic>
      <p:pic>
        <p:nvPicPr>
          <p:cNvPr id="234" name="Picture 2" descr="G:\做的项目\公共\扁平图标切换\更新2015_01_21\oss扁平图标库2015_01_21更新-04.png"/>
          <p:cNvPicPr>
            <a:picLocks noChangeAspect="1" noChangeArrowheads="1"/>
          </p:cNvPicPr>
          <p:nvPr/>
        </p:nvPicPr>
        <p:blipFill>
          <a:blip r:embed="rId4"/>
          <a:stretch>
            <a:fillRect/>
          </a:stretch>
        </p:blipFill>
        <p:spPr bwMode="gray">
          <a:xfrm>
            <a:off x="2771262" y="4078178"/>
            <a:ext cx="369473" cy="302297"/>
          </a:xfrm>
          <a:prstGeom prst="rect">
            <a:avLst/>
          </a:prstGeom>
          <a:noFill/>
        </p:spPr>
      </p:pic>
      <p:pic>
        <p:nvPicPr>
          <p:cNvPr id="235" name="Picture 2" descr="G:\做的项目\公共\扁平图标切换\更新2015_01_21\oss扁平图标库2015_01_21更新-04.png"/>
          <p:cNvPicPr>
            <a:picLocks noChangeAspect="1" noChangeArrowheads="1"/>
          </p:cNvPicPr>
          <p:nvPr/>
        </p:nvPicPr>
        <p:blipFill>
          <a:blip r:embed="rId4"/>
          <a:stretch>
            <a:fillRect/>
          </a:stretch>
        </p:blipFill>
        <p:spPr bwMode="gray">
          <a:xfrm>
            <a:off x="3726511" y="4078178"/>
            <a:ext cx="369473" cy="302297"/>
          </a:xfrm>
          <a:prstGeom prst="rect">
            <a:avLst/>
          </a:prstGeom>
          <a:noFill/>
        </p:spPr>
      </p:pic>
      <p:pic>
        <p:nvPicPr>
          <p:cNvPr id="236"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4782940" y="1644706"/>
            <a:ext cx="369473" cy="302297"/>
          </a:xfrm>
          <a:prstGeom prst="rect">
            <a:avLst/>
          </a:prstGeom>
        </p:spPr>
      </p:pic>
      <p:pic>
        <p:nvPicPr>
          <p:cNvPr id="237"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5739029" y="1644706"/>
            <a:ext cx="369473" cy="302297"/>
          </a:xfrm>
          <a:prstGeom prst="rect">
            <a:avLst/>
          </a:prstGeom>
        </p:spPr>
      </p:pic>
      <p:cxnSp>
        <p:nvCxnSpPr>
          <p:cNvPr id="238" name="直接连接符 237"/>
          <p:cNvCxnSpPr>
            <a:stCxn id="237" idx="1"/>
            <a:endCxn id="236" idx="3"/>
          </p:cNvCxnSpPr>
          <p:nvPr/>
        </p:nvCxnSpPr>
        <p:spPr bwMode="gray">
          <a:xfrm flipH="1">
            <a:off x="5152413" y="1795855"/>
            <a:ext cx="586616"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pic>
        <p:nvPicPr>
          <p:cNvPr id="239" name="图片 86" descr="核心交换机.png"/>
          <p:cNvPicPr>
            <a:picLocks noChangeAspect="1"/>
          </p:cNvPicPr>
          <p:nvPr/>
        </p:nvPicPr>
        <p:blipFill>
          <a:blip r:embed="rId5" cstate="print"/>
          <a:stretch>
            <a:fillRect/>
          </a:stretch>
        </p:blipFill>
        <p:spPr bwMode="gray">
          <a:xfrm>
            <a:off x="4781613" y="2634085"/>
            <a:ext cx="370800" cy="303383"/>
          </a:xfrm>
          <a:prstGeom prst="rect">
            <a:avLst/>
          </a:prstGeom>
        </p:spPr>
      </p:pic>
      <p:cxnSp>
        <p:nvCxnSpPr>
          <p:cNvPr id="240" name="直接连接符 239"/>
          <p:cNvCxnSpPr>
            <a:stCxn id="236" idx="2"/>
            <a:endCxn id="239" idx="0"/>
          </p:cNvCxnSpPr>
          <p:nvPr/>
        </p:nvCxnSpPr>
        <p:spPr bwMode="gray">
          <a:xfrm flipH="1">
            <a:off x="4967013" y="1947003"/>
            <a:ext cx="664" cy="6870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a:stCxn id="237" idx="2"/>
            <a:endCxn id="242" idx="0"/>
          </p:cNvCxnSpPr>
          <p:nvPr/>
        </p:nvCxnSpPr>
        <p:spPr bwMode="gray">
          <a:xfrm flipH="1">
            <a:off x="5923102" y="1947003"/>
            <a:ext cx="664" cy="6870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2" name="图片 86" descr="核心交换机.png"/>
          <p:cNvPicPr>
            <a:picLocks noChangeAspect="1"/>
          </p:cNvPicPr>
          <p:nvPr/>
        </p:nvPicPr>
        <p:blipFill>
          <a:blip r:embed="rId5" cstate="print"/>
          <a:stretch>
            <a:fillRect/>
          </a:stretch>
        </p:blipFill>
        <p:spPr bwMode="gray">
          <a:xfrm>
            <a:off x="5737702" y="2634085"/>
            <a:ext cx="370800" cy="303383"/>
          </a:xfrm>
          <a:prstGeom prst="rect">
            <a:avLst/>
          </a:prstGeom>
        </p:spPr>
      </p:pic>
      <p:grpSp>
        <p:nvGrpSpPr>
          <p:cNvPr id="243" name="组合 242"/>
          <p:cNvGrpSpPr/>
          <p:nvPr/>
        </p:nvGrpSpPr>
        <p:grpSpPr bwMode="gray">
          <a:xfrm>
            <a:off x="5152413" y="2657577"/>
            <a:ext cx="585289" cy="248087"/>
            <a:chOff x="3229772" y="2341282"/>
            <a:chExt cx="585289" cy="248087"/>
          </a:xfrm>
        </p:grpSpPr>
        <p:cxnSp>
          <p:nvCxnSpPr>
            <p:cNvPr id="244" name="直接连接符 243"/>
            <p:cNvCxnSpPr/>
            <p:nvPr/>
          </p:nvCxnSpPr>
          <p:spPr bwMode="gray">
            <a:xfrm flipH="1">
              <a:off x="3229772" y="242177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bwMode="gray">
            <a:xfrm flipH="1">
              <a:off x="3229772" y="2509241"/>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246" name="椭圆 245"/>
            <p:cNvSpPr/>
            <p:nvPr/>
          </p:nvSpPr>
          <p:spPr bwMode="gray">
            <a:xfrm>
              <a:off x="3455707" y="2341282"/>
              <a:ext cx="130330"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8" name="文本框 247"/>
          <p:cNvSpPr txBox="1"/>
          <p:nvPr/>
        </p:nvSpPr>
        <p:spPr bwMode="gray">
          <a:xfrm>
            <a:off x="4735675" y="2965770"/>
            <a:ext cx="1429455" cy="445960"/>
          </a:xfrm>
          <a:prstGeom prst="rect">
            <a:avLst/>
          </a:prstGeom>
          <a:noFill/>
        </p:spPr>
        <p:txBody>
          <a:bodyPr wrap="square" rtlCol="0">
            <a:noAutofit/>
          </a:bodyPr>
          <a:lstStyle>
            <a:defPPr>
              <a:defRPr lang="en-US"/>
            </a:defPPr>
            <a:lvl1pPr fontAlgn="base">
              <a:defRPr sz="1200">
                <a:latin typeface="Huawei Sans" panose="020C0503030203020204" pitchFamily="34" charset="0"/>
                <a:ea typeface="方正兰亭黑简体" panose="02000000000000000000" pitchFamily="2" charset="-122"/>
              </a:defRPr>
            </a:lvl1pPr>
          </a:lstStyle>
          <a:p>
            <a:pPr algn="ctr"/>
            <a:r>
              <a:rPr lang="zh-CN" altLang="en-US" sz="1400" dirty="0">
                <a:sym typeface="Huawei Sans" panose="020C0503030203020204" pitchFamily="34" charset="0"/>
              </a:rPr>
              <a:t>双</a:t>
            </a:r>
            <a:r>
              <a:rPr lang="en-US" altLang="zh-CN" sz="1400" dirty="0">
                <a:sym typeface="Huawei Sans" panose="020C0503030203020204" pitchFamily="34" charset="0"/>
              </a:rPr>
              <a:t>FW</a:t>
            </a:r>
            <a:r>
              <a:rPr lang="zh-CN" altLang="en-US" sz="1400" dirty="0">
                <a:sym typeface="Huawei Sans" panose="020C0503030203020204" pitchFamily="34" charset="0"/>
              </a:rPr>
              <a:t>交叉对接</a:t>
            </a:r>
            <a:endParaRPr lang="en-US" altLang="zh-CN" sz="1400" dirty="0">
              <a:sym typeface="Huawei Sans" panose="020C0503030203020204" pitchFamily="34" charset="0"/>
            </a:endParaRPr>
          </a:p>
          <a:p>
            <a:pPr algn="ctr"/>
            <a:r>
              <a:rPr lang="zh-CN" altLang="en-US" sz="1400" dirty="0">
                <a:sym typeface="Huawei Sans" panose="020C0503030203020204" pitchFamily="34" charset="0"/>
              </a:rPr>
              <a:t>堆叠核心交换机</a:t>
            </a:r>
            <a:endParaRPr lang="en-US" altLang="zh-CN" sz="1400" dirty="0">
              <a:sym typeface="Huawei Sans" panose="020C0503030203020204" pitchFamily="34" charset="0"/>
            </a:endParaRPr>
          </a:p>
        </p:txBody>
      </p:sp>
      <p:cxnSp>
        <p:nvCxnSpPr>
          <p:cNvPr id="249" name="直接连接符 248"/>
          <p:cNvCxnSpPr>
            <a:stCxn id="237" idx="2"/>
            <a:endCxn id="239" idx="0"/>
          </p:cNvCxnSpPr>
          <p:nvPr/>
        </p:nvCxnSpPr>
        <p:spPr bwMode="gray">
          <a:xfrm flipH="1">
            <a:off x="4967013" y="1947003"/>
            <a:ext cx="956753" cy="6870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a:stCxn id="242" idx="0"/>
            <a:endCxn id="236" idx="2"/>
          </p:cNvCxnSpPr>
          <p:nvPr/>
        </p:nvCxnSpPr>
        <p:spPr bwMode="gray">
          <a:xfrm flipH="1" flipV="1">
            <a:off x="4967677" y="1947003"/>
            <a:ext cx="955425" cy="6870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1" name="椭圆 250"/>
          <p:cNvSpPr/>
          <p:nvPr/>
        </p:nvSpPr>
        <p:spPr bwMode="gray">
          <a:xfrm rot="20368889">
            <a:off x="4863990" y="2080163"/>
            <a:ext cx="468270"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2" name="椭圆 251"/>
          <p:cNvSpPr/>
          <p:nvPr/>
        </p:nvSpPr>
        <p:spPr bwMode="gray">
          <a:xfrm rot="1171769">
            <a:off x="5580902" y="2076702"/>
            <a:ext cx="468270"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3" name="直接连接符 252"/>
          <p:cNvCxnSpPr/>
          <p:nvPr/>
        </p:nvCxnSpPr>
        <p:spPr bwMode="grayWhite">
          <a:xfrm flipH="1">
            <a:off x="5152414" y="4210041"/>
            <a:ext cx="5866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54" name="图片 86" descr="核心交换机.png"/>
          <p:cNvPicPr>
            <a:picLocks noChangeAspect="1"/>
          </p:cNvPicPr>
          <p:nvPr/>
        </p:nvPicPr>
        <p:blipFill>
          <a:blip r:embed="rId5" cstate="print"/>
          <a:stretch>
            <a:fillRect/>
          </a:stretch>
        </p:blipFill>
        <p:spPr bwMode="gray">
          <a:xfrm>
            <a:off x="4781614" y="5048271"/>
            <a:ext cx="370800" cy="303383"/>
          </a:xfrm>
          <a:prstGeom prst="rect">
            <a:avLst/>
          </a:prstGeom>
        </p:spPr>
      </p:pic>
      <p:cxnSp>
        <p:nvCxnSpPr>
          <p:cNvPr id="255" name="直接连接符 254"/>
          <p:cNvCxnSpPr>
            <a:endCxn id="254" idx="0"/>
          </p:cNvCxnSpPr>
          <p:nvPr/>
        </p:nvCxnSpPr>
        <p:spPr bwMode="gray">
          <a:xfrm flipH="1">
            <a:off x="4967014" y="4361189"/>
            <a:ext cx="664" cy="6870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bwMode="gray">
          <a:xfrm flipH="1">
            <a:off x="5923103" y="4361189"/>
            <a:ext cx="664" cy="6870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57" name="图片 86" descr="核心交换机.png"/>
          <p:cNvPicPr>
            <a:picLocks noChangeAspect="1"/>
          </p:cNvPicPr>
          <p:nvPr/>
        </p:nvPicPr>
        <p:blipFill>
          <a:blip r:embed="rId5" cstate="print"/>
          <a:stretch>
            <a:fillRect/>
          </a:stretch>
        </p:blipFill>
        <p:spPr bwMode="gray">
          <a:xfrm>
            <a:off x="5737703" y="5048271"/>
            <a:ext cx="370800" cy="303383"/>
          </a:xfrm>
          <a:prstGeom prst="rect">
            <a:avLst/>
          </a:prstGeom>
        </p:spPr>
      </p:pic>
      <p:grpSp>
        <p:nvGrpSpPr>
          <p:cNvPr id="258" name="组合 257"/>
          <p:cNvGrpSpPr/>
          <p:nvPr/>
        </p:nvGrpSpPr>
        <p:grpSpPr bwMode="gray">
          <a:xfrm>
            <a:off x="5152414" y="5071763"/>
            <a:ext cx="585289" cy="248087"/>
            <a:chOff x="3229772" y="2341282"/>
            <a:chExt cx="585289" cy="248087"/>
          </a:xfrm>
        </p:grpSpPr>
        <p:cxnSp>
          <p:nvCxnSpPr>
            <p:cNvPr id="259" name="直接连接符 258"/>
            <p:cNvCxnSpPr/>
            <p:nvPr/>
          </p:nvCxnSpPr>
          <p:spPr bwMode="gray">
            <a:xfrm flipH="1">
              <a:off x="3229772" y="242177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bwMode="gray">
            <a:xfrm flipH="1">
              <a:off x="3229772" y="2509241"/>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261" name="椭圆 260"/>
            <p:cNvSpPr/>
            <p:nvPr/>
          </p:nvSpPr>
          <p:spPr bwMode="gray">
            <a:xfrm>
              <a:off x="3455707" y="2341282"/>
              <a:ext cx="130330"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3" name="文本框 262"/>
          <p:cNvSpPr txBox="1"/>
          <p:nvPr/>
        </p:nvSpPr>
        <p:spPr bwMode="gray">
          <a:xfrm>
            <a:off x="4460673" y="5379956"/>
            <a:ext cx="1934855" cy="462044"/>
          </a:xfrm>
          <a:prstGeom prst="rect">
            <a:avLst/>
          </a:prstGeom>
          <a:noFill/>
        </p:spPr>
        <p:txBody>
          <a:bodyPr wrap="square" rtlCol="0">
            <a:noAutofit/>
          </a:bodyPr>
          <a:lstStyle>
            <a:defPPr>
              <a:defRPr lang="en-US"/>
            </a:defPPr>
            <a:lvl1pPr fontAlgn="base">
              <a:defRPr sz="1200">
                <a:latin typeface="Huawei Sans" panose="020C0503030203020204" pitchFamily="34" charset="0"/>
                <a:ea typeface="方正兰亭黑简体" panose="02000000000000000000" pitchFamily="2" charset="-122"/>
              </a:defRPr>
            </a:lvl1pPr>
          </a:lstStyle>
          <a:p>
            <a:pPr algn="ctr"/>
            <a:r>
              <a:rPr lang="zh-CN" altLang="en-US" sz="1400" dirty="0">
                <a:sym typeface="Huawei Sans" panose="020C0503030203020204" pitchFamily="34" charset="0"/>
              </a:rPr>
              <a:t>双路由器交叉对接</a:t>
            </a:r>
            <a:endParaRPr lang="en-US" altLang="zh-CN" sz="1400" dirty="0">
              <a:sym typeface="Huawei Sans" panose="020C0503030203020204" pitchFamily="34" charset="0"/>
            </a:endParaRPr>
          </a:p>
          <a:p>
            <a:pPr algn="ctr"/>
            <a:r>
              <a:rPr lang="zh-CN" altLang="en-US" sz="1400" dirty="0">
                <a:sym typeface="Huawei Sans" panose="020C0503030203020204" pitchFamily="34" charset="0"/>
              </a:rPr>
              <a:t>堆叠核心交换机</a:t>
            </a:r>
            <a:endParaRPr lang="en-US" altLang="zh-CN" sz="1400" dirty="0">
              <a:sym typeface="Huawei Sans" panose="020C0503030203020204" pitchFamily="34" charset="0"/>
            </a:endParaRPr>
          </a:p>
        </p:txBody>
      </p:sp>
      <p:cxnSp>
        <p:nvCxnSpPr>
          <p:cNvPr id="264" name="直接连接符 263"/>
          <p:cNvCxnSpPr>
            <a:endCxn id="254" idx="0"/>
          </p:cNvCxnSpPr>
          <p:nvPr/>
        </p:nvCxnSpPr>
        <p:spPr bwMode="gray">
          <a:xfrm flipH="1">
            <a:off x="4967014" y="4361189"/>
            <a:ext cx="956753" cy="6870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a:stCxn id="257" idx="0"/>
          </p:cNvCxnSpPr>
          <p:nvPr/>
        </p:nvCxnSpPr>
        <p:spPr bwMode="gray">
          <a:xfrm flipH="1" flipV="1">
            <a:off x="4967678" y="4361189"/>
            <a:ext cx="955425" cy="6870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6" name="椭圆 265"/>
          <p:cNvSpPr/>
          <p:nvPr/>
        </p:nvSpPr>
        <p:spPr bwMode="gray">
          <a:xfrm rot="20368889">
            <a:off x="4863991" y="4494349"/>
            <a:ext cx="468270"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7" name="椭圆 266"/>
          <p:cNvSpPr/>
          <p:nvPr/>
        </p:nvSpPr>
        <p:spPr bwMode="gray">
          <a:xfrm rot="1171769">
            <a:off x="5580903" y="4490888"/>
            <a:ext cx="468270"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8" name="Picture 2" descr="G:\做的项目\公共\扁平图标切换\更新2015_01_21\oss扁平图标库2015_01_21更新-04.png"/>
          <p:cNvPicPr>
            <a:picLocks noChangeAspect="1" noChangeArrowheads="1"/>
          </p:cNvPicPr>
          <p:nvPr/>
        </p:nvPicPr>
        <p:blipFill>
          <a:blip r:embed="rId4"/>
          <a:stretch>
            <a:fillRect/>
          </a:stretch>
        </p:blipFill>
        <p:spPr bwMode="gray">
          <a:xfrm>
            <a:off x="4781613" y="4068535"/>
            <a:ext cx="369473" cy="302297"/>
          </a:xfrm>
          <a:prstGeom prst="rect">
            <a:avLst/>
          </a:prstGeom>
          <a:noFill/>
        </p:spPr>
      </p:pic>
      <p:pic>
        <p:nvPicPr>
          <p:cNvPr id="269" name="Picture 2" descr="G:\做的项目\公共\扁平图标切换\更新2015_01_21\oss扁平图标库2015_01_21更新-04.png"/>
          <p:cNvPicPr>
            <a:picLocks noChangeAspect="1" noChangeArrowheads="1"/>
          </p:cNvPicPr>
          <p:nvPr/>
        </p:nvPicPr>
        <p:blipFill>
          <a:blip r:embed="rId4"/>
          <a:stretch>
            <a:fillRect/>
          </a:stretch>
        </p:blipFill>
        <p:spPr bwMode="gray">
          <a:xfrm>
            <a:off x="5736862" y="4068535"/>
            <a:ext cx="369473" cy="302297"/>
          </a:xfrm>
          <a:prstGeom prst="rect">
            <a:avLst/>
          </a:prstGeom>
          <a:noFill/>
        </p:spPr>
      </p:pic>
      <p:grpSp>
        <p:nvGrpSpPr>
          <p:cNvPr id="270" name="组合 269"/>
          <p:cNvGrpSpPr/>
          <p:nvPr/>
        </p:nvGrpSpPr>
        <p:grpSpPr bwMode="gray">
          <a:xfrm>
            <a:off x="2847157" y="1942691"/>
            <a:ext cx="184737" cy="682637"/>
            <a:chOff x="3281159" y="1629587"/>
            <a:chExt cx="184737" cy="682637"/>
          </a:xfrm>
        </p:grpSpPr>
        <p:cxnSp>
          <p:nvCxnSpPr>
            <p:cNvPr id="271" name="直接连接符 270"/>
            <p:cNvCxnSpPr/>
            <p:nvPr/>
          </p:nvCxnSpPr>
          <p:spPr bwMode="gray">
            <a:xfrm>
              <a:off x="3348436" y="1629835"/>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bwMode="gray">
            <a:xfrm>
              <a:off x="3403576" y="1629587"/>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3" name="椭圆 272"/>
            <p:cNvSpPr/>
            <p:nvPr/>
          </p:nvSpPr>
          <p:spPr bwMode="gray">
            <a:xfrm>
              <a:off x="3281159" y="1837426"/>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4" name="组合 273"/>
          <p:cNvGrpSpPr/>
          <p:nvPr/>
        </p:nvGrpSpPr>
        <p:grpSpPr bwMode="gray">
          <a:xfrm>
            <a:off x="3800923" y="1942053"/>
            <a:ext cx="184737" cy="682637"/>
            <a:chOff x="3281159" y="1629587"/>
            <a:chExt cx="184737" cy="682637"/>
          </a:xfrm>
        </p:grpSpPr>
        <p:cxnSp>
          <p:nvCxnSpPr>
            <p:cNvPr id="275" name="直接连接符 274"/>
            <p:cNvCxnSpPr/>
            <p:nvPr/>
          </p:nvCxnSpPr>
          <p:spPr bwMode="gray">
            <a:xfrm>
              <a:off x="3348436" y="1629835"/>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p:nvPr/>
          </p:nvCxnSpPr>
          <p:spPr bwMode="gray">
            <a:xfrm>
              <a:off x="3403576" y="1629587"/>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7" name="椭圆 276"/>
            <p:cNvSpPr/>
            <p:nvPr/>
          </p:nvSpPr>
          <p:spPr bwMode="gray">
            <a:xfrm>
              <a:off x="3281159" y="1837426"/>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8" name="组合 277"/>
          <p:cNvGrpSpPr/>
          <p:nvPr/>
        </p:nvGrpSpPr>
        <p:grpSpPr bwMode="gray">
          <a:xfrm>
            <a:off x="2846721" y="4382601"/>
            <a:ext cx="184737" cy="682637"/>
            <a:chOff x="3281159" y="1629587"/>
            <a:chExt cx="184737" cy="682637"/>
          </a:xfrm>
        </p:grpSpPr>
        <p:cxnSp>
          <p:nvCxnSpPr>
            <p:cNvPr id="279" name="直接连接符 278"/>
            <p:cNvCxnSpPr/>
            <p:nvPr/>
          </p:nvCxnSpPr>
          <p:spPr bwMode="gray">
            <a:xfrm>
              <a:off x="3348436" y="1629835"/>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bwMode="gray">
            <a:xfrm>
              <a:off x="3403576" y="1629587"/>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1" name="椭圆 280"/>
            <p:cNvSpPr/>
            <p:nvPr/>
          </p:nvSpPr>
          <p:spPr bwMode="gray">
            <a:xfrm>
              <a:off x="3281159" y="1837426"/>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2" name="组合 281"/>
          <p:cNvGrpSpPr/>
          <p:nvPr/>
        </p:nvGrpSpPr>
        <p:grpSpPr bwMode="gray">
          <a:xfrm>
            <a:off x="3800923" y="4383188"/>
            <a:ext cx="184737" cy="682637"/>
            <a:chOff x="3281159" y="1629587"/>
            <a:chExt cx="184737" cy="682637"/>
          </a:xfrm>
        </p:grpSpPr>
        <p:cxnSp>
          <p:nvCxnSpPr>
            <p:cNvPr id="283" name="直接连接符 282"/>
            <p:cNvCxnSpPr/>
            <p:nvPr/>
          </p:nvCxnSpPr>
          <p:spPr bwMode="gray">
            <a:xfrm>
              <a:off x="3348436" y="1629835"/>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4" name="直接连接符 283"/>
            <p:cNvCxnSpPr/>
            <p:nvPr/>
          </p:nvCxnSpPr>
          <p:spPr bwMode="gray">
            <a:xfrm>
              <a:off x="3403576" y="1629587"/>
              <a:ext cx="663" cy="6823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椭圆 284"/>
            <p:cNvSpPr/>
            <p:nvPr/>
          </p:nvSpPr>
          <p:spPr bwMode="gray">
            <a:xfrm>
              <a:off x="3281159" y="1837426"/>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86" name="圆角矩形 75"/>
          <p:cNvSpPr/>
          <p:nvPr/>
        </p:nvSpPr>
        <p:spPr bwMode="gray">
          <a:xfrm>
            <a:off x="6455645" y="1300346"/>
            <a:ext cx="489410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连接</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侧设计</a:t>
            </a:r>
          </a:p>
        </p:txBody>
      </p:sp>
      <p:sp>
        <p:nvSpPr>
          <p:cNvPr id="287" name="圆角矩形 75"/>
          <p:cNvSpPr/>
          <p:nvPr/>
        </p:nvSpPr>
        <p:spPr bwMode="gray">
          <a:xfrm>
            <a:off x="6455645" y="1696344"/>
            <a:ext cx="4894110" cy="3071517"/>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marL="176213" indent="-176213" fontAlgn="base">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核心交换机建议采用集群</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堆叠部署，形成逻辑上的一台交换机，提供了核心交换设备的可靠性。</a:t>
            </a:r>
          </a:p>
          <a:p>
            <a:pPr marL="176213" indent="-176213" fontAlgn="base">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口网关通常采用双机部署来满足可靠性要求，对于不同种类的网关设备，支持的双机部署能力稍有差异，例如防火墙双机之间的链路一般仅用于双机心跳及表项同步使用，不作为流量转发通道；而路由器双网关之间的链路则可作为业务互联通道，同时可实现设备间信息的同步和备份。</a:t>
            </a:r>
          </a:p>
          <a:p>
            <a:pPr marL="176213" indent="-176213" fontAlgn="base">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出口网关和核心交换机之间推荐使用交叉对接，并采用链路聚合的方案增强设备间链路层面的可靠性和转发带宽。</a:t>
            </a:r>
          </a:p>
        </p:txBody>
      </p:sp>
      <p:cxnSp>
        <p:nvCxnSpPr>
          <p:cNvPr id="290" name="直接连接符 289"/>
          <p:cNvCxnSpPr/>
          <p:nvPr/>
        </p:nvCxnSpPr>
        <p:spPr bwMode="grayWhite">
          <a:xfrm flipH="1">
            <a:off x="9784488" y="5483644"/>
            <a:ext cx="360000" cy="0"/>
          </a:xfrm>
          <a:prstGeom prst="line">
            <a:avLst/>
          </a:prstGeom>
          <a:ln w="19050">
            <a:solidFill>
              <a:srgbClr val="C7000B"/>
            </a:solidFill>
            <a:prstDash val="dash"/>
          </a:ln>
        </p:spPr>
        <p:style>
          <a:lnRef idx="1">
            <a:schemeClr val="accent1"/>
          </a:lnRef>
          <a:fillRef idx="0">
            <a:schemeClr val="accent1"/>
          </a:fillRef>
          <a:effectRef idx="0">
            <a:schemeClr val="accent1"/>
          </a:effectRef>
          <a:fontRef idx="minor">
            <a:schemeClr val="tx1"/>
          </a:fontRef>
        </p:style>
      </p:cxnSp>
      <p:sp>
        <p:nvSpPr>
          <p:cNvPr id="291" name="文本框 290"/>
          <p:cNvSpPr txBox="1"/>
          <p:nvPr/>
        </p:nvSpPr>
        <p:spPr bwMode="gray">
          <a:xfrm>
            <a:off x="10144488" y="5334192"/>
            <a:ext cx="1176472"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pPr fontAlgn="ctr"/>
            <a:r>
              <a:rPr lang="zh-CN" altLang="en-US" sz="1200" dirty="0">
                <a:sym typeface="Huawei Sans" panose="020C0503030203020204" pitchFamily="34" charset="0"/>
              </a:rPr>
              <a:t>心跳热备链路</a:t>
            </a:r>
            <a:endParaRPr lang="en-US" altLang="zh-CN" sz="1200" dirty="0">
              <a:sym typeface="Huawei Sans" panose="020C0503030203020204" pitchFamily="34" charset="0"/>
            </a:endParaRPr>
          </a:p>
        </p:txBody>
      </p:sp>
      <p:grpSp>
        <p:nvGrpSpPr>
          <p:cNvPr id="292" name="组合 291"/>
          <p:cNvGrpSpPr/>
          <p:nvPr/>
        </p:nvGrpSpPr>
        <p:grpSpPr bwMode="gray">
          <a:xfrm>
            <a:off x="9783500" y="5657762"/>
            <a:ext cx="361977" cy="230167"/>
            <a:chOff x="3229772" y="2341282"/>
            <a:chExt cx="585289" cy="248087"/>
          </a:xfrm>
        </p:grpSpPr>
        <p:cxnSp>
          <p:nvCxnSpPr>
            <p:cNvPr id="293" name="直接连接符 292"/>
            <p:cNvCxnSpPr/>
            <p:nvPr/>
          </p:nvCxnSpPr>
          <p:spPr bwMode="gray">
            <a:xfrm flipH="1">
              <a:off x="3229772" y="242177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94" name="直接连接符 293"/>
            <p:cNvCxnSpPr/>
            <p:nvPr/>
          </p:nvCxnSpPr>
          <p:spPr bwMode="gray">
            <a:xfrm flipH="1">
              <a:off x="3229772" y="2509241"/>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295" name="椭圆 294"/>
            <p:cNvSpPr/>
            <p:nvPr/>
          </p:nvSpPr>
          <p:spPr bwMode="gray">
            <a:xfrm>
              <a:off x="3455707" y="2341282"/>
              <a:ext cx="130330"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96" name="文本框 295"/>
          <p:cNvSpPr txBox="1"/>
          <p:nvPr/>
        </p:nvSpPr>
        <p:spPr bwMode="gray">
          <a:xfrm>
            <a:off x="10182075" y="5628189"/>
            <a:ext cx="1176472"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堆叠</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7" name="椭圆 296"/>
          <p:cNvSpPr/>
          <p:nvPr/>
        </p:nvSpPr>
        <p:spPr bwMode="gray">
          <a:xfrm>
            <a:off x="9872120" y="6001890"/>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8" name="文本框 297"/>
          <p:cNvSpPr txBox="1"/>
          <p:nvPr/>
        </p:nvSpPr>
        <p:spPr bwMode="gray">
          <a:xfrm>
            <a:off x="10182075" y="5905264"/>
            <a:ext cx="1176472"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039347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防火墙双机热备</a:t>
            </a:r>
          </a:p>
        </p:txBody>
      </p:sp>
      <p:sp>
        <p:nvSpPr>
          <p:cNvPr id="15" name="文本占位符 14"/>
          <p:cNvSpPr>
            <a:spLocks noGrp="1"/>
          </p:cNvSpPr>
          <p:nvPr>
            <p:ph type="body" sz="quarter" idx="10"/>
          </p:nvPr>
        </p:nvSpPr>
        <p:spPr>
          <a:xfrm>
            <a:off x="455612" y="1047751"/>
            <a:ext cx="11293475" cy="401638"/>
          </a:xfrm>
        </p:spPr>
        <p:txBody>
          <a:bodyPr/>
          <a:lstStyle/>
          <a:p>
            <a:r>
              <a:rPr lang="zh-CN" altLang="en-US" sz="1800" dirty="0"/>
              <a:t>防火墙作为出口设备时，建议部署双机热备来提升防火墙的可靠性。</a:t>
            </a:r>
          </a:p>
        </p:txBody>
      </p:sp>
      <p:grpSp>
        <p:nvGrpSpPr>
          <p:cNvPr id="21" name="组合 20"/>
          <p:cNvGrpSpPr/>
          <p:nvPr/>
        </p:nvGrpSpPr>
        <p:grpSpPr bwMode="gray">
          <a:xfrm>
            <a:off x="10033538" y="3487449"/>
            <a:ext cx="1562254" cy="848147"/>
            <a:chOff x="9959703" y="3666516"/>
            <a:chExt cx="1562254" cy="848147"/>
          </a:xfrm>
        </p:grpSpPr>
        <p:grpSp>
          <p:nvGrpSpPr>
            <p:cNvPr id="292" name="组合 291"/>
            <p:cNvGrpSpPr/>
            <p:nvPr/>
          </p:nvGrpSpPr>
          <p:grpSpPr bwMode="gray">
            <a:xfrm>
              <a:off x="9959703" y="3696089"/>
              <a:ext cx="361977" cy="230167"/>
              <a:chOff x="3229772" y="2341282"/>
              <a:chExt cx="585289" cy="248087"/>
            </a:xfrm>
          </p:grpSpPr>
          <p:cxnSp>
            <p:nvCxnSpPr>
              <p:cNvPr id="293" name="直接连接符 292"/>
              <p:cNvCxnSpPr/>
              <p:nvPr/>
            </p:nvCxnSpPr>
            <p:spPr bwMode="gray">
              <a:xfrm flipH="1">
                <a:off x="3229772" y="242177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94" name="直接连接符 293"/>
              <p:cNvCxnSpPr/>
              <p:nvPr/>
            </p:nvCxnSpPr>
            <p:spPr bwMode="gray">
              <a:xfrm flipH="1">
                <a:off x="3229772" y="2509241"/>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295" name="椭圆 294"/>
              <p:cNvSpPr/>
              <p:nvPr/>
            </p:nvSpPr>
            <p:spPr bwMode="gray">
              <a:xfrm>
                <a:off x="3455707" y="2341282"/>
                <a:ext cx="130330"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96" name="文本框 295"/>
            <p:cNvSpPr txBox="1"/>
            <p:nvPr/>
          </p:nvSpPr>
          <p:spPr bwMode="gray">
            <a:xfrm>
              <a:off x="10345484" y="3666516"/>
              <a:ext cx="1176472"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堆叠</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7" name="椭圆 296"/>
            <p:cNvSpPr/>
            <p:nvPr/>
          </p:nvSpPr>
          <p:spPr bwMode="gray">
            <a:xfrm>
              <a:off x="10048323" y="4040217"/>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8" name="文本框 297"/>
            <p:cNvSpPr txBox="1"/>
            <p:nvPr/>
          </p:nvSpPr>
          <p:spPr bwMode="gray">
            <a:xfrm>
              <a:off x="10345484" y="3943591"/>
              <a:ext cx="1176472"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7" name="直接连接符 146"/>
            <p:cNvCxnSpPr/>
            <p:nvPr/>
          </p:nvCxnSpPr>
          <p:spPr bwMode="gray">
            <a:xfrm flipH="1">
              <a:off x="9960691" y="4359010"/>
              <a:ext cx="360000" cy="0"/>
            </a:xfrm>
            <a:prstGeom prst="line">
              <a:avLst/>
            </a:prstGeom>
            <a:noFill/>
            <a:ln w="28575">
              <a:solidFill>
                <a:srgbClr val="62B230"/>
              </a:solidFill>
              <a:prstDash val="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48" name="文本框 147"/>
            <p:cNvSpPr txBox="1"/>
            <p:nvPr/>
          </p:nvSpPr>
          <p:spPr bwMode="gray">
            <a:xfrm>
              <a:off x="10345485" y="4209558"/>
              <a:ext cx="1176472"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pPr algn="l"/>
              <a:r>
                <a:rPr lang="zh-CN" altLang="en-US" sz="1200" dirty="0">
                  <a:sym typeface="Huawei Sans" panose="020C0503030203020204" pitchFamily="34" charset="0"/>
                </a:rPr>
                <a:t>业务报文</a:t>
              </a:r>
            </a:p>
          </p:txBody>
        </p:sp>
      </p:grpSp>
      <p:sp>
        <p:nvSpPr>
          <p:cNvPr id="114" name="文本框 113"/>
          <p:cNvSpPr txBox="1"/>
          <p:nvPr/>
        </p:nvSpPr>
        <p:spPr bwMode="gray">
          <a:xfrm>
            <a:off x="2742048" y="2705208"/>
            <a:ext cx="1391674" cy="353212"/>
          </a:xfrm>
          <a:prstGeom prst="rect">
            <a:avLst/>
          </a:prstGeom>
          <a:noFill/>
        </p:spPr>
        <p:txBody>
          <a:bodyPr wrap="square" rtlCol="0">
            <a:noAutofit/>
          </a:bodyPr>
          <a:lstStyle>
            <a:defPPr>
              <a:defRPr lang="en-US"/>
            </a:defPPr>
            <a:lvl1pPr fontAlgn="base">
              <a:defRPr sz="1200">
                <a:latin typeface="Huawei Sans" panose="020C0503030203020204" pitchFamily="34" charset="0"/>
                <a:ea typeface="方正兰亭黑简体" panose="02000000000000000000" pitchFamily="2" charset="-122"/>
              </a:defRPr>
            </a:lvl1pPr>
          </a:lstStyle>
          <a:p>
            <a:pPr algn="ctr"/>
            <a:r>
              <a:rPr lang="zh-CN" altLang="en-US" sz="1400" dirty="0">
                <a:solidFill>
                  <a:srgbClr val="C7000B"/>
                </a:solidFill>
                <a:sym typeface="Huawei Sans" panose="020C0503030203020204" pitchFamily="34" charset="0"/>
              </a:rPr>
              <a:t>双机热备</a:t>
            </a:r>
            <a:endParaRPr lang="en-US" altLang="zh-CN" sz="1400" dirty="0">
              <a:solidFill>
                <a:srgbClr val="C7000B"/>
              </a:solidFill>
              <a:sym typeface="Huawei Sans" panose="020C0503030203020204" pitchFamily="34" charset="0"/>
            </a:endParaRPr>
          </a:p>
        </p:txBody>
      </p:sp>
      <p:grpSp>
        <p:nvGrpSpPr>
          <p:cNvPr id="134" name="组合 133"/>
          <p:cNvGrpSpPr/>
          <p:nvPr/>
        </p:nvGrpSpPr>
        <p:grpSpPr bwMode="gray">
          <a:xfrm>
            <a:off x="2466539" y="3911523"/>
            <a:ext cx="1920191" cy="287204"/>
            <a:chOff x="3229772" y="2341282"/>
            <a:chExt cx="585289" cy="248087"/>
          </a:xfrm>
        </p:grpSpPr>
        <p:cxnSp>
          <p:nvCxnSpPr>
            <p:cNvPr id="135" name="直接连接符 134"/>
            <p:cNvCxnSpPr/>
            <p:nvPr/>
          </p:nvCxnSpPr>
          <p:spPr bwMode="gray">
            <a:xfrm flipH="1">
              <a:off x="3229772" y="244082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bwMode="gray">
            <a:xfrm flipH="1">
              <a:off x="3229772" y="249971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137" name="椭圆 136"/>
            <p:cNvSpPr/>
            <p:nvPr/>
          </p:nvSpPr>
          <p:spPr bwMode="gray">
            <a:xfrm>
              <a:off x="3499390" y="2341282"/>
              <a:ext cx="25088"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74" name="直接连接符 73"/>
          <p:cNvCxnSpPr>
            <a:stCxn id="109" idx="2"/>
            <a:endCxn id="111" idx="0"/>
          </p:cNvCxnSpPr>
          <p:nvPr/>
        </p:nvCxnSpPr>
        <p:spPr bwMode="gray">
          <a:xfrm flipH="1">
            <a:off x="2466539" y="2806394"/>
            <a:ext cx="1" cy="1086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110" idx="2"/>
            <a:endCxn id="112" idx="0"/>
          </p:cNvCxnSpPr>
          <p:nvPr/>
        </p:nvCxnSpPr>
        <p:spPr bwMode="gray">
          <a:xfrm flipH="1">
            <a:off x="4386729" y="2785522"/>
            <a:ext cx="1" cy="11073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1" name="图片 86" descr="核心交换机.png"/>
          <p:cNvPicPr>
            <a:picLocks noChangeAspect="1"/>
          </p:cNvPicPr>
          <p:nvPr/>
        </p:nvPicPr>
        <p:blipFill>
          <a:blip r:embed="rId3" cstate="print"/>
          <a:stretch>
            <a:fillRect/>
          </a:stretch>
        </p:blipFill>
        <p:spPr bwMode="gray">
          <a:xfrm>
            <a:off x="2251907" y="3892843"/>
            <a:ext cx="429265" cy="351218"/>
          </a:xfrm>
          <a:prstGeom prst="rect">
            <a:avLst/>
          </a:prstGeom>
        </p:spPr>
      </p:pic>
      <p:pic>
        <p:nvPicPr>
          <p:cNvPr id="112" name="图片 86" descr="核心交换机.png"/>
          <p:cNvPicPr>
            <a:picLocks noChangeAspect="1"/>
          </p:cNvPicPr>
          <p:nvPr/>
        </p:nvPicPr>
        <p:blipFill>
          <a:blip r:embed="rId3" cstate="print"/>
          <a:stretch>
            <a:fillRect/>
          </a:stretch>
        </p:blipFill>
        <p:spPr bwMode="gray">
          <a:xfrm>
            <a:off x="4172096" y="3892843"/>
            <a:ext cx="429265" cy="351218"/>
          </a:xfrm>
          <a:prstGeom prst="rect">
            <a:avLst/>
          </a:prstGeom>
        </p:spPr>
      </p:pic>
      <p:grpSp>
        <p:nvGrpSpPr>
          <p:cNvPr id="77" name="组合 76"/>
          <p:cNvGrpSpPr/>
          <p:nvPr/>
        </p:nvGrpSpPr>
        <p:grpSpPr bwMode="gray">
          <a:xfrm>
            <a:off x="2466539" y="2466940"/>
            <a:ext cx="2022923" cy="287204"/>
            <a:chOff x="3229772" y="2341282"/>
            <a:chExt cx="585289" cy="248087"/>
          </a:xfrm>
        </p:grpSpPr>
        <p:cxnSp>
          <p:nvCxnSpPr>
            <p:cNvPr id="78" name="直接连接符 77"/>
            <p:cNvCxnSpPr/>
            <p:nvPr/>
          </p:nvCxnSpPr>
          <p:spPr bwMode="gray">
            <a:xfrm flipH="1">
              <a:off x="3229772" y="2440826"/>
              <a:ext cx="5852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bwMode="gray">
            <a:xfrm flipH="1">
              <a:off x="3229772" y="2499716"/>
              <a:ext cx="5852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椭圆 80"/>
            <p:cNvSpPr/>
            <p:nvPr/>
          </p:nvSpPr>
          <p:spPr bwMode="gray">
            <a:xfrm>
              <a:off x="3483115" y="2341282"/>
              <a:ext cx="26397" cy="248087"/>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09"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2252675" y="2456433"/>
            <a:ext cx="427729" cy="349961"/>
          </a:xfrm>
          <a:prstGeom prst="rect">
            <a:avLst/>
          </a:prstGeom>
        </p:spPr>
      </p:pic>
      <p:pic>
        <p:nvPicPr>
          <p:cNvPr id="1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4172865" y="2435561"/>
            <a:ext cx="427729" cy="349961"/>
          </a:xfrm>
          <a:prstGeom prst="rect">
            <a:avLst/>
          </a:prstGeom>
        </p:spPr>
      </p:pic>
      <p:cxnSp>
        <p:nvCxnSpPr>
          <p:cNvPr id="82" name="直接连接符 81"/>
          <p:cNvCxnSpPr>
            <a:stCxn id="109" idx="2"/>
            <a:endCxn id="112" idx="0"/>
          </p:cNvCxnSpPr>
          <p:nvPr/>
        </p:nvCxnSpPr>
        <p:spPr bwMode="gray">
          <a:xfrm>
            <a:off x="2466540" y="2806394"/>
            <a:ext cx="1920189" cy="1086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111" idx="0"/>
            <a:endCxn id="110" idx="2"/>
          </p:cNvCxnSpPr>
          <p:nvPr/>
        </p:nvCxnSpPr>
        <p:spPr bwMode="gray">
          <a:xfrm flipV="1">
            <a:off x="2466539" y="2785522"/>
            <a:ext cx="1920191" cy="11073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椭圆 86"/>
          <p:cNvSpPr/>
          <p:nvPr/>
        </p:nvSpPr>
        <p:spPr bwMode="gray">
          <a:xfrm rot="5400000">
            <a:off x="2660932" y="2645189"/>
            <a:ext cx="123313" cy="811647"/>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p:cNvSpPr txBox="1"/>
          <p:nvPr/>
        </p:nvSpPr>
        <p:spPr bwMode="gray">
          <a:xfrm>
            <a:off x="1773351" y="2083662"/>
            <a:ext cx="1386381" cy="353212"/>
          </a:xfrm>
          <a:prstGeom prst="rect">
            <a:avLst/>
          </a:prstGeom>
          <a:noFill/>
        </p:spPr>
        <p:txBody>
          <a:bodyPr wrap="square" rtlCol="0">
            <a:noAutofit/>
          </a:bodyPr>
          <a:lstStyle/>
          <a:p>
            <a:pPr algn="ctr" font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主用防火墙</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bwMode="gray">
          <a:xfrm>
            <a:off x="3693539" y="2083662"/>
            <a:ext cx="1386381" cy="353212"/>
          </a:xfrm>
          <a:prstGeom prst="rect">
            <a:avLst/>
          </a:prstGeom>
          <a:noFill/>
        </p:spPr>
        <p:txBody>
          <a:bodyPr wrap="square" rtlCol="0">
            <a:noAutofit/>
          </a:bodyPr>
          <a:lstStyle/>
          <a:p>
            <a:pPr algn="ctr" font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备用防火墙</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椭圆 91"/>
          <p:cNvSpPr/>
          <p:nvPr/>
        </p:nvSpPr>
        <p:spPr bwMode="gray">
          <a:xfrm rot="5400000">
            <a:off x="4097747" y="2645189"/>
            <a:ext cx="123313" cy="811647"/>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bwMode="gray">
          <a:xfrm>
            <a:off x="922968" y="3892843"/>
            <a:ext cx="1396233" cy="353212"/>
          </a:xfrm>
          <a:prstGeom prst="rect">
            <a:avLst/>
          </a:prstGeom>
          <a:noFill/>
        </p:spPr>
        <p:txBody>
          <a:bodyPr wrap="square" rtlCol="0">
            <a:noAutofit/>
          </a:bodyPr>
          <a:lstStyle/>
          <a:p>
            <a:pPr algn="ctr" font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核心交换机</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5" name="直接连接符 94"/>
          <p:cNvCxnSpPr/>
          <p:nvPr/>
        </p:nvCxnSpPr>
        <p:spPr bwMode="gray">
          <a:xfrm>
            <a:off x="2338333" y="2806394"/>
            <a:ext cx="0" cy="1629756"/>
          </a:xfrm>
          <a:prstGeom prst="line">
            <a:avLst/>
          </a:prstGeom>
          <a:noFill/>
          <a:ln w="28575">
            <a:solidFill>
              <a:srgbClr val="62B230"/>
            </a:solidFill>
            <a:prstDash val="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8" name="任意多边形 17"/>
          <p:cNvSpPr/>
          <p:nvPr/>
        </p:nvSpPr>
        <p:spPr bwMode="gray">
          <a:xfrm>
            <a:off x="2687734" y="2815206"/>
            <a:ext cx="1698996" cy="1620944"/>
          </a:xfrm>
          <a:custGeom>
            <a:avLst/>
            <a:gdLst>
              <a:gd name="connsiteX0" fmla="*/ 1457325 w 1527482"/>
              <a:gd name="connsiteY0" fmla="*/ 1400175 h 1417358"/>
              <a:gd name="connsiteX1" fmla="*/ 1409700 w 1527482"/>
              <a:gd name="connsiteY1" fmla="*/ 1343025 h 1417358"/>
              <a:gd name="connsiteX2" fmla="*/ 1428750 w 1527482"/>
              <a:gd name="connsiteY2" fmla="*/ 809625 h 1417358"/>
              <a:gd name="connsiteX3" fmla="*/ 0 w 1527482"/>
              <a:gd name="connsiteY3" fmla="*/ 0 h 1417358"/>
              <a:gd name="connsiteX0" fmla="*/ 1457325 w 1558520"/>
              <a:gd name="connsiteY0" fmla="*/ 1400175 h 1417358"/>
              <a:gd name="connsiteX1" fmla="*/ 1495425 w 1558520"/>
              <a:gd name="connsiteY1" fmla="*/ 1343025 h 1417358"/>
              <a:gd name="connsiteX2" fmla="*/ 1428750 w 1558520"/>
              <a:gd name="connsiteY2" fmla="*/ 809625 h 1417358"/>
              <a:gd name="connsiteX3" fmla="*/ 0 w 1558520"/>
              <a:gd name="connsiteY3" fmla="*/ 0 h 1417358"/>
              <a:gd name="connsiteX0" fmla="*/ 1457325 w 1543163"/>
              <a:gd name="connsiteY0" fmla="*/ 1400175 h 1400175"/>
              <a:gd name="connsiteX1" fmla="*/ 1428750 w 1543163"/>
              <a:gd name="connsiteY1" fmla="*/ 809625 h 1400175"/>
              <a:gd name="connsiteX2" fmla="*/ 0 w 1543163"/>
              <a:gd name="connsiteY2" fmla="*/ 0 h 1400175"/>
              <a:gd name="connsiteX0" fmla="*/ 1457325 w 1545540"/>
              <a:gd name="connsiteY0" fmla="*/ 1400175 h 1400175"/>
              <a:gd name="connsiteX1" fmla="*/ 1428750 w 1545540"/>
              <a:gd name="connsiteY1" fmla="*/ 809625 h 1400175"/>
              <a:gd name="connsiteX2" fmla="*/ 0 w 1545540"/>
              <a:gd name="connsiteY2" fmla="*/ 0 h 1400175"/>
              <a:gd name="connsiteX0" fmla="*/ 1457325 w 1467596"/>
              <a:gd name="connsiteY0" fmla="*/ 1400175 h 1400175"/>
              <a:gd name="connsiteX1" fmla="*/ 1428750 w 1467596"/>
              <a:gd name="connsiteY1" fmla="*/ 809625 h 1400175"/>
              <a:gd name="connsiteX2" fmla="*/ 0 w 1467596"/>
              <a:gd name="connsiteY2" fmla="*/ 0 h 1400175"/>
            </a:gdLst>
            <a:ahLst/>
            <a:cxnLst>
              <a:cxn ang="0">
                <a:pos x="connsiteX0" y="connsiteY0"/>
              </a:cxn>
              <a:cxn ang="0">
                <a:pos x="connsiteX1" y="connsiteY1"/>
              </a:cxn>
              <a:cxn ang="0">
                <a:pos x="connsiteX2" y="connsiteY2"/>
              </a:cxn>
            </a:cxnLst>
            <a:rect l="l" t="t" r="r" b="b"/>
            <a:pathLst>
              <a:path w="1467596" h="1400175">
                <a:moveTo>
                  <a:pt x="1457325" y="1400175"/>
                </a:moveTo>
                <a:cubicBezTo>
                  <a:pt x="1460897" y="1153319"/>
                  <a:pt x="1490662" y="881062"/>
                  <a:pt x="1428750" y="809625"/>
                </a:cubicBezTo>
                <a:cubicBezTo>
                  <a:pt x="1366838" y="738188"/>
                  <a:pt x="0" y="0"/>
                  <a:pt x="0" y="0"/>
                </a:cubicBezTo>
              </a:path>
            </a:pathLst>
          </a:custGeom>
          <a:noFill/>
          <a:ln w="28575">
            <a:solidFill>
              <a:srgbClr val="62B23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bwMode="gray">
          <a:xfrm>
            <a:off x="7155198" y="2705208"/>
            <a:ext cx="1391674" cy="353212"/>
          </a:xfrm>
          <a:prstGeom prst="rect">
            <a:avLst/>
          </a:prstGeom>
          <a:noFill/>
        </p:spPr>
        <p:txBody>
          <a:bodyPr wrap="square" rtlCol="0">
            <a:noAutofit/>
          </a:bodyPr>
          <a:lstStyle>
            <a:defPPr>
              <a:defRPr lang="en-US"/>
            </a:defPPr>
            <a:lvl1pPr fontAlgn="base">
              <a:defRPr sz="1200">
                <a:latin typeface="Huawei Sans" panose="020C0503030203020204" pitchFamily="34" charset="0"/>
                <a:ea typeface="方正兰亭黑简体" panose="02000000000000000000" pitchFamily="2" charset="-122"/>
              </a:defRPr>
            </a:lvl1pPr>
          </a:lstStyle>
          <a:p>
            <a:pPr algn="ctr"/>
            <a:r>
              <a:rPr lang="zh-CN" altLang="en-US" sz="1400" dirty="0">
                <a:solidFill>
                  <a:srgbClr val="C7000B"/>
                </a:solidFill>
                <a:sym typeface="Huawei Sans" panose="020C0503030203020204" pitchFamily="34" charset="0"/>
              </a:rPr>
              <a:t>双机热备</a:t>
            </a:r>
            <a:endParaRPr lang="en-US" altLang="zh-CN" sz="1400" dirty="0">
              <a:solidFill>
                <a:srgbClr val="C7000B"/>
              </a:solidFill>
              <a:sym typeface="Huawei Sans" panose="020C0503030203020204" pitchFamily="34" charset="0"/>
            </a:endParaRPr>
          </a:p>
        </p:txBody>
      </p:sp>
      <p:grpSp>
        <p:nvGrpSpPr>
          <p:cNvPr id="101" name="组合 100"/>
          <p:cNvGrpSpPr/>
          <p:nvPr/>
        </p:nvGrpSpPr>
        <p:grpSpPr bwMode="gray">
          <a:xfrm>
            <a:off x="6879689" y="3911523"/>
            <a:ext cx="1920191" cy="287204"/>
            <a:chOff x="3229772" y="2341282"/>
            <a:chExt cx="585289" cy="248087"/>
          </a:xfrm>
        </p:grpSpPr>
        <p:cxnSp>
          <p:nvCxnSpPr>
            <p:cNvPr id="103" name="直接连接符 102"/>
            <p:cNvCxnSpPr/>
            <p:nvPr/>
          </p:nvCxnSpPr>
          <p:spPr bwMode="gray">
            <a:xfrm flipH="1">
              <a:off x="3229772" y="244082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gray">
            <a:xfrm flipH="1">
              <a:off x="3229772" y="249971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106" name="椭圆 105"/>
            <p:cNvSpPr/>
            <p:nvPr/>
          </p:nvSpPr>
          <p:spPr bwMode="gray">
            <a:xfrm>
              <a:off x="3499390" y="2341282"/>
              <a:ext cx="25088"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07" name="直接连接符 106"/>
          <p:cNvCxnSpPr>
            <a:stCxn id="153" idx="2"/>
            <a:endCxn id="141" idx="0"/>
          </p:cNvCxnSpPr>
          <p:nvPr/>
        </p:nvCxnSpPr>
        <p:spPr bwMode="gray">
          <a:xfrm flipH="1">
            <a:off x="6879689" y="2806394"/>
            <a:ext cx="1" cy="1086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a:stCxn id="154" idx="2"/>
            <a:endCxn id="142" idx="0"/>
          </p:cNvCxnSpPr>
          <p:nvPr/>
        </p:nvCxnSpPr>
        <p:spPr bwMode="gray">
          <a:xfrm flipH="1">
            <a:off x="8799879" y="2785522"/>
            <a:ext cx="1" cy="11073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41" name="图片 86" descr="核心交换机.png"/>
          <p:cNvPicPr>
            <a:picLocks noChangeAspect="1"/>
          </p:cNvPicPr>
          <p:nvPr/>
        </p:nvPicPr>
        <p:blipFill>
          <a:blip r:embed="rId3" cstate="print"/>
          <a:stretch>
            <a:fillRect/>
          </a:stretch>
        </p:blipFill>
        <p:spPr bwMode="gray">
          <a:xfrm>
            <a:off x="6665057" y="3892843"/>
            <a:ext cx="429265" cy="351218"/>
          </a:xfrm>
          <a:prstGeom prst="rect">
            <a:avLst/>
          </a:prstGeom>
        </p:spPr>
      </p:pic>
      <p:pic>
        <p:nvPicPr>
          <p:cNvPr id="142" name="图片 86" descr="核心交换机.png"/>
          <p:cNvPicPr>
            <a:picLocks noChangeAspect="1"/>
          </p:cNvPicPr>
          <p:nvPr/>
        </p:nvPicPr>
        <p:blipFill>
          <a:blip r:embed="rId3" cstate="print"/>
          <a:stretch>
            <a:fillRect/>
          </a:stretch>
        </p:blipFill>
        <p:spPr bwMode="gray">
          <a:xfrm>
            <a:off x="8585246" y="3892843"/>
            <a:ext cx="429265" cy="351218"/>
          </a:xfrm>
          <a:prstGeom prst="rect">
            <a:avLst/>
          </a:prstGeom>
        </p:spPr>
      </p:pic>
      <p:grpSp>
        <p:nvGrpSpPr>
          <p:cNvPr id="143" name="组合 142"/>
          <p:cNvGrpSpPr/>
          <p:nvPr/>
        </p:nvGrpSpPr>
        <p:grpSpPr bwMode="gray">
          <a:xfrm>
            <a:off x="6879689" y="2466940"/>
            <a:ext cx="2022923" cy="287204"/>
            <a:chOff x="3229772" y="2341282"/>
            <a:chExt cx="585289" cy="248087"/>
          </a:xfrm>
        </p:grpSpPr>
        <p:cxnSp>
          <p:nvCxnSpPr>
            <p:cNvPr id="144" name="直接连接符 143"/>
            <p:cNvCxnSpPr/>
            <p:nvPr/>
          </p:nvCxnSpPr>
          <p:spPr bwMode="gray">
            <a:xfrm flipH="1">
              <a:off x="3229772" y="2440826"/>
              <a:ext cx="5852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bwMode="gray">
            <a:xfrm flipH="1">
              <a:off x="3229772" y="2499716"/>
              <a:ext cx="5852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椭圆 151"/>
            <p:cNvSpPr/>
            <p:nvPr/>
          </p:nvSpPr>
          <p:spPr bwMode="gray">
            <a:xfrm>
              <a:off x="3483115" y="2341282"/>
              <a:ext cx="26397" cy="248087"/>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53" name="图片 9"/>
          <p:cNvPicPr>
            <a:picLocks noChangeAspect="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665825" y="2456433"/>
            <a:ext cx="427729" cy="349961"/>
          </a:xfrm>
          <a:prstGeom prst="rect">
            <a:avLst/>
          </a:prstGeom>
        </p:spPr>
      </p:pic>
      <p:pic>
        <p:nvPicPr>
          <p:cNvPr id="154"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8586015" y="2435561"/>
            <a:ext cx="427729" cy="349961"/>
          </a:xfrm>
          <a:prstGeom prst="rect">
            <a:avLst/>
          </a:prstGeom>
        </p:spPr>
      </p:pic>
      <p:cxnSp>
        <p:nvCxnSpPr>
          <p:cNvPr id="155" name="直接连接符 154"/>
          <p:cNvCxnSpPr>
            <a:stCxn id="153" idx="2"/>
            <a:endCxn id="142" idx="0"/>
          </p:cNvCxnSpPr>
          <p:nvPr/>
        </p:nvCxnSpPr>
        <p:spPr bwMode="gray">
          <a:xfrm>
            <a:off x="6879690" y="2806394"/>
            <a:ext cx="1920189" cy="1086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a:stCxn id="141" idx="0"/>
            <a:endCxn id="154" idx="2"/>
          </p:cNvCxnSpPr>
          <p:nvPr/>
        </p:nvCxnSpPr>
        <p:spPr bwMode="gray">
          <a:xfrm flipV="1">
            <a:off x="6879689" y="2785522"/>
            <a:ext cx="1920191" cy="11073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椭圆 156"/>
          <p:cNvSpPr/>
          <p:nvPr/>
        </p:nvSpPr>
        <p:spPr bwMode="gray">
          <a:xfrm rot="5400000">
            <a:off x="7074082" y="2645189"/>
            <a:ext cx="123313" cy="811647"/>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文本框 157"/>
          <p:cNvSpPr txBox="1"/>
          <p:nvPr/>
        </p:nvSpPr>
        <p:spPr bwMode="gray">
          <a:xfrm>
            <a:off x="6186501" y="1978360"/>
            <a:ext cx="1386381" cy="462905"/>
          </a:xfrm>
          <a:prstGeom prst="rect">
            <a:avLst/>
          </a:prstGeom>
          <a:noFill/>
        </p:spPr>
        <p:txBody>
          <a:bodyPr wrap="square" rtlCol="0">
            <a:noAutofit/>
          </a:bodyPr>
          <a:lstStyle/>
          <a:p>
            <a:pPr algn="ctr" font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主用防火墙</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故障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文本框 158"/>
          <p:cNvSpPr txBox="1"/>
          <p:nvPr/>
        </p:nvSpPr>
        <p:spPr bwMode="gray">
          <a:xfrm>
            <a:off x="8106689" y="2083662"/>
            <a:ext cx="1386381" cy="353212"/>
          </a:xfrm>
          <a:prstGeom prst="rect">
            <a:avLst/>
          </a:prstGeom>
          <a:noFill/>
        </p:spPr>
        <p:txBody>
          <a:bodyPr wrap="square" rtlCol="0">
            <a:noAutofit/>
          </a:bodyPr>
          <a:lstStyle/>
          <a:p>
            <a:pPr algn="ctr" font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备用防火墙</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椭圆 159"/>
          <p:cNvSpPr/>
          <p:nvPr/>
        </p:nvSpPr>
        <p:spPr bwMode="gray">
          <a:xfrm rot="5400000">
            <a:off x="8510897" y="2645189"/>
            <a:ext cx="123313" cy="811647"/>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2" name="直接连接符 161"/>
          <p:cNvCxnSpPr/>
          <p:nvPr/>
        </p:nvCxnSpPr>
        <p:spPr bwMode="gray">
          <a:xfrm>
            <a:off x="8902612" y="2806394"/>
            <a:ext cx="0" cy="1629756"/>
          </a:xfrm>
          <a:prstGeom prst="line">
            <a:avLst/>
          </a:prstGeom>
          <a:noFill/>
          <a:ln w="28575">
            <a:solidFill>
              <a:srgbClr val="62B230"/>
            </a:solidFill>
            <a:prstDash val="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63" name="任意多边形 162"/>
          <p:cNvSpPr/>
          <p:nvPr/>
        </p:nvSpPr>
        <p:spPr bwMode="gray">
          <a:xfrm flipH="1">
            <a:off x="6858515" y="2815206"/>
            <a:ext cx="1698996" cy="1620944"/>
          </a:xfrm>
          <a:custGeom>
            <a:avLst/>
            <a:gdLst>
              <a:gd name="connsiteX0" fmla="*/ 1457325 w 1527482"/>
              <a:gd name="connsiteY0" fmla="*/ 1400175 h 1417358"/>
              <a:gd name="connsiteX1" fmla="*/ 1409700 w 1527482"/>
              <a:gd name="connsiteY1" fmla="*/ 1343025 h 1417358"/>
              <a:gd name="connsiteX2" fmla="*/ 1428750 w 1527482"/>
              <a:gd name="connsiteY2" fmla="*/ 809625 h 1417358"/>
              <a:gd name="connsiteX3" fmla="*/ 0 w 1527482"/>
              <a:gd name="connsiteY3" fmla="*/ 0 h 1417358"/>
              <a:gd name="connsiteX0" fmla="*/ 1457325 w 1558520"/>
              <a:gd name="connsiteY0" fmla="*/ 1400175 h 1417358"/>
              <a:gd name="connsiteX1" fmla="*/ 1495425 w 1558520"/>
              <a:gd name="connsiteY1" fmla="*/ 1343025 h 1417358"/>
              <a:gd name="connsiteX2" fmla="*/ 1428750 w 1558520"/>
              <a:gd name="connsiteY2" fmla="*/ 809625 h 1417358"/>
              <a:gd name="connsiteX3" fmla="*/ 0 w 1558520"/>
              <a:gd name="connsiteY3" fmla="*/ 0 h 1417358"/>
              <a:gd name="connsiteX0" fmla="*/ 1457325 w 1543163"/>
              <a:gd name="connsiteY0" fmla="*/ 1400175 h 1400175"/>
              <a:gd name="connsiteX1" fmla="*/ 1428750 w 1543163"/>
              <a:gd name="connsiteY1" fmla="*/ 809625 h 1400175"/>
              <a:gd name="connsiteX2" fmla="*/ 0 w 1543163"/>
              <a:gd name="connsiteY2" fmla="*/ 0 h 1400175"/>
              <a:gd name="connsiteX0" fmla="*/ 1457325 w 1545540"/>
              <a:gd name="connsiteY0" fmla="*/ 1400175 h 1400175"/>
              <a:gd name="connsiteX1" fmla="*/ 1428750 w 1545540"/>
              <a:gd name="connsiteY1" fmla="*/ 809625 h 1400175"/>
              <a:gd name="connsiteX2" fmla="*/ 0 w 1545540"/>
              <a:gd name="connsiteY2" fmla="*/ 0 h 1400175"/>
              <a:gd name="connsiteX0" fmla="*/ 1457325 w 1467596"/>
              <a:gd name="connsiteY0" fmla="*/ 1400175 h 1400175"/>
              <a:gd name="connsiteX1" fmla="*/ 1428750 w 1467596"/>
              <a:gd name="connsiteY1" fmla="*/ 809625 h 1400175"/>
              <a:gd name="connsiteX2" fmla="*/ 0 w 1467596"/>
              <a:gd name="connsiteY2" fmla="*/ 0 h 1400175"/>
            </a:gdLst>
            <a:ahLst/>
            <a:cxnLst>
              <a:cxn ang="0">
                <a:pos x="connsiteX0" y="connsiteY0"/>
              </a:cxn>
              <a:cxn ang="0">
                <a:pos x="connsiteX1" y="connsiteY1"/>
              </a:cxn>
              <a:cxn ang="0">
                <a:pos x="connsiteX2" y="connsiteY2"/>
              </a:cxn>
            </a:cxnLst>
            <a:rect l="l" t="t" r="r" b="b"/>
            <a:pathLst>
              <a:path w="1467596" h="1400175">
                <a:moveTo>
                  <a:pt x="1457325" y="1400175"/>
                </a:moveTo>
                <a:cubicBezTo>
                  <a:pt x="1460897" y="1153319"/>
                  <a:pt x="1490662" y="881062"/>
                  <a:pt x="1428750" y="809625"/>
                </a:cubicBezTo>
                <a:cubicBezTo>
                  <a:pt x="1366838" y="738188"/>
                  <a:pt x="0" y="0"/>
                  <a:pt x="0" y="0"/>
                </a:cubicBezTo>
              </a:path>
            </a:pathLst>
          </a:custGeom>
          <a:noFill/>
          <a:ln w="28575">
            <a:solidFill>
              <a:srgbClr val="62B23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占位符 14"/>
          <p:cNvSpPr txBox="1">
            <a:spLocks/>
          </p:cNvSpPr>
          <p:nvPr/>
        </p:nvSpPr>
        <p:spPr bwMode="auto">
          <a:xfrm>
            <a:off x="455612" y="4857797"/>
            <a:ext cx="11293475" cy="128234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如图，防火墙作为园区网络出口设备与核心交换机直连，两台防火墙设备配置双机热备功能，互联的</a:t>
            </a:r>
            <a:r>
              <a:rPr lang="en-US" altLang="zh-CN" sz="1800" dirty="0"/>
              <a:t>Eth-Trunk</a:t>
            </a:r>
            <a:r>
              <a:rPr lang="zh-CN" altLang="en-US" sz="1800" dirty="0"/>
              <a:t>链路作为主备通道，当主用防火墙发生故障后，备用防火墙可以接替主用防火墙，进行业务报文的转发。</a:t>
            </a:r>
          </a:p>
        </p:txBody>
      </p:sp>
      <p:sp>
        <p:nvSpPr>
          <p:cNvPr id="22" name="乘号 21"/>
          <p:cNvSpPr/>
          <p:nvPr/>
        </p:nvSpPr>
        <p:spPr bwMode="gray">
          <a:xfrm>
            <a:off x="6693952" y="2420496"/>
            <a:ext cx="371475" cy="407461"/>
          </a:xfrm>
          <a:prstGeom prst="mathMultiply">
            <a:avLst>
              <a:gd name="adj1" fmla="val 10700"/>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Right Arrow 157"/>
          <p:cNvSpPr/>
          <p:nvPr/>
        </p:nvSpPr>
        <p:spPr bwMode="gray">
          <a:xfrm>
            <a:off x="5341808" y="3186517"/>
            <a:ext cx="793607" cy="356242"/>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gradFill flip="none" rotWithShape="1">
              <a:gsLst>
                <a:gs pos="0">
                  <a:schemeClr val="accent1">
                    <a:lumMod val="5000"/>
                    <a:lumOff val="95000"/>
                  </a:schemeClr>
                </a:gs>
                <a:gs pos="100000">
                  <a:srgbClr val="94DAE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542051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防火墙旁挂部署</a:t>
            </a:r>
          </a:p>
        </p:txBody>
      </p:sp>
      <p:sp>
        <p:nvSpPr>
          <p:cNvPr id="286" name="圆角矩形 75"/>
          <p:cNvSpPr/>
          <p:nvPr/>
        </p:nvSpPr>
        <p:spPr bwMode="gray">
          <a:xfrm>
            <a:off x="6391421" y="1116576"/>
            <a:ext cx="5232887"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防火墙旁挂</a:t>
            </a:r>
          </a:p>
        </p:txBody>
      </p:sp>
      <p:sp>
        <p:nvSpPr>
          <p:cNvPr id="287" name="圆角矩形 75"/>
          <p:cNvSpPr/>
          <p:nvPr/>
        </p:nvSpPr>
        <p:spPr bwMode="gray">
          <a:xfrm>
            <a:off x="6391422" y="1512575"/>
            <a:ext cx="5232888" cy="3937243"/>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marL="176213" indent="-176213" fontAlgn="base">
              <a:lnSpc>
                <a:spcPct val="1250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除了采用串联组网方式，防火墙还可以采用旁挂部署的组网方式。通常来说，防火墙旁挂组网是基于如下几个原则来选择的：</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可灵活定义流量是否经过防火墙；</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容易扩展，例如网络改造场景；</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防火墙故障后，对业务的影响较小。</a:t>
            </a:r>
          </a:p>
          <a:p>
            <a:pPr marL="176213" indent="-176213" fontAlgn="base">
              <a:lnSpc>
                <a:spcPct val="1250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在园区网络中：</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如果采用防火墙作为出口网关，其通常承担包括安全策略、</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网关等功能，如果要求南北向流量必须经过防火墙，且不考虑扩展性原则，则建议采用串联组网。</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如果采用路由器作为出口网关，防火墙仅仅用于高级别的安全功能，例如入侵防御、反病毒、</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URL</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过滤等，可依据上述几个原则综合考虑，选用旁挂组网。</a:t>
            </a:r>
          </a:p>
        </p:txBody>
      </p:sp>
      <p:cxnSp>
        <p:nvCxnSpPr>
          <p:cNvPr id="290" name="直接连接符 289"/>
          <p:cNvCxnSpPr/>
          <p:nvPr/>
        </p:nvCxnSpPr>
        <p:spPr bwMode="gray">
          <a:xfrm flipH="1">
            <a:off x="4014926" y="4931572"/>
            <a:ext cx="360000" cy="0"/>
          </a:xfrm>
          <a:prstGeom prst="line">
            <a:avLst/>
          </a:prstGeom>
          <a:ln w="19050">
            <a:solidFill>
              <a:srgbClr val="C7000B"/>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1" name="文本框 290"/>
          <p:cNvSpPr txBox="1"/>
          <p:nvPr/>
        </p:nvSpPr>
        <p:spPr bwMode="gray">
          <a:xfrm>
            <a:off x="4399719" y="4782120"/>
            <a:ext cx="1176472"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pPr algn="l"/>
            <a:r>
              <a:rPr lang="zh-CN" altLang="en-US" sz="1200" dirty="0">
                <a:sym typeface="Huawei Sans" panose="020C0503030203020204" pitchFamily="34" charset="0"/>
              </a:rPr>
              <a:t>心跳热备链路</a:t>
            </a:r>
          </a:p>
        </p:txBody>
      </p:sp>
      <p:grpSp>
        <p:nvGrpSpPr>
          <p:cNvPr id="292" name="组合 291"/>
          <p:cNvGrpSpPr/>
          <p:nvPr/>
        </p:nvGrpSpPr>
        <p:grpSpPr bwMode="gray">
          <a:xfrm>
            <a:off x="4013938" y="5105690"/>
            <a:ext cx="361977" cy="230167"/>
            <a:chOff x="3229772" y="2341282"/>
            <a:chExt cx="585289" cy="248087"/>
          </a:xfrm>
        </p:grpSpPr>
        <p:cxnSp>
          <p:nvCxnSpPr>
            <p:cNvPr id="293" name="直接连接符 292"/>
            <p:cNvCxnSpPr/>
            <p:nvPr/>
          </p:nvCxnSpPr>
          <p:spPr bwMode="gray">
            <a:xfrm flipH="1">
              <a:off x="3229772" y="242177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294" name="直接连接符 293"/>
            <p:cNvCxnSpPr/>
            <p:nvPr/>
          </p:nvCxnSpPr>
          <p:spPr bwMode="gray">
            <a:xfrm flipH="1">
              <a:off x="3229772" y="2509241"/>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295" name="椭圆 294"/>
            <p:cNvSpPr/>
            <p:nvPr/>
          </p:nvSpPr>
          <p:spPr bwMode="gray">
            <a:xfrm>
              <a:off x="3455707" y="2341282"/>
              <a:ext cx="130330"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96" name="文本框 295"/>
          <p:cNvSpPr txBox="1"/>
          <p:nvPr/>
        </p:nvSpPr>
        <p:spPr bwMode="gray">
          <a:xfrm>
            <a:off x="4399719" y="5076117"/>
            <a:ext cx="1176472"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堆叠</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7" name="椭圆 296"/>
          <p:cNvSpPr/>
          <p:nvPr/>
        </p:nvSpPr>
        <p:spPr bwMode="gray">
          <a:xfrm>
            <a:off x="4102558" y="5449818"/>
            <a:ext cx="184737"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8" name="文本框 297"/>
          <p:cNvSpPr txBox="1"/>
          <p:nvPr/>
        </p:nvSpPr>
        <p:spPr bwMode="gray">
          <a:xfrm>
            <a:off x="4399719" y="5353192"/>
            <a:ext cx="1176472" cy="305105"/>
          </a:xfrm>
          <a:prstGeom prst="rect">
            <a:avLst/>
          </a:prstGeom>
          <a:noFill/>
        </p:spPr>
        <p:txBody>
          <a:bodyPr wrap="square" rtlCol="0">
            <a:no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链路聚合</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1" name="图片 86" descr="核心交换机.png"/>
          <p:cNvPicPr>
            <a:picLocks noChangeAspect="1"/>
          </p:cNvPicPr>
          <p:nvPr/>
        </p:nvPicPr>
        <p:blipFill>
          <a:blip r:embed="rId3" cstate="print"/>
          <a:stretch>
            <a:fillRect/>
          </a:stretch>
        </p:blipFill>
        <p:spPr bwMode="gray">
          <a:xfrm>
            <a:off x="1783354" y="3171494"/>
            <a:ext cx="370800" cy="303383"/>
          </a:xfrm>
          <a:prstGeom prst="rect">
            <a:avLst/>
          </a:prstGeom>
        </p:spPr>
      </p:pic>
      <p:pic>
        <p:nvPicPr>
          <p:cNvPr id="112" name="图片 86" descr="核心交换机.png"/>
          <p:cNvPicPr>
            <a:picLocks noChangeAspect="1"/>
          </p:cNvPicPr>
          <p:nvPr/>
        </p:nvPicPr>
        <p:blipFill>
          <a:blip r:embed="rId3" cstate="print"/>
          <a:stretch>
            <a:fillRect/>
          </a:stretch>
        </p:blipFill>
        <p:spPr bwMode="gray">
          <a:xfrm>
            <a:off x="2747329" y="3171494"/>
            <a:ext cx="370800" cy="303383"/>
          </a:xfrm>
          <a:prstGeom prst="rect">
            <a:avLst/>
          </a:prstGeom>
        </p:spPr>
      </p:pic>
      <p:cxnSp>
        <p:nvCxnSpPr>
          <p:cNvPr id="113" name="直接连接符 112"/>
          <p:cNvCxnSpPr>
            <a:endCxn id="112" idx="3"/>
          </p:cNvCxnSpPr>
          <p:nvPr/>
        </p:nvCxnSpPr>
        <p:spPr bwMode="gray">
          <a:xfrm flipH="1">
            <a:off x="3118129" y="3044531"/>
            <a:ext cx="693968" cy="2786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文本框 113"/>
          <p:cNvSpPr txBox="1"/>
          <p:nvPr/>
        </p:nvSpPr>
        <p:spPr bwMode="gray">
          <a:xfrm>
            <a:off x="1654294" y="5354987"/>
            <a:ext cx="1666779" cy="305105"/>
          </a:xfrm>
          <a:prstGeom prst="rect">
            <a:avLst/>
          </a:prstGeom>
          <a:noFill/>
        </p:spPr>
        <p:txBody>
          <a:bodyPr wrap="square" rtlCol="0">
            <a:noAutofit/>
          </a:bodyPr>
          <a:lstStyle>
            <a:defPPr>
              <a:defRPr lang="en-US"/>
            </a:defPPr>
            <a:lvl1pPr fontAlgn="base">
              <a:defRPr sz="1200">
                <a:latin typeface="Huawei Sans" panose="020C0503030203020204" pitchFamily="34" charset="0"/>
                <a:ea typeface="方正兰亭黑简体" panose="02000000000000000000" pitchFamily="2" charset="-122"/>
              </a:defRPr>
            </a:lvl1pPr>
          </a:lstStyle>
          <a:p>
            <a:pPr algn="ctr"/>
            <a:r>
              <a:rPr lang="zh-CN" altLang="en-US" sz="1400" dirty="0">
                <a:sym typeface="Huawei Sans" panose="020C0503030203020204" pitchFamily="34" charset="0"/>
              </a:rPr>
              <a:t>双</a:t>
            </a:r>
            <a:r>
              <a:rPr lang="en-US" altLang="zh-CN" sz="1400" dirty="0">
                <a:sym typeface="Huawei Sans" panose="020C0503030203020204" pitchFamily="34" charset="0"/>
              </a:rPr>
              <a:t>FW</a:t>
            </a:r>
            <a:r>
              <a:rPr lang="zh-CN" altLang="en-US" sz="1400" dirty="0">
                <a:sym typeface="Huawei Sans" panose="020C0503030203020204" pitchFamily="34" charset="0"/>
              </a:rPr>
              <a:t>旁挂</a:t>
            </a:r>
            <a:r>
              <a:rPr lang="en-US" altLang="zh-CN" sz="1400" dirty="0">
                <a:sym typeface="Huawei Sans" panose="020C0503030203020204" pitchFamily="34" charset="0"/>
              </a:rPr>
              <a:t>Border</a:t>
            </a:r>
          </a:p>
        </p:txBody>
      </p:sp>
      <p:grpSp>
        <p:nvGrpSpPr>
          <p:cNvPr id="3" name="组合 2"/>
          <p:cNvGrpSpPr/>
          <p:nvPr/>
        </p:nvGrpSpPr>
        <p:grpSpPr bwMode="gray">
          <a:xfrm>
            <a:off x="2477988" y="1494511"/>
            <a:ext cx="909482" cy="480535"/>
            <a:chOff x="1988815" y="2229100"/>
            <a:chExt cx="909482" cy="480535"/>
          </a:xfrm>
        </p:grpSpPr>
        <p:sp>
          <p:nvSpPr>
            <p:cNvPr id="115" name="Freeform 159"/>
            <p:cNvSpPr/>
            <p:nvPr/>
          </p:nvSpPr>
          <p:spPr bwMode="gray">
            <a:xfrm flipH="1">
              <a:off x="2018231" y="2229100"/>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文本框 115"/>
            <p:cNvSpPr txBox="1"/>
            <p:nvPr/>
          </p:nvSpPr>
          <p:spPr bwMode="gray">
            <a:xfrm>
              <a:off x="1988815" y="2403126"/>
              <a:ext cx="909482" cy="298466"/>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p>
          </p:txBody>
        </p:sp>
      </p:grpSp>
      <p:grpSp>
        <p:nvGrpSpPr>
          <p:cNvPr id="117" name="组合 116"/>
          <p:cNvGrpSpPr/>
          <p:nvPr/>
        </p:nvGrpSpPr>
        <p:grpSpPr bwMode="gray">
          <a:xfrm>
            <a:off x="1514013" y="1494511"/>
            <a:ext cx="909482" cy="480535"/>
            <a:chOff x="591922" y="1761021"/>
            <a:chExt cx="909482" cy="480535"/>
          </a:xfrm>
        </p:grpSpPr>
        <p:sp>
          <p:nvSpPr>
            <p:cNvPr id="118"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文本框 118"/>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cxnSp>
        <p:nvCxnSpPr>
          <p:cNvPr id="120" name="直接连接符 119"/>
          <p:cNvCxnSpPr>
            <a:stCxn id="64" idx="2"/>
            <a:endCxn id="111" idx="0"/>
          </p:cNvCxnSpPr>
          <p:nvPr/>
        </p:nvCxnSpPr>
        <p:spPr bwMode="gray">
          <a:xfrm>
            <a:off x="1966040" y="2553423"/>
            <a:ext cx="2714" cy="6180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69" idx="2"/>
            <a:endCxn id="112" idx="0"/>
          </p:cNvCxnSpPr>
          <p:nvPr/>
        </p:nvCxnSpPr>
        <p:spPr bwMode="gray">
          <a:xfrm>
            <a:off x="2926202" y="2553423"/>
            <a:ext cx="6527" cy="61807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24" name="图片 87" descr="汇聚交换机.png"/>
          <p:cNvPicPr>
            <a:picLocks noChangeAspect="1"/>
          </p:cNvPicPr>
          <p:nvPr/>
        </p:nvPicPr>
        <p:blipFill>
          <a:blip r:embed="rId4" cstate="print"/>
          <a:stretch>
            <a:fillRect/>
          </a:stretch>
        </p:blipFill>
        <p:spPr bwMode="gray">
          <a:xfrm>
            <a:off x="3002986" y="4097743"/>
            <a:ext cx="335297" cy="274335"/>
          </a:xfrm>
          <a:prstGeom prst="rect">
            <a:avLst/>
          </a:prstGeom>
        </p:spPr>
      </p:pic>
      <p:cxnSp>
        <p:nvCxnSpPr>
          <p:cNvPr id="125" name="直接连接符 124"/>
          <p:cNvCxnSpPr>
            <a:stCxn id="111" idx="2"/>
            <a:endCxn id="123" idx="0"/>
          </p:cNvCxnSpPr>
          <p:nvPr/>
        </p:nvCxnSpPr>
        <p:spPr bwMode="gray">
          <a:xfrm flipH="1">
            <a:off x="1781691" y="3474877"/>
            <a:ext cx="187063" cy="622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112" idx="2"/>
            <a:endCxn id="123" idx="0"/>
          </p:cNvCxnSpPr>
          <p:nvPr/>
        </p:nvCxnSpPr>
        <p:spPr bwMode="gray">
          <a:xfrm flipH="1">
            <a:off x="1781691" y="3474877"/>
            <a:ext cx="1151038" cy="622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11" idx="2"/>
            <a:endCxn id="124" idx="0"/>
          </p:cNvCxnSpPr>
          <p:nvPr/>
        </p:nvCxnSpPr>
        <p:spPr bwMode="gray">
          <a:xfrm>
            <a:off x="1968754" y="3474877"/>
            <a:ext cx="1201881" cy="622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112" idx="2"/>
            <a:endCxn id="124" idx="0"/>
          </p:cNvCxnSpPr>
          <p:nvPr/>
        </p:nvCxnSpPr>
        <p:spPr bwMode="gray">
          <a:xfrm>
            <a:off x="2932729" y="3474877"/>
            <a:ext cx="237906" cy="6228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11" idx="1"/>
          </p:cNvCxnSpPr>
          <p:nvPr/>
        </p:nvCxnSpPr>
        <p:spPr bwMode="gray">
          <a:xfrm flipH="1" flipV="1">
            <a:off x="1140426" y="3033138"/>
            <a:ext cx="642928" cy="290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gray">
          <a:xfrm flipH="1" flipV="1">
            <a:off x="1141821" y="2945861"/>
            <a:ext cx="1599644" cy="251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bwMode="gray">
          <a:xfrm flipH="1">
            <a:off x="2150776" y="2966056"/>
            <a:ext cx="1654808" cy="2178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椭圆 131"/>
          <p:cNvSpPr/>
          <p:nvPr/>
        </p:nvSpPr>
        <p:spPr bwMode="gray">
          <a:xfrm rot="17691681">
            <a:off x="1314014" y="3016435"/>
            <a:ext cx="288000" cy="12287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椭圆 132"/>
          <p:cNvSpPr/>
          <p:nvPr/>
        </p:nvSpPr>
        <p:spPr bwMode="gray">
          <a:xfrm rot="14817198">
            <a:off x="3268146" y="3033741"/>
            <a:ext cx="288000" cy="148760"/>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4" name="组合 133"/>
          <p:cNvGrpSpPr/>
          <p:nvPr/>
        </p:nvGrpSpPr>
        <p:grpSpPr bwMode="gray">
          <a:xfrm>
            <a:off x="2158716" y="3196971"/>
            <a:ext cx="585289" cy="248087"/>
            <a:chOff x="3229772" y="2341282"/>
            <a:chExt cx="585289" cy="248087"/>
          </a:xfrm>
        </p:grpSpPr>
        <p:cxnSp>
          <p:nvCxnSpPr>
            <p:cNvPr id="135" name="直接连接符 134"/>
            <p:cNvCxnSpPr/>
            <p:nvPr/>
          </p:nvCxnSpPr>
          <p:spPr bwMode="gray">
            <a:xfrm flipH="1">
              <a:off x="3229772" y="2421776"/>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bwMode="gray">
            <a:xfrm flipH="1">
              <a:off x="3229772" y="2509241"/>
              <a:ext cx="585289"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137" name="椭圆 136"/>
            <p:cNvSpPr/>
            <p:nvPr/>
          </p:nvSpPr>
          <p:spPr bwMode="gray">
            <a:xfrm>
              <a:off x="3455707" y="2341282"/>
              <a:ext cx="130330" cy="248087"/>
            </a:xfrm>
            <a:prstGeom prst="ellips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8" name="椭圆 137"/>
          <p:cNvSpPr/>
          <p:nvPr/>
        </p:nvSpPr>
        <p:spPr bwMode="gray">
          <a:xfrm rot="1650076">
            <a:off x="1802913" y="3738526"/>
            <a:ext cx="468270"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椭圆 138"/>
          <p:cNvSpPr/>
          <p:nvPr/>
        </p:nvSpPr>
        <p:spPr bwMode="gray">
          <a:xfrm rot="19306013">
            <a:off x="2652536" y="3729483"/>
            <a:ext cx="468270" cy="113654"/>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9"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969664" y="2778260"/>
            <a:ext cx="369473" cy="302297"/>
          </a:xfrm>
          <a:prstGeom prst="rect">
            <a:avLst/>
          </a:prstGeom>
        </p:spPr>
      </p:pic>
      <p:pic>
        <p:nvPicPr>
          <p:cNvPr id="1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3630623" y="2778260"/>
            <a:ext cx="369473" cy="302297"/>
          </a:xfrm>
          <a:prstGeom prst="rect">
            <a:avLst/>
          </a:prstGeom>
        </p:spPr>
      </p:pic>
      <p:cxnSp>
        <p:nvCxnSpPr>
          <p:cNvPr id="122" name="肘形连接符 121"/>
          <p:cNvCxnSpPr/>
          <p:nvPr/>
        </p:nvCxnSpPr>
        <p:spPr bwMode="gray">
          <a:xfrm rot="5400000" flipH="1" flipV="1">
            <a:off x="2484880" y="1465199"/>
            <a:ext cx="12700" cy="2660959"/>
          </a:xfrm>
          <a:prstGeom prst="bentConnector3">
            <a:avLst>
              <a:gd name="adj1" fmla="val 1253087"/>
            </a:avLst>
          </a:prstGeom>
          <a:ln w="19050">
            <a:solidFill>
              <a:srgbClr val="C7000B"/>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96" name="图片 11" descr="开放网络-蓝.png"/>
          <p:cNvPicPr>
            <a:picLocks noChangeAspect="1"/>
          </p:cNvPicPr>
          <p:nvPr/>
        </p:nvPicPr>
        <p:blipFill>
          <a:blip r:embed="rId6" cstate="print"/>
          <a:stretch>
            <a:fillRect/>
          </a:stretch>
        </p:blipFill>
        <p:spPr bwMode="gray">
          <a:xfrm>
            <a:off x="1269704" y="4713965"/>
            <a:ext cx="304595" cy="234472"/>
          </a:xfrm>
          <a:prstGeom prst="rect">
            <a:avLst/>
          </a:prstGeom>
        </p:spPr>
      </p:pic>
      <p:pic>
        <p:nvPicPr>
          <p:cNvPr id="97" name="图片 11" descr="开放网络-蓝.png"/>
          <p:cNvPicPr>
            <a:picLocks noChangeAspect="1"/>
          </p:cNvPicPr>
          <p:nvPr/>
        </p:nvPicPr>
        <p:blipFill>
          <a:blip r:embed="rId6" cstate="print"/>
          <a:stretch>
            <a:fillRect/>
          </a:stretch>
        </p:blipFill>
        <p:spPr bwMode="gray">
          <a:xfrm>
            <a:off x="1936166" y="4713965"/>
            <a:ext cx="304595" cy="234472"/>
          </a:xfrm>
          <a:prstGeom prst="rect">
            <a:avLst/>
          </a:prstGeom>
        </p:spPr>
      </p:pic>
      <p:pic>
        <p:nvPicPr>
          <p:cNvPr id="98" name="图片 11" descr="开放网络-蓝.png"/>
          <p:cNvPicPr>
            <a:picLocks noChangeAspect="1"/>
          </p:cNvPicPr>
          <p:nvPr/>
        </p:nvPicPr>
        <p:blipFill>
          <a:blip r:embed="rId6" cstate="print"/>
          <a:stretch>
            <a:fillRect/>
          </a:stretch>
        </p:blipFill>
        <p:spPr bwMode="gray">
          <a:xfrm>
            <a:off x="3018337" y="4713965"/>
            <a:ext cx="304595" cy="234472"/>
          </a:xfrm>
          <a:prstGeom prst="rect">
            <a:avLst/>
          </a:prstGeom>
        </p:spPr>
      </p:pic>
      <p:cxnSp>
        <p:nvCxnSpPr>
          <p:cNvPr id="99" name="直接连接符 98"/>
          <p:cNvCxnSpPr>
            <a:stCxn id="124" idx="2"/>
            <a:endCxn id="98" idx="0"/>
          </p:cNvCxnSpPr>
          <p:nvPr/>
        </p:nvCxnSpPr>
        <p:spPr bwMode="gray">
          <a:xfrm>
            <a:off x="3170635" y="4372078"/>
            <a:ext cx="0" cy="3418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123" idx="0"/>
            <a:endCxn id="97" idx="0"/>
          </p:cNvCxnSpPr>
          <p:nvPr/>
        </p:nvCxnSpPr>
        <p:spPr bwMode="gray">
          <a:xfrm>
            <a:off x="1781691" y="4097743"/>
            <a:ext cx="306773" cy="6162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23" idx="0"/>
            <a:endCxn id="96" idx="0"/>
          </p:cNvCxnSpPr>
          <p:nvPr/>
        </p:nvCxnSpPr>
        <p:spPr bwMode="gray">
          <a:xfrm flipH="1">
            <a:off x="1422002" y="4097743"/>
            <a:ext cx="359689" cy="6162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3" name="图片 87" descr="汇聚交换机.png"/>
          <p:cNvPicPr>
            <a:picLocks noChangeAspect="1"/>
          </p:cNvPicPr>
          <p:nvPr/>
        </p:nvPicPr>
        <p:blipFill>
          <a:blip r:embed="rId4" cstate="print"/>
          <a:stretch>
            <a:fillRect/>
          </a:stretch>
        </p:blipFill>
        <p:spPr bwMode="gray">
          <a:xfrm>
            <a:off x="1614042" y="4097743"/>
            <a:ext cx="335297" cy="274335"/>
          </a:xfrm>
          <a:prstGeom prst="rect">
            <a:avLst/>
          </a:prstGeom>
        </p:spPr>
      </p:pic>
      <p:sp>
        <p:nvSpPr>
          <p:cNvPr id="108" name="文本框 107"/>
          <p:cNvSpPr txBox="1"/>
          <p:nvPr/>
        </p:nvSpPr>
        <p:spPr bwMode="gray">
          <a:xfrm>
            <a:off x="1014441" y="4979970"/>
            <a:ext cx="815120"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OA PC1</a:t>
            </a:r>
          </a:p>
        </p:txBody>
      </p:sp>
      <p:sp>
        <p:nvSpPr>
          <p:cNvPr id="145" name="文本框 144"/>
          <p:cNvSpPr txBox="1"/>
          <p:nvPr/>
        </p:nvSpPr>
        <p:spPr bwMode="gray">
          <a:xfrm>
            <a:off x="1692284" y="4979970"/>
            <a:ext cx="815120"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OA PC2</a:t>
            </a:r>
          </a:p>
        </p:txBody>
      </p:sp>
      <p:sp>
        <p:nvSpPr>
          <p:cNvPr id="146" name="文本框 145"/>
          <p:cNvSpPr txBox="1"/>
          <p:nvPr/>
        </p:nvSpPr>
        <p:spPr bwMode="gray">
          <a:xfrm>
            <a:off x="2763074" y="4979970"/>
            <a:ext cx="815120"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RD PC3</a:t>
            </a:r>
          </a:p>
        </p:txBody>
      </p:sp>
      <p:sp>
        <p:nvSpPr>
          <p:cNvPr id="12" name="任意多边形 11"/>
          <p:cNvSpPr/>
          <p:nvPr/>
        </p:nvSpPr>
        <p:spPr bwMode="gray">
          <a:xfrm>
            <a:off x="1279089" y="3040000"/>
            <a:ext cx="1977766" cy="1715734"/>
          </a:xfrm>
          <a:custGeom>
            <a:avLst/>
            <a:gdLst>
              <a:gd name="connsiteX0" fmla="*/ 815472 w 1967773"/>
              <a:gd name="connsiteY0" fmla="*/ 1920321 h 1920321"/>
              <a:gd name="connsiteX1" fmla="*/ 598189 w 1967773"/>
              <a:gd name="connsiteY1" fmla="*/ 1060242 h 1920321"/>
              <a:gd name="connsiteX2" fmla="*/ 643456 w 1967773"/>
              <a:gd name="connsiteY2" fmla="*/ 326911 h 1920321"/>
              <a:gd name="connsiteX3" fmla="*/ 660 w 1967773"/>
              <a:gd name="connsiteY3" fmla="*/ 986 h 1920321"/>
              <a:gd name="connsiteX4" fmla="*/ 779258 w 1967773"/>
              <a:gd name="connsiteY4" fmla="*/ 227323 h 1920321"/>
              <a:gd name="connsiteX5" fmla="*/ 1639337 w 1967773"/>
              <a:gd name="connsiteY5" fmla="*/ 272590 h 1920321"/>
              <a:gd name="connsiteX6" fmla="*/ 1919995 w 1967773"/>
              <a:gd name="connsiteY6" fmla="*/ 1214151 h 1920321"/>
              <a:gd name="connsiteX7" fmla="*/ 1965262 w 1967773"/>
              <a:gd name="connsiteY7" fmla="*/ 1793573 h 1920321"/>
              <a:gd name="connsiteX0" fmla="*/ 816055 w 1968356"/>
              <a:gd name="connsiteY0" fmla="*/ 1920876 h 1920876"/>
              <a:gd name="connsiteX1" fmla="*/ 598772 w 1968356"/>
              <a:gd name="connsiteY1" fmla="*/ 1060797 h 1920876"/>
              <a:gd name="connsiteX2" fmla="*/ 598771 w 1968356"/>
              <a:gd name="connsiteY2" fmla="*/ 354626 h 1920876"/>
              <a:gd name="connsiteX3" fmla="*/ 1243 w 1968356"/>
              <a:gd name="connsiteY3" fmla="*/ 1541 h 1920876"/>
              <a:gd name="connsiteX4" fmla="*/ 779841 w 1968356"/>
              <a:gd name="connsiteY4" fmla="*/ 227878 h 1920876"/>
              <a:gd name="connsiteX5" fmla="*/ 1639920 w 1968356"/>
              <a:gd name="connsiteY5" fmla="*/ 273145 h 1920876"/>
              <a:gd name="connsiteX6" fmla="*/ 1920578 w 1968356"/>
              <a:gd name="connsiteY6" fmla="*/ 1214706 h 1920876"/>
              <a:gd name="connsiteX7" fmla="*/ 1965845 w 1968356"/>
              <a:gd name="connsiteY7" fmla="*/ 1794128 h 1920876"/>
              <a:gd name="connsiteX0" fmla="*/ 816434 w 1968735"/>
              <a:gd name="connsiteY0" fmla="*/ 1921158 h 1921158"/>
              <a:gd name="connsiteX1" fmla="*/ 599151 w 1968735"/>
              <a:gd name="connsiteY1" fmla="*/ 1061079 h 1921158"/>
              <a:gd name="connsiteX2" fmla="*/ 599150 w 1968735"/>
              <a:gd name="connsiteY2" fmla="*/ 354908 h 1921158"/>
              <a:gd name="connsiteX3" fmla="*/ 1622 w 1968735"/>
              <a:gd name="connsiteY3" fmla="*/ 1823 h 1921158"/>
              <a:gd name="connsiteX4" fmla="*/ 807380 w 1968735"/>
              <a:gd name="connsiteY4" fmla="*/ 219107 h 1921158"/>
              <a:gd name="connsiteX5" fmla="*/ 1640299 w 1968735"/>
              <a:gd name="connsiteY5" fmla="*/ 273427 h 1921158"/>
              <a:gd name="connsiteX6" fmla="*/ 1920957 w 1968735"/>
              <a:gd name="connsiteY6" fmla="*/ 1214988 h 1921158"/>
              <a:gd name="connsiteX7" fmla="*/ 1966224 w 1968735"/>
              <a:gd name="connsiteY7" fmla="*/ 1794410 h 1921158"/>
              <a:gd name="connsiteX0" fmla="*/ 816434 w 1968735"/>
              <a:gd name="connsiteY0" fmla="*/ 1921420 h 1921420"/>
              <a:gd name="connsiteX1" fmla="*/ 599151 w 1968735"/>
              <a:gd name="connsiteY1" fmla="*/ 1061341 h 1921420"/>
              <a:gd name="connsiteX2" fmla="*/ 599150 w 1968735"/>
              <a:gd name="connsiteY2" fmla="*/ 355170 h 1921420"/>
              <a:gd name="connsiteX3" fmla="*/ 1622 w 1968735"/>
              <a:gd name="connsiteY3" fmla="*/ 2085 h 1921420"/>
              <a:gd name="connsiteX4" fmla="*/ 807380 w 1968735"/>
              <a:gd name="connsiteY4" fmla="*/ 219369 h 1921420"/>
              <a:gd name="connsiteX5" fmla="*/ 1640299 w 1968735"/>
              <a:gd name="connsiteY5" fmla="*/ 273689 h 1921420"/>
              <a:gd name="connsiteX6" fmla="*/ 1920957 w 1968735"/>
              <a:gd name="connsiteY6" fmla="*/ 1215250 h 1921420"/>
              <a:gd name="connsiteX7" fmla="*/ 1966224 w 1968735"/>
              <a:gd name="connsiteY7" fmla="*/ 1794672 h 1921420"/>
              <a:gd name="connsiteX0" fmla="*/ 825465 w 1977766"/>
              <a:gd name="connsiteY0" fmla="*/ 1903193 h 1903193"/>
              <a:gd name="connsiteX1" fmla="*/ 608182 w 1977766"/>
              <a:gd name="connsiteY1" fmla="*/ 1043114 h 1903193"/>
              <a:gd name="connsiteX2" fmla="*/ 608181 w 1977766"/>
              <a:gd name="connsiteY2" fmla="*/ 336943 h 1903193"/>
              <a:gd name="connsiteX3" fmla="*/ 1600 w 1977766"/>
              <a:gd name="connsiteY3" fmla="*/ 1965 h 1903193"/>
              <a:gd name="connsiteX4" fmla="*/ 816411 w 1977766"/>
              <a:gd name="connsiteY4" fmla="*/ 201142 h 1903193"/>
              <a:gd name="connsiteX5" fmla="*/ 1649330 w 1977766"/>
              <a:gd name="connsiteY5" fmla="*/ 255462 h 1903193"/>
              <a:gd name="connsiteX6" fmla="*/ 1929988 w 1977766"/>
              <a:gd name="connsiteY6" fmla="*/ 1197023 h 1903193"/>
              <a:gd name="connsiteX7" fmla="*/ 1975255 w 1977766"/>
              <a:gd name="connsiteY7" fmla="*/ 1776445 h 190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7766" h="1903193">
                <a:moveTo>
                  <a:pt x="825465" y="1903193"/>
                </a:moveTo>
                <a:cubicBezTo>
                  <a:pt x="731158" y="1605937"/>
                  <a:pt x="644396" y="1304156"/>
                  <a:pt x="608182" y="1043114"/>
                </a:cubicBezTo>
                <a:cubicBezTo>
                  <a:pt x="571968" y="782072"/>
                  <a:pt x="709278" y="510468"/>
                  <a:pt x="608181" y="336943"/>
                </a:cubicBezTo>
                <a:cubicBezTo>
                  <a:pt x="507084" y="163418"/>
                  <a:pt x="-33105" y="24599"/>
                  <a:pt x="1600" y="1965"/>
                </a:cubicBezTo>
                <a:cubicBezTo>
                  <a:pt x="36305" y="-20669"/>
                  <a:pt x="541789" y="158893"/>
                  <a:pt x="816411" y="201142"/>
                </a:cubicBezTo>
                <a:cubicBezTo>
                  <a:pt x="1091033" y="243392"/>
                  <a:pt x="1463734" y="89482"/>
                  <a:pt x="1649330" y="255462"/>
                </a:cubicBezTo>
                <a:cubicBezTo>
                  <a:pt x="1834926" y="421442"/>
                  <a:pt x="1875667" y="943526"/>
                  <a:pt x="1929988" y="1197023"/>
                </a:cubicBezTo>
                <a:cubicBezTo>
                  <a:pt x="1984309" y="1450520"/>
                  <a:pt x="1979782" y="1613482"/>
                  <a:pt x="1975255" y="1776445"/>
                </a:cubicBezTo>
              </a:path>
            </a:pathLst>
          </a:custGeom>
          <a:noFill/>
          <a:ln w="28575">
            <a:solidFill>
              <a:srgbClr val="ED6D00"/>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7" name="直接连接符 146"/>
          <p:cNvCxnSpPr/>
          <p:nvPr/>
        </p:nvCxnSpPr>
        <p:spPr bwMode="gray">
          <a:xfrm flipH="1">
            <a:off x="4014926" y="5768611"/>
            <a:ext cx="360000" cy="0"/>
          </a:xfrm>
          <a:prstGeom prst="line">
            <a:avLst/>
          </a:prstGeom>
          <a:noFill/>
          <a:ln w="28575">
            <a:solidFill>
              <a:srgbClr val="62B23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48" name="文本框 147"/>
          <p:cNvSpPr txBox="1"/>
          <p:nvPr/>
        </p:nvSpPr>
        <p:spPr bwMode="gray">
          <a:xfrm>
            <a:off x="4399719" y="5619159"/>
            <a:ext cx="1702751"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pPr algn="l"/>
            <a:r>
              <a:rPr lang="en-US" altLang="zh-CN" sz="1200" dirty="0">
                <a:sym typeface="Huawei Sans" panose="020C0503030203020204" pitchFamily="34" charset="0"/>
              </a:rPr>
              <a:t>PC1</a:t>
            </a:r>
            <a:r>
              <a:rPr lang="zh-CN" altLang="en-US" sz="1200" dirty="0">
                <a:sym typeface="Huawei Sans" panose="020C0503030203020204" pitchFamily="34" charset="0"/>
              </a:rPr>
              <a:t>访问</a:t>
            </a:r>
            <a:r>
              <a:rPr lang="en-US" altLang="zh-CN" sz="1200" dirty="0">
                <a:sym typeface="Huawei Sans" panose="020C0503030203020204" pitchFamily="34" charset="0"/>
              </a:rPr>
              <a:t>Internet</a:t>
            </a:r>
            <a:r>
              <a:rPr lang="zh-CN" altLang="en-US" sz="1200" dirty="0">
                <a:sym typeface="Huawei Sans" panose="020C0503030203020204" pitchFamily="34" charset="0"/>
              </a:rPr>
              <a:t>流量</a:t>
            </a:r>
          </a:p>
        </p:txBody>
      </p:sp>
      <p:cxnSp>
        <p:nvCxnSpPr>
          <p:cNvPr id="149" name="直接连接符 148"/>
          <p:cNvCxnSpPr/>
          <p:nvPr/>
        </p:nvCxnSpPr>
        <p:spPr bwMode="gray">
          <a:xfrm flipH="1">
            <a:off x="4014926" y="6045686"/>
            <a:ext cx="360000" cy="0"/>
          </a:xfrm>
          <a:prstGeom prst="line">
            <a:avLst/>
          </a:prstGeom>
          <a:noFill/>
          <a:ln w="28575">
            <a:solidFill>
              <a:srgbClr val="ED6D00"/>
            </a:solidFill>
            <a:prstDash val="dash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50" name="文本框 149"/>
          <p:cNvSpPr txBox="1"/>
          <p:nvPr/>
        </p:nvSpPr>
        <p:spPr bwMode="gray">
          <a:xfrm>
            <a:off x="4399719" y="5896234"/>
            <a:ext cx="1576002"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pPr algn="l"/>
            <a:r>
              <a:rPr lang="en-US" altLang="zh-CN" sz="1200" dirty="0">
                <a:sym typeface="Huawei Sans" panose="020C0503030203020204" pitchFamily="34" charset="0"/>
              </a:rPr>
              <a:t>PC2</a:t>
            </a:r>
            <a:r>
              <a:rPr lang="zh-CN" altLang="en-US" sz="1200" dirty="0">
                <a:sym typeface="Huawei Sans" panose="020C0503030203020204" pitchFamily="34" charset="0"/>
              </a:rPr>
              <a:t>访问</a:t>
            </a:r>
            <a:r>
              <a:rPr lang="en-US" altLang="zh-CN" sz="1200" dirty="0">
                <a:sym typeface="Huawei Sans" panose="020C0503030203020204" pitchFamily="34" charset="0"/>
              </a:rPr>
              <a:t>PC3</a:t>
            </a:r>
            <a:r>
              <a:rPr lang="zh-CN" altLang="en-US" sz="1200" dirty="0">
                <a:sym typeface="Huawei Sans" panose="020C0503030203020204" pitchFamily="34" charset="0"/>
              </a:rPr>
              <a:t>流量</a:t>
            </a:r>
          </a:p>
        </p:txBody>
      </p:sp>
      <p:pic>
        <p:nvPicPr>
          <p:cNvPr id="64" name="Picture 2" descr="G:\做的项目\公共\扁平图标切换\更新2015_01_21\oss扁平图标库2015_01_21更新-04.png"/>
          <p:cNvPicPr>
            <a:picLocks noChangeAspect="1" noChangeArrowheads="1"/>
          </p:cNvPicPr>
          <p:nvPr/>
        </p:nvPicPr>
        <p:blipFill>
          <a:blip r:embed="rId7"/>
          <a:stretch>
            <a:fillRect/>
          </a:stretch>
        </p:blipFill>
        <p:spPr bwMode="gray">
          <a:xfrm>
            <a:off x="1781303" y="2251126"/>
            <a:ext cx="369473" cy="302297"/>
          </a:xfrm>
          <a:prstGeom prst="rect">
            <a:avLst/>
          </a:prstGeom>
          <a:noFill/>
        </p:spPr>
      </p:pic>
      <p:pic>
        <p:nvPicPr>
          <p:cNvPr id="69" name="Picture 2" descr="G:\做的项目\公共\扁平图标切换\更新2015_01_21\oss扁平图标库2015_01_21更新-04.png"/>
          <p:cNvPicPr>
            <a:picLocks noChangeAspect="1" noChangeArrowheads="1"/>
          </p:cNvPicPr>
          <p:nvPr/>
        </p:nvPicPr>
        <p:blipFill>
          <a:blip r:embed="rId7"/>
          <a:stretch>
            <a:fillRect/>
          </a:stretch>
        </p:blipFill>
        <p:spPr bwMode="gray">
          <a:xfrm>
            <a:off x="2741465" y="2251126"/>
            <a:ext cx="369473" cy="302297"/>
          </a:xfrm>
          <a:prstGeom prst="rect">
            <a:avLst/>
          </a:prstGeom>
          <a:noFill/>
        </p:spPr>
      </p:pic>
      <p:cxnSp>
        <p:nvCxnSpPr>
          <p:cNvPr id="73" name="直接连接符 72"/>
          <p:cNvCxnSpPr>
            <a:endCxn id="64" idx="0"/>
          </p:cNvCxnSpPr>
          <p:nvPr/>
        </p:nvCxnSpPr>
        <p:spPr bwMode="gray">
          <a:xfrm>
            <a:off x="1966039" y="1973642"/>
            <a:ext cx="1" cy="2774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69" idx="0"/>
          </p:cNvCxnSpPr>
          <p:nvPr/>
        </p:nvCxnSpPr>
        <p:spPr bwMode="gray">
          <a:xfrm>
            <a:off x="2914238" y="1973642"/>
            <a:ext cx="0" cy="27748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bwMode="gray">
          <a:xfrm>
            <a:off x="1027075" y="2002813"/>
            <a:ext cx="1063515" cy="2723096"/>
          </a:xfrm>
          <a:custGeom>
            <a:avLst/>
            <a:gdLst>
              <a:gd name="connsiteX0" fmla="*/ 380247 w 1054759"/>
              <a:gd name="connsiteY0" fmla="*/ 2571184 h 2571184"/>
              <a:gd name="connsiteX1" fmla="*/ 941561 w 1054759"/>
              <a:gd name="connsiteY1" fmla="*/ 1312752 h 2571184"/>
              <a:gd name="connsiteX2" fmla="*/ 1 w 1054759"/>
              <a:gd name="connsiteY2" fmla="*/ 769544 h 2571184"/>
              <a:gd name="connsiteX3" fmla="*/ 950615 w 1054759"/>
              <a:gd name="connsiteY3" fmla="*/ 1004934 h 2571184"/>
              <a:gd name="connsiteX4" fmla="*/ 986829 w 1054759"/>
              <a:gd name="connsiteY4" fmla="*/ 0 h 2571184"/>
              <a:gd name="connsiteX0" fmla="*/ 316875 w 987241"/>
              <a:gd name="connsiteY0" fmla="*/ 2571184 h 2571184"/>
              <a:gd name="connsiteX1" fmla="*/ 878189 w 987241"/>
              <a:gd name="connsiteY1" fmla="*/ 1312752 h 2571184"/>
              <a:gd name="connsiteX2" fmla="*/ 3 w 987241"/>
              <a:gd name="connsiteY2" fmla="*/ 814811 h 2571184"/>
              <a:gd name="connsiteX3" fmla="*/ 887243 w 987241"/>
              <a:gd name="connsiteY3" fmla="*/ 1004934 h 2571184"/>
              <a:gd name="connsiteX4" fmla="*/ 923457 w 987241"/>
              <a:gd name="connsiteY4" fmla="*/ 0 h 2571184"/>
              <a:gd name="connsiteX0" fmla="*/ 316978 w 987344"/>
              <a:gd name="connsiteY0" fmla="*/ 2571184 h 2571184"/>
              <a:gd name="connsiteX1" fmla="*/ 823971 w 987344"/>
              <a:gd name="connsiteY1" fmla="*/ 1421393 h 2571184"/>
              <a:gd name="connsiteX2" fmla="*/ 106 w 987344"/>
              <a:gd name="connsiteY2" fmla="*/ 814811 h 2571184"/>
              <a:gd name="connsiteX3" fmla="*/ 887346 w 987344"/>
              <a:gd name="connsiteY3" fmla="*/ 1004934 h 2571184"/>
              <a:gd name="connsiteX4" fmla="*/ 923560 w 987344"/>
              <a:gd name="connsiteY4" fmla="*/ 0 h 2571184"/>
              <a:gd name="connsiteX0" fmla="*/ 317046 w 997522"/>
              <a:gd name="connsiteY0" fmla="*/ 2571184 h 2571184"/>
              <a:gd name="connsiteX1" fmla="*/ 824039 w 997522"/>
              <a:gd name="connsiteY1" fmla="*/ 1421393 h 2571184"/>
              <a:gd name="connsiteX2" fmla="*/ 174 w 997522"/>
              <a:gd name="connsiteY2" fmla="*/ 814811 h 2571184"/>
              <a:gd name="connsiteX3" fmla="*/ 905521 w 997522"/>
              <a:gd name="connsiteY3" fmla="*/ 950614 h 2571184"/>
              <a:gd name="connsiteX4" fmla="*/ 923628 w 997522"/>
              <a:gd name="connsiteY4" fmla="*/ 0 h 2571184"/>
              <a:gd name="connsiteX0" fmla="*/ 187794 w 859484"/>
              <a:gd name="connsiteY0" fmla="*/ 2571184 h 2571184"/>
              <a:gd name="connsiteX1" fmla="*/ 694787 w 859484"/>
              <a:gd name="connsiteY1" fmla="*/ 1421393 h 2571184"/>
              <a:gd name="connsiteX2" fmla="*/ 202 w 859484"/>
              <a:gd name="connsiteY2" fmla="*/ 760491 h 2571184"/>
              <a:gd name="connsiteX3" fmla="*/ 776269 w 859484"/>
              <a:gd name="connsiteY3" fmla="*/ 950614 h 2571184"/>
              <a:gd name="connsiteX4" fmla="*/ 794376 w 859484"/>
              <a:gd name="connsiteY4" fmla="*/ 0 h 2571184"/>
              <a:gd name="connsiteX0" fmla="*/ 187794 w 893332"/>
              <a:gd name="connsiteY0" fmla="*/ 2715643 h 2715643"/>
              <a:gd name="connsiteX1" fmla="*/ 694787 w 893332"/>
              <a:gd name="connsiteY1" fmla="*/ 1565852 h 2715643"/>
              <a:gd name="connsiteX2" fmla="*/ 202 w 893332"/>
              <a:gd name="connsiteY2" fmla="*/ 904950 h 2715643"/>
              <a:gd name="connsiteX3" fmla="*/ 776269 w 893332"/>
              <a:gd name="connsiteY3" fmla="*/ 1095073 h 2715643"/>
              <a:gd name="connsiteX4" fmla="*/ 855214 w 893332"/>
              <a:gd name="connsiteY4" fmla="*/ 0 h 2715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332" h="2715643">
                <a:moveTo>
                  <a:pt x="187794" y="2715643"/>
                </a:moveTo>
                <a:cubicBezTo>
                  <a:pt x="500138" y="2236563"/>
                  <a:pt x="726052" y="1867634"/>
                  <a:pt x="694787" y="1565852"/>
                </a:cubicBezTo>
                <a:cubicBezTo>
                  <a:pt x="663522" y="1264070"/>
                  <a:pt x="-13378" y="983413"/>
                  <a:pt x="202" y="904950"/>
                </a:cubicBezTo>
                <a:cubicBezTo>
                  <a:pt x="13782" y="826487"/>
                  <a:pt x="643907" y="1221821"/>
                  <a:pt x="776269" y="1095073"/>
                </a:cubicBezTo>
                <a:cubicBezTo>
                  <a:pt x="908631" y="968325"/>
                  <a:pt x="919342" y="438338"/>
                  <a:pt x="855214" y="0"/>
                </a:cubicBezTo>
              </a:path>
            </a:pathLst>
          </a:custGeom>
          <a:noFill/>
          <a:ln w="28575">
            <a:solidFill>
              <a:srgbClr val="62B23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4" name="直接连接符 83"/>
          <p:cNvCxnSpPr>
            <a:stCxn id="69" idx="1"/>
            <a:endCxn id="64" idx="3"/>
          </p:cNvCxnSpPr>
          <p:nvPr/>
        </p:nvCxnSpPr>
        <p:spPr bwMode="invGray">
          <a:xfrm flipH="1">
            <a:off x="2150776" y="2402275"/>
            <a:ext cx="5906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613888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出口路由设计：防火墙直连部署</a:t>
            </a:r>
          </a:p>
        </p:txBody>
      </p:sp>
      <p:sp>
        <p:nvSpPr>
          <p:cNvPr id="3" name="文本占位符 2"/>
          <p:cNvSpPr>
            <a:spLocks noGrp="1"/>
          </p:cNvSpPr>
          <p:nvPr>
            <p:ph type="body" sz="quarter" idx="10"/>
          </p:nvPr>
        </p:nvSpPr>
        <p:spPr bwMode="gray">
          <a:xfrm>
            <a:off x="455612" y="1047750"/>
            <a:ext cx="11293475" cy="1270452"/>
          </a:xfrm>
        </p:spPr>
        <p:txBody>
          <a:bodyPr/>
          <a:lstStyle/>
          <a:p>
            <a:r>
              <a:rPr lang="zh-CN" altLang="en-US" sz="1800" dirty="0"/>
              <a:t>防火墙与核心交换机间的路由包括核心交换机上园区内网到外部网络的路由，以及防火墙上外部网络到园区内网的回程路由。</a:t>
            </a:r>
            <a:endParaRPr lang="en-US" altLang="zh-CN" sz="1800" dirty="0"/>
          </a:p>
          <a:p>
            <a:r>
              <a:rPr lang="zh-CN" altLang="en-US" sz="1800" dirty="0"/>
              <a:t>在防火墙直连部署场景，推荐通过静态路由实现核心交换机与防火墙互通。</a:t>
            </a:r>
            <a:endParaRPr lang="en-US" altLang="zh-CN" sz="1800" dirty="0"/>
          </a:p>
        </p:txBody>
      </p:sp>
      <p:sp>
        <p:nvSpPr>
          <p:cNvPr id="86" name="文本框 85"/>
          <p:cNvSpPr txBox="1"/>
          <p:nvPr/>
        </p:nvSpPr>
        <p:spPr bwMode="gray">
          <a:xfrm>
            <a:off x="1666708" y="3306285"/>
            <a:ext cx="2878659" cy="1412869"/>
          </a:xfrm>
          <a:prstGeom prst="rect">
            <a:avLst/>
          </a:prstGeom>
          <a:solidFill>
            <a:schemeClr val="bg1">
              <a:lumMod val="95000"/>
            </a:schemeClr>
          </a:solidFill>
          <a:ln>
            <a:solidFill>
              <a:schemeClr val="bg1">
                <a:lumMod val="75000"/>
              </a:schemeClr>
            </a:solidFill>
          </a:ln>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p:cNvSpPr txBox="1"/>
          <p:nvPr/>
        </p:nvSpPr>
        <p:spPr bwMode="gray">
          <a:xfrm>
            <a:off x="1666708" y="5358679"/>
            <a:ext cx="2878659" cy="779326"/>
          </a:xfrm>
          <a:prstGeom prst="rect">
            <a:avLst/>
          </a:prstGeom>
          <a:solidFill>
            <a:schemeClr val="bg1">
              <a:lumMod val="95000"/>
            </a:schemeClr>
          </a:solidFill>
          <a:ln>
            <a:solidFill>
              <a:schemeClr val="bg1">
                <a:lumMod val="75000"/>
              </a:schemeClr>
            </a:solidFill>
          </a:ln>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p:cNvSpPr txBox="1"/>
          <p:nvPr/>
        </p:nvSpPr>
        <p:spPr bwMode="gray">
          <a:xfrm>
            <a:off x="1629493" y="3341121"/>
            <a:ext cx="470000" cy="307777"/>
          </a:xfrm>
          <a:prstGeom prst="rect">
            <a:avLst/>
          </a:prstGeom>
          <a:noFill/>
        </p:spPr>
        <p:txBody>
          <a:bodyPr wrap="none" rtlCol="0">
            <a:spAutoFit/>
          </a:bodyPr>
          <a:lstStyle/>
          <a:p>
            <a:pPr algn="r" font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FW</a:t>
            </a:r>
          </a:p>
        </p:txBody>
      </p:sp>
      <p:sp>
        <p:nvSpPr>
          <p:cNvPr id="90" name="文本框 89"/>
          <p:cNvSpPr txBox="1"/>
          <p:nvPr/>
        </p:nvSpPr>
        <p:spPr bwMode="gray">
          <a:xfrm>
            <a:off x="1629493" y="5854085"/>
            <a:ext cx="761747" cy="307777"/>
          </a:xfrm>
          <a:prstGeom prst="rect">
            <a:avLst/>
          </a:prstGeom>
          <a:noFill/>
        </p:spPr>
        <p:txBody>
          <a:bodyPr wrap="none" rtlCol="0">
            <a:spAutoFit/>
          </a:bodyPr>
          <a:lstStyle/>
          <a:p>
            <a:pPr algn="r" font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100" name="矩形 99"/>
          <p:cNvSpPr/>
          <p:nvPr/>
        </p:nvSpPr>
        <p:spPr bwMode="gray">
          <a:xfrm>
            <a:off x="2254146" y="3368157"/>
            <a:ext cx="1704089" cy="320645"/>
          </a:xfrm>
          <a:prstGeom prst="rect">
            <a:avLst/>
          </a:prstGeom>
          <a:solidFill>
            <a:schemeClr val="bg1">
              <a:lumMod val="65000"/>
            </a:schemeClr>
          </a:solidFill>
        </p:spPr>
        <p:txBody>
          <a:bodyPr wrap="square" rtlCol="0" anchor="ctr" anchorCtr="0">
            <a:noAutofit/>
          </a:bodyPr>
          <a:lstStyle/>
          <a:p>
            <a:pPr algn="ctr" defTabSz="914400" fontAlgn="base">
              <a:spcBef>
                <a:spcPct val="0"/>
              </a:spcBef>
              <a:spcAft>
                <a:spcPct val="0"/>
              </a:spcAft>
            </a:pPr>
            <a:r>
              <a:rPr lang="en-US" altLang="zh-CN" sz="1200" kern="0"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Public</a:t>
            </a:r>
            <a:endParaRPr lang="zh-CN" altLang="en-US" sz="1200" kern="0"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5" name="文本框 104"/>
          <p:cNvSpPr txBox="1"/>
          <p:nvPr/>
        </p:nvSpPr>
        <p:spPr bwMode="gray">
          <a:xfrm>
            <a:off x="2254147" y="5412453"/>
            <a:ext cx="576000" cy="403092"/>
          </a:xfrm>
          <a:prstGeom prst="rect">
            <a:avLst/>
          </a:prstGeom>
          <a:solidFill>
            <a:srgbClr val="BEE9EE"/>
          </a:solidFill>
        </p:spPr>
        <p:txBody>
          <a:bodyPr wrap="square"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VRF1</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7" name="文本框 106"/>
          <p:cNvSpPr txBox="1"/>
          <p:nvPr/>
        </p:nvSpPr>
        <p:spPr bwMode="gray">
          <a:xfrm>
            <a:off x="3387165" y="5412453"/>
            <a:ext cx="576000" cy="403092"/>
          </a:xfrm>
          <a:prstGeom prst="rect">
            <a:avLst/>
          </a:prstGeom>
          <a:solidFill>
            <a:srgbClr val="BFEBD3"/>
          </a:solidFill>
        </p:spPr>
        <p:txBody>
          <a:bodyPr wrap="square"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VRF2</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cxnSp>
        <p:nvCxnSpPr>
          <p:cNvPr id="109" name="Straight Connector 166"/>
          <p:cNvCxnSpPr/>
          <p:nvPr/>
        </p:nvCxnSpPr>
        <p:spPr bwMode="gray">
          <a:xfrm flipV="1">
            <a:off x="2533438" y="4686674"/>
            <a:ext cx="0" cy="725779"/>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11" name="Straight Connector 166"/>
          <p:cNvCxnSpPr>
            <a:stCxn id="107" idx="0"/>
            <a:endCxn id="153" idx="2"/>
          </p:cNvCxnSpPr>
          <p:nvPr/>
        </p:nvCxnSpPr>
        <p:spPr bwMode="gray">
          <a:xfrm flipH="1" flipV="1">
            <a:off x="3670236" y="4686674"/>
            <a:ext cx="4929" cy="72577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51" name="文本框 150"/>
          <p:cNvSpPr txBox="1"/>
          <p:nvPr/>
        </p:nvSpPr>
        <p:spPr bwMode="gray">
          <a:xfrm>
            <a:off x="2254147" y="4204937"/>
            <a:ext cx="576000" cy="481737"/>
          </a:xfrm>
          <a:prstGeom prst="rect">
            <a:avLst/>
          </a:prstGeom>
          <a:solidFill>
            <a:srgbClr val="BEE9EE"/>
          </a:solidFill>
        </p:spPr>
        <p:txBody>
          <a:bodyPr wrap="square" rtlCol="0" anchor="ctr">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b="0" i="0" u="none" strike="noStrike" kern="0" cap="none" spc="0" normalizeH="0" baseline="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defRPr>
            </a:lvl1pPr>
          </a:lstStyle>
          <a:p>
            <a:r>
              <a:rPr lang="en-US" altLang="zh-CN" dirty="0">
                <a:sym typeface="Huawei Sans" panose="020C0503030203020204" pitchFamily="34" charset="0"/>
              </a:rPr>
              <a:t>vsys1</a:t>
            </a:r>
            <a:endParaRPr lang="zh-CN" altLang="en-US" dirty="0">
              <a:sym typeface="Huawei Sans" panose="020C0503030203020204" pitchFamily="34" charset="0"/>
            </a:endParaRPr>
          </a:p>
        </p:txBody>
      </p:sp>
      <p:sp>
        <p:nvSpPr>
          <p:cNvPr id="153" name="文本框 152"/>
          <p:cNvSpPr txBox="1"/>
          <p:nvPr/>
        </p:nvSpPr>
        <p:spPr bwMode="gray">
          <a:xfrm>
            <a:off x="3382236" y="4204937"/>
            <a:ext cx="576000" cy="481737"/>
          </a:xfrm>
          <a:prstGeom prst="rect">
            <a:avLst/>
          </a:prstGeom>
          <a:solidFill>
            <a:srgbClr val="BFEBD3"/>
          </a:solidFill>
        </p:spPr>
        <p:txBody>
          <a:bodyPr wrap="square" rtlCol="0" anchor="ctr">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b="0" i="0" u="none" strike="noStrike" kern="0" cap="none" spc="0" normalizeH="0" baseline="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defRPr>
            </a:lvl1pPr>
          </a:lstStyle>
          <a:p>
            <a:r>
              <a:rPr lang="en-US" altLang="zh-CN" dirty="0">
                <a:sym typeface="Huawei Sans" panose="020C0503030203020204" pitchFamily="34" charset="0"/>
              </a:rPr>
              <a:t>vsys2</a:t>
            </a:r>
            <a:endParaRPr lang="zh-CN" altLang="en-US" dirty="0">
              <a:sym typeface="Huawei Sans" panose="020C0503030203020204" pitchFamily="34" charset="0"/>
            </a:endParaRPr>
          </a:p>
        </p:txBody>
      </p:sp>
      <p:sp>
        <p:nvSpPr>
          <p:cNvPr id="166" name="文本框 165"/>
          <p:cNvSpPr txBox="1"/>
          <p:nvPr/>
        </p:nvSpPr>
        <p:spPr bwMode="gray">
          <a:xfrm>
            <a:off x="4678233" y="5896688"/>
            <a:ext cx="2447840"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独占出口为例</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文本框 196"/>
          <p:cNvSpPr txBox="1"/>
          <p:nvPr/>
        </p:nvSpPr>
        <p:spPr bwMode="gray">
          <a:xfrm>
            <a:off x="589085" y="5062658"/>
            <a:ext cx="2006091" cy="276999"/>
          </a:xfrm>
          <a:prstGeom prst="rect">
            <a:avLst/>
          </a:prstGeom>
          <a:noFill/>
        </p:spPr>
        <p:txBody>
          <a:bodyPr wrap="squar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10.11.0.254  VLANIF11</a:t>
            </a:r>
          </a:p>
        </p:txBody>
      </p:sp>
      <p:sp>
        <p:nvSpPr>
          <p:cNvPr id="27" name="文本框 26"/>
          <p:cNvSpPr txBox="1"/>
          <p:nvPr/>
        </p:nvSpPr>
        <p:spPr bwMode="gray">
          <a:xfrm>
            <a:off x="996660" y="4703340"/>
            <a:ext cx="1598516"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10.11.0.1  VLANIF11</a:t>
            </a:r>
          </a:p>
        </p:txBody>
      </p:sp>
      <p:sp>
        <p:nvSpPr>
          <p:cNvPr id="29" name="椭圆 28"/>
          <p:cNvSpPr/>
          <p:nvPr/>
        </p:nvSpPr>
        <p:spPr bwMode="gray">
          <a:xfrm>
            <a:off x="2459812" y="5315134"/>
            <a:ext cx="144000" cy="144000"/>
          </a:xfrm>
          <a:prstGeom prst="ellipse">
            <a:avLst/>
          </a:prstGeom>
          <a:solidFill>
            <a:schemeClr val="bg1"/>
          </a:solidFill>
          <a:ln>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bwMode="gray">
          <a:xfrm>
            <a:off x="2459812" y="4609990"/>
            <a:ext cx="144000" cy="144000"/>
          </a:xfrm>
          <a:prstGeom prst="ellipse">
            <a:avLst/>
          </a:prstGeom>
          <a:solidFill>
            <a:schemeClr val="bg1"/>
          </a:solidFill>
          <a:ln>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bwMode="gray">
          <a:xfrm>
            <a:off x="2459812" y="4132967"/>
            <a:ext cx="144000" cy="144000"/>
          </a:xfrm>
          <a:prstGeom prst="ellipse">
            <a:avLst/>
          </a:prstGeom>
          <a:solidFill>
            <a:srgbClr val="56C4D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bwMode="gray">
          <a:xfrm>
            <a:off x="1653847" y="3958468"/>
            <a:ext cx="891591"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Virtual-if1</a:t>
            </a:r>
          </a:p>
        </p:txBody>
      </p:sp>
      <p:sp>
        <p:nvSpPr>
          <p:cNvPr id="36" name="椭圆 35"/>
          <p:cNvSpPr/>
          <p:nvPr/>
        </p:nvSpPr>
        <p:spPr bwMode="gray">
          <a:xfrm>
            <a:off x="3034190" y="3614281"/>
            <a:ext cx="144000" cy="144000"/>
          </a:xfrm>
          <a:prstGeom prst="ellipse">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bwMode="gray">
          <a:xfrm>
            <a:off x="3122417" y="3641148"/>
            <a:ext cx="891591"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Virtual-if0</a:t>
            </a:r>
          </a:p>
        </p:txBody>
      </p:sp>
      <p:sp>
        <p:nvSpPr>
          <p:cNvPr id="40" name="椭圆 39"/>
          <p:cNvSpPr/>
          <p:nvPr/>
        </p:nvSpPr>
        <p:spPr bwMode="gray">
          <a:xfrm>
            <a:off x="3598236" y="5315134"/>
            <a:ext cx="144000" cy="144000"/>
          </a:xfrm>
          <a:prstGeom prst="ellipse">
            <a:avLst/>
          </a:prstGeom>
          <a:solidFill>
            <a:schemeClr val="bg1"/>
          </a:solid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bwMode="gray">
          <a:xfrm>
            <a:off x="3598236" y="4609990"/>
            <a:ext cx="144000" cy="144000"/>
          </a:xfrm>
          <a:prstGeom prst="ellipse">
            <a:avLst/>
          </a:prstGeom>
          <a:solidFill>
            <a:schemeClr val="bg1"/>
          </a:solid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bwMode="gray">
          <a:xfrm>
            <a:off x="3598236" y="4132967"/>
            <a:ext cx="144000" cy="144000"/>
          </a:xfrm>
          <a:prstGeom prst="ellipse">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bwMode="gray">
          <a:xfrm>
            <a:off x="3721335" y="3958468"/>
            <a:ext cx="891591"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Virtual-if2</a:t>
            </a:r>
          </a:p>
        </p:txBody>
      </p:sp>
      <p:sp>
        <p:nvSpPr>
          <p:cNvPr id="46" name="文本框 45"/>
          <p:cNvSpPr txBox="1"/>
          <p:nvPr/>
        </p:nvSpPr>
        <p:spPr bwMode="gray">
          <a:xfrm>
            <a:off x="3682439" y="5063677"/>
            <a:ext cx="1771639"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VLANIF12  10.12.0.254</a:t>
            </a:r>
          </a:p>
        </p:txBody>
      </p:sp>
      <p:sp>
        <p:nvSpPr>
          <p:cNvPr id="47" name="文本框 46"/>
          <p:cNvSpPr txBox="1"/>
          <p:nvPr/>
        </p:nvSpPr>
        <p:spPr bwMode="gray">
          <a:xfrm>
            <a:off x="3682439" y="4703340"/>
            <a:ext cx="1598515"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VLANIF12  10.12.0.1</a:t>
            </a:r>
          </a:p>
        </p:txBody>
      </p:sp>
      <p:grpSp>
        <p:nvGrpSpPr>
          <p:cNvPr id="50" name="组合 49"/>
          <p:cNvGrpSpPr/>
          <p:nvPr/>
        </p:nvGrpSpPr>
        <p:grpSpPr bwMode="gray">
          <a:xfrm>
            <a:off x="2636295" y="2361866"/>
            <a:ext cx="909482" cy="480535"/>
            <a:chOff x="591922" y="1761021"/>
            <a:chExt cx="909482" cy="480535"/>
          </a:xfrm>
        </p:grpSpPr>
        <p:sp>
          <p:nvSpPr>
            <p:cNvPr id="51"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591922" y="1935047"/>
              <a:ext cx="909482" cy="305105"/>
            </a:xfrm>
            <a:prstGeom prst="rect">
              <a:avLst/>
            </a:prstGeom>
            <a:noFill/>
          </p:spPr>
          <p:txBody>
            <a:bodyPr wrap="square" rtlCol="0">
              <a:noAutofit/>
            </a:bodyPr>
            <a:lstStyle/>
            <a:p>
              <a:pPr algn="ctr" font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cxnSp>
        <p:nvCxnSpPr>
          <p:cNvPr id="53" name="直接连接符 52"/>
          <p:cNvCxnSpPr>
            <a:stCxn id="52" idx="2"/>
          </p:cNvCxnSpPr>
          <p:nvPr/>
        </p:nvCxnSpPr>
        <p:spPr bwMode="gray">
          <a:xfrm>
            <a:off x="3091036" y="2840997"/>
            <a:ext cx="0" cy="527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bwMode="gray">
          <a:xfrm>
            <a:off x="3027745" y="3268336"/>
            <a:ext cx="144000" cy="144000"/>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bwMode="gray">
          <a:xfrm>
            <a:off x="3081850" y="3040244"/>
            <a:ext cx="1305165"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  1.2.3.3</a:t>
            </a:r>
          </a:p>
        </p:txBody>
      </p:sp>
      <p:sp>
        <p:nvSpPr>
          <p:cNvPr id="57" name="圆角矩形 75"/>
          <p:cNvSpPr/>
          <p:nvPr/>
        </p:nvSpPr>
        <p:spPr bwMode="gray">
          <a:xfrm>
            <a:off x="7258939" y="2432502"/>
            <a:ext cx="3657320"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内网员工访问</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58" name="圆角矩形 75"/>
          <p:cNvSpPr/>
          <p:nvPr/>
        </p:nvSpPr>
        <p:spPr bwMode="gray">
          <a:xfrm>
            <a:off x="7258939" y="2826488"/>
            <a:ext cx="3657320" cy="2989057"/>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marL="171450" indent="-171450" defTabSz="914400">
              <a:lnSpc>
                <a:spcPct val="150000"/>
              </a:lnSpc>
              <a:buSzPct val="100000"/>
              <a:buFont typeface="Arial" panose="020B0604020202020204" pitchFamily="34" charset="0"/>
              <a:buChar cha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内网员工访问</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408600" indent="-228600" defTabSz="914400">
              <a:lnSpc>
                <a:spcPct val="150000"/>
              </a:lnSpc>
              <a:buSzPct val="100000"/>
              <a:buFont typeface="+mj-lt"/>
              <a:buAutoNum type="arabicPeriod"/>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缺省路由，下一跳为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vsys1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的私网接口</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VLANIF11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408600" indent="-228600" defTabSz="914400">
              <a:lnSpc>
                <a:spcPct val="150000"/>
              </a:lnSpc>
              <a:buSzPct val="100000"/>
              <a:buFont typeface="+mj-lt"/>
              <a:buAutoNum type="arabicPeriod"/>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vsys1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：静态缺省路由，下一跳为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Public</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，将内网员工访问</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流量引入根系统。</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408600" indent="-228600" defTabSz="914400">
              <a:lnSpc>
                <a:spcPct val="150000"/>
              </a:lnSpc>
              <a:buSzPct val="100000"/>
              <a:buFont typeface="+mj-lt"/>
              <a:buAutoNum type="arabicPeriod"/>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：静态缺省路由，下一跳为公网网关地址。</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defTabSz="914400">
              <a:lnSpc>
                <a:spcPct val="150000"/>
              </a:lnSpc>
              <a:buSzPct val="100000"/>
              <a:buFont typeface="Arial" panose="020B0604020202020204" pitchFamily="34" charset="0"/>
              <a:buChar cha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回程路由：</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SzPct val="100000"/>
              <a:buFont typeface="Huawei Sans" panose="020C0503030203020204" pitchFamily="34" charset="0"/>
              <a:buChar cha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vsys1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：静态路由，下一跳为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VRF1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对应</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接口地址，将</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vsys1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内员工访问</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的回程流量引入内网。</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2471744" y="2829001"/>
            <a:ext cx="636713"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1.2.3.4</a:t>
            </a:r>
          </a:p>
        </p:txBody>
      </p:sp>
      <p:sp>
        <p:nvSpPr>
          <p:cNvPr id="15" name="任意多边形 14"/>
          <p:cNvSpPr/>
          <p:nvPr/>
        </p:nvSpPr>
        <p:spPr>
          <a:xfrm>
            <a:off x="2615190" y="2961579"/>
            <a:ext cx="554178" cy="3132306"/>
          </a:xfrm>
          <a:custGeom>
            <a:avLst/>
            <a:gdLst>
              <a:gd name="connsiteX0" fmla="*/ 28791 w 763543"/>
              <a:gd name="connsiteY0" fmla="*/ 3200400 h 3200400"/>
              <a:gd name="connsiteX1" fmla="*/ 77429 w 763543"/>
              <a:gd name="connsiteY1" fmla="*/ 1303506 h 3200400"/>
              <a:gd name="connsiteX2" fmla="*/ 690271 w 763543"/>
              <a:gd name="connsiteY2" fmla="*/ 807396 h 3200400"/>
              <a:gd name="connsiteX3" fmla="*/ 729182 w 763543"/>
              <a:gd name="connsiteY3" fmla="*/ 0 h 3200400"/>
              <a:gd name="connsiteX0" fmla="*/ 20006 w 726148"/>
              <a:gd name="connsiteY0" fmla="*/ 3200400 h 3200400"/>
              <a:gd name="connsiteX1" fmla="*/ 68644 w 726148"/>
              <a:gd name="connsiteY1" fmla="*/ 1303506 h 3200400"/>
              <a:gd name="connsiteX2" fmla="*/ 516115 w 726148"/>
              <a:gd name="connsiteY2" fmla="*/ 807396 h 3200400"/>
              <a:gd name="connsiteX3" fmla="*/ 720397 w 726148"/>
              <a:gd name="connsiteY3" fmla="*/ 0 h 3200400"/>
              <a:gd name="connsiteX0" fmla="*/ 20006 w 563018"/>
              <a:gd name="connsiteY0" fmla="*/ 3132306 h 3132306"/>
              <a:gd name="connsiteX1" fmla="*/ 68644 w 563018"/>
              <a:gd name="connsiteY1" fmla="*/ 1235412 h 3132306"/>
              <a:gd name="connsiteX2" fmla="*/ 516115 w 563018"/>
              <a:gd name="connsiteY2" fmla="*/ 739302 h 3132306"/>
              <a:gd name="connsiteX3" fmla="*/ 525844 w 563018"/>
              <a:gd name="connsiteY3" fmla="*/ 0 h 3132306"/>
              <a:gd name="connsiteX0" fmla="*/ 20006 w 554178"/>
              <a:gd name="connsiteY0" fmla="*/ 3132306 h 3132306"/>
              <a:gd name="connsiteX1" fmla="*/ 68644 w 554178"/>
              <a:gd name="connsiteY1" fmla="*/ 1235412 h 3132306"/>
              <a:gd name="connsiteX2" fmla="*/ 516115 w 554178"/>
              <a:gd name="connsiteY2" fmla="*/ 739302 h 3132306"/>
              <a:gd name="connsiteX3" fmla="*/ 525844 w 554178"/>
              <a:gd name="connsiteY3" fmla="*/ 0 h 3132306"/>
            </a:gdLst>
            <a:ahLst/>
            <a:cxnLst>
              <a:cxn ang="0">
                <a:pos x="connsiteX0" y="connsiteY0"/>
              </a:cxn>
              <a:cxn ang="0">
                <a:pos x="connsiteX1" y="connsiteY1"/>
              </a:cxn>
              <a:cxn ang="0">
                <a:pos x="connsiteX2" y="connsiteY2"/>
              </a:cxn>
              <a:cxn ang="0">
                <a:pos x="connsiteX3" y="connsiteY3"/>
              </a:cxn>
            </a:cxnLst>
            <a:rect l="l" t="t" r="r" b="b"/>
            <a:pathLst>
              <a:path w="554178" h="3132306">
                <a:moveTo>
                  <a:pt x="20006" y="3132306"/>
                </a:moveTo>
                <a:cubicBezTo>
                  <a:pt x="-10799" y="2383276"/>
                  <a:pt x="-14041" y="1634246"/>
                  <a:pt x="68644" y="1235412"/>
                </a:cubicBezTo>
                <a:cubicBezTo>
                  <a:pt x="151329" y="836578"/>
                  <a:pt x="439915" y="945204"/>
                  <a:pt x="516115" y="739302"/>
                </a:cubicBezTo>
                <a:cubicBezTo>
                  <a:pt x="592315" y="533400"/>
                  <a:pt x="531518" y="275617"/>
                  <a:pt x="525844" y="0"/>
                </a:cubicBezTo>
              </a:path>
            </a:pathLst>
          </a:custGeom>
          <a:noFill/>
          <a:ln w="19050">
            <a:solidFill>
              <a:srgbClr val="ED6D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bwMode="gray">
          <a:xfrm>
            <a:off x="691394" y="2465310"/>
            <a:ext cx="144000" cy="144000"/>
          </a:xfrm>
          <a:prstGeom prst="ellipse">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bwMode="gray">
          <a:xfrm>
            <a:off x="923429" y="2416815"/>
            <a:ext cx="838462"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虚拟接口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椭圆 64"/>
          <p:cNvSpPr/>
          <p:nvPr/>
        </p:nvSpPr>
        <p:spPr bwMode="gray">
          <a:xfrm>
            <a:off x="691394" y="2702648"/>
            <a:ext cx="144000" cy="144000"/>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bwMode="gray">
          <a:xfrm>
            <a:off x="923429" y="2654153"/>
            <a:ext cx="838462"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逻辑接口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椭圆 66"/>
          <p:cNvSpPr/>
          <p:nvPr/>
        </p:nvSpPr>
        <p:spPr bwMode="gray">
          <a:xfrm>
            <a:off x="691394" y="2939987"/>
            <a:ext cx="144000" cy="144000"/>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bwMode="gray">
          <a:xfrm>
            <a:off x="923429" y="2891492"/>
            <a:ext cx="838462"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物理接口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Straight Connector 166"/>
          <p:cNvCxnSpPr/>
          <p:nvPr/>
        </p:nvCxnSpPr>
        <p:spPr bwMode="gray">
          <a:xfrm flipV="1">
            <a:off x="514314" y="3270878"/>
            <a:ext cx="321080" cy="3322"/>
          </a:xfrm>
          <a:prstGeom prst="line">
            <a:avLst/>
          </a:prstGeom>
          <a:noFill/>
          <a:ln w="19050">
            <a:solidFill>
              <a:srgbClr val="ED6D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2" name="文本框 71"/>
          <p:cNvSpPr txBox="1"/>
          <p:nvPr/>
        </p:nvSpPr>
        <p:spPr bwMode="gray">
          <a:xfrm>
            <a:off x="923429" y="3125450"/>
            <a:ext cx="838462"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用户流量</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245028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出口路由设计：防火墙旁挂部署</a:t>
            </a:r>
          </a:p>
        </p:txBody>
      </p:sp>
      <p:sp>
        <p:nvSpPr>
          <p:cNvPr id="3" name="文本占位符 2"/>
          <p:cNvSpPr>
            <a:spLocks noGrp="1"/>
          </p:cNvSpPr>
          <p:nvPr>
            <p:ph type="body" sz="quarter" idx="10"/>
          </p:nvPr>
        </p:nvSpPr>
        <p:spPr bwMode="gray">
          <a:xfrm>
            <a:off x="455612" y="1047750"/>
            <a:ext cx="11293475" cy="1270452"/>
          </a:xfrm>
        </p:spPr>
        <p:txBody>
          <a:bodyPr/>
          <a:lstStyle/>
          <a:p>
            <a:r>
              <a:rPr lang="zh-CN" altLang="en-US" sz="1800" dirty="0"/>
              <a:t>在防火墙旁挂部署场景：</a:t>
            </a:r>
            <a:endParaRPr lang="en-US" altLang="zh-CN" sz="1800" dirty="0"/>
          </a:p>
          <a:p>
            <a:pPr lvl="1"/>
            <a:r>
              <a:rPr lang="zh-CN" altLang="en-US" sz="1600" dirty="0"/>
              <a:t>推荐通过静态路由实现核心交换机与防火墙互通。</a:t>
            </a:r>
            <a:endParaRPr lang="en-US" altLang="zh-CN" sz="1600" dirty="0"/>
          </a:p>
          <a:p>
            <a:pPr lvl="1"/>
            <a:r>
              <a:rPr lang="zh-CN" altLang="en-US" sz="1600" dirty="0"/>
              <a:t>推荐通过动态路由（</a:t>
            </a:r>
            <a:r>
              <a:rPr lang="en-US" altLang="zh-CN" sz="1600" dirty="0"/>
              <a:t>OSPF</a:t>
            </a:r>
            <a:r>
              <a:rPr lang="zh-CN" altLang="en-US" sz="1600" dirty="0"/>
              <a:t>）实现核心交换机与出口路由器互通。</a:t>
            </a:r>
            <a:endParaRPr lang="en-US" altLang="zh-CN" sz="1600" dirty="0"/>
          </a:p>
        </p:txBody>
      </p:sp>
      <p:sp>
        <p:nvSpPr>
          <p:cNvPr id="87" name="文本框 86"/>
          <p:cNvSpPr txBox="1"/>
          <p:nvPr/>
        </p:nvSpPr>
        <p:spPr bwMode="gray">
          <a:xfrm>
            <a:off x="531059" y="4254496"/>
            <a:ext cx="1890632" cy="1320180"/>
          </a:xfrm>
          <a:prstGeom prst="rect">
            <a:avLst/>
          </a:prstGeom>
          <a:solidFill>
            <a:schemeClr val="bg1">
              <a:lumMod val="95000"/>
            </a:schemeClr>
          </a:solidFill>
          <a:ln>
            <a:solidFill>
              <a:schemeClr val="bg1">
                <a:lumMod val="75000"/>
              </a:schemeClr>
            </a:solidFill>
          </a:ln>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bwMode="gray">
          <a:xfrm>
            <a:off x="531059" y="4278556"/>
            <a:ext cx="761747" cy="307777"/>
          </a:xfrm>
          <a:prstGeom prst="rect">
            <a:avLst/>
          </a:prstGeom>
          <a:noFill/>
        </p:spPr>
        <p:txBody>
          <a:bodyPr wrap="none" rtlCol="0">
            <a:spAutoFit/>
          </a:bodyPr>
          <a:lstStyle/>
          <a:p>
            <a:pPr algn="r" font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105" name="文本框 104"/>
          <p:cNvSpPr txBox="1"/>
          <p:nvPr/>
        </p:nvSpPr>
        <p:spPr bwMode="gray">
          <a:xfrm>
            <a:off x="1315196" y="4708756"/>
            <a:ext cx="1045980" cy="304323"/>
          </a:xfrm>
          <a:prstGeom prst="rect">
            <a:avLst/>
          </a:prstGeom>
          <a:solidFill>
            <a:srgbClr val="BEE9EE"/>
          </a:solidFill>
        </p:spPr>
        <p:txBody>
          <a:bodyPr wrap="square"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VRF1</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46" name="文本框 45"/>
          <p:cNvSpPr txBox="1"/>
          <p:nvPr/>
        </p:nvSpPr>
        <p:spPr bwMode="gray">
          <a:xfrm>
            <a:off x="1853413" y="3994745"/>
            <a:ext cx="1564852"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  10.2.0.254</a:t>
            </a:r>
          </a:p>
        </p:txBody>
      </p:sp>
      <p:sp>
        <p:nvSpPr>
          <p:cNvPr id="47" name="文本框 46"/>
          <p:cNvSpPr txBox="1"/>
          <p:nvPr/>
        </p:nvSpPr>
        <p:spPr bwMode="gray">
          <a:xfrm>
            <a:off x="1853413" y="3656965"/>
            <a:ext cx="1391728"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  10.2.0.1</a:t>
            </a:r>
          </a:p>
        </p:txBody>
      </p:sp>
      <p:grpSp>
        <p:nvGrpSpPr>
          <p:cNvPr id="50" name="组合 49"/>
          <p:cNvGrpSpPr/>
          <p:nvPr/>
        </p:nvGrpSpPr>
        <p:grpSpPr bwMode="gray">
          <a:xfrm>
            <a:off x="1389880" y="2466173"/>
            <a:ext cx="909482" cy="480535"/>
            <a:chOff x="591922" y="1761021"/>
            <a:chExt cx="909482" cy="480535"/>
          </a:xfrm>
        </p:grpSpPr>
        <p:sp>
          <p:nvSpPr>
            <p:cNvPr id="51"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591922" y="1935047"/>
              <a:ext cx="909482" cy="305105"/>
            </a:xfrm>
            <a:prstGeom prst="rect">
              <a:avLst/>
            </a:prstGeom>
            <a:noFill/>
          </p:spPr>
          <p:txBody>
            <a:bodyPr wrap="square" rtlCol="0">
              <a:noAutofit/>
            </a:bodyPr>
            <a:lstStyle/>
            <a:p>
              <a:pPr algn="ctr" font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cxnSp>
        <p:nvCxnSpPr>
          <p:cNvPr id="53" name="直接连接符 52"/>
          <p:cNvCxnSpPr/>
          <p:nvPr/>
        </p:nvCxnSpPr>
        <p:spPr bwMode="gray">
          <a:xfrm>
            <a:off x="1853952" y="2945304"/>
            <a:ext cx="0" cy="405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1853413" y="3121394"/>
            <a:ext cx="1305165"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  1.2.3.3</a:t>
            </a:r>
          </a:p>
        </p:txBody>
      </p:sp>
      <p:sp>
        <p:nvSpPr>
          <p:cNvPr id="61" name="文本框 60"/>
          <p:cNvSpPr txBox="1"/>
          <p:nvPr/>
        </p:nvSpPr>
        <p:spPr bwMode="gray">
          <a:xfrm>
            <a:off x="1266175" y="2910341"/>
            <a:ext cx="636713"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1.2.3.4</a:t>
            </a:r>
          </a:p>
        </p:txBody>
      </p:sp>
      <p:sp>
        <p:nvSpPr>
          <p:cNvPr id="44" name="文本框 43"/>
          <p:cNvSpPr txBox="1"/>
          <p:nvPr/>
        </p:nvSpPr>
        <p:spPr bwMode="gray">
          <a:xfrm>
            <a:off x="531059" y="3376656"/>
            <a:ext cx="1890632" cy="289371"/>
          </a:xfrm>
          <a:prstGeom prst="rect">
            <a:avLst/>
          </a:prstGeom>
          <a:solidFill>
            <a:schemeClr val="bg1">
              <a:lumMod val="95000"/>
            </a:schemeClr>
          </a:solidFill>
          <a:ln>
            <a:solidFill>
              <a:schemeClr val="bg1">
                <a:lumMod val="75000"/>
              </a:schemeClr>
            </a:solidFill>
          </a:ln>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531059" y="3376656"/>
            <a:ext cx="425116" cy="307777"/>
          </a:xfrm>
          <a:prstGeom prst="rect">
            <a:avLst/>
          </a:prstGeom>
          <a:noFill/>
        </p:spPr>
        <p:txBody>
          <a:bodyPr wrap="none" rtlCol="0">
            <a:spAutoFit/>
          </a:bodyPr>
          <a:lstStyle/>
          <a:p>
            <a:pPr algn="r" font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AR</a:t>
            </a:r>
          </a:p>
        </p:txBody>
      </p:sp>
      <p:sp>
        <p:nvSpPr>
          <p:cNvPr id="30" name="椭圆 29"/>
          <p:cNvSpPr/>
          <p:nvPr/>
        </p:nvSpPr>
        <p:spPr bwMode="gray">
          <a:xfrm>
            <a:off x="2332027" y="4786231"/>
            <a:ext cx="144000" cy="144000"/>
          </a:xfrm>
          <a:prstGeom prst="ellipse">
            <a:avLst/>
          </a:prstGeom>
          <a:solidFill>
            <a:schemeClr val="bg1"/>
          </a:solidFill>
          <a:ln>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bwMode="gray">
          <a:xfrm>
            <a:off x="1772621" y="3568048"/>
            <a:ext cx="144000" cy="144000"/>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连接符 59"/>
          <p:cNvCxnSpPr>
            <a:stCxn id="55" idx="6"/>
            <a:endCxn id="73" idx="2"/>
          </p:cNvCxnSpPr>
          <p:nvPr/>
        </p:nvCxnSpPr>
        <p:spPr bwMode="gray">
          <a:xfrm>
            <a:off x="2476027" y="4478816"/>
            <a:ext cx="212011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6" name="矩形 65"/>
          <p:cNvSpPr/>
          <p:nvPr/>
        </p:nvSpPr>
        <p:spPr bwMode="gray">
          <a:xfrm>
            <a:off x="1315196" y="4301318"/>
            <a:ext cx="1045980" cy="320645"/>
          </a:xfrm>
          <a:prstGeom prst="rect">
            <a:avLst/>
          </a:prstGeom>
          <a:solidFill>
            <a:schemeClr val="bg1">
              <a:lumMod val="65000"/>
            </a:schemeClr>
          </a:solidFill>
        </p:spPr>
        <p:txBody>
          <a:bodyPr wrap="square" rtlCol="0" anchor="ctr" anchorCtr="0">
            <a:noAutofit/>
          </a:bodyPr>
          <a:lstStyle/>
          <a:p>
            <a:pPr algn="ctr" defTabSz="914400" fontAlgn="base">
              <a:spcBef>
                <a:spcPct val="0"/>
              </a:spcBef>
              <a:spcAft>
                <a:spcPct val="0"/>
              </a:spcAft>
            </a:pPr>
            <a:r>
              <a:rPr lang="en-US" altLang="zh-CN" sz="1200" kern="0"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Public</a:t>
            </a:r>
            <a:endParaRPr lang="zh-CN" altLang="en-US" sz="1200" kern="0"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7" name="文本框 66"/>
          <p:cNvSpPr txBox="1"/>
          <p:nvPr/>
        </p:nvSpPr>
        <p:spPr bwMode="gray">
          <a:xfrm>
            <a:off x="1315196" y="5099872"/>
            <a:ext cx="1045980" cy="304323"/>
          </a:xfrm>
          <a:prstGeom prst="rect">
            <a:avLst/>
          </a:prstGeom>
          <a:solidFill>
            <a:srgbClr val="BFEBD3"/>
          </a:solidFill>
        </p:spPr>
        <p:txBody>
          <a:bodyPr wrap="square" rtlCol="0" anchor="ctr">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b="0" i="0" u="none" strike="noStrike" kern="0" cap="none" spc="0" normalizeH="0" baseline="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defRPr>
            </a:lvl1pPr>
          </a:lstStyle>
          <a:p>
            <a:r>
              <a:rPr lang="en-US" altLang="zh-CN" dirty="0">
                <a:sym typeface="Huawei Sans" panose="020C0503030203020204" pitchFamily="34" charset="0"/>
              </a:rPr>
              <a:t>VRF1</a:t>
            </a:r>
            <a:endParaRPr lang="zh-CN" altLang="en-US" dirty="0">
              <a:sym typeface="Huawei Sans" panose="020C0503030203020204" pitchFamily="34" charset="0"/>
            </a:endParaRPr>
          </a:p>
        </p:txBody>
      </p:sp>
      <p:sp>
        <p:nvSpPr>
          <p:cNvPr id="68" name="文本框 67"/>
          <p:cNvSpPr txBox="1"/>
          <p:nvPr/>
        </p:nvSpPr>
        <p:spPr bwMode="gray">
          <a:xfrm>
            <a:off x="4625902" y="4254496"/>
            <a:ext cx="2078233" cy="1320180"/>
          </a:xfrm>
          <a:prstGeom prst="rect">
            <a:avLst/>
          </a:prstGeom>
          <a:solidFill>
            <a:schemeClr val="bg1">
              <a:lumMod val="95000"/>
            </a:schemeClr>
          </a:solidFill>
          <a:ln>
            <a:solidFill>
              <a:schemeClr val="bg1">
                <a:lumMod val="75000"/>
              </a:schemeClr>
            </a:solidFill>
          </a:ln>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bwMode="gray">
          <a:xfrm>
            <a:off x="6288113" y="5278589"/>
            <a:ext cx="470000" cy="307777"/>
          </a:xfrm>
          <a:prstGeom prst="rect">
            <a:avLst/>
          </a:prstGeom>
          <a:noFill/>
        </p:spPr>
        <p:txBody>
          <a:bodyPr wrap="none" rtlCol="0">
            <a:spAutoFit/>
          </a:bodyPr>
          <a:lstStyle/>
          <a:p>
            <a:pPr algn="r" font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FW</a:t>
            </a:r>
          </a:p>
        </p:txBody>
      </p:sp>
      <p:sp>
        <p:nvSpPr>
          <p:cNvPr id="70" name="文本框 69"/>
          <p:cNvSpPr txBox="1"/>
          <p:nvPr/>
        </p:nvSpPr>
        <p:spPr bwMode="gray">
          <a:xfrm>
            <a:off x="4710383" y="4708756"/>
            <a:ext cx="771202" cy="304323"/>
          </a:xfrm>
          <a:prstGeom prst="rect">
            <a:avLst/>
          </a:prstGeom>
          <a:solidFill>
            <a:srgbClr val="BEE9EE"/>
          </a:solidFill>
        </p:spPr>
        <p:txBody>
          <a:bodyPr wrap="square" rtlCol="0" anchor="ctr">
            <a:noAutofit/>
          </a:bodyPr>
          <a:lstStyle/>
          <a:p>
            <a:pPr lvl="0" algn="ctr" defTabSz="914400" fontAlgn="base">
              <a:spcBef>
                <a:spcPct val="0"/>
              </a:spcBef>
              <a:spcAft>
                <a:spcPct val="0"/>
              </a:spcAft>
              <a:defRPr/>
            </a:pPr>
            <a:r>
              <a:rPr lang="en-US" altLang="zh-CN" sz="1200" kern="0"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vsys1</a:t>
            </a:r>
            <a:endParaRPr lang="zh-CN" altLang="en-US" sz="1200" kern="0"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1" name="矩形 70"/>
          <p:cNvSpPr/>
          <p:nvPr/>
        </p:nvSpPr>
        <p:spPr bwMode="gray">
          <a:xfrm>
            <a:off x="4710383" y="4301318"/>
            <a:ext cx="771202" cy="320645"/>
          </a:xfrm>
          <a:prstGeom prst="rect">
            <a:avLst/>
          </a:prstGeom>
          <a:solidFill>
            <a:schemeClr val="bg1">
              <a:lumMod val="65000"/>
            </a:schemeClr>
          </a:solidFill>
        </p:spPr>
        <p:txBody>
          <a:bodyPr wrap="square" rtlCol="0" anchor="ctr" anchorCtr="0">
            <a:noAutofit/>
          </a:bodyPr>
          <a:lstStyle/>
          <a:p>
            <a:pPr algn="ctr" defTabSz="914400" fontAlgn="base">
              <a:spcBef>
                <a:spcPct val="0"/>
              </a:spcBef>
              <a:spcAft>
                <a:spcPct val="0"/>
              </a:spcAft>
            </a:pPr>
            <a:r>
              <a:rPr lang="en-US" altLang="zh-CN" sz="1200" kern="0"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Public</a:t>
            </a:r>
            <a:endParaRPr lang="zh-CN" altLang="en-US" sz="1200" kern="0"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2" name="文本框 71"/>
          <p:cNvSpPr txBox="1"/>
          <p:nvPr/>
        </p:nvSpPr>
        <p:spPr bwMode="gray">
          <a:xfrm>
            <a:off x="4710383" y="5099872"/>
            <a:ext cx="771202" cy="304323"/>
          </a:xfrm>
          <a:prstGeom prst="rect">
            <a:avLst/>
          </a:prstGeom>
          <a:solidFill>
            <a:srgbClr val="BFEBD3"/>
          </a:solidFill>
        </p:spPr>
        <p:txBody>
          <a:bodyPr wrap="square" rtlCol="0" anchor="ctr">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b="0" i="0" u="none" strike="noStrike" kern="0" cap="none" spc="0" normalizeH="0" baseline="0">
                <a:ln>
                  <a:noFill/>
                </a:ln>
                <a:solidFill>
                  <a:srgbClr val="000000"/>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defRPr>
            </a:lvl1pPr>
          </a:lstStyle>
          <a:p>
            <a:r>
              <a:rPr lang="en-US" altLang="zh-CN" dirty="0">
                <a:sym typeface="Huawei Sans" panose="020C0503030203020204" pitchFamily="34" charset="0"/>
              </a:rPr>
              <a:t>vsys2</a:t>
            </a:r>
            <a:endParaRPr lang="zh-CN" altLang="en-US" dirty="0">
              <a:sym typeface="Huawei Sans" panose="020C0503030203020204" pitchFamily="34" charset="0"/>
            </a:endParaRPr>
          </a:p>
        </p:txBody>
      </p:sp>
      <p:sp>
        <p:nvSpPr>
          <p:cNvPr id="55" name="椭圆 54"/>
          <p:cNvSpPr/>
          <p:nvPr/>
        </p:nvSpPr>
        <p:spPr bwMode="gray">
          <a:xfrm>
            <a:off x="2332027" y="4406816"/>
            <a:ext cx="144000" cy="144000"/>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bwMode="gray">
          <a:xfrm>
            <a:off x="4596142" y="4406816"/>
            <a:ext cx="144000" cy="144000"/>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bwMode="gray">
          <a:xfrm>
            <a:off x="4596142" y="4786231"/>
            <a:ext cx="144000" cy="144000"/>
          </a:xfrm>
          <a:prstGeom prst="ellipse">
            <a:avLst/>
          </a:prstGeom>
          <a:solidFill>
            <a:schemeClr val="bg1"/>
          </a:solidFill>
          <a:ln>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bwMode="gray">
          <a:xfrm>
            <a:off x="2337424" y="5184414"/>
            <a:ext cx="144000" cy="144000"/>
          </a:xfrm>
          <a:prstGeom prst="ellipse">
            <a:avLst/>
          </a:prstGeom>
          <a:solidFill>
            <a:schemeClr val="bg1"/>
          </a:solid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bwMode="gray">
          <a:xfrm>
            <a:off x="4596142" y="5184414"/>
            <a:ext cx="144000" cy="144000"/>
          </a:xfrm>
          <a:prstGeom prst="ellipse">
            <a:avLst/>
          </a:prstGeom>
          <a:solidFill>
            <a:schemeClr val="bg1"/>
          </a:solid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bwMode="gray">
          <a:xfrm>
            <a:off x="5427248" y="4405116"/>
            <a:ext cx="144000" cy="144000"/>
          </a:xfrm>
          <a:prstGeom prst="ellipse">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bwMode="gray">
          <a:xfrm>
            <a:off x="5427248" y="4783866"/>
            <a:ext cx="144000" cy="144000"/>
          </a:xfrm>
          <a:prstGeom prst="ellipse">
            <a:avLst/>
          </a:prstGeom>
          <a:solidFill>
            <a:srgbClr val="56C4D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bwMode="gray">
          <a:xfrm>
            <a:off x="5427248" y="5185948"/>
            <a:ext cx="144000" cy="144000"/>
          </a:xfrm>
          <a:prstGeom prst="ellipse">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bwMode="gray">
          <a:xfrm>
            <a:off x="5539550" y="4338616"/>
            <a:ext cx="891591"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Virtual-if0</a:t>
            </a:r>
          </a:p>
        </p:txBody>
      </p:sp>
      <p:sp>
        <p:nvSpPr>
          <p:cNvPr id="78" name="文本框 77"/>
          <p:cNvSpPr txBox="1"/>
          <p:nvPr/>
        </p:nvSpPr>
        <p:spPr bwMode="gray">
          <a:xfrm>
            <a:off x="5539550" y="4724833"/>
            <a:ext cx="891591"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Virtual-if1</a:t>
            </a:r>
          </a:p>
        </p:txBody>
      </p:sp>
      <p:sp>
        <p:nvSpPr>
          <p:cNvPr id="79" name="文本框 78"/>
          <p:cNvSpPr txBox="1"/>
          <p:nvPr/>
        </p:nvSpPr>
        <p:spPr bwMode="gray">
          <a:xfrm>
            <a:off x="5539550" y="5126495"/>
            <a:ext cx="891591"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Virtual-if2</a:t>
            </a:r>
          </a:p>
        </p:txBody>
      </p:sp>
      <p:cxnSp>
        <p:nvCxnSpPr>
          <p:cNvPr id="83" name="直接连接符 82"/>
          <p:cNvCxnSpPr>
            <a:stCxn id="30" idx="6"/>
            <a:endCxn id="74" idx="2"/>
          </p:cNvCxnSpPr>
          <p:nvPr/>
        </p:nvCxnSpPr>
        <p:spPr bwMode="gray">
          <a:xfrm>
            <a:off x="2476027" y="4858231"/>
            <a:ext cx="2120115"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41" idx="6"/>
            <a:endCxn id="75" idx="2"/>
          </p:cNvCxnSpPr>
          <p:nvPr/>
        </p:nvCxnSpPr>
        <p:spPr bwMode="gray">
          <a:xfrm>
            <a:off x="2481424" y="5256414"/>
            <a:ext cx="2114718"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bwMode="gray">
          <a:xfrm>
            <a:off x="1772621" y="4191288"/>
            <a:ext cx="144000" cy="144000"/>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1" name="直接连接符 90"/>
          <p:cNvCxnSpPr>
            <a:stCxn id="40" idx="0"/>
            <a:endCxn id="54" idx="4"/>
          </p:cNvCxnSpPr>
          <p:nvPr/>
        </p:nvCxnSpPr>
        <p:spPr bwMode="gray">
          <a:xfrm flipV="1">
            <a:off x="1844621" y="3712048"/>
            <a:ext cx="0" cy="4792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椭圆 92"/>
          <p:cNvSpPr/>
          <p:nvPr/>
        </p:nvSpPr>
        <p:spPr bwMode="gray">
          <a:xfrm>
            <a:off x="1772621" y="3296824"/>
            <a:ext cx="144000" cy="144000"/>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4"/>
          <p:cNvSpPr txBox="1"/>
          <p:nvPr/>
        </p:nvSpPr>
        <p:spPr bwMode="gray">
          <a:xfrm>
            <a:off x="3094723" y="4184731"/>
            <a:ext cx="877163"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VLANIF10</a:t>
            </a:r>
          </a:p>
        </p:txBody>
      </p:sp>
      <p:sp>
        <p:nvSpPr>
          <p:cNvPr id="96" name="文本框 95"/>
          <p:cNvSpPr txBox="1"/>
          <p:nvPr/>
        </p:nvSpPr>
        <p:spPr bwMode="gray">
          <a:xfrm>
            <a:off x="3094723" y="4614035"/>
            <a:ext cx="877163"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VLANIF11</a:t>
            </a:r>
          </a:p>
        </p:txBody>
      </p:sp>
      <p:sp>
        <p:nvSpPr>
          <p:cNvPr id="97" name="文本框 96"/>
          <p:cNvSpPr txBox="1"/>
          <p:nvPr/>
        </p:nvSpPr>
        <p:spPr bwMode="gray">
          <a:xfrm>
            <a:off x="3094723" y="5010382"/>
            <a:ext cx="877163"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VLANIF12</a:t>
            </a:r>
          </a:p>
        </p:txBody>
      </p:sp>
      <p:sp>
        <p:nvSpPr>
          <p:cNvPr id="98" name="文本框 97"/>
          <p:cNvSpPr txBox="1"/>
          <p:nvPr/>
        </p:nvSpPr>
        <p:spPr bwMode="gray">
          <a:xfrm>
            <a:off x="2374493" y="4818152"/>
            <a:ext cx="982961"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10.11.0.254</a:t>
            </a:r>
          </a:p>
        </p:txBody>
      </p:sp>
      <p:sp>
        <p:nvSpPr>
          <p:cNvPr id="99" name="文本框 98"/>
          <p:cNvSpPr txBox="1"/>
          <p:nvPr/>
        </p:nvSpPr>
        <p:spPr bwMode="gray">
          <a:xfrm>
            <a:off x="3885666" y="4818152"/>
            <a:ext cx="809837"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10.11.0.1</a:t>
            </a:r>
          </a:p>
        </p:txBody>
      </p:sp>
      <p:sp>
        <p:nvSpPr>
          <p:cNvPr id="101" name="文本框 100"/>
          <p:cNvSpPr txBox="1"/>
          <p:nvPr/>
        </p:nvSpPr>
        <p:spPr bwMode="gray">
          <a:xfrm>
            <a:off x="2374493" y="5230857"/>
            <a:ext cx="982961"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10.12.0.254</a:t>
            </a:r>
          </a:p>
        </p:txBody>
      </p:sp>
      <p:sp>
        <p:nvSpPr>
          <p:cNvPr id="102" name="文本框 101"/>
          <p:cNvSpPr txBox="1"/>
          <p:nvPr/>
        </p:nvSpPr>
        <p:spPr bwMode="gray">
          <a:xfrm>
            <a:off x="3885666" y="5230857"/>
            <a:ext cx="809837"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10.12.0.1</a:t>
            </a:r>
          </a:p>
        </p:txBody>
      </p:sp>
      <p:sp>
        <p:nvSpPr>
          <p:cNvPr id="103" name="文本框 102"/>
          <p:cNvSpPr txBox="1"/>
          <p:nvPr/>
        </p:nvSpPr>
        <p:spPr bwMode="gray">
          <a:xfrm>
            <a:off x="2374493" y="4447834"/>
            <a:ext cx="982961" cy="276999"/>
          </a:xfrm>
          <a:prstGeom prst="rect">
            <a:avLst/>
          </a:prstGeom>
          <a:noFill/>
        </p:spPr>
        <p:txBody>
          <a:bodyPr wrap="none" rtlCol="0">
            <a:spAutoFit/>
          </a:bodyPr>
          <a:lstStyle/>
          <a:p>
            <a:pP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10.10.0.254</a:t>
            </a:r>
          </a:p>
        </p:txBody>
      </p:sp>
      <p:sp>
        <p:nvSpPr>
          <p:cNvPr id="104" name="文本框 103"/>
          <p:cNvSpPr txBox="1"/>
          <p:nvPr/>
        </p:nvSpPr>
        <p:spPr bwMode="gray">
          <a:xfrm>
            <a:off x="3885666" y="4447834"/>
            <a:ext cx="809837" cy="276999"/>
          </a:xfrm>
          <a:prstGeom prst="rect">
            <a:avLst/>
          </a:prstGeom>
          <a:noFill/>
        </p:spPr>
        <p:txBody>
          <a:bodyPr wrap="none" rtlCol="0">
            <a:spAutoFit/>
          </a:bodyPr>
          <a:lstStyle/>
          <a:p>
            <a:pPr algn="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10.10.0.1</a:t>
            </a:r>
          </a:p>
        </p:txBody>
      </p:sp>
      <p:cxnSp>
        <p:nvCxnSpPr>
          <p:cNvPr id="64" name="肘形连接符 63"/>
          <p:cNvCxnSpPr/>
          <p:nvPr/>
        </p:nvCxnSpPr>
        <p:spPr>
          <a:xfrm rot="10800000">
            <a:off x="2421696" y="5598536"/>
            <a:ext cx="368159" cy="211783"/>
          </a:xfrm>
          <a:prstGeom prst="bentConnector3">
            <a:avLst>
              <a:gd name="adj1" fmla="val 100688"/>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2" name="文本框 111"/>
          <p:cNvSpPr txBox="1"/>
          <p:nvPr/>
        </p:nvSpPr>
        <p:spPr bwMode="gray">
          <a:xfrm>
            <a:off x="2781364" y="5669119"/>
            <a:ext cx="1372492" cy="276999"/>
          </a:xfrm>
          <a:prstGeom prst="rect">
            <a:avLst/>
          </a:prstGeom>
          <a:noFill/>
        </p:spPr>
        <p:txBody>
          <a:bodyPr wrap="non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物理口：</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115" name="圆角矩形 75"/>
          <p:cNvSpPr/>
          <p:nvPr/>
        </p:nvSpPr>
        <p:spPr bwMode="gray">
          <a:xfrm>
            <a:off x="6839929" y="2321787"/>
            <a:ext cx="4909158"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内网员工访问</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116" name="圆角矩形 75"/>
          <p:cNvSpPr/>
          <p:nvPr/>
        </p:nvSpPr>
        <p:spPr bwMode="gray">
          <a:xfrm>
            <a:off x="6839929" y="2715773"/>
            <a:ext cx="4909158" cy="3414439"/>
          </a:xfrm>
          <a:prstGeom prst="roundRect">
            <a:avLst>
              <a:gd name="adj" fmla="val 242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marL="171450" indent="-171450" defTabSz="914400">
              <a:lnSpc>
                <a:spcPct val="150000"/>
              </a:lnSpc>
              <a:buSzPct val="100000"/>
              <a:buFont typeface="Arial" panose="020B0604020202020204" pitchFamily="34" charset="0"/>
              <a:buChar cha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内网员工访问</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408600" indent="-228600" defTabSz="914400">
              <a:lnSpc>
                <a:spcPct val="150000"/>
              </a:lnSpc>
              <a:buSzPct val="100000"/>
              <a:buFont typeface="+mj-lt"/>
              <a:buAutoNum type="arabicPeriod"/>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缺省路由，下一跳为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vsys1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的私网接口</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VLANIF11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408600" indent="-228600" defTabSz="914400">
              <a:lnSpc>
                <a:spcPct val="150000"/>
              </a:lnSpc>
              <a:buSzPct val="100000"/>
              <a:buFont typeface="+mj-lt"/>
              <a:buAutoNum type="arabicPeriod"/>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vsys1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：静态缺省路由，下一跳为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Public</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，将内网员工访问</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流量引入根系统。</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408600" indent="-228600" defTabSz="914400">
              <a:lnSpc>
                <a:spcPct val="150000"/>
              </a:lnSpc>
              <a:buSzPct val="100000"/>
              <a:buFont typeface="+mj-lt"/>
              <a:buAutoNum type="arabicPeriod"/>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：静态缺省路由，下一跳为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VLANIF10</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408600" indent="-228600" defTabSz="914400">
              <a:lnSpc>
                <a:spcPct val="150000"/>
              </a:lnSpc>
              <a:buSzPct val="100000"/>
              <a:buFont typeface="+mj-lt"/>
              <a:buAutoNum type="arabicPeriod"/>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间部署动态路由，实现互通，最终访问</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defTabSz="914400">
              <a:lnSpc>
                <a:spcPct val="150000"/>
              </a:lnSpc>
              <a:buSzPct val="100000"/>
              <a:buFont typeface="Arial" panose="020B0604020202020204" pitchFamily="34" charset="0"/>
              <a:buChar cha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回程路由：</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SzPct val="100000"/>
              <a:buFont typeface="Huawei Sans" panose="020C0503030203020204" pitchFamily="34" charset="0"/>
              <a:buChar cha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：静态路由，下一跳为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VLANIF10</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SzPct val="100000"/>
              <a:buFont typeface="Huawei Sans" panose="020C0503030203020204" pitchFamily="34" charset="0"/>
              <a:buChar cha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vsys1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：静态路由，下一跳为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VRF1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对应</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接口地址，将</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vsys1</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内员工访问</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的回程流量引入内网。</a:t>
            </a:r>
          </a:p>
        </p:txBody>
      </p:sp>
      <p:sp>
        <p:nvSpPr>
          <p:cNvPr id="94" name="任意多边形 93"/>
          <p:cNvSpPr/>
          <p:nvPr/>
        </p:nvSpPr>
        <p:spPr>
          <a:xfrm>
            <a:off x="1116831" y="3133904"/>
            <a:ext cx="4420415" cy="2724522"/>
          </a:xfrm>
          <a:custGeom>
            <a:avLst/>
            <a:gdLst>
              <a:gd name="connsiteX0" fmla="*/ 145488 w 4824506"/>
              <a:gd name="connsiteY0" fmla="*/ 2855168 h 2855168"/>
              <a:gd name="connsiteX1" fmla="*/ 126827 w 4824506"/>
              <a:gd name="connsiteY1" fmla="*/ 2659225 h 2855168"/>
              <a:gd name="connsiteX2" fmla="*/ 378753 w 4824506"/>
              <a:gd name="connsiteY2" fmla="*/ 1978090 h 2855168"/>
              <a:gd name="connsiteX3" fmla="*/ 4297610 w 4824506"/>
              <a:gd name="connsiteY3" fmla="*/ 1996751 h 2855168"/>
              <a:gd name="connsiteX4" fmla="*/ 4428239 w 4824506"/>
              <a:gd name="connsiteY4" fmla="*/ 1558213 h 2855168"/>
              <a:gd name="connsiteX5" fmla="*/ 985243 w 4824506"/>
              <a:gd name="connsiteY5" fmla="*/ 1492898 h 2855168"/>
              <a:gd name="connsiteX6" fmla="*/ 919929 w 4824506"/>
              <a:gd name="connsiteY6" fmla="*/ 0 h 2855168"/>
              <a:gd name="connsiteX0" fmla="*/ 37523 w 4716541"/>
              <a:gd name="connsiteY0" fmla="*/ 2855168 h 2855168"/>
              <a:gd name="connsiteX1" fmla="*/ 18862 w 4716541"/>
              <a:gd name="connsiteY1" fmla="*/ 2659225 h 2855168"/>
              <a:gd name="connsiteX2" fmla="*/ 270788 w 4716541"/>
              <a:gd name="connsiteY2" fmla="*/ 1978090 h 2855168"/>
              <a:gd name="connsiteX3" fmla="*/ 4189645 w 4716541"/>
              <a:gd name="connsiteY3" fmla="*/ 1996751 h 2855168"/>
              <a:gd name="connsiteX4" fmla="*/ 4320274 w 4716541"/>
              <a:gd name="connsiteY4" fmla="*/ 1558213 h 2855168"/>
              <a:gd name="connsiteX5" fmla="*/ 877278 w 4716541"/>
              <a:gd name="connsiteY5" fmla="*/ 1492898 h 2855168"/>
              <a:gd name="connsiteX6" fmla="*/ 811964 w 4716541"/>
              <a:gd name="connsiteY6" fmla="*/ 0 h 2855168"/>
              <a:gd name="connsiteX0" fmla="*/ 0 w 4697679"/>
              <a:gd name="connsiteY0" fmla="*/ 2659225 h 2659225"/>
              <a:gd name="connsiteX1" fmla="*/ 251926 w 4697679"/>
              <a:gd name="connsiteY1" fmla="*/ 1978090 h 2659225"/>
              <a:gd name="connsiteX2" fmla="*/ 4170783 w 4697679"/>
              <a:gd name="connsiteY2" fmla="*/ 1996751 h 2659225"/>
              <a:gd name="connsiteX3" fmla="*/ 4301412 w 4697679"/>
              <a:gd name="connsiteY3" fmla="*/ 1558213 h 2659225"/>
              <a:gd name="connsiteX4" fmla="*/ 858416 w 4697679"/>
              <a:gd name="connsiteY4" fmla="*/ 1492898 h 2659225"/>
              <a:gd name="connsiteX5" fmla="*/ 793102 w 4697679"/>
              <a:gd name="connsiteY5" fmla="*/ 0 h 2659225"/>
              <a:gd name="connsiteX0" fmla="*/ 262986 w 4736730"/>
              <a:gd name="connsiteY0" fmla="*/ 2738064 h 2738064"/>
              <a:gd name="connsiteX1" fmla="*/ 290977 w 4736730"/>
              <a:gd name="connsiteY1" fmla="*/ 1978090 h 2738064"/>
              <a:gd name="connsiteX2" fmla="*/ 4209834 w 4736730"/>
              <a:gd name="connsiteY2" fmla="*/ 1996751 h 2738064"/>
              <a:gd name="connsiteX3" fmla="*/ 4340463 w 4736730"/>
              <a:gd name="connsiteY3" fmla="*/ 1558213 h 2738064"/>
              <a:gd name="connsiteX4" fmla="*/ 897467 w 4736730"/>
              <a:gd name="connsiteY4" fmla="*/ 1492898 h 2738064"/>
              <a:gd name="connsiteX5" fmla="*/ 832153 w 4736730"/>
              <a:gd name="connsiteY5" fmla="*/ 0 h 2738064"/>
              <a:gd name="connsiteX0" fmla="*/ 273617 w 4747361"/>
              <a:gd name="connsiteY0" fmla="*/ 2738064 h 2738064"/>
              <a:gd name="connsiteX1" fmla="*/ 301608 w 4747361"/>
              <a:gd name="connsiteY1" fmla="*/ 1978090 h 2738064"/>
              <a:gd name="connsiteX2" fmla="*/ 4220465 w 4747361"/>
              <a:gd name="connsiteY2" fmla="*/ 1996751 h 2738064"/>
              <a:gd name="connsiteX3" fmla="*/ 4351094 w 4747361"/>
              <a:gd name="connsiteY3" fmla="*/ 1558213 h 2738064"/>
              <a:gd name="connsiteX4" fmla="*/ 908098 w 4747361"/>
              <a:gd name="connsiteY4" fmla="*/ 1492898 h 2738064"/>
              <a:gd name="connsiteX5" fmla="*/ 842784 w 4747361"/>
              <a:gd name="connsiteY5" fmla="*/ 0 h 2738064"/>
              <a:gd name="connsiteX0" fmla="*/ 997 w 4474741"/>
              <a:gd name="connsiteY0" fmla="*/ 2738064 h 2738064"/>
              <a:gd name="connsiteX1" fmla="*/ 28988 w 4474741"/>
              <a:gd name="connsiteY1" fmla="*/ 1978090 h 2738064"/>
              <a:gd name="connsiteX2" fmla="*/ 3947845 w 4474741"/>
              <a:gd name="connsiteY2" fmla="*/ 1996751 h 2738064"/>
              <a:gd name="connsiteX3" fmla="*/ 4078474 w 4474741"/>
              <a:gd name="connsiteY3" fmla="*/ 1558213 h 2738064"/>
              <a:gd name="connsiteX4" fmla="*/ 635478 w 4474741"/>
              <a:gd name="connsiteY4" fmla="*/ 1492898 h 2738064"/>
              <a:gd name="connsiteX5" fmla="*/ 570164 w 4474741"/>
              <a:gd name="connsiteY5" fmla="*/ 0 h 2738064"/>
              <a:gd name="connsiteX0" fmla="*/ 327 w 4468609"/>
              <a:gd name="connsiteY0" fmla="*/ 2738064 h 2738064"/>
              <a:gd name="connsiteX1" fmla="*/ 121625 w 4468609"/>
              <a:gd name="connsiteY1" fmla="*/ 2100727 h 2738064"/>
              <a:gd name="connsiteX2" fmla="*/ 3947175 w 4468609"/>
              <a:gd name="connsiteY2" fmla="*/ 1996751 h 2738064"/>
              <a:gd name="connsiteX3" fmla="*/ 4077804 w 4468609"/>
              <a:gd name="connsiteY3" fmla="*/ 1558213 h 2738064"/>
              <a:gd name="connsiteX4" fmla="*/ 634808 w 4468609"/>
              <a:gd name="connsiteY4" fmla="*/ 1492898 h 2738064"/>
              <a:gd name="connsiteX5" fmla="*/ 569494 w 4468609"/>
              <a:gd name="connsiteY5" fmla="*/ 0 h 2738064"/>
              <a:gd name="connsiteX0" fmla="*/ 266711 w 4641687"/>
              <a:gd name="connsiteY0" fmla="*/ 2738064 h 2738064"/>
              <a:gd name="connsiteX1" fmla="*/ 294703 w 4641687"/>
              <a:gd name="connsiteY1" fmla="*/ 2100727 h 2738064"/>
              <a:gd name="connsiteX2" fmla="*/ 4120253 w 4641687"/>
              <a:gd name="connsiteY2" fmla="*/ 1996751 h 2738064"/>
              <a:gd name="connsiteX3" fmla="*/ 4250882 w 4641687"/>
              <a:gd name="connsiteY3" fmla="*/ 1558213 h 2738064"/>
              <a:gd name="connsiteX4" fmla="*/ 807886 w 4641687"/>
              <a:gd name="connsiteY4" fmla="*/ 1492898 h 2738064"/>
              <a:gd name="connsiteX5" fmla="*/ 742572 w 4641687"/>
              <a:gd name="connsiteY5" fmla="*/ 0 h 2738064"/>
              <a:gd name="connsiteX0" fmla="*/ 2651 w 4377627"/>
              <a:gd name="connsiteY0" fmla="*/ 2738064 h 2738064"/>
              <a:gd name="connsiteX1" fmla="*/ 30643 w 4377627"/>
              <a:gd name="connsiteY1" fmla="*/ 2100727 h 2738064"/>
              <a:gd name="connsiteX2" fmla="*/ 3856193 w 4377627"/>
              <a:gd name="connsiteY2" fmla="*/ 1996751 h 2738064"/>
              <a:gd name="connsiteX3" fmla="*/ 3986822 w 4377627"/>
              <a:gd name="connsiteY3" fmla="*/ 1558213 h 2738064"/>
              <a:gd name="connsiteX4" fmla="*/ 543826 w 4377627"/>
              <a:gd name="connsiteY4" fmla="*/ 1492898 h 2738064"/>
              <a:gd name="connsiteX5" fmla="*/ 478512 w 4377627"/>
              <a:gd name="connsiteY5" fmla="*/ 0 h 2738064"/>
              <a:gd name="connsiteX0" fmla="*/ 2651 w 4237167"/>
              <a:gd name="connsiteY0" fmla="*/ 2738064 h 2738064"/>
              <a:gd name="connsiteX1" fmla="*/ 30643 w 4237167"/>
              <a:gd name="connsiteY1" fmla="*/ 2100727 h 2738064"/>
              <a:gd name="connsiteX2" fmla="*/ 3856193 w 4237167"/>
              <a:gd name="connsiteY2" fmla="*/ 1996751 h 2738064"/>
              <a:gd name="connsiteX3" fmla="*/ 3725564 w 4237167"/>
              <a:gd name="connsiteY3" fmla="*/ 1558213 h 2738064"/>
              <a:gd name="connsiteX4" fmla="*/ 543826 w 4237167"/>
              <a:gd name="connsiteY4" fmla="*/ 1492898 h 2738064"/>
              <a:gd name="connsiteX5" fmla="*/ 478512 w 4237167"/>
              <a:gd name="connsiteY5" fmla="*/ 0 h 2738064"/>
              <a:gd name="connsiteX0" fmla="*/ 2651 w 4237167"/>
              <a:gd name="connsiteY0" fmla="*/ 2738064 h 2738064"/>
              <a:gd name="connsiteX1" fmla="*/ 30643 w 4237167"/>
              <a:gd name="connsiteY1" fmla="*/ 2100727 h 2738064"/>
              <a:gd name="connsiteX2" fmla="*/ 3856193 w 4237167"/>
              <a:gd name="connsiteY2" fmla="*/ 1996751 h 2738064"/>
              <a:gd name="connsiteX3" fmla="*/ 3725564 w 4237167"/>
              <a:gd name="connsiteY3" fmla="*/ 1558213 h 2738064"/>
              <a:gd name="connsiteX4" fmla="*/ 543826 w 4237167"/>
              <a:gd name="connsiteY4" fmla="*/ 1492898 h 2738064"/>
              <a:gd name="connsiteX5" fmla="*/ 478512 w 4237167"/>
              <a:gd name="connsiteY5" fmla="*/ 0 h 2738064"/>
              <a:gd name="connsiteX0" fmla="*/ 2651 w 4237167"/>
              <a:gd name="connsiteY0" fmla="*/ 2738064 h 2738064"/>
              <a:gd name="connsiteX1" fmla="*/ 30643 w 4237167"/>
              <a:gd name="connsiteY1" fmla="*/ 2100727 h 2738064"/>
              <a:gd name="connsiteX2" fmla="*/ 3856193 w 4237167"/>
              <a:gd name="connsiteY2" fmla="*/ 1996751 h 2738064"/>
              <a:gd name="connsiteX3" fmla="*/ 3725564 w 4237167"/>
              <a:gd name="connsiteY3" fmla="*/ 1558213 h 2738064"/>
              <a:gd name="connsiteX4" fmla="*/ 543826 w 4237167"/>
              <a:gd name="connsiteY4" fmla="*/ 1492898 h 2738064"/>
              <a:gd name="connsiteX5" fmla="*/ 478512 w 4237167"/>
              <a:gd name="connsiteY5" fmla="*/ 0 h 2738064"/>
              <a:gd name="connsiteX0" fmla="*/ 2651 w 4237167"/>
              <a:gd name="connsiteY0" fmla="*/ 2352633 h 2352633"/>
              <a:gd name="connsiteX1" fmla="*/ 30643 w 4237167"/>
              <a:gd name="connsiteY1" fmla="*/ 1715296 h 2352633"/>
              <a:gd name="connsiteX2" fmla="*/ 3856193 w 4237167"/>
              <a:gd name="connsiteY2" fmla="*/ 1611320 h 2352633"/>
              <a:gd name="connsiteX3" fmla="*/ 3725564 w 4237167"/>
              <a:gd name="connsiteY3" fmla="*/ 1172782 h 2352633"/>
              <a:gd name="connsiteX4" fmla="*/ 543826 w 4237167"/>
              <a:gd name="connsiteY4" fmla="*/ 1107467 h 2352633"/>
              <a:gd name="connsiteX5" fmla="*/ 506504 w 4237167"/>
              <a:gd name="connsiteY5" fmla="*/ 0 h 2352633"/>
              <a:gd name="connsiteX0" fmla="*/ 2651 w 4237167"/>
              <a:gd name="connsiteY0" fmla="*/ 2352633 h 2352633"/>
              <a:gd name="connsiteX1" fmla="*/ 30643 w 4237167"/>
              <a:gd name="connsiteY1" fmla="*/ 1715296 h 2352633"/>
              <a:gd name="connsiteX2" fmla="*/ 3856193 w 4237167"/>
              <a:gd name="connsiteY2" fmla="*/ 1611320 h 2352633"/>
              <a:gd name="connsiteX3" fmla="*/ 3725564 w 4237167"/>
              <a:gd name="connsiteY3" fmla="*/ 1172782 h 2352633"/>
              <a:gd name="connsiteX4" fmla="*/ 543826 w 4237167"/>
              <a:gd name="connsiteY4" fmla="*/ 1107467 h 2352633"/>
              <a:gd name="connsiteX5" fmla="*/ 506504 w 4237167"/>
              <a:gd name="connsiteY5" fmla="*/ 0 h 2352633"/>
              <a:gd name="connsiteX0" fmla="*/ 60157 w 4294673"/>
              <a:gd name="connsiteY0" fmla="*/ 2352633 h 2352633"/>
              <a:gd name="connsiteX1" fmla="*/ 88149 w 4294673"/>
              <a:gd name="connsiteY1" fmla="*/ 1715296 h 2352633"/>
              <a:gd name="connsiteX2" fmla="*/ 3913699 w 4294673"/>
              <a:gd name="connsiteY2" fmla="*/ 1611320 h 2352633"/>
              <a:gd name="connsiteX3" fmla="*/ 3783070 w 4294673"/>
              <a:gd name="connsiteY3" fmla="*/ 1172782 h 2352633"/>
              <a:gd name="connsiteX4" fmla="*/ 601332 w 4294673"/>
              <a:gd name="connsiteY4" fmla="*/ 1107467 h 2352633"/>
              <a:gd name="connsiteX5" fmla="*/ 564010 w 4294673"/>
              <a:gd name="connsiteY5" fmla="*/ 0 h 2352633"/>
              <a:gd name="connsiteX0" fmla="*/ 60157 w 4292436"/>
              <a:gd name="connsiteY0" fmla="*/ 2352633 h 2352633"/>
              <a:gd name="connsiteX1" fmla="*/ 88149 w 4292436"/>
              <a:gd name="connsiteY1" fmla="*/ 1715296 h 2352633"/>
              <a:gd name="connsiteX2" fmla="*/ 3913699 w 4292436"/>
              <a:gd name="connsiteY2" fmla="*/ 1611320 h 2352633"/>
              <a:gd name="connsiteX3" fmla="*/ 3783070 w 4292436"/>
              <a:gd name="connsiteY3" fmla="*/ 1172782 h 2352633"/>
              <a:gd name="connsiteX4" fmla="*/ 643615 w 4292436"/>
              <a:gd name="connsiteY4" fmla="*/ 1047307 h 2352633"/>
              <a:gd name="connsiteX5" fmla="*/ 564010 w 4292436"/>
              <a:gd name="connsiteY5" fmla="*/ 0 h 235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436" h="2352633">
                <a:moveTo>
                  <a:pt x="60157" y="2352633"/>
                </a:moveTo>
                <a:cubicBezTo>
                  <a:pt x="52381" y="2206453"/>
                  <a:pt x="-87577" y="1856367"/>
                  <a:pt x="88149" y="1715296"/>
                </a:cubicBezTo>
                <a:cubicBezTo>
                  <a:pt x="263875" y="1574225"/>
                  <a:pt x="3297879" y="1701739"/>
                  <a:pt x="3913699" y="1611320"/>
                </a:cubicBezTo>
                <a:cubicBezTo>
                  <a:pt x="4529519" y="1520901"/>
                  <a:pt x="4328084" y="1266784"/>
                  <a:pt x="3783070" y="1172782"/>
                </a:cubicBezTo>
                <a:cubicBezTo>
                  <a:pt x="3238056" y="1078780"/>
                  <a:pt x="676271" y="1137654"/>
                  <a:pt x="643615" y="1047307"/>
                </a:cubicBezTo>
                <a:cubicBezTo>
                  <a:pt x="610959" y="956960"/>
                  <a:pt x="556235" y="520240"/>
                  <a:pt x="564010" y="0"/>
                </a:cubicBezTo>
              </a:path>
            </a:pathLst>
          </a:custGeom>
          <a:noFill/>
          <a:ln w="19050">
            <a:solidFill>
              <a:srgbClr val="ED6D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bwMode="gray">
          <a:xfrm>
            <a:off x="5523967" y="2465310"/>
            <a:ext cx="144000" cy="144000"/>
          </a:xfrm>
          <a:prstGeom prst="ellipse">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文本框 118"/>
          <p:cNvSpPr txBox="1"/>
          <p:nvPr/>
        </p:nvSpPr>
        <p:spPr bwMode="gray">
          <a:xfrm>
            <a:off x="5756002" y="2416815"/>
            <a:ext cx="838462"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虚拟接口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椭圆 119"/>
          <p:cNvSpPr/>
          <p:nvPr/>
        </p:nvSpPr>
        <p:spPr bwMode="gray">
          <a:xfrm>
            <a:off x="5523967" y="2702648"/>
            <a:ext cx="144000" cy="144000"/>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文本框 120"/>
          <p:cNvSpPr txBox="1"/>
          <p:nvPr/>
        </p:nvSpPr>
        <p:spPr bwMode="gray">
          <a:xfrm>
            <a:off x="5756002" y="2654153"/>
            <a:ext cx="838462"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逻辑接口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椭圆 121"/>
          <p:cNvSpPr/>
          <p:nvPr/>
        </p:nvSpPr>
        <p:spPr bwMode="gray">
          <a:xfrm>
            <a:off x="5523967" y="2939987"/>
            <a:ext cx="144000" cy="144000"/>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文本框 122"/>
          <p:cNvSpPr txBox="1"/>
          <p:nvPr/>
        </p:nvSpPr>
        <p:spPr bwMode="gray">
          <a:xfrm>
            <a:off x="5756002" y="2891492"/>
            <a:ext cx="838462"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物理接口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4" name="Straight Connector 166"/>
          <p:cNvCxnSpPr/>
          <p:nvPr/>
        </p:nvCxnSpPr>
        <p:spPr bwMode="gray">
          <a:xfrm flipV="1">
            <a:off x="5346887" y="3270878"/>
            <a:ext cx="321080" cy="3322"/>
          </a:xfrm>
          <a:prstGeom prst="line">
            <a:avLst/>
          </a:prstGeom>
          <a:noFill/>
          <a:ln w="19050">
            <a:solidFill>
              <a:srgbClr val="ED6D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25" name="文本框 124"/>
          <p:cNvSpPr txBox="1"/>
          <p:nvPr/>
        </p:nvSpPr>
        <p:spPr bwMode="gray">
          <a:xfrm>
            <a:off x="5756002" y="3125450"/>
            <a:ext cx="838462"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用户流量</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文本框 125"/>
          <p:cNvSpPr txBox="1"/>
          <p:nvPr/>
        </p:nvSpPr>
        <p:spPr bwMode="gray">
          <a:xfrm>
            <a:off x="4513524" y="5919389"/>
            <a:ext cx="2190611" cy="276999"/>
          </a:xfrm>
          <a:prstGeom prst="rect">
            <a:avLst/>
          </a:prstGeom>
          <a:noFill/>
        </p:spPr>
        <p:txBody>
          <a:bodyPr wrap="square" rtlCol="0">
            <a:spAutoFit/>
          </a:bodyPr>
          <a:lstStyle/>
          <a:p>
            <a:pPr font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独占出口为例</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901388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Rounded Rectangle 96"/>
          <p:cNvSpPr/>
          <p:nvPr/>
        </p:nvSpPr>
        <p:spPr bwMode="gray">
          <a:xfrm>
            <a:off x="851281" y="3604646"/>
            <a:ext cx="1319030" cy="951692"/>
          </a:xfrm>
          <a:prstGeom prst="roundRect">
            <a:avLst>
              <a:gd name="adj" fmla="val 7423"/>
            </a:avLst>
          </a:prstGeom>
          <a:pattFill prst="dkUpDiag">
            <a:fgClr>
              <a:srgbClr val="E3F6F8"/>
            </a:fgClr>
            <a:bgClr>
              <a:schemeClr val="bg1"/>
            </a:bgClr>
          </a:patt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7" name="Rounded Rectangle 96"/>
          <p:cNvSpPr/>
          <p:nvPr/>
        </p:nvSpPr>
        <p:spPr bwMode="gray">
          <a:xfrm>
            <a:off x="2272641" y="3319429"/>
            <a:ext cx="2879951" cy="752827"/>
          </a:xfrm>
          <a:prstGeom prst="roundRect">
            <a:avLst>
              <a:gd name="adj" fmla="val 7423"/>
            </a:avLst>
          </a:prstGeom>
          <a:pattFill prst="dkUpDiag">
            <a:fgClr>
              <a:srgbClr val="F8E0E2"/>
            </a:fgClr>
            <a:bgClr>
              <a:schemeClr val="bg1"/>
            </a:bgClr>
          </a:pattFill>
          <a:ln>
            <a:solidFill>
              <a:srgbClr val="EEB3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Rounded Rectangle 96"/>
          <p:cNvSpPr/>
          <p:nvPr/>
        </p:nvSpPr>
        <p:spPr bwMode="gray">
          <a:xfrm>
            <a:off x="2272641" y="4153442"/>
            <a:ext cx="2879951" cy="1929641"/>
          </a:xfrm>
          <a:prstGeom prst="roundRect">
            <a:avLst>
              <a:gd name="adj" fmla="val 7423"/>
            </a:avLst>
          </a:prstGeom>
          <a:pattFill prst="dkUpDiag">
            <a:fgClr>
              <a:srgbClr val="E7F3E1"/>
            </a:fgClr>
            <a:bgClr>
              <a:schemeClr val="bg1"/>
            </a:bgClr>
          </a:pattFill>
          <a:ln>
            <a:solidFill>
              <a:srgbClr val="D0E8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6" name="任意多边形 215"/>
          <p:cNvSpPr/>
          <p:nvPr/>
        </p:nvSpPr>
        <p:spPr bwMode="gray">
          <a:xfrm>
            <a:off x="2553953" y="4531551"/>
            <a:ext cx="1863004" cy="915295"/>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安全区域设计</a:t>
            </a:r>
          </a:p>
        </p:txBody>
      </p:sp>
      <p:sp>
        <p:nvSpPr>
          <p:cNvPr id="15" name="文本占位符 14"/>
          <p:cNvSpPr>
            <a:spLocks noGrp="1"/>
          </p:cNvSpPr>
          <p:nvPr>
            <p:ph type="body" sz="quarter" idx="10"/>
          </p:nvPr>
        </p:nvSpPr>
        <p:spPr>
          <a:xfrm>
            <a:off x="455612" y="1047750"/>
            <a:ext cx="11293475" cy="2184337"/>
          </a:xfrm>
        </p:spPr>
        <p:txBody>
          <a:bodyPr/>
          <a:lstStyle/>
          <a:p>
            <a:r>
              <a:rPr lang="zh-CN" altLang="en-US" sz="1800" dirty="0"/>
              <a:t>安全区域（</a:t>
            </a:r>
            <a:r>
              <a:rPr lang="en-US" altLang="zh-CN" sz="1800" dirty="0"/>
              <a:t>Security Zone</a:t>
            </a:r>
            <a:r>
              <a:rPr lang="zh-CN" altLang="en-US" sz="1800" dirty="0"/>
              <a:t>），简称为区域（</a:t>
            </a:r>
            <a:r>
              <a:rPr lang="en-US" altLang="zh-CN" sz="1800" dirty="0"/>
              <a:t>Zone</a:t>
            </a:r>
            <a:r>
              <a:rPr lang="zh-CN" altLang="en-US" sz="1800" dirty="0"/>
              <a:t>），是一个或多个接口所连网络的集合，这些网络中的用户具有相同的安全属性。通常划分三个安全区域，分别是</a:t>
            </a:r>
            <a:r>
              <a:rPr lang="en-US" altLang="zh-CN" sz="1800" dirty="0"/>
              <a:t>Trust</a:t>
            </a:r>
            <a:r>
              <a:rPr lang="zh-CN" altLang="en-US" sz="1800" dirty="0"/>
              <a:t>、</a:t>
            </a:r>
            <a:r>
              <a:rPr lang="en-US" altLang="zh-CN" sz="1800" dirty="0"/>
              <a:t>DMZ</a:t>
            </a:r>
            <a:r>
              <a:rPr lang="zh-CN" altLang="en-US" sz="1800" dirty="0"/>
              <a:t>和</a:t>
            </a:r>
            <a:r>
              <a:rPr lang="en-US" altLang="zh-CN" sz="1800" dirty="0" err="1"/>
              <a:t>Untrust</a:t>
            </a:r>
            <a:r>
              <a:rPr lang="zh-CN" altLang="en-US" sz="1800" dirty="0"/>
              <a:t>：</a:t>
            </a:r>
            <a:endParaRPr lang="en-US" altLang="zh-CN" sz="1800" dirty="0"/>
          </a:p>
          <a:p>
            <a:pPr lvl="1"/>
            <a:r>
              <a:rPr lang="en-US" altLang="zh-CN" sz="1600" dirty="0"/>
              <a:t>Trust</a:t>
            </a:r>
            <a:r>
              <a:rPr lang="zh-CN" altLang="en-US" sz="1600" dirty="0"/>
              <a:t>区域，较高安全级别的安全区域，通常用于定义内网终端用户所在区域。</a:t>
            </a:r>
          </a:p>
          <a:p>
            <a:pPr lvl="1"/>
            <a:r>
              <a:rPr lang="en-US" altLang="zh-CN" sz="1600" dirty="0"/>
              <a:t>DMZ</a:t>
            </a:r>
            <a:r>
              <a:rPr lang="zh-CN" altLang="en-US" sz="1600" dirty="0"/>
              <a:t>区域，中等安全级别的安全区域，通常用于定义需对外提供服务的服务器所在区域。</a:t>
            </a:r>
          </a:p>
          <a:p>
            <a:pPr lvl="1"/>
            <a:r>
              <a:rPr lang="en-US" altLang="zh-CN" sz="1600" dirty="0" err="1"/>
              <a:t>Untrust</a:t>
            </a:r>
            <a:r>
              <a:rPr lang="zh-CN" altLang="en-US" sz="1600" dirty="0"/>
              <a:t>区域，低安全级别的安全区域，通常用于定义</a:t>
            </a:r>
            <a:r>
              <a:rPr lang="en-US" altLang="zh-CN" sz="1600" dirty="0"/>
              <a:t>Internet</a:t>
            </a:r>
            <a:r>
              <a:rPr lang="zh-CN" altLang="en-US" sz="1600" dirty="0"/>
              <a:t>等不安全的网络。</a:t>
            </a:r>
          </a:p>
        </p:txBody>
      </p:sp>
      <p:sp>
        <p:nvSpPr>
          <p:cNvPr id="64" name="圆角矩形 75"/>
          <p:cNvSpPr/>
          <p:nvPr/>
        </p:nvSpPr>
        <p:spPr bwMode="gray">
          <a:xfrm>
            <a:off x="6297876" y="3404168"/>
            <a:ext cx="482883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安全区域规划</a:t>
            </a:r>
          </a:p>
        </p:txBody>
      </p:sp>
      <p:sp>
        <p:nvSpPr>
          <p:cNvPr id="65" name="圆角矩形 75"/>
          <p:cNvSpPr/>
          <p:nvPr/>
        </p:nvSpPr>
        <p:spPr bwMode="gray">
          <a:xfrm>
            <a:off x="6297877" y="3800167"/>
            <a:ext cx="4828832" cy="1928663"/>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marL="176213" indent="-176213" fontAlgn="base">
              <a:lnSpc>
                <a:spcPct val="1400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一般可以认为园区内网是安全的，安全威胁主要来自外界，所以把</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划分为</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Untrust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区域，园区内网划分为</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Trust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区域，在园区出口位置部署安全设备来做内外网隔离，抵御外网威胁。数据中心区域一般划分为</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DMZ</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区域，在</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DMZ</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区域部署防火墙来做园区内网与数据中心各服务器之间的流量隔离。</a:t>
            </a:r>
          </a:p>
        </p:txBody>
      </p:sp>
      <p:pic>
        <p:nvPicPr>
          <p:cNvPr id="149"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27739" y="3977215"/>
            <a:ext cx="337091" cy="275801"/>
          </a:xfrm>
          <a:prstGeom prst="rect">
            <a:avLst/>
          </a:prstGeom>
        </p:spPr>
      </p:pic>
      <p:pic>
        <p:nvPicPr>
          <p:cNvPr id="15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91847" y="3977215"/>
            <a:ext cx="337091" cy="275801"/>
          </a:xfrm>
          <a:prstGeom prst="rect">
            <a:avLst/>
          </a:prstGeom>
        </p:spPr>
      </p:pic>
      <p:cxnSp>
        <p:nvCxnSpPr>
          <p:cNvPr id="161" name="Straight Connector 93"/>
          <p:cNvCxnSpPr>
            <a:stCxn id="150" idx="3"/>
            <a:endCxn id="149" idx="1"/>
          </p:cNvCxnSpPr>
          <p:nvPr/>
        </p:nvCxnSpPr>
        <p:spPr bwMode="gray">
          <a:xfrm>
            <a:off x="3228938" y="4115116"/>
            <a:ext cx="498801"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8" name="Straight Connector 79"/>
          <p:cNvCxnSpPr/>
          <p:nvPr/>
        </p:nvCxnSpPr>
        <p:spPr bwMode="gray">
          <a:xfrm flipH="1" flipV="1">
            <a:off x="1574902" y="4119501"/>
            <a:ext cx="1315715" cy="0"/>
          </a:xfrm>
          <a:prstGeom prst="line">
            <a:avLst/>
          </a:prstGeom>
          <a:noFill/>
          <a:ln w="19050" cap="flat" cmpd="sng" algn="ctr">
            <a:solidFill>
              <a:sysClr val="windowText" lastClr="000000"/>
            </a:solidFill>
            <a:prstDash val="solid"/>
            <a:miter lim="800000"/>
          </a:ln>
          <a:effectLst/>
        </p:spPr>
      </p:cxnSp>
      <p:sp>
        <p:nvSpPr>
          <p:cNvPr id="190" name="Freeform 159"/>
          <p:cNvSpPr/>
          <p:nvPr/>
        </p:nvSpPr>
        <p:spPr bwMode="gray">
          <a:xfrm flipH="1">
            <a:off x="977235" y="3881794"/>
            <a:ext cx="1012066"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lumMod val="95000"/>
            </a:sysClr>
          </a:solidFill>
          <a:ln w="12700" cap="flat" cmpd="sng" algn="ctr">
            <a:solidFill>
              <a:sysClr val="window" lastClr="FFFFFF">
                <a:lumMod val="65000"/>
              </a:sysClr>
            </a:solidFill>
            <a:prstDash val="solid"/>
            <a:miter lim="800000"/>
          </a:ln>
          <a:effectLst/>
        </p:spPr>
        <p:txBody>
          <a:bodyPr wrap="square" tIns="180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kern="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kumimoji="0" lang="en-US" sz="120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5" name="Straight Connector 53"/>
          <p:cNvCxnSpPr>
            <a:stCxn id="150" idx="2"/>
            <a:endCxn id="222" idx="0"/>
          </p:cNvCxnSpPr>
          <p:nvPr/>
        </p:nvCxnSpPr>
        <p:spPr bwMode="gray">
          <a:xfrm flipH="1">
            <a:off x="3060392" y="4253016"/>
            <a:ext cx="1" cy="278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Straight Connector 53"/>
          <p:cNvCxnSpPr>
            <a:stCxn id="149" idx="2"/>
            <a:endCxn id="263" idx="0"/>
          </p:cNvCxnSpPr>
          <p:nvPr/>
        </p:nvCxnSpPr>
        <p:spPr bwMode="gray">
          <a:xfrm flipH="1">
            <a:off x="3896284" y="4253016"/>
            <a:ext cx="1" cy="278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5" name="TextBox 86"/>
          <p:cNvSpPr txBox="1"/>
          <p:nvPr/>
        </p:nvSpPr>
        <p:spPr bwMode="gray">
          <a:xfrm>
            <a:off x="4560718" y="4154779"/>
            <a:ext cx="569387"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Trust</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2" name="图片 86" descr="核心交换机.png"/>
          <p:cNvPicPr>
            <a:picLocks noChangeAspect="1"/>
          </p:cNvPicPr>
          <p:nvPr/>
        </p:nvPicPr>
        <p:blipFill>
          <a:blip r:embed="rId4" cstate="print"/>
          <a:stretch>
            <a:fillRect/>
          </a:stretch>
        </p:blipFill>
        <p:spPr bwMode="gray">
          <a:xfrm>
            <a:off x="2890617" y="4531551"/>
            <a:ext cx="339550" cy="277814"/>
          </a:xfrm>
          <a:prstGeom prst="rect">
            <a:avLst/>
          </a:prstGeom>
        </p:spPr>
      </p:pic>
      <p:pic>
        <p:nvPicPr>
          <p:cNvPr id="223" name="图片 87" descr="汇聚交换机.png"/>
          <p:cNvPicPr>
            <a:picLocks noChangeAspect="1"/>
          </p:cNvPicPr>
          <p:nvPr/>
        </p:nvPicPr>
        <p:blipFill>
          <a:blip r:embed="rId5" cstate="print"/>
          <a:stretch>
            <a:fillRect/>
          </a:stretch>
        </p:blipFill>
        <p:spPr bwMode="gray">
          <a:xfrm>
            <a:off x="2779340" y="5297614"/>
            <a:ext cx="260030" cy="212753"/>
          </a:xfrm>
          <a:prstGeom prst="rect">
            <a:avLst/>
          </a:prstGeom>
        </p:spPr>
      </p:pic>
      <p:pic>
        <p:nvPicPr>
          <p:cNvPr id="224" name="图片 105" descr="AP.png"/>
          <p:cNvPicPr>
            <a:picLocks noChangeAspect="1"/>
          </p:cNvPicPr>
          <p:nvPr/>
        </p:nvPicPr>
        <p:blipFill>
          <a:blip r:embed="rId6" cstate="print"/>
          <a:stretch>
            <a:fillRect/>
          </a:stretch>
        </p:blipFill>
        <p:spPr bwMode="gray">
          <a:xfrm>
            <a:off x="4681557" y="5857932"/>
            <a:ext cx="260030" cy="212753"/>
          </a:xfrm>
          <a:prstGeom prst="rect">
            <a:avLst/>
          </a:prstGeom>
        </p:spPr>
      </p:pic>
      <p:pic>
        <p:nvPicPr>
          <p:cNvPr id="225" name="图片 76" descr="接入交换机.png"/>
          <p:cNvPicPr>
            <a:picLocks noChangeAspect="1"/>
          </p:cNvPicPr>
          <p:nvPr/>
        </p:nvPicPr>
        <p:blipFill>
          <a:blip r:embed="rId7" cstate="print"/>
          <a:stretch>
            <a:fillRect/>
          </a:stretch>
        </p:blipFill>
        <p:spPr bwMode="gray">
          <a:xfrm>
            <a:off x="2779340" y="5857932"/>
            <a:ext cx="260030" cy="212753"/>
          </a:xfrm>
          <a:prstGeom prst="rect">
            <a:avLst/>
          </a:prstGeom>
        </p:spPr>
      </p:pic>
      <p:pic>
        <p:nvPicPr>
          <p:cNvPr id="226" name="图片 76" descr="接入交换机.png"/>
          <p:cNvPicPr>
            <a:picLocks noChangeAspect="1"/>
          </p:cNvPicPr>
          <p:nvPr/>
        </p:nvPicPr>
        <p:blipFill>
          <a:blip r:embed="rId7" cstate="print"/>
          <a:stretch>
            <a:fillRect/>
          </a:stretch>
        </p:blipFill>
        <p:spPr bwMode="gray">
          <a:xfrm>
            <a:off x="3933492" y="5857932"/>
            <a:ext cx="260030" cy="212753"/>
          </a:xfrm>
          <a:prstGeom prst="rect">
            <a:avLst/>
          </a:prstGeom>
        </p:spPr>
      </p:pic>
      <p:pic>
        <p:nvPicPr>
          <p:cNvPr id="227" name="图片 87" descr="汇聚交换机.png"/>
          <p:cNvPicPr>
            <a:picLocks noChangeAspect="1"/>
          </p:cNvPicPr>
          <p:nvPr/>
        </p:nvPicPr>
        <p:blipFill>
          <a:blip r:embed="rId5" cstate="print"/>
          <a:stretch>
            <a:fillRect/>
          </a:stretch>
        </p:blipFill>
        <p:spPr bwMode="gray">
          <a:xfrm>
            <a:off x="3933492" y="5297614"/>
            <a:ext cx="260030" cy="212753"/>
          </a:xfrm>
          <a:prstGeom prst="rect">
            <a:avLst/>
          </a:prstGeom>
        </p:spPr>
      </p:pic>
      <p:cxnSp>
        <p:nvCxnSpPr>
          <p:cNvPr id="228" name="Straight Connector 166"/>
          <p:cNvCxnSpPr>
            <a:stCxn id="223" idx="2"/>
            <a:endCxn id="225" idx="0"/>
          </p:cNvCxnSpPr>
          <p:nvPr/>
        </p:nvCxnSpPr>
        <p:spPr bwMode="gray">
          <a:xfrm>
            <a:off x="2909355" y="5510366"/>
            <a:ext cx="0" cy="3475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Straight Connector 166"/>
          <p:cNvCxnSpPr>
            <a:stCxn id="227" idx="2"/>
            <a:endCxn id="226" idx="0"/>
          </p:cNvCxnSpPr>
          <p:nvPr/>
        </p:nvCxnSpPr>
        <p:spPr bwMode="gray">
          <a:xfrm>
            <a:off x="4063508" y="5510366"/>
            <a:ext cx="0" cy="3475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Straight Connector 166"/>
          <p:cNvCxnSpPr>
            <a:stCxn id="224" idx="1"/>
            <a:endCxn id="226" idx="3"/>
          </p:cNvCxnSpPr>
          <p:nvPr/>
        </p:nvCxnSpPr>
        <p:spPr bwMode="gray">
          <a:xfrm flipH="1">
            <a:off x="4193523" y="5964308"/>
            <a:ext cx="4880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4" name="文本框 253"/>
          <p:cNvSpPr txBox="1"/>
          <p:nvPr/>
        </p:nvSpPr>
        <p:spPr bwMode="gray">
          <a:xfrm>
            <a:off x="3099715" y="4915376"/>
            <a:ext cx="676788" cy="307777"/>
          </a:xfrm>
          <a:prstGeom prst="rect">
            <a:avLst/>
          </a:prstGeom>
          <a:noFill/>
        </p:spPr>
        <p:txBody>
          <a:bodyPr wrap="none" rtlCol="0">
            <a:spAutoFit/>
          </a:bodyPr>
          <a:lstStyle/>
          <a:p>
            <a:pPr algn="ct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Fabric</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8" name="TextBox 86"/>
          <p:cNvSpPr txBox="1"/>
          <p:nvPr/>
        </p:nvSpPr>
        <p:spPr bwMode="gray">
          <a:xfrm>
            <a:off x="4414238" y="3351311"/>
            <a:ext cx="750526" cy="276999"/>
          </a:xfrm>
          <a:prstGeom prst="rect">
            <a:avLst/>
          </a:prstGeom>
          <a:noFill/>
        </p:spPr>
        <p:txBody>
          <a:bodyPr wrap="none" rtlCol="0">
            <a:spAutoFit/>
          </a:bodyPr>
          <a:lstStyle/>
          <a:p>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Untrust</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0" name="TextBox 86"/>
          <p:cNvSpPr txBox="1"/>
          <p:nvPr/>
        </p:nvSpPr>
        <p:spPr bwMode="gray">
          <a:xfrm>
            <a:off x="1599664" y="3637468"/>
            <a:ext cx="535724"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DMZ</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3" name="图片 86" descr="核心交换机.png"/>
          <p:cNvPicPr>
            <a:picLocks noChangeAspect="1"/>
          </p:cNvPicPr>
          <p:nvPr/>
        </p:nvPicPr>
        <p:blipFill>
          <a:blip r:embed="rId4" cstate="print"/>
          <a:stretch>
            <a:fillRect/>
          </a:stretch>
        </p:blipFill>
        <p:spPr bwMode="gray">
          <a:xfrm>
            <a:off x="3726509" y="4531551"/>
            <a:ext cx="339550" cy="277814"/>
          </a:xfrm>
          <a:prstGeom prst="rect">
            <a:avLst/>
          </a:prstGeom>
        </p:spPr>
      </p:pic>
      <p:cxnSp>
        <p:nvCxnSpPr>
          <p:cNvPr id="264" name="Straight Connector 53"/>
          <p:cNvCxnSpPr>
            <a:stCxn id="150" idx="2"/>
            <a:endCxn id="263" idx="0"/>
          </p:cNvCxnSpPr>
          <p:nvPr/>
        </p:nvCxnSpPr>
        <p:spPr bwMode="gray">
          <a:xfrm>
            <a:off x="3060393" y="4253016"/>
            <a:ext cx="835891" cy="278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Straight Connector 53"/>
          <p:cNvCxnSpPr>
            <a:stCxn id="149" idx="2"/>
          </p:cNvCxnSpPr>
          <p:nvPr/>
        </p:nvCxnSpPr>
        <p:spPr bwMode="gray">
          <a:xfrm flipH="1">
            <a:off x="3060393" y="4253016"/>
            <a:ext cx="835892" cy="2680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Straight Connector 53"/>
          <p:cNvCxnSpPr/>
          <p:nvPr/>
        </p:nvCxnSpPr>
        <p:spPr bwMode="gray">
          <a:xfrm flipH="1">
            <a:off x="3060392" y="3702701"/>
            <a:ext cx="1" cy="278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Straight Connector 53"/>
          <p:cNvCxnSpPr/>
          <p:nvPr/>
        </p:nvCxnSpPr>
        <p:spPr bwMode="gray">
          <a:xfrm flipH="1">
            <a:off x="3901889" y="3702701"/>
            <a:ext cx="1" cy="278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7" name="Group 17"/>
          <p:cNvGrpSpPr/>
          <p:nvPr/>
        </p:nvGrpSpPr>
        <p:grpSpPr bwMode="gray">
          <a:xfrm>
            <a:off x="2678555" y="3449789"/>
            <a:ext cx="740908" cy="375207"/>
            <a:chOff x="8023910" y="4961247"/>
            <a:chExt cx="740908" cy="375207"/>
          </a:xfrm>
        </p:grpSpPr>
        <p:grpSp>
          <p:nvGrpSpPr>
            <p:cNvPr id="198" name="组合 35"/>
            <p:cNvGrpSpPr/>
            <p:nvPr/>
          </p:nvGrpSpPr>
          <p:grpSpPr bwMode="gray">
            <a:xfrm>
              <a:off x="8077829" y="4961247"/>
              <a:ext cx="633070" cy="358898"/>
              <a:chOff x="3269076" y="1744970"/>
              <a:chExt cx="1860118" cy="1054529"/>
            </a:xfrm>
            <a:solidFill>
              <a:sysClr val="window" lastClr="FFFFFF">
                <a:lumMod val="75000"/>
              </a:sysClr>
            </a:solidFill>
          </p:grpSpPr>
          <p:sp>
            <p:nvSpPr>
              <p:cNvPr id="200"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5"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9" name="TextBox 114"/>
            <p:cNvSpPr txBox="1"/>
            <p:nvPr/>
          </p:nvSpPr>
          <p:spPr bwMode="gray">
            <a:xfrm>
              <a:off x="8023910" y="5059455"/>
              <a:ext cx="740908"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a:t>
              </a:r>
              <a:endParaRPr kumimoji="0" lang="zh-CN" altLang="en-US" sz="12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06" name="Group 115"/>
          <p:cNvGrpSpPr/>
          <p:nvPr/>
        </p:nvGrpSpPr>
        <p:grpSpPr bwMode="gray">
          <a:xfrm>
            <a:off x="3573090" y="3449789"/>
            <a:ext cx="633070" cy="375207"/>
            <a:chOff x="8077829" y="4961247"/>
            <a:chExt cx="633070" cy="375207"/>
          </a:xfrm>
        </p:grpSpPr>
        <p:grpSp>
          <p:nvGrpSpPr>
            <p:cNvPr id="207" name="组合 35"/>
            <p:cNvGrpSpPr/>
            <p:nvPr/>
          </p:nvGrpSpPr>
          <p:grpSpPr bwMode="gray">
            <a:xfrm>
              <a:off x="8077829" y="4961247"/>
              <a:ext cx="633070" cy="358898"/>
              <a:chOff x="3269076" y="1744970"/>
              <a:chExt cx="1860118" cy="1054529"/>
            </a:xfrm>
            <a:solidFill>
              <a:sysClr val="window" lastClr="FFFFFF">
                <a:lumMod val="75000"/>
              </a:sysClr>
            </a:solidFill>
          </p:grpSpPr>
          <p:sp>
            <p:nvSpPr>
              <p:cNvPr id="209"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0"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1"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2"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3"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4"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8" name="TextBox 117"/>
            <p:cNvSpPr txBox="1"/>
            <p:nvPr/>
          </p:nvSpPr>
          <p:spPr bwMode="gray">
            <a:xfrm>
              <a:off x="8118488" y="5059455"/>
              <a:ext cx="551754"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WAN</a:t>
              </a:r>
              <a:endParaRPr kumimoji="0" lang="zh-CN" altLang="en-US" sz="120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4753029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安全策略设计</a:t>
            </a:r>
          </a:p>
        </p:txBody>
      </p:sp>
      <p:sp>
        <p:nvSpPr>
          <p:cNvPr id="3" name="文本占位符 2"/>
          <p:cNvSpPr>
            <a:spLocks noGrp="1"/>
          </p:cNvSpPr>
          <p:nvPr>
            <p:ph type="body" sz="quarter" idx="10"/>
          </p:nvPr>
        </p:nvSpPr>
        <p:spPr>
          <a:xfrm>
            <a:off x="455612" y="1047750"/>
            <a:ext cx="11293475" cy="1185311"/>
          </a:xfrm>
        </p:spPr>
        <p:txBody>
          <a:bodyPr/>
          <a:lstStyle/>
          <a:p>
            <a:r>
              <a:rPr lang="zh-CN" altLang="en-US" sz="1800" dirty="0"/>
              <a:t>在防火墙上划分好不同的安全区域后，不同安全区域间默认是隔离的。如果安全区域间需要实现互访，比如园区内网需要访问外部</a:t>
            </a:r>
            <a:r>
              <a:rPr lang="en-US" altLang="zh-CN" sz="1800" dirty="0"/>
              <a:t>Internet</a:t>
            </a:r>
            <a:r>
              <a:rPr lang="zh-CN" altLang="en-US" sz="1800" dirty="0"/>
              <a:t>，防火墙上不仅需要三层路由互通，还需要配置允许两个安全区域互访的安全策略。</a:t>
            </a:r>
          </a:p>
        </p:txBody>
      </p:sp>
      <p:sp>
        <p:nvSpPr>
          <p:cNvPr id="4" name="文本框 3"/>
          <p:cNvSpPr txBox="1"/>
          <p:nvPr/>
        </p:nvSpPr>
        <p:spPr bwMode="gray">
          <a:xfrm>
            <a:off x="1946303" y="3119535"/>
            <a:ext cx="3395243" cy="1534556"/>
          </a:xfrm>
          <a:prstGeom prst="rect">
            <a:avLst/>
          </a:prstGeom>
          <a:solidFill>
            <a:schemeClr val="bg1">
              <a:lumMod val="95000"/>
            </a:schemeClr>
          </a:solidFill>
          <a:ln>
            <a:solidFill>
              <a:schemeClr val="bg1">
                <a:lumMod val="75000"/>
              </a:schemeClr>
            </a:solidFill>
          </a:ln>
        </p:spPr>
        <p:txBody>
          <a:bodyPr wrap="none" rtlCol="0" anchor="ctr" anchorCtr="0">
            <a:noAutofit/>
          </a:bodyPr>
          <a:lstStyle/>
          <a:p>
            <a:pPr algn="ctr" fontAlgn="ct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p:cNvSpPr txBox="1"/>
          <p:nvPr/>
        </p:nvSpPr>
        <p:spPr bwMode="gray">
          <a:xfrm>
            <a:off x="4321248" y="3317635"/>
            <a:ext cx="933785" cy="248697"/>
          </a:xfrm>
          <a:prstGeom prst="rect">
            <a:avLst/>
          </a:prstGeom>
          <a:solidFill>
            <a:schemeClr val="bg1">
              <a:lumMod val="65000"/>
            </a:schemeClr>
          </a:solidFill>
        </p:spPr>
        <p:txBody>
          <a:bodyPr wrap="square" rtlCol="0" anchor="ctr" anchorCtr="0">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err="1">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Untrust</a:t>
            </a:r>
            <a:endPar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9" name="文本框 8"/>
          <p:cNvSpPr txBox="1"/>
          <p:nvPr/>
        </p:nvSpPr>
        <p:spPr bwMode="gray">
          <a:xfrm>
            <a:off x="3267935" y="3708720"/>
            <a:ext cx="723275" cy="307777"/>
          </a:xfrm>
          <a:prstGeom prst="rect">
            <a:avLst/>
          </a:prstGeom>
          <a:noFill/>
        </p:spPr>
        <p:txBody>
          <a:bodyPr wrap="none" rtlCol="0">
            <a:spAutoFit/>
          </a:bodyPr>
          <a:lstStyle/>
          <a:p>
            <a:pPr algn="ctr" font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防火墙</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椭圆 10"/>
          <p:cNvSpPr/>
          <p:nvPr/>
        </p:nvSpPr>
        <p:spPr bwMode="gray">
          <a:xfrm>
            <a:off x="1910439" y="3369983"/>
            <a:ext cx="144000" cy="144000"/>
          </a:xfrm>
          <a:prstGeom prst="ellipse">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bwMode="gray">
          <a:xfrm>
            <a:off x="3113583" y="2152007"/>
            <a:ext cx="1084271" cy="954107"/>
          </a:xfrm>
          <a:prstGeom prst="rect">
            <a:avLst/>
          </a:prstGeom>
          <a:noFill/>
        </p:spPr>
        <p:txBody>
          <a:bodyPr wrap="none" rtlCol="0">
            <a:spAutoFit/>
          </a:bodyPr>
          <a:lstStyle/>
          <a:p>
            <a:pPr font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安全策略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p>
          <a:p>
            <a:pPr marL="180000" indent="-180000" fontAlgn="ctr">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入侵检测</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80000" indent="-180000" fontAlgn="ctr">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反病毒</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80000" indent="-180000" fontAlgn="ctr">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URL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过滤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箭头连接符 15"/>
          <p:cNvCxnSpPr>
            <a:stCxn id="20" idx="3"/>
            <a:endCxn id="6" idx="1"/>
          </p:cNvCxnSpPr>
          <p:nvPr/>
        </p:nvCxnSpPr>
        <p:spPr bwMode="gray">
          <a:xfrm>
            <a:off x="2994905" y="3441984"/>
            <a:ext cx="1326343"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bwMode="gray">
          <a:xfrm>
            <a:off x="2061120" y="3317635"/>
            <a:ext cx="933785" cy="248697"/>
          </a:xfrm>
          <a:prstGeom prst="rect">
            <a:avLst/>
          </a:prstGeom>
          <a:solidFill>
            <a:schemeClr val="bg1">
              <a:lumMod val="65000"/>
            </a:schemeClr>
          </a:solidFill>
        </p:spPr>
        <p:txBody>
          <a:bodyPr wrap="square" rtlCol="0" anchor="ctr" anchorCtr="0">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DMZ</a:t>
            </a:r>
            <a:endPar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23" name="文本框 22"/>
          <p:cNvSpPr txBox="1"/>
          <p:nvPr/>
        </p:nvSpPr>
        <p:spPr bwMode="gray">
          <a:xfrm>
            <a:off x="4321248" y="4290263"/>
            <a:ext cx="933785" cy="248697"/>
          </a:xfrm>
          <a:prstGeom prst="rect">
            <a:avLst/>
          </a:prstGeom>
          <a:solidFill>
            <a:srgbClr val="F28944"/>
          </a:solidFill>
          <a:ln w="9525" cap="flat" cmpd="sng" algn="ctr">
            <a:noFill/>
            <a:prstDash val="solid"/>
            <a:round/>
            <a:headEnd type="none" w="med" len="med"/>
            <a:tailEnd type="none" w="med" len="med"/>
          </a:ln>
          <a:effectLst/>
        </p:spPr>
        <p:txBody>
          <a:bodyPr vert="horz" wrap="none" lIns="91416" tIns="45708" rIns="91416" bIns="45708" numCol="1" rtlCol="0" anchor="ctr" anchorCtr="1" compatLnSpc="1">
            <a:prstTxWarp prst="textNoShape">
              <a:avLst/>
            </a:prstTxWarp>
          </a:bodyPr>
          <a:lstStyle>
            <a:defPPr>
              <a:defRPr lang="en-US"/>
            </a:defPPr>
            <a:lvl1pPr marR="0" lvl="0" indent="0" algn="ctr" defTabSz="914088" eaLnBrk="0" fontAlgn="base" hangingPunct="0">
              <a:lnSpc>
                <a:spcPct val="100000"/>
              </a:lnSpc>
              <a:spcBef>
                <a:spcPts val="0"/>
              </a:spcBef>
              <a:spcAft>
                <a:spcPct val="0"/>
              </a:spcAft>
              <a:buClrTx/>
              <a:buSzTx/>
              <a:buFontTx/>
              <a:buNone/>
              <a:tabLst/>
              <a:defRPr kumimoji="0" sz="1200" b="0" i="0" u="none" strike="noStrike" kern="0" cap="none" spc="0" normalizeH="0" baseline="0">
                <a:ln>
                  <a:noFill/>
                </a:ln>
                <a:solidFill>
                  <a:schemeClr val="bg1"/>
                </a:solidFill>
                <a:effectLst/>
                <a:uLnTx/>
                <a:uFillTx/>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VN2-Trust</a:t>
            </a:r>
            <a:endParaRPr lang="zh-CN" altLang="en-US" dirty="0">
              <a:sym typeface="Huawei Sans" panose="020C0503030203020204" pitchFamily="34" charset="0"/>
            </a:endParaRPr>
          </a:p>
        </p:txBody>
      </p:sp>
      <p:cxnSp>
        <p:nvCxnSpPr>
          <p:cNvPr id="24" name="直接箭头连接符 23"/>
          <p:cNvCxnSpPr>
            <a:stCxn id="25" idx="3"/>
            <a:endCxn id="23" idx="1"/>
          </p:cNvCxnSpPr>
          <p:nvPr/>
        </p:nvCxnSpPr>
        <p:spPr bwMode="gray">
          <a:xfrm>
            <a:off x="2994905" y="4414612"/>
            <a:ext cx="1326343"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bwMode="gray">
          <a:xfrm>
            <a:off x="2061120" y="4290263"/>
            <a:ext cx="933785" cy="248697"/>
          </a:xfrm>
          <a:prstGeom prst="rect">
            <a:avLst/>
          </a:prstGeom>
          <a:solidFill>
            <a:srgbClr val="F28944"/>
          </a:solidFill>
          <a:ln w="9525" cap="flat" cmpd="sng" algn="ctr">
            <a:noFill/>
            <a:prstDash val="solid"/>
            <a:round/>
            <a:headEnd type="none" w="med" len="med"/>
            <a:tailEnd type="none" w="med" len="med"/>
          </a:ln>
          <a:effectLst/>
        </p:spPr>
        <p:txBody>
          <a:bodyPr vert="horz" wrap="none" lIns="91416" tIns="45708" rIns="91416" bIns="45708" numCol="1" rtlCol="0" anchor="ctr" anchorCtr="1" compatLnSpc="1">
            <a:prstTxWarp prst="textNoShape">
              <a:avLst/>
            </a:prstTxWarp>
          </a:bodyPr>
          <a:lstStyle>
            <a:defPPr>
              <a:defRPr lang="en-US"/>
            </a:defPPr>
            <a:lvl1pPr marR="0" lvl="0" indent="0" algn="ctr" defTabSz="914088" eaLnBrk="0" fontAlgn="base" hangingPunct="0">
              <a:lnSpc>
                <a:spcPct val="100000"/>
              </a:lnSpc>
              <a:spcBef>
                <a:spcPts val="0"/>
              </a:spcBef>
              <a:spcAft>
                <a:spcPct val="0"/>
              </a:spcAft>
              <a:buClrTx/>
              <a:buSzTx/>
              <a:buFontTx/>
              <a:buNone/>
              <a:tabLst/>
              <a:defRPr kumimoji="0" sz="1200" b="0" i="0" u="none" strike="noStrike" kern="0" cap="none" spc="0" normalizeH="0" baseline="0">
                <a:ln>
                  <a:noFill/>
                </a:ln>
                <a:solidFill>
                  <a:schemeClr val="bg1"/>
                </a:solidFill>
                <a:effectLst/>
                <a:uLnTx/>
                <a:uFillTx/>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VN1-Trust</a:t>
            </a:r>
            <a:endParaRPr lang="zh-CN" altLang="en-US" dirty="0">
              <a:sym typeface="Huawei Sans" panose="020C0503030203020204" pitchFamily="34" charset="0"/>
            </a:endParaRPr>
          </a:p>
        </p:txBody>
      </p:sp>
      <p:grpSp>
        <p:nvGrpSpPr>
          <p:cNvPr id="36" name="组合 35"/>
          <p:cNvGrpSpPr/>
          <p:nvPr/>
        </p:nvGrpSpPr>
        <p:grpSpPr bwMode="gray">
          <a:xfrm>
            <a:off x="4321248" y="2314515"/>
            <a:ext cx="909482" cy="480535"/>
            <a:chOff x="591922" y="1761021"/>
            <a:chExt cx="909482" cy="480535"/>
          </a:xfrm>
        </p:grpSpPr>
        <p:sp>
          <p:nvSpPr>
            <p:cNvPr id="37"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p>
          </p:txBody>
        </p:sp>
      </p:grpSp>
      <p:sp>
        <p:nvSpPr>
          <p:cNvPr id="39" name="椭圆 38"/>
          <p:cNvSpPr/>
          <p:nvPr/>
        </p:nvSpPr>
        <p:spPr bwMode="gray">
          <a:xfrm>
            <a:off x="2443861" y="4510091"/>
            <a:ext cx="144000" cy="144000"/>
          </a:xfrm>
          <a:prstGeom prst="ellipse">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bwMode="gray">
          <a:xfrm>
            <a:off x="4716140" y="4510091"/>
            <a:ext cx="144000" cy="144000"/>
          </a:xfrm>
          <a:prstGeom prst="ellipse">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bwMode="gray">
          <a:xfrm>
            <a:off x="4703989" y="3201096"/>
            <a:ext cx="144000" cy="144000"/>
          </a:xfrm>
          <a:prstGeom prst="ellipse">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箭头连接符 41"/>
          <p:cNvCxnSpPr>
            <a:stCxn id="41" idx="0"/>
            <a:endCxn id="38" idx="2"/>
          </p:cNvCxnSpPr>
          <p:nvPr/>
        </p:nvCxnSpPr>
        <p:spPr bwMode="gray">
          <a:xfrm flipV="1">
            <a:off x="4775989" y="2793646"/>
            <a:ext cx="0" cy="40745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11" idx="2"/>
          </p:cNvCxnSpPr>
          <p:nvPr/>
        </p:nvCxnSpPr>
        <p:spPr bwMode="gray">
          <a:xfrm flipH="1" flipV="1">
            <a:off x="1074318" y="3440579"/>
            <a:ext cx="836121" cy="1404"/>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bwMode="gray">
          <a:xfrm>
            <a:off x="704927" y="3119535"/>
            <a:ext cx="909482" cy="480535"/>
            <a:chOff x="591922" y="1761021"/>
            <a:chExt cx="909482" cy="480535"/>
          </a:xfrm>
        </p:grpSpPr>
        <p:sp>
          <p:nvSpPr>
            <p:cNvPr id="34"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DMZ</a:t>
              </a:r>
            </a:p>
          </p:txBody>
        </p:sp>
      </p:grpSp>
      <p:cxnSp>
        <p:nvCxnSpPr>
          <p:cNvPr id="50" name="直接箭头连接符 49"/>
          <p:cNvCxnSpPr>
            <a:stCxn id="39" idx="4"/>
            <a:endCxn id="29" idx="0"/>
          </p:cNvCxnSpPr>
          <p:nvPr/>
        </p:nvCxnSpPr>
        <p:spPr bwMode="gray">
          <a:xfrm>
            <a:off x="2515861" y="4654091"/>
            <a:ext cx="0" cy="693386"/>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bwMode="gray">
          <a:xfrm>
            <a:off x="2061120" y="5173451"/>
            <a:ext cx="909482" cy="480535"/>
            <a:chOff x="591922" y="1761021"/>
            <a:chExt cx="909482" cy="480535"/>
          </a:xfrm>
        </p:grpSpPr>
        <p:sp>
          <p:nvSpPr>
            <p:cNvPr id="28"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VN1</a:t>
              </a:r>
            </a:p>
          </p:txBody>
        </p:sp>
      </p:grpSp>
      <p:cxnSp>
        <p:nvCxnSpPr>
          <p:cNvPr id="53" name="直接箭头连接符 52"/>
          <p:cNvCxnSpPr/>
          <p:nvPr/>
        </p:nvCxnSpPr>
        <p:spPr bwMode="gray">
          <a:xfrm flipH="1">
            <a:off x="4785614" y="4654091"/>
            <a:ext cx="0" cy="731886"/>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bwMode="gray">
          <a:xfrm>
            <a:off x="4321248" y="5173451"/>
            <a:ext cx="909482" cy="480535"/>
            <a:chOff x="591922" y="1761021"/>
            <a:chExt cx="909482" cy="480535"/>
          </a:xfrm>
        </p:grpSpPr>
        <p:sp>
          <p:nvSpPr>
            <p:cNvPr id="31" name="Freeform 159"/>
            <p:cNvSpPr/>
            <p:nvPr/>
          </p:nvSpPr>
          <p:spPr bwMode="gray">
            <a:xfrm flipH="1">
              <a:off x="639829" y="1761021"/>
              <a:ext cx="813669" cy="4805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591922" y="1935047"/>
              <a:ext cx="909482" cy="305105"/>
            </a:xfrm>
            <a:prstGeom prst="rect">
              <a:avLst/>
            </a:prstGeom>
            <a:noFill/>
          </p:spPr>
          <p:txBody>
            <a:bodyPr wrap="square" rtlCol="0">
              <a:noAutofit/>
            </a:bodyPr>
            <a:lstStyle/>
            <a:p>
              <a:pPr algn="ctr" font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VN2</a:t>
              </a:r>
            </a:p>
          </p:txBody>
        </p:sp>
      </p:grpSp>
      <p:sp>
        <p:nvSpPr>
          <p:cNvPr id="57" name="任意多边形 56"/>
          <p:cNvSpPr/>
          <p:nvPr/>
        </p:nvSpPr>
        <p:spPr bwMode="gray">
          <a:xfrm>
            <a:off x="1597795" y="2840607"/>
            <a:ext cx="3087296" cy="405381"/>
          </a:xfrm>
          <a:custGeom>
            <a:avLst/>
            <a:gdLst>
              <a:gd name="connsiteX0" fmla="*/ 3051208 w 3330063"/>
              <a:gd name="connsiteY0" fmla="*/ 0 h 422057"/>
              <a:gd name="connsiteX1" fmla="*/ 3031958 w 3330063"/>
              <a:gd name="connsiteY1" fmla="*/ 385010 h 422057"/>
              <a:gd name="connsiteX2" fmla="*/ 0 w 3330063"/>
              <a:gd name="connsiteY2" fmla="*/ 385010 h 422057"/>
              <a:gd name="connsiteX0" fmla="*/ 3051208 w 3286149"/>
              <a:gd name="connsiteY0" fmla="*/ 0 h 398822"/>
              <a:gd name="connsiteX1" fmla="*/ 2954956 w 3286149"/>
              <a:gd name="connsiteY1" fmla="*/ 327258 h 398822"/>
              <a:gd name="connsiteX2" fmla="*/ 0 w 3286149"/>
              <a:gd name="connsiteY2" fmla="*/ 385010 h 398822"/>
              <a:gd name="connsiteX0" fmla="*/ 3051208 w 3140831"/>
              <a:gd name="connsiteY0" fmla="*/ 0 h 405381"/>
              <a:gd name="connsiteX1" fmla="*/ 2954956 w 3140831"/>
              <a:gd name="connsiteY1" fmla="*/ 327258 h 405381"/>
              <a:gd name="connsiteX2" fmla="*/ 0 w 3140831"/>
              <a:gd name="connsiteY2" fmla="*/ 385010 h 405381"/>
              <a:gd name="connsiteX0" fmla="*/ 3051208 w 3066085"/>
              <a:gd name="connsiteY0" fmla="*/ 0 h 405381"/>
              <a:gd name="connsiteX1" fmla="*/ 2954956 w 3066085"/>
              <a:gd name="connsiteY1" fmla="*/ 327258 h 405381"/>
              <a:gd name="connsiteX2" fmla="*/ 0 w 3066085"/>
              <a:gd name="connsiteY2" fmla="*/ 385010 h 405381"/>
              <a:gd name="connsiteX0" fmla="*/ 3051208 w 3087296"/>
              <a:gd name="connsiteY0" fmla="*/ 0 h 405381"/>
              <a:gd name="connsiteX1" fmla="*/ 3070459 w 3087296"/>
              <a:gd name="connsiteY1" fmla="*/ 327258 h 405381"/>
              <a:gd name="connsiteX2" fmla="*/ 0 w 3087296"/>
              <a:gd name="connsiteY2" fmla="*/ 385010 h 405381"/>
            </a:gdLst>
            <a:ahLst/>
            <a:cxnLst>
              <a:cxn ang="0">
                <a:pos x="connsiteX0" y="connsiteY0"/>
              </a:cxn>
              <a:cxn ang="0">
                <a:pos x="connsiteX1" y="connsiteY1"/>
              </a:cxn>
              <a:cxn ang="0">
                <a:pos x="connsiteX2" y="connsiteY2"/>
              </a:cxn>
            </a:cxnLst>
            <a:rect l="l" t="t" r="r" b="b"/>
            <a:pathLst>
              <a:path w="3087296" h="405381">
                <a:moveTo>
                  <a:pt x="3051208" y="0"/>
                </a:moveTo>
                <a:cubicBezTo>
                  <a:pt x="3112970" y="170047"/>
                  <a:pt x="3078481" y="234214"/>
                  <a:pt x="3070459" y="327258"/>
                </a:cubicBezTo>
                <a:cubicBezTo>
                  <a:pt x="3062437" y="420302"/>
                  <a:pt x="1261711" y="417094"/>
                  <a:pt x="0" y="385010"/>
                </a:cubicBezTo>
              </a:path>
            </a:pathLst>
          </a:custGeom>
          <a:noFill/>
          <a:ln w="28575">
            <a:solidFill>
              <a:srgbClr val="62B23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57"/>
          <p:cNvSpPr/>
          <p:nvPr/>
        </p:nvSpPr>
        <p:spPr bwMode="gray">
          <a:xfrm>
            <a:off x="2628234" y="4539808"/>
            <a:ext cx="2010618" cy="620485"/>
          </a:xfrm>
          <a:custGeom>
            <a:avLst/>
            <a:gdLst>
              <a:gd name="connsiteX0" fmla="*/ 182177 w 2316056"/>
              <a:gd name="connsiteY0" fmla="*/ 716935 h 737645"/>
              <a:gd name="connsiteX1" fmla="*/ 153302 w 2316056"/>
              <a:gd name="connsiteY1" fmla="*/ 659184 h 737645"/>
              <a:gd name="connsiteX2" fmla="*/ 143676 w 2316056"/>
              <a:gd name="connsiteY2" fmla="*/ 81668 h 737645"/>
              <a:gd name="connsiteX3" fmla="*/ 2107230 w 2316056"/>
              <a:gd name="connsiteY3" fmla="*/ 62418 h 737645"/>
              <a:gd name="connsiteX4" fmla="*/ 2164982 w 2316056"/>
              <a:gd name="connsiteY4" fmla="*/ 630308 h 737645"/>
              <a:gd name="connsiteX0" fmla="*/ 173357 w 2307236"/>
              <a:gd name="connsiteY0" fmla="*/ 716935 h 716935"/>
              <a:gd name="connsiteX1" fmla="*/ 134856 w 2307236"/>
              <a:gd name="connsiteY1" fmla="*/ 81668 h 716935"/>
              <a:gd name="connsiteX2" fmla="*/ 2098410 w 2307236"/>
              <a:gd name="connsiteY2" fmla="*/ 62418 h 716935"/>
              <a:gd name="connsiteX3" fmla="*/ 2156162 w 2307236"/>
              <a:gd name="connsiteY3" fmla="*/ 630308 h 716935"/>
              <a:gd name="connsiteX0" fmla="*/ 38520 w 2172399"/>
              <a:gd name="connsiteY0" fmla="*/ 713695 h 713695"/>
              <a:gd name="connsiteX1" fmla="*/ 19 w 2172399"/>
              <a:gd name="connsiteY1" fmla="*/ 78428 h 713695"/>
              <a:gd name="connsiteX2" fmla="*/ 1963573 w 2172399"/>
              <a:gd name="connsiteY2" fmla="*/ 59178 h 713695"/>
              <a:gd name="connsiteX3" fmla="*/ 2021325 w 2172399"/>
              <a:gd name="connsiteY3" fmla="*/ 627068 h 713695"/>
              <a:gd name="connsiteX0" fmla="*/ 55318 w 2189197"/>
              <a:gd name="connsiteY0" fmla="*/ 691293 h 691293"/>
              <a:gd name="connsiteX1" fmla="*/ 16817 w 2189197"/>
              <a:gd name="connsiteY1" fmla="*/ 56026 h 691293"/>
              <a:gd name="connsiteX2" fmla="*/ 1980371 w 2189197"/>
              <a:gd name="connsiteY2" fmla="*/ 36776 h 691293"/>
              <a:gd name="connsiteX3" fmla="*/ 2038123 w 2189197"/>
              <a:gd name="connsiteY3" fmla="*/ 604666 h 691293"/>
              <a:gd name="connsiteX0" fmla="*/ 55318 w 2089546"/>
              <a:gd name="connsiteY0" fmla="*/ 712549 h 712549"/>
              <a:gd name="connsiteX1" fmla="*/ 16817 w 2089546"/>
              <a:gd name="connsiteY1" fmla="*/ 77282 h 712549"/>
              <a:gd name="connsiteX2" fmla="*/ 1980371 w 2089546"/>
              <a:gd name="connsiteY2" fmla="*/ 58032 h 712549"/>
              <a:gd name="connsiteX3" fmla="*/ 2038123 w 2089546"/>
              <a:gd name="connsiteY3" fmla="*/ 625922 h 712549"/>
              <a:gd name="connsiteX0" fmla="*/ 55318 w 2089546"/>
              <a:gd name="connsiteY0" fmla="*/ 674435 h 674435"/>
              <a:gd name="connsiteX1" fmla="*/ 16817 w 2089546"/>
              <a:gd name="connsiteY1" fmla="*/ 39168 h 674435"/>
              <a:gd name="connsiteX2" fmla="*/ 1980371 w 2089546"/>
              <a:gd name="connsiteY2" fmla="*/ 19918 h 674435"/>
              <a:gd name="connsiteX3" fmla="*/ 2038123 w 2089546"/>
              <a:gd name="connsiteY3" fmla="*/ 587808 h 674435"/>
              <a:gd name="connsiteX0" fmla="*/ 55318 w 2170640"/>
              <a:gd name="connsiteY0" fmla="*/ 692705 h 692705"/>
              <a:gd name="connsiteX1" fmla="*/ 16817 w 2170640"/>
              <a:gd name="connsiteY1" fmla="*/ 57438 h 692705"/>
              <a:gd name="connsiteX2" fmla="*/ 1980371 w 2170640"/>
              <a:gd name="connsiteY2" fmla="*/ 38188 h 692705"/>
              <a:gd name="connsiteX3" fmla="*/ 1999622 w 2170640"/>
              <a:gd name="connsiteY3" fmla="*/ 625328 h 692705"/>
              <a:gd name="connsiteX0" fmla="*/ 55318 w 2135867"/>
              <a:gd name="connsiteY0" fmla="*/ 692705 h 692705"/>
              <a:gd name="connsiteX1" fmla="*/ 16817 w 2135867"/>
              <a:gd name="connsiteY1" fmla="*/ 57438 h 692705"/>
              <a:gd name="connsiteX2" fmla="*/ 1980371 w 2135867"/>
              <a:gd name="connsiteY2" fmla="*/ 38188 h 692705"/>
              <a:gd name="connsiteX3" fmla="*/ 1999622 w 2135867"/>
              <a:gd name="connsiteY3" fmla="*/ 625328 h 692705"/>
              <a:gd name="connsiteX0" fmla="*/ 55318 w 2018348"/>
              <a:gd name="connsiteY0" fmla="*/ 671658 h 671658"/>
              <a:gd name="connsiteX1" fmla="*/ 16817 w 2018348"/>
              <a:gd name="connsiteY1" fmla="*/ 36391 h 671658"/>
              <a:gd name="connsiteX2" fmla="*/ 1980371 w 2018348"/>
              <a:gd name="connsiteY2" fmla="*/ 17141 h 671658"/>
              <a:gd name="connsiteX3" fmla="*/ 1999622 w 2018348"/>
              <a:gd name="connsiteY3" fmla="*/ 604281 h 671658"/>
              <a:gd name="connsiteX0" fmla="*/ 173356 w 2136386"/>
              <a:gd name="connsiteY0" fmla="*/ 621511 h 631136"/>
              <a:gd name="connsiteX1" fmla="*/ 134855 w 2136386"/>
              <a:gd name="connsiteY1" fmla="*/ 63246 h 631136"/>
              <a:gd name="connsiteX2" fmla="*/ 2098409 w 2136386"/>
              <a:gd name="connsiteY2" fmla="*/ 43996 h 631136"/>
              <a:gd name="connsiteX3" fmla="*/ 2117660 w 2136386"/>
              <a:gd name="connsiteY3" fmla="*/ 631136 h 631136"/>
              <a:gd name="connsiteX0" fmla="*/ 47588 w 2010618"/>
              <a:gd name="connsiteY0" fmla="*/ 610860 h 620485"/>
              <a:gd name="connsiteX1" fmla="*/ 9087 w 2010618"/>
              <a:gd name="connsiteY1" fmla="*/ 52595 h 620485"/>
              <a:gd name="connsiteX2" fmla="*/ 1972641 w 2010618"/>
              <a:gd name="connsiteY2" fmla="*/ 33345 h 620485"/>
              <a:gd name="connsiteX3" fmla="*/ 1991892 w 2010618"/>
              <a:gd name="connsiteY3" fmla="*/ 620485 h 620485"/>
            </a:gdLst>
            <a:ahLst/>
            <a:cxnLst>
              <a:cxn ang="0">
                <a:pos x="connsiteX0" y="connsiteY0"/>
              </a:cxn>
              <a:cxn ang="0">
                <a:pos x="connsiteX1" y="connsiteY1"/>
              </a:cxn>
              <a:cxn ang="0">
                <a:pos x="connsiteX2" y="connsiteY2"/>
              </a:cxn>
              <a:cxn ang="0">
                <a:pos x="connsiteX3" y="connsiteY3"/>
              </a:cxn>
            </a:cxnLst>
            <a:rect l="l" t="t" r="r" b="b"/>
            <a:pathLst>
              <a:path w="2010618" h="620485">
                <a:moveTo>
                  <a:pt x="47588" y="610860"/>
                </a:moveTo>
                <a:cubicBezTo>
                  <a:pt x="39567" y="478513"/>
                  <a:pt x="-22997" y="119971"/>
                  <a:pt x="9087" y="52595"/>
                </a:cubicBezTo>
                <a:cubicBezTo>
                  <a:pt x="41171" y="-14781"/>
                  <a:pt x="1911681" y="-13176"/>
                  <a:pt x="1972641" y="33345"/>
                </a:cubicBezTo>
                <a:cubicBezTo>
                  <a:pt x="2033601" y="79866"/>
                  <a:pt x="2006330" y="382260"/>
                  <a:pt x="1991892" y="620485"/>
                </a:cubicBezTo>
              </a:path>
            </a:pathLst>
          </a:custGeom>
          <a:noFill/>
          <a:ln w="28575">
            <a:solidFill>
              <a:srgbClr val="ED6D00"/>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bwMode="gray">
          <a:xfrm>
            <a:off x="3087438" y="4647313"/>
            <a:ext cx="1084271" cy="738664"/>
          </a:xfrm>
          <a:prstGeom prst="rect">
            <a:avLst/>
          </a:prstGeom>
          <a:noFill/>
        </p:spPr>
        <p:txBody>
          <a:bodyPr wrap="none" rtlCol="0">
            <a:spAutoFit/>
          </a:bodyPr>
          <a:lstStyle/>
          <a:p>
            <a:pPr font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安全策略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p>
          <a:p>
            <a:pPr marL="180000" indent="-180000" fontAlgn="ctr">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入侵检测</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80000" indent="-180000" fontAlgn="ctr">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反病毒</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9" name="直接连接符 58"/>
          <p:cNvCxnSpPr/>
          <p:nvPr/>
        </p:nvCxnSpPr>
        <p:spPr bwMode="gray">
          <a:xfrm flipH="1">
            <a:off x="5182824" y="5785679"/>
            <a:ext cx="360000" cy="0"/>
          </a:xfrm>
          <a:prstGeom prst="line">
            <a:avLst/>
          </a:prstGeom>
          <a:noFill/>
          <a:ln w="28575">
            <a:solidFill>
              <a:srgbClr val="62B23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60" name="文本框 59"/>
          <p:cNvSpPr txBox="1"/>
          <p:nvPr/>
        </p:nvSpPr>
        <p:spPr bwMode="gray">
          <a:xfrm>
            <a:off x="5567617" y="5636227"/>
            <a:ext cx="2008471"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pPr algn="l"/>
            <a:r>
              <a:rPr lang="zh-CN" altLang="en-US" sz="1200" dirty="0">
                <a:sym typeface="Huawei Sans" panose="020C0503030203020204" pitchFamily="34" charset="0"/>
              </a:rPr>
              <a:t>外部访问</a:t>
            </a:r>
            <a:r>
              <a:rPr lang="en-US" altLang="zh-CN" sz="1200" dirty="0">
                <a:sym typeface="Huawei Sans" panose="020C0503030203020204" pitchFamily="34" charset="0"/>
              </a:rPr>
              <a:t>DMZ</a:t>
            </a:r>
            <a:r>
              <a:rPr lang="zh-CN" altLang="en-US" sz="1200" dirty="0">
                <a:sym typeface="Huawei Sans" panose="020C0503030203020204" pitchFamily="34" charset="0"/>
              </a:rPr>
              <a:t>的流量路径</a:t>
            </a:r>
          </a:p>
        </p:txBody>
      </p:sp>
      <p:cxnSp>
        <p:nvCxnSpPr>
          <p:cNvPr id="61" name="直接连接符 60"/>
          <p:cNvCxnSpPr/>
          <p:nvPr/>
        </p:nvCxnSpPr>
        <p:spPr bwMode="gray">
          <a:xfrm flipH="1">
            <a:off x="5182824" y="6062754"/>
            <a:ext cx="360000" cy="0"/>
          </a:xfrm>
          <a:prstGeom prst="line">
            <a:avLst/>
          </a:prstGeom>
          <a:noFill/>
          <a:ln w="28575">
            <a:solidFill>
              <a:srgbClr val="ED6D00"/>
            </a:solidFill>
            <a:prstDash val="dash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62" name="文本框 61"/>
          <p:cNvSpPr txBox="1"/>
          <p:nvPr/>
        </p:nvSpPr>
        <p:spPr bwMode="gray">
          <a:xfrm>
            <a:off x="5567617" y="5913302"/>
            <a:ext cx="2008471" cy="305105"/>
          </a:xfrm>
          <a:prstGeom prst="rect">
            <a:avLst/>
          </a:prstGeom>
          <a:noFill/>
        </p:spPr>
        <p:txBody>
          <a:bodyPr wrap="square" rtlCol="0">
            <a:noAutofit/>
          </a:bodyPr>
          <a:lstStyle>
            <a:defPPr>
              <a:defRPr lang="en-US"/>
            </a:defPPr>
            <a:lvl1pPr algn="ctr" fontAlgn="base">
              <a:defRPr sz="1400">
                <a:latin typeface="Huawei Sans" panose="020C0503030203020204" pitchFamily="34" charset="0"/>
                <a:ea typeface="方正兰亭黑简体" panose="02000000000000000000" pitchFamily="2" charset="-122"/>
              </a:defRPr>
            </a:lvl1pPr>
          </a:lstStyle>
          <a:p>
            <a:pPr algn="l"/>
            <a:r>
              <a:rPr lang="en-US" altLang="zh-CN" sz="1200" dirty="0">
                <a:sym typeface="Huawei Sans" panose="020C0503030203020204" pitchFamily="34" charset="0"/>
              </a:rPr>
              <a:t>VN1</a:t>
            </a:r>
            <a:r>
              <a:rPr lang="zh-CN" altLang="en-US" sz="1200" dirty="0">
                <a:sym typeface="Huawei Sans" panose="020C0503030203020204" pitchFamily="34" charset="0"/>
              </a:rPr>
              <a:t>访问</a:t>
            </a:r>
            <a:r>
              <a:rPr lang="en-US" altLang="zh-CN" sz="1200" dirty="0">
                <a:sym typeface="Huawei Sans" panose="020C0503030203020204" pitchFamily="34" charset="0"/>
              </a:rPr>
              <a:t>VN2</a:t>
            </a:r>
            <a:r>
              <a:rPr lang="zh-CN" altLang="en-US" sz="1200" dirty="0">
                <a:sym typeface="Huawei Sans" panose="020C0503030203020204" pitchFamily="34" charset="0"/>
              </a:rPr>
              <a:t>的流量路径</a:t>
            </a:r>
          </a:p>
        </p:txBody>
      </p:sp>
      <p:graphicFrame>
        <p:nvGraphicFramePr>
          <p:cNvPr id="63" name="表格 62"/>
          <p:cNvGraphicFramePr>
            <a:graphicFrameLocks noGrp="1"/>
          </p:cNvGraphicFramePr>
          <p:nvPr>
            <p:extLst>
              <p:ext uri="{D42A27DB-BD31-4B8C-83A1-F6EECF244321}">
                <p14:modId xmlns:p14="http://schemas.microsoft.com/office/powerpoint/2010/main" val="1260027454"/>
              </p:ext>
            </p:extLst>
          </p:nvPr>
        </p:nvGraphicFramePr>
        <p:xfrm>
          <a:off x="6265951" y="3106114"/>
          <a:ext cx="5309938" cy="1847470"/>
        </p:xfrm>
        <a:graphic>
          <a:graphicData uri="http://schemas.openxmlformats.org/drawingml/2006/table">
            <a:tbl>
              <a:tblPr firstRow="1" firstCol="1" lastRow="1" lastCol="1" bandRow="1" bandCol="1"/>
              <a:tblGrid>
                <a:gridCol w="948899">
                  <a:extLst>
                    <a:ext uri="{9D8B030D-6E8A-4147-A177-3AD203B41FA5}">
                      <a16:colId xmlns:a16="http://schemas.microsoft.com/office/drawing/2014/main" val="20000"/>
                    </a:ext>
                  </a:extLst>
                </a:gridCol>
                <a:gridCol w="996612">
                  <a:extLst>
                    <a:ext uri="{9D8B030D-6E8A-4147-A177-3AD203B41FA5}">
                      <a16:colId xmlns:a16="http://schemas.microsoft.com/office/drawing/2014/main" val="20001"/>
                    </a:ext>
                  </a:extLst>
                </a:gridCol>
                <a:gridCol w="996612">
                  <a:extLst>
                    <a:ext uri="{9D8B030D-6E8A-4147-A177-3AD203B41FA5}">
                      <a16:colId xmlns:a16="http://schemas.microsoft.com/office/drawing/2014/main" val="20002"/>
                    </a:ext>
                  </a:extLst>
                </a:gridCol>
                <a:gridCol w="2367815">
                  <a:extLst>
                    <a:ext uri="{9D8B030D-6E8A-4147-A177-3AD203B41FA5}">
                      <a16:colId xmlns:a16="http://schemas.microsoft.com/office/drawing/2014/main" val="20003"/>
                    </a:ext>
                  </a:extLst>
                </a:gridCol>
              </a:tblGrid>
              <a:tr h="245387">
                <a:tc>
                  <a:txBody>
                    <a:bodyPr/>
                    <a:lstStyle/>
                    <a:p>
                      <a:pPr marL="0" algn="ctr" defTabSz="914034" rtl="0" eaLnBrk="1" latinLnBrk="0" hangingPunct="1">
                        <a:lnSpc>
                          <a:spcPct val="100000"/>
                        </a:lnSpc>
                        <a:spcBef>
                          <a:spcPts val="400"/>
                        </a:spcBef>
                        <a:spcAft>
                          <a:spcPts val="400"/>
                        </a:spcAft>
                      </a:pPr>
                      <a:r>
                        <a:rPr lang="zh-CN" altLang="en-US" sz="1200" b="1" kern="1200" dirty="0">
                          <a:solidFill>
                            <a:schemeClr val="tx1"/>
                          </a:solidFill>
                          <a:effectLst/>
                          <a:latin typeface="+mn-lt"/>
                          <a:ea typeface="+mn-ea"/>
                          <a:cs typeface="+mn-cs"/>
                          <a:sym typeface="Huawei Sans" panose="020C0503030203020204" pitchFamily="34" charset="0"/>
                        </a:rPr>
                        <a:t>接入区域</a:t>
                      </a:r>
                      <a:endParaRPr lang="zh-CN" sz="1200" b="1" kern="1200" dirty="0">
                        <a:solidFill>
                          <a:schemeClr val="tx1"/>
                        </a:solidFill>
                        <a:effectLst/>
                        <a:latin typeface="+mn-lt"/>
                        <a:ea typeface="+mn-ea"/>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marL="0" algn="ctr" defTabSz="914034" rtl="0" eaLnBrk="1" latinLnBrk="0" hangingPunct="1">
                        <a:lnSpc>
                          <a:spcPct val="100000"/>
                        </a:lnSpc>
                        <a:spcBef>
                          <a:spcPts val="400"/>
                        </a:spcBef>
                        <a:spcAft>
                          <a:spcPts val="400"/>
                        </a:spcAft>
                      </a:pPr>
                      <a:r>
                        <a:rPr lang="zh-CN" altLang="en-US" sz="1200" b="1" kern="1200" dirty="0">
                          <a:solidFill>
                            <a:schemeClr val="tx1"/>
                          </a:solidFill>
                          <a:effectLst/>
                          <a:latin typeface="+mn-lt"/>
                          <a:ea typeface="+mn-ea"/>
                          <a:cs typeface="+mn-cs"/>
                          <a:sym typeface="Huawei Sans" panose="020C0503030203020204" pitchFamily="34" charset="0"/>
                        </a:rPr>
                        <a:t>访问源</a:t>
                      </a:r>
                      <a:endParaRPr lang="zh-CN" sz="1200" b="1" kern="1200" dirty="0">
                        <a:solidFill>
                          <a:schemeClr val="tx1"/>
                        </a:solidFill>
                        <a:effectLst/>
                        <a:latin typeface="+mn-lt"/>
                        <a:ea typeface="+mn-ea"/>
                        <a:cs typeface="+mn-cs"/>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marL="0" algn="ctr" defTabSz="914034" rtl="0" eaLnBrk="1" latinLnBrk="0" hangingPunct="1">
                        <a:lnSpc>
                          <a:spcPct val="100000"/>
                        </a:lnSpc>
                        <a:spcBef>
                          <a:spcPts val="400"/>
                        </a:spcBef>
                        <a:spcAft>
                          <a:spcPts val="400"/>
                        </a:spcAft>
                      </a:pPr>
                      <a:r>
                        <a:rPr lang="zh-CN" altLang="en-US" sz="1200" b="1" kern="1200" dirty="0">
                          <a:solidFill>
                            <a:schemeClr val="tx1"/>
                          </a:solidFill>
                          <a:effectLst/>
                          <a:latin typeface="+mn-lt"/>
                          <a:ea typeface="+mn-ea"/>
                          <a:cs typeface="+mn-cs"/>
                          <a:sym typeface="Huawei Sans" panose="020C0503030203020204" pitchFamily="34" charset="0"/>
                        </a:rPr>
                        <a:t>可信度</a:t>
                      </a:r>
                      <a:endParaRPr lang="zh-CN" sz="1200" b="1" kern="1200" dirty="0">
                        <a:solidFill>
                          <a:schemeClr val="tx1"/>
                        </a:solidFill>
                        <a:effectLst/>
                        <a:latin typeface="+mn-lt"/>
                        <a:ea typeface="+mn-ea"/>
                        <a:cs typeface="+mn-cs"/>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marL="0" algn="ctr" defTabSz="914034" rtl="0" eaLnBrk="1" latinLnBrk="0" hangingPunct="1">
                        <a:lnSpc>
                          <a:spcPct val="100000"/>
                        </a:lnSpc>
                        <a:spcBef>
                          <a:spcPts val="400"/>
                        </a:spcBef>
                        <a:spcAft>
                          <a:spcPts val="400"/>
                        </a:spcAft>
                      </a:pPr>
                      <a:r>
                        <a:rPr lang="zh-CN" altLang="en-US" sz="1200" b="1" kern="1200" dirty="0">
                          <a:solidFill>
                            <a:schemeClr val="tx1"/>
                          </a:solidFill>
                          <a:effectLst/>
                          <a:latin typeface="+mn-lt"/>
                          <a:ea typeface="+mn-ea"/>
                          <a:cs typeface="+mn-cs"/>
                          <a:sym typeface="Huawei Sans" panose="020C0503030203020204" pitchFamily="34" charset="0"/>
                        </a:rPr>
                        <a:t>建议开启的安全策略</a:t>
                      </a:r>
                      <a:endParaRPr lang="zh-CN" sz="1200" b="1" kern="1200" dirty="0">
                        <a:solidFill>
                          <a:schemeClr val="tx1"/>
                        </a:solidFill>
                        <a:effectLst/>
                        <a:latin typeface="+mn-lt"/>
                        <a:ea typeface="+mn-ea"/>
                        <a:cs typeface="+mn-cs"/>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314630">
                <a:tc rowSpan="2">
                  <a:txBody>
                    <a:bodyPr/>
                    <a:lstStyle/>
                    <a:p>
                      <a:pPr marL="0" algn="l" defTabSz="914034" rtl="0" eaLnBrk="1" latinLnBrk="0" hangingPunct="1">
                        <a:lnSpc>
                          <a:spcPct val="100000"/>
                        </a:lnSpc>
                        <a:spcBef>
                          <a:spcPts val="0"/>
                        </a:spcBef>
                        <a:spcAft>
                          <a:spcPts val="600"/>
                        </a:spcAft>
                      </a:pPr>
                      <a:r>
                        <a:rPr lang="en-US" altLang="zh-CN" sz="1200" b="0" kern="1200" dirty="0">
                          <a:solidFill>
                            <a:schemeClr val="tx1"/>
                          </a:solidFill>
                          <a:effectLst/>
                          <a:latin typeface="+mn-lt"/>
                          <a:ea typeface="+mn-ea"/>
                          <a:cs typeface="宋体"/>
                          <a:sym typeface="Huawei Sans" panose="020C0503030203020204" pitchFamily="34" charset="0"/>
                        </a:rPr>
                        <a:t>Internet</a:t>
                      </a:r>
                      <a:endParaRPr lang="zh-CN" sz="1200" b="0" kern="1200" dirty="0">
                        <a:solidFill>
                          <a:schemeClr val="tx1"/>
                        </a:solidFill>
                        <a:effectLst/>
                        <a:latin typeface="+mn-lt"/>
                        <a:ea typeface="+mn-ea"/>
                        <a:cs typeface="宋体"/>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外部用户</a:t>
                      </a:r>
                      <a:endParaRPr lang="zh-CN" sz="1200" b="0" kern="1200" dirty="0">
                        <a:solidFill>
                          <a:schemeClr val="tx1"/>
                        </a:solidFill>
                        <a:effectLst/>
                        <a:latin typeface="+mn-lt"/>
                        <a:ea typeface="+mn-ea"/>
                        <a:cs typeface="宋体"/>
                        <a:sym typeface="Huawei Sans" panose="020C0503030203020204" pitchFamily="34" charset="0"/>
                      </a:endParaRPr>
                    </a:p>
                  </a:txBody>
                  <a:tcPr anchor="ct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不信任</a:t>
                      </a:r>
                      <a:endParaRPr lang="zh-CN" sz="1200" b="0" kern="1200" dirty="0">
                        <a:solidFill>
                          <a:schemeClr val="tx1"/>
                        </a:solidFill>
                        <a:effectLst/>
                        <a:latin typeface="+mn-lt"/>
                        <a:ea typeface="+mn-ea"/>
                        <a:cs typeface="宋体"/>
                        <a:sym typeface="Huawei Sans" panose="020C0503030203020204" pitchFamily="34" charset="0"/>
                      </a:endParaRPr>
                    </a:p>
                  </a:txBody>
                  <a:tcPr anchor="ctr"/>
                </a:tc>
                <a:tc rowSpan="2">
                  <a:txBody>
                    <a:bodyPr/>
                    <a:lstStyle/>
                    <a:p>
                      <a:pPr marL="0" marR="0" lvl="0" indent="0" algn="l" defTabSz="914034" rtl="0" eaLnBrk="1" fontAlgn="auto" latinLnBrk="0" hangingPunct="1">
                        <a:lnSpc>
                          <a:spcPct val="100000"/>
                        </a:lnSpc>
                        <a:spcBef>
                          <a:spcPts val="0"/>
                        </a:spcBef>
                        <a:spcAft>
                          <a:spcPts val="600"/>
                        </a:spcAft>
                        <a:buClrTx/>
                        <a:buSzTx/>
                        <a:buFontTx/>
                        <a:buNone/>
                        <a:tabLst/>
                        <a:defRPr/>
                      </a:pPr>
                      <a:r>
                        <a:rPr lang="zh-CN" altLang="en-US" sz="1200" b="0" kern="1200" dirty="0">
                          <a:solidFill>
                            <a:schemeClr val="tx1"/>
                          </a:solidFill>
                          <a:effectLst/>
                          <a:latin typeface="+mn-lt"/>
                          <a:ea typeface="+mn-ea"/>
                          <a:cs typeface="宋体"/>
                          <a:sym typeface="Huawei Sans" panose="020C0503030203020204" pitchFamily="34" charset="0"/>
                        </a:rPr>
                        <a:t>入侵检测、</a:t>
                      </a:r>
                      <a:r>
                        <a:rPr lang="en-US" altLang="zh-CN" sz="1200" b="0" kern="1200" dirty="0">
                          <a:solidFill>
                            <a:schemeClr val="tx1"/>
                          </a:solidFill>
                          <a:effectLst/>
                          <a:latin typeface="+mn-lt"/>
                          <a:ea typeface="+mn-ea"/>
                          <a:cs typeface="宋体"/>
                          <a:sym typeface="Huawei Sans" panose="020C0503030203020204" pitchFamily="34" charset="0"/>
                        </a:rPr>
                        <a:t>URL</a:t>
                      </a:r>
                      <a:r>
                        <a:rPr lang="zh-CN" altLang="zh-CN" sz="1200" b="0" kern="1200" dirty="0">
                          <a:solidFill>
                            <a:schemeClr val="tx1"/>
                          </a:solidFill>
                          <a:effectLst/>
                          <a:latin typeface="+mn-lt"/>
                          <a:ea typeface="+mn-ea"/>
                          <a:cs typeface="宋体"/>
                          <a:sym typeface="Huawei Sans" panose="020C0503030203020204" pitchFamily="34" charset="0"/>
                        </a:rPr>
                        <a:t>过滤</a:t>
                      </a:r>
                      <a:r>
                        <a:rPr lang="zh-CN" altLang="en-US" sz="1200" b="0" kern="1200" dirty="0">
                          <a:solidFill>
                            <a:schemeClr val="tx1"/>
                          </a:solidFill>
                          <a:effectLst/>
                          <a:latin typeface="+mn-lt"/>
                          <a:ea typeface="+mn-ea"/>
                          <a:cs typeface="宋体"/>
                          <a:sym typeface="Huawei Sans" panose="020C0503030203020204" pitchFamily="34" charset="0"/>
                        </a:rPr>
                        <a:t>、</a:t>
                      </a:r>
                      <a:r>
                        <a:rPr lang="zh-CN" altLang="zh-CN" sz="1200" b="0" kern="1200" dirty="0">
                          <a:solidFill>
                            <a:schemeClr val="tx1"/>
                          </a:solidFill>
                          <a:effectLst/>
                          <a:latin typeface="+mn-lt"/>
                          <a:ea typeface="+mn-ea"/>
                          <a:cs typeface="宋体"/>
                          <a:sym typeface="Huawei Sans" panose="020C0503030203020204" pitchFamily="34" charset="0"/>
                        </a:rPr>
                        <a:t>反病毒</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4630">
                <a:tc vMerge="1">
                  <a:txBody>
                    <a:bodyPr/>
                    <a:lstStyle/>
                    <a:p>
                      <a:pPr algn="ctr">
                        <a:lnSpc>
                          <a:spcPts val="1200"/>
                        </a:lnSpc>
                        <a:spcBef>
                          <a:spcPts val="400"/>
                        </a:spcBef>
                        <a:spcAft>
                          <a:spcPts val="400"/>
                        </a:spcAft>
                      </a:pPr>
                      <a:endParaRPr lang="zh-CN" sz="1200" b="0" dirty="0">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出差员工</a:t>
                      </a:r>
                      <a:endParaRPr lang="zh-CN" sz="1200" b="0" kern="1200" dirty="0">
                        <a:solidFill>
                          <a:schemeClr val="tx1"/>
                        </a:solidFill>
                        <a:effectLst/>
                        <a:latin typeface="+mn-lt"/>
                        <a:ea typeface="+mn-ea"/>
                        <a:cs typeface="宋体"/>
                        <a:sym typeface="Huawei Sans" panose="020C0503030203020204" pitchFamily="34" charset="0"/>
                      </a:endParaRPr>
                    </a:p>
                  </a:txBody>
                  <a:tcPr anchor="ct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中</a:t>
                      </a:r>
                      <a:endParaRPr lang="zh-CN" sz="1200" b="0" kern="1200" dirty="0">
                        <a:solidFill>
                          <a:schemeClr val="tx1"/>
                        </a:solidFill>
                        <a:effectLst/>
                        <a:latin typeface="+mn-lt"/>
                        <a:ea typeface="+mn-ea"/>
                        <a:cs typeface="宋体"/>
                        <a:sym typeface="Huawei Sans" panose="020C0503030203020204" pitchFamily="34" charset="0"/>
                      </a:endParaRPr>
                    </a:p>
                  </a:txBody>
                  <a:tcPr anchor="ctr"/>
                </a:tc>
                <a:tc vMerge="1">
                  <a:txBody>
                    <a:bodyPr/>
                    <a:lstStyle/>
                    <a:p>
                      <a:pPr marL="0" algn="l" defTabSz="1219110" rtl="0" eaLnBrk="1" latinLnBrk="0" hangingPunct="1">
                        <a:lnSpc>
                          <a:spcPct val="140000"/>
                        </a:lnSpc>
                        <a:spcBef>
                          <a:spcPts val="400"/>
                        </a:spcBef>
                        <a:spcAft>
                          <a:spcPts val="400"/>
                        </a:spcAft>
                      </a:pPr>
                      <a:endParaRPr lang="zh-CN" sz="1200" b="0" kern="1200" dirty="0">
                        <a:solidFill>
                          <a:schemeClr val="tx1"/>
                        </a:solidFill>
                        <a:effectLst/>
                        <a:latin typeface="微软雅黑" panose="020B0503020204020204" pitchFamily="34" charset="-122"/>
                        <a:ea typeface="微软雅黑" panose="020B0503020204020204" pitchFamily="34" charset="-122"/>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14630">
                <a:tc>
                  <a:txBody>
                    <a:bodyPr/>
                    <a:lstStyle/>
                    <a:p>
                      <a:pPr marL="0" algn="l" defTabSz="914034" rtl="0" eaLnBrk="1" latinLnBrk="0" hangingPunct="1">
                        <a:lnSpc>
                          <a:spcPct val="100000"/>
                        </a:lnSpc>
                        <a:spcBef>
                          <a:spcPts val="0"/>
                        </a:spcBef>
                        <a:spcAft>
                          <a:spcPts val="600"/>
                        </a:spcAft>
                      </a:pPr>
                      <a:r>
                        <a:rPr lang="en-US" altLang="zh-CN" sz="1200" b="0" kern="1200" dirty="0">
                          <a:solidFill>
                            <a:schemeClr val="tx1"/>
                          </a:solidFill>
                          <a:effectLst/>
                          <a:latin typeface="+mn-lt"/>
                          <a:ea typeface="+mn-ea"/>
                          <a:cs typeface="宋体"/>
                          <a:sym typeface="Huawei Sans" panose="020C0503030203020204" pitchFamily="34" charset="0"/>
                        </a:rPr>
                        <a:t>WAN</a:t>
                      </a:r>
                      <a:endParaRPr lang="zh-CN" sz="1200" b="0" kern="1200" dirty="0">
                        <a:solidFill>
                          <a:schemeClr val="tx1"/>
                        </a:solidFill>
                        <a:effectLst/>
                        <a:latin typeface="+mn-lt"/>
                        <a:ea typeface="+mn-ea"/>
                        <a:cs typeface="宋体"/>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企业分支</a:t>
                      </a:r>
                      <a:endParaRPr lang="zh-CN" sz="1200" b="0" kern="1200" dirty="0">
                        <a:solidFill>
                          <a:schemeClr val="tx1"/>
                        </a:solidFill>
                        <a:effectLst/>
                        <a:latin typeface="+mn-lt"/>
                        <a:ea typeface="+mn-ea"/>
                        <a:cs typeface="宋体"/>
                        <a:sym typeface="Huawei Sans" panose="020C0503030203020204" pitchFamily="34" charset="0"/>
                      </a:endParaRPr>
                    </a:p>
                  </a:txBody>
                  <a:tcPr anchor="ct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中</a:t>
                      </a:r>
                      <a:endParaRPr lang="zh-CN" sz="1200" b="0" kern="1200" dirty="0">
                        <a:solidFill>
                          <a:schemeClr val="tx1"/>
                        </a:solidFill>
                        <a:effectLst/>
                        <a:latin typeface="+mn-lt"/>
                        <a:ea typeface="+mn-ea"/>
                        <a:cs typeface="宋体"/>
                        <a:sym typeface="Huawei Sans" panose="020C0503030203020204" pitchFamily="34" charset="0"/>
                      </a:endParaRPr>
                    </a:p>
                  </a:txBody>
                  <a:tcPr anchor="ctr"/>
                </a:tc>
                <a:tc>
                  <a:txBody>
                    <a:bodyPr/>
                    <a:lstStyle/>
                    <a:p>
                      <a:pPr marL="0" marR="0" lvl="0" indent="0" algn="l" defTabSz="914034" rtl="0" eaLnBrk="1" fontAlgn="auto" latinLnBrk="0" hangingPunct="1">
                        <a:lnSpc>
                          <a:spcPct val="100000"/>
                        </a:lnSpc>
                        <a:spcBef>
                          <a:spcPts val="0"/>
                        </a:spcBef>
                        <a:spcAft>
                          <a:spcPts val="600"/>
                        </a:spcAft>
                        <a:buClrTx/>
                        <a:buSzTx/>
                        <a:buFontTx/>
                        <a:buNone/>
                        <a:tabLst/>
                        <a:defRPr/>
                      </a:pPr>
                      <a:r>
                        <a:rPr lang="en-US" altLang="zh-CN" sz="1200" b="0" kern="1200" dirty="0">
                          <a:solidFill>
                            <a:schemeClr val="tx1"/>
                          </a:solidFill>
                          <a:effectLst/>
                          <a:latin typeface="+mn-lt"/>
                          <a:ea typeface="+mn-ea"/>
                          <a:cs typeface="宋体"/>
                          <a:sym typeface="Huawei Sans" panose="020C0503030203020204" pitchFamily="34" charset="0"/>
                        </a:rPr>
                        <a:t>URL</a:t>
                      </a:r>
                      <a:r>
                        <a:rPr lang="zh-CN" altLang="zh-CN" sz="1200" b="0" kern="1200" dirty="0">
                          <a:solidFill>
                            <a:schemeClr val="tx1"/>
                          </a:solidFill>
                          <a:effectLst/>
                          <a:latin typeface="+mn-lt"/>
                          <a:ea typeface="+mn-ea"/>
                          <a:cs typeface="宋体"/>
                          <a:sym typeface="Huawei Sans" panose="020C0503030203020204" pitchFamily="34" charset="0"/>
                        </a:rPr>
                        <a:t>过滤</a:t>
                      </a:r>
                      <a:r>
                        <a:rPr lang="zh-CN" altLang="en-US" sz="1200" b="0" kern="1200" dirty="0">
                          <a:solidFill>
                            <a:schemeClr val="tx1"/>
                          </a:solidFill>
                          <a:effectLst/>
                          <a:latin typeface="+mn-lt"/>
                          <a:ea typeface="+mn-ea"/>
                          <a:cs typeface="宋体"/>
                          <a:sym typeface="Huawei Sans" panose="020C0503030203020204" pitchFamily="34" charset="0"/>
                        </a:rPr>
                        <a:t>、</a:t>
                      </a:r>
                      <a:r>
                        <a:rPr lang="zh-CN" altLang="zh-CN" sz="1200" b="0" kern="1200" dirty="0">
                          <a:solidFill>
                            <a:schemeClr val="tx1"/>
                          </a:solidFill>
                          <a:effectLst/>
                          <a:latin typeface="+mn-lt"/>
                          <a:ea typeface="+mn-ea"/>
                          <a:cs typeface="宋体"/>
                          <a:sym typeface="Huawei Sans" panose="020C0503030203020204" pitchFamily="34" charset="0"/>
                        </a:rPr>
                        <a:t>反病毒</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14630">
                <a:tc rowSpan="2">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内网</a:t>
                      </a:r>
                      <a:endParaRPr lang="zh-CN" sz="1200" b="0" kern="1200" dirty="0">
                        <a:solidFill>
                          <a:schemeClr val="tx1"/>
                        </a:solidFill>
                        <a:effectLst/>
                        <a:latin typeface="+mn-lt"/>
                        <a:ea typeface="+mn-ea"/>
                        <a:cs typeface="宋体"/>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内网员工</a:t>
                      </a:r>
                      <a:endParaRPr lang="zh-CN" sz="1200" b="0" kern="1200" dirty="0">
                        <a:solidFill>
                          <a:schemeClr val="tx1"/>
                        </a:solidFill>
                        <a:effectLst/>
                        <a:latin typeface="+mn-lt"/>
                        <a:ea typeface="+mn-ea"/>
                        <a:cs typeface="宋体"/>
                        <a:sym typeface="Huawei Sans" panose="020C0503030203020204" pitchFamily="34" charset="0"/>
                      </a:endParaRPr>
                    </a:p>
                  </a:txBody>
                  <a:tcPr anchor="ct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高</a:t>
                      </a:r>
                      <a:endParaRPr lang="zh-CN" sz="1200" b="0" kern="1200" dirty="0">
                        <a:solidFill>
                          <a:schemeClr val="tx1"/>
                        </a:solidFill>
                        <a:effectLst/>
                        <a:latin typeface="+mn-lt"/>
                        <a:ea typeface="+mn-ea"/>
                        <a:cs typeface="宋体"/>
                        <a:sym typeface="Huawei Sans" panose="020C0503030203020204" pitchFamily="34" charset="0"/>
                      </a:endParaRPr>
                    </a:p>
                  </a:txBody>
                  <a:tcPr anchor="ctr"/>
                </a:tc>
                <a:tc rowSpan="2">
                  <a:txBody>
                    <a:bodyPr/>
                    <a:lstStyle/>
                    <a:p>
                      <a:pPr marL="0" marR="0" lvl="0" indent="0" algn="l" defTabSz="914034" rtl="0" eaLnBrk="1" fontAlgn="auto" latinLnBrk="0" hangingPunct="1">
                        <a:lnSpc>
                          <a:spcPct val="100000"/>
                        </a:lnSpc>
                        <a:spcBef>
                          <a:spcPts val="0"/>
                        </a:spcBef>
                        <a:spcAft>
                          <a:spcPts val="600"/>
                        </a:spcAft>
                        <a:buClrTx/>
                        <a:buSzTx/>
                        <a:buFontTx/>
                        <a:buNone/>
                        <a:tabLst/>
                        <a:defRPr/>
                      </a:pPr>
                      <a:r>
                        <a:rPr lang="en-US" altLang="zh-CN" sz="1200" b="0" kern="1200" dirty="0">
                          <a:solidFill>
                            <a:schemeClr val="tx1"/>
                          </a:solidFill>
                          <a:effectLst/>
                          <a:latin typeface="+mn-lt"/>
                          <a:ea typeface="+mn-ea"/>
                          <a:cs typeface="宋体"/>
                          <a:sym typeface="Huawei Sans" panose="020C0503030203020204" pitchFamily="34" charset="0"/>
                        </a:rPr>
                        <a:t>URL</a:t>
                      </a:r>
                      <a:r>
                        <a:rPr lang="zh-CN" altLang="zh-CN" sz="1200" b="0" kern="1200" dirty="0">
                          <a:solidFill>
                            <a:schemeClr val="tx1"/>
                          </a:solidFill>
                          <a:effectLst/>
                          <a:latin typeface="+mn-lt"/>
                          <a:ea typeface="+mn-ea"/>
                          <a:cs typeface="宋体"/>
                          <a:sym typeface="Huawei Sans" panose="020C0503030203020204" pitchFamily="34" charset="0"/>
                        </a:rPr>
                        <a:t>过滤</a:t>
                      </a:r>
                      <a:r>
                        <a:rPr lang="zh-CN" altLang="en-US" sz="1200" b="0" kern="1200" dirty="0">
                          <a:solidFill>
                            <a:schemeClr val="tx1"/>
                          </a:solidFill>
                          <a:effectLst/>
                          <a:latin typeface="+mn-lt"/>
                          <a:ea typeface="+mn-ea"/>
                          <a:cs typeface="宋体"/>
                          <a:sym typeface="Huawei Sans" panose="020C0503030203020204" pitchFamily="34" charset="0"/>
                        </a:rPr>
                        <a:t>、</a:t>
                      </a:r>
                      <a:r>
                        <a:rPr lang="zh-CN" altLang="zh-CN" sz="1200" b="0" kern="1200" dirty="0">
                          <a:solidFill>
                            <a:schemeClr val="tx1"/>
                          </a:solidFill>
                          <a:effectLst/>
                          <a:latin typeface="+mn-lt"/>
                          <a:ea typeface="+mn-ea"/>
                          <a:cs typeface="宋体"/>
                          <a:sym typeface="Huawei Sans" panose="020C0503030203020204" pitchFamily="34" charset="0"/>
                        </a:rPr>
                        <a:t>反病毒</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14630">
                <a:tc vMerge="1">
                  <a:txBody>
                    <a:bodyPr/>
                    <a:lstStyle/>
                    <a:p>
                      <a:pPr algn="ctr">
                        <a:lnSpc>
                          <a:spcPts val="1200"/>
                        </a:lnSpc>
                        <a:spcBef>
                          <a:spcPts val="400"/>
                        </a:spcBef>
                        <a:spcAft>
                          <a:spcPts val="400"/>
                        </a:spcAft>
                      </a:pPr>
                      <a:endParaRPr lang="zh-CN" sz="1200" b="0" kern="1200" dirty="0">
                        <a:solidFill>
                          <a:schemeClr val="tx1"/>
                        </a:solidFill>
                        <a:effectLst/>
                        <a:latin typeface="微软雅黑" panose="020B0503020204020204" pitchFamily="34" charset="-122"/>
                        <a:ea typeface="微软雅黑" panose="020B0503020204020204" pitchFamily="34" charset="-122"/>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访客</a:t>
                      </a:r>
                      <a:endParaRPr lang="zh-CN" sz="1200" b="0" kern="1200" dirty="0">
                        <a:solidFill>
                          <a:schemeClr val="tx1"/>
                        </a:solidFill>
                        <a:effectLst/>
                        <a:latin typeface="+mn-lt"/>
                        <a:ea typeface="+mn-ea"/>
                        <a:cs typeface="宋体"/>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spcBef>
                          <a:spcPts val="0"/>
                        </a:spcBef>
                        <a:spcAft>
                          <a:spcPts val="600"/>
                        </a:spcAft>
                      </a:pPr>
                      <a:r>
                        <a:rPr lang="zh-CN" altLang="en-US" sz="1200" b="0" kern="1200" dirty="0">
                          <a:solidFill>
                            <a:schemeClr val="tx1"/>
                          </a:solidFill>
                          <a:effectLst/>
                          <a:latin typeface="+mn-lt"/>
                          <a:ea typeface="+mn-ea"/>
                          <a:cs typeface="宋体"/>
                          <a:sym typeface="Huawei Sans" panose="020C0503030203020204" pitchFamily="34" charset="0"/>
                        </a:rPr>
                        <a:t>低</a:t>
                      </a:r>
                      <a:endParaRPr lang="zh-CN" sz="1200" b="0" kern="1200" dirty="0">
                        <a:solidFill>
                          <a:schemeClr val="tx1"/>
                        </a:solidFill>
                        <a:effectLst/>
                        <a:latin typeface="+mn-lt"/>
                        <a:ea typeface="+mn-ea"/>
                        <a:cs typeface="宋体"/>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vMerge="1">
                  <a:txBody>
                    <a:bodyPr/>
                    <a:lstStyle/>
                    <a:p>
                      <a:pPr>
                        <a:lnSpc>
                          <a:spcPct val="140000"/>
                        </a:lnSpc>
                        <a:spcBef>
                          <a:spcPts val="400"/>
                        </a:spcBef>
                        <a:spcAft>
                          <a:spcPts val="400"/>
                        </a:spcAft>
                      </a:pPr>
                      <a:endParaRPr lang="zh-CN" sz="1200" b="0" kern="1200" dirty="0">
                        <a:solidFill>
                          <a:schemeClr val="tx1"/>
                        </a:solidFill>
                        <a:effectLst/>
                        <a:latin typeface="微软雅黑" panose="020B0503020204020204" pitchFamily="34" charset="-122"/>
                        <a:ea typeface="微软雅黑" panose="020B0503020204020204" pitchFamily="34" charset="-122"/>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64" name="文本框 63"/>
          <p:cNvSpPr txBox="1"/>
          <p:nvPr/>
        </p:nvSpPr>
        <p:spPr bwMode="gray">
          <a:xfrm>
            <a:off x="6163925" y="2729809"/>
            <a:ext cx="2698175" cy="307777"/>
          </a:xfrm>
          <a:prstGeom prst="rect">
            <a:avLst/>
          </a:prstGeom>
          <a:noFill/>
        </p:spPr>
        <p:txBody>
          <a:bodyPr wrap="none" rtlCol="0">
            <a:spAutoFit/>
          </a:bodyPr>
          <a:lstStyle/>
          <a:p>
            <a:pPr font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常见区域的安全策略设计建议：</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031207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800" dirty="0">
                <a:solidFill>
                  <a:schemeClr val="bg1">
                    <a:lumMod val="50000"/>
                  </a:schemeClr>
                </a:solidFill>
                <a:sym typeface="Huawei Sans" panose="020C0503030203020204" pitchFamily="34" charset="0"/>
              </a:rPr>
              <a:t>CloudCampus</a:t>
            </a:r>
            <a:r>
              <a:rPr lang="zh-CN" altLang="en-US" sz="1800" dirty="0">
                <a:solidFill>
                  <a:schemeClr val="bg1">
                    <a:lumMod val="50000"/>
                  </a:schemeClr>
                </a:solidFill>
                <a:sym typeface="Huawei Sans" panose="020C0503030203020204" pitchFamily="34" charset="0"/>
              </a:rPr>
              <a:t>解决方案及虚拟化园区网络概述</a:t>
            </a:r>
          </a:p>
          <a:p>
            <a:r>
              <a:rPr lang="zh-CN" altLang="en-US" sz="1800" dirty="0">
                <a:solidFill>
                  <a:schemeClr val="bg1">
                    <a:lumMod val="50000"/>
                  </a:schemeClr>
                </a:solidFill>
                <a:sym typeface="Huawei Sans" panose="020C0503030203020204" pitchFamily="34" charset="0"/>
              </a:rPr>
              <a:t>网络架构设计</a:t>
            </a:r>
          </a:p>
          <a:p>
            <a:r>
              <a:rPr lang="en-US" altLang="zh-CN" sz="1800" dirty="0">
                <a:solidFill>
                  <a:schemeClr val="bg1">
                    <a:lumMod val="50000"/>
                  </a:schemeClr>
                </a:solidFill>
                <a:sym typeface="Huawei Sans" panose="020C0503030203020204" pitchFamily="34" charset="0"/>
              </a:rPr>
              <a:t>Underlay</a:t>
            </a:r>
            <a:r>
              <a:rPr lang="zh-CN" altLang="en-US" sz="1800" dirty="0">
                <a:solidFill>
                  <a:schemeClr val="bg1">
                    <a:lumMod val="50000"/>
                  </a:schemeClr>
                </a:solidFill>
                <a:sym typeface="Huawei Sans" panose="020C0503030203020204" pitchFamily="34" charset="0"/>
              </a:rPr>
              <a:t>网络设计</a:t>
            </a:r>
          </a:p>
          <a:p>
            <a:r>
              <a:rPr lang="en-US" altLang="zh-CN" sz="1800" dirty="0">
                <a:solidFill>
                  <a:schemeClr val="bg1">
                    <a:lumMod val="50000"/>
                  </a:schemeClr>
                </a:solidFill>
                <a:sym typeface="Huawei Sans" panose="020C0503030203020204" pitchFamily="34" charset="0"/>
              </a:rPr>
              <a:t>Fabric</a:t>
            </a:r>
            <a:r>
              <a:rPr lang="zh-CN" altLang="en-US" sz="1800" dirty="0">
                <a:solidFill>
                  <a:schemeClr val="bg1">
                    <a:lumMod val="50000"/>
                  </a:schemeClr>
                </a:solidFill>
                <a:sym typeface="Huawei Sans" panose="020C0503030203020204" pitchFamily="34" charset="0"/>
              </a:rPr>
              <a:t>与</a:t>
            </a:r>
            <a:r>
              <a:rPr lang="en-US" altLang="zh-CN" sz="1800" dirty="0">
                <a:solidFill>
                  <a:schemeClr val="bg1">
                    <a:lumMod val="50000"/>
                  </a:schemeClr>
                </a:solidFill>
                <a:sym typeface="Huawei Sans" panose="020C0503030203020204" pitchFamily="34" charset="0"/>
              </a:rPr>
              <a:t>Overlay</a:t>
            </a:r>
            <a:r>
              <a:rPr lang="zh-CN" altLang="en-US" sz="1800" dirty="0">
                <a:solidFill>
                  <a:schemeClr val="bg1">
                    <a:lumMod val="50000"/>
                  </a:schemeClr>
                </a:solidFill>
                <a:sym typeface="Huawei Sans" panose="020C0503030203020204" pitchFamily="34" charset="0"/>
              </a:rPr>
              <a:t>网络设计</a:t>
            </a:r>
          </a:p>
          <a:p>
            <a:r>
              <a:rPr lang="zh-CN" altLang="en-US" sz="1800" dirty="0">
                <a:solidFill>
                  <a:schemeClr val="bg1">
                    <a:lumMod val="50000"/>
                  </a:schemeClr>
                </a:solidFill>
                <a:sym typeface="Huawei Sans" panose="020C0503030203020204" pitchFamily="34" charset="0"/>
              </a:rPr>
              <a:t>准入控制及业务随行设计</a:t>
            </a:r>
          </a:p>
          <a:p>
            <a:r>
              <a:rPr lang="en-US" altLang="zh-CN" sz="1800" dirty="0">
                <a:solidFill>
                  <a:schemeClr val="bg1">
                    <a:lumMod val="50000"/>
                  </a:schemeClr>
                </a:solidFill>
                <a:sym typeface="Huawei Sans" panose="020C0503030203020204" pitchFamily="34" charset="0"/>
              </a:rPr>
              <a:t>WLAN</a:t>
            </a:r>
            <a:r>
              <a:rPr lang="zh-CN" altLang="en-US" sz="1800" dirty="0">
                <a:solidFill>
                  <a:schemeClr val="bg1">
                    <a:lumMod val="50000"/>
                  </a:schemeClr>
                </a:solidFill>
                <a:sym typeface="Huawei Sans" panose="020C0503030203020204" pitchFamily="34" charset="0"/>
              </a:rPr>
              <a:t>设计</a:t>
            </a:r>
          </a:p>
          <a:p>
            <a:r>
              <a:rPr lang="zh-CN" altLang="en-US" sz="1800" dirty="0">
                <a:solidFill>
                  <a:schemeClr val="bg1">
                    <a:lumMod val="50000"/>
                  </a:schemeClr>
                </a:solidFill>
                <a:sym typeface="Huawei Sans" panose="020C0503030203020204" pitchFamily="34" charset="0"/>
              </a:rPr>
              <a:t>出口网络设计</a:t>
            </a:r>
          </a:p>
          <a:p>
            <a:r>
              <a:rPr lang="zh-CN" altLang="en-US" sz="1800" b="1" dirty="0">
                <a:sym typeface="Huawei Sans" panose="020C0503030203020204" pitchFamily="34" charset="0"/>
              </a:rPr>
              <a:t>网络安全与服务质量设计</a:t>
            </a:r>
          </a:p>
          <a:p>
            <a:r>
              <a:rPr lang="zh-CN" altLang="en-US" sz="1800" dirty="0">
                <a:solidFill>
                  <a:schemeClr val="bg1">
                    <a:lumMod val="50000"/>
                  </a:schemeClr>
                </a:solidFill>
                <a:sym typeface="Huawei Sans" panose="020C0503030203020204" pitchFamily="34" charset="0"/>
              </a:rPr>
              <a:t>运维管理设计</a:t>
            </a:r>
          </a:p>
        </p:txBody>
      </p:sp>
    </p:spTree>
    <p:extLst>
      <p:ext uri="{BB962C8B-B14F-4D97-AF65-F5344CB8AC3E}">
        <p14:creationId xmlns:p14="http://schemas.microsoft.com/office/powerpoint/2010/main" val="4479546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2" name="直接连接符 121"/>
          <p:cNvCxnSpPr/>
          <p:nvPr/>
        </p:nvCxnSpPr>
        <p:spPr bwMode="gray">
          <a:xfrm>
            <a:off x="3689688" y="4709331"/>
            <a:ext cx="0" cy="50049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dirty="0"/>
              <a:t>总体安全设计</a:t>
            </a:r>
          </a:p>
        </p:txBody>
      </p:sp>
      <p:sp>
        <p:nvSpPr>
          <p:cNvPr id="5" name="文本占位符 4"/>
          <p:cNvSpPr>
            <a:spLocks noGrp="1"/>
          </p:cNvSpPr>
          <p:nvPr>
            <p:ph type="body" sz="quarter" idx="10"/>
          </p:nvPr>
        </p:nvSpPr>
        <p:spPr bwMode="gray">
          <a:xfrm>
            <a:off x="6096000" y="1432499"/>
            <a:ext cx="5653087" cy="3777328"/>
          </a:xfrm>
        </p:spPr>
        <p:txBody>
          <a:bodyPr/>
          <a:lstStyle/>
          <a:p>
            <a:r>
              <a:rPr lang="zh-CN" altLang="en-US" sz="1600" dirty="0"/>
              <a:t>园区网络安全设计原则</a:t>
            </a:r>
          </a:p>
          <a:p>
            <a:pPr lvl="1"/>
            <a:r>
              <a:rPr lang="zh-CN" altLang="en-US" sz="1400" dirty="0"/>
              <a:t>没有绝对安全的网络，只有相对完善的防护措施；</a:t>
            </a:r>
          </a:p>
          <a:p>
            <a:pPr lvl="1"/>
            <a:r>
              <a:rPr lang="zh-CN" altLang="en-US" sz="1400" dirty="0"/>
              <a:t>安全是动态变化的，不同网络的安全诉求不同，要按需设计，适合就是最好的；</a:t>
            </a:r>
          </a:p>
          <a:p>
            <a:pPr lvl="1"/>
            <a:r>
              <a:rPr lang="zh-CN" altLang="en-US" sz="1400" dirty="0"/>
              <a:t>安全是个系统问题，网络相关的所有方面都要进行安全设计；园区网络不仅要考虑出口安全问题，还要考虑内网安全以及安全合规等多个方面的问题。</a:t>
            </a:r>
          </a:p>
          <a:p>
            <a:r>
              <a:rPr lang="zh-CN" altLang="en-US" sz="1600" dirty="0"/>
              <a:t>园区网络安全体系</a:t>
            </a:r>
          </a:p>
          <a:p>
            <a:pPr lvl="1"/>
            <a:r>
              <a:rPr lang="zh-CN" altLang="en-US" sz="1400" dirty="0"/>
              <a:t>出口安全。</a:t>
            </a:r>
          </a:p>
          <a:p>
            <a:pPr lvl="1"/>
            <a:r>
              <a:rPr lang="zh-CN" altLang="en-US" sz="1400" dirty="0"/>
              <a:t>内网安全：有线网络安全、无线网络安全。</a:t>
            </a:r>
          </a:p>
        </p:txBody>
      </p:sp>
      <p:sp>
        <p:nvSpPr>
          <p:cNvPr id="4" name="圆角矩形 3"/>
          <p:cNvSpPr/>
          <p:nvPr/>
        </p:nvSpPr>
        <p:spPr bwMode="gray">
          <a:xfrm>
            <a:off x="3669512" y="1313124"/>
            <a:ext cx="1557595" cy="1245217"/>
          </a:xfrm>
          <a:prstGeom prst="roundRect">
            <a:avLst>
              <a:gd name="adj" fmla="val 249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87" descr="汇聚交换机.png"/>
          <p:cNvPicPr>
            <a:picLocks noChangeAspect="1"/>
          </p:cNvPicPr>
          <p:nvPr/>
        </p:nvPicPr>
        <p:blipFill>
          <a:blip r:embed="rId3"/>
          <a:stretch>
            <a:fillRect/>
          </a:stretch>
        </p:blipFill>
        <p:spPr bwMode="gray">
          <a:xfrm>
            <a:off x="2051193" y="3734507"/>
            <a:ext cx="369473" cy="302297"/>
          </a:xfrm>
          <a:prstGeom prst="rect">
            <a:avLst/>
          </a:prstGeom>
        </p:spPr>
      </p:pic>
      <p:pic>
        <p:nvPicPr>
          <p:cNvPr id="11" name="图片 76" descr="接入交换机.png"/>
          <p:cNvPicPr>
            <a:picLocks noChangeAspect="1"/>
          </p:cNvPicPr>
          <p:nvPr/>
        </p:nvPicPr>
        <p:blipFill>
          <a:blip r:embed="rId4"/>
          <a:stretch>
            <a:fillRect/>
          </a:stretch>
        </p:blipFill>
        <p:spPr bwMode="gray">
          <a:xfrm>
            <a:off x="1363940" y="4537299"/>
            <a:ext cx="369473" cy="302297"/>
          </a:xfrm>
          <a:prstGeom prst="rect">
            <a:avLst/>
          </a:prstGeom>
        </p:spPr>
      </p:pic>
      <p:pic>
        <p:nvPicPr>
          <p:cNvPr id="15" name="Picture 2" descr="G:\做的项目\公共\扁平图标切换\更新2015_01_21\oss扁平图标库2015_01_21更新-04.png"/>
          <p:cNvPicPr>
            <a:picLocks noChangeAspect="1" noChangeArrowheads="1"/>
          </p:cNvPicPr>
          <p:nvPr/>
        </p:nvPicPr>
        <p:blipFill>
          <a:blip r:embed="rId5"/>
          <a:stretch>
            <a:fillRect/>
          </a:stretch>
        </p:blipFill>
        <p:spPr bwMode="gray">
          <a:xfrm>
            <a:off x="2406750" y="1342427"/>
            <a:ext cx="369473" cy="302297"/>
          </a:xfrm>
          <a:prstGeom prst="rect">
            <a:avLst/>
          </a:prstGeom>
          <a:noFill/>
        </p:spPr>
      </p:pic>
      <p:pic>
        <p:nvPicPr>
          <p:cNvPr id="16" name="图片 86" descr="核心交换机.png"/>
          <p:cNvPicPr>
            <a:picLocks noChangeAspect="1"/>
          </p:cNvPicPr>
          <p:nvPr/>
        </p:nvPicPr>
        <p:blipFill>
          <a:blip r:embed="rId6"/>
          <a:stretch>
            <a:fillRect/>
          </a:stretch>
        </p:blipFill>
        <p:spPr bwMode="gray">
          <a:xfrm>
            <a:off x="2406750" y="2558342"/>
            <a:ext cx="369473" cy="302297"/>
          </a:xfrm>
          <a:prstGeom prst="rect">
            <a:avLst/>
          </a:prstGeom>
        </p:spPr>
      </p:pic>
      <p:pic>
        <p:nvPicPr>
          <p:cNvPr id="17" name="图片 86" descr="核心交换机.png"/>
          <p:cNvPicPr>
            <a:picLocks noChangeAspect="1"/>
          </p:cNvPicPr>
          <p:nvPr/>
        </p:nvPicPr>
        <p:blipFill>
          <a:blip r:embed="rId6"/>
          <a:stretch>
            <a:fillRect/>
          </a:stretch>
        </p:blipFill>
        <p:spPr bwMode="gray">
          <a:xfrm>
            <a:off x="3097587" y="2558342"/>
            <a:ext cx="369473" cy="302297"/>
          </a:xfrm>
          <a:prstGeom prst="rect">
            <a:avLst/>
          </a:prstGeom>
        </p:spPr>
      </p:pic>
      <p:cxnSp>
        <p:nvCxnSpPr>
          <p:cNvPr id="18" name="直接连接符 17"/>
          <p:cNvCxnSpPr>
            <a:stCxn id="16" idx="3"/>
            <a:endCxn id="17" idx="1"/>
          </p:cNvCxnSpPr>
          <p:nvPr/>
        </p:nvCxnSpPr>
        <p:spPr bwMode="gray">
          <a:xfrm>
            <a:off x="2776223" y="2709491"/>
            <a:ext cx="32136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9" name="图片 87" descr="汇聚交换机.png"/>
          <p:cNvPicPr>
            <a:picLocks noChangeAspect="1"/>
          </p:cNvPicPr>
          <p:nvPr/>
        </p:nvPicPr>
        <p:blipFill>
          <a:blip r:embed="rId3"/>
          <a:stretch>
            <a:fillRect/>
          </a:stretch>
        </p:blipFill>
        <p:spPr bwMode="gray">
          <a:xfrm>
            <a:off x="1363940" y="3734507"/>
            <a:ext cx="369473" cy="302297"/>
          </a:xfrm>
          <a:prstGeom prst="rect">
            <a:avLst/>
          </a:prstGeom>
        </p:spPr>
      </p:pic>
      <p:cxnSp>
        <p:nvCxnSpPr>
          <p:cNvPr id="20" name="直接连接符 19"/>
          <p:cNvCxnSpPr>
            <a:stCxn id="19" idx="3"/>
            <a:endCxn id="10" idx="1"/>
          </p:cNvCxnSpPr>
          <p:nvPr/>
        </p:nvCxnSpPr>
        <p:spPr bwMode="gray">
          <a:xfrm>
            <a:off x="1733413" y="3885656"/>
            <a:ext cx="317780"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bwMode="gray">
          <a:xfrm>
            <a:off x="1470978" y="4207162"/>
            <a:ext cx="845474" cy="123410"/>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526672" y="2560072"/>
            <a:ext cx="646332" cy="276999"/>
          </a:xfrm>
          <a:prstGeom prst="rect">
            <a:avLst/>
          </a:prstGeom>
          <a:noFill/>
        </p:spPr>
        <p:txBody>
          <a:bodyPr wrap="none" rtlCol="0">
            <a:spAutoFit/>
          </a:bodyPr>
          <a:lstStyle/>
          <a:p>
            <a:pPr algn="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526672" y="3707238"/>
            <a:ext cx="646332" cy="276999"/>
          </a:xfrm>
          <a:prstGeom prst="rect">
            <a:avLst/>
          </a:prstGeom>
          <a:noFill/>
        </p:spPr>
        <p:txBody>
          <a:bodyPr wrap="none" rtlCol="0">
            <a:spAutoFit/>
          </a:bodyPr>
          <a:lstStyle/>
          <a:p>
            <a:pPr algn="r" fontAlgn="ctr">
              <a:spcBef>
                <a:spcPct val="0"/>
              </a:spcBef>
              <a:spcAft>
                <a:spcPct val="0"/>
              </a:spcAft>
              <a:defRPr/>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526672" y="4807508"/>
            <a:ext cx="646332" cy="276999"/>
          </a:xfrm>
          <a:prstGeom prst="rect">
            <a:avLst/>
          </a:prstGeom>
          <a:noFill/>
        </p:spPr>
        <p:txBody>
          <a:bodyPr wrap="none" rtlCol="0">
            <a:spAutoFit/>
          </a:bodyPr>
          <a:lstStyle/>
          <a:p>
            <a:pPr algn="r" fontAlgn="ctr">
              <a:spcBef>
                <a:spcPct val="0"/>
              </a:spcBef>
              <a:spcAft>
                <a:spcPct val="0"/>
              </a:spcAft>
              <a:defRPr/>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526673" y="1644724"/>
            <a:ext cx="646331" cy="276999"/>
          </a:xfrm>
          <a:prstGeom prst="rect">
            <a:avLst/>
          </a:prstGeom>
          <a:noFill/>
        </p:spPr>
        <p:txBody>
          <a:bodyPr wrap="none" rtlCol="0">
            <a:spAutoFit/>
          </a:bodyPr>
          <a:lstStyle/>
          <a:p>
            <a:pPr algn="r" fontAlgn="ctr">
              <a:spcBef>
                <a:spcPct val="0"/>
              </a:spcBef>
              <a:spcAft>
                <a:spcPct val="0"/>
              </a:spcAft>
              <a:defRPr/>
            </a:pPr>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区</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849838" y="5723547"/>
            <a:ext cx="1102591" cy="246221"/>
          </a:xfrm>
          <a:prstGeom prst="rect">
            <a:avLst/>
          </a:prstGeom>
          <a:noFill/>
          <a:ln>
            <a:noFill/>
          </a:ln>
        </p:spPr>
        <p:txBody>
          <a:bodyPr wrap="none" rtlCol="0">
            <a:noAutofit/>
          </a:bodyPr>
          <a:lstStyle/>
          <a:p>
            <a:pPr font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p>
        </p:txBody>
      </p:sp>
      <p:cxnSp>
        <p:nvCxnSpPr>
          <p:cNvPr id="36" name="直接连接符 35"/>
          <p:cNvCxnSpPr>
            <a:stCxn id="16" idx="2"/>
            <a:endCxn id="19" idx="0"/>
          </p:cNvCxnSpPr>
          <p:nvPr/>
        </p:nvCxnSpPr>
        <p:spPr bwMode="gray">
          <a:xfrm flipH="1">
            <a:off x="1548677" y="2860639"/>
            <a:ext cx="1042810" cy="8738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7" idx="2"/>
            <a:endCxn id="10" idx="0"/>
          </p:cNvCxnSpPr>
          <p:nvPr/>
        </p:nvCxnSpPr>
        <p:spPr bwMode="gray">
          <a:xfrm flipH="1">
            <a:off x="2235930" y="2860639"/>
            <a:ext cx="1046394" cy="8738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3" name="Picture 2" descr="G:\做的项目\公共\扁平图标切换\更新2015_01_21\oss扁平图标库2015_01_21更新-04.png"/>
          <p:cNvPicPr>
            <a:picLocks noChangeAspect="1" noChangeArrowheads="1"/>
          </p:cNvPicPr>
          <p:nvPr/>
        </p:nvPicPr>
        <p:blipFill>
          <a:blip r:embed="rId5"/>
          <a:stretch>
            <a:fillRect/>
          </a:stretch>
        </p:blipFill>
        <p:spPr bwMode="gray">
          <a:xfrm>
            <a:off x="3097587" y="1342427"/>
            <a:ext cx="369473" cy="302297"/>
          </a:xfrm>
          <a:prstGeom prst="rect">
            <a:avLst/>
          </a:prstGeom>
          <a:noFill/>
        </p:spPr>
      </p:pic>
      <p:cxnSp>
        <p:nvCxnSpPr>
          <p:cNvPr id="44" name="直接连接符 43"/>
          <p:cNvCxnSpPr>
            <a:stCxn id="15" idx="2"/>
            <a:endCxn id="16" idx="0"/>
          </p:cNvCxnSpPr>
          <p:nvPr/>
        </p:nvCxnSpPr>
        <p:spPr bwMode="gray">
          <a:xfrm>
            <a:off x="2591487" y="1644724"/>
            <a:ext cx="0" cy="91361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43" idx="2"/>
            <a:endCxn id="17" idx="0"/>
          </p:cNvCxnSpPr>
          <p:nvPr/>
        </p:nvCxnSpPr>
        <p:spPr bwMode="gray">
          <a:xfrm>
            <a:off x="3282324" y="1644724"/>
            <a:ext cx="0" cy="91361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15" idx="3"/>
            <a:endCxn id="43" idx="1"/>
          </p:cNvCxnSpPr>
          <p:nvPr/>
        </p:nvCxnSpPr>
        <p:spPr bwMode="gray">
          <a:xfrm>
            <a:off x="2776223" y="1493576"/>
            <a:ext cx="321364"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7" name="图片 87" descr="汇聚交换机.png"/>
          <p:cNvPicPr>
            <a:picLocks noChangeAspect="1"/>
          </p:cNvPicPr>
          <p:nvPr/>
        </p:nvPicPr>
        <p:blipFill>
          <a:blip r:embed="rId3"/>
          <a:stretch>
            <a:fillRect/>
          </a:stretch>
        </p:blipFill>
        <p:spPr bwMode="gray">
          <a:xfrm>
            <a:off x="4004456" y="1995514"/>
            <a:ext cx="305350" cy="249832"/>
          </a:xfrm>
          <a:prstGeom prst="rect">
            <a:avLst/>
          </a:prstGeom>
        </p:spPr>
      </p:pic>
      <p:pic>
        <p:nvPicPr>
          <p:cNvPr id="48" name="图片 87" descr="汇聚交换机.png"/>
          <p:cNvPicPr>
            <a:picLocks noChangeAspect="1"/>
          </p:cNvPicPr>
          <p:nvPr/>
        </p:nvPicPr>
        <p:blipFill>
          <a:blip r:embed="rId3"/>
          <a:stretch>
            <a:fillRect/>
          </a:stretch>
        </p:blipFill>
        <p:spPr bwMode="gray">
          <a:xfrm>
            <a:off x="4556840" y="1995514"/>
            <a:ext cx="305350" cy="249832"/>
          </a:xfrm>
          <a:prstGeom prst="rect">
            <a:avLst/>
          </a:prstGeom>
        </p:spPr>
      </p:pic>
      <p:cxnSp>
        <p:nvCxnSpPr>
          <p:cNvPr id="49" name="直接连接符 48"/>
          <p:cNvCxnSpPr>
            <a:stCxn id="47" idx="2"/>
            <a:endCxn id="16" idx="0"/>
          </p:cNvCxnSpPr>
          <p:nvPr/>
        </p:nvCxnSpPr>
        <p:spPr bwMode="gray">
          <a:xfrm flipH="1">
            <a:off x="2591487" y="2245346"/>
            <a:ext cx="1565644" cy="31299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48" idx="2"/>
            <a:endCxn id="17" idx="0"/>
          </p:cNvCxnSpPr>
          <p:nvPr/>
        </p:nvCxnSpPr>
        <p:spPr bwMode="gray">
          <a:xfrm flipH="1">
            <a:off x="3282324" y="2245346"/>
            <a:ext cx="1427191" cy="31299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gray">
          <a:xfrm>
            <a:off x="557560" y="5872784"/>
            <a:ext cx="219495"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7" idx="3"/>
            <a:endCxn id="48" idx="1"/>
          </p:cNvCxnSpPr>
          <p:nvPr/>
        </p:nvCxnSpPr>
        <p:spPr bwMode="gray">
          <a:xfrm>
            <a:off x="4309806" y="2120430"/>
            <a:ext cx="24703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53" name="图片 72" descr="交换机.png"/>
          <p:cNvPicPr>
            <a:picLocks noChangeAspect="1"/>
          </p:cNvPicPr>
          <p:nvPr/>
        </p:nvPicPr>
        <p:blipFill>
          <a:blip r:embed="rId7" cstate="print"/>
          <a:stretch>
            <a:fillRect/>
          </a:stretch>
        </p:blipFill>
        <p:spPr bwMode="gray">
          <a:xfrm>
            <a:off x="4546649" y="1532002"/>
            <a:ext cx="334188" cy="274333"/>
          </a:xfrm>
          <a:prstGeom prst="rect">
            <a:avLst/>
          </a:prstGeom>
        </p:spPr>
      </p:pic>
      <p:pic>
        <p:nvPicPr>
          <p:cNvPr id="54" name="图片 5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3755517" y="1432498"/>
            <a:ext cx="649960" cy="369474"/>
          </a:xfrm>
          <a:prstGeom prst="rect">
            <a:avLst/>
          </a:prstGeom>
        </p:spPr>
      </p:pic>
      <p:sp>
        <p:nvSpPr>
          <p:cNvPr id="56" name="文本框 55"/>
          <p:cNvSpPr txBox="1"/>
          <p:nvPr/>
        </p:nvSpPr>
        <p:spPr bwMode="gray">
          <a:xfrm>
            <a:off x="4885379" y="1532002"/>
            <a:ext cx="237005" cy="830997"/>
          </a:xfrm>
          <a:prstGeom prst="rect">
            <a:avLst/>
          </a:prstGeom>
          <a:noFill/>
        </p:spPr>
        <p:txBody>
          <a:bodyPr wrap="square" rtlCol="0">
            <a:spAutoFit/>
          </a:bodyPr>
          <a:lstStyle/>
          <a:p>
            <a:pPr algn="ct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服务器区</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6" name="直接连接符 75"/>
          <p:cNvCxnSpPr>
            <a:stCxn id="19" idx="2"/>
            <a:endCxn id="11" idx="0"/>
          </p:cNvCxnSpPr>
          <p:nvPr/>
        </p:nvCxnSpPr>
        <p:spPr bwMode="gray">
          <a:xfrm>
            <a:off x="1548677" y="4036804"/>
            <a:ext cx="0" cy="50049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80" name="图片 76" descr="接入交换机.png"/>
          <p:cNvPicPr>
            <a:picLocks noChangeAspect="1"/>
          </p:cNvPicPr>
          <p:nvPr/>
        </p:nvPicPr>
        <p:blipFill>
          <a:blip r:embed="rId4"/>
          <a:stretch>
            <a:fillRect/>
          </a:stretch>
        </p:blipFill>
        <p:spPr bwMode="gray">
          <a:xfrm>
            <a:off x="2051192" y="4537299"/>
            <a:ext cx="369473" cy="302297"/>
          </a:xfrm>
          <a:prstGeom prst="rect">
            <a:avLst/>
          </a:prstGeom>
        </p:spPr>
      </p:pic>
      <p:cxnSp>
        <p:nvCxnSpPr>
          <p:cNvPr id="81" name="直接连接符 80"/>
          <p:cNvCxnSpPr>
            <a:stCxn id="10" idx="2"/>
            <a:endCxn id="80" idx="0"/>
          </p:cNvCxnSpPr>
          <p:nvPr/>
        </p:nvCxnSpPr>
        <p:spPr bwMode="gray">
          <a:xfrm flipH="1">
            <a:off x="2235929" y="4036804"/>
            <a:ext cx="1" cy="50049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11" idx="3"/>
            <a:endCxn id="80" idx="1"/>
          </p:cNvCxnSpPr>
          <p:nvPr/>
        </p:nvCxnSpPr>
        <p:spPr bwMode="gray">
          <a:xfrm>
            <a:off x="1733413" y="4688448"/>
            <a:ext cx="31777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89" name="图片 87" descr="汇聚交换机.png"/>
          <p:cNvPicPr>
            <a:picLocks noChangeAspect="1"/>
          </p:cNvPicPr>
          <p:nvPr/>
        </p:nvPicPr>
        <p:blipFill>
          <a:blip r:embed="rId3"/>
          <a:stretch>
            <a:fillRect/>
          </a:stretch>
        </p:blipFill>
        <p:spPr bwMode="gray">
          <a:xfrm>
            <a:off x="4192204" y="3734507"/>
            <a:ext cx="369473" cy="302297"/>
          </a:xfrm>
          <a:prstGeom prst="rect">
            <a:avLst/>
          </a:prstGeom>
        </p:spPr>
      </p:pic>
      <p:pic>
        <p:nvPicPr>
          <p:cNvPr id="90" name="图片 76" descr="接入交换机.png"/>
          <p:cNvPicPr>
            <a:picLocks noChangeAspect="1"/>
          </p:cNvPicPr>
          <p:nvPr/>
        </p:nvPicPr>
        <p:blipFill>
          <a:blip r:embed="rId4"/>
          <a:stretch>
            <a:fillRect/>
          </a:stretch>
        </p:blipFill>
        <p:spPr bwMode="gray">
          <a:xfrm>
            <a:off x="3504951" y="4537299"/>
            <a:ext cx="369473" cy="302297"/>
          </a:xfrm>
          <a:prstGeom prst="rect">
            <a:avLst/>
          </a:prstGeom>
        </p:spPr>
      </p:pic>
      <p:pic>
        <p:nvPicPr>
          <p:cNvPr id="91" name="图片 87" descr="汇聚交换机.png"/>
          <p:cNvPicPr>
            <a:picLocks noChangeAspect="1"/>
          </p:cNvPicPr>
          <p:nvPr/>
        </p:nvPicPr>
        <p:blipFill>
          <a:blip r:embed="rId3"/>
          <a:stretch>
            <a:fillRect/>
          </a:stretch>
        </p:blipFill>
        <p:spPr bwMode="gray">
          <a:xfrm>
            <a:off x="3504951" y="3734507"/>
            <a:ext cx="369473" cy="302297"/>
          </a:xfrm>
          <a:prstGeom prst="rect">
            <a:avLst/>
          </a:prstGeom>
        </p:spPr>
      </p:pic>
      <p:cxnSp>
        <p:nvCxnSpPr>
          <p:cNvPr id="92" name="直接连接符 91"/>
          <p:cNvCxnSpPr>
            <a:stCxn id="91" idx="3"/>
            <a:endCxn id="89" idx="1"/>
          </p:cNvCxnSpPr>
          <p:nvPr/>
        </p:nvCxnSpPr>
        <p:spPr bwMode="gray">
          <a:xfrm>
            <a:off x="3874424" y="3885656"/>
            <a:ext cx="317780"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93" name="椭圆 92"/>
          <p:cNvSpPr/>
          <p:nvPr/>
        </p:nvSpPr>
        <p:spPr bwMode="gray">
          <a:xfrm>
            <a:off x="3611989" y="4207162"/>
            <a:ext cx="845474" cy="123410"/>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4" name="直接连接符 93"/>
          <p:cNvCxnSpPr>
            <a:stCxn id="91" idx="2"/>
            <a:endCxn id="90" idx="0"/>
          </p:cNvCxnSpPr>
          <p:nvPr/>
        </p:nvCxnSpPr>
        <p:spPr bwMode="gray">
          <a:xfrm>
            <a:off x="3689688" y="4036804"/>
            <a:ext cx="0" cy="50049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95" name="图片 76" descr="接入交换机.png"/>
          <p:cNvPicPr>
            <a:picLocks noChangeAspect="1"/>
          </p:cNvPicPr>
          <p:nvPr/>
        </p:nvPicPr>
        <p:blipFill>
          <a:blip r:embed="rId4"/>
          <a:stretch>
            <a:fillRect/>
          </a:stretch>
        </p:blipFill>
        <p:spPr bwMode="gray">
          <a:xfrm>
            <a:off x="4192203" y="4537299"/>
            <a:ext cx="369473" cy="302297"/>
          </a:xfrm>
          <a:prstGeom prst="rect">
            <a:avLst/>
          </a:prstGeom>
        </p:spPr>
      </p:pic>
      <p:cxnSp>
        <p:nvCxnSpPr>
          <p:cNvPr id="96" name="直接连接符 95"/>
          <p:cNvCxnSpPr>
            <a:stCxn id="89" idx="2"/>
            <a:endCxn id="95" idx="0"/>
          </p:cNvCxnSpPr>
          <p:nvPr/>
        </p:nvCxnSpPr>
        <p:spPr bwMode="gray">
          <a:xfrm flipH="1">
            <a:off x="4376940" y="4036804"/>
            <a:ext cx="1" cy="50049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7" name="直接连接符 96"/>
          <p:cNvCxnSpPr>
            <a:stCxn id="90" idx="3"/>
            <a:endCxn id="95" idx="1"/>
          </p:cNvCxnSpPr>
          <p:nvPr/>
        </p:nvCxnSpPr>
        <p:spPr bwMode="gray">
          <a:xfrm>
            <a:off x="3874424" y="4688448"/>
            <a:ext cx="31777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16" idx="2"/>
            <a:endCxn id="91" idx="0"/>
          </p:cNvCxnSpPr>
          <p:nvPr/>
        </p:nvCxnSpPr>
        <p:spPr bwMode="gray">
          <a:xfrm>
            <a:off x="2591487" y="2860639"/>
            <a:ext cx="1098201" cy="8738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1" name="直接连接符 100"/>
          <p:cNvCxnSpPr>
            <a:stCxn id="17" idx="2"/>
            <a:endCxn id="89" idx="0"/>
          </p:cNvCxnSpPr>
          <p:nvPr/>
        </p:nvCxnSpPr>
        <p:spPr bwMode="gray">
          <a:xfrm>
            <a:off x="3282324" y="2860639"/>
            <a:ext cx="1094617" cy="8738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04" name="椭圆 103"/>
          <p:cNvSpPr/>
          <p:nvPr/>
        </p:nvSpPr>
        <p:spPr bwMode="gray">
          <a:xfrm rot="2855837">
            <a:off x="1968632" y="3299804"/>
            <a:ext cx="635217" cy="135751"/>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104"/>
          <p:cNvSpPr/>
          <p:nvPr/>
        </p:nvSpPr>
        <p:spPr bwMode="gray">
          <a:xfrm rot="18971797">
            <a:off x="3242838" y="3299804"/>
            <a:ext cx="635217" cy="135751"/>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右大括号 105"/>
          <p:cNvSpPr/>
          <p:nvPr/>
        </p:nvSpPr>
        <p:spPr bwMode="gray">
          <a:xfrm>
            <a:off x="5453673" y="1342427"/>
            <a:ext cx="148614" cy="1217645"/>
          </a:xfrm>
          <a:prstGeom prst="rightBrace">
            <a:avLst>
              <a:gd name="adj1" fmla="val 31915"/>
              <a:gd name="adj2" fmla="val 50000"/>
            </a:avLst>
          </a:prstGeom>
          <a:noFill/>
          <a:ln w="12700">
            <a:solidFill>
              <a:srgbClr val="30B5C5"/>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zh-CN" altLang="en-US">
              <a:cs typeface="+mn-ea"/>
              <a:sym typeface="+mn-lt"/>
            </a:endParaRPr>
          </a:p>
        </p:txBody>
      </p:sp>
      <p:sp>
        <p:nvSpPr>
          <p:cNvPr id="107" name="矩形 106"/>
          <p:cNvSpPr/>
          <p:nvPr/>
        </p:nvSpPr>
        <p:spPr bwMode="gray">
          <a:xfrm>
            <a:off x="5701636" y="1454997"/>
            <a:ext cx="397451" cy="1077218"/>
          </a:xfrm>
          <a:prstGeom prst="rect">
            <a:avLst/>
          </a:prstGeom>
          <a:solidFill>
            <a:schemeClr val="bg1">
              <a:lumMod val="95000"/>
            </a:schemeClr>
          </a:solidFill>
        </p:spPr>
        <p:txBody>
          <a:bodyPr wrap="square">
            <a:spAutoFit/>
          </a:bodyPr>
          <a:lstStyle/>
          <a:p>
            <a:pPr algn="ctr"/>
            <a:r>
              <a:rPr lang="zh-CN" altLang="en-US" sz="1600" dirty="0">
                <a:solidFill>
                  <a:srgbClr val="30B5C5"/>
                </a:solidFill>
                <a:cs typeface="+mn-ea"/>
                <a:sym typeface="+mn-lt"/>
              </a:rPr>
              <a:t>出口安全</a:t>
            </a:r>
          </a:p>
        </p:txBody>
      </p:sp>
      <p:pic>
        <p:nvPicPr>
          <p:cNvPr id="108"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2407073" y="1957720"/>
            <a:ext cx="368827" cy="301768"/>
          </a:xfrm>
          <a:prstGeom prst="rect">
            <a:avLst/>
          </a:prstGeom>
        </p:spPr>
      </p:pic>
      <p:pic>
        <p:nvPicPr>
          <p:cNvPr id="111"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3091710" y="1957720"/>
            <a:ext cx="368827" cy="301768"/>
          </a:xfrm>
          <a:prstGeom prst="rect">
            <a:avLst/>
          </a:prstGeom>
        </p:spPr>
      </p:pic>
      <p:cxnSp>
        <p:nvCxnSpPr>
          <p:cNvPr id="112" name="直接连接符 111"/>
          <p:cNvCxnSpPr>
            <a:stCxn id="108" idx="3"/>
            <a:endCxn id="111" idx="1"/>
          </p:cNvCxnSpPr>
          <p:nvPr/>
        </p:nvCxnSpPr>
        <p:spPr bwMode="gray">
          <a:xfrm>
            <a:off x="2775900" y="2108604"/>
            <a:ext cx="315810" cy="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15" name="右大括号 114"/>
          <p:cNvSpPr/>
          <p:nvPr/>
        </p:nvSpPr>
        <p:spPr bwMode="gray">
          <a:xfrm>
            <a:off x="5453673" y="2596921"/>
            <a:ext cx="148614" cy="2814703"/>
          </a:xfrm>
          <a:prstGeom prst="rightBrace">
            <a:avLst>
              <a:gd name="adj1" fmla="val 31915"/>
              <a:gd name="adj2" fmla="val 50000"/>
            </a:avLst>
          </a:prstGeom>
          <a:noFill/>
          <a:ln w="12700">
            <a:solidFill>
              <a:srgbClr val="30B5C5"/>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zh-CN" altLang="en-US">
              <a:cs typeface="+mn-ea"/>
              <a:sym typeface="+mn-lt"/>
            </a:endParaRPr>
          </a:p>
        </p:txBody>
      </p:sp>
      <p:sp>
        <p:nvSpPr>
          <p:cNvPr id="116" name="矩形 115"/>
          <p:cNvSpPr/>
          <p:nvPr/>
        </p:nvSpPr>
        <p:spPr bwMode="gray">
          <a:xfrm>
            <a:off x="5701636" y="3498195"/>
            <a:ext cx="397451" cy="1077218"/>
          </a:xfrm>
          <a:prstGeom prst="rect">
            <a:avLst/>
          </a:prstGeom>
          <a:solidFill>
            <a:schemeClr val="bg1">
              <a:lumMod val="95000"/>
            </a:schemeClr>
          </a:solidFill>
        </p:spPr>
        <p:txBody>
          <a:bodyPr wrap="square">
            <a:spAutoFit/>
          </a:bodyPr>
          <a:lstStyle/>
          <a:p>
            <a:pPr algn="ctr"/>
            <a:r>
              <a:rPr lang="zh-CN" altLang="en-US" sz="1600">
                <a:solidFill>
                  <a:srgbClr val="30B5C5"/>
                </a:solidFill>
                <a:cs typeface="+mn-ea"/>
                <a:sym typeface="+mn-lt"/>
              </a:rPr>
              <a:t>内网安全</a:t>
            </a:r>
          </a:p>
        </p:txBody>
      </p:sp>
      <p:pic>
        <p:nvPicPr>
          <p:cNvPr id="121" name="图片 105" descr="AP.png"/>
          <p:cNvPicPr>
            <a:picLocks noChangeAspect="1"/>
          </p:cNvPicPr>
          <p:nvPr/>
        </p:nvPicPr>
        <p:blipFill>
          <a:blip r:embed="rId10" cstate="print"/>
          <a:stretch>
            <a:fillRect/>
          </a:stretch>
        </p:blipFill>
        <p:spPr bwMode="gray">
          <a:xfrm>
            <a:off x="3504951" y="5109856"/>
            <a:ext cx="368827" cy="301768"/>
          </a:xfrm>
          <a:prstGeom prst="rect">
            <a:avLst/>
          </a:prstGeom>
        </p:spPr>
      </p:pic>
      <p:sp>
        <p:nvSpPr>
          <p:cNvPr id="60" name="五边形 59"/>
          <p:cNvSpPr/>
          <p:nvPr/>
        </p:nvSpPr>
        <p:spPr bwMode="gray">
          <a:xfrm>
            <a:off x="967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61" name="燕尾形 60"/>
          <p:cNvSpPr/>
          <p:nvPr/>
        </p:nvSpPr>
        <p:spPr bwMode="gray">
          <a:xfrm>
            <a:off x="10669087" y="114957"/>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68357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出口网络安全设计</a:t>
            </a:r>
            <a:endParaRPr lang="zh-CN" altLang="en-US" dirty="0"/>
          </a:p>
        </p:txBody>
      </p:sp>
      <p:sp>
        <p:nvSpPr>
          <p:cNvPr id="5" name="文本占位符 4"/>
          <p:cNvSpPr>
            <a:spLocks noGrp="1"/>
          </p:cNvSpPr>
          <p:nvPr>
            <p:ph type="body" sz="quarter" idx="10"/>
          </p:nvPr>
        </p:nvSpPr>
        <p:spPr>
          <a:xfrm>
            <a:off x="455612" y="1047751"/>
            <a:ext cx="11293475" cy="3986262"/>
          </a:xfrm>
        </p:spPr>
        <p:txBody>
          <a:bodyPr/>
          <a:lstStyle/>
          <a:p>
            <a:r>
              <a:rPr lang="zh-CN" altLang="en-US" sz="1800" dirty="0"/>
              <a:t>出于业务需求，通常内网对外提供的网络服务例如公司网站、邮件服务等，这些潜在的不安全因素都威胁着园区网络的安全。建议在园区出口防火墙部署如下安全业务实现网络边界防护：</a:t>
            </a:r>
          </a:p>
          <a:p>
            <a:pPr lvl="1"/>
            <a:r>
              <a:rPr lang="zh-CN" altLang="en-US" sz="1600" dirty="0"/>
              <a:t>将企业员工网络、公司服务器网络、外部网络划分到不同安全区域，对安全区域间的流量进行检测和保护。</a:t>
            </a:r>
          </a:p>
          <a:p>
            <a:pPr lvl="1"/>
            <a:r>
              <a:rPr lang="zh-CN" altLang="en-US" sz="1600" dirty="0"/>
              <a:t>根据公司对外提供的网络服务的类型开启相应的内容安全防护功能，例如针对所有服务器开启反病毒和入侵防御。</a:t>
            </a:r>
          </a:p>
          <a:p>
            <a:pPr lvl="1"/>
            <a:r>
              <a:rPr lang="zh-CN" altLang="en-US" sz="1600" dirty="0"/>
              <a:t>针对内网员工访问外部网络的行为，开启</a:t>
            </a:r>
            <a:r>
              <a:rPr lang="en-US" altLang="zh-CN" sz="1600" dirty="0"/>
              <a:t>URL</a:t>
            </a:r>
            <a:r>
              <a:rPr lang="zh-CN" altLang="en-US" sz="1600" dirty="0"/>
              <a:t>过滤、反病毒等功能，既保护内网主机不受外网威胁，又可以防止企业机密信息的泄露，提高企业网络的安全性。</a:t>
            </a:r>
            <a:endParaRPr lang="en-US" altLang="zh-CN" sz="1600" dirty="0"/>
          </a:p>
          <a:p>
            <a:r>
              <a:rPr lang="zh-CN" altLang="en-US" sz="1800" dirty="0"/>
              <a:t>出口安全方案设计：</a:t>
            </a:r>
          </a:p>
          <a:p>
            <a:pPr lvl="1"/>
            <a:r>
              <a:rPr lang="zh-CN" altLang="en-US" sz="1600" dirty="0"/>
              <a:t>推荐采用防火墙、入侵防御系统等专用安全设备；</a:t>
            </a:r>
          </a:p>
          <a:p>
            <a:pPr lvl="1"/>
            <a:r>
              <a:rPr lang="zh-CN" altLang="en-US" sz="1600" dirty="0"/>
              <a:t>也可以采用具有上述安全功能的路由器设备。</a:t>
            </a:r>
          </a:p>
          <a:p>
            <a:endParaRPr lang="zh-CN" altLang="en-US" sz="1800" dirty="0"/>
          </a:p>
        </p:txBody>
      </p:sp>
      <p:graphicFrame>
        <p:nvGraphicFramePr>
          <p:cNvPr id="8" name="表格 7"/>
          <p:cNvGraphicFramePr>
            <a:graphicFrameLocks noGrp="1"/>
          </p:cNvGraphicFramePr>
          <p:nvPr>
            <p:extLst>
              <p:ext uri="{D42A27DB-BD31-4B8C-83A1-F6EECF244321}">
                <p14:modId xmlns:p14="http://schemas.microsoft.com/office/powerpoint/2010/main" val="3519806520"/>
              </p:ext>
            </p:extLst>
          </p:nvPr>
        </p:nvGraphicFramePr>
        <p:xfrm>
          <a:off x="6096000" y="4119613"/>
          <a:ext cx="5646736" cy="1828800"/>
        </p:xfrm>
        <a:graphic>
          <a:graphicData uri="http://schemas.openxmlformats.org/drawingml/2006/table">
            <a:tbl>
              <a:tblPr firstRow="1" firstCol="1" lastRow="1" lastCol="1" bandRow="1" bandCol="1"/>
              <a:tblGrid>
                <a:gridCol w="925929">
                  <a:extLst>
                    <a:ext uri="{9D8B030D-6E8A-4147-A177-3AD203B41FA5}">
                      <a16:colId xmlns:a16="http://schemas.microsoft.com/office/drawing/2014/main" val="20000"/>
                    </a:ext>
                  </a:extLst>
                </a:gridCol>
                <a:gridCol w="4720807">
                  <a:extLst>
                    <a:ext uri="{9D8B030D-6E8A-4147-A177-3AD203B41FA5}">
                      <a16:colId xmlns:a16="http://schemas.microsoft.com/office/drawing/2014/main" val="20001"/>
                    </a:ext>
                  </a:extLst>
                </a:gridCol>
              </a:tblGrid>
              <a:tr h="246628">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marL="0" algn="ctr" defTabSz="914034" rtl="0" eaLnBrk="1" latinLnBrk="0" hangingPunct="1">
                        <a:lnSpc>
                          <a:spcPct val="100000"/>
                        </a:lnSpc>
                        <a:spcBef>
                          <a:spcPts val="400"/>
                        </a:spcBef>
                        <a:spcAft>
                          <a:spcPts val="400"/>
                        </a:spcAft>
                      </a:pPr>
                      <a:r>
                        <a:rPr lang="zh-CN" altLang="en-US" sz="1200" b="1" kern="1200" dirty="0">
                          <a:solidFill>
                            <a:schemeClr val="tx1"/>
                          </a:solidFill>
                          <a:effectLst/>
                          <a:latin typeface="+mn-lt"/>
                          <a:ea typeface="+mn-ea"/>
                          <a:cs typeface="+mn-cs"/>
                          <a:sym typeface="+mn-lt"/>
                        </a:rPr>
                        <a:t>功能</a:t>
                      </a:r>
                      <a:endParaRPr lang="zh-CN" sz="1200" b="1" kern="1200" dirty="0">
                        <a:solidFill>
                          <a:schemeClr val="tx1"/>
                        </a:solidFill>
                        <a:effectLst/>
                        <a:latin typeface="+mn-lt"/>
                        <a:ea typeface="+mn-ea"/>
                        <a:cs typeface="+mn-cs"/>
                        <a:sym typeface="+mn-lt"/>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marL="0" algn="ctr" defTabSz="914034" rtl="0" eaLnBrk="1" latinLnBrk="0" hangingPunct="1">
                        <a:lnSpc>
                          <a:spcPct val="100000"/>
                        </a:lnSpc>
                        <a:spcBef>
                          <a:spcPts val="400"/>
                        </a:spcBef>
                        <a:spcAft>
                          <a:spcPts val="400"/>
                        </a:spcAft>
                      </a:pPr>
                      <a:r>
                        <a:rPr lang="zh-CN" sz="1200" b="1" kern="1200" dirty="0">
                          <a:solidFill>
                            <a:schemeClr val="tx1"/>
                          </a:solidFill>
                          <a:effectLst/>
                          <a:latin typeface="+mn-lt"/>
                          <a:ea typeface="+mn-ea"/>
                          <a:cs typeface="+mn-cs"/>
                          <a:sym typeface="+mn-lt"/>
                        </a:rPr>
                        <a:t>描述</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416482">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marL="0" algn="ctr" defTabSz="914034" rtl="0" eaLnBrk="1" latinLnBrk="0" hangingPunct="1">
                        <a:lnSpc>
                          <a:spcPct val="100000"/>
                        </a:lnSpc>
                        <a:spcBef>
                          <a:spcPts val="0"/>
                        </a:spcBef>
                        <a:spcAft>
                          <a:spcPts val="600"/>
                        </a:spcAft>
                      </a:pPr>
                      <a:r>
                        <a:rPr lang="zh-CN" sz="1200" b="0" kern="1200" dirty="0">
                          <a:solidFill>
                            <a:schemeClr val="tx1"/>
                          </a:solidFill>
                          <a:effectLst/>
                          <a:latin typeface="+mn-lt"/>
                          <a:ea typeface="+mn-ea"/>
                          <a:cs typeface="宋体"/>
                          <a:sym typeface="+mn-lt"/>
                        </a:rPr>
                        <a:t>入侵防御</a:t>
                      </a:r>
                    </a:p>
                  </a:txBody>
                  <a:tcPr anchor="ctr">
                    <a:lnL w="28575" cap="flat" cmpd="sng" algn="ctr">
                      <a:solidFill>
                        <a:schemeClr val="tx1"/>
                      </a:solidFill>
                      <a:prstDash val="solid"/>
                      <a:round/>
                      <a:headEnd type="none" w="med" len="med"/>
                      <a:tailEnd type="none" w="med" len="med"/>
                    </a:lnL>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marL="0" algn="l" defTabSz="914034" rtl="0" eaLnBrk="1" latinLnBrk="0" hangingPunct="1">
                        <a:lnSpc>
                          <a:spcPct val="100000"/>
                        </a:lnSpc>
                        <a:spcBef>
                          <a:spcPts val="0"/>
                        </a:spcBef>
                        <a:spcAft>
                          <a:spcPts val="600"/>
                        </a:spcAft>
                      </a:pPr>
                      <a:r>
                        <a:rPr lang="zh-CN" sz="1200" b="0" kern="1200" dirty="0">
                          <a:solidFill>
                            <a:schemeClr val="tx1"/>
                          </a:solidFill>
                          <a:effectLst/>
                          <a:latin typeface="+mn-lt"/>
                          <a:ea typeface="+mn-ea"/>
                          <a:cs typeface="宋体"/>
                          <a:sym typeface="+mn-lt"/>
                        </a:rPr>
                        <a:t>入侵防御通过比较流量内容与入侵防御特征库来实现攻击检测，有效防御来自应用层的攻击，例如：缓冲区溢出攻击、木马、后门攻击、蠕虫等</a:t>
                      </a:r>
                      <a:r>
                        <a:rPr lang="zh-CN" altLang="en-US" sz="1200" b="0" kern="1200" dirty="0">
                          <a:solidFill>
                            <a:schemeClr val="tx1"/>
                          </a:solidFill>
                          <a:effectLst/>
                          <a:latin typeface="+mn-lt"/>
                          <a:ea typeface="+mn-ea"/>
                          <a:cs typeface="宋体"/>
                          <a:sym typeface="+mn-lt"/>
                        </a:rPr>
                        <a:t>。</a:t>
                      </a:r>
                      <a:endParaRPr lang="zh-CN" sz="1200" b="0" kern="1200" dirty="0">
                        <a:solidFill>
                          <a:schemeClr val="tx1"/>
                        </a:solidFill>
                        <a:effectLst/>
                        <a:latin typeface="+mn-lt"/>
                        <a:ea typeface="+mn-ea"/>
                        <a:cs typeface="宋体"/>
                        <a:sym typeface="+mn-lt"/>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16482">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marL="0" algn="ctr" defTabSz="914034" rtl="0" eaLnBrk="1" latinLnBrk="0" hangingPunct="1">
                        <a:lnSpc>
                          <a:spcPct val="100000"/>
                        </a:lnSpc>
                        <a:spcBef>
                          <a:spcPts val="0"/>
                        </a:spcBef>
                        <a:spcAft>
                          <a:spcPts val="600"/>
                        </a:spcAft>
                      </a:pPr>
                      <a:r>
                        <a:rPr lang="zh-CN" sz="1200" b="0" kern="1200" dirty="0">
                          <a:solidFill>
                            <a:schemeClr val="tx1"/>
                          </a:solidFill>
                          <a:effectLst/>
                          <a:latin typeface="+mn-lt"/>
                          <a:ea typeface="+mn-ea"/>
                          <a:cs typeface="宋体"/>
                          <a:sym typeface="+mn-lt"/>
                        </a:rPr>
                        <a:t>反病毒</a:t>
                      </a:r>
                    </a:p>
                  </a:txBody>
                  <a:tcPr anchor="ctr">
                    <a:lnL w="28575" cap="flat" cmpd="sng" algn="ctr">
                      <a:solidFill>
                        <a:schemeClr val="tx1"/>
                      </a:solidFill>
                      <a:prstDash val="solid"/>
                      <a:round/>
                      <a:headEnd type="none" w="med" len="med"/>
                      <a:tailEnd type="none" w="med" len="med"/>
                    </a:lnL>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marL="0" algn="l" defTabSz="914034" rtl="0" eaLnBrk="1" latinLnBrk="0" hangingPunct="1">
                        <a:lnSpc>
                          <a:spcPct val="100000"/>
                        </a:lnSpc>
                        <a:spcBef>
                          <a:spcPts val="0"/>
                        </a:spcBef>
                        <a:spcAft>
                          <a:spcPts val="600"/>
                        </a:spcAft>
                      </a:pPr>
                      <a:r>
                        <a:rPr lang="zh-CN" sz="1200" b="0" kern="1200" dirty="0">
                          <a:solidFill>
                            <a:schemeClr val="tx1"/>
                          </a:solidFill>
                          <a:effectLst/>
                          <a:latin typeface="+mn-lt"/>
                          <a:ea typeface="+mn-ea"/>
                          <a:cs typeface="宋体"/>
                          <a:sym typeface="+mn-lt"/>
                        </a:rPr>
                        <a:t>反病毒特性可以对网络中传输的文件进行病毒检测和处理，避免由病毒引起的数据破坏、系统崩溃等情况发生，保证内部网络安全</a:t>
                      </a:r>
                      <a:r>
                        <a:rPr lang="zh-CN" altLang="en-US" sz="1200" b="0" kern="1200" dirty="0">
                          <a:solidFill>
                            <a:schemeClr val="tx1"/>
                          </a:solidFill>
                          <a:effectLst/>
                          <a:latin typeface="+mn-lt"/>
                          <a:ea typeface="+mn-ea"/>
                          <a:cs typeface="宋体"/>
                          <a:sym typeface="+mn-lt"/>
                        </a:rPr>
                        <a:t>。</a:t>
                      </a:r>
                      <a:endParaRPr lang="zh-CN" sz="1200" b="0" kern="1200" dirty="0">
                        <a:solidFill>
                          <a:schemeClr val="tx1"/>
                        </a:solidFill>
                        <a:effectLst/>
                        <a:latin typeface="+mn-lt"/>
                        <a:ea typeface="+mn-ea"/>
                        <a:cs typeface="宋体"/>
                        <a:sym typeface="+mn-lt"/>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416482">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marL="0" algn="ctr" defTabSz="914034" rtl="0" eaLnBrk="1" latinLnBrk="0" hangingPunct="1">
                        <a:lnSpc>
                          <a:spcPct val="100000"/>
                        </a:lnSpc>
                        <a:spcBef>
                          <a:spcPts val="0"/>
                        </a:spcBef>
                        <a:spcAft>
                          <a:spcPts val="600"/>
                        </a:spcAft>
                      </a:pPr>
                      <a:r>
                        <a:rPr lang="en-US" sz="1200" b="0" kern="1200" dirty="0">
                          <a:solidFill>
                            <a:schemeClr val="tx1"/>
                          </a:solidFill>
                          <a:effectLst/>
                          <a:latin typeface="+mn-lt"/>
                          <a:ea typeface="+mn-ea"/>
                          <a:cs typeface="宋体"/>
                          <a:sym typeface="+mn-lt"/>
                        </a:rPr>
                        <a:t>URL</a:t>
                      </a:r>
                      <a:r>
                        <a:rPr lang="zh-CN" sz="1200" b="0" kern="1200" dirty="0">
                          <a:solidFill>
                            <a:schemeClr val="tx1"/>
                          </a:solidFill>
                          <a:effectLst/>
                          <a:latin typeface="+mn-lt"/>
                          <a:ea typeface="+mn-ea"/>
                          <a:cs typeface="宋体"/>
                          <a:sym typeface="+mn-lt"/>
                        </a:rPr>
                        <a:t>过滤</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marL="0" algn="l" defTabSz="914034" rtl="0" eaLnBrk="1" latinLnBrk="0" hangingPunct="1">
                        <a:lnSpc>
                          <a:spcPct val="100000"/>
                        </a:lnSpc>
                        <a:spcBef>
                          <a:spcPts val="0"/>
                        </a:spcBef>
                        <a:spcAft>
                          <a:spcPts val="600"/>
                        </a:spcAft>
                      </a:pPr>
                      <a:r>
                        <a:rPr lang="en-US" sz="1200" b="0" kern="1200" dirty="0">
                          <a:solidFill>
                            <a:schemeClr val="tx1"/>
                          </a:solidFill>
                          <a:effectLst/>
                          <a:latin typeface="+mn-lt"/>
                          <a:ea typeface="+mn-ea"/>
                          <a:cs typeface="宋体"/>
                          <a:sym typeface="+mn-lt"/>
                        </a:rPr>
                        <a:t>URL</a:t>
                      </a:r>
                      <a:r>
                        <a:rPr lang="zh-CN" sz="1200" b="0" kern="1200" dirty="0">
                          <a:solidFill>
                            <a:schemeClr val="tx1"/>
                          </a:solidFill>
                          <a:effectLst/>
                          <a:latin typeface="+mn-lt"/>
                          <a:ea typeface="+mn-ea"/>
                          <a:cs typeface="宋体"/>
                          <a:sym typeface="+mn-lt"/>
                        </a:rPr>
                        <a:t>过滤可以对用户的</a:t>
                      </a:r>
                      <a:r>
                        <a:rPr lang="en-US" sz="1200" b="0" kern="1200" dirty="0">
                          <a:solidFill>
                            <a:schemeClr val="tx1"/>
                          </a:solidFill>
                          <a:effectLst/>
                          <a:latin typeface="+mn-lt"/>
                          <a:ea typeface="+mn-ea"/>
                          <a:cs typeface="宋体"/>
                          <a:sym typeface="+mn-lt"/>
                        </a:rPr>
                        <a:t>URL</a:t>
                      </a:r>
                      <a:r>
                        <a:rPr lang="zh-CN" sz="1200" b="0" kern="1200" dirty="0">
                          <a:solidFill>
                            <a:schemeClr val="tx1"/>
                          </a:solidFill>
                          <a:effectLst/>
                          <a:latin typeface="+mn-lt"/>
                          <a:ea typeface="+mn-ea"/>
                          <a:cs typeface="宋体"/>
                          <a:sym typeface="+mn-lt"/>
                        </a:rPr>
                        <a:t>请求进行访问控制，允许或者禁止用户访问某些网页资源，达到规范上网行为的目的</a:t>
                      </a:r>
                      <a:r>
                        <a:rPr lang="zh-CN" altLang="en-US" sz="1200" b="0" kern="1200" dirty="0">
                          <a:solidFill>
                            <a:schemeClr val="tx1"/>
                          </a:solidFill>
                          <a:effectLst/>
                          <a:latin typeface="+mn-lt"/>
                          <a:ea typeface="+mn-ea"/>
                          <a:cs typeface="宋体"/>
                          <a:sym typeface="+mn-lt"/>
                        </a:rPr>
                        <a:t>。</a:t>
                      </a:r>
                      <a:endParaRPr lang="zh-CN" sz="1200" b="0" kern="1200" dirty="0">
                        <a:solidFill>
                          <a:schemeClr val="tx1"/>
                        </a:solidFill>
                        <a:effectLst/>
                        <a:latin typeface="+mn-lt"/>
                        <a:ea typeface="+mn-ea"/>
                        <a:cs typeface="宋体"/>
                        <a:sym typeface="+mn-lt"/>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文本占位符 4"/>
          <p:cNvSpPr txBox="1">
            <a:spLocks/>
          </p:cNvSpPr>
          <p:nvPr/>
        </p:nvSpPr>
        <p:spPr bwMode="auto">
          <a:xfrm>
            <a:off x="5659588" y="3542095"/>
            <a:ext cx="4119462" cy="47284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安全防护功能：</a:t>
            </a:r>
          </a:p>
        </p:txBody>
      </p:sp>
      <p:sp>
        <p:nvSpPr>
          <p:cNvPr id="10" name="五边形 9"/>
          <p:cNvSpPr/>
          <p:nvPr/>
        </p:nvSpPr>
        <p:spPr bwMode="gray">
          <a:xfrm>
            <a:off x="967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11" name="燕尾形 10"/>
          <p:cNvSpPr/>
          <p:nvPr/>
        </p:nvSpPr>
        <p:spPr bwMode="gray">
          <a:xfrm>
            <a:off x="10669087" y="114957"/>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1226555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有线网络安全设计</a:t>
            </a:r>
          </a:p>
        </p:txBody>
      </p:sp>
      <p:graphicFrame>
        <p:nvGraphicFramePr>
          <p:cNvPr id="3" name="内容占位符 3"/>
          <p:cNvGraphicFramePr>
            <a:graphicFrameLocks/>
          </p:cNvGraphicFramePr>
          <p:nvPr>
            <p:extLst>
              <p:ext uri="{D42A27DB-BD31-4B8C-83A1-F6EECF244321}">
                <p14:modId xmlns:p14="http://schemas.microsoft.com/office/powerpoint/2010/main" val="2034026935"/>
              </p:ext>
            </p:extLst>
          </p:nvPr>
        </p:nvGraphicFramePr>
        <p:xfrm>
          <a:off x="2606397" y="1435736"/>
          <a:ext cx="6979206" cy="2468880"/>
        </p:xfrm>
        <a:graphic>
          <a:graphicData uri="http://schemas.openxmlformats.org/drawingml/2006/table">
            <a:tbl>
              <a:tblPr firstRow="1" bandRow="1">
                <a:tableStyleId>{2D5ABB26-0587-4C30-8999-92F81FD0307C}</a:tableStyleId>
              </a:tblPr>
              <a:tblGrid>
                <a:gridCol w="2899090">
                  <a:extLst>
                    <a:ext uri="{9D8B030D-6E8A-4147-A177-3AD203B41FA5}">
                      <a16:colId xmlns:a16="http://schemas.microsoft.com/office/drawing/2014/main" val="20000"/>
                    </a:ext>
                  </a:extLst>
                </a:gridCol>
                <a:gridCol w="4080116">
                  <a:extLst>
                    <a:ext uri="{9D8B030D-6E8A-4147-A177-3AD203B41FA5}">
                      <a16:colId xmlns:a16="http://schemas.microsoft.com/office/drawing/2014/main" val="20001"/>
                    </a:ext>
                  </a:extLst>
                </a:gridCol>
              </a:tblGrid>
              <a:tr h="0">
                <a:tc>
                  <a:txBody>
                    <a:bodyPr/>
                    <a:lstStyle/>
                    <a:p>
                      <a:pPr algn="ctr"/>
                      <a:r>
                        <a:rPr lang="zh-CN" altLang="en-US" sz="1200" b="1" dirty="0">
                          <a:sym typeface="+mn-lt"/>
                        </a:rPr>
                        <a:t>安全风险</a:t>
                      </a:r>
                      <a:endParaRPr lang="zh-CN" altLang="en-US" sz="1200" b="1" dirty="0">
                        <a:solidFill>
                          <a:srgbClr val="ED6D00"/>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ym typeface="+mn-lt"/>
                        </a:rPr>
                        <a:t>安全防范措施</a:t>
                      </a:r>
                      <a:endParaRPr lang="zh-CN" altLang="en-US" sz="1200" b="1" dirty="0">
                        <a:solidFill>
                          <a:srgbClr val="ED6D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marL="0" algn="ctr" defTabSz="914034" rtl="0" eaLnBrk="1" latinLnBrk="0" hangingPunct="1">
                        <a:lnSpc>
                          <a:spcPct val="100000"/>
                        </a:lnSpc>
                        <a:spcAft>
                          <a:spcPts val="0"/>
                        </a:spcAft>
                      </a:pPr>
                      <a:r>
                        <a:rPr lang="zh-CN" altLang="zh-CN" sz="1200" kern="1200" dirty="0">
                          <a:solidFill>
                            <a:schemeClr val="tx1"/>
                          </a:solidFill>
                          <a:effectLst/>
                          <a:latin typeface="+mn-lt"/>
                          <a:ea typeface="+mn-ea"/>
                          <a:cs typeface="+mn-cs"/>
                          <a:sym typeface="+mn-lt"/>
                        </a:rPr>
                        <a:t>广播风暴</a:t>
                      </a:r>
                      <a:endParaRPr lang="zh-CN" altLang="en-US" sz="1200" kern="1200" dirty="0">
                        <a:solidFill>
                          <a:schemeClr val="tx1"/>
                        </a:solidFill>
                        <a:effectLst/>
                        <a:latin typeface="+mn-lt"/>
                        <a:ea typeface="+mn-ea"/>
                        <a:cs typeface="+mn-cs"/>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ct val="100000"/>
                        </a:lnSpc>
                        <a:spcAft>
                          <a:spcPts val="0"/>
                        </a:spcAft>
                      </a:pPr>
                      <a:r>
                        <a:rPr lang="zh-CN" altLang="zh-CN" sz="1200" kern="1200" dirty="0">
                          <a:solidFill>
                            <a:schemeClr val="tx1"/>
                          </a:solidFill>
                          <a:effectLst/>
                          <a:latin typeface="+mn-lt"/>
                          <a:ea typeface="+mn-ea"/>
                          <a:cs typeface="+mn-cs"/>
                          <a:sym typeface="+mn-lt"/>
                        </a:rPr>
                        <a:t>开启</a:t>
                      </a:r>
                      <a:r>
                        <a:rPr lang="zh-CN" altLang="en-US" sz="1200" kern="1200" dirty="0">
                          <a:solidFill>
                            <a:schemeClr val="tx1"/>
                          </a:solidFill>
                          <a:effectLst/>
                          <a:latin typeface="+mn-lt"/>
                          <a:ea typeface="+mn-ea"/>
                          <a:cs typeface="+mn-cs"/>
                          <a:sym typeface="+mn-lt"/>
                        </a:rPr>
                        <a:t>流量抑制和</a:t>
                      </a:r>
                      <a:r>
                        <a:rPr lang="zh-CN" altLang="zh-CN" sz="1200" kern="1200" dirty="0">
                          <a:solidFill>
                            <a:schemeClr val="tx1"/>
                          </a:solidFill>
                          <a:effectLst/>
                          <a:latin typeface="+mn-lt"/>
                          <a:ea typeface="+mn-ea"/>
                          <a:cs typeface="+mn-cs"/>
                          <a:sym typeface="+mn-lt"/>
                        </a:rPr>
                        <a:t>风暴控制</a:t>
                      </a:r>
                      <a:endParaRPr lang="zh-CN" altLang="en-US" sz="1200" kern="1200" dirty="0">
                        <a:solidFill>
                          <a:schemeClr val="tx1"/>
                        </a:solidFill>
                        <a:effectLst/>
                        <a:latin typeface="+mn-lt"/>
                        <a:ea typeface="+mn-ea"/>
                        <a:cs typeface="+mn-cs"/>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algn="ctr" defTabSz="914034" rtl="0" eaLnBrk="1" latinLnBrk="0" hangingPunct="1">
                        <a:lnSpc>
                          <a:spcPct val="100000"/>
                        </a:lnSpc>
                        <a:spcAft>
                          <a:spcPts val="0"/>
                        </a:spcAft>
                      </a:pPr>
                      <a:r>
                        <a:rPr lang="zh-CN" altLang="en-US" sz="1200" kern="1200" dirty="0">
                          <a:solidFill>
                            <a:schemeClr val="tx1"/>
                          </a:solidFill>
                          <a:effectLst/>
                          <a:latin typeface="+mn-lt"/>
                          <a:ea typeface="+mn-ea"/>
                          <a:cs typeface="+mn-cs"/>
                          <a:sym typeface="+mn-lt"/>
                        </a:rPr>
                        <a:t>针对</a:t>
                      </a:r>
                      <a:r>
                        <a:rPr lang="en-US" altLang="zh-CN" sz="1200" kern="1200" dirty="0">
                          <a:solidFill>
                            <a:schemeClr val="tx1"/>
                          </a:solidFill>
                          <a:effectLst/>
                          <a:latin typeface="+mn-lt"/>
                          <a:ea typeface="+mn-ea"/>
                          <a:cs typeface="+mn-cs"/>
                          <a:sym typeface="+mn-lt"/>
                        </a:rPr>
                        <a:t>DHCP</a:t>
                      </a:r>
                      <a:r>
                        <a:rPr lang="zh-CN" altLang="en-US" sz="1200" kern="1200" dirty="0">
                          <a:solidFill>
                            <a:schemeClr val="tx1"/>
                          </a:solidFill>
                          <a:effectLst/>
                          <a:latin typeface="+mn-lt"/>
                          <a:ea typeface="+mn-ea"/>
                          <a:cs typeface="+mn-cs"/>
                          <a:sym typeface="+mn-lt"/>
                        </a:rPr>
                        <a:t>的攻击</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ct val="100000"/>
                        </a:lnSpc>
                        <a:spcAft>
                          <a:spcPts val="0"/>
                        </a:spcAft>
                      </a:pPr>
                      <a:r>
                        <a:rPr lang="zh-CN" altLang="en-US" sz="1200" kern="1200" dirty="0">
                          <a:solidFill>
                            <a:schemeClr val="tx1"/>
                          </a:solidFill>
                          <a:effectLst/>
                          <a:latin typeface="+mn-lt"/>
                          <a:ea typeface="+mn-ea"/>
                          <a:cs typeface="+mn-cs"/>
                          <a:sym typeface="+mn-lt"/>
                        </a:rPr>
                        <a:t>开启</a:t>
                      </a:r>
                      <a:r>
                        <a:rPr lang="en-US" altLang="zh-CN" sz="1200" kern="1200" dirty="0">
                          <a:solidFill>
                            <a:schemeClr val="tx1"/>
                          </a:solidFill>
                          <a:effectLst/>
                          <a:latin typeface="+mn-lt"/>
                          <a:ea typeface="+mn-ea"/>
                          <a:cs typeface="+mn-cs"/>
                          <a:sym typeface="+mn-lt"/>
                        </a:rPr>
                        <a:t>DHCP Snooping</a:t>
                      </a:r>
                      <a:r>
                        <a:rPr lang="zh-CN" altLang="en-US" sz="1200" kern="1200" dirty="0">
                          <a:solidFill>
                            <a:schemeClr val="tx1"/>
                          </a:solidFill>
                          <a:effectLst/>
                          <a:latin typeface="+mn-lt"/>
                          <a:ea typeface="+mn-ea"/>
                          <a:cs typeface="+mn-cs"/>
                          <a:sym typeface="+mn-lt"/>
                        </a:rPr>
                        <a:t>，上行口配置成</a:t>
                      </a:r>
                      <a:r>
                        <a:rPr lang="en-US" altLang="zh-CN" sz="1200" kern="1200" dirty="0">
                          <a:solidFill>
                            <a:schemeClr val="tx1"/>
                          </a:solidFill>
                          <a:effectLst/>
                          <a:latin typeface="+mn-lt"/>
                          <a:ea typeface="+mn-ea"/>
                          <a:cs typeface="+mn-cs"/>
                          <a:sym typeface="+mn-lt"/>
                        </a:rPr>
                        <a:t>trust</a:t>
                      </a:r>
                      <a:endParaRPr lang="zh-CN" altLang="en-US" sz="1200" kern="1200" dirty="0">
                        <a:solidFill>
                          <a:schemeClr val="tx1"/>
                        </a:solidFill>
                        <a:effectLst/>
                        <a:latin typeface="+mn-lt"/>
                        <a:ea typeface="+mn-ea"/>
                        <a:cs typeface="+mn-cs"/>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algn="ctr" defTabSz="914034" rtl="0" eaLnBrk="1" latinLnBrk="0" hangingPunct="1">
                        <a:lnSpc>
                          <a:spcPct val="100000"/>
                        </a:lnSpc>
                        <a:spcAft>
                          <a:spcPts val="0"/>
                        </a:spcAft>
                      </a:pPr>
                      <a:r>
                        <a:rPr lang="zh-CN" altLang="en-US" sz="1200" kern="1200" dirty="0">
                          <a:solidFill>
                            <a:schemeClr val="tx1"/>
                          </a:solidFill>
                          <a:effectLst/>
                          <a:latin typeface="+mn-lt"/>
                          <a:ea typeface="+mn-ea"/>
                          <a:cs typeface="+mn-cs"/>
                          <a:sym typeface="+mn-lt"/>
                        </a:rPr>
                        <a:t>仿冒合法用户</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ct val="100000"/>
                        </a:lnSpc>
                        <a:spcAft>
                          <a:spcPts val="0"/>
                        </a:spcAft>
                      </a:pPr>
                      <a:r>
                        <a:rPr lang="zh-CN" altLang="en-US" sz="1200" kern="1200" dirty="0">
                          <a:solidFill>
                            <a:schemeClr val="tx1"/>
                          </a:solidFill>
                          <a:effectLst/>
                          <a:latin typeface="+mn-lt"/>
                          <a:ea typeface="+mn-ea"/>
                          <a:cs typeface="+mn-cs"/>
                          <a:sym typeface="+mn-lt"/>
                        </a:rPr>
                        <a:t>开启</a:t>
                      </a:r>
                      <a:r>
                        <a:rPr lang="en-US" altLang="zh-CN" sz="1200" kern="1200" dirty="0">
                          <a:solidFill>
                            <a:schemeClr val="tx1"/>
                          </a:solidFill>
                          <a:effectLst/>
                          <a:latin typeface="+mn-lt"/>
                          <a:ea typeface="+mn-ea"/>
                          <a:cs typeface="+mn-cs"/>
                          <a:sym typeface="+mn-lt"/>
                        </a:rPr>
                        <a:t>IPSG</a:t>
                      </a:r>
                      <a:r>
                        <a:rPr lang="zh-CN" altLang="en-US" sz="1200" kern="1200" dirty="0">
                          <a:solidFill>
                            <a:schemeClr val="tx1"/>
                          </a:solidFill>
                          <a:effectLst/>
                          <a:latin typeface="+mn-lt"/>
                          <a:ea typeface="+mn-ea"/>
                          <a:cs typeface="+mn-cs"/>
                          <a:sym typeface="+mn-lt"/>
                        </a:rPr>
                        <a:t>和</a:t>
                      </a:r>
                      <a:r>
                        <a:rPr lang="en-US" altLang="zh-CN" sz="1200" kern="1200" dirty="0">
                          <a:solidFill>
                            <a:schemeClr val="tx1"/>
                          </a:solidFill>
                          <a:effectLst/>
                          <a:latin typeface="+mn-lt"/>
                          <a:ea typeface="+mn-ea"/>
                          <a:cs typeface="+mn-cs"/>
                          <a:sym typeface="+mn-lt"/>
                        </a:rPr>
                        <a:t>DAI</a:t>
                      </a:r>
                      <a:endParaRPr lang="zh-CN" altLang="en-US" sz="1200" kern="1200" dirty="0">
                        <a:solidFill>
                          <a:schemeClr val="tx1"/>
                        </a:solidFill>
                        <a:effectLst/>
                        <a:latin typeface="+mn-lt"/>
                        <a:ea typeface="+mn-ea"/>
                        <a:cs typeface="+mn-cs"/>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algn="ctr" defTabSz="914034" rtl="0" eaLnBrk="1" latinLnBrk="0" hangingPunct="1">
                        <a:lnSpc>
                          <a:spcPct val="100000"/>
                        </a:lnSpc>
                        <a:spcAft>
                          <a:spcPts val="0"/>
                        </a:spcAft>
                      </a:pPr>
                      <a:r>
                        <a:rPr lang="zh-CN" altLang="en-US" sz="1200" kern="1200" dirty="0">
                          <a:solidFill>
                            <a:schemeClr val="tx1"/>
                          </a:solidFill>
                          <a:effectLst/>
                          <a:latin typeface="+mn-lt"/>
                          <a:ea typeface="+mn-ea"/>
                          <a:cs typeface="+mn-cs"/>
                          <a:sym typeface="+mn-lt"/>
                        </a:rPr>
                        <a:t>用户互访风险</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sym typeface="+mn-lt"/>
                        </a:rPr>
                        <a:t>开启端口隔离</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algn="ctr" defTabSz="914034" rtl="0" eaLnBrk="1" latinLnBrk="0" hangingPunct="1">
                        <a:lnSpc>
                          <a:spcPct val="100000"/>
                        </a:lnSpc>
                        <a:spcAft>
                          <a:spcPts val="0"/>
                        </a:spcAft>
                      </a:pPr>
                      <a:r>
                        <a:rPr lang="en-US" altLang="zh-CN" sz="1200" kern="1200" dirty="0">
                          <a:solidFill>
                            <a:schemeClr val="tx1"/>
                          </a:solidFill>
                          <a:effectLst/>
                          <a:latin typeface="+mn-lt"/>
                          <a:ea typeface="+mn-ea"/>
                          <a:cs typeface="+mn-cs"/>
                          <a:sym typeface="Huawei Sans" panose="020C0503030203020204" pitchFamily="34" charset="0"/>
                        </a:rPr>
                        <a:t>CPU</a:t>
                      </a:r>
                      <a:r>
                        <a:rPr lang="zh-CN" altLang="en-US" sz="1200" kern="1200" dirty="0">
                          <a:solidFill>
                            <a:schemeClr val="tx1"/>
                          </a:solidFill>
                          <a:effectLst/>
                          <a:latin typeface="+mn-lt"/>
                          <a:ea typeface="+mn-ea"/>
                          <a:cs typeface="+mn-cs"/>
                          <a:sym typeface="Huawei Sans" panose="020C0503030203020204" pitchFamily="34" charset="0"/>
                        </a:rPr>
                        <a:t>攻击</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ct val="100000"/>
                        </a:lnSpc>
                        <a:spcAft>
                          <a:spcPts val="0"/>
                        </a:spcAft>
                      </a:pPr>
                      <a:r>
                        <a:rPr lang="zh-CN" altLang="zh-CN" sz="1200" kern="1200" dirty="0">
                          <a:solidFill>
                            <a:schemeClr val="tx1"/>
                          </a:solidFill>
                          <a:effectLst/>
                          <a:latin typeface="+mn-lt"/>
                          <a:ea typeface="+mn-ea"/>
                          <a:cs typeface="+mn-cs"/>
                          <a:sym typeface="Huawei Sans" panose="020C0503030203020204" pitchFamily="34" charset="0"/>
                        </a:rPr>
                        <a:t>开启</a:t>
                      </a:r>
                      <a:r>
                        <a:rPr lang="en-US" altLang="zh-CN" sz="1200" kern="1200" dirty="0">
                          <a:solidFill>
                            <a:schemeClr val="tx1"/>
                          </a:solidFill>
                          <a:effectLst/>
                          <a:latin typeface="+mn-lt"/>
                          <a:ea typeface="+mn-ea"/>
                          <a:cs typeface="+mn-cs"/>
                          <a:sym typeface="Huawei Sans" panose="020C0503030203020204" pitchFamily="34" charset="0"/>
                        </a:rPr>
                        <a:t>CPU</a:t>
                      </a:r>
                      <a:r>
                        <a:rPr lang="zh-CN" altLang="en-US" sz="1200" kern="1200" dirty="0">
                          <a:solidFill>
                            <a:schemeClr val="tx1"/>
                          </a:solidFill>
                          <a:effectLst/>
                          <a:latin typeface="+mn-lt"/>
                          <a:ea typeface="+mn-ea"/>
                          <a:cs typeface="+mn-cs"/>
                          <a:sym typeface="Huawei Sans" panose="020C0503030203020204" pitchFamily="34" charset="0"/>
                        </a:rPr>
                        <a:t>防攻击</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rowSpan="3">
                  <a:txBody>
                    <a:bodyPr/>
                    <a:lstStyle/>
                    <a:p>
                      <a:pPr marL="0" algn="ctr" defTabSz="914034" rtl="0" eaLnBrk="1" latinLnBrk="0" hangingPunct="1">
                        <a:lnSpc>
                          <a:spcPct val="100000"/>
                        </a:lnSpc>
                        <a:spcAft>
                          <a:spcPts val="0"/>
                        </a:spcAft>
                      </a:pPr>
                      <a:r>
                        <a:rPr lang="en-US" altLang="zh-CN" sz="1200" kern="1200" dirty="0" err="1">
                          <a:solidFill>
                            <a:schemeClr val="tx1"/>
                          </a:solidFill>
                          <a:effectLst/>
                          <a:latin typeface="+mn-lt"/>
                          <a:ea typeface="+mn-ea"/>
                          <a:cs typeface="+mn-cs"/>
                          <a:sym typeface="Huawei Sans" panose="020C0503030203020204" pitchFamily="34" charset="0"/>
                        </a:rPr>
                        <a:t>DoS</a:t>
                      </a:r>
                      <a:r>
                        <a:rPr lang="zh-CN" altLang="en-US" sz="1200" kern="1200" dirty="0">
                          <a:solidFill>
                            <a:schemeClr val="tx1"/>
                          </a:solidFill>
                          <a:effectLst/>
                          <a:latin typeface="+mn-lt"/>
                          <a:ea typeface="+mn-ea"/>
                          <a:cs typeface="+mn-cs"/>
                          <a:sym typeface="Huawei Sans" panose="020C0503030203020204" pitchFamily="34" charset="0"/>
                        </a:rPr>
                        <a:t>攻击</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ct val="100000"/>
                        </a:lnSpc>
                        <a:spcAft>
                          <a:spcPts val="0"/>
                        </a:spcAft>
                      </a:pPr>
                      <a:r>
                        <a:rPr lang="zh-CN" altLang="en-US" sz="1200" kern="1200" dirty="0">
                          <a:solidFill>
                            <a:schemeClr val="tx1"/>
                          </a:solidFill>
                          <a:effectLst/>
                          <a:latin typeface="+mn-lt"/>
                          <a:ea typeface="+mn-ea"/>
                          <a:cs typeface="+mn-cs"/>
                          <a:sym typeface="Huawei Sans" panose="020C0503030203020204" pitchFamily="34" charset="0"/>
                        </a:rPr>
                        <a:t>开启攻击溯源</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vMerge="1">
                  <a:txBody>
                    <a:bodyPr/>
                    <a:lstStyle/>
                    <a:p>
                      <a:pPr algn="ctr">
                        <a:lnSpc>
                          <a:spcPts val="2000"/>
                        </a:lnSpc>
                      </a:pP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ct val="100000"/>
                        </a:lnSpc>
                        <a:spcAft>
                          <a:spcPts val="0"/>
                        </a:spcAft>
                      </a:pPr>
                      <a:r>
                        <a:rPr lang="zh-CN" altLang="en-US" sz="1200" kern="1200" dirty="0">
                          <a:solidFill>
                            <a:schemeClr val="tx1"/>
                          </a:solidFill>
                          <a:effectLst/>
                          <a:latin typeface="+mn-lt"/>
                          <a:ea typeface="+mn-ea"/>
                          <a:cs typeface="+mn-cs"/>
                          <a:sym typeface="Huawei Sans" panose="020C0503030203020204" pitchFamily="34" charset="0"/>
                        </a:rPr>
                        <a:t>开启端口防攻击</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vMerge="1">
                  <a:txBody>
                    <a:bodyPr/>
                    <a:lstStyle/>
                    <a:p>
                      <a:pPr algn="ctr">
                        <a:lnSpc>
                          <a:spcPts val="2000"/>
                        </a:lnSpc>
                      </a:pP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sym typeface="Huawei Sans" panose="020C0503030203020204" pitchFamily="34" charset="0"/>
                        </a:rPr>
                        <a:t>开启用户级限速</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五边形 3"/>
          <p:cNvSpPr/>
          <p:nvPr/>
        </p:nvSpPr>
        <p:spPr bwMode="gray">
          <a:xfrm>
            <a:off x="967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5" name="燕尾形 4"/>
          <p:cNvSpPr/>
          <p:nvPr/>
        </p:nvSpPr>
        <p:spPr bwMode="gray">
          <a:xfrm>
            <a:off x="10669087" y="114957"/>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705475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2128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cs typeface="+mn-ea"/>
                <a:sym typeface="+mn-lt"/>
              </a:rPr>
              <a:t>无线网络安全设计概述</a:t>
            </a:r>
            <a:endParaRPr lang="zh-CN" altLang="en-US" dirty="0"/>
          </a:p>
        </p:txBody>
      </p:sp>
      <p:sp>
        <p:nvSpPr>
          <p:cNvPr id="3" name="文本占位符 2"/>
          <p:cNvSpPr>
            <a:spLocks noGrp="1"/>
          </p:cNvSpPr>
          <p:nvPr>
            <p:ph type="body" sz="quarter" idx="10"/>
          </p:nvPr>
        </p:nvSpPr>
        <p:spPr>
          <a:xfrm>
            <a:off x="455613" y="1047750"/>
            <a:ext cx="11256962" cy="1570322"/>
          </a:xfrm>
        </p:spPr>
        <p:txBody>
          <a:bodyPr/>
          <a:lstStyle/>
          <a:p>
            <a:pPr lvl="0" algn="just" fontAlgn="auto"/>
            <a:r>
              <a:rPr lang="en-US" altLang="zh-CN" sz="1600" dirty="0">
                <a:solidFill>
                  <a:prstClr val="black"/>
                </a:solidFill>
              </a:rPr>
              <a:t>WLAN</a:t>
            </a:r>
            <a:r>
              <a:rPr lang="zh-CN" altLang="en-US" sz="1600" dirty="0">
                <a:solidFill>
                  <a:prstClr val="black"/>
                </a:solidFill>
              </a:rPr>
              <a:t>技术是以无线射频信号作为业务数据的传输介质，这种开放的信道使攻击者很容易对无线信道中传输的业务数据进行窃听和篡改，如非法无线用户、仿冒</a:t>
            </a:r>
            <a:r>
              <a:rPr lang="en-US" altLang="zh-CN" sz="1600" dirty="0">
                <a:solidFill>
                  <a:prstClr val="black"/>
                </a:solidFill>
              </a:rPr>
              <a:t>AP</a:t>
            </a:r>
            <a:r>
              <a:rPr lang="zh-CN" altLang="en-US" sz="1600" dirty="0">
                <a:solidFill>
                  <a:prstClr val="black"/>
                </a:solidFill>
              </a:rPr>
              <a:t>的欺骗、恶意终端的拒绝服务型攻击等。</a:t>
            </a:r>
          </a:p>
          <a:p>
            <a:pPr lvl="0" algn="just" fontAlgn="auto"/>
            <a:r>
              <a:rPr lang="zh-CN" altLang="en-US" sz="1600" dirty="0">
                <a:solidFill>
                  <a:prstClr val="black"/>
                </a:solidFill>
              </a:rPr>
              <a:t>无线网络除了面临跟有线网络一样安全的风险外，还面临无线空口上的安全风险，在此，无线网络的安全风险主要考虑无线空口侧的安全。</a:t>
            </a:r>
          </a:p>
        </p:txBody>
      </p:sp>
      <p:sp>
        <p:nvSpPr>
          <p:cNvPr id="4" name="文本占位符 2"/>
          <p:cNvSpPr txBox="1">
            <a:spLocks/>
          </p:cNvSpPr>
          <p:nvPr/>
        </p:nvSpPr>
        <p:spPr bwMode="auto">
          <a:xfrm>
            <a:off x="6095999" y="2732372"/>
            <a:ext cx="5616575" cy="331309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dirty="0">
                <a:solidFill>
                  <a:prstClr val="black"/>
                </a:solidFill>
              </a:rPr>
              <a:t>WLAN</a:t>
            </a:r>
            <a:r>
              <a:rPr lang="zh-CN" altLang="en-US" sz="1600" dirty="0">
                <a:solidFill>
                  <a:prstClr val="black"/>
                </a:solidFill>
              </a:rPr>
              <a:t>安全设计主要包括以下方面：</a:t>
            </a:r>
          </a:p>
          <a:p>
            <a:pPr lvl="1"/>
            <a:r>
              <a:rPr lang="zh-CN" altLang="en-US" sz="1600" dirty="0">
                <a:solidFill>
                  <a:prstClr val="black"/>
                </a:solidFill>
              </a:rPr>
              <a:t>空口安全：如非法</a:t>
            </a:r>
            <a:r>
              <a:rPr lang="en-US" altLang="zh-CN" sz="1600" dirty="0">
                <a:solidFill>
                  <a:prstClr val="black"/>
                </a:solidFill>
              </a:rPr>
              <a:t>AP</a:t>
            </a:r>
            <a:r>
              <a:rPr lang="zh-CN" altLang="en-US" sz="1600" dirty="0">
                <a:solidFill>
                  <a:prstClr val="black"/>
                </a:solidFill>
              </a:rPr>
              <a:t>、非法终端、非法</a:t>
            </a:r>
            <a:r>
              <a:rPr lang="en-US" altLang="zh-CN" sz="1600" dirty="0">
                <a:solidFill>
                  <a:prstClr val="black"/>
                </a:solidFill>
              </a:rPr>
              <a:t>Ad-Hoc</a:t>
            </a:r>
            <a:r>
              <a:rPr lang="zh-CN" altLang="en-US" sz="1600" dirty="0">
                <a:solidFill>
                  <a:prstClr val="black"/>
                </a:solidFill>
              </a:rPr>
              <a:t>网络与拒绝服务型攻击等识别与防护。</a:t>
            </a:r>
          </a:p>
          <a:p>
            <a:pPr lvl="1"/>
            <a:r>
              <a:rPr lang="zh-CN" altLang="en-US" sz="1600" dirty="0">
                <a:solidFill>
                  <a:prstClr val="black"/>
                </a:solidFill>
              </a:rPr>
              <a:t>终端接入安全：确保用户接入无线网络的合法性和安全性。</a:t>
            </a:r>
          </a:p>
          <a:p>
            <a:pPr lvl="1"/>
            <a:r>
              <a:rPr lang="zh-CN" altLang="en-US" sz="1600" dirty="0">
                <a:solidFill>
                  <a:prstClr val="black"/>
                </a:solidFill>
              </a:rPr>
              <a:t>业务安全：保证用户的业务数据在传输过程中的安全性，避免合法用户的业务数据在传输过程中被非法捕获。</a:t>
            </a:r>
          </a:p>
        </p:txBody>
      </p:sp>
      <p:cxnSp>
        <p:nvCxnSpPr>
          <p:cNvPr id="5" name="直接连接符 4"/>
          <p:cNvCxnSpPr>
            <a:stCxn id="41" idx="2"/>
          </p:cNvCxnSpPr>
          <p:nvPr/>
        </p:nvCxnSpPr>
        <p:spPr bwMode="gray">
          <a:xfrm flipH="1">
            <a:off x="3999833" y="5019197"/>
            <a:ext cx="323" cy="21251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7" name="图片 87" descr="汇聚交换机.png"/>
          <p:cNvPicPr>
            <a:picLocks noChangeAspect="1"/>
          </p:cNvPicPr>
          <p:nvPr/>
        </p:nvPicPr>
        <p:blipFill>
          <a:blip r:embed="rId3"/>
          <a:stretch>
            <a:fillRect/>
          </a:stretch>
        </p:blipFill>
        <p:spPr bwMode="gray">
          <a:xfrm>
            <a:off x="2554161" y="4145114"/>
            <a:ext cx="369473" cy="302297"/>
          </a:xfrm>
          <a:prstGeom prst="rect">
            <a:avLst/>
          </a:prstGeom>
        </p:spPr>
      </p:pic>
      <p:pic>
        <p:nvPicPr>
          <p:cNvPr id="8" name="图片 76" descr="接入交换机.png"/>
          <p:cNvPicPr>
            <a:picLocks noChangeAspect="1"/>
          </p:cNvPicPr>
          <p:nvPr/>
        </p:nvPicPr>
        <p:blipFill>
          <a:blip r:embed="rId4"/>
          <a:stretch>
            <a:fillRect/>
          </a:stretch>
        </p:blipFill>
        <p:spPr bwMode="gray">
          <a:xfrm>
            <a:off x="1866908" y="4716900"/>
            <a:ext cx="369473" cy="302297"/>
          </a:xfrm>
          <a:prstGeom prst="rect">
            <a:avLst/>
          </a:prstGeom>
        </p:spPr>
      </p:pic>
      <p:pic>
        <p:nvPicPr>
          <p:cNvPr id="9" name="Picture 2" descr="G:\做的项目\公共\扁平图标切换\更新2015_01_21\oss扁平图标库2015_01_21更新-04.png"/>
          <p:cNvPicPr>
            <a:picLocks noChangeAspect="1" noChangeArrowheads="1"/>
          </p:cNvPicPr>
          <p:nvPr/>
        </p:nvPicPr>
        <p:blipFill>
          <a:blip r:embed="rId5"/>
          <a:stretch>
            <a:fillRect/>
          </a:stretch>
        </p:blipFill>
        <p:spPr bwMode="gray">
          <a:xfrm>
            <a:off x="2813468" y="2436424"/>
            <a:ext cx="369473" cy="302297"/>
          </a:xfrm>
          <a:prstGeom prst="rect">
            <a:avLst/>
          </a:prstGeom>
          <a:noFill/>
        </p:spPr>
      </p:pic>
      <p:pic>
        <p:nvPicPr>
          <p:cNvPr id="10" name="图片 86" descr="核心交换机.png"/>
          <p:cNvPicPr>
            <a:picLocks noChangeAspect="1"/>
          </p:cNvPicPr>
          <p:nvPr/>
        </p:nvPicPr>
        <p:blipFill>
          <a:blip r:embed="rId6"/>
          <a:stretch>
            <a:fillRect/>
          </a:stretch>
        </p:blipFill>
        <p:spPr bwMode="gray">
          <a:xfrm>
            <a:off x="2813468" y="3556089"/>
            <a:ext cx="369473" cy="302297"/>
          </a:xfrm>
          <a:prstGeom prst="rect">
            <a:avLst/>
          </a:prstGeom>
        </p:spPr>
      </p:pic>
      <p:pic>
        <p:nvPicPr>
          <p:cNvPr id="11" name="图片 86" descr="核心交换机.png"/>
          <p:cNvPicPr>
            <a:picLocks noChangeAspect="1"/>
          </p:cNvPicPr>
          <p:nvPr/>
        </p:nvPicPr>
        <p:blipFill>
          <a:blip r:embed="rId6"/>
          <a:stretch>
            <a:fillRect/>
          </a:stretch>
        </p:blipFill>
        <p:spPr bwMode="gray">
          <a:xfrm>
            <a:off x="3504305" y="3556089"/>
            <a:ext cx="369473" cy="302297"/>
          </a:xfrm>
          <a:prstGeom prst="rect">
            <a:avLst/>
          </a:prstGeom>
        </p:spPr>
      </p:pic>
      <p:cxnSp>
        <p:nvCxnSpPr>
          <p:cNvPr id="12" name="直接连接符 11"/>
          <p:cNvCxnSpPr>
            <a:stCxn id="10" idx="3"/>
            <a:endCxn id="11" idx="1"/>
          </p:cNvCxnSpPr>
          <p:nvPr/>
        </p:nvCxnSpPr>
        <p:spPr bwMode="gray">
          <a:xfrm>
            <a:off x="3182941" y="3707238"/>
            <a:ext cx="321364"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13" name="图片 87" descr="汇聚交换机.png"/>
          <p:cNvPicPr>
            <a:picLocks noChangeAspect="1"/>
          </p:cNvPicPr>
          <p:nvPr/>
        </p:nvPicPr>
        <p:blipFill>
          <a:blip r:embed="rId3"/>
          <a:stretch>
            <a:fillRect/>
          </a:stretch>
        </p:blipFill>
        <p:spPr bwMode="gray">
          <a:xfrm>
            <a:off x="1866908" y="4145114"/>
            <a:ext cx="369473" cy="302297"/>
          </a:xfrm>
          <a:prstGeom prst="rect">
            <a:avLst/>
          </a:prstGeom>
        </p:spPr>
      </p:pic>
      <p:cxnSp>
        <p:nvCxnSpPr>
          <p:cNvPr id="14" name="直接连接符 13"/>
          <p:cNvCxnSpPr>
            <a:stCxn id="13" idx="3"/>
            <a:endCxn id="7" idx="1"/>
          </p:cNvCxnSpPr>
          <p:nvPr/>
        </p:nvCxnSpPr>
        <p:spPr bwMode="gray">
          <a:xfrm>
            <a:off x="2236381" y="4296263"/>
            <a:ext cx="317780"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bwMode="gray">
          <a:xfrm>
            <a:off x="1973946" y="4511894"/>
            <a:ext cx="845474" cy="123410"/>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933390" y="3584363"/>
            <a:ext cx="646332" cy="276999"/>
          </a:xfrm>
          <a:prstGeom prst="rect">
            <a:avLst/>
          </a:prstGeom>
          <a:noFill/>
        </p:spPr>
        <p:txBody>
          <a:bodyPr wrap="none" rtlCol="0">
            <a:spAutoFit/>
          </a:bodyPr>
          <a:lstStyle/>
          <a:p>
            <a:pPr algn="r" fontAlgn="ctr">
              <a:spcBef>
                <a:spcPct val="0"/>
              </a:spcBef>
              <a:spcAft>
                <a:spcPct val="0"/>
              </a:spcAft>
              <a:defRPr/>
            </a:pPr>
            <a:r>
              <a:rPr 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933390" y="4157762"/>
            <a:ext cx="646332" cy="276999"/>
          </a:xfrm>
          <a:prstGeom prst="rect">
            <a:avLst/>
          </a:prstGeom>
          <a:noFill/>
        </p:spPr>
        <p:txBody>
          <a:bodyPr wrap="none" rtlCol="0">
            <a:spAutoFit/>
          </a:bodyPr>
          <a:lstStyle/>
          <a:p>
            <a:pPr algn="r" fontAlgn="ctr">
              <a:spcBef>
                <a:spcPct val="0"/>
              </a:spcBef>
              <a:spcAft>
                <a:spcPct val="0"/>
              </a:spcAft>
              <a:defRPr/>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933390" y="4726525"/>
            <a:ext cx="646332" cy="276999"/>
          </a:xfrm>
          <a:prstGeom prst="rect">
            <a:avLst/>
          </a:prstGeom>
          <a:noFill/>
        </p:spPr>
        <p:txBody>
          <a:bodyPr wrap="none" rtlCol="0">
            <a:spAutoFit/>
          </a:bodyPr>
          <a:lstStyle/>
          <a:p>
            <a:pPr algn="r" fontAlgn="ctr">
              <a:spcBef>
                <a:spcPct val="0"/>
              </a:spcBef>
              <a:spcAft>
                <a:spcPct val="0"/>
              </a:spcAft>
              <a:defRPr/>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933391" y="2642471"/>
            <a:ext cx="646331" cy="276999"/>
          </a:xfrm>
          <a:prstGeom prst="rect">
            <a:avLst/>
          </a:prstGeom>
          <a:noFill/>
        </p:spPr>
        <p:txBody>
          <a:bodyPr wrap="none" rtlCol="0">
            <a:spAutoFit/>
          </a:bodyPr>
          <a:lstStyle/>
          <a:p>
            <a:pPr algn="r" fontAlgn="ctr">
              <a:spcBef>
                <a:spcPct val="0"/>
              </a:spcBef>
              <a:spcAft>
                <a:spcPct val="0"/>
              </a:spcAft>
              <a:defRPr/>
            </a:pPr>
            <a:r>
              <a:rPr 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a:t>
            </a: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区</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5406050" y="5954555"/>
            <a:ext cx="1094050" cy="224968"/>
          </a:xfrm>
          <a:prstGeom prst="rect">
            <a:avLst/>
          </a:prstGeom>
          <a:noFill/>
          <a:ln>
            <a:noFill/>
          </a:ln>
        </p:spPr>
        <p:txBody>
          <a:bodyPr wrap="none" rtlCol="0">
            <a:noAutofit/>
          </a:bodyPr>
          <a:lstStyle/>
          <a:p>
            <a:pPr font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p>
        </p:txBody>
      </p:sp>
      <p:cxnSp>
        <p:nvCxnSpPr>
          <p:cNvPr id="21" name="直接连接符 20"/>
          <p:cNvCxnSpPr>
            <a:stCxn id="10" idx="2"/>
            <a:endCxn id="13" idx="0"/>
          </p:cNvCxnSpPr>
          <p:nvPr/>
        </p:nvCxnSpPr>
        <p:spPr bwMode="gray">
          <a:xfrm flipH="1">
            <a:off x="2051645" y="3858386"/>
            <a:ext cx="946560" cy="2867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1" idx="2"/>
            <a:endCxn id="7" idx="0"/>
          </p:cNvCxnSpPr>
          <p:nvPr/>
        </p:nvCxnSpPr>
        <p:spPr bwMode="gray">
          <a:xfrm flipH="1">
            <a:off x="2738898" y="3858386"/>
            <a:ext cx="950144" cy="2867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23" name="Picture 2" descr="G:\做的项目\公共\扁平图标切换\更新2015_01_21\oss扁平图标库2015_01_21更新-04.png"/>
          <p:cNvPicPr>
            <a:picLocks noChangeAspect="1" noChangeArrowheads="1"/>
          </p:cNvPicPr>
          <p:nvPr/>
        </p:nvPicPr>
        <p:blipFill>
          <a:blip r:embed="rId5"/>
          <a:stretch>
            <a:fillRect/>
          </a:stretch>
        </p:blipFill>
        <p:spPr bwMode="gray">
          <a:xfrm>
            <a:off x="3504305" y="2436424"/>
            <a:ext cx="369473" cy="302297"/>
          </a:xfrm>
          <a:prstGeom prst="rect">
            <a:avLst/>
          </a:prstGeom>
          <a:noFill/>
        </p:spPr>
      </p:pic>
      <p:cxnSp>
        <p:nvCxnSpPr>
          <p:cNvPr id="24" name="直接连接符 23"/>
          <p:cNvCxnSpPr>
            <a:stCxn id="9" idx="2"/>
            <a:endCxn id="10" idx="0"/>
          </p:cNvCxnSpPr>
          <p:nvPr/>
        </p:nvCxnSpPr>
        <p:spPr bwMode="gray">
          <a:xfrm>
            <a:off x="2998205" y="2738721"/>
            <a:ext cx="0" cy="8173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3" idx="2"/>
            <a:endCxn id="11" idx="0"/>
          </p:cNvCxnSpPr>
          <p:nvPr/>
        </p:nvCxnSpPr>
        <p:spPr bwMode="gray">
          <a:xfrm>
            <a:off x="3689042" y="2738721"/>
            <a:ext cx="0" cy="8173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9" idx="3"/>
            <a:endCxn id="23" idx="1"/>
          </p:cNvCxnSpPr>
          <p:nvPr/>
        </p:nvCxnSpPr>
        <p:spPr bwMode="gray">
          <a:xfrm>
            <a:off x="3182941" y="2587573"/>
            <a:ext cx="321364"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gray">
          <a:xfrm>
            <a:off x="5138061" y="6106538"/>
            <a:ext cx="219495"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3" idx="2"/>
            <a:endCxn id="8" idx="0"/>
          </p:cNvCxnSpPr>
          <p:nvPr/>
        </p:nvCxnSpPr>
        <p:spPr bwMode="gray">
          <a:xfrm>
            <a:off x="2051645" y="4447411"/>
            <a:ext cx="0" cy="26948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37" name="图片 76" descr="接入交换机.png"/>
          <p:cNvPicPr>
            <a:picLocks noChangeAspect="1"/>
          </p:cNvPicPr>
          <p:nvPr/>
        </p:nvPicPr>
        <p:blipFill>
          <a:blip r:embed="rId4"/>
          <a:stretch>
            <a:fillRect/>
          </a:stretch>
        </p:blipFill>
        <p:spPr bwMode="gray">
          <a:xfrm>
            <a:off x="2554160" y="4716900"/>
            <a:ext cx="369473" cy="302297"/>
          </a:xfrm>
          <a:prstGeom prst="rect">
            <a:avLst/>
          </a:prstGeom>
        </p:spPr>
      </p:pic>
      <p:cxnSp>
        <p:nvCxnSpPr>
          <p:cNvPr id="38" name="直接连接符 37"/>
          <p:cNvCxnSpPr>
            <a:stCxn id="7" idx="2"/>
            <a:endCxn id="37" idx="0"/>
          </p:cNvCxnSpPr>
          <p:nvPr/>
        </p:nvCxnSpPr>
        <p:spPr bwMode="gray">
          <a:xfrm flipH="1">
            <a:off x="2738897" y="4447411"/>
            <a:ext cx="1" cy="26948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8" idx="3"/>
            <a:endCxn id="37" idx="1"/>
          </p:cNvCxnSpPr>
          <p:nvPr/>
        </p:nvCxnSpPr>
        <p:spPr bwMode="gray">
          <a:xfrm>
            <a:off x="2236381" y="4868049"/>
            <a:ext cx="31777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pic>
        <p:nvPicPr>
          <p:cNvPr id="40" name="图片 87" descr="汇聚交换机.png"/>
          <p:cNvPicPr>
            <a:picLocks noChangeAspect="1"/>
          </p:cNvPicPr>
          <p:nvPr/>
        </p:nvPicPr>
        <p:blipFill>
          <a:blip r:embed="rId3"/>
          <a:stretch>
            <a:fillRect/>
          </a:stretch>
        </p:blipFill>
        <p:spPr bwMode="gray">
          <a:xfrm>
            <a:off x="4502672" y="4145114"/>
            <a:ext cx="369473" cy="302297"/>
          </a:xfrm>
          <a:prstGeom prst="rect">
            <a:avLst/>
          </a:prstGeom>
        </p:spPr>
      </p:pic>
      <p:pic>
        <p:nvPicPr>
          <p:cNvPr id="41" name="图片 76" descr="接入交换机.png"/>
          <p:cNvPicPr>
            <a:picLocks noChangeAspect="1"/>
          </p:cNvPicPr>
          <p:nvPr/>
        </p:nvPicPr>
        <p:blipFill>
          <a:blip r:embed="rId4"/>
          <a:stretch>
            <a:fillRect/>
          </a:stretch>
        </p:blipFill>
        <p:spPr bwMode="gray">
          <a:xfrm>
            <a:off x="3815419" y="4716900"/>
            <a:ext cx="369473" cy="302297"/>
          </a:xfrm>
          <a:prstGeom prst="rect">
            <a:avLst/>
          </a:prstGeom>
        </p:spPr>
      </p:pic>
      <p:pic>
        <p:nvPicPr>
          <p:cNvPr id="42" name="图片 87" descr="汇聚交换机.png"/>
          <p:cNvPicPr>
            <a:picLocks noChangeAspect="1"/>
          </p:cNvPicPr>
          <p:nvPr/>
        </p:nvPicPr>
        <p:blipFill>
          <a:blip r:embed="rId3"/>
          <a:stretch>
            <a:fillRect/>
          </a:stretch>
        </p:blipFill>
        <p:spPr bwMode="gray">
          <a:xfrm>
            <a:off x="3815419" y="4145114"/>
            <a:ext cx="369473" cy="302297"/>
          </a:xfrm>
          <a:prstGeom prst="rect">
            <a:avLst/>
          </a:prstGeom>
        </p:spPr>
      </p:pic>
      <p:cxnSp>
        <p:nvCxnSpPr>
          <p:cNvPr id="43" name="直接连接符 42"/>
          <p:cNvCxnSpPr>
            <a:stCxn id="42" idx="3"/>
            <a:endCxn id="40" idx="1"/>
          </p:cNvCxnSpPr>
          <p:nvPr/>
        </p:nvCxnSpPr>
        <p:spPr bwMode="gray">
          <a:xfrm>
            <a:off x="4184892" y="4296263"/>
            <a:ext cx="317780"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bwMode="gray">
          <a:xfrm>
            <a:off x="3922457" y="4511894"/>
            <a:ext cx="845474" cy="123410"/>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连接符 44"/>
          <p:cNvCxnSpPr>
            <a:stCxn id="42" idx="2"/>
            <a:endCxn id="41" idx="0"/>
          </p:cNvCxnSpPr>
          <p:nvPr/>
        </p:nvCxnSpPr>
        <p:spPr bwMode="gray">
          <a:xfrm>
            <a:off x="4000156" y="4447411"/>
            <a:ext cx="0" cy="26948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6" name="图片 76" descr="接入交换机.png"/>
          <p:cNvPicPr>
            <a:picLocks noChangeAspect="1"/>
          </p:cNvPicPr>
          <p:nvPr/>
        </p:nvPicPr>
        <p:blipFill>
          <a:blip r:embed="rId4"/>
          <a:stretch>
            <a:fillRect/>
          </a:stretch>
        </p:blipFill>
        <p:spPr bwMode="gray">
          <a:xfrm>
            <a:off x="4502671" y="4716900"/>
            <a:ext cx="369473" cy="302297"/>
          </a:xfrm>
          <a:prstGeom prst="rect">
            <a:avLst/>
          </a:prstGeom>
        </p:spPr>
      </p:pic>
      <p:cxnSp>
        <p:nvCxnSpPr>
          <p:cNvPr id="47" name="直接连接符 46"/>
          <p:cNvCxnSpPr>
            <a:stCxn id="40" idx="2"/>
            <a:endCxn id="46" idx="0"/>
          </p:cNvCxnSpPr>
          <p:nvPr/>
        </p:nvCxnSpPr>
        <p:spPr bwMode="gray">
          <a:xfrm flipH="1">
            <a:off x="4687408" y="4447411"/>
            <a:ext cx="1" cy="26948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41" idx="3"/>
            <a:endCxn id="46" idx="1"/>
          </p:cNvCxnSpPr>
          <p:nvPr/>
        </p:nvCxnSpPr>
        <p:spPr bwMode="gray">
          <a:xfrm>
            <a:off x="4184892" y="4868049"/>
            <a:ext cx="317779" cy="0"/>
          </a:xfrm>
          <a:prstGeom prst="line">
            <a:avLst/>
          </a:prstGeom>
          <a:ln w="381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10" idx="2"/>
            <a:endCxn id="42" idx="0"/>
          </p:cNvCxnSpPr>
          <p:nvPr/>
        </p:nvCxnSpPr>
        <p:spPr bwMode="gray">
          <a:xfrm>
            <a:off x="2998205" y="3858386"/>
            <a:ext cx="1001951" cy="2867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11" idx="2"/>
            <a:endCxn id="40" idx="0"/>
          </p:cNvCxnSpPr>
          <p:nvPr/>
        </p:nvCxnSpPr>
        <p:spPr bwMode="gray">
          <a:xfrm>
            <a:off x="3689042" y="3858386"/>
            <a:ext cx="998367" cy="2867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p:cNvSpPr/>
          <p:nvPr/>
        </p:nvSpPr>
        <p:spPr bwMode="gray">
          <a:xfrm rot="19066184">
            <a:off x="3587066" y="3941917"/>
            <a:ext cx="515902" cy="119665"/>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13791" y="2955467"/>
            <a:ext cx="368827" cy="301768"/>
          </a:xfrm>
          <a:prstGeom prst="rect">
            <a:avLst/>
          </a:prstGeom>
        </p:spPr>
      </p:pic>
      <p:pic>
        <p:nvPicPr>
          <p:cNvPr id="54"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98428" y="2955467"/>
            <a:ext cx="368827" cy="301768"/>
          </a:xfrm>
          <a:prstGeom prst="rect">
            <a:avLst/>
          </a:prstGeom>
        </p:spPr>
      </p:pic>
      <p:cxnSp>
        <p:nvCxnSpPr>
          <p:cNvPr id="55" name="直接连接符 54"/>
          <p:cNvCxnSpPr>
            <a:stCxn id="53" idx="3"/>
            <a:endCxn id="54" idx="1"/>
          </p:cNvCxnSpPr>
          <p:nvPr/>
        </p:nvCxnSpPr>
        <p:spPr bwMode="gray">
          <a:xfrm>
            <a:off x="3182618" y="3106351"/>
            <a:ext cx="315810" cy="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46" idx="2"/>
            <a:endCxn id="60" idx="0"/>
          </p:cNvCxnSpPr>
          <p:nvPr/>
        </p:nvCxnSpPr>
        <p:spPr bwMode="gray">
          <a:xfrm flipH="1">
            <a:off x="4687085" y="5019197"/>
            <a:ext cx="323" cy="21251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60" name="图片 105" descr="AP.png"/>
          <p:cNvPicPr>
            <a:picLocks noChangeAspect="1"/>
          </p:cNvPicPr>
          <p:nvPr/>
        </p:nvPicPr>
        <p:blipFill>
          <a:blip r:embed="rId8" cstate="print"/>
          <a:stretch>
            <a:fillRect/>
          </a:stretch>
        </p:blipFill>
        <p:spPr>
          <a:xfrm>
            <a:off x="4502671" y="5231707"/>
            <a:ext cx="368827" cy="301768"/>
          </a:xfrm>
          <a:prstGeom prst="rect">
            <a:avLst/>
          </a:prstGeom>
        </p:spPr>
      </p:pic>
      <p:cxnSp>
        <p:nvCxnSpPr>
          <p:cNvPr id="61" name="直接连接符 60"/>
          <p:cNvCxnSpPr>
            <a:stCxn id="37" idx="2"/>
            <a:endCxn id="62" idx="0"/>
          </p:cNvCxnSpPr>
          <p:nvPr/>
        </p:nvCxnSpPr>
        <p:spPr bwMode="gray">
          <a:xfrm>
            <a:off x="2738897" y="5019197"/>
            <a:ext cx="324" cy="21251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62" name="图片 105" descr="AP.png"/>
          <p:cNvPicPr>
            <a:picLocks noChangeAspect="1"/>
          </p:cNvPicPr>
          <p:nvPr/>
        </p:nvPicPr>
        <p:blipFill>
          <a:blip r:embed="rId8" cstate="print"/>
          <a:stretch>
            <a:fillRect/>
          </a:stretch>
        </p:blipFill>
        <p:spPr>
          <a:xfrm>
            <a:off x="2554807" y="5231707"/>
            <a:ext cx="368827" cy="301768"/>
          </a:xfrm>
          <a:prstGeom prst="rect">
            <a:avLst/>
          </a:prstGeom>
        </p:spPr>
      </p:pic>
      <p:cxnSp>
        <p:nvCxnSpPr>
          <p:cNvPr id="63" name="直接连接符 62"/>
          <p:cNvCxnSpPr>
            <a:stCxn id="8" idx="2"/>
            <a:endCxn id="64" idx="0"/>
          </p:cNvCxnSpPr>
          <p:nvPr/>
        </p:nvCxnSpPr>
        <p:spPr bwMode="gray">
          <a:xfrm>
            <a:off x="2051645" y="5019197"/>
            <a:ext cx="2572" cy="21251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64" name="图片 105" descr="AP.png"/>
          <p:cNvPicPr>
            <a:picLocks noChangeAspect="1"/>
          </p:cNvPicPr>
          <p:nvPr/>
        </p:nvPicPr>
        <p:blipFill>
          <a:blip r:embed="rId8" cstate="print"/>
          <a:stretch>
            <a:fillRect/>
          </a:stretch>
        </p:blipFill>
        <p:spPr>
          <a:xfrm>
            <a:off x="1869803" y="5231707"/>
            <a:ext cx="368827" cy="301768"/>
          </a:xfrm>
          <a:prstGeom prst="rect">
            <a:avLst/>
          </a:prstGeom>
        </p:spPr>
      </p:pic>
      <p:pic>
        <p:nvPicPr>
          <p:cNvPr id="69" name="图片 68" descr="笔记本电脑.png"/>
          <p:cNvPicPr>
            <a:picLocks noChangeAspect="1"/>
          </p:cNvPicPr>
          <p:nvPr/>
        </p:nvPicPr>
        <p:blipFill>
          <a:blip r:embed="rId9" cstate="print">
            <a:duotone>
              <a:schemeClr val="accent2">
                <a:shade val="45000"/>
                <a:satMod val="135000"/>
              </a:schemeClr>
              <a:prstClr val="white"/>
            </a:duotone>
          </a:blip>
          <a:stretch>
            <a:fillRect/>
          </a:stretch>
        </p:blipFill>
        <p:spPr>
          <a:xfrm>
            <a:off x="1870593" y="5751135"/>
            <a:ext cx="362104" cy="227011"/>
          </a:xfrm>
          <a:prstGeom prst="rect">
            <a:avLst/>
          </a:prstGeom>
        </p:spPr>
      </p:pic>
      <p:pic>
        <p:nvPicPr>
          <p:cNvPr id="70" name="图片 69" descr="笔记本电脑.png"/>
          <p:cNvPicPr>
            <a:picLocks noChangeAspect="1"/>
          </p:cNvPicPr>
          <p:nvPr/>
        </p:nvPicPr>
        <p:blipFill>
          <a:blip r:embed="rId9" cstate="print"/>
          <a:stretch>
            <a:fillRect/>
          </a:stretch>
        </p:blipFill>
        <p:spPr>
          <a:xfrm>
            <a:off x="3815419" y="5751135"/>
            <a:ext cx="362104" cy="227011"/>
          </a:xfrm>
          <a:prstGeom prst="rect">
            <a:avLst/>
          </a:prstGeom>
        </p:spPr>
      </p:pic>
      <p:pic>
        <p:nvPicPr>
          <p:cNvPr id="71" name="图片 70" descr="故障链路.png"/>
          <p:cNvPicPr>
            <a:picLocks noChangeAspect="1"/>
          </p:cNvPicPr>
          <p:nvPr/>
        </p:nvPicPr>
        <p:blipFill>
          <a:blip r:embed="rId10" cstate="print"/>
          <a:stretch>
            <a:fillRect/>
          </a:stretch>
        </p:blipFill>
        <p:spPr>
          <a:xfrm>
            <a:off x="2554807" y="5716871"/>
            <a:ext cx="380447" cy="283692"/>
          </a:xfrm>
          <a:prstGeom prst="rect">
            <a:avLst/>
          </a:prstGeom>
        </p:spPr>
      </p:pic>
      <p:pic>
        <p:nvPicPr>
          <p:cNvPr id="72" name="图片 71" descr="故障链路.png"/>
          <p:cNvPicPr>
            <a:picLocks noChangeAspect="1"/>
          </p:cNvPicPr>
          <p:nvPr/>
        </p:nvPicPr>
        <p:blipFill>
          <a:blip r:embed="rId10" cstate="print"/>
          <a:stretch>
            <a:fillRect/>
          </a:stretch>
        </p:blipFill>
        <p:spPr>
          <a:xfrm>
            <a:off x="4526371" y="5716871"/>
            <a:ext cx="380447" cy="283692"/>
          </a:xfrm>
          <a:prstGeom prst="rect">
            <a:avLst/>
          </a:prstGeom>
        </p:spPr>
      </p:pic>
      <p:sp>
        <p:nvSpPr>
          <p:cNvPr id="73" name="椭圆 72"/>
          <p:cNvSpPr/>
          <p:nvPr/>
        </p:nvSpPr>
        <p:spPr bwMode="gray">
          <a:xfrm rot="2533816" flipH="1">
            <a:off x="2634104" y="3941915"/>
            <a:ext cx="515902" cy="119665"/>
          </a:xfrm>
          <a:prstGeom prst="ellips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1659213" y="5939164"/>
            <a:ext cx="800220" cy="276999"/>
          </a:xfrm>
          <a:prstGeom prst="rect">
            <a:avLst/>
          </a:prstGeom>
          <a:noFill/>
        </p:spPr>
        <p:txBody>
          <a:bodyPr wrap="none" rtlCol="0">
            <a:spAutoFit/>
          </a:bodyPr>
          <a:lstStyle/>
          <a:p>
            <a:pPr algn="ctr" fontAlgn="ctr">
              <a:spcBef>
                <a:spcPct val="0"/>
              </a:spcBef>
              <a:spcAft>
                <a:spcPct val="0"/>
              </a:spcAft>
              <a:defRP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非法终端</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任意多边形 74"/>
          <p:cNvSpPr/>
          <p:nvPr/>
        </p:nvSpPr>
        <p:spPr>
          <a:xfrm>
            <a:off x="1636219" y="5380522"/>
            <a:ext cx="211832" cy="471638"/>
          </a:xfrm>
          <a:custGeom>
            <a:avLst/>
            <a:gdLst>
              <a:gd name="connsiteX0" fmla="*/ 192581 w 211832"/>
              <a:gd name="connsiteY0" fmla="*/ 0 h 471638"/>
              <a:gd name="connsiteX1" fmla="*/ 76 w 211832"/>
              <a:gd name="connsiteY1" fmla="*/ 211756 h 471638"/>
              <a:gd name="connsiteX2" fmla="*/ 211832 w 211832"/>
              <a:gd name="connsiteY2" fmla="*/ 471638 h 471638"/>
            </a:gdLst>
            <a:ahLst/>
            <a:cxnLst>
              <a:cxn ang="0">
                <a:pos x="connsiteX0" y="connsiteY0"/>
              </a:cxn>
              <a:cxn ang="0">
                <a:pos x="connsiteX1" y="connsiteY1"/>
              </a:cxn>
              <a:cxn ang="0">
                <a:pos x="connsiteX2" y="connsiteY2"/>
              </a:cxn>
            </a:cxnLst>
            <a:rect l="l" t="t" r="r" b="b"/>
            <a:pathLst>
              <a:path w="211832" h="471638">
                <a:moveTo>
                  <a:pt x="192581" y="0"/>
                </a:moveTo>
                <a:cubicBezTo>
                  <a:pt x="94724" y="66575"/>
                  <a:pt x="-3132" y="133150"/>
                  <a:pt x="76" y="211756"/>
                </a:cubicBezTo>
                <a:cubicBezTo>
                  <a:pt x="3284" y="290362"/>
                  <a:pt x="107558" y="381000"/>
                  <a:pt x="211832" y="471638"/>
                </a:cubicBezTo>
              </a:path>
            </a:pathLst>
          </a:custGeom>
          <a:noFill/>
          <a:ln w="19050">
            <a:solidFill>
              <a:srgbClr val="C7000B"/>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p:cNvSpPr txBox="1"/>
          <p:nvPr/>
        </p:nvSpPr>
        <p:spPr bwMode="gray">
          <a:xfrm>
            <a:off x="516952" y="5477841"/>
            <a:ext cx="1107996" cy="276999"/>
          </a:xfrm>
          <a:prstGeom prst="rect">
            <a:avLst/>
          </a:prstGeom>
          <a:noFill/>
        </p:spPr>
        <p:txBody>
          <a:bodyPr wrap="none" rtlCol="0">
            <a:spAutoFit/>
          </a:bodyPr>
          <a:lstStyle/>
          <a:p>
            <a:pPr algn="ctr" fontAlgn="ctr">
              <a:spcBef>
                <a:spcPct val="0"/>
              </a:spcBef>
              <a:spcAft>
                <a:spcPct val="0"/>
              </a:spcAft>
              <a:defRPr/>
            </a:pP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非法终端上线</a:t>
            </a:r>
            <a:endParaRPr 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直接箭头连接符 77"/>
          <p:cNvCxnSpPr>
            <a:stCxn id="70" idx="0"/>
          </p:cNvCxnSpPr>
          <p:nvPr/>
        </p:nvCxnSpPr>
        <p:spPr>
          <a:xfrm flipV="1">
            <a:off x="3996471" y="5533475"/>
            <a:ext cx="3362" cy="217660"/>
          </a:xfrm>
          <a:prstGeom prst="straightConnector1">
            <a:avLst/>
          </a:prstGeom>
          <a:noFill/>
          <a:ln w="19050">
            <a:solidFill>
              <a:srgbClr val="C7000B"/>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80" name="文本框 79"/>
          <p:cNvSpPr txBox="1"/>
          <p:nvPr/>
        </p:nvSpPr>
        <p:spPr bwMode="gray">
          <a:xfrm>
            <a:off x="3027215" y="5437362"/>
            <a:ext cx="844517" cy="461665"/>
          </a:xfrm>
          <a:prstGeom prst="rect">
            <a:avLst/>
          </a:prstGeom>
          <a:noFill/>
        </p:spPr>
        <p:txBody>
          <a:bodyPr wrap="square" rtlCol="0">
            <a:spAutoFit/>
          </a:bodyPr>
          <a:lstStyle/>
          <a:p>
            <a:pPr algn="ctr" fontAlgn="ctr">
              <a:spcBef>
                <a:spcPct val="0"/>
              </a:spcBef>
              <a:spcAft>
                <a:spcPct val="0"/>
              </a:spcAft>
              <a:defRPr/>
            </a:pP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终端从非法</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接入</a:t>
            </a:r>
            <a:endParaRPr 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bwMode="gray">
          <a:xfrm>
            <a:off x="3165622" y="5187637"/>
            <a:ext cx="691216" cy="276999"/>
          </a:xfrm>
          <a:prstGeom prst="rect">
            <a:avLst/>
          </a:prstGeom>
          <a:noFill/>
        </p:spPr>
        <p:txBody>
          <a:bodyPr wrap="none" rtlCol="0">
            <a:spAutoFit/>
          </a:bodyPr>
          <a:lstStyle/>
          <a:p>
            <a:pPr algn="ctr" fontAlgn="ctr">
              <a:spcBef>
                <a:spcPct val="0"/>
              </a:spcBef>
              <a:spcAft>
                <a:spcPct val="0"/>
              </a:spcAft>
              <a:defRP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非法</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AP</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3" name="图片 82"/>
          <p:cNvPicPr>
            <a:picLocks/>
          </p:cNvPicPr>
          <p:nvPr/>
        </p:nvPicPr>
        <p:blipFill>
          <a:blip r:embed="rId11" cstate="print">
            <a:extLst>
              <a:ext uri="{28A0092B-C50C-407E-A947-70E740481C1C}">
                <a14:useLocalDpi xmlns:a14="http://schemas.microsoft.com/office/drawing/2010/main" val="0"/>
              </a:ext>
            </a:extLst>
          </a:blip>
          <a:stretch>
            <a:fillRect/>
          </a:stretch>
        </p:blipFill>
        <p:spPr>
          <a:xfrm>
            <a:off x="4499700" y="3555958"/>
            <a:ext cx="372444" cy="305404"/>
          </a:xfrm>
          <a:prstGeom prst="rect">
            <a:avLst/>
          </a:prstGeom>
        </p:spPr>
      </p:pic>
      <p:cxnSp>
        <p:nvCxnSpPr>
          <p:cNvPr id="84" name="直接连接符 83"/>
          <p:cNvCxnSpPr>
            <a:stCxn id="83" idx="1"/>
            <a:endCxn id="11" idx="3"/>
          </p:cNvCxnSpPr>
          <p:nvPr/>
        </p:nvCxnSpPr>
        <p:spPr bwMode="gray">
          <a:xfrm flipH="1" flipV="1">
            <a:off x="3873778" y="3707238"/>
            <a:ext cx="625922" cy="142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7" name="任意多边形 86"/>
          <p:cNvSpPr/>
          <p:nvPr/>
        </p:nvSpPr>
        <p:spPr>
          <a:xfrm>
            <a:off x="3772464" y="3625256"/>
            <a:ext cx="1057939" cy="1668639"/>
          </a:xfrm>
          <a:custGeom>
            <a:avLst/>
            <a:gdLst>
              <a:gd name="connsiteX0" fmla="*/ 818787 w 1057939"/>
              <a:gd name="connsiteY0" fmla="*/ 61220 h 1668639"/>
              <a:gd name="connsiteX1" fmla="*/ 639 w 1057939"/>
              <a:gd name="connsiteY1" fmla="*/ 51595 h 1668639"/>
              <a:gd name="connsiteX2" fmla="*/ 934290 w 1057939"/>
              <a:gd name="connsiteY2" fmla="*/ 619485 h 1668639"/>
              <a:gd name="connsiteX3" fmla="*/ 1020917 w 1057939"/>
              <a:gd name="connsiteY3" fmla="*/ 1668639 h 1668639"/>
            </a:gdLst>
            <a:ahLst/>
            <a:cxnLst>
              <a:cxn ang="0">
                <a:pos x="connsiteX0" y="connsiteY0"/>
              </a:cxn>
              <a:cxn ang="0">
                <a:pos x="connsiteX1" y="connsiteY1"/>
              </a:cxn>
              <a:cxn ang="0">
                <a:pos x="connsiteX2" y="connsiteY2"/>
              </a:cxn>
              <a:cxn ang="0">
                <a:pos x="connsiteX3" y="connsiteY3"/>
              </a:cxn>
            </a:cxnLst>
            <a:rect l="l" t="t" r="r" b="b"/>
            <a:pathLst>
              <a:path w="1057939" h="1668639">
                <a:moveTo>
                  <a:pt x="818787" y="61220"/>
                </a:moveTo>
                <a:cubicBezTo>
                  <a:pt x="400087" y="9885"/>
                  <a:pt x="-18612" y="-41449"/>
                  <a:pt x="639" y="51595"/>
                </a:cubicBezTo>
                <a:cubicBezTo>
                  <a:pt x="19889" y="144639"/>
                  <a:pt x="764244" y="349978"/>
                  <a:pt x="934290" y="619485"/>
                </a:cubicBezTo>
                <a:cubicBezTo>
                  <a:pt x="1104336" y="888992"/>
                  <a:pt x="1062626" y="1278815"/>
                  <a:pt x="1020917" y="1668639"/>
                </a:cubicBezTo>
              </a:path>
            </a:pathLst>
          </a:custGeom>
          <a:noFill/>
          <a:ln w="19050">
            <a:solidFill>
              <a:srgbClr val="C7000B"/>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bwMode="gray">
          <a:xfrm>
            <a:off x="4430028" y="3842718"/>
            <a:ext cx="1151658" cy="276999"/>
          </a:xfrm>
          <a:prstGeom prst="rect">
            <a:avLst/>
          </a:prstGeom>
          <a:noFill/>
        </p:spPr>
        <p:txBody>
          <a:bodyPr wrap="square" rtlCol="0">
            <a:spAutoFit/>
          </a:bodyPr>
          <a:lstStyle/>
          <a:p>
            <a:pPr algn="ctr" fontAlgn="ctr">
              <a:spcBef>
                <a:spcPct val="0"/>
              </a:spcBef>
              <a:spcAft>
                <a:spcPct val="0"/>
              </a:spcAft>
              <a:defRPr/>
            </a:pP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非法窃取数据</a:t>
            </a:r>
            <a:endParaRPr 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8" name="图片 67"/>
          <p:cNvPicPr>
            <a:picLocks/>
          </p:cNvPicPr>
          <p:nvPr/>
        </p:nvPicPr>
        <p:blipFill>
          <a:blip r:embed="rId12" cstate="print">
            <a:extLst>
              <a:ext uri="{28A0092B-C50C-407E-A947-70E740481C1C}">
                <a14:useLocalDpi xmlns:a14="http://schemas.microsoft.com/office/drawing/2010/main" val="0"/>
              </a:ext>
            </a:extLst>
          </a:blip>
          <a:stretch>
            <a:fillRect/>
          </a:stretch>
        </p:blipFill>
        <p:spPr>
          <a:xfrm>
            <a:off x="3816577" y="5231707"/>
            <a:ext cx="368010" cy="301768"/>
          </a:xfrm>
          <a:prstGeom prst="rect">
            <a:avLst/>
          </a:prstGeom>
        </p:spPr>
      </p:pic>
      <p:sp>
        <p:nvSpPr>
          <p:cNvPr id="77" name="五边形 76"/>
          <p:cNvSpPr/>
          <p:nvPr/>
        </p:nvSpPr>
        <p:spPr bwMode="gray">
          <a:xfrm>
            <a:off x="967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79" name="燕尾形 78"/>
          <p:cNvSpPr/>
          <p:nvPr/>
        </p:nvSpPr>
        <p:spPr bwMode="gray">
          <a:xfrm>
            <a:off x="10669087" y="114957"/>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4511398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无线网络安全设计</a:t>
            </a:r>
          </a:p>
        </p:txBody>
      </p:sp>
      <p:sp>
        <p:nvSpPr>
          <p:cNvPr id="2" name="文本占位符 1"/>
          <p:cNvSpPr>
            <a:spLocks noGrp="1"/>
          </p:cNvSpPr>
          <p:nvPr>
            <p:ph type="body" sz="quarter" idx="10"/>
          </p:nvPr>
        </p:nvSpPr>
        <p:spPr>
          <a:xfrm>
            <a:off x="455613" y="1047750"/>
            <a:ext cx="2618514" cy="436563"/>
          </a:xfrm>
        </p:spPr>
        <p:txBody>
          <a:bodyPr/>
          <a:lstStyle/>
          <a:p>
            <a:r>
              <a:rPr lang="zh-CN" altLang="en-US" sz="1800" dirty="0"/>
              <a:t>无线空口安全设计：</a:t>
            </a:r>
          </a:p>
        </p:txBody>
      </p:sp>
      <p:graphicFrame>
        <p:nvGraphicFramePr>
          <p:cNvPr id="5" name="内容占位符 3"/>
          <p:cNvGraphicFramePr>
            <a:graphicFrameLocks/>
          </p:cNvGraphicFramePr>
          <p:nvPr>
            <p:extLst>
              <p:ext uri="{D42A27DB-BD31-4B8C-83A1-F6EECF244321}">
                <p14:modId xmlns:p14="http://schemas.microsoft.com/office/powerpoint/2010/main" val="2059294127"/>
              </p:ext>
            </p:extLst>
          </p:nvPr>
        </p:nvGraphicFramePr>
        <p:xfrm>
          <a:off x="836340" y="1506578"/>
          <a:ext cx="4320000" cy="2232660"/>
        </p:xfrm>
        <a:graphic>
          <a:graphicData uri="http://schemas.openxmlformats.org/drawingml/2006/table">
            <a:tbl>
              <a:tblPr firstRow="1" bandRow="1">
                <a:tableStyleId>{2D5ABB26-0587-4C30-8999-92F81FD0307C}</a:tableStyleId>
              </a:tblPr>
              <a:tblGrid>
                <a:gridCol w="180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tblGrid>
              <a:tr h="446532">
                <a:tc>
                  <a:txBody>
                    <a:bodyPr/>
                    <a:lstStyle/>
                    <a:p>
                      <a:pPr algn="ctr"/>
                      <a:r>
                        <a:rPr lang="zh-CN" altLang="en-US" sz="1400" b="1" dirty="0">
                          <a:sym typeface="+mn-lt"/>
                        </a:rPr>
                        <a:t>安全风险</a:t>
                      </a:r>
                      <a:endParaRPr lang="zh-CN" altLang="en-US" sz="1400" b="1" dirty="0">
                        <a:solidFill>
                          <a:srgbClr val="ED6D00"/>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ym typeface="+mn-lt"/>
                        </a:rPr>
                        <a:t>防范措施</a:t>
                      </a:r>
                      <a:endParaRPr lang="zh-CN" altLang="en-US" sz="1400" b="1" dirty="0">
                        <a:solidFill>
                          <a:srgbClr val="ED6D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46532">
                <a:tc rowSpan="3">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sym typeface="+mn-lt"/>
                        </a:rPr>
                        <a:t>无线攻击和仿冒</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sym typeface="+mn-lt"/>
                        </a:rPr>
                        <a:t>WIDS</a:t>
                      </a:r>
                      <a:endParaRPr lang="zh-CN" altLang="en-US" sz="1200" kern="1200" dirty="0">
                        <a:solidFill>
                          <a:schemeClr val="tx1"/>
                        </a:solidFill>
                        <a:effectLst/>
                        <a:latin typeface="+mn-lt"/>
                        <a:ea typeface="+mn-ea"/>
                        <a:cs typeface="+mn-cs"/>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46532">
                <a:tc vMerge="1">
                  <a:txBody>
                    <a:bodyPr/>
                    <a:lstStyle/>
                    <a:p>
                      <a:endParaRPr lang="zh-CN" altLang="en-US" sz="1200" dirty="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sym typeface="+mn-lt"/>
                        </a:rPr>
                        <a:t>WIPS</a:t>
                      </a:r>
                      <a:endParaRPr lang="zh-CN" altLang="en-US" sz="1200" kern="1200" dirty="0">
                        <a:solidFill>
                          <a:schemeClr val="tx1"/>
                        </a:solidFill>
                        <a:effectLst/>
                        <a:latin typeface="+mn-lt"/>
                        <a:ea typeface="+mn-ea"/>
                        <a:cs typeface="+mn-cs"/>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46532">
                <a:tc vMerge="1">
                  <a:txBody>
                    <a:bodyPr/>
                    <a:lstStyle/>
                    <a:p>
                      <a:endParaRPr lang="zh-CN" altLang="en-US" sz="1200" dirty="0"/>
                    </a:p>
                  </a:txBody>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sym typeface="+mn-lt"/>
                        </a:rPr>
                        <a:t>攻击检测</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46532">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sym typeface="+mn-lt"/>
                        </a:rPr>
                        <a:t>管理帧不加密</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sym typeface="+mn-lt"/>
                        </a:rPr>
                        <a:t>管理帧保护功能</a:t>
                      </a:r>
                      <a:r>
                        <a:rPr lang="en-US" altLang="zh-CN" sz="1200" kern="1200" dirty="0">
                          <a:solidFill>
                            <a:schemeClr val="tx1"/>
                          </a:solidFill>
                          <a:effectLst/>
                          <a:latin typeface="+mn-lt"/>
                          <a:ea typeface="+mn-ea"/>
                          <a:cs typeface="+mn-cs"/>
                          <a:sym typeface="+mn-lt"/>
                        </a:rPr>
                        <a:t>PMF</a:t>
                      </a:r>
                      <a:endParaRPr lang="zh-CN" altLang="en-US" sz="1200" kern="1200" dirty="0">
                        <a:solidFill>
                          <a:schemeClr val="tx1"/>
                        </a:solidFill>
                        <a:effectLst/>
                        <a:latin typeface="+mn-lt"/>
                        <a:ea typeface="+mn-ea"/>
                        <a:cs typeface="+mn-cs"/>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746000205"/>
              </p:ext>
            </p:extLst>
          </p:nvPr>
        </p:nvGraphicFramePr>
        <p:xfrm>
          <a:off x="6496595" y="1510343"/>
          <a:ext cx="4320000" cy="2232000"/>
        </p:xfrm>
        <a:graphic>
          <a:graphicData uri="http://schemas.openxmlformats.org/drawingml/2006/table">
            <a:tbl>
              <a:tblPr firstRow="1" bandRow="1">
                <a:tableStyleId>{2D5ABB26-0587-4C30-8999-92F81FD0307C}</a:tableStyleId>
              </a:tblPr>
              <a:tblGrid>
                <a:gridCol w="180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tblGrid>
              <a:tr h="446400">
                <a:tc>
                  <a:txBody>
                    <a:bodyPr/>
                    <a:lstStyle/>
                    <a:p>
                      <a:pPr algn="ctr"/>
                      <a:r>
                        <a:rPr lang="zh-CN" altLang="en-US" sz="1400" b="1" dirty="0">
                          <a:sym typeface="+mn-lt"/>
                        </a:rPr>
                        <a:t>安全风险</a:t>
                      </a:r>
                      <a:endParaRPr lang="zh-CN" altLang="en-US" sz="1400" b="1" dirty="0">
                        <a:solidFill>
                          <a:srgbClr val="ED6D00"/>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ym typeface="+mn-lt"/>
                        </a:rPr>
                        <a:t>防范措施</a:t>
                      </a:r>
                      <a:endParaRPr lang="zh-CN" altLang="en-US" sz="1400" b="1" dirty="0">
                        <a:solidFill>
                          <a:srgbClr val="ED6D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46400">
                <a:tc rowSpan="2">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200" kern="1200" dirty="0">
                          <a:solidFill>
                            <a:schemeClr val="tx1"/>
                          </a:solidFill>
                          <a:latin typeface="+mn-lt"/>
                          <a:ea typeface="+mn-ea"/>
                          <a:cs typeface="+mn-cs"/>
                          <a:sym typeface="+mn-lt"/>
                        </a:rPr>
                        <a:t>空口加密与接入认证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altLang="zh-CN" sz="1200" kern="1200" dirty="0">
                          <a:solidFill>
                            <a:schemeClr val="tx1"/>
                          </a:solidFill>
                          <a:latin typeface="+mn-lt"/>
                          <a:ea typeface="+mn-ea"/>
                          <a:cs typeface="+mn-cs"/>
                          <a:sym typeface="+mn-lt"/>
                        </a:rPr>
                        <a:t>WPA/WPA2</a:t>
                      </a:r>
                      <a:endParaRPr lang="zh-CN" altLang="en-US" sz="1200" kern="1200" dirty="0">
                        <a:solidFill>
                          <a:schemeClr val="tx1"/>
                        </a:solidFill>
                        <a:latin typeface="+mn-lt"/>
                        <a:ea typeface="+mn-ea"/>
                        <a:cs typeface="+mn-cs"/>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46400">
                <a:tc vMerge="1">
                  <a:txBody>
                    <a:bodyPr/>
                    <a:lstStyle/>
                    <a:p>
                      <a:pPr marL="0" algn="l" defTabSz="914400" rtl="0" eaLnBrk="1" latinLnBrk="0" hangingPunct="1"/>
                      <a:endParaRPr lang="zh-CN" altLang="en-US" sz="1200" kern="1200" dirty="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altLang="zh-CN" sz="1200" kern="1200" dirty="0">
                          <a:solidFill>
                            <a:schemeClr val="tx1"/>
                          </a:solidFill>
                          <a:latin typeface="+mn-lt"/>
                          <a:ea typeface="+mn-ea"/>
                          <a:cs typeface="+mn-cs"/>
                          <a:sym typeface="+mn-lt"/>
                        </a:rPr>
                        <a:t>WAPI</a:t>
                      </a:r>
                      <a:endParaRPr lang="zh-CN" altLang="en-US" sz="1200" kern="1200" dirty="0">
                        <a:solidFill>
                          <a:schemeClr val="tx1"/>
                        </a:solidFill>
                        <a:latin typeface="+mn-lt"/>
                        <a:ea typeface="+mn-ea"/>
                        <a:cs typeface="+mn-cs"/>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46400">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200" kern="1200" dirty="0">
                          <a:solidFill>
                            <a:schemeClr val="tx1"/>
                          </a:solidFill>
                          <a:latin typeface="+mn-lt"/>
                          <a:ea typeface="+mn-ea"/>
                          <a:cs typeface="+mn-cs"/>
                          <a:sym typeface="+mn-lt"/>
                        </a:rPr>
                        <a:t>终端接入安全</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altLang="zh-CN" sz="1200" kern="1200" dirty="0">
                          <a:solidFill>
                            <a:schemeClr val="tx1"/>
                          </a:solidFill>
                          <a:latin typeface="+mn-lt"/>
                          <a:ea typeface="+mn-ea"/>
                          <a:cs typeface="+mn-cs"/>
                          <a:sym typeface="+mn-lt"/>
                        </a:rPr>
                        <a:t>STA</a:t>
                      </a:r>
                      <a:r>
                        <a:rPr lang="zh-CN" altLang="en-US" sz="1200" kern="1200" dirty="0">
                          <a:solidFill>
                            <a:schemeClr val="tx1"/>
                          </a:solidFill>
                          <a:latin typeface="+mn-lt"/>
                          <a:ea typeface="+mn-ea"/>
                          <a:cs typeface="+mn-cs"/>
                          <a:sym typeface="+mn-lt"/>
                        </a:rPr>
                        <a:t>黑白名单</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46400">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200" kern="1200" dirty="0">
                          <a:solidFill>
                            <a:schemeClr val="tx1"/>
                          </a:solidFill>
                          <a:latin typeface="+mn-lt"/>
                          <a:ea typeface="+mn-ea"/>
                          <a:cs typeface="+mn-cs"/>
                          <a:sym typeface="+mn-lt"/>
                        </a:rPr>
                        <a:t>暴力破解</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200" kern="1200" dirty="0">
                          <a:solidFill>
                            <a:schemeClr val="tx1"/>
                          </a:solidFill>
                          <a:latin typeface="+mn-lt"/>
                          <a:ea typeface="+mn-ea"/>
                          <a:cs typeface="+mn-cs"/>
                          <a:sym typeface="+mn-lt"/>
                        </a:rPr>
                        <a:t>防暴力破解和动态黑名单</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文本占位符 1"/>
          <p:cNvSpPr txBox="1">
            <a:spLocks/>
          </p:cNvSpPr>
          <p:nvPr/>
        </p:nvSpPr>
        <p:spPr bwMode="auto">
          <a:xfrm>
            <a:off x="6095999" y="1047750"/>
            <a:ext cx="3248297" cy="4365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无线终端接入安全设计：</a:t>
            </a:r>
          </a:p>
        </p:txBody>
      </p:sp>
      <p:sp>
        <p:nvSpPr>
          <p:cNvPr id="8" name="文本占位符 1"/>
          <p:cNvSpPr txBox="1">
            <a:spLocks/>
          </p:cNvSpPr>
          <p:nvPr/>
        </p:nvSpPr>
        <p:spPr bwMode="auto">
          <a:xfrm>
            <a:off x="455613" y="4119153"/>
            <a:ext cx="11293474" cy="208162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无线业务安全设计：</a:t>
            </a:r>
            <a:endParaRPr lang="en-US" altLang="zh-CN" sz="1800" dirty="0"/>
          </a:p>
          <a:p>
            <a:pPr lvl="1"/>
            <a:r>
              <a:rPr lang="en-US" altLang="zh-CN" sz="1600" dirty="0"/>
              <a:t>AP</a:t>
            </a:r>
            <a:r>
              <a:rPr lang="zh-CN" altLang="en-US" sz="1600" dirty="0"/>
              <a:t>与</a:t>
            </a:r>
            <a:r>
              <a:rPr lang="en-US" altLang="zh-CN" sz="1600" dirty="0"/>
              <a:t>AC</a:t>
            </a:r>
            <a:r>
              <a:rPr lang="zh-CN" altLang="en-US" sz="1600" dirty="0"/>
              <a:t>间的有线网络也会面临</a:t>
            </a:r>
            <a:r>
              <a:rPr lang="en-US" altLang="zh-CN" sz="1600" dirty="0"/>
              <a:t>IP</a:t>
            </a:r>
            <a:r>
              <a:rPr lang="zh-CN" altLang="en-US" sz="1600" dirty="0"/>
              <a:t>网络常见的安全威胁，包括探测、篡改与仿冒等。</a:t>
            </a:r>
            <a:endParaRPr lang="en-US" altLang="zh-CN" sz="1600" dirty="0"/>
          </a:p>
          <a:p>
            <a:pPr lvl="1"/>
            <a:r>
              <a:rPr lang="zh-CN" altLang="en-US" sz="1600" dirty="0"/>
              <a:t>为了提高数据传输的安全性，</a:t>
            </a:r>
            <a:r>
              <a:rPr lang="en-US" altLang="zh-CN" sz="1600" dirty="0"/>
              <a:t>AP</a:t>
            </a:r>
            <a:r>
              <a:rPr lang="zh-CN" altLang="en-US" sz="1600" dirty="0"/>
              <a:t>与</a:t>
            </a:r>
            <a:r>
              <a:rPr lang="en-US" altLang="zh-CN" sz="1600" dirty="0"/>
              <a:t>AC</a:t>
            </a:r>
            <a:r>
              <a:rPr lang="zh-CN" altLang="en-US" sz="1600" dirty="0"/>
              <a:t>之间的</a:t>
            </a:r>
            <a:r>
              <a:rPr lang="en-US" altLang="zh-CN" sz="1600" dirty="0"/>
              <a:t>CAPWAP</a:t>
            </a:r>
            <a:r>
              <a:rPr lang="zh-CN" altLang="en-US" sz="1600" dirty="0"/>
              <a:t>隧道支持采用</a:t>
            </a:r>
            <a:r>
              <a:rPr lang="en-US" altLang="zh-CN" sz="1600" dirty="0"/>
              <a:t>DTLS</a:t>
            </a:r>
            <a:r>
              <a:rPr lang="zh-CN" altLang="en-US" sz="1600" dirty="0"/>
              <a:t>加密方式等，包括：管理报文</a:t>
            </a:r>
            <a:r>
              <a:rPr lang="en-US" altLang="zh-CN" sz="1600" dirty="0"/>
              <a:t>CAPWAP</a:t>
            </a:r>
            <a:r>
              <a:rPr lang="zh-CN" altLang="en-US" sz="1600" dirty="0"/>
              <a:t>隧道的</a:t>
            </a:r>
            <a:r>
              <a:rPr lang="en-US" altLang="zh-CN" sz="1600" dirty="0"/>
              <a:t>DTLS</a:t>
            </a:r>
            <a:r>
              <a:rPr lang="zh-CN" altLang="en-US" sz="1600" dirty="0"/>
              <a:t>加密，业务数据报文</a:t>
            </a:r>
            <a:r>
              <a:rPr lang="en-US" altLang="zh-CN" sz="1600" dirty="0"/>
              <a:t>CAPWAP</a:t>
            </a:r>
            <a:r>
              <a:rPr lang="zh-CN" altLang="en-US" sz="1600" dirty="0"/>
              <a:t>隧道的</a:t>
            </a:r>
            <a:r>
              <a:rPr lang="en-US" altLang="zh-CN" sz="1600" dirty="0"/>
              <a:t>DTLS</a:t>
            </a:r>
            <a:r>
              <a:rPr lang="zh-CN" altLang="en-US" sz="1600" dirty="0"/>
              <a:t>加密，敏感信息加密，完整性校验。</a:t>
            </a:r>
            <a:endParaRPr lang="en-US" altLang="zh-CN" sz="1600" dirty="0"/>
          </a:p>
        </p:txBody>
      </p:sp>
      <p:sp>
        <p:nvSpPr>
          <p:cNvPr id="9" name="五边形 8"/>
          <p:cNvSpPr/>
          <p:nvPr/>
        </p:nvSpPr>
        <p:spPr bwMode="gray">
          <a:xfrm>
            <a:off x="9673116" y="114957"/>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10" name="燕尾形 9"/>
          <p:cNvSpPr/>
          <p:nvPr/>
        </p:nvSpPr>
        <p:spPr bwMode="gray">
          <a:xfrm>
            <a:off x="10669087" y="114957"/>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72841010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7996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服务质量设计概述</a:t>
            </a:r>
          </a:p>
        </p:txBody>
      </p:sp>
      <p:sp>
        <p:nvSpPr>
          <p:cNvPr id="3" name="文本占位符 2"/>
          <p:cNvSpPr>
            <a:spLocks noGrp="1"/>
          </p:cNvSpPr>
          <p:nvPr>
            <p:ph type="body" sz="quarter" idx="10"/>
          </p:nvPr>
        </p:nvSpPr>
        <p:spPr/>
        <p:txBody>
          <a:bodyPr/>
          <a:lstStyle/>
          <a:p>
            <a:r>
              <a:rPr lang="zh-CN" altLang="en-US" sz="1800" dirty="0"/>
              <a:t>大中型园区网络中，除了传统的</a:t>
            </a:r>
            <a:r>
              <a:rPr lang="en-US" altLang="zh-CN" sz="1800" dirty="0"/>
              <a:t>WWW</a:t>
            </a:r>
            <a:r>
              <a:rPr lang="zh-CN" altLang="en-US" sz="1800" dirty="0"/>
              <a:t>、</a:t>
            </a:r>
            <a:r>
              <a:rPr lang="en-US" altLang="zh-CN" sz="1800" dirty="0"/>
              <a:t>E-Mail</a:t>
            </a:r>
            <a:r>
              <a:rPr lang="zh-CN" altLang="en-US" sz="1800" dirty="0"/>
              <a:t>、</a:t>
            </a:r>
            <a:r>
              <a:rPr lang="en-US" altLang="zh-CN" sz="1800" dirty="0"/>
              <a:t>FTP</a:t>
            </a:r>
            <a:r>
              <a:rPr lang="zh-CN" altLang="en-US" sz="1800" dirty="0"/>
              <a:t>等数据业务，还承载着视频监控、电视会议、语音电话、生产调度等业务，这些业务有一个共同特点，即对带宽、延迟、抖动等传输性能有着特殊的需求。比如视频监控、电视会议需要高带宽、低延迟、低抖动的保证。语音业务虽然不一定要求高带宽，但非常注重时延，在拥塞发生时要求优先获得处理。</a:t>
            </a:r>
          </a:p>
          <a:p>
            <a:r>
              <a:rPr lang="en-US" altLang="zh-CN" sz="1800" dirty="0"/>
              <a:t>QoS</a:t>
            </a:r>
            <a:r>
              <a:rPr lang="zh-CN" altLang="en-US" sz="1800" dirty="0"/>
              <a:t>（</a:t>
            </a:r>
            <a:r>
              <a:rPr lang="en-US" altLang="zh-CN" sz="1800" dirty="0"/>
              <a:t>Quality of Service</a:t>
            </a:r>
            <a:r>
              <a:rPr lang="zh-CN" altLang="en-US" sz="1800" dirty="0"/>
              <a:t>，服务质量）的目的是针对各种业务的不同需求，使网络在传输数据流时能满足一系列的服务质量保障，涉及带宽、延迟、抖动、丢包率、吞吐量等性能指标。针对带宽、时延、抖动、丢包率等要求，</a:t>
            </a:r>
            <a:r>
              <a:rPr lang="en-US" altLang="zh-CN" sz="1800" dirty="0"/>
              <a:t>QoS</a:t>
            </a:r>
            <a:r>
              <a:rPr lang="zh-CN" altLang="en-US" sz="1800" dirty="0"/>
              <a:t>可以通过优先级映射、流量监管、流量整形、队列调度、拥塞避免等技术提升网络服务质量，满足用户在有限的资源限制情况下，获得多业务部署的最佳体验。</a:t>
            </a:r>
            <a:endParaRPr lang="en-US" altLang="zh-CN" sz="1800" dirty="0"/>
          </a:p>
          <a:p>
            <a:r>
              <a:rPr lang="en-US" altLang="zh-CN" sz="1800" dirty="0"/>
              <a:t>QoS</a:t>
            </a:r>
            <a:r>
              <a:rPr lang="zh-CN" altLang="en-US" sz="1800" dirty="0"/>
              <a:t>设计流程通常按照需求调研分析、流量分类设计、调度策略设计</a:t>
            </a:r>
            <a:r>
              <a:rPr lang="en-US" altLang="zh-CN" sz="1800" dirty="0"/>
              <a:t>3</a:t>
            </a:r>
            <a:r>
              <a:rPr lang="zh-CN" altLang="en-US" sz="1800" dirty="0"/>
              <a:t>个步骤进行。</a:t>
            </a:r>
            <a:endParaRPr lang="en-US" altLang="zh-CN" sz="1800" dirty="0"/>
          </a:p>
        </p:txBody>
      </p:sp>
      <p:sp>
        <p:nvSpPr>
          <p:cNvPr id="4" name="五边形 3"/>
          <p:cNvSpPr/>
          <p:nvPr/>
        </p:nvSpPr>
        <p:spPr bwMode="gray">
          <a:xfrm>
            <a:off x="967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5" name="燕尾形 4"/>
          <p:cNvSpPr/>
          <p:nvPr/>
        </p:nvSpPr>
        <p:spPr bwMode="gray">
          <a:xfrm>
            <a:off x="10669087" y="114957"/>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0494517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需求调研分析</a:t>
            </a:r>
          </a:p>
        </p:txBody>
      </p:sp>
      <p:sp>
        <p:nvSpPr>
          <p:cNvPr id="3" name="文本占位符 2"/>
          <p:cNvSpPr>
            <a:spLocks noGrp="1"/>
          </p:cNvSpPr>
          <p:nvPr>
            <p:ph type="body" sz="quarter" idx="10"/>
          </p:nvPr>
        </p:nvSpPr>
        <p:spPr>
          <a:xfrm>
            <a:off x="455612" y="1047750"/>
            <a:ext cx="11293475" cy="1348941"/>
          </a:xfrm>
        </p:spPr>
        <p:txBody>
          <a:bodyPr/>
          <a:lstStyle/>
          <a:p>
            <a:r>
              <a:rPr lang="zh-CN" altLang="en-US" sz="1800" dirty="0"/>
              <a:t>在部署</a:t>
            </a:r>
            <a:r>
              <a:rPr lang="en-US" altLang="zh-CN" sz="1800" dirty="0"/>
              <a:t>QoS</a:t>
            </a:r>
            <a:r>
              <a:rPr lang="zh-CN" altLang="en-US" sz="1800" dirty="0"/>
              <a:t>之前，要准确掌握网络中各种业务及其流量模型，以及每种业务的服务质量需求。这样才能正确设计</a:t>
            </a:r>
            <a:r>
              <a:rPr lang="en-US" altLang="zh-CN" sz="1800" dirty="0"/>
              <a:t>QoS</a:t>
            </a:r>
            <a:r>
              <a:rPr lang="zh-CN" altLang="en-US" sz="1800" dirty="0"/>
              <a:t>策略，并对每一种业务给予对应的质量保证。</a:t>
            </a:r>
            <a:endParaRPr lang="en-US" altLang="zh-CN" sz="1800" dirty="0"/>
          </a:p>
          <a:p>
            <a:r>
              <a:rPr lang="en-US" altLang="zh-CN" sz="1800" dirty="0"/>
              <a:t>QoS</a:t>
            </a:r>
            <a:r>
              <a:rPr lang="zh-CN" altLang="en-US" sz="1800" dirty="0"/>
              <a:t>需求调研表：</a:t>
            </a:r>
          </a:p>
        </p:txBody>
      </p:sp>
      <p:graphicFrame>
        <p:nvGraphicFramePr>
          <p:cNvPr id="4" name="表格 3"/>
          <p:cNvGraphicFramePr>
            <a:graphicFrameLocks noGrp="1"/>
          </p:cNvGraphicFramePr>
          <p:nvPr>
            <p:extLst>
              <p:ext uri="{D42A27DB-BD31-4B8C-83A1-F6EECF244321}">
                <p14:modId xmlns:p14="http://schemas.microsoft.com/office/powerpoint/2010/main" val="1219289893"/>
              </p:ext>
            </p:extLst>
          </p:nvPr>
        </p:nvGraphicFramePr>
        <p:xfrm>
          <a:off x="932656" y="2396691"/>
          <a:ext cx="10326687" cy="3711068"/>
        </p:xfrm>
        <a:graphic>
          <a:graphicData uri="http://schemas.openxmlformats.org/drawingml/2006/table">
            <a:tbl>
              <a:tblPr/>
              <a:tblGrid>
                <a:gridCol w="1088628">
                  <a:extLst>
                    <a:ext uri="{9D8B030D-6E8A-4147-A177-3AD203B41FA5}">
                      <a16:colId xmlns:a16="http://schemas.microsoft.com/office/drawing/2014/main" val="20000"/>
                    </a:ext>
                  </a:extLst>
                </a:gridCol>
                <a:gridCol w="5990211">
                  <a:extLst>
                    <a:ext uri="{9D8B030D-6E8A-4147-A177-3AD203B41FA5}">
                      <a16:colId xmlns:a16="http://schemas.microsoft.com/office/drawing/2014/main" val="20001"/>
                    </a:ext>
                  </a:extLst>
                </a:gridCol>
                <a:gridCol w="3247848">
                  <a:extLst>
                    <a:ext uri="{9D8B030D-6E8A-4147-A177-3AD203B41FA5}">
                      <a16:colId xmlns:a16="http://schemas.microsoft.com/office/drawing/2014/main" val="20002"/>
                    </a:ext>
                  </a:extLst>
                </a:gridCol>
              </a:tblGrid>
              <a:tr h="26108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需求类型</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需求调研关注点</a:t>
                      </a: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调研目的</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390122">
                <a:tc rowSpan="2">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网络现状</a:t>
                      </a:r>
                    </a:p>
                  </a:txBody>
                  <a:tcPr anchor="ctr">
                    <a:lnL w="28575" cap="flat" cmpd="sng" algn="ctr">
                      <a:solidFill>
                        <a:schemeClr val="tx1"/>
                      </a:solidFill>
                      <a:prstDash val="solid"/>
                      <a:round/>
                      <a:headEnd type="none" w="med" len="med"/>
                      <a:tailEnd type="none" w="med" len="med"/>
                    </a:lnL>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各种业务的流量模型，每种业务的端到端转发路径，包括正常和异常情况下的转发路径。</a:t>
                      </a: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l" defTabSz="1187798" rtl="0" eaLnBrk="1" fontAlgn="base" latinLnBrk="0" hangingPunct="1">
                        <a:lnSpc>
                          <a:spcPct val="130000"/>
                        </a:lnSpc>
                        <a:spcBef>
                          <a:spcPct val="0"/>
                        </a:spcBef>
                        <a:spcAft>
                          <a:spcPct val="0"/>
                        </a:spcAft>
                        <a:buFont typeface="Arial" panose="020B0604020202020204" pitchFamily="34" charset="0"/>
                        <a:buNone/>
                      </a:pP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mn-lt"/>
                        </a:rPr>
                        <a:t>确定网络中需要部署</a:t>
                      </a:r>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mn-lt"/>
                        </a:rPr>
                        <a:t>QoS</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mn-lt"/>
                        </a:rPr>
                        <a:t>策略的位置。</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46774">
                <a:tc vMerge="1">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latinLnBrk="0" hangingPunct="1"/>
                      <a:endPar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网络中存在的带宽瓶颈点，以及各个带宽瓶颈点的接口带宽。</a:t>
                      </a: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l" defTabSz="1187798" rtl="0" eaLnBrk="1" fontAlgn="base" latinLnBrk="0" hangingPunct="1">
                        <a:lnSpc>
                          <a:spcPct val="130000"/>
                        </a:lnSpc>
                        <a:spcBef>
                          <a:spcPct val="0"/>
                        </a:spcBef>
                        <a:spcAft>
                          <a:spcPct val="0"/>
                        </a:spcAft>
                      </a:pP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mn-lt"/>
                        </a:rPr>
                        <a:t>确定是采取</a:t>
                      </a:r>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mn-lt"/>
                        </a:rPr>
                        <a:t>QoS</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mn-lt"/>
                        </a:rPr>
                        <a:t>策略还是进行网络扩容。</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46774">
                <a:tc rowSpan="4">
                  <a:txBody>
                    <a:bodyPr/>
                    <a:lstStyle/>
                    <a:p>
                      <a:pPr marL="0" algn="ctr" defTabSz="1187798" rtl="0" eaLnBrk="1" latinLnBrk="0" hangingPunct="1"/>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QoS</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需求</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网络中存在的控制类、多媒体类以及其它需要重点关注的重要业务。</a:t>
                      </a:r>
                    </a:p>
                  </a:txBody>
                  <a:tcPr anchor="ctr"/>
                </a:tc>
                <a:tc rowSpan="4">
                  <a:txBody>
                    <a:bodyPr/>
                    <a:lstStyle/>
                    <a:p>
                      <a:pPr marL="0" algn="l" defTabSz="1187798" rtl="0" eaLnBrk="1" fontAlgn="base" latinLnBrk="0" hangingPunct="1">
                        <a:lnSpc>
                          <a:spcPct val="130000"/>
                        </a:lnSpc>
                        <a:spcBef>
                          <a:spcPct val="0"/>
                        </a:spcBef>
                        <a:spcAft>
                          <a:spcPct val="0"/>
                        </a:spcAft>
                      </a:pP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mn-lt"/>
                        </a:rPr>
                        <a:t>明确流量分类以及各分类的质量需求。</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31520">
                <a:tc vMerge="1">
                  <a:txBody>
                    <a:bodyPr/>
                    <a:lstStyle/>
                    <a:p>
                      <a:pPr marL="0" algn="ctr" defTabSz="1187798" rtl="0" eaLnBrk="1" latinLnBrk="0" hangingPunct="1"/>
                      <a:endPar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各类流量可以让网络设备识别的特征。</a:t>
                      </a:r>
                      <a:endPar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例如语音类流量是否采用专有协议（例如</a:t>
                      </a:r>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SIP</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H.323</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协议），流量是否去往或来自特定服务器的特定端口，流量是否去往或来自特定的主机网段等。</a:t>
                      </a:r>
                    </a:p>
                  </a:txBody>
                  <a:tcPr anchor="ctr"/>
                </a:tc>
                <a:tc vMerge="1">
                  <a:txBody>
                    <a:bodyPr/>
                    <a:lstStyle/>
                    <a:p>
                      <a:pPr marL="0" algn="l" defTabSz="1187798" rtl="0" eaLnBrk="1" fontAlgn="base" latinLnBrk="0" hangingPunct="1">
                        <a:lnSpc>
                          <a:spcPct val="130000"/>
                        </a:lnSpc>
                        <a:spcBef>
                          <a:spcPct val="0"/>
                        </a:spcBef>
                        <a:spcAft>
                          <a:spcPct val="0"/>
                        </a:spcAft>
                      </a:pPr>
                      <a:endPar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mn-lt"/>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731520">
                <a:tc vMerge="1">
                  <a:txBody>
                    <a:bodyPr/>
                    <a:lstStyle/>
                    <a:p>
                      <a:pPr marL="0" algn="ctr" defTabSz="1187798" rtl="0" eaLnBrk="1" latinLnBrk="0" hangingPunct="1"/>
                      <a:endPar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重要业务的带宽需求。</a:t>
                      </a:r>
                      <a:endPar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例如不同厂商和码率的多媒体业务需要不同的带宽才可保证画面或音频的流畅。</a:t>
                      </a:r>
                    </a:p>
                  </a:txBody>
                  <a:tcPr anchor="ctr"/>
                </a:tc>
                <a:tc vMerge="1">
                  <a:txBody>
                    <a:bodyPr/>
                    <a:lstStyle/>
                    <a:p>
                      <a:pPr marL="0" algn="l" defTabSz="1187798" rtl="0" eaLnBrk="1" fontAlgn="base" latinLnBrk="0" hangingPunct="1">
                        <a:lnSpc>
                          <a:spcPct val="130000"/>
                        </a:lnSpc>
                        <a:spcBef>
                          <a:spcPct val="0"/>
                        </a:spcBef>
                        <a:spcAft>
                          <a:spcPct val="0"/>
                        </a:spcAft>
                      </a:pPr>
                      <a:endPar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mn-lt"/>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731520">
                <a:tc vMerge="1">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latinLnBrk="0" hangingPunct="1"/>
                      <a:endPar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企业对于不同多媒体应用的处理策略。</a:t>
                      </a:r>
                      <a:endPar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例如针对在线视频，有的企业认为需要保证内网网站提供的在线视频，但是对于</a:t>
                      </a:r>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提供的在线视频与工作无关，无须保证。</a:t>
                      </a:r>
                    </a:p>
                  </a:txBody>
                  <a:tcPr anchor="ctr">
                    <a:lnB w="28575" cap="flat" cmpd="sng" algn="ctr">
                      <a:solidFill>
                        <a:schemeClr val="tx1"/>
                      </a:solidFill>
                      <a:prstDash val="solid"/>
                      <a:round/>
                      <a:headEnd type="none" w="med" len="med"/>
                      <a:tailEnd type="none" w="med" len="med"/>
                    </a:lnB>
                  </a:tcPr>
                </a:tc>
                <a:tc vMerge="1">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l" defTabSz="1187798" rtl="0" eaLnBrk="1" fontAlgn="base" latinLnBrk="0" hangingPunct="1">
                        <a:lnSpc>
                          <a:spcPct val="130000"/>
                        </a:lnSpc>
                        <a:spcBef>
                          <a:spcPct val="0"/>
                        </a:spcBef>
                        <a:spcAft>
                          <a:spcPct val="0"/>
                        </a:spcAft>
                      </a:pPr>
                      <a:endPar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mn-lt"/>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五边形 4"/>
          <p:cNvSpPr/>
          <p:nvPr/>
        </p:nvSpPr>
        <p:spPr bwMode="gray">
          <a:xfrm>
            <a:off x="967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6" name="燕尾形 5"/>
          <p:cNvSpPr/>
          <p:nvPr/>
        </p:nvSpPr>
        <p:spPr bwMode="gray">
          <a:xfrm>
            <a:off x="10669087" y="114957"/>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0048109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流量分类设计 </a:t>
            </a:r>
            <a:r>
              <a:rPr lang="en-US" altLang="zh-CN" dirty="0"/>
              <a:t>(1)</a:t>
            </a:r>
            <a:endParaRPr lang="zh-CN" altLang="en-US" dirty="0"/>
          </a:p>
        </p:txBody>
      </p:sp>
      <p:sp>
        <p:nvSpPr>
          <p:cNvPr id="3" name="文本占位符 2"/>
          <p:cNvSpPr>
            <a:spLocks noGrp="1"/>
          </p:cNvSpPr>
          <p:nvPr>
            <p:ph type="body" sz="quarter" idx="10"/>
          </p:nvPr>
        </p:nvSpPr>
        <p:spPr/>
        <p:txBody>
          <a:bodyPr/>
          <a:lstStyle/>
          <a:p>
            <a:r>
              <a:rPr lang="zh-CN" altLang="en-US" sz="1800" dirty="0"/>
              <a:t>大中型园区网络中承载的业务一般有语音、视频和数据业务，以及传输业务数据需要的网络协议控制信令。</a:t>
            </a:r>
            <a:endParaRPr lang="en-US" altLang="zh-CN" sz="1800" dirty="0"/>
          </a:p>
          <a:p>
            <a:r>
              <a:rPr lang="zh-CN" altLang="en-US" sz="1800" dirty="0"/>
              <a:t>各种业务的</a:t>
            </a:r>
            <a:r>
              <a:rPr lang="en-US" altLang="zh-CN" sz="1800" dirty="0"/>
              <a:t>QoS</a:t>
            </a:r>
            <a:r>
              <a:rPr lang="zh-CN" altLang="en-US" sz="1800" dirty="0"/>
              <a:t>指标主要有带宽、丢包率、时延和抖动。在网络层面，除了带宽可以显式控制之外，丢包率、时延和抖动都很难通过明确的参数配置去指定。</a:t>
            </a:r>
            <a:endParaRPr lang="en-US" altLang="zh-CN" sz="1800" dirty="0"/>
          </a:p>
          <a:p>
            <a:r>
              <a:rPr lang="zh-CN" altLang="en-US" sz="1800" dirty="0"/>
              <a:t>常见业务的特征分析及其对于</a:t>
            </a:r>
            <a:r>
              <a:rPr lang="en-US" altLang="zh-CN" sz="1800" dirty="0"/>
              <a:t>QoS</a:t>
            </a:r>
            <a:r>
              <a:rPr lang="zh-CN" altLang="en-US" sz="1800" dirty="0"/>
              <a:t>的质量要求：</a:t>
            </a:r>
          </a:p>
        </p:txBody>
      </p:sp>
      <p:graphicFrame>
        <p:nvGraphicFramePr>
          <p:cNvPr id="4" name="表格 3"/>
          <p:cNvGraphicFramePr>
            <a:graphicFrameLocks noGrp="1"/>
          </p:cNvGraphicFramePr>
          <p:nvPr>
            <p:extLst>
              <p:ext uri="{D42A27DB-BD31-4B8C-83A1-F6EECF244321}">
                <p14:modId xmlns:p14="http://schemas.microsoft.com/office/powerpoint/2010/main" val="1552174486"/>
              </p:ext>
            </p:extLst>
          </p:nvPr>
        </p:nvGraphicFramePr>
        <p:xfrm>
          <a:off x="1000035" y="2841747"/>
          <a:ext cx="10174897" cy="3322320"/>
        </p:xfrm>
        <a:graphic>
          <a:graphicData uri="http://schemas.openxmlformats.org/drawingml/2006/table">
            <a:tbl>
              <a:tblPr/>
              <a:tblGrid>
                <a:gridCol w="1261904">
                  <a:extLst>
                    <a:ext uri="{9D8B030D-6E8A-4147-A177-3AD203B41FA5}">
                      <a16:colId xmlns:a16="http://schemas.microsoft.com/office/drawing/2014/main" val="20000"/>
                    </a:ext>
                  </a:extLst>
                </a:gridCol>
                <a:gridCol w="6073541">
                  <a:extLst>
                    <a:ext uri="{9D8B030D-6E8A-4147-A177-3AD203B41FA5}">
                      <a16:colId xmlns:a16="http://schemas.microsoft.com/office/drawing/2014/main" val="20001"/>
                    </a:ext>
                  </a:extLst>
                </a:gridCol>
                <a:gridCol w="946484">
                  <a:extLst>
                    <a:ext uri="{9D8B030D-6E8A-4147-A177-3AD203B41FA5}">
                      <a16:colId xmlns:a16="http://schemas.microsoft.com/office/drawing/2014/main" val="20002"/>
                    </a:ext>
                  </a:extLst>
                </a:gridCol>
                <a:gridCol w="946484">
                  <a:extLst>
                    <a:ext uri="{9D8B030D-6E8A-4147-A177-3AD203B41FA5}">
                      <a16:colId xmlns:a16="http://schemas.microsoft.com/office/drawing/2014/main" val="20003"/>
                    </a:ext>
                  </a:extLst>
                </a:gridCol>
                <a:gridCol w="946484">
                  <a:extLst>
                    <a:ext uri="{9D8B030D-6E8A-4147-A177-3AD203B41FA5}">
                      <a16:colId xmlns:a16="http://schemas.microsoft.com/office/drawing/2014/main" val="20004"/>
                    </a:ext>
                  </a:extLst>
                </a:gridCol>
              </a:tblGrid>
              <a:tr h="279133">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业务分类</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典型应用或协议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丢包质量</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容忍度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时延质量</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容忍度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抖动质量</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容忍度</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2000">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网络协议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主要包括保证网络互连互通的各种链路层破环协议、路由协议、组播组管理协议等网络设备间通信协议。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2000">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管理协议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主要指网络管理员对网络设备进行监控、配置下发、故障诊断的各种协议。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2000">
                <a:tc>
                  <a:txBody>
                    <a:bodyPr/>
                    <a:lstStyle/>
                    <a:p>
                      <a:pPr marL="0" algn="ctr" defTabSz="1187798" rtl="0" eaLnBrk="1" latinLnBrk="0" hangingPunct="1"/>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VoIP</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数据流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网络进行实时语音通话。要求得到低时延，低抖动的网络质量；否则，通话双方可以明显感知质量受损。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非常低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非常低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非常低</a:t>
                      </a:r>
                      <a:endPar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语音信令</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负责控制</a:t>
                      </a:r>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VoIP</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通话，建立通信信道的信令协议。信令协议通常可以认为比</a:t>
                      </a:r>
                      <a:r>
                        <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VoIP</a:t>
                      </a: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数据流部分优先级低，因为大部分人认为通话中断断续续比无法打通电话体验更差。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允许</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多媒体会议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通过</a:t>
                      </a:r>
                      <a:r>
                        <a:rPr lang="en-US" altLang="zh-CN" sz="1400" kern="1200" dirty="0">
                          <a:solidFill>
                            <a:schemeClr val="tx1"/>
                          </a:solidFill>
                          <a:latin typeface="Huawei Sans" panose="020C0503030203020204" pitchFamily="34" charset="0"/>
                          <a:ea typeface="方正兰亭黑简体" panose="02000000000000000000" pitchFamily="2" charset="-122"/>
                          <a:cs typeface="+mn-ea"/>
                        </a:rPr>
                        <a:t>IP</a:t>
                      </a:r>
                      <a:r>
                        <a:rPr lang="zh-CN" altLang="en-US" sz="1400" kern="1200" dirty="0">
                          <a:solidFill>
                            <a:schemeClr val="tx1"/>
                          </a:solidFill>
                          <a:latin typeface="Huawei Sans" panose="020C0503030203020204" pitchFamily="34" charset="0"/>
                          <a:ea typeface="方正兰亭黑简体" panose="02000000000000000000" pitchFamily="2" charset="-122"/>
                          <a:cs typeface="+mn-ea"/>
                        </a:rPr>
                        <a:t>网络进行现场镜头或电脑桌面的多方共享。同时协议或应用程序本身具有码率自适应的功能，可以在网络质量较差时通过自动降低码率，即画面的清晰度，来保证画面的流畅性。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中低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非常低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五边形 4"/>
          <p:cNvSpPr/>
          <p:nvPr/>
        </p:nvSpPr>
        <p:spPr bwMode="gray">
          <a:xfrm>
            <a:off x="967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6" name="燕尾形 5"/>
          <p:cNvSpPr/>
          <p:nvPr/>
        </p:nvSpPr>
        <p:spPr bwMode="gray">
          <a:xfrm>
            <a:off x="10669087" y="114957"/>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297878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流量分类设计 </a:t>
            </a:r>
            <a:r>
              <a:rPr lang="en-US" altLang="zh-CN" dirty="0"/>
              <a:t>(2)</a:t>
            </a:r>
            <a:endParaRPr lang="zh-CN" altLang="en-US" dirty="0"/>
          </a:p>
        </p:txBody>
      </p:sp>
      <p:sp>
        <p:nvSpPr>
          <p:cNvPr id="3" name="文本占位符 2"/>
          <p:cNvSpPr>
            <a:spLocks noGrp="1"/>
          </p:cNvSpPr>
          <p:nvPr>
            <p:ph type="body" sz="quarter" idx="10"/>
          </p:nvPr>
        </p:nvSpPr>
        <p:spPr>
          <a:xfrm>
            <a:off x="455612" y="1047750"/>
            <a:ext cx="11293475" cy="436563"/>
          </a:xfrm>
        </p:spPr>
        <p:txBody>
          <a:bodyPr/>
          <a:lstStyle/>
          <a:p>
            <a:r>
              <a:rPr lang="zh-CN" altLang="en-US" sz="1800" dirty="0"/>
              <a:t>常见业务的特征分析及其对于</a:t>
            </a:r>
            <a:r>
              <a:rPr lang="en-US" altLang="zh-CN" sz="1800" dirty="0"/>
              <a:t>QoS</a:t>
            </a:r>
            <a:r>
              <a:rPr lang="zh-CN" altLang="en-US" sz="1800" dirty="0"/>
              <a:t>的质量要求（续）：</a:t>
            </a:r>
          </a:p>
        </p:txBody>
      </p:sp>
      <p:graphicFrame>
        <p:nvGraphicFramePr>
          <p:cNvPr id="4" name="表格 3"/>
          <p:cNvGraphicFramePr>
            <a:graphicFrameLocks noGrp="1"/>
          </p:cNvGraphicFramePr>
          <p:nvPr>
            <p:extLst>
              <p:ext uri="{D42A27DB-BD31-4B8C-83A1-F6EECF244321}">
                <p14:modId xmlns:p14="http://schemas.microsoft.com/office/powerpoint/2010/main" val="849462145"/>
              </p:ext>
            </p:extLst>
          </p:nvPr>
        </p:nvGraphicFramePr>
        <p:xfrm>
          <a:off x="1009658" y="1656144"/>
          <a:ext cx="10174897" cy="3931920"/>
        </p:xfrm>
        <a:graphic>
          <a:graphicData uri="http://schemas.openxmlformats.org/drawingml/2006/table">
            <a:tbl>
              <a:tblPr/>
              <a:tblGrid>
                <a:gridCol w="1261904">
                  <a:extLst>
                    <a:ext uri="{9D8B030D-6E8A-4147-A177-3AD203B41FA5}">
                      <a16:colId xmlns:a16="http://schemas.microsoft.com/office/drawing/2014/main" val="20000"/>
                    </a:ext>
                  </a:extLst>
                </a:gridCol>
                <a:gridCol w="6073541">
                  <a:extLst>
                    <a:ext uri="{9D8B030D-6E8A-4147-A177-3AD203B41FA5}">
                      <a16:colId xmlns:a16="http://schemas.microsoft.com/office/drawing/2014/main" val="20001"/>
                    </a:ext>
                  </a:extLst>
                </a:gridCol>
                <a:gridCol w="946484">
                  <a:extLst>
                    <a:ext uri="{9D8B030D-6E8A-4147-A177-3AD203B41FA5}">
                      <a16:colId xmlns:a16="http://schemas.microsoft.com/office/drawing/2014/main" val="20002"/>
                    </a:ext>
                  </a:extLst>
                </a:gridCol>
                <a:gridCol w="946484">
                  <a:extLst>
                    <a:ext uri="{9D8B030D-6E8A-4147-A177-3AD203B41FA5}">
                      <a16:colId xmlns:a16="http://schemas.microsoft.com/office/drawing/2014/main" val="20003"/>
                    </a:ext>
                  </a:extLst>
                </a:gridCol>
                <a:gridCol w="946484">
                  <a:extLst>
                    <a:ext uri="{9D8B030D-6E8A-4147-A177-3AD203B41FA5}">
                      <a16:colId xmlns:a16="http://schemas.microsoft.com/office/drawing/2014/main" val="20004"/>
                    </a:ext>
                  </a:extLst>
                </a:gridCol>
              </a:tblGrid>
              <a:tr h="279133">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业务分类</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典型应用或协议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丢包质量</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容忍度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时延质量</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容忍度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抖动质量</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容忍度</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游戏</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需要网络提供低丢包、时延和抖动的在线交互程序，操作方希望得到快速和准确的响应。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a:solidFill>
                            <a:schemeClr val="tx1"/>
                          </a:solidFill>
                          <a:latin typeface="Huawei Sans" panose="020C0503030203020204" pitchFamily="34" charset="0"/>
                          <a:ea typeface="方正兰亭黑简体" panose="02000000000000000000" pitchFamily="2" charset="-122"/>
                          <a:cs typeface="+mn-ea"/>
                        </a:rPr>
                        <a:t>非常低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流媒体</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通过网络进行在线音频、视频的收听和观看。由于这些音视频节目都是提前制作好的，观看者的终端通常也可以先进行缓存再进行播放。因此降低了对网络时延、丢包和抖动的要求。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中低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允许</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在线直播</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与流媒体不同，在线直播的数据发送和接收都是实时的，虽然在终端侧也可以提供缓存机制，但是由于其对实时性的要求，为了保证良好的观看效果，需要网络提供较低的丢包和抖动。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a:solidFill>
                            <a:schemeClr val="tx1"/>
                          </a:solidFill>
                          <a:latin typeface="Huawei Sans" panose="020C0503030203020204" pitchFamily="34" charset="0"/>
                          <a:ea typeface="方正兰亭黑简体" panose="02000000000000000000" pitchFamily="2" charset="-122"/>
                          <a:cs typeface="+mn-ea"/>
                        </a:rPr>
                        <a:t>非常低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低延时</a:t>
                      </a:r>
                      <a:endParaRPr lang="en-US" altLang="zh-CN" sz="1400" kern="1200" dirty="0">
                        <a:solidFill>
                          <a:schemeClr val="tx1"/>
                        </a:solidFill>
                        <a:latin typeface="Huawei Sans" panose="020C0503030203020204" pitchFamily="34" charset="0"/>
                        <a:ea typeface="方正兰亭黑简体" panose="02000000000000000000" pitchFamily="2" charset="-122"/>
                        <a:cs typeface="+mn-ea"/>
                      </a:endParaRPr>
                    </a:p>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数据业务</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用户在等待输出结果的数据业务。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a:solidFill>
                            <a:schemeClr val="tx1"/>
                          </a:solidFill>
                          <a:latin typeface="Huawei Sans" panose="020C0503030203020204" pitchFamily="34" charset="0"/>
                          <a:ea typeface="方正兰亭黑简体" panose="02000000000000000000" pitchFamily="2" charset="-122"/>
                          <a:cs typeface="+mn-ea"/>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a:solidFill>
                            <a:schemeClr val="tx1"/>
                          </a:solidFill>
                          <a:latin typeface="Huawei Sans" panose="020C0503030203020204" pitchFamily="34" charset="0"/>
                          <a:ea typeface="方正兰亭黑简体" panose="02000000000000000000" pitchFamily="2" charset="-122"/>
                          <a:cs typeface="+mn-ea"/>
                        </a:rPr>
                        <a:t>中低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允许</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大数据量业务</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存在长时间大量数据传输行为的网络业务。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a:solidFill>
                            <a:schemeClr val="tx1"/>
                          </a:solidFill>
                          <a:latin typeface="Huawei Sans" panose="020C0503030203020204" pitchFamily="34" charset="0"/>
                          <a:ea typeface="方正兰亭黑简体" panose="02000000000000000000" pitchFamily="2" charset="-122"/>
                          <a:cs typeface="+mn-ea"/>
                        </a:rPr>
                        <a:t>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中高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允许</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普通业务</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企业网络中对网络无特殊要求，重要性也不高的基本业务。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无要求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无要求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无要求</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52000">
                <a:tc>
                  <a:txBody>
                    <a:bodyPr/>
                    <a:lstStyle/>
                    <a:p>
                      <a:pPr marL="0" algn="ctr"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低优先级业务</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企业不想关心和保证的业务。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a:solidFill>
                            <a:schemeClr val="tx1"/>
                          </a:solidFill>
                          <a:latin typeface="Huawei Sans" panose="020C0503030203020204" pitchFamily="34" charset="0"/>
                          <a:ea typeface="方正兰亭黑简体" panose="02000000000000000000" pitchFamily="2" charset="-122"/>
                          <a:cs typeface="+mn-ea"/>
                        </a:rPr>
                        <a:t>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1187798" rtl="0" eaLnBrk="1" latinLnBrk="0" hangingPunct="1"/>
                      <a:r>
                        <a:rPr lang="zh-CN" altLang="en-US" sz="1400" kern="1200" dirty="0">
                          <a:solidFill>
                            <a:schemeClr val="tx1"/>
                          </a:solidFill>
                          <a:latin typeface="Huawei Sans" panose="020C0503030203020204" pitchFamily="34" charset="0"/>
                          <a:ea typeface="方正兰亭黑简体" panose="02000000000000000000" pitchFamily="2" charset="-122"/>
                          <a:cs typeface="+mn-ea"/>
                        </a:rPr>
                        <a:t>允许</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五边形 4"/>
          <p:cNvSpPr/>
          <p:nvPr/>
        </p:nvSpPr>
        <p:spPr bwMode="gray">
          <a:xfrm>
            <a:off x="967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6" name="燕尾形 5"/>
          <p:cNvSpPr/>
          <p:nvPr/>
        </p:nvSpPr>
        <p:spPr bwMode="gray">
          <a:xfrm>
            <a:off x="10669087" y="114957"/>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2852890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调度策略设计</a:t>
            </a:r>
            <a:endParaRPr lang="zh-CN" altLang="en-US" dirty="0"/>
          </a:p>
        </p:txBody>
      </p:sp>
      <p:sp>
        <p:nvSpPr>
          <p:cNvPr id="3" name="文本占位符 2"/>
          <p:cNvSpPr>
            <a:spLocks noGrp="1"/>
          </p:cNvSpPr>
          <p:nvPr>
            <p:ph type="body" sz="quarter" idx="10"/>
          </p:nvPr>
        </p:nvSpPr>
        <p:spPr>
          <a:xfrm>
            <a:off x="455612" y="1047751"/>
            <a:ext cx="11293475" cy="856354"/>
          </a:xfrm>
        </p:spPr>
        <p:txBody>
          <a:bodyPr/>
          <a:lstStyle/>
          <a:p>
            <a:r>
              <a:rPr lang="zh-CN" altLang="en-US" sz="1800" dirty="0"/>
              <a:t>传统</a:t>
            </a:r>
            <a:r>
              <a:rPr lang="en-US" altLang="zh-CN" sz="1800" dirty="0"/>
              <a:t>QoS</a:t>
            </a:r>
            <a:r>
              <a:rPr lang="zh-CN" altLang="en-US" sz="1800" dirty="0"/>
              <a:t>调度策略设计可以分为有线网络和无线网络（</a:t>
            </a:r>
            <a:r>
              <a:rPr lang="en-US" altLang="zh-CN" sz="1800" dirty="0"/>
              <a:t>WLAN</a:t>
            </a:r>
            <a:r>
              <a:rPr lang="zh-CN" altLang="en-US" sz="1800" dirty="0"/>
              <a:t>）两部分，其中</a:t>
            </a:r>
            <a:r>
              <a:rPr lang="en-US" altLang="zh-CN" sz="1800" dirty="0"/>
              <a:t>WLAN</a:t>
            </a:r>
            <a:r>
              <a:rPr lang="zh-CN" altLang="en-US" sz="1800" dirty="0"/>
              <a:t>部分主要考虑无线终端业务相关的策略设计。</a:t>
            </a:r>
          </a:p>
        </p:txBody>
      </p:sp>
      <p:sp>
        <p:nvSpPr>
          <p:cNvPr id="6" name="圆角矩形 75"/>
          <p:cNvSpPr/>
          <p:nvPr/>
        </p:nvSpPr>
        <p:spPr bwMode="gray">
          <a:xfrm>
            <a:off x="881217" y="1908667"/>
            <a:ext cx="4680000" cy="328113"/>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有线调度策略设计</a:t>
            </a:r>
          </a:p>
        </p:txBody>
      </p:sp>
      <p:sp>
        <p:nvSpPr>
          <p:cNvPr id="7" name="圆角矩形 75"/>
          <p:cNvSpPr/>
          <p:nvPr/>
        </p:nvSpPr>
        <p:spPr bwMode="gray">
          <a:xfrm>
            <a:off x="881219" y="2304667"/>
            <a:ext cx="4680000" cy="2629470"/>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oAutofit/>
          </a:bodyPr>
          <a:lstStyle/>
          <a:p>
            <a:pPr marL="176213" indent="-176213" fontAlgn="base">
              <a:lnSpc>
                <a:spcPct val="1250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有线网络传统</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设计的基本原则是在不同</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域的边界处进行报文标记</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重标记，并进行带宽控制。</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fontAlgn="base">
              <a:lnSpc>
                <a:spcPct val="1250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在同一</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域内部的设备通常只需要按照边界设备的标记进行队列调度。</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fontAlgn="base">
              <a:lnSpc>
                <a:spcPct val="1250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通常部署业务主要分为以下三个方面：</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接入层流量识别</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汇聚层</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核心层</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DiffServ</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部署</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出口防火墙带宽控制</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p:cNvSpPr/>
          <p:nvPr/>
        </p:nvSpPr>
        <p:spPr bwMode="gray">
          <a:xfrm>
            <a:off x="6096000" y="1908667"/>
            <a:ext cx="4680000" cy="328113"/>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无线调度策略设计</a:t>
            </a:r>
          </a:p>
        </p:txBody>
      </p:sp>
      <p:sp>
        <p:nvSpPr>
          <p:cNvPr id="9" name="圆角矩形 75"/>
          <p:cNvSpPr/>
          <p:nvPr/>
        </p:nvSpPr>
        <p:spPr bwMode="gray">
          <a:xfrm>
            <a:off x="6095999" y="2304667"/>
            <a:ext cx="4680000" cy="2629470"/>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oAutofit/>
          </a:bodyPr>
          <a:lstStyle/>
          <a:p>
            <a:pPr marL="176213" indent="-176213" fontAlgn="base">
              <a:lnSpc>
                <a:spcPct val="1250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由于网络效率相对于有线网络普遍偏低，无线终端的体验更加敏感，因此针对无线终端</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策略，建议考虑如下设计：</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用户带宽</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信道抢占</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终端接入</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信号强度</a:t>
            </a:r>
          </a:p>
          <a:p>
            <a:pPr marL="465750" lvl="1" indent="-285750" fontAlgn="base">
              <a:lnSpc>
                <a:spcPct val="125000"/>
              </a:lnSpc>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组播业务体验</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465750" lvl="1" indent="-285750" fontAlgn="base">
              <a:lnSpc>
                <a:spcPct val="125000"/>
              </a:lnSpc>
              <a:spcAft>
                <a:spcPts val="600"/>
              </a:spcAft>
              <a:buSzPct val="50000"/>
              <a:buFont typeface="Wingdings" panose="05000000000000000000" pitchFamily="2" charset="2"/>
              <a:buChar char="p"/>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用户体验</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五边形 14"/>
          <p:cNvSpPr/>
          <p:nvPr/>
        </p:nvSpPr>
        <p:spPr bwMode="gray">
          <a:xfrm>
            <a:off x="967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16" name="燕尾形 15"/>
          <p:cNvSpPr/>
          <p:nvPr/>
        </p:nvSpPr>
        <p:spPr bwMode="gray">
          <a:xfrm>
            <a:off x="10669087" y="114957"/>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489089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91374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典型调度策略建议</a:t>
            </a:r>
            <a:endParaRPr lang="zh-CN" altLang="en-US" dirty="0"/>
          </a:p>
        </p:txBody>
      </p:sp>
      <p:sp>
        <p:nvSpPr>
          <p:cNvPr id="3" name="文本占位符 2"/>
          <p:cNvSpPr>
            <a:spLocks noGrp="1"/>
          </p:cNvSpPr>
          <p:nvPr>
            <p:ph type="body" sz="quarter" idx="10"/>
          </p:nvPr>
        </p:nvSpPr>
        <p:spPr>
          <a:xfrm>
            <a:off x="455612" y="1047751"/>
            <a:ext cx="11293475" cy="2030428"/>
          </a:xfrm>
        </p:spPr>
        <p:txBody>
          <a:bodyPr/>
          <a:lstStyle/>
          <a:p>
            <a:r>
              <a:rPr lang="zh-CN" altLang="en-US" sz="1800" dirty="0"/>
              <a:t>不同企业对数据的重要程度认识不同，例如门户网站认为</a:t>
            </a:r>
            <a:r>
              <a:rPr lang="en-US" altLang="zh-CN" sz="1800" dirty="0"/>
              <a:t>Internet</a:t>
            </a:r>
            <a:r>
              <a:rPr lang="zh-CN" altLang="en-US" sz="1800" dirty="0"/>
              <a:t>访问流量、网络游戏流量为重要业务；而金融行业则可能认为实时交易为重要业务，甚至超过语音业务；在金融系统，</a:t>
            </a:r>
            <a:r>
              <a:rPr lang="en-US" altLang="zh-CN" sz="1800" dirty="0"/>
              <a:t>Internet</a:t>
            </a:r>
            <a:r>
              <a:rPr lang="zh-CN" altLang="en-US" sz="1800" dirty="0"/>
              <a:t>访问及网络游戏的流量可能被定义为垃圾流量。因此实际网络中，应该根据每个企业的实际业务类型以及企业对各项业务的</a:t>
            </a:r>
            <a:r>
              <a:rPr lang="en-US" altLang="zh-CN" sz="1800" dirty="0"/>
              <a:t>QoS</a:t>
            </a:r>
            <a:r>
              <a:rPr lang="zh-CN" altLang="en-US" sz="1800" dirty="0"/>
              <a:t>诉求进行设计部署。</a:t>
            </a:r>
            <a:endParaRPr lang="en-US" altLang="zh-CN" sz="1800" dirty="0"/>
          </a:p>
          <a:p>
            <a:r>
              <a:rPr lang="zh-CN" altLang="en-US" sz="1800" dirty="0"/>
              <a:t>调度策略设计建议：</a:t>
            </a:r>
          </a:p>
        </p:txBody>
      </p:sp>
      <p:graphicFrame>
        <p:nvGraphicFramePr>
          <p:cNvPr id="6" name="表格 5"/>
          <p:cNvGraphicFramePr>
            <a:graphicFrameLocks noGrp="1"/>
          </p:cNvGraphicFramePr>
          <p:nvPr>
            <p:extLst>
              <p:ext uri="{D42A27DB-BD31-4B8C-83A1-F6EECF244321}">
                <p14:modId xmlns:p14="http://schemas.microsoft.com/office/powerpoint/2010/main" val="3858842335"/>
              </p:ext>
            </p:extLst>
          </p:nvPr>
        </p:nvGraphicFramePr>
        <p:xfrm>
          <a:off x="891963" y="3098557"/>
          <a:ext cx="10174899" cy="3048000"/>
        </p:xfrm>
        <a:graphic>
          <a:graphicData uri="http://schemas.openxmlformats.org/drawingml/2006/table">
            <a:tbl>
              <a:tblPr/>
              <a:tblGrid>
                <a:gridCol w="2086627">
                  <a:extLst>
                    <a:ext uri="{9D8B030D-6E8A-4147-A177-3AD203B41FA5}">
                      <a16:colId xmlns:a16="http://schemas.microsoft.com/office/drawing/2014/main" val="20000"/>
                    </a:ext>
                  </a:extLst>
                </a:gridCol>
                <a:gridCol w="3014804">
                  <a:extLst>
                    <a:ext uri="{9D8B030D-6E8A-4147-A177-3AD203B41FA5}">
                      <a16:colId xmlns:a16="http://schemas.microsoft.com/office/drawing/2014/main" val="20001"/>
                    </a:ext>
                  </a:extLst>
                </a:gridCol>
                <a:gridCol w="1226012">
                  <a:extLst>
                    <a:ext uri="{9D8B030D-6E8A-4147-A177-3AD203B41FA5}">
                      <a16:colId xmlns:a16="http://schemas.microsoft.com/office/drawing/2014/main" val="20002"/>
                    </a:ext>
                  </a:extLst>
                </a:gridCol>
                <a:gridCol w="1349828">
                  <a:extLst>
                    <a:ext uri="{9D8B030D-6E8A-4147-A177-3AD203B41FA5}">
                      <a16:colId xmlns:a16="http://schemas.microsoft.com/office/drawing/2014/main" val="20003"/>
                    </a:ext>
                  </a:extLst>
                </a:gridCol>
                <a:gridCol w="1229261">
                  <a:extLst>
                    <a:ext uri="{9D8B030D-6E8A-4147-A177-3AD203B41FA5}">
                      <a16:colId xmlns:a16="http://schemas.microsoft.com/office/drawing/2014/main" val="20004"/>
                    </a:ext>
                  </a:extLst>
                </a:gridCol>
                <a:gridCol w="1268367">
                  <a:extLst>
                    <a:ext uri="{9D8B030D-6E8A-4147-A177-3AD203B41FA5}">
                      <a16:colId xmlns:a16="http://schemas.microsoft.com/office/drawing/2014/main" val="20005"/>
                    </a:ext>
                  </a:extLst>
                </a:gridCol>
              </a:tblGrid>
              <a:tr h="279133">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应用类型</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典型应用或协议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服务等级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队列（优先级）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调度算法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base" latinLnBrk="0" hangingPunct="1">
                        <a:lnSpc>
                          <a:spcPct val="100000"/>
                        </a:lnSpc>
                        <a:spcBef>
                          <a:spcPct val="0"/>
                        </a:spcBef>
                        <a:spcAft>
                          <a:spcPct val="0"/>
                        </a:spcAft>
                      </a:pPr>
                      <a:r>
                        <a:rPr lang="zh-CN" altLang="en-US" sz="14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最大带宽</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2000">
                <a:tc>
                  <a:txBody>
                    <a:bodyPr/>
                    <a:lstStyle/>
                    <a:p>
                      <a:pPr algn="ctr"/>
                      <a:r>
                        <a:rPr lang="zh-CN" altLang="en-US" sz="1200" dirty="0"/>
                        <a:t>信令与控制</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路由协议</a:t>
                      </a:r>
                      <a:endParaRPr lang="en-US" altLang="zh-CN" sz="1200" kern="1200" dirty="0">
                        <a:solidFill>
                          <a:schemeClr val="tx1"/>
                        </a:solidFill>
                        <a:latin typeface="Huawei Sans" panose="020C0503030203020204" pitchFamily="34" charset="0"/>
                        <a:ea typeface="方正兰亭黑简体" panose="02000000000000000000" pitchFamily="2" charset="-122"/>
                        <a:cs typeface="+mn-ea"/>
                      </a:endParaRPr>
                    </a:p>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网管协议</a:t>
                      </a:r>
                      <a:endParaRPr lang="en-US" altLang="zh-CN" sz="1200" kern="1200" dirty="0">
                        <a:solidFill>
                          <a:schemeClr val="tx1"/>
                        </a:solidFill>
                        <a:latin typeface="Huawei Sans" panose="020C0503030203020204" pitchFamily="34" charset="0"/>
                        <a:ea typeface="方正兰亭黑简体" panose="02000000000000000000" pitchFamily="2" charset="-122"/>
                        <a:cs typeface="+mn-ea"/>
                      </a:endParaRPr>
                    </a:p>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多媒体协议信令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CS6</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6</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PQ</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zh-CN" altLang="en-US" sz="1200" kern="1200" dirty="0">
                          <a:solidFill>
                            <a:schemeClr val="tx1"/>
                          </a:solidFill>
                          <a:latin typeface="Huawei Sans" panose="020C0503030203020204" pitchFamily="34" charset="0"/>
                          <a:ea typeface="方正兰亭黑简体" panose="02000000000000000000" pitchFamily="2" charset="-122"/>
                          <a:cs typeface="+mn-ea"/>
                        </a:rPr>
                        <a:t>不限制</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2000">
                <a:tc>
                  <a:txBody>
                    <a:bodyPr/>
                    <a:lstStyle/>
                    <a:p>
                      <a:pPr algn="ctr"/>
                      <a:r>
                        <a:rPr lang="zh-CN" altLang="en-US" sz="1200" dirty="0"/>
                        <a:t>实时交互多媒体</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defTabSz="1187798" rtl="0" eaLnBrk="1" latinLnBrk="0" hangingPunct="1">
                        <a:buFont typeface="Arial" panose="020B0604020202020204" pitchFamily="34" charset="0"/>
                        <a:buChar char="•"/>
                      </a:pPr>
                      <a:r>
                        <a:rPr lang="en-US" altLang="zh-CN" sz="1200" kern="1200" dirty="0">
                          <a:solidFill>
                            <a:schemeClr val="tx1"/>
                          </a:solidFill>
                          <a:latin typeface="Huawei Sans" panose="020C0503030203020204" pitchFamily="34" charset="0"/>
                          <a:ea typeface="方正兰亭黑简体" panose="02000000000000000000" pitchFamily="2" charset="-122"/>
                          <a:cs typeface="+mn-ea"/>
                        </a:rPr>
                        <a:t>VoIP</a:t>
                      </a:r>
                    </a:p>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多媒体会议</a:t>
                      </a:r>
                      <a:endParaRPr lang="en-US" altLang="zh-CN" sz="1200" kern="1200" dirty="0">
                        <a:solidFill>
                          <a:schemeClr val="tx1"/>
                        </a:solidFill>
                        <a:latin typeface="Huawei Sans" panose="020C0503030203020204" pitchFamily="34" charset="0"/>
                        <a:ea typeface="方正兰亭黑简体" panose="02000000000000000000" pitchFamily="2" charset="-122"/>
                        <a:cs typeface="+mn-ea"/>
                      </a:endParaRPr>
                    </a:p>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在线游戏</a:t>
                      </a:r>
                      <a:endParaRPr lang="en-US" altLang="zh-CN" sz="1200" kern="1200" dirty="0">
                        <a:solidFill>
                          <a:schemeClr val="tx1"/>
                        </a:solidFill>
                        <a:latin typeface="Huawei Sans" panose="020C0503030203020204" pitchFamily="34" charset="0"/>
                        <a:ea typeface="方正兰亭黑简体" panose="02000000000000000000" pitchFamily="2" charset="-122"/>
                        <a:cs typeface="+mn-ea"/>
                      </a:endParaRPr>
                    </a:p>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桌面云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EF</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5</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PQ</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zh-CN" altLang="en-US" sz="1200" kern="1200" dirty="0">
                          <a:solidFill>
                            <a:schemeClr val="tx1"/>
                          </a:solidFill>
                          <a:latin typeface="Huawei Sans" panose="020C0503030203020204" pitchFamily="34" charset="0"/>
                          <a:ea typeface="方正兰亭黑简体" panose="02000000000000000000" pitchFamily="2" charset="-122"/>
                          <a:cs typeface="+mn-ea"/>
                        </a:rPr>
                        <a:t>接口可用带宽*</a:t>
                      </a:r>
                      <a:r>
                        <a:rPr lang="en-US" altLang="zh-CN" sz="1200" kern="1200" dirty="0">
                          <a:solidFill>
                            <a:schemeClr val="tx1"/>
                          </a:solidFill>
                          <a:latin typeface="Huawei Sans" panose="020C0503030203020204" pitchFamily="34" charset="0"/>
                          <a:ea typeface="方正兰亭黑简体" panose="02000000000000000000" pitchFamily="2" charset="-122"/>
                          <a:cs typeface="+mn-ea"/>
                        </a:rPr>
                        <a:t>30%</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2000">
                <a:tc>
                  <a:txBody>
                    <a:bodyPr/>
                    <a:lstStyle/>
                    <a:p>
                      <a:pPr algn="ctr"/>
                      <a:r>
                        <a:rPr lang="zh-CN" altLang="en-US" sz="1200" dirty="0"/>
                        <a:t>按需订阅多媒体、关键业务</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在线视频</a:t>
                      </a:r>
                      <a:endParaRPr lang="en-US" altLang="zh-CN" sz="1200" kern="1200" dirty="0">
                        <a:solidFill>
                          <a:schemeClr val="tx1"/>
                        </a:solidFill>
                        <a:latin typeface="Huawei Sans" panose="020C0503030203020204" pitchFamily="34" charset="0"/>
                        <a:ea typeface="方正兰亭黑简体" panose="02000000000000000000" pitchFamily="2" charset="-122"/>
                        <a:cs typeface="+mn-ea"/>
                      </a:endParaRPr>
                    </a:p>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视频直播或组播</a:t>
                      </a:r>
                      <a:endParaRPr lang="en-US" altLang="zh-CN" sz="1200" kern="1200" dirty="0">
                        <a:solidFill>
                          <a:schemeClr val="tx1"/>
                        </a:solidFill>
                        <a:latin typeface="Huawei Sans" panose="020C0503030203020204" pitchFamily="34" charset="0"/>
                        <a:ea typeface="方正兰亭黑简体" panose="02000000000000000000" pitchFamily="2" charset="-122"/>
                        <a:cs typeface="+mn-ea"/>
                      </a:endParaRPr>
                    </a:p>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企业自身要求的低时延、高稳定性的重要网上实时交互业务（如网上下单等）</a:t>
                      </a:r>
                      <a:endParaRPr lang="en-US" altLang="zh-CN"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AF</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4</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DRR</a:t>
                      </a: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：权重</a:t>
                      </a:r>
                      <a:r>
                        <a:rPr lang="en-US" altLang="zh-CN" sz="1200" kern="1200" dirty="0">
                          <a:solidFill>
                            <a:schemeClr val="tx1"/>
                          </a:solidFill>
                          <a:latin typeface="Huawei Sans" panose="020C0503030203020204" pitchFamily="34" charset="0"/>
                          <a:ea typeface="方正兰亭黑简体" panose="02000000000000000000" pitchFamily="2" charset="-122"/>
                          <a:cs typeface="+mn-ea"/>
                        </a:rPr>
                        <a:t>20</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zh-CN" altLang="en-US" sz="1200" kern="1200" dirty="0">
                          <a:solidFill>
                            <a:schemeClr val="tx1"/>
                          </a:solidFill>
                          <a:latin typeface="Huawei Sans" panose="020C0503030203020204" pitchFamily="34" charset="0"/>
                          <a:ea typeface="方正兰亭黑简体" panose="02000000000000000000" pitchFamily="2" charset="-122"/>
                          <a:cs typeface="+mn-ea"/>
                        </a:rPr>
                        <a:t>不限制</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2000">
                <a:tc>
                  <a:txBody>
                    <a:bodyPr/>
                    <a:lstStyle/>
                    <a:p>
                      <a:pPr algn="ctr"/>
                      <a:r>
                        <a:rPr lang="zh-CN" altLang="en-US" sz="1200" dirty="0"/>
                        <a:t>其他业务</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171450" indent="-171450" algn="l" defTabSz="1187798" rtl="0" eaLnBrk="1" latinLnBrk="0" hangingPunct="1">
                        <a:buFont typeface="Arial" panose="020B0604020202020204" pitchFamily="34" charset="0"/>
                        <a:buChar char="•"/>
                      </a:pP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企业的日常普通网上业务（如</a:t>
                      </a:r>
                      <a:r>
                        <a:rPr lang="en-US" altLang="zh-CN" sz="1200" kern="1200" dirty="0">
                          <a:solidFill>
                            <a:schemeClr val="tx1"/>
                          </a:solidFill>
                          <a:latin typeface="Huawei Sans" panose="020C0503030203020204" pitchFamily="34" charset="0"/>
                          <a:ea typeface="方正兰亭黑简体" panose="02000000000000000000" pitchFamily="2" charset="-122"/>
                          <a:cs typeface="+mn-ea"/>
                        </a:rPr>
                        <a:t>Mail</a:t>
                      </a: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a:t>
                      </a:r>
                      <a:r>
                        <a:rPr lang="en-US" altLang="zh-CN" sz="1200" kern="1200" dirty="0">
                          <a:solidFill>
                            <a:schemeClr val="tx1"/>
                          </a:solidFill>
                          <a:latin typeface="Huawei Sans" panose="020C0503030203020204" pitchFamily="34" charset="0"/>
                          <a:ea typeface="方正兰亭黑简体" panose="02000000000000000000" pitchFamily="2" charset="-122"/>
                          <a:cs typeface="+mn-ea"/>
                        </a:rPr>
                        <a:t>Web</a:t>
                      </a: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浏览等）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BE</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0</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en-US" altLang="zh-CN" sz="1200" kern="1200" dirty="0">
                          <a:solidFill>
                            <a:schemeClr val="tx1"/>
                          </a:solidFill>
                          <a:latin typeface="Huawei Sans" panose="020C0503030203020204" pitchFamily="34" charset="0"/>
                          <a:ea typeface="方正兰亭黑简体" panose="02000000000000000000" pitchFamily="2" charset="-122"/>
                          <a:cs typeface="+mn-ea"/>
                        </a:rPr>
                        <a:t>DRR</a:t>
                      </a:r>
                      <a:r>
                        <a:rPr lang="zh-CN" altLang="en-US" sz="1200" kern="1200" dirty="0">
                          <a:solidFill>
                            <a:schemeClr val="tx1"/>
                          </a:solidFill>
                          <a:latin typeface="Huawei Sans" panose="020C0503030203020204" pitchFamily="34" charset="0"/>
                          <a:ea typeface="方正兰亭黑简体" panose="02000000000000000000" pitchFamily="2" charset="-122"/>
                          <a:cs typeface="+mn-ea"/>
                        </a:rPr>
                        <a:t>：权重</a:t>
                      </a:r>
                      <a:r>
                        <a:rPr lang="en-US" altLang="zh-CN" sz="1200" kern="1200" dirty="0">
                          <a:solidFill>
                            <a:schemeClr val="tx1"/>
                          </a:solidFill>
                          <a:latin typeface="Huawei Sans" panose="020C0503030203020204" pitchFamily="34" charset="0"/>
                          <a:ea typeface="方正兰亭黑简体" panose="02000000000000000000" pitchFamily="2" charset="-122"/>
                          <a:cs typeface="+mn-ea"/>
                        </a:rPr>
                        <a:t>20</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1187798" rtl="0" eaLnBrk="1" latinLnBrk="0" hangingPunct="1"/>
                      <a:r>
                        <a:rPr lang="zh-CN" altLang="en-US" sz="1200" kern="1200" dirty="0">
                          <a:solidFill>
                            <a:schemeClr val="tx1"/>
                          </a:solidFill>
                          <a:latin typeface="Huawei Sans" panose="020C0503030203020204" pitchFamily="34" charset="0"/>
                          <a:ea typeface="方正兰亭黑简体" panose="02000000000000000000" pitchFamily="2" charset="-122"/>
                          <a:cs typeface="+mn-ea"/>
                        </a:rPr>
                        <a:t>不限制</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五边形 6"/>
          <p:cNvSpPr/>
          <p:nvPr/>
        </p:nvSpPr>
        <p:spPr bwMode="gray">
          <a:xfrm>
            <a:off x="9673116" y="114957"/>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p>
        </p:txBody>
      </p:sp>
      <p:sp>
        <p:nvSpPr>
          <p:cNvPr id="8" name="燕尾形 7"/>
          <p:cNvSpPr/>
          <p:nvPr/>
        </p:nvSpPr>
        <p:spPr bwMode="gray">
          <a:xfrm>
            <a:off x="10669087" y="114957"/>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服务质量</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74806022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800" dirty="0">
                <a:solidFill>
                  <a:schemeClr val="bg1">
                    <a:lumMod val="50000"/>
                  </a:schemeClr>
                </a:solidFill>
                <a:sym typeface="Huawei Sans" panose="020C0503030203020204" pitchFamily="34" charset="0"/>
              </a:rPr>
              <a:t>CloudCampus</a:t>
            </a:r>
            <a:r>
              <a:rPr lang="zh-CN" altLang="en-US" sz="1800" dirty="0">
                <a:solidFill>
                  <a:schemeClr val="bg1">
                    <a:lumMod val="50000"/>
                  </a:schemeClr>
                </a:solidFill>
                <a:sym typeface="Huawei Sans" panose="020C0503030203020204" pitchFamily="34" charset="0"/>
              </a:rPr>
              <a:t>解决方案及虚拟化园区网络概述</a:t>
            </a:r>
          </a:p>
          <a:p>
            <a:r>
              <a:rPr lang="zh-CN" altLang="en-US" sz="1800" dirty="0">
                <a:solidFill>
                  <a:schemeClr val="bg1">
                    <a:lumMod val="50000"/>
                  </a:schemeClr>
                </a:solidFill>
                <a:sym typeface="Huawei Sans" panose="020C0503030203020204" pitchFamily="34" charset="0"/>
              </a:rPr>
              <a:t>网络架构设计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Underlay</a:t>
            </a:r>
            <a:r>
              <a:rPr lang="zh-CN" altLang="en-US" sz="1800" dirty="0">
                <a:solidFill>
                  <a:schemeClr val="bg1">
                    <a:lumMod val="50000"/>
                  </a:schemeClr>
                </a:solidFill>
                <a:sym typeface="Huawei Sans" panose="020C0503030203020204" pitchFamily="34" charset="0"/>
              </a:rPr>
              <a:t>网络设计</a:t>
            </a:r>
            <a:endParaRPr lang="en-US" altLang="zh-CN" sz="1800" dirty="0">
              <a:solidFill>
                <a:schemeClr val="bg1">
                  <a:lumMod val="50000"/>
                </a:schemeClr>
              </a:solidFill>
              <a:sym typeface="Huawei Sans" panose="020C0503030203020204" pitchFamily="34" charset="0"/>
            </a:endParaRPr>
          </a:p>
          <a:p>
            <a:r>
              <a:rPr lang="en-US" altLang="zh-CN" sz="1800" dirty="0">
                <a:solidFill>
                  <a:schemeClr val="bg1">
                    <a:lumMod val="50000"/>
                  </a:schemeClr>
                </a:solidFill>
                <a:sym typeface="Huawei Sans" panose="020C0503030203020204" pitchFamily="34" charset="0"/>
              </a:rPr>
              <a:t>Fabric</a:t>
            </a:r>
            <a:r>
              <a:rPr lang="zh-CN" altLang="en-US" sz="1800" dirty="0">
                <a:solidFill>
                  <a:schemeClr val="bg1">
                    <a:lumMod val="50000"/>
                  </a:schemeClr>
                </a:solidFill>
                <a:sym typeface="Huawei Sans" panose="020C0503030203020204" pitchFamily="34" charset="0"/>
              </a:rPr>
              <a:t>与</a:t>
            </a:r>
            <a:r>
              <a:rPr lang="en-US" altLang="zh-CN" sz="1800" dirty="0">
                <a:solidFill>
                  <a:schemeClr val="bg1">
                    <a:lumMod val="50000"/>
                  </a:schemeClr>
                </a:solidFill>
                <a:sym typeface="Huawei Sans" panose="020C0503030203020204" pitchFamily="34" charset="0"/>
              </a:rPr>
              <a:t>Overlay</a:t>
            </a:r>
            <a:r>
              <a:rPr lang="zh-CN" altLang="en-US" sz="1800" dirty="0">
                <a:solidFill>
                  <a:schemeClr val="bg1">
                    <a:lumMod val="50000"/>
                  </a:schemeClr>
                </a:solidFill>
                <a:sym typeface="Huawei Sans" panose="020C0503030203020204" pitchFamily="34" charset="0"/>
              </a:rPr>
              <a:t>网络设计</a:t>
            </a:r>
          </a:p>
          <a:p>
            <a:r>
              <a:rPr lang="zh-CN" altLang="en-US" sz="1800" dirty="0">
                <a:solidFill>
                  <a:schemeClr val="bg1">
                    <a:lumMod val="50000"/>
                  </a:schemeClr>
                </a:solidFill>
                <a:sym typeface="Huawei Sans" panose="020C0503030203020204" pitchFamily="34" charset="0"/>
              </a:rPr>
              <a:t>准入控制及业务随行设计</a:t>
            </a:r>
          </a:p>
          <a:p>
            <a:r>
              <a:rPr lang="en-US" altLang="zh-CN" sz="1800" dirty="0">
                <a:solidFill>
                  <a:schemeClr val="bg1">
                    <a:lumMod val="50000"/>
                  </a:schemeClr>
                </a:solidFill>
                <a:sym typeface="Huawei Sans" panose="020C0503030203020204" pitchFamily="34" charset="0"/>
              </a:rPr>
              <a:t>WLAN</a:t>
            </a:r>
            <a:r>
              <a:rPr lang="zh-CN" altLang="en-US" sz="1800" dirty="0">
                <a:solidFill>
                  <a:schemeClr val="bg1">
                    <a:lumMod val="50000"/>
                  </a:schemeClr>
                </a:solidFill>
                <a:sym typeface="Huawei Sans" panose="020C0503030203020204" pitchFamily="34" charset="0"/>
              </a:rPr>
              <a:t>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出口网络设计</a:t>
            </a:r>
            <a:endParaRPr lang="en-US" altLang="zh-CN" sz="1800" dirty="0">
              <a:solidFill>
                <a:schemeClr val="bg1">
                  <a:lumMod val="50000"/>
                </a:schemeClr>
              </a:solidFill>
              <a:sym typeface="Huawei Sans" panose="020C0503030203020204" pitchFamily="34" charset="0"/>
            </a:endParaRPr>
          </a:p>
          <a:p>
            <a:r>
              <a:rPr lang="zh-CN" altLang="en-US" sz="1800" dirty="0">
                <a:solidFill>
                  <a:schemeClr val="bg1">
                    <a:lumMod val="50000"/>
                  </a:schemeClr>
                </a:solidFill>
                <a:sym typeface="Huawei Sans" panose="020C0503030203020204" pitchFamily="34" charset="0"/>
              </a:rPr>
              <a:t>网络安全与服务质量设计</a:t>
            </a:r>
            <a:endParaRPr lang="en-US" altLang="zh-CN" sz="1800" dirty="0">
              <a:solidFill>
                <a:schemeClr val="bg1">
                  <a:lumMod val="50000"/>
                </a:schemeClr>
              </a:solidFill>
              <a:sym typeface="Huawei Sans" panose="020C0503030203020204" pitchFamily="34" charset="0"/>
            </a:endParaRPr>
          </a:p>
          <a:p>
            <a:r>
              <a:rPr lang="zh-CN" altLang="en-US" sz="1800" b="1" dirty="0">
                <a:sym typeface="Huawei Sans" panose="020C0503030203020204" pitchFamily="34" charset="0"/>
              </a:rPr>
              <a:t>运维管理设计</a:t>
            </a:r>
            <a:endParaRPr lang="en-US" altLang="zh-CN" sz="1800" b="1" dirty="0">
              <a:sym typeface="Huawei Sans" panose="020C0503030203020204" pitchFamily="34" charset="0"/>
            </a:endParaRPr>
          </a:p>
        </p:txBody>
      </p:sp>
    </p:spTree>
    <p:extLst>
      <p:ext uri="{BB962C8B-B14F-4D97-AF65-F5344CB8AC3E}">
        <p14:creationId xmlns:p14="http://schemas.microsoft.com/office/powerpoint/2010/main" val="403219106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dirty="0">
                <a:sym typeface="Huawei Sans" panose="020C0503030203020204" pitchFamily="34" charset="0"/>
              </a:rPr>
              <a:t>园区网络运维面临的挑战</a:t>
            </a:r>
          </a:p>
        </p:txBody>
      </p:sp>
      <p:sp>
        <p:nvSpPr>
          <p:cNvPr id="7" name="矩形 18"/>
          <p:cNvSpPr txBox="1"/>
          <p:nvPr/>
        </p:nvSpPr>
        <p:spPr bwMode="gray">
          <a:xfrm>
            <a:off x="1814938" y="2888949"/>
            <a:ext cx="1057753" cy="33988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5960" tIns="15960" rIns="15960" bIns="15960" numCol="1" anchor="t">
            <a:spAutoFit/>
          </a:bodyPr>
          <a:lstStyle>
            <a:defPPr>
              <a:defRPr lang="en-US"/>
            </a:defPPr>
            <a:lvl1pPr algn="ctr" defTabSz="2065314" hangingPunct="0">
              <a:defRPr sz="1999" b="0" kern="0">
                <a:solidFill>
                  <a:srgbClr val="666666">
                    <a:lumMod val="75000"/>
                  </a:srgbClr>
                </a:solidFill>
                <a:cs typeface="+mn-ea"/>
              </a:defRPr>
            </a:lvl1pPr>
          </a:lstStyle>
          <a:p>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精准检测</a:t>
            </a:r>
          </a:p>
        </p:txBody>
      </p:sp>
      <p:sp>
        <p:nvSpPr>
          <p:cNvPr id="9" name="矩形 5"/>
          <p:cNvSpPr txBox="1"/>
          <p:nvPr/>
        </p:nvSpPr>
        <p:spPr bwMode="gray">
          <a:xfrm>
            <a:off x="9083264" y="2888949"/>
            <a:ext cx="1057753" cy="33988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5960" tIns="15960" rIns="15960" bIns="15960" numCol="1" anchor="t">
            <a:spAutoFit/>
          </a:bodyPr>
          <a:lstStyle>
            <a:lvl1pPr defTabSz="2065314">
              <a:defRPr b="0">
                <a:latin typeface="Microsoft YaHei"/>
                <a:ea typeface="Microsoft YaHei"/>
                <a:cs typeface="Microsoft YaHei"/>
                <a:sym typeface="Microsoft YaHei"/>
              </a:defRPr>
            </a:lvl1pPr>
          </a:lstStyle>
          <a:p>
            <a:pPr algn="ctr" hangingPunct="0"/>
            <a:r>
              <a:rPr lang="zh-CN" altLang="en-US" sz="1999" kern="0" dirty="0">
                <a:latin typeface="Huawei Sans" panose="020C0503030203020204" pitchFamily="34" charset="0"/>
                <a:ea typeface="方正兰亭黑简体" panose="02000000000000000000" pitchFamily="2" charset="-122"/>
                <a:cs typeface="+mn-ea"/>
                <a:sym typeface="Huawei Sans" panose="020C0503030203020204" pitchFamily="34" charset="0"/>
              </a:rPr>
              <a:t>问题识别</a:t>
            </a:r>
            <a:endParaRPr sz="1999" kern="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矩形 14"/>
          <p:cNvSpPr txBox="1"/>
          <p:nvPr/>
        </p:nvSpPr>
        <p:spPr bwMode="gray">
          <a:xfrm>
            <a:off x="5573247" y="2888949"/>
            <a:ext cx="1057753" cy="33988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5960" tIns="15960" rIns="15960" bIns="15960" numCol="1" anchor="t">
            <a:spAutoFit/>
          </a:bodyPr>
          <a:lstStyle>
            <a:lvl1pPr defTabSz="2065314">
              <a:defRPr b="0">
                <a:latin typeface="Microsoft YaHei"/>
                <a:ea typeface="Microsoft YaHei"/>
                <a:cs typeface="Microsoft YaHei"/>
                <a:sym typeface="Microsoft YaHei"/>
              </a:defRPr>
            </a:lvl1pPr>
          </a:lstStyle>
          <a:p>
            <a:pPr algn="ctr" hangingPunct="0"/>
            <a:r>
              <a:rPr lang="zh-CN" altLang="en-US" sz="1999" kern="0" dirty="0">
                <a:latin typeface="Huawei Sans" panose="020C0503030203020204" pitchFamily="34" charset="0"/>
                <a:ea typeface="方正兰亭黑简体" panose="02000000000000000000" pitchFamily="2" charset="-122"/>
                <a:cs typeface="+mn-ea"/>
                <a:sym typeface="Huawei Sans" panose="020C0503030203020204" pitchFamily="34" charset="0"/>
              </a:rPr>
              <a:t>体验感知</a:t>
            </a:r>
            <a:endParaRPr sz="1999" kern="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矩形 14"/>
          <p:cNvSpPr/>
          <p:nvPr/>
        </p:nvSpPr>
        <p:spPr bwMode="gray">
          <a:xfrm>
            <a:off x="8214847" y="3311962"/>
            <a:ext cx="2794587" cy="1384225"/>
          </a:xfrm>
          <a:prstGeom prst="rect">
            <a:avLst/>
          </a:prstGeom>
        </p:spPr>
        <p:txBody>
          <a:bodyPr wrap="square" anchor="ctr">
            <a:spAutoFit/>
          </a:bodyPr>
          <a:lstStyle/>
          <a:p>
            <a:pPr>
              <a:lnSpc>
                <a:spcPct val="150000"/>
              </a:lnSpc>
            </a:pP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传统运维往往等到用户投诉了，才知道网络发生了问题，无法有效主动识别、分析潜在影响用户感知的问题。</a:t>
            </a:r>
          </a:p>
        </p:txBody>
      </p:sp>
      <p:sp>
        <p:nvSpPr>
          <p:cNvPr id="16" name="矩形 15"/>
          <p:cNvSpPr/>
          <p:nvPr/>
        </p:nvSpPr>
        <p:spPr bwMode="gray">
          <a:xfrm>
            <a:off x="967733" y="3320862"/>
            <a:ext cx="2752163" cy="1384225"/>
          </a:xfrm>
          <a:prstGeom prst="rect">
            <a:avLst/>
          </a:prstGeom>
        </p:spPr>
        <p:txBody>
          <a:bodyPr wrap="square" anchor="ctr">
            <a:spAutoFit/>
          </a:bodyPr>
          <a:lstStyle/>
          <a:p>
            <a:pPr>
              <a:lnSpc>
                <a:spcPct val="150000"/>
              </a:lnSpc>
            </a:pP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传统运维基于</a:t>
            </a:r>
            <a:r>
              <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rPr>
              <a:t>SNMP</a:t>
            </a: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分钟级采集数据，一旦发生问题，故障发生时刻数据无法实时获取，且缺少方便的回溯手段。</a:t>
            </a:r>
            <a:endPar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矩形 16"/>
          <p:cNvSpPr/>
          <p:nvPr/>
        </p:nvSpPr>
        <p:spPr bwMode="gray">
          <a:xfrm>
            <a:off x="4726042" y="3317769"/>
            <a:ext cx="2752163" cy="1061414"/>
          </a:xfrm>
          <a:prstGeom prst="rect">
            <a:avLst/>
          </a:prstGeom>
        </p:spPr>
        <p:txBody>
          <a:bodyPr wrap="square" anchor="ctr">
            <a:spAutoFit/>
          </a:bodyPr>
          <a:lstStyle/>
          <a:p>
            <a:pPr>
              <a:lnSpc>
                <a:spcPct val="150000"/>
              </a:lnSpc>
            </a:pP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传统运维仅监控设备指标，有可能指标正常，但用户体验不好，缺少用户和网络的关联分析。</a:t>
            </a:r>
            <a:endPar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 name="组合 1"/>
          <p:cNvGrpSpPr/>
          <p:nvPr/>
        </p:nvGrpSpPr>
        <p:grpSpPr bwMode="gray">
          <a:xfrm>
            <a:off x="1639440" y="1377442"/>
            <a:ext cx="1408749" cy="1408749"/>
            <a:chOff x="-1052573" y="2094821"/>
            <a:chExt cx="2124347" cy="2124347"/>
          </a:xfrm>
        </p:grpSpPr>
        <p:grpSp>
          <p:nvGrpSpPr>
            <p:cNvPr id="5" name="组合 4"/>
            <p:cNvGrpSpPr/>
            <p:nvPr/>
          </p:nvGrpSpPr>
          <p:grpSpPr bwMode="gray">
            <a:xfrm>
              <a:off x="-1052573" y="2094821"/>
              <a:ext cx="2124347" cy="2124347"/>
              <a:chOff x="3859893" y="5500020"/>
              <a:chExt cx="720000" cy="720000"/>
            </a:xfrm>
          </p:grpSpPr>
          <p:sp>
            <p:nvSpPr>
              <p:cNvPr id="18" name="椭圆 17"/>
              <p:cNvSpPr/>
              <p:nvPr/>
            </p:nvSpPr>
            <p:spPr bwMode="gray">
              <a:xfrm>
                <a:off x="3859893" y="5500020"/>
                <a:ext cx="720000" cy="720000"/>
              </a:xfrm>
              <a:prstGeom prst="ellipse">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18"/>
              <p:cNvSpPr/>
              <p:nvPr/>
            </p:nvSpPr>
            <p:spPr bwMode="gray">
              <a:xfrm>
                <a:off x="4031672" y="5671799"/>
                <a:ext cx="376442" cy="376442"/>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弧形 20"/>
              <p:cNvSpPr/>
              <p:nvPr/>
            </p:nvSpPr>
            <p:spPr bwMode="gray">
              <a:xfrm>
                <a:off x="3931893" y="5541876"/>
                <a:ext cx="576000" cy="576000"/>
              </a:xfrm>
              <a:prstGeom prst="arc">
                <a:avLst>
                  <a:gd name="adj1" fmla="val 14221504"/>
                  <a:gd name="adj2" fmla="val 5301169"/>
                </a:avLst>
              </a:prstGeom>
              <a:ln>
                <a:gradFill>
                  <a:gsLst>
                    <a:gs pos="51000">
                      <a:srgbClr val="94DAE2"/>
                    </a:gs>
                    <a:gs pos="0">
                      <a:srgbClr val="BEE9EE"/>
                    </a:gs>
                    <a:gs pos="10000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弧形 21"/>
              <p:cNvSpPr/>
              <p:nvPr/>
            </p:nvSpPr>
            <p:spPr bwMode="gray">
              <a:xfrm flipH="1">
                <a:off x="3928921" y="5592948"/>
                <a:ext cx="576000" cy="576000"/>
              </a:xfrm>
              <a:prstGeom prst="arc">
                <a:avLst>
                  <a:gd name="adj1" fmla="val 16245819"/>
                  <a:gd name="adj2" fmla="val 7166993"/>
                </a:avLst>
              </a:prstGeom>
              <a:ln>
                <a:gradFill>
                  <a:gsLst>
                    <a:gs pos="51000">
                      <a:srgbClr val="94DAE2"/>
                    </a:gs>
                    <a:gs pos="100000">
                      <a:srgbClr val="BEE9EE"/>
                    </a:gs>
                    <a:gs pos="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5" name="资源 51@4x.png" descr="资源 51@4x.png"/>
            <p:cNvPicPr>
              <a:picLocks noChangeAspect="1"/>
            </p:cNvPicPr>
            <p:nvPr/>
          </p:nvPicPr>
          <p:blipFill>
            <a:blip r:embed="rId3" cstate="screen">
              <a:duotone>
                <a:schemeClr val="bg2">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tretch>
              <a:fillRect/>
            </a:stretch>
          </p:blipFill>
          <p:spPr bwMode="gray">
            <a:xfrm>
              <a:off x="-388260" y="2726159"/>
              <a:ext cx="805569" cy="826336"/>
            </a:xfrm>
            <a:prstGeom prst="rect">
              <a:avLst/>
            </a:prstGeom>
            <a:ln w="12700" cap="flat">
              <a:noFill/>
              <a:miter lim="400000"/>
            </a:ln>
            <a:effectLst/>
          </p:spPr>
        </p:pic>
      </p:grpSp>
      <p:grpSp>
        <p:nvGrpSpPr>
          <p:cNvPr id="3" name="组合 2"/>
          <p:cNvGrpSpPr/>
          <p:nvPr/>
        </p:nvGrpSpPr>
        <p:grpSpPr bwMode="gray">
          <a:xfrm>
            <a:off x="5397749" y="1377442"/>
            <a:ext cx="1408749" cy="1408749"/>
            <a:chOff x="5269582" y="1653878"/>
            <a:chExt cx="1408749" cy="1408749"/>
          </a:xfrm>
        </p:grpSpPr>
        <p:grpSp>
          <p:nvGrpSpPr>
            <p:cNvPr id="24" name="组合 23"/>
            <p:cNvGrpSpPr/>
            <p:nvPr/>
          </p:nvGrpSpPr>
          <p:grpSpPr bwMode="gray">
            <a:xfrm>
              <a:off x="5269582" y="1653878"/>
              <a:ext cx="1408749" cy="1408749"/>
              <a:chOff x="3859893" y="5500020"/>
              <a:chExt cx="720000" cy="720000"/>
            </a:xfrm>
          </p:grpSpPr>
          <p:sp>
            <p:nvSpPr>
              <p:cNvPr id="27" name="椭圆 26"/>
              <p:cNvSpPr/>
              <p:nvPr/>
            </p:nvSpPr>
            <p:spPr bwMode="gray">
              <a:xfrm>
                <a:off x="3859893" y="5500020"/>
                <a:ext cx="720000" cy="720000"/>
              </a:xfrm>
              <a:prstGeom prst="ellipse">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p:cNvSpPr/>
              <p:nvPr/>
            </p:nvSpPr>
            <p:spPr bwMode="gray">
              <a:xfrm>
                <a:off x="4031672" y="5671799"/>
                <a:ext cx="376442" cy="376442"/>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弧形 28"/>
              <p:cNvSpPr/>
              <p:nvPr/>
            </p:nvSpPr>
            <p:spPr bwMode="gray">
              <a:xfrm>
                <a:off x="3931893" y="5541876"/>
                <a:ext cx="576000" cy="576000"/>
              </a:xfrm>
              <a:prstGeom prst="arc">
                <a:avLst>
                  <a:gd name="adj1" fmla="val 14221504"/>
                  <a:gd name="adj2" fmla="val 5301169"/>
                </a:avLst>
              </a:prstGeom>
              <a:ln>
                <a:gradFill>
                  <a:gsLst>
                    <a:gs pos="51000">
                      <a:srgbClr val="94DAE2"/>
                    </a:gs>
                    <a:gs pos="0">
                      <a:srgbClr val="BEE9EE"/>
                    </a:gs>
                    <a:gs pos="10000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弧形 29"/>
              <p:cNvSpPr/>
              <p:nvPr/>
            </p:nvSpPr>
            <p:spPr bwMode="gray">
              <a:xfrm flipH="1">
                <a:off x="3928921" y="5592948"/>
                <a:ext cx="576000" cy="576000"/>
              </a:xfrm>
              <a:prstGeom prst="arc">
                <a:avLst>
                  <a:gd name="adj1" fmla="val 16245819"/>
                  <a:gd name="adj2" fmla="val 7166993"/>
                </a:avLst>
              </a:prstGeom>
              <a:ln>
                <a:gradFill>
                  <a:gsLst>
                    <a:gs pos="51000">
                      <a:srgbClr val="94DAE2"/>
                    </a:gs>
                    <a:gs pos="100000">
                      <a:srgbClr val="BEE9EE"/>
                    </a:gs>
                    <a:gs pos="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0" name="资源 53@4x.png" descr="资源 53@4x.png"/>
            <p:cNvPicPr>
              <a:picLocks noChangeAspect="1"/>
            </p:cNvPicPr>
            <p:nvPr/>
          </p:nvPicPr>
          <p:blipFill>
            <a:blip r:embed="rId5" cstate="screen">
              <a:clrChange>
                <a:clrFrom>
                  <a:srgbClr val="000000">
                    <a:alpha val="0"/>
                  </a:srgbClr>
                </a:clrFrom>
                <a:clrTo>
                  <a:srgbClr val="000000">
                    <a:alpha val="0"/>
                  </a:srgbClr>
                </a:clrTo>
              </a:clrChange>
              <a:biLevel thresh="50000"/>
              <a:extLst>
                <a:ext uri="{28A0092B-C50C-407E-A947-70E740481C1C}">
                  <a14:useLocalDpi xmlns:a14="http://schemas.microsoft.com/office/drawing/2010/main"/>
                </a:ext>
              </a:extLst>
            </a:blip>
            <a:stretch>
              <a:fillRect/>
            </a:stretch>
          </p:blipFill>
          <p:spPr bwMode="gray">
            <a:xfrm>
              <a:off x="5705779" y="2134405"/>
              <a:ext cx="524723" cy="540000"/>
            </a:xfrm>
            <a:prstGeom prst="rect">
              <a:avLst/>
            </a:prstGeom>
            <a:ln w="12700" cap="flat">
              <a:noFill/>
              <a:miter lim="400000"/>
            </a:ln>
            <a:effectLst/>
          </p:spPr>
        </p:pic>
      </p:grpSp>
      <p:grpSp>
        <p:nvGrpSpPr>
          <p:cNvPr id="20" name="组合 19"/>
          <p:cNvGrpSpPr/>
          <p:nvPr/>
        </p:nvGrpSpPr>
        <p:grpSpPr bwMode="gray">
          <a:xfrm>
            <a:off x="8907766" y="1377442"/>
            <a:ext cx="1408749" cy="1408749"/>
            <a:chOff x="8916139" y="1653878"/>
            <a:chExt cx="1408749" cy="1408749"/>
          </a:xfrm>
        </p:grpSpPr>
        <p:grpSp>
          <p:nvGrpSpPr>
            <p:cNvPr id="32" name="组合 31"/>
            <p:cNvGrpSpPr/>
            <p:nvPr/>
          </p:nvGrpSpPr>
          <p:grpSpPr bwMode="gray">
            <a:xfrm>
              <a:off x="8916139" y="1653878"/>
              <a:ext cx="1408749" cy="1408749"/>
              <a:chOff x="3859893" y="5500020"/>
              <a:chExt cx="720000" cy="720000"/>
            </a:xfrm>
          </p:grpSpPr>
          <p:sp>
            <p:nvSpPr>
              <p:cNvPr id="34" name="椭圆 33"/>
              <p:cNvSpPr/>
              <p:nvPr/>
            </p:nvSpPr>
            <p:spPr bwMode="gray">
              <a:xfrm>
                <a:off x="3859893" y="5500020"/>
                <a:ext cx="720000" cy="720000"/>
              </a:xfrm>
              <a:prstGeom prst="ellipse">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椭圆 34"/>
              <p:cNvSpPr/>
              <p:nvPr/>
            </p:nvSpPr>
            <p:spPr bwMode="gray">
              <a:xfrm>
                <a:off x="4031672" y="5671799"/>
                <a:ext cx="376442" cy="376442"/>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弧形 35"/>
              <p:cNvSpPr/>
              <p:nvPr/>
            </p:nvSpPr>
            <p:spPr bwMode="gray">
              <a:xfrm>
                <a:off x="3931893" y="5541876"/>
                <a:ext cx="576000" cy="576000"/>
              </a:xfrm>
              <a:prstGeom prst="arc">
                <a:avLst>
                  <a:gd name="adj1" fmla="val 14221504"/>
                  <a:gd name="adj2" fmla="val 5301169"/>
                </a:avLst>
              </a:prstGeom>
              <a:ln>
                <a:gradFill>
                  <a:gsLst>
                    <a:gs pos="51000">
                      <a:srgbClr val="94DAE2"/>
                    </a:gs>
                    <a:gs pos="0">
                      <a:srgbClr val="BEE9EE"/>
                    </a:gs>
                    <a:gs pos="10000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弧形 36"/>
              <p:cNvSpPr/>
              <p:nvPr/>
            </p:nvSpPr>
            <p:spPr bwMode="gray">
              <a:xfrm flipH="1">
                <a:off x="3928921" y="5592948"/>
                <a:ext cx="576000" cy="576000"/>
              </a:xfrm>
              <a:prstGeom prst="arc">
                <a:avLst>
                  <a:gd name="adj1" fmla="val 16245819"/>
                  <a:gd name="adj2" fmla="val 7166993"/>
                </a:avLst>
              </a:prstGeom>
              <a:ln>
                <a:gradFill>
                  <a:gsLst>
                    <a:gs pos="51000">
                      <a:srgbClr val="94DAE2"/>
                    </a:gs>
                    <a:gs pos="100000">
                      <a:srgbClr val="BEE9EE"/>
                    </a:gs>
                    <a:gs pos="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1" name="资源 52@4x.png" descr="资源 52@4x.png"/>
            <p:cNvPicPr>
              <a:picLocks noChangeAspect="1"/>
            </p:cNvPicPr>
            <p:nvPr/>
          </p:nvPicPr>
          <p:blipFill>
            <a:blip r:embed="rId6" cstate="screen">
              <a:biLevel thresh="25000"/>
              <a:extLst>
                <a:ext uri="{28A0092B-C50C-407E-A947-70E740481C1C}">
                  <a14:useLocalDpi xmlns:a14="http://schemas.microsoft.com/office/drawing/2010/main"/>
                </a:ext>
              </a:extLst>
            </a:blip>
            <a:stretch>
              <a:fillRect/>
            </a:stretch>
          </p:blipFill>
          <p:spPr bwMode="gray">
            <a:xfrm>
              <a:off x="9331254" y="2173063"/>
              <a:ext cx="566568" cy="360000"/>
            </a:xfrm>
            <a:prstGeom prst="rect">
              <a:avLst/>
            </a:prstGeom>
            <a:ln w="12700" cap="flat">
              <a:noFill/>
              <a:miter lim="400000"/>
            </a:ln>
            <a:effectLst/>
          </p:spPr>
        </p:pic>
      </p:grpSp>
      <p:sp>
        <p:nvSpPr>
          <p:cNvPr id="31" name="矩形 30"/>
          <p:cNvSpPr/>
          <p:nvPr/>
        </p:nvSpPr>
        <p:spPr bwMode="gray">
          <a:xfrm>
            <a:off x="8144431" y="5227620"/>
            <a:ext cx="2935419" cy="461665"/>
          </a:xfrm>
          <a:prstGeom prst="rect">
            <a:avLst/>
          </a:prstGeom>
        </p:spPr>
        <p:txBody>
          <a:bodyPr wrap="square">
            <a:spAutoFit/>
          </a:bodyPr>
          <a:lstStyle/>
          <a:p>
            <a:pPr algn="ctr" defTabSz="914034" fontAlgn="base">
              <a:lnSpc>
                <a:spcPct val="150000"/>
              </a:lnSpc>
              <a:spcBef>
                <a:spcPct val="0"/>
              </a:spcBef>
              <a:spcAft>
                <a:spcPct val="0"/>
              </a:spcAft>
            </a:pPr>
            <a:r>
              <a:rPr lang="zh-CN" altLang="en-US"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关键诉求：智能识别问题</a:t>
            </a:r>
            <a:endParaRPr lang="en-US" altLang="zh-CN"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矩形 32"/>
          <p:cNvSpPr/>
          <p:nvPr/>
        </p:nvSpPr>
        <p:spPr bwMode="gray">
          <a:xfrm>
            <a:off x="4284927" y="5249391"/>
            <a:ext cx="3622760" cy="461665"/>
          </a:xfrm>
          <a:prstGeom prst="rect">
            <a:avLst/>
          </a:prstGeom>
        </p:spPr>
        <p:txBody>
          <a:bodyPr wrap="square">
            <a:spAutoFit/>
          </a:bodyPr>
          <a:lstStyle/>
          <a:p>
            <a:pPr algn="ctr" defTabSz="914034" fontAlgn="base">
              <a:lnSpc>
                <a:spcPct val="150000"/>
              </a:lnSpc>
              <a:spcBef>
                <a:spcPct val="0"/>
              </a:spcBef>
              <a:spcAft>
                <a:spcPct val="0"/>
              </a:spcAft>
            </a:pPr>
            <a:r>
              <a:rPr lang="zh-CN" altLang="en-US"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关键诉求：用户</a:t>
            </a:r>
            <a:r>
              <a:rPr lang="en-US" altLang="zh-CN"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&amp;</a:t>
            </a:r>
            <a:r>
              <a:rPr lang="zh-CN" altLang="en-US"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网络画像，感知体验</a:t>
            </a:r>
          </a:p>
        </p:txBody>
      </p:sp>
      <p:sp>
        <p:nvSpPr>
          <p:cNvPr id="38" name="矩形 37"/>
          <p:cNvSpPr/>
          <p:nvPr/>
        </p:nvSpPr>
        <p:spPr bwMode="gray">
          <a:xfrm>
            <a:off x="779925" y="5227620"/>
            <a:ext cx="3127779" cy="423899"/>
          </a:xfrm>
          <a:prstGeom prst="rect">
            <a:avLst/>
          </a:prstGeom>
        </p:spPr>
        <p:txBody>
          <a:bodyPr wrap="square">
            <a:spAutoFit/>
          </a:bodyPr>
          <a:lstStyle/>
          <a:p>
            <a:pPr algn="ctr" defTabSz="914034" fontAlgn="base">
              <a:lnSpc>
                <a:spcPct val="150000"/>
              </a:lnSpc>
              <a:spcBef>
                <a:spcPct val="0"/>
              </a:spcBef>
              <a:spcAft>
                <a:spcPct val="0"/>
              </a:spcAft>
            </a:pPr>
            <a:r>
              <a:rPr lang="zh-CN" altLang="en-US"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关键诉求：</a:t>
            </a:r>
            <a:r>
              <a:rPr lang="en-US" altLang="zh-CN"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r>
              <a:rPr lang="zh-CN" altLang="en-US"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精准检测</a:t>
            </a:r>
            <a:endParaRPr lang="en-US" altLang="zh-CN"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下箭头 63"/>
          <p:cNvSpPr/>
          <p:nvPr/>
        </p:nvSpPr>
        <p:spPr bwMode="gray">
          <a:xfrm rot="10800000" flipV="1">
            <a:off x="2040938" y="4687669"/>
            <a:ext cx="605754" cy="564741"/>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下箭头 63"/>
          <p:cNvSpPr/>
          <p:nvPr/>
        </p:nvSpPr>
        <p:spPr bwMode="gray">
          <a:xfrm rot="10800000" flipV="1">
            <a:off x="5799247" y="4687669"/>
            <a:ext cx="605754" cy="564741"/>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下箭头 63"/>
          <p:cNvSpPr/>
          <p:nvPr/>
        </p:nvSpPr>
        <p:spPr bwMode="gray">
          <a:xfrm rot="10800000" flipV="1">
            <a:off x="9309263" y="4687669"/>
            <a:ext cx="605754" cy="564741"/>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7497165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圆角矩形 75"/>
          <p:cNvSpPr/>
          <p:nvPr/>
        </p:nvSpPr>
        <p:spPr bwMode="gray">
          <a:xfrm>
            <a:off x="475856" y="1310277"/>
            <a:ext cx="9937107" cy="4890498"/>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7" name="圆角矩形 75"/>
          <p:cNvSpPr/>
          <p:nvPr/>
        </p:nvSpPr>
        <p:spPr bwMode="gray">
          <a:xfrm>
            <a:off x="1893841" y="1347849"/>
            <a:ext cx="4097352" cy="4852926"/>
          </a:xfrm>
          <a:prstGeom prst="roundRect">
            <a:avLst>
              <a:gd name="adj" fmla="val 2420"/>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 name="标题 2"/>
          <p:cNvSpPr>
            <a:spLocks noGrp="1"/>
          </p:cNvSpPr>
          <p:nvPr>
            <p:ph type="title"/>
          </p:nvPr>
        </p:nvSpPr>
        <p:spPr bwMode="gray"/>
        <p:txBody>
          <a:bodyPr>
            <a:normAutofit/>
          </a:bodyPr>
          <a:lstStyle/>
          <a:p>
            <a:r>
              <a:rPr lang="zh-CN" altLang="en-US" dirty="0"/>
              <a:t>园区网络运维功能全景图</a:t>
            </a:r>
          </a:p>
        </p:txBody>
      </p:sp>
      <p:sp>
        <p:nvSpPr>
          <p:cNvPr id="4" name="圆角矩形 75"/>
          <p:cNvSpPr/>
          <p:nvPr/>
        </p:nvSpPr>
        <p:spPr bwMode="gray">
          <a:xfrm>
            <a:off x="1893841" y="950277"/>
            <a:ext cx="4097352"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管理监控：可视化</a:t>
            </a:r>
          </a:p>
        </p:txBody>
      </p:sp>
      <p:sp>
        <p:nvSpPr>
          <p:cNvPr id="5" name="圆角矩形 75"/>
          <p:cNvSpPr/>
          <p:nvPr/>
        </p:nvSpPr>
        <p:spPr bwMode="gray">
          <a:xfrm>
            <a:off x="2066583" y="1374709"/>
            <a:ext cx="3751868" cy="1375460"/>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 name="圆角矩形 5"/>
          <p:cNvSpPr/>
          <p:nvPr/>
        </p:nvSpPr>
        <p:spPr bwMode="gray">
          <a:xfrm>
            <a:off x="4093346" y="1503574"/>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设备管理</a:t>
            </a:r>
          </a:p>
        </p:txBody>
      </p:sp>
      <p:sp>
        <p:nvSpPr>
          <p:cNvPr id="7" name="圆角矩形 6"/>
          <p:cNvSpPr/>
          <p:nvPr/>
        </p:nvSpPr>
        <p:spPr bwMode="gray">
          <a:xfrm>
            <a:off x="4093346" y="190542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日志管理</a:t>
            </a:r>
          </a:p>
        </p:txBody>
      </p:sp>
      <p:sp>
        <p:nvSpPr>
          <p:cNvPr id="10" name="圆角矩形 9"/>
          <p:cNvSpPr/>
          <p:nvPr/>
        </p:nvSpPr>
        <p:spPr bwMode="gray">
          <a:xfrm>
            <a:off x="2453083" y="190542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告警管理</a:t>
            </a:r>
          </a:p>
        </p:txBody>
      </p:sp>
      <p:sp>
        <p:nvSpPr>
          <p:cNvPr id="11" name="圆角矩形 10"/>
          <p:cNvSpPr/>
          <p:nvPr/>
        </p:nvSpPr>
        <p:spPr bwMode="gray">
          <a:xfrm>
            <a:off x="2453083" y="230929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文件</a:t>
            </a:r>
            <a:r>
              <a:rPr lang="en-US" altLang="zh-CN" sz="1400" dirty="0">
                <a:solidFill>
                  <a:schemeClr val="tx1"/>
                </a:solidFill>
              </a:rPr>
              <a:t>/</a:t>
            </a:r>
            <a:r>
              <a:rPr lang="zh-CN" altLang="en-US" sz="1400" dirty="0">
                <a:solidFill>
                  <a:schemeClr val="tx1"/>
                </a:solidFill>
              </a:rPr>
              <a:t>配置管理</a:t>
            </a:r>
          </a:p>
        </p:txBody>
      </p:sp>
      <p:sp>
        <p:nvSpPr>
          <p:cNvPr id="12" name="圆角矩形 11"/>
          <p:cNvSpPr/>
          <p:nvPr/>
        </p:nvSpPr>
        <p:spPr bwMode="gray">
          <a:xfrm>
            <a:off x="2109005" y="1405526"/>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网元管理</a:t>
            </a:r>
          </a:p>
        </p:txBody>
      </p:sp>
      <p:sp>
        <p:nvSpPr>
          <p:cNvPr id="13" name="圆角矩形 75"/>
          <p:cNvSpPr/>
          <p:nvPr/>
        </p:nvSpPr>
        <p:spPr bwMode="gray">
          <a:xfrm>
            <a:off x="2066583" y="2787697"/>
            <a:ext cx="3751868" cy="973596"/>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圆角矩形 13"/>
          <p:cNvSpPr/>
          <p:nvPr/>
        </p:nvSpPr>
        <p:spPr bwMode="gray">
          <a:xfrm>
            <a:off x="4093346" y="291656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业务质量监控</a:t>
            </a:r>
          </a:p>
        </p:txBody>
      </p:sp>
      <p:sp>
        <p:nvSpPr>
          <p:cNvPr id="15" name="圆角矩形 14"/>
          <p:cNvSpPr/>
          <p:nvPr/>
        </p:nvSpPr>
        <p:spPr bwMode="gray">
          <a:xfrm>
            <a:off x="4093346" y="331841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链路管理</a:t>
            </a:r>
          </a:p>
        </p:txBody>
      </p:sp>
      <p:sp>
        <p:nvSpPr>
          <p:cNvPr id="17" name="圆角矩形 16"/>
          <p:cNvSpPr/>
          <p:nvPr/>
        </p:nvSpPr>
        <p:spPr bwMode="gray">
          <a:xfrm>
            <a:off x="2453083" y="331841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无线网络监控</a:t>
            </a:r>
          </a:p>
        </p:txBody>
      </p:sp>
      <p:sp>
        <p:nvSpPr>
          <p:cNvPr id="19" name="圆角矩形 18"/>
          <p:cNvSpPr/>
          <p:nvPr/>
        </p:nvSpPr>
        <p:spPr bwMode="gray">
          <a:xfrm>
            <a:off x="2109005" y="2818514"/>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网络管理</a:t>
            </a:r>
          </a:p>
        </p:txBody>
      </p:sp>
      <p:sp>
        <p:nvSpPr>
          <p:cNvPr id="20" name="圆角矩形 75"/>
          <p:cNvSpPr/>
          <p:nvPr/>
        </p:nvSpPr>
        <p:spPr bwMode="gray">
          <a:xfrm>
            <a:off x="2066583" y="3799452"/>
            <a:ext cx="3751868" cy="973596"/>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 name="圆角矩形 20"/>
          <p:cNvSpPr/>
          <p:nvPr/>
        </p:nvSpPr>
        <p:spPr bwMode="gray">
          <a:xfrm>
            <a:off x="4093346" y="3928317"/>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终端管理</a:t>
            </a:r>
          </a:p>
        </p:txBody>
      </p:sp>
      <p:sp>
        <p:nvSpPr>
          <p:cNvPr id="22" name="圆角矩形 21"/>
          <p:cNvSpPr/>
          <p:nvPr/>
        </p:nvSpPr>
        <p:spPr bwMode="gray">
          <a:xfrm>
            <a:off x="4093346" y="4330165"/>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客流分析</a:t>
            </a:r>
          </a:p>
        </p:txBody>
      </p:sp>
      <p:sp>
        <p:nvSpPr>
          <p:cNvPr id="23" name="圆角矩形 22"/>
          <p:cNvSpPr/>
          <p:nvPr/>
        </p:nvSpPr>
        <p:spPr bwMode="gray">
          <a:xfrm>
            <a:off x="2453083" y="4330165"/>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用户管理</a:t>
            </a:r>
          </a:p>
        </p:txBody>
      </p:sp>
      <p:sp>
        <p:nvSpPr>
          <p:cNvPr id="24" name="圆角矩形 23"/>
          <p:cNvSpPr/>
          <p:nvPr/>
        </p:nvSpPr>
        <p:spPr bwMode="gray">
          <a:xfrm>
            <a:off x="2109005" y="3830269"/>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终端管理</a:t>
            </a:r>
          </a:p>
        </p:txBody>
      </p:sp>
      <p:sp>
        <p:nvSpPr>
          <p:cNvPr id="30" name="圆角矩形 75"/>
          <p:cNvSpPr/>
          <p:nvPr/>
        </p:nvSpPr>
        <p:spPr bwMode="gray">
          <a:xfrm>
            <a:off x="2066583" y="4811207"/>
            <a:ext cx="3751868" cy="1375460"/>
          </a:xfrm>
          <a:prstGeom prst="roundRect">
            <a:avLst>
              <a:gd name="adj" fmla="val 2420"/>
            </a:avLst>
          </a:prstGeom>
          <a:solidFill>
            <a:srgbClr val="DEF4F6"/>
          </a:solid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 name="圆角矩形 30"/>
          <p:cNvSpPr/>
          <p:nvPr/>
        </p:nvSpPr>
        <p:spPr bwMode="gray">
          <a:xfrm>
            <a:off x="4093346" y="494007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设备维度</a:t>
            </a:r>
          </a:p>
        </p:txBody>
      </p:sp>
      <p:sp>
        <p:nvSpPr>
          <p:cNvPr id="32" name="圆角矩形 31"/>
          <p:cNvSpPr/>
          <p:nvPr/>
        </p:nvSpPr>
        <p:spPr bwMode="gray">
          <a:xfrm>
            <a:off x="4093346" y="534192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用户漫游维度</a:t>
            </a:r>
          </a:p>
        </p:txBody>
      </p:sp>
      <p:sp>
        <p:nvSpPr>
          <p:cNvPr id="33" name="圆角矩形 32"/>
          <p:cNvSpPr/>
          <p:nvPr/>
        </p:nvSpPr>
        <p:spPr bwMode="gray">
          <a:xfrm>
            <a:off x="4093346" y="5745788"/>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用户应用维度</a:t>
            </a:r>
          </a:p>
        </p:txBody>
      </p:sp>
      <p:sp>
        <p:nvSpPr>
          <p:cNvPr id="34" name="圆角矩形 33"/>
          <p:cNvSpPr/>
          <p:nvPr/>
        </p:nvSpPr>
        <p:spPr bwMode="gray">
          <a:xfrm>
            <a:off x="2453083" y="534192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用户接入维度</a:t>
            </a:r>
          </a:p>
        </p:txBody>
      </p:sp>
      <p:sp>
        <p:nvSpPr>
          <p:cNvPr id="35" name="圆角矩形 34"/>
          <p:cNvSpPr/>
          <p:nvPr/>
        </p:nvSpPr>
        <p:spPr bwMode="gray">
          <a:xfrm>
            <a:off x="2453083" y="5745788"/>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用户吞吐维度</a:t>
            </a:r>
          </a:p>
        </p:txBody>
      </p:sp>
      <p:sp>
        <p:nvSpPr>
          <p:cNvPr id="36" name="圆角矩形 35"/>
          <p:cNvSpPr/>
          <p:nvPr/>
        </p:nvSpPr>
        <p:spPr bwMode="gray">
          <a:xfrm>
            <a:off x="2109004" y="4842024"/>
            <a:ext cx="1211343"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网络健康度</a:t>
            </a:r>
          </a:p>
        </p:txBody>
      </p:sp>
      <p:sp>
        <p:nvSpPr>
          <p:cNvPr id="38" name="圆角矩形 75"/>
          <p:cNvSpPr/>
          <p:nvPr/>
        </p:nvSpPr>
        <p:spPr bwMode="gray">
          <a:xfrm>
            <a:off x="6228520" y="1347849"/>
            <a:ext cx="4097352" cy="4852926"/>
          </a:xfrm>
          <a:prstGeom prst="roundRect">
            <a:avLst>
              <a:gd name="adj" fmla="val 2420"/>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9" name="圆角矩形 75"/>
          <p:cNvSpPr/>
          <p:nvPr/>
        </p:nvSpPr>
        <p:spPr bwMode="gray">
          <a:xfrm>
            <a:off x="6228520" y="950277"/>
            <a:ext cx="4097352"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故障处理：智能化</a:t>
            </a:r>
          </a:p>
        </p:txBody>
      </p:sp>
      <p:sp>
        <p:nvSpPr>
          <p:cNvPr id="40" name="圆角矩形 75"/>
          <p:cNvSpPr/>
          <p:nvPr/>
        </p:nvSpPr>
        <p:spPr bwMode="gray">
          <a:xfrm>
            <a:off x="6401262" y="1374709"/>
            <a:ext cx="3751868" cy="1375460"/>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2" name="圆角矩形 41"/>
          <p:cNvSpPr/>
          <p:nvPr/>
        </p:nvSpPr>
        <p:spPr bwMode="gray">
          <a:xfrm>
            <a:off x="8428025" y="1905422"/>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设备诊断和测试</a:t>
            </a:r>
          </a:p>
        </p:txBody>
      </p:sp>
      <p:sp>
        <p:nvSpPr>
          <p:cNvPr id="43" name="圆角矩形 42"/>
          <p:cNvSpPr/>
          <p:nvPr/>
        </p:nvSpPr>
        <p:spPr bwMode="gray">
          <a:xfrm>
            <a:off x="8428025" y="2309290"/>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SLA</a:t>
            </a:r>
            <a:r>
              <a:rPr lang="zh-CN" altLang="en-US" sz="1400" dirty="0">
                <a:solidFill>
                  <a:schemeClr val="tx1"/>
                </a:solidFill>
              </a:rPr>
              <a:t>管理</a:t>
            </a:r>
          </a:p>
        </p:txBody>
      </p:sp>
      <p:sp>
        <p:nvSpPr>
          <p:cNvPr id="44" name="圆角矩形 43"/>
          <p:cNvSpPr/>
          <p:nvPr/>
        </p:nvSpPr>
        <p:spPr bwMode="gray">
          <a:xfrm>
            <a:off x="6787762" y="190542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获取报文头</a:t>
            </a:r>
          </a:p>
        </p:txBody>
      </p:sp>
      <p:sp>
        <p:nvSpPr>
          <p:cNvPr id="45" name="圆角矩形 44"/>
          <p:cNvSpPr/>
          <p:nvPr/>
        </p:nvSpPr>
        <p:spPr bwMode="gray">
          <a:xfrm>
            <a:off x="6787762" y="230929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报文路径跟踪</a:t>
            </a:r>
          </a:p>
        </p:txBody>
      </p:sp>
      <p:sp>
        <p:nvSpPr>
          <p:cNvPr id="46" name="圆角矩形 45"/>
          <p:cNvSpPr/>
          <p:nvPr/>
        </p:nvSpPr>
        <p:spPr bwMode="gray">
          <a:xfrm>
            <a:off x="6443684" y="1405526"/>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故障定位</a:t>
            </a:r>
          </a:p>
        </p:txBody>
      </p:sp>
      <p:sp>
        <p:nvSpPr>
          <p:cNvPr id="64" name="圆角矩形 75"/>
          <p:cNvSpPr/>
          <p:nvPr/>
        </p:nvSpPr>
        <p:spPr bwMode="gray">
          <a:xfrm>
            <a:off x="6401262" y="3290558"/>
            <a:ext cx="3751868" cy="1375460"/>
          </a:xfrm>
          <a:prstGeom prst="roundRect">
            <a:avLst>
              <a:gd name="adj" fmla="val 2420"/>
            </a:avLst>
          </a:prstGeom>
          <a:solidFill>
            <a:srgbClr val="DEF4F6"/>
          </a:solid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5" name="圆角矩形 64"/>
          <p:cNvSpPr/>
          <p:nvPr/>
        </p:nvSpPr>
        <p:spPr bwMode="gray">
          <a:xfrm>
            <a:off x="8428025" y="3821271"/>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接入分析</a:t>
            </a:r>
          </a:p>
        </p:txBody>
      </p:sp>
      <p:sp>
        <p:nvSpPr>
          <p:cNvPr id="66" name="圆角矩形 65"/>
          <p:cNvSpPr/>
          <p:nvPr/>
        </p:nvSpPr>
        <p:spPr bwMode="gray">
          <a:xfrm>
            <a:off x="8428025" y="4225139"/>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协议回放</a:t>
            </a:r>
          </a:p>
        </p:txBody>
      </p:sp>
      <p:sp>
        <p:nvSpPr>
          <p:cNvPr id="67" name="圆角矩形 66"/>
          <p:cNvSpPr/>
          <p:nvPr/>
        </p:nvSpPr>
        <p:spPr bwMode="gray">
          <a:xfrm>
            <a:off x="6787762" y="3821271"/>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问题分析</a:t>
            </a:r>
          </a:p>
        </p:txBody>
      </p:sp>
      <p:sp>
        <p:nvSpPr>
          <p:cNvPr id="68" name="圆角矩形 67"/>
          <p:cNvSpPr/>
          <p:nvPr/>
        </p:nvSpPr>
        <p:spPr bwMode="gray">
          <a:xfrm>
            <a:off x="6787762" y="4225139"/>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性能分析</a:t>
            </a:r>
          </a:p>
        </p:txBody>
      </p:sp>
      <p:sp>
        <p:nvSpPr>
          <p:cNvPr id="69" name="圆角矩形 68"/>
          <p:cNvSpPr/>
          <p:nvPr/>
        </p:nvSpPr>
        <p:spPr bwMode="gray">
          <a:xfrm>
            <a:off x="6443684" y="3321375"/>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故障分析</a:t>
            </a:r>
          </a:p>
        </p:txBody>
      </p:sp>
      <p:sp>
        <p:nvSpPr>
          <p:cNvPr id="70" name="圆角矩形 75"/>
          <p:cNvSpPr/>
          <p:nvPr/>
        </p:nvSpPr>
        <p:spPr bwMode="gray">
          <a:xfrm>
            <a:off x="6401262" y="4714256"/>
            <a:ext cx="3751868" cy="1375460"/>
          </a:xfrm>
          <a:prstGeom prst="roundRect">
            <a:avLst>
              <a:gd name="adj" fmla="val 2420"/>
            </a:avLst>
          </a:prstGeom>
          <a:solidFill>
            <a:srgbClr val="DEF4F6"/>
          </a:solid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3" name="圆角矩形 72"/>
          <p:cNvSpPr/>
          <p:nvPr/>
        </p:nvSpPr>
        <p:spPr bwMode="gray">
          <a:xfrm>
            <a:off x="6787762" y="5244969"/>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射频调优</a:t>
            </a:r>
          </a:p>
        </p:txBody>
      </p:sp>
      <p:sp>
        <p:nvSpPr>
          <p:cNvPr id="75" name="圆角矩形 74"/>
          <p:cNvSpPr/>
          <p:nvPr/>
        </p:nvSpPr>
        <p:spPr bwMode="gray">
          <a:xfrm>
            <a:off x="6443684" y="4745073"/>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网络调优</a:t>
            </a:r>
          </a:p>
        </p:txBody>
      </p:sp>
      <p:sp>
        <p:nvSpPr>
          <p:cNvPr id="77" name="圆角矩形 75"/>
          <p:cNvSpPr/>
          <p:nvPr/>
        </p:nvSpPr>
        <p:spPr bwMode="gray">
          <a:xfrm>
            <a:off x="786958" y="5247021"/>
            <a:ext cx="795781" cy="289626"/>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ctr">
              <a:lnSpc>
                <a:spcPts val="1800"/>
              </a:lnSpc>
              <a:spcAft>
                <a:spcPts val="3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控制器</a:t>
            </a:r>
          </a:p>
        </p:txBody>
      </p:sp>
      <p:sp>
        <p:nvSpPr>
          <p:cNvPr id="78" name="圆角矩形 75"/>
          <p:cNvSpPr/>
          <p:nvPr/>
        </p:nvSpPr>
        <p:spPr bwMode="gray">
          <a:xfrm>
            <a:off x="786958" y="5634581"/>
            <a:ext cx="795781" cy="289626"/>
          </a:xfrm>
          <a:prstGeom prst="roundRect">
            <a:avLst>
              <a:gd name="adj" fmla="val 2420"/>
            </a:avLst>
          </a:prstGeom>
          <a:solidFill>
            <a:srgbClr val="DEF4F6"/>
          </a:solid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ctr">
              <a:lnSpc>
                <a:spcPts val="1800"/>
              </a:lnSpc>
              <a:spcAft>
                <a:spcPts val="3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分析器</a:t>
            </a:r>
          </a:p>
        </p:txBody>
      </p:sp>
      <p:pic>
        <p:nvPicPr>
          <p:cNvPr id="79" name="图片 7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27620" y="2238175"/>
            <a:ext cx="1114457" cy="633519"/>
          </a:xfrm>
          <a:prstGeom prst="rect">
            <a:avLst/>
          </a:prstGeom>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0818798" y="2960653"/>
            <a:ext cx="562215" cy="562215"/>
          </a:xfrm>
          <a:prstGeom prst="rect">
            <a:avLst/>
          </a:prstGeom>
        </p:spPr>
      </p:pic>
      <p:sp>
        <p:nvSpPr>
          <p:cNvPr id="55" name="圆角矩形 54"/>
          <p:cNvSpPr/>
          <p:nvPr/>
        </p:nvSpPr>
        <p:spPr bwMode="gray">
          <a:xfrm>
            <a:off x="10404514" y="3524273"/>
            <a:ext cx="1390782" cy="541330"/>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CloudCampus</a:t>
            </a:r>
          </a:p>
          <a:p>
            <a:pPr algn="ctr"/>
            <a:r>
              <a:rPr lang="en-US" altLang="zh-CN" sz="1400" dirty="0">
                <a:solidFill>
                  <a:schemeClr val="tx1"/>
                </a:solidFill>
              </a:rPr>
              <a:t>APP</a:t>
            </a:r>
            <a:endParaRPr lang="zh-CN" altLang="en-US" sz="1400" dirty="0">
              <a:solidFill>
                <a:schemeClr val="tx1"/>
              </a:solidFill>
            </a:endParaRPr>
          </a:p>
        </p:txBody>
      </p:sp>
      <p:pic>
        <p:nvPicPr>
          <p:cNvPr id="56" name="图片 5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596520" y="3444162"/>
            <a:ext cx="1170060" cy="857360"/>
          </a:xfrm>
          <a:prstGeom prst="rect">
            <a:avLst/>
          </a:prstGeom>
        </p:spPr>
      </p:pic>
    </p:spTree>
    <p:extLst>
      <p:ext uri="{BB962C8B-B14F-4D97-AF65-F5344CB8AC3E}">
        <p14:creationId xmlns:p14="http://schemas.microsoft.com/office/powerpoint/2010/main" val="9554341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基础网络运维设计</a:t>
            </a:r>
          </a:p>
        </p:txBody>
      </p:sp>
      <p:sp>
        <p:nvSpPr>
          <p:cNvPr id="4" name="文本占位符 3"/>
          <p:cNvSpPr>
            <a:spLocks noGrp="1"/>
          </p:cNvSpPr>
          <p:nvPr>
            <p:ph type="body" sz="quarter" idx="10"/>
          </p:nvPr>
        </p:nvSpPr>
        <p:spPr>
          <a:xfrm>
            <a:off x="455612" y="1047751"/>
            <a:ext cx="11293475" cy="1294856"/>
          </a:xfrm>
        </p:spPr>
        <p:txBody>
          <a:bodyPr/>
          <a:lstStyle/>
          <a:p>
            <a:r>
              <a:rPr lang="zh-CN" altLang="en-US" sz="1800" dirty="0"/>
              <a:t>大中型虚拟化园区网络方案中，</a:t>
            </a:r>
            <a:r>
              <a:rPr lang="en-US" altLang="zh-CN" sz="1800" dirty="0" err="1"/>
              <a:t>iMaster</a:t>
            </a:r>
            <a:r>
              <a:rPr lang="en-US" altLang="zh-CN" sz="1800" dirty="0"/>
              <a:t> NCE-Campus</a:t>
            </a:r>
            <a:r>
              <a:rPr lang="zh-CN" altLang="en-US" sz="1800" dirty="0"/>
              <a:t>能够对其纳管的设备提供全面的基础网络管理、网元管理、业务管理和系统管理功能，主要有用户管理、日志管理、资源管理、拓扑管理、告警管理、性能管理。同时，传统网络运维中常用的协议也支持在</a:t>
            </a:r>
            <a:r>
              <a:rPr lang="en-US" altLang="zh-CN" sz="1800" dirty="0" err="1"/>
              <a:t>iMaster</a:t>
            </a:r>
            <a:r>
              <a:rPr lang="en-US" altLang="zh-CN" sz="1800" dirty="0"/>
              <a:t> NCE-Campus</a:t>
            </a:r>
            <a:r>
              <a:rPr lang="zh-CN" altLang="en-US" sz="1800" dirty="0"/>
              <a:t>中应用。</a:t>
            </a:r>
          </a:p>
        </p:txBody>
      </p:sp>
      <p:graphicFrame>
        <p:nvGraphicFramePr>
          <p:cNvPr id="5" name="表格 4"/>
          <p:cNvGraphicFramePr>
            <a:graphicFrameLocks noGrp="1"/>
          </p:cNvGraphicFramePr>
          <p:nvPr>
            <p:extLst>
              <p:ext uri="{D42A27DB-BD31-4B8C-83A1-F6EECF244321}">
                <p14:modId xmlns:p14="http://schemas.microsoft.com/office/powerpoint/2010/main" val="834394997"/>
              </p:ext>
            </p:extLst>
          </p:nvPr>
        </p:nvGraphicFramePr>
        <p:xfrm>
          <a:off x="932656" y="2466160"/>
          <a:ext cx="10326687" cy="3431837"/>
        </p:xfrm>
        <a:graphic>
          <a:graphicData uri="http://schemas.openxmlformats.org/drawingml/2006/table">
            <a:tbl>
              <a:tblPr/>
              <a:tblGrid>
                <a:gridCol w="1216914">
                  <a:extLst>
                    <a:ext uri="{9D8B030D-6E8A-4147-A177-3AD203B41FA5}">
                      <a16:colId xmlns:a16="http://schemas.microsoft.com/office/drawing/2014/main" val="20000"/>
                    </a:ext>
                  </a:extLst>
                </a:gridCol>
                <a:gridCol w="9109773">
                  <a:extLst>
                    <a:ext uri="{9D8B030D-6E8A-4147-A177-3AD203B41FA5}">
                      <a16:colId xmlns:a16="http://schemas.microsoft.com/office/drawing/2014/main" val="20001"/>
                    </a:ext>
                  </a:extLst>
                </a:gridCol>
              </a:tblGrid>
              <a:tr h="351611">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fontAlgn="base" latinLnBrk="0" hangingPunct="1">
                        <a:lnSpc>
                          <a:spcPct val="100000"/>
                        </a:lnSpc>
                        <a:spcBef>
                          <a:spcPct val="0"/>
                        </a:spcBef>
                        <a:spcAft>
                          <a:spcPct val="0"/>
                        </a:spcAft>
                      </a:pPr>
                      <a:r>
                        <a:rPr lang="zh-CN" altLang="en-US" sz="1400" b="1"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协议名称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fontAlgn="base" latinLnBrk="0" hangingPunct="1">
                        <a:lnSpc>
                          <a:spcPct val="100000"/>
                        </a:lnSpc>
                        <a:spcBef>
                          <a:spcPct val="0"/>
                        </a:spcBef>
                        <a:spcAft>
                          <a:spcPct val="0"/>
                        </a:spcAft>
                      </a:pPr>
                      <a:r>
                        <a:rPr lang="zh-CN" altLang="en-US" sz="1400" b="1"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在</a:t>
                      </a:r>
                      <a:r>
                        <a:rPr lang="en-US" altLang="zh-CN" sz="1400" b="1" kern="1200" dirty="0" err="1">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iMaster</a:t>
                      </a:r>
                      <a:r>
                        <a:rPr lang="en-US" altLang="zh-CN" sz="1400" b="1"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 NCE-Campus</a:t>
                      </a:r>
                      <a:r>
                        <a:rPr lang="zh-CN" altLang="en-US" sz="1400" b="1"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的配置支持情况</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616045">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ctr" defTabSz="1218956" rtl="0" eaLnBrk="1" fontAlgn="base" latinLnBrk="0" hangingPunct="1">
                        <a:lnSpc>
                          <a:spcPct val="100000"/>
                        </a:lnSpc>
                        <a:spcBef>
                          <a:spcPct val="0"/>
                        </a:spcBef>
                        <a:spcAft>
                          <a:spcPct val="0"/>
                        </a:spcAft>
                        <a:buFont typeface="Arial" panose="020B0604020202020204" pitchFamily="34" charset="0"/>
                        <a:buNone/>
                      </a:pPr>
                      <a:r>
                        <a:rPr lang="en-US" altLang="zh-CN" sz="1400" kern="1200" baseline="0" dirty="0">
                          <a:solidFill>
                            <a:schemeClr val="tx1"/>
                          </a:solidFill>
                          <a:latin typeface="+mn-lt"/>
                          <a:ea typeface="+mn-ea"/>
                          <a:cs typeface="+mn-ea"/>
                          <a:sym typeface="Huawei Sans" panose="020C0503030203020204" pitchFamily="34" charset="0"/>
                        </a:rPr>
                        <a:t>SNMP</a:t>
                      </a:r>
                      <a:endParaRPr lang="zh-CN" altLang="en-US" sz="1400" kern="1200" baseline="0" dirty="0">
                        <a:solidFill>
                          <a:schemeClr val="tx1"/>
                        </a:solidFill>
                        <a:latin typeface="+mn-lt"/>
                        <a:ea typeface="+mn-ea"/>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支持配置网络设备与</a:t>
                      </a:r>
                      <a:r>
                        <a:rPr lang="en-US" altLang="zh-CN" sz="1400" kern="1200" baseline="0" dirty="0">
                          <a:solidFill>
                            <a:schemeClr val="tx1"/>
                          </a:solidFill>
                          <a:latin typeface="+mn-lt"/>
                          <a:ea typeface="+mn-ea"/>
                          <a:cs typeface="+mn-ea"/>
                          <a:sym typeface="+mn-lt"/>
                        </a:rPr>
                        <a:t>SNMP</a:t>
                      </a:r>
                      <a:r>
                        <a:rPr lang="zh-CN" altLang="en-US" sz="1400" kern="1200" baseline="0" dirty="0">
                          <a:solidFill>
                            <a:schemeClr val="tx1"/>
                          </a:solidFill>
                          <a:latin typeface="+mn-lt"/>
                          <a:ea typeface="+mn-ea"/>
                          <a:cs typeface="+mn-ea"/>
                          <a:sym typeface="+mn-lt"/>
                        </a:rPr>
                        <a:t>服务器对接。</a:t>
                      </a:r>
                    </a:p>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支持通过</a:t>
                      </a:r>
                      <a:r>
                        <a:rPr lang="en-US" altLang="zh-CN" sz="1400" kern="1200" baseline="0" dirty="0">
                          <a:solidFill>
                            <a:schemeClr val="tx1"/>
                          </a:solidFill>
                          <a:latin typeface="+mn-lt"/>
                          <a:ea typeface="+mn-ea"/>
                          <a:cs typeface="+mn-ea"/>
                          <a:sym typeface="+mn-lt"/>
                        </a:rPr>
                        <a:t>SNMP</a:t>
                      </a:r>
                      <a:r>
                        <a:rPr lang="zh-CN" altLang="en-US" sz="1400" kern="1200" baseline="0" dirty="0">
                          <a:solidFill>
                            <a:schemeClr val="tx1"/>
                          </a:solidFill>
                          <a:latin typeface="+mn-lt"/>
                          <a:ea typeface="+mn-ea"/>
                          <a:cs typeface="+mn-ea"/>
                          <a:sym typeface="+mn-lt"/>
                        </a:rPr>
                        <a:t>协议管理传统设备。传统设备是指不支持</a:t>
                      </a:r>
                      <a:r>
                        <a:rPr lang="en-US" altLang="zh-CN" sz="1400" kern="1200" baseline="0" dirty="0">
                          <a:solidFill>
                            <a:schemeClr val="tx1"/>
                          </a:solidFill>
                          <a:latin typeface="+mn-lt"/>
                          <a:ea typeface="+mn-ea"/>
                          <a:cs typeface="+mn-ea"/>
                          <a:sym typeface="+mn-lt"/>
                        </a:rPr>
                        <a:t>NETCONF</a:t>
                      </a:r>
                      <a:r>
                        <a:rPr lang="zh-CN" altLang="en-US" sz="1400" kern="1200" baseline="0" dirty="0">
                          <a:solidFill>
                            <a:schemeClr val="tx1"/>
                          </a:solidFill>
                          <a:latin typeface="+mn-lt"/>
                          <a:ea typeface="+mn-ea"/>
                          <a:cs typeface="+mn-ea"/>
                          <a:sym typeface="+mn-lt"/>
                        </a:rPr>
                        <a:t>的网络设备。</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51611">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ctr" defTabSz="1218956" rtl="0" eaLnBrk="1" fontAlgn="base" latinLnBrk="0" hangingPunct="1">
                        <a:lnSpc>
                          <a:spcPct val="100000"/>
                        </a:lnSpc>
                        <a:spcBef>
                          <a:spcPct val="0"/>
                        </a:spcBef>
                        <a:spcAft>
                          <a:spcPct val="0"/>
                        </a:spcAft>
                        <a:buFont typeface="Arial" panose="020B0604020202020204" pitchFamily="34" charset="0"/>
                        <a:buNone/>
                      </a:pPr>
                      <a:r>
                        <a:rPr lang="en-US" altLang="zh-CN" sz="1400" kern="1200" baseline="0" dirty="0">
                          <a:solidFill>
                            <a:schemeClr val="tx1"/>
                          </a:solidFill>
                          <a:latin typeface="+mn-lt"/>
                          <a:ea typeface="+mn-ea"/>
                          <a:cs typeface="+mn-ea"/>
                          <a:sym typeface="Huawei Sans" panose="020C0503030203020204" pitchFamily="34" charset="0"/>
                        </a:rPr>
                        <a:t>NTP</a:t>
                      </a:r>
                      <a:endParaRPr lang="zh-CN" altLang="en-US" sz="1400" kern="1200" baseline="0" dirty="0">
                        <a:solidFill>
                          <a:schemeClr val="tx1"/>
                        </a:solidFill>
                        <a:latin typeface="+mn-lt"/>
                        <a:ea typeface="+mn-ea"/>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支持配置网络设备与</a:t>
                      </a:r>
                      <a:r>
                        <a:rPr lang="en-US" altLang="zh-CN" sz="1400" kern="1200" baseline="0" dirty="0">
                          <a:solidFill>
                            <a:schemeClr val="tx1"/>
                          </a:solidFill>
                          <a:latin typeface="+mn-lt"/>
                          <a:ea typeface="+mn-ea"/>
                          <a:cs typeface="+mn-ea"/>
                          <a:sym typeface="+mn-lt"/>
                        </a:rPr>
                        <a:t>NTP</a:t>
                      </a:r>
                      <a:r>
                        <a:rPr lang="zh-CN" altLang="en-US" sz="1400" kern="1200" baseline="0" dirty="0">
                          <a:solidFill>
                            <a:schemeClr val="tx1"/>
                          </a:solidFill>
                          <a:latin typeface="+mn-lt"/>
                          <a:ea typeface="+mn-ea"/>
                          <a:cs typeface="+mn-ea"/>
                          <a:sym typeface="+mn-lt"/>
                        </a:rPr>
                        <a:t>服务器对接。</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880480">
                <a:tc>
                  <a:txBody>
                    <a:bodyPr/>
                    <a:lstStyle/>
                    <a:p>
                      <a:pPr marL="0" indent="0" algn="ctr" defTabSz="1218956" rtl="0" eaLnBrk="1" fontAlgn="base" latinLnBrk="0" hangingPunct="1">
                        <a:lnSpc>
                          <a:spcPct val="100000"/>
                        </a:lnSpc>
                        <a:spcBef>
                          <a:spcPct val="0"/>
                        </a:spcBef>
                        <a:spcAft>
                          <a:spcPct val="0"/>
                        </a:spcAft>
                        <a:buFont typeface="Arial" panose="020B0604020202020204" pitchFamily="34" charset="0"/>
                        <a:buNone/>
                      </a:pPr>
                      <a:r>
                        <a:rPr lang="en-US" altLang="zh-CN" sz="1400" kern="1200" baseline="0" dirty="0">
                          <a:solidFill>
                            <a:schemeClr val="tx1"/>
                          </a:solidFill>
                          <a:latin typeface="+mn-lt"/>
                          <a:ea typeface="+mn-ea"/>
                          <a:cs typeface="+mn-ea"/>
                          <a:sym typeface="Huawei Sans" panose="020C0503030203020204" pitchFamily="34" charset="0"/>
                        </a:rPr>
                        <a:t>Syslog</a:t>
                      </a:r>
                      <a:endParaRPr lang="zh-CN" altLang="en-US" sz="1400" kern="1200" baseline="0" dirty="0">
                        <a:solidFill>
                          <a:schemeClr val="tx1"/>
                        </a:solidFill>
                        <a:latin typeface="+mn-lt"/>
                        <a:ea typeface="+mn-ea"/>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支持配置</a:t>
                      </a:r>
                      <a:r>
                        <a:rPr lang="en-US" altLang="zh-CN" sz="1400" kern="1200" baseline="0" dirty="0" err="1">
                          <a:solidFill>
                            <a:schemeClr val="tx1"/>
                          </a:solidFill>
                          <a:latin typeface="+mn-lt"/>
                          <a:ea typeface="+mn-ea"/>
                          <a:cs typeface="+mn-ea"/>
                          <a:sym typeface="+mn-lt"/>
                        </a:rPr>
                        <a:t>iMaster</a:t>
                      </a:r>
                      <a:r>
                        <a:rPr lang="en-US" altLang="zh-CN" sz="1400" kern="1200" baseline="0" dirty="0">
                          <a:solidFill>
                            <a:schemeClr val="tx1"/>
                          </a:solidFill>
                          <a:latin typeface="+mn-lt"/>
                          <a:ea typeface="+mn-ea"/>
                          <a:cs typeface="+mn-ea"/>
                          <a:sym typeface="+mn-lt"/>
                        </a:rPr>
                        <a:t> NCE-Campus</a:t>
                      </a:r>
                      <a:r>
                        <a:rPr lang="zh-CN" altLang="en-US" sz="1400" kern="1200" baseline="0" dirty="0">
                          <a:solidFill>
                            <a:schemeClr val="tx1"/>
                          </a:solidFill>
                          <a:latin typeface="+mn-lt"/>
                          <a:ea typeface="+mn-ea"/>
                          <a:cs typeface="+mn-ea"/>
                          <a:sym typeface="+mn-lt"/>
                        </a:rPr>
                        <a:t>与</a:t>
                      </a:r>
                      <a:r>
                        <a:rPr lang="en-US" altLang="zh-CN" sz="1400" kern="1200" baseline="0" dirty="0">
                          <a:solidFill>
                            <a:schemeClr val="tx1"/>
                          </a:solidFill>
                          <a:latin typeface="+mn-lt"/>
                          <a:ea typeface="+mn-ea"/>
                          <a:cs typeface="+mn-ea"/>
                          <a:sym typeface="+mn-lt"/>
                        </a:rPr>
                        <a:t>Syslog</a:t>
                      </a:r>
                      <a:r>
                        <a:rPr lang="zh-CN" altLang="en-US" sz="1400" kern="1200" baseline="0" dirty="0">
                          <a:solidFill>
                            <a:schemeClr val="tx1"/>
                          </a:solidFill>
                          <a:latin typeface="+mn-lt"/>
                          <a:ea typeface="+mn-ea"/>
                          <a:cs typeface="+mn-ea"/>
                          <a:sym typeface="+mn-lt"/>
                        </a:rPr>
                        <a:t>服务器对接。然后</a:t>
                      </a:r>
                      <a:r>
                        <a:rPr lang="en-US" altLang="zh-CN" sz="1400" kern="1200" baseline="0" dirty="0" err="1">
                          <a:solidFill>
                            <a:schemeClr val="tx1"/>
                          </a:solidFill>
                          <a:latin typeface="+mn-lt"/>
                          <a:ea typeface="+mn-ea"/>
                          <a:cs typeface="+mn-ea"/>
                          <a:sym typeface="+mn-lt"/>
                        </a:rPr>
                        <a:t>iMaster</a:t>
                      </a:r>
                      <a:r>
                        <a:rPr lang="en-US" altLang="zh-CN" sz="1400" kern="1200" baseline="0" dirty="0">
                          <a:solidFill>
                            <a:schemeClr val="tx1"/>
                          </a:solidFill>
                          <a:latin typeface="+mn-lt"/>
                          <a:ea typeface="+mn-ea"/>
                          <a:cs typeface="+mn-ea"/>
                          <a:sym typeface="+mn-lt"/>
                        </a:rPr>
                        <a:t> NCE-Campus</a:t>
                      </a:r>
                      <a:r>
                        <a:rPr lang="zh-CN" altLang="en-US" sz="1400" kern="1200" baseline="0" dirty="0">
                          <a:solidFill>
                            <a:schemeClr val="tx1"/>
                          </a:solidFill>
                          <a:latin typeface="+mn-lt"/>
                          <a:ea typeface="+mn-ea"/>
                          <a:cs typeface="+mn-ea"/>
                          <a:sym typeface="+mn-lt"/>
                        </a:rPr>
                        <a:t>将从网络设备获取的日志上传到</a:t>
                      </a:r>
                      <a:r>
                        <a:rPr lang="en-US" altLang="zh-CN" sz="1400" kern="1200" baseline="0" dirty="0">
                          <a:solidFill>
                            <a:schemeClr val="tx1"/>
                          </a:solidFill>
                          <a:latin typeface="+mn-lt"/>
                          <a:ea typeface="+mn-ea"/>
                          <a:cs typeface="+mn-ea"/>
                          <a:sym typeface="+mn-lt"/>
                        </a:rPr>
                        <a:t>Syslog</a:t>
                      </a:r>
                      <a:r>
                        <a:rPr lang="zh-CN" altLang="en-US" sz="1400" kern="1200" baseline="0" dirty="0">
                          <a:solidFill>
                            <a:schemeClr val="tx1"/>
                          </a:solidFill>
                          <a:latin typeface="+mn-lt"/>
                          <a:ea typeface="+mn-ea"/>
                          <a:cs typeface="+mn-ea"/>
                          <a:sym typeface="+mn-lt"/>
                        </a:rPr>
                        <a:t>服务器。</a:t>
                      </a:r>
                    </a:p>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支持配置网络设备与</a:t>
                      </a:r>
                      <a:r>
                        <a:rPr lang="en-US" altLang="zh-CN" sz="1400" kern="1200" baseline="0" dirty="0">
                          <a:solidFill>
                            <a:schemeClr val="tx1"/>
                          </a:solidFill>
                          <a:latin typeface="+mn-lt"/>
                          <a:ea typeface="+mn-ea"/>
                          <a:cs typeface="+mn-ea"/>
                          <a:sym typeface="+mn-lt"/>
                        </a:rPr>
                        <a:t>Syslog</a:t>
                      </a:r>
                      <a:r>
                        <a:rPr lang="zh-CN" altLang="en-US" sz="1400" kern="1200" baseline="0" dirty="0">
                          <a:solidFill>
                            <a:schemeClr val="tx1"/>
                          </a:solidFill>
                          <a:latin typeface="+mn-lt"/>
                          <a:ea typeface="+mn-ea"/>
                          <a:cs typeface="+mn-ea"/>
                          <a:sym typeface="+mn-lt"/>
                        </a:rPr>
                        <a:t>服务器对接。</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616045">
                <a:tc>
                  <a:txBody>
                    <a:bodyPr/>
                    <a:lstStyle/>
                    <a:p>
                      <a:pPr marL="0" indent="0" algn="ctr" defTabSz="1218956" rtl="0" eaLnBrk="1" fontAlgn="base" latinLnBrk="0" hangingPunct="1">
                        <a:lnSpc>
                          <a:spcPct val="100000"/>
                        </a:lnSpc>
                        <a:spcBef>
                          <a:spcPct val="0"/>
                        </a:spcBef>
                        <a:spcAft>
                          <a:spcPct val="0"/>
                        </a:spcAft>
                        <a:buFont typeface="Arial" panose="020B0604020202020204" pitchFamily="34" charset="0"/>
                        <a:buNone/>
                      </a:pPr>
                      <a:r>
                        <a:rPr lang="en-US" altLang="zh-CN" sz="1400" kern="1200" baseline="0" dirty="0">
                          <a:solidFill>
                            <a:schemeClr val="tx1"/>
                          </a:solidFill>
                          <a:latin typeface="+mn-lt"/>
                          <a:ea typeface="+mn-ea"/>
                          <a:cs typeface="+mn-ea"/>
                          <a:sym typeface="Huawei Sans" panose="020C0503030203020204" pitchFamily="34" charset="0"/>
                        </a:rPr>
                        <a:t>SSH</a:t>
                      </a:r>
                      <a:endParaRPr lang="zh-CN" altLang="en-US" sz="1400" kern="1200" baseline="0" dirty="0">
                        <a:solidFill>
                          <a:schemeClr val="tx1"/>
                        </a:solidFill>
                        <a:latin typeface="+mn-lt"/>
                        <a:ea typeface="+mn-ea"/>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支持在网络设备配置基于</a:t>
                      </a:r>
                      <a:r>
                        <a:rPr lang="en-US" altLang="zh-CN" sz="1400" kern="1200" baseline="0" dirty="0">
                          <a:solidFill>
                            <a:schemeClr val="tx1"/>
                          </a:solidFill>
                          <a:latin typeface="+mn-lt"/>
                          <a:ea typeface="+mn-ea"/>
                          <a:cs typeface="+mn-ea"/>
                          <a:sym typeface="+mn-lt"/>
                        </a:rPr>
                        <a:t>SSH</a:t>
                      </a:r>
                      <a:r>
                        <a:rPr lang="zh-CN" altLang="en-US" sz="1400" kern="1200" baseline="0" dirty="0">
                          <a:solidFill>
                            <a:schemeClr val="tx1"/>
                          </a:solidFill>
                          <a:latin typeface="+mn-lt"/>
                          <a:ea typeface="+mn-ea"/>
                          <a:cs typeface="+mn-ea"/>
                          <a:sym typeface="+mn-lt"/>
                        </a:rPr>
                        <a:t>协议登录的本地账号。</a:t>
                      </a:r>
                    </a:p>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支持通过</a:t>
                      </a:r>
                      <a:r>
                        <a:rPr lang="en-US" altLang="zh-CN" sz="1400" kern="1200" baseline="0" dirty="0">
                          <a:solidFill>
                            <a:schemeClr val="tx1"/>
                          </a:solidFill>
                          <a:latin typeface="+mn-lt"/>
                          <a:ea typeface="+mn-ea"/>
                          <a:cs typeface="+mn-ea"/>
                          <a:sym typeface="+mn-lt"/>
                        </a:rPr>
                        <a:t>SSH</a:t>
                      </a:r>
                      <a:r>
                        <a:rPr lang="zh-CN" altLang="en-US" sz="1400" kern="1200" baseline="0" dirty="0">
                          <a:solidFill>
                            <a:schemeClr val="tx1"/>
                          </a:solidFill>
                          <a:latin typeface="+mn-lt"/>
                          <a:ea typeface="+mn-ea"/>
                          <a:cs typeface="+mn-ea"/>
                          <a:sym typeface="+mn-lt"/>
                        </a:rPr>
                        <a:t>协议从</a:t>
                      </a:r>
                      <a:r>
                        <a:rPr lang="en-US" altLang="zh-CN" sz="1400" kern="1200" baseline="0" dirty="0" err="1">
                          <a:solidFill>
                            <a:schemeClr val="tx1"/>
                          </a:solidFill>
                          <a:latin typeface="+mn-lt"/>
                          <a:ea typeface="+mn-ea"/>
                          <a:cs typeface="+mn-ea"/>
                          <a:sym typeface="+mn-lt"/>
                        </a:rPr>
                        <a:t>iMaster</a:t>
                      </a:r>
                      <a:r>
                        <a:rPr lang="en-US" altLang="zh-CN" sz="1400" kern="1200" baseline="0" dirty="0">
                          <a:solidFill>
                            <a:schemeClr val="tx1"/>
                          </a:solidFill>
                          <a:latin typeface="+mn-lt"/>
                          <a:ea typeface="+mn-ea"/>
                          <a:cs typeface="+mn-ea"/>
                          <a:sym typeface="+mn-lt"/>
                        </a:rPr>
                        <a:t> NCE-Campus</a:t>
                      </a:r>
                      <a:r>
                        <a:rPr lang="zh-CN" altLang="en-US" sz="1400" kern="1200" baseline="0" dirty="0">
                          <a:solidFill>
                            <a:schemeClr val="tx1"/>
                          </a:solidFill>
                          <a:latin typeface="+mn-lt"/>
                          <a:ea typeface="+mn-ea"/>
                          <a:cs typeface="+mn-ea"/>
                          <a:sym typeface="+mn-lt"/>
                        </a:rPr>
                        <a:t>登录到网络设备的命令行界面。</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616045">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ctr" defTabSz="1218956" rtl="0" eaLnBrk="1" fontAlgn="base" latinLnBrk="0" hangingPunct="1">
                        <a:lnSpc>
                          <a:spcPct val="100000"/>
                        </a:lnSpc>
                        <a:spcBef>
                          <a:spcPct val="0"/>
                        </a:spcBef>
                        <a:spcAft>
                          <a:spcPct val="0"/>
                        </a:spcAft>
                        <a:buFont typeface="Arial" panose="020B0604020202020204" pitchFamily="34" charset="0"/>
                        <a:buNone/>
                      </a:pPr>
                      <a:r>
                        <a:rPr lang="en-US" altLang="zh-CN" sz="1400" kern="1200" baseline="0" dirty="0">
                          <a:solidFill>
                            <a:schemeClr val="tx1"/>
                          </a:solidFill>
                          <a:latin typeface="+mn-lt"/>
                          <a:ea typeface="+mn-ea"/>
                          <a:cs typeface="+mn-ea"/>
                          <a:sym typeface="Huawei Sans" panose="020C0503030203020204" pitchFamily="34" charset="0"/>
                        </a:rPr>
                        <a:t>LLDP</a:t>
                      </a:r>
                      <a:endParaRPr lang="zh-CN" altLang="en-US" sz="1400" kern="1200" baseline="0" dirty="0">
                        <a:solidFill>
                          <a:schemeClr val="tx1"/>
                        </a:solidFill>
                        <a:latin typeface="+mn-lt"/>
                        <a:ea typeface="+mn-ea"/>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支持配置网络设备启用</a:t>
                      </a:r>
                      <a:r>
                        <a:rPr lang="en-US" altLang="zh-CN" sz="1400" kern="1200" baseline="0" dirty="0">
                          <a:solidFill>
                            <a:schemeClr val="tx1"/>
                          </a:solidFill>
                          <a:latin typeface="+mn-lt"/>
                          <a:ea typeface="+mn-ea"/>
                          <a:cs typeface="+mn-ea"/>
                          <a:sym typeface="+mn-lt"/>
                        </a:rPr>
                        <a:t>LLDP</a:t>
                      </a:r>
                      <a:r>
                        <a:rPr lang="zh-CN" altLang="en-US" sz="1400" kern="1200" baseline="0" dirty="0">
                          <a:solidFill>
                            <a:schemeClr val="tx1"/>
                          </a:solidFill>
                          <a:latin typeface="+mn-lt"/>
                          <a:ea typeface="+mn-ea"/>
                          <a:cs typeface="+mn-ea"/>
                          <a:sym typeface="+mn-lt"/>
                        </a:rPr>
                        <a:t>功能。该开关在</a:t>
                      </a:r>
                      <a:r>
                        <a:rPr lang="en-US" altLang="zh-CN" sz="1400" kern="1200" baseline="0" dirty="0" err="1">
                          <a:solidFill>
                            <a:schemeClr val="tx1"/>
                          </a:solidFill>
                          <a:latin typeface="+mn-lt"/>
                          <a:ea typeface="+mn-ea"/>
                          <a:cs typeface="+mn-ea"/>
                          <a:sym typeface="+mn-lt"/>
                        </a:rPr>
                        <a:t>iMaster</a:t>
                      </a:r>
                      <a:r>
                        <a:rPr lang="en-US" altLang="zh-CN" sz="1400" kern="1200" baseline="0" dirty="0">
                          <a:solidFill>
                            <a:schemeClr val="tx1"/>
                          </a:solidFill>
                          <a:latin typeface="+mn-lt"/>
                          <a:ea typeface="+mn-ea"/>
                          <a:cs typeface="+mn-ea"/>
                          <a:sym typeface="+mn-lt"/>
                        </a:rPr>
                        <a:t> NCE-Campus</a:t>
                      </a:r>
                      <a:r>
                        <a:rPr lang="zh-CN" altLang="en-US" sz="1400" kern="1200" baseline="0" dirty="0">
                          <a:solidFill>
                            <a:schemeClr val="tx1"/>
                          </a:solidFill>
                          <a:latin typeface="+mn-lt"/>
                          <a:ea typeface="+mn-ea"/>
                          <a:cs typeface="+mn-ea"/>
                          <a:sym typeface="+mn-lt"/>
                        </a:rPr>
                        <a:t>默认开启，</a:t>
                      </a:r>
                      <a:r>
                        <a:rPr lang="en-US" altLang="zh-CN" sz="1400" kern="1200" baseline="0" dirty="0" err="1">
                          <a:solidFill>
                            <a:schemeClr val="tx1"/>
                          </a:solidFill>
                          <a:latin typeface="+mn-lt"/>
                          <a:ea typeface="+mn-ea"/>
                          <a:cs typeface="+mn-ea"/>
                          <a:sym typeface="+mn-lt"/>
                        </a:rPr>
                        <a:t>iMaster</a:t>
                      </a:r>
                      <a:r>
                        <a:rPr lang="en-US" altLang="zh-CN" sz="1400" kern="1200" baseline="0" dirty="0">
                          <a:solidFill>
                            <a:schemeClr val="tx1"/>
                          </a:solidFill>
                          <a:latin typeface="+mn-lt"/>
                          <a:ea typeface="+mn-ea"/>
                          <a:cs typeface="+mn-ea"/>
                          <a:sym typeface="+mn-lt"/>
                        </a:rPr>
                        <a:t> NCE-Campus</a:t>
                      </a:r>
                      <a:r>
                        <a:rPr lang="zh-CN" altLang="en-US" sz="1400" kern="1200" baseline="0" dirty="0">
                          <a:solidFill>
                            <a:schemeClr val="tx1"/>
                          </a:solidFill>
                          <a:latin typeface="+mn-lt"/>
                          <a:ea typeface="+mn-ea"/>
                          <a:cs typeface="+mn-ea"/>
                          <a:sym typeface="+mn-lt"/>
                        </a:rPr>
                        <a:t>也可以通过</a:t>
                      </a:r>
                      <a:r>
                        <a:rPr lang="en-US" altLang="zh-CN" sz="1400" kern="1200" baseline="0" dirty="0">
                          <a:solidFill>
                            <a:schemeClr val="tx1"/>
                          </a:solidFill>
                          <a:latin typeface="+mn-lt"/>
                          <a:ea typeface="+mn-ea"/>
                          <a:cs typeface="+mn-ea"/>
                          <a:sym typeface="+mn-lt"/>
                        </a:rPr>
                        <a:t>LLDP</a:t>
                      </a:r>
                      <a:r>
                        <a:rPr lang="zh-CN" altLang="en-US" sz="1400" kern="1200" baseline="0" dirty="0">
                          <a:solidFill>
                            <a:schemeClr val="tx1"/>
                          </a:solidFill>
                          <a:latin typeface="+mn-lt"/>
                          <a:ea typeface="+mn-ea"/>
                          <a:cs typeface="+mn-ea"/>
                          <a:sym typeface="+mn-lt"/>
                        </a:rPr>
                        <a:t>协议了解到网络拓扑信息。</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982497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智能运维设计</a:t>
            </a:r>
          </a:p>
        </p:txBody>
      </p:sp>
      <p:sp>
        <p:nvSpPr>
          <p:cNvPr id="3" name="文本占位符 2"/>
          <p:cNvSpPr>
            <a:spLocks noGrp="1"/>
          </p:cNvSpPr>
          <p:nvPr>
            <p:ph type="body" sz="quarter" idx="10"/>
          </p:nvPr>
        </p:nvSpPr>
        <p:spPr>
          <a:xfrm>
            <a:off x="455612" y="1047750"/>
            <a:ext cx="11293475" cy="1685925"/>
          </a:xfrm>
        </p:spPr>
        <p:txBody>
          <a:bodyPr/>
          <a:lstStyle/>
          <a:p>
            <a:r>
              <a:rPr lang="zh-CN" altLang="en-US" sz="1800" dirty="0"/>
              <a:t>华为智能运维方案，是采用</a:t>
            </a:r>
            <a:r>
              <a:rPr lang="en-US" altLang="zh-CN" sz="1800" dirty="0"/>
              <a:t>Telemetry</a:t>
            </a:r>
            <a:r>
              <a:rPr lang="zh-CN" altLang="en-US" sz="1800" dirty="0"/>
              <a:t>技术将设备上的运维数据（设备性能指标、终端日志等数据）发送给华为</a:t>
            </a:r>
            <a:r>
              <a:rPr lang="en-US" altLang="zh-CN" sz="1800" dirty="0" err="1"/>
              <a:t>iMaster</a:t>
            </a:r>
            <a:r>
              <a:rPr lang="en-US" altLang="zh-CN" sz="1800" dirty="0"/>
              <a:t> NCE-</a:t>
            </a:r>
            <a:r>
              <a:rPr lang="en-US" altLang="zh-CN" sz="1800" dirty="0" err="1"/>
              <a:t>CampusInsight</a:t>
            </a:r>
            <a:r>
              <a:rPr lang="zh-CN" altLang="en-US" sz="1800" dirty="0"/>
              <a:t>，然后通过大数据、人工智能算法及更多高级分析技术，将网络中的用户体验数字化，辅助客户及时发现网络问题，改善用户体验。</a:t>
            </a:r>
            <a:endParaRPr lang="en-US" altLang="zh-CN" sz="1800" dirty="0"/>
          </a:p>
          <a:p>
            <a:r>
              <a:rPr lang="en-US" altLang="zh-CN" sz="1800" dirty="0" err="1"/>
              <a:t>iMaster</a:t>
            </a:r>
            <a:r>
              <a:rPr lang="en-US" altLang="zh-CN" sz="1800" dirty="0"/>
              <a:t> NCE-</a:t>
            </a:r>
            <a:r>
              <a:rPr lang="en-US" altLang="zh-CN" sz="1800" dirty="0" err="1"/>
              <a:t>CampusInsight</a:t>
            </a:r>
            <a:r>
              <a:rPr lang="zh-CN" altLang="en-US" sz="1800" dirty="0"/>
              <a:t>可提供的运维管理功能：</a:t>
            </a:r>
          </a:p>
        </p:txBody>
      </p:sp>
      <p:graphicFrame>
        <p:nvGraphicFramePr>
          <p:cNvPr id="4" name="表格 3"/>
          <p:cNvGraphicFramePr>
            <a:graphicFrameLocks noGrp="1"/>
          </p:cNvGraphicFramePr>
          <p:nvPr>
            <p:extLst>
              <p:ext uri="{D42A27DB-BD31-4B8C-83A1-F6EECF244321}">
                <p14:modId xmlns:p14="http://schemas.microsoft.com/office/powerpoint/2010/main" val="2564698832"/>
              </p:ext>
            </p:extLst>
          </p:nvPr>
        </p:nvGraphicFramePr>
        <p:xfrm>
          <a:off x="6490977" y="2331419"/>
          <a:ext cx="4595020" cy="3837950"/>
        </p:xfrm>
        <a:graphic>
          <a:graphicData uri="http://schemas.openxmlformats.org/drawingml/2006/table">
            <a:tbl>
              <a:tblPr/>
              <a:tblGrid>
                <a:gridCol w="188992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tblGrid>
              <a:tr h="203557">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fontAlgn="base" latinLnBrk="0" hangingPunct="1">
                        <a:lnSpc>
                          <a:spcPct val="100000"/>
                        </a:lnSpc>
                        <a:spcBef>
                          <a:spcPct val="0"/>
                        </a:spcBef>
                        <a:spcAft>
                          <a:spcPct val="0"/>
                        </a:spcAft>
                      </a:pPr>
                      <a:r>
                        <a:rPr lang="zh-CN" altLang="en-US" sz="1400" b="1"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分类</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187798" rtl="0" eaLnBrk="1" fontAlgn="base" latinLnBrk="0" hangingPunct="1">
                        <a:lnSpc>
                          <a:spcPct val="100000"/>
                        </a:lnSpc>
                        <a:spcBef>
                          <a:spcPct val="0"/>
                        </a:spcBef>
                        <a:spcAft>
                          <a:spcPct val="0"/>
                        </a:spcAft>
                      </a:pPr>
                      <a:r>
                        <a:rPr lang="zh-CN" altLang="en-US" sz="1400" b="1"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功能</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353315">
                <a:tc rowSpan="3">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网络可视化</a:t>
                      </a: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无线网络健康度</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53315">
                <a:tc vMerge="1">
                  <a:txBody>
                    <a:bodyP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有线网络健康度</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53315">
                <a:tc vMerge="1">
                  <a:txBody>
                    <a:bodyP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一体化拓扑</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53315">
                <a:tc rowSpan="4">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园区业务分析</a:t>
                      </a: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问题分析</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53315">
                <a:tc vMerge="1">
                  <a:txBody>
                    <a:bodyPr/>
                    <a:lstStyle/>
                    <a:p>
                      <a:pPr algn="ctr"/>
                      <a:endParaRPr lang="zh-CN" altLang="en-US" sz="12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接入分析</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53315">
                <a:tc vMerge="1">
                  <a:txBody>
                    <a:bodyPr/>
                    <a:lstStyle/>
                    <a:p>
                      <a:pPr algn="ctr"/>
                      <a:endParaRPr lang="zh-CN" altLang="en-US" sz="12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性能分析</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53315">
                <a:tc vMerge="1">
                  <a:txBody>
                    <a:bodyPr/>
                    <a:lstStyle/>
                    <a:p>
                      <a:pPr algn="ctr"/>
                      <a:endParaRPr lang="zh-CN" altLang="en-US" sz="12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协议回放</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353315">
                <a:tc rowSpan="2">
                  <a:txBody>
                    <a:bodyPr/>
                    <a:lstStyle/>
                    <a:p>
                      <a:pPr algn="ctr"/>
                      <a:r>
                        <a:rPr lang="zh-CN" altLang="en-US"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智能无线网络</a:t>
                      </a: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智能无线射频调优</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353315">
                <a:tc vMerge="1">
                  <a:txBody>
                    <a:bodyPr/>
                    <a:lstStyle/>
                    <a:p>
                      <a:pPr algn="ctr"/>
                      <a:endParaRPr lang="zh-CN" altLang="en-US" sz="12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en-US" altLang="zh-CN" sz="1400" kern="1200" baseline="0" dirty="0">
                          <a:solidFill>
                            <a:schemeClr val="tx1"/>
                          </a:solidFill>
                          <a:latin typeface="+mn-lt"/>
                          <a:ea typeface="+mn-ea"/>
                          <a:cs typeface="+mn-ea"/>
                          <a:sym typeface="+mn-lt"/>
                        </a:rPr>
                        <a:t>WLAN</a:t>
                      </a:r>
                      <a:r>
                        <a:rPr lang="zh-CN" altLang="en-US" sz="1400" kern="1200" baseline="0" dirty="0">
                          <a:solidFill>
                            <a:schemeClr val="tx1"/>
                          </a:solidFill>
                          <a:latin typeface="+mn-lt"/>
                          <a:ea typeface="+mn-ea"/>
                          <a:cs typeface="+mn-ea"/>
                          <a:sym typeface="+mn-lt"/>
                        </a:rPr>
                        <a:t>拓扑</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353315">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用户应用体验</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indent="0" algn="l" defTabSz="1218956" rtl="0" eaLnBrk="1" fontAlgn="base" latinLnBrk="0" hangingPunct="1">
                        <a:lnSpc>
                          <a:spcPct val="100000"/>
                        </a:lnSpc>
                        <a:spcBef>
                          <a:spcPct val="0"/>
                        </a:spcBef>
                        <a:spcAft>
                          <a:spcPct val="0"/>
                        </a:spcAft>
                        <a:buFont typeface="Arial" panose="020B0604020202020204" pitchFamily="34" charset="0"/>
                        <a:buNone/>
                      </a:pPr>
                      <a:r>
                        <a:rPr lang="zh-CN" altLang="en-US" sz="1400" kern="1200" baseline="0" dirty="0">
                          <a:solidFill>
                            <a:schemeClr val="tx1"/>
                          </a:solidFill>
                          <a:latin typeface="+mn-lt"/>
                          <a:ea typeface="+mn-ea"/>
                          <a:cs typeface="+mn-ea"/>
                          <a:sym typeface="+mn-lt"/>
                        </a:rPr>
                        <a:t>应用分析</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70199001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sym typeface="Huawei Sans" panose="020C0503030203020204" pitchFamily="34" charset="0"/>
              </a:rPr>
              <a:t>智能运维方案部署设计</a:t>
            </a:r>
          </a:p>
        </p:txBody>
      </p:sp>
      <p:sp>
        <p:nvSpPr>
          <p:cNvPr id="4" name="文本占位符 3"/>
          <p:cNvSpPr>
            <a:spLocks noGrp="1"/>
          </p:cNvSpPr>
          <p:nvPr>
            <p:ph type="body" sz="quarter" idx="10"/>
          </p:nvPr>
        </p:nvSpPr>
        <p:spPr bwMode="gray">
          <a:xfrm>
            <a:off x="455612" y="1047751"/>
            <a:ext cx="11293475" cy="2590800"/>
          </a:xfrm>
        </p:spPr>
        <p:txBody>
          <a:bodyPr/>
          <a:lstStyle/>
          <a:p>
            <a:pPr fontAlgn="base"/>
            <a:r>
              <a:rPr lang="zh-CN" altLang="en-US" sz="1800" dirty="0">
                <a:sym typeface="Huawei Sans" panose="020C0503030203020204" pitchFamily="34" charset="0"/>
              </a:rPr>
              <a:t>智能运维方案部署过程主要包含两个方面：</a:t>
            </a:r>
            <a:endParaRPr lang="en-US" altLang="zh-CN" sz="1800" dirty="0">
              <a:sym typeface="Huawei Sans" panose="020C0503030203020204" pitchFamily="34" charset="0"/>
            </a:endParaRPr>
          </a:p>
          <a:p>
            <a:pPr lvl="1" fontAlgn="base"/>
            <a:r>
              <a:rPr lang="en-US" altLang="zh-CN" sz="1600" dirty="0" err="1">
                <a:sym typeface="Huawei Sans" panose="020C0503030203020204" pitchFamily="34" charset="0"/>
              </a:rPr>
              <a:t>iMaster</a:t>
            </a:r>
            <a:r>
              <a:rPr lang="en-US" altLang="zh-CN" sz="1600" dirty="0">
                <a:sym typeface="Huawei Sans" panose="020C0503030203020204" pitchFamily="34" charset="0"/>
              </a:rPr>
              <a:t> NCE-Campus</a:t>
            </a:r>
            <a:r>
              <a:rPr lang="zh-CN" altLang="en-US" sz="1600" dirty="0">
                <a:sym typeface="Huawei Sans" panose="020C0503030203020204" pitchFamily="34" charset="0"/>
              </a:rPr>
              <a:t>与</a:t>
            </a:r>
            <a:r>
              <a:rPr lang="en-US" altLang="zh-CN" sz="1600" dirty="0" err="1">
                <a:sym typeface="Huawei Sans" panose="020C0503030203020204" pitchFamily="34" charset="0"/>
              </a:rPr>
              <a:t>iMaster</a:t>
            </a:r>
            <a:r>
              <a:rPr lang="en-US" altLang="zh-CN" sz="1600" dirty="0">
                <a:sym typeface="Huawei Sans" panose="020C0503030203020204" pitchFamily="34" charset="0"/>
              </a:rPr>
              <a:t> NCE-</a:t>
            </a:r>
            <a:r>
              <a:rPr lang="en-US" altLang="zh-CN" sz="1600" dirty="0" err="1">
                <a:sym typeface="Huawei Sans" panose="020C0503030203020204" pitchFamily="34" charset="0"/>
              </a:rPr>
              <a:t>CampusInsight</a:t>
            </a:r>
            <a:r>
              <a:rPr lang="zh-CN" altLang="en-US" sz="1600" dirty="0">
                <a:sym typeface="Huawei Sans" panose="020C0503030203020204" pitchFamily="34" charset="0"/>
              </a:rPr>
              <a:t>对接：控制器可以进行统一运维管理，</a:t>
            </a:r>
            <a:r>
              <a:rPr lang="en-US" altLang="zh-CN" sz="1600" dirty="0" err="1">
                <a:sym typeface="Huawei Sans" panose="020C0503030203020204" pitchFamily="34" charset="0"/>
              </a:rPr>
              <a:t>CampusInsight</a:t>
            </a:r>
            <a:r>
              <a:rPr lang="zh-CN" altLang="en-US" sz="1600" dirty="0">
                <a:sym typeface="Huawei Sans" panose="020C0503030203020204" pitchFamily="34" charset="0"/>
              </a:rPr>
              <a:t>能够以代理服务的方式被调用；控制器可以将站点、设备等信息同步给</a:t>
            </a:r>
            <a:r>
              <a:rPr lang="en-US" altLang="zh-CN" sz="1600" dirty="0" err="1">
                <a:sym typeface="Huawei Sans" panose="020C0503030203020204" pitchFamily="34" charset="0"/>
              </a:rPr>
              <a:t>CampusInsight</a:t>
            </a:r>
            <a:r>
              <a:rPr lang="zh-CN" altLang="en-US" sz="1600" dirty="0">
                <a:sym typeface="Huawei Sans" panose="020C0503030203020204" pitchFamily="34" charset="0"/>
              </a:rPr>
              <a:t>。</a:t>
            </a:r>
          </a:p>
          <a:p>
            <a:pPr lvl="1" fontAlgn="base"/>
            <a:r>
              <a:rPr lang="zh-CN" altLang="en-US" sz="1600" dirty="0">
                <a:sym typeface="Huawei Sans" panose="020C0503030203020204" pitchFamily="34" charset="0"/>
              </a:rPr>
              <a:t>园区网络设备的</a:t>
            </a:r>
            <a:r>
              <a:rPr lang="en-US" altLang="zh-CN" sz="1600" dirty="0">
                <a:sym typeface="Huawei Sans" panose="020C0503030203020204" pitchFamily="34" charset="0"/>
              </a:rPr>
              <a:t>Syslog</a:t>
            </a:r>
            <a:r>
              <a:rPr lang="zh-CN" altLang="en-US" sz="1600" dirty="0">
                <a:sym typeface="Huawei Sans" panose="020C0503030203020204" pitchFamily="34" charset="0"/>
              </a:rPr>
              <a:t>、性能数据等信息的采集：在设备上开启采集开关，然后向</a:t>
            </a:r>
            <a:r>
              <a:rPr lang="en-US" altLang="zh-CN" sz="1600" dirty="0" err="1">
                <a:sym typeface="Huawei Sans" panose="020C0503030203020204" pitchFamily="34" charset="0"/>
              </a:rPr>
              <a:t>CampusInsight</a:t>
            </a:r>
            <a:r>
              <a:rPr lang="zh-CN" altLang="en-US" sz="1600" dirty="0">
                <a:sym typeface="Huawei Sans" panose="020C0503030203020204" pitchFamily="34" charset="0"/>
              </a:rPr>
              <a:t>发送。</a:t>
            </a:r>
            <a:endParaRPr lang="en-US" altLang="zh-CN" sz="1600" dirty="0">
              <a:sym typeface="Huawei Sans" panose="020C0503030203020204" pitchFamily="34" charset="0"/>
            </a:endParaRPr>
          </a:p>
          <a:p>
            <a:pPr fontAlgn="base"/>
            <a:r>
              <a:rPr lang="zh-CN" altLang="en-US" sz="1800" dirty="0">
                <a:sym typeface="Huawei Sans" panose="020C0503030203020204" pitchFamily="34" charset="0"/>
              </a:rPr>
              <a:t>智能运维方案集成了</a:t>
            </a:r>
            <a:r>
              <a:rPr lang="en-US" altLang="zh-CN" sz="1800" dirty="0">
                <a:sym typeface="Huawei Sans" panose="020C0503030203020204" pitchFamily="34" charset="0"/>
              </a:rPr>
              <a:t>iMaster NCE-</a:t>
            </a:r>
            <a:r>
              <a:rPr lang="en-US" altLang="zh-CN" sz="1800" dirty="0" err="1">
                <a:sym typeface="Huawei Sans" panose="020C0503030203020204" pitchFamily="34" charset="0"/>
              </a:rPr>
              <a:t>CampusInsight</a:t>
            </a:r>
            <a:r>
              <a:rPr lang="zh-CN" altLang="en-US" sz="1800" dirty="0">
                <a:sym typeface="Huawei Sans" panose="020C0503030203020204" pitchFamily="34" charset="0"/>
              </a:rPr>
              <a:t>、</a:t>
            </a:r>
            <a:r>
              <a:rPr lang="en-US" altLang="zh-CN" sz="1800" dirty="0">
                <a:sym typeface="Huawei Sans" panose="020C0503030203020204" pitchFamily="34" charset="0"/>
              </a:rPr>
              <a:t>iMaster NCE-Campus</a:t>
            </a:r>
            <a:r>
              <a:rPr lang="zh-CN" altLang="en-US" sz="1800" dirty="0">
                <a:sym typeface="Huawei Sans" panose="020C0503030203020204" pitchFamily="34" charset="0"/>
              </a:rPr>
              <a:t>和设备等组件，当前</a:t>
            </a:r>
            <a:r>
              <a:rPr lang="en-US" altLang="zh-CN" sz="1800" dirty="0">
                <a:sym typeface="Huawei Sans" panose="020C0503030203020204" pitchFamily="34" charset="0"/>
              </a:rPr>
              <a:t>iMaster NCE-</a:t>
            </a:r>
            <a:r>
              <a:rPr lang="en-US" altLang="zh-CN" sz="1800" dirty="0" err="1">
                <a:sym typeface="Huawei Sans" panose="020C0503030203020204" pitchFamily="34" charset="0"/>
              </a:rPr>
              <a:t>CampusInsight</a:t>
            </a:r>
            <a:r>
              <a:rPr lang="zh-CN" altLang="en-US" sz="1800" dirty="0">
                <a:sym typeface="Huawei Sans" panose="020C0503030203020204" pitchFamily="34" charset="0"/>
              </a:rPr>
              <a:t>支持对华为云交换机、云</a:t>
            </a:r>
            <a:r>
              <a:rPr lang="en-US" altLang="zh-CN" sz="1800" dirty="0">
                <a:sym typeface="Huawei Sans" panose="020C0503030203020204" pitchFamily="34" charset="0"/>
              </a:rPr>
              <a:t>AP</a:t>
            </a:r>
            <a:r>
              <a:rPr lang="zh-CN" altLang="en-US" sz="1800" dirty="0">
                <a:sym typeface="Huawei Sans" panose="020C0503030203020204" pitchFamily="34" charset="0"/>
              </a:rPr>
              <a:t>设备的管理和智能分析。</a:t>
            </a:r>
          </a:p>
        </p:txBody>
      </p:sp>
      <p:sp>
        <p:nvSpPr>
          <p:cNvPr id="5" name="圆角矩形 75"/>
          <p:cNvSpPr/>
          <p:nvPr/>
        </p:nvSpPr>
        <p:spPr bwMode="gray">
          <a:xfrm>
            <a:off x="1081045" y="4128121"/>
            <a:ext cx="4320000" cy="1640496"/>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algn="just">
              <a:lnSpc>
                <a:spcPts val="2800"/>
              </a:lnSpc>
              <a:spcAft>
                <a:spcPts val="600"/>
              </a:spcAft>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由于设备需定时上报数据到</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a:t>
            </a:r>
            <a:r>
              <a:rPr lang="en-US" altLang="zh-CN" sz="16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CampusInsight</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，园区网络需要预留带宽保障数据上报，平均每设备消耗</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 </a:t>
            </a:r>
            <a:r>
              <a:rPr lang="en-US" altLang="zh-CN" sz="16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kbit</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带宽。</a:t>
            </a:r>
          </a:p>
        </p:txBody>
      </p:sp>
      <p:sp>
        <p:nvSpPr>
          <p:cNvPr id="6" name="圆角矩形 75"/>
          <p:cNvSpPr/>
          <p:nvPr/>
        </p:nvSpPr>
        <p:spPr bwMode="gray">
          <a:xfrm>
            <a:off x="1081045" y="3718743"/>
            <a:ext cx="4320000"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网络带宽设计</a:t>
            </a:r>
          </a:p>
        </p:txBody>
      </p:sp>
      <p:sp>
        <p:nvSpPr>
          <p:cNvPr id="7" name="圆角矩形 75"/>
          <p:cNvSpPr/>
          <p:nvPr/>
        </p:nvSpPr>
        <p:spPr bwMode="gray">
          <a:xfrm>
            <a:off x="5812923" y="4128121"/>
            <a:ext cx="5400000" cy="1640496"/>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algn="just">
              <a:lnSpc>
                <a:spcPts val="2800"/>
              </a:lnSpc>
              <a:spcAft>
                <a:spcPts val="600"/>
              </a:spcAft>
            </a:pP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a:t>
            </a:r>
            <a:r>
              <a:rPr lang="en-US" altLang="zh-CN" sz="16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CampusInsight</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NCE-Campus</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可以部署在不同位置，只要两者网络互通就可以协同工作，但是为了避免中间网络不稳定性，建议两者部署在同一位置，如同一个数据中心。</a:t>
            </a:r>
          </a:p>
        </p:txBody>
      </p:sp>
      <p:sp>
        <p:nvSpPr>
          <p:cNvPr id="8" name="圆角矩形 75"/>
          <p:cNvSpPr/>
          <p:nvPr/>
        </p:nvSpPr>
        <p:spPr bwMode="gray">
          <a:xfrm>
            <a:off x="5812923" y="3718743"/>
            <a:ext cx="5400000"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部署位置设计</a:t>
            </a:r>
          </a:p>
        </p:txBody>
      </p:sp>
    </p:spTree>
    <p:extLst>
      <p:ext uri="{BB962C8B-B14F-4D97-AF65-F5344CB8AC3E}">
        <p14:creationId xmlns:p14="http://schemas.microsoft.com/office/powerpoint/2010/main" val="260997121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a:sym typeface="Huawei Sans" panose="020C0503030203020204" pitchFamily="34" charset="0"/>
              </a:rPr>
              <a:t>智能运维设计注意事项</a:t>
            </a:r>
          </a:p>
        </p:txBody>
      </p:sp>
      <p:sp>
        <p:nvSpPr>
          <p:cNvPr id="5" name="圆角矩形 75"/>
          <p:cNvSpPr/>
          <p:nvPr/>
        </p:nvSpPr>
        <p:spPr bwMode="gray">
          <a:xfrm>
            <a:off x="798669" y="1751727"/>
            <a:ext cx="5375709" cy="2008023"/>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marL="285750" indent="-285750" algn="just">
              <a:lnSpc>
                <a:spcPts val="28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网络部署时，需要保证网络设备和分析器之间路由可达，网络设备能将</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KPI</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性能数据和日志信息上送到</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a:t>
            </a:r>
            <a:r>
              <a:rPr lang="en-US" altLang="zh-CN" sz="16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CampusInsight</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p>
            <a:pPr marL="285750" indent="-285750" algn="just">
              <a:lnSpc>
                <a:spcPts val="28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网络部署时，需要保证设备时钟和分析器的时钟保持同步，建议部署</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NTP Server</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来同步网络的系统时钟。</a:t>
            </a:r>
          </a:p>
        </p:txBody>
      </p:sp>
      <p:sp>
        <p:nvSpPr>
          <p:cNvPr id="6" name="圆角矩形 75"/>
          <p:cNvSpPr/>
          <p:nvPr/>
        </p:nvSpPr>
        <p:spPr bwMode="gray">
          <a:xfrm>
            <a:off x="798669" y="1342350"/>
            <a:ext cx="5375709"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网络部署设计注意事项</a:t>
            </a:r>
          </a:p>
        </p:txBody>
      </p:sp>
      <p:sp>
        <p:nvSpPr>
          <p:cNvPr id="7" name="圆角矩形 75"/>
          <p:cNvSpPr/>
          <p:nvPr/>
        </p:nvSpPr>
        <p:spPr bwMode="gray">
          <a:xfrm>
            <a:off x="6637765" y="1751727"/>
            <a:ext cx="4625806" cy="2008023"/>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algn="just">
              <a:lnSpc>
                <a:spcPts val="2800"/>
              </a:lnSpc>
              <a:spcAft>
                <a:spcPts val="600"/>
              </a:spcAft>
            </a:pP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DHCP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相关接入类问题的识别和协议回放，需要</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AC</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设备作为</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DHCP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服务器或在</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AC</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设备上开启</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DHCP Snooping</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功能。 </a:t>
            </a:r>
          </a:p>
        </p:txBody>
      </p:sp>
      <p:sp>
        <p:nvSpPr>
          <p:cNvPr id="8" name="圆角矩形 75"/>
          <p:cNvSpPr/>
          <p:nvPr/>
        </p:nvSpPr>
        <p:spPr bwMode="gray">
          <a:xfrm>
            <a:off x="6637765" y="1342350"/>
            <a:ext cx="4625806"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协议回放功能设计注意事项</a:t>
            </a:r>
          </a:p>
        </p:txBody>
      </p:sp>
      <p:sp>
        <p:nvSpPr>
          <p:cNvPr id="9" name="圆角矩形 75"/>
          <p:cNvSpPr/>
          <p:nvPr/>
        </p:nvSpPr>
        <p:spPr bwMode="gray">
          <a:xfrm>
            <a:off x="6637765" y="4374744"/>
            <a:ext cx="4625806" cy="1581914"/>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algn="just">
              <a:lnSpc>
                <a:spcPts val="2800"/>
              </a:lnSpc>
              <a:spcAft>
                <a:spcPts val="600"/>
              </a:spcAft>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音视频质量分析功能需要设备将相关日志信息上送到分析器，交换机和</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WLAN</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设备配置的日志上送周期要尽量保持一致，上送周期偏差最大不可超过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20</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秒。</a:t>
            </a:r>
          </a:p>
        </p:txBody>
      </p:sp>
      <p:sp>
        <p:nvSpPr>
          <p:cNvPr id="10" name="圆角矩形 75"/>
          <p:cNvSpPr/>
          <p:nvPr/>
        </p:nvSpPr>
        <p:spPr bwMode="gray">
          <a:xfrm>
            <a:off x="6637765" y="3965366"/>
            <a:ext cx="4625806"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音视频质量分析功能设计注意事项</a:t>
            </a:r>
          </a:p>
        </p:txBody>
      </p:sp>
      <p:sp>
        <p:nvSpPr>
          <p:cNvPr id="11" name="圆角矩形 75"/>
          <p:cNvSpPr/>
          <p:nvPr/>
        </p:nvSpPr>
        <p:spPr bwMode="gray">
          <a:xfrm>
            <a:off x="798669" y="4374743"/>
            <a:ext cx="5375709" cy="1581915"/>
          </a:xfrm>
          <a:prstGeom prst="roundRect">
            <a:avLst>
              <a:gd name="adj" fmla="val 11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algn="just">
              <a:lnSpc>
                <a:spcPts val="2800"/>
              </a:lnSpc>
              <a:spcAft>
                <a:spcPts val="600"/>
              </a:spcAft>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同一个区域内的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，不支持同时部署智能无线射频调优功能和传统无线射频调优功能。</a:t>
            </a:r>
          </a:p>
        </p:txBody>
      </p:sp>
      <p:sp>
        <p:nvSpPr>
          <p:cNvPr id="12" name="圆角矩形 75"/>
          <p:cNvSpPr/>
          <p:nvPr/>
        </p:nvSpPr>
        <p:spPr bwMode="gray">
          <a:xfrm>
            <a:off x="798669" y="3965366"/>
            <a:ext cx="5375709" cy="360000"/>
          </a:xfrm>
          <a:prstGeom prst="roundRect">
            <a:avLst>
              <a:gd name="adj" fmla="val 1091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智能无线射频调优功能设计注意事项</a:t>
            </a:r>
          </a:p>
        </p:txBody>
      </p:sp>
    </p:spTree>
    <p:extLst>
      <p:ext uri="{BB962C8B-B14F-4D97-AF65-F5344CB8AC3E}">
        <p14:creationId xmlns:p14="http://schemas.microsoft.com/office/powerpoint/2010/main" val="100237243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sym typeface="Huawei Sans" panose="020C0503030203020204" pitchFamily="34" charset="0"/>
              </a:rPr>
              <a:t>(</a:t>
            </a:r>
            <a:r>
              <a:rPr lang="zh-CN" altLang="en-US" dirty="0">
                <a:sym typeface="Huawei Sans" panose="020C0503030203020204" pitchFamily="34" charset="0"/>
              </a:rPr>
              <a:t>多选题</a:t>
            </a:r>
            <a:r>
              <a:rPr lang="en-US" altLang="zh-CN" dirty="0">
                <a:sym typeface="Huawei Sans" panose="020C0503030203020204" pitchFamily="34" charset="0"/>
              </a:rPr>
              <a:t>)</a:t>
            </a:r>
            <a:r>
              <a:rPr lang="zh-CN" altLang="en-US" dirty="0">
                <a:sym typeface="Huawei Sans" panose="020C0503030203020204" pitchFamily="34" charset="0"/>
              </a:rPr>
              <a:t>针对终端规模约</a:t>
            </a:r>
            <a:r>
              <a:rPr lang="en-US" altLang="zh-CN" dirty="0">
                <a:sym typeface="Huawei Sans" panose="020C0503030203020204" pitchFamily="34" charset="0"/>
              </a:rPr>
              <a:t>10000</a:t>
            </a:r>
            <a:r>
              <a:rPr lang="zh-CN" altLang="en-US" dirty="0">
                <a:sym typeface="Huawei Sans" panose="020C0503030203020204" pitchFamily="34" charset="0"/>
              </a:rPr>
              <a:t>的大型园区网络，推荐的</a:t>
            </a:r>
            <a:r>
              <a:rPr lang="en-US" altLang="zh-CN" dirty="0">
                <a:sym typeface="Huawei Sans" panose="020C0503030203020204" pitchFamily="34" charset="0"/>
              </a:rPr>
              <a:t>Fabric</a:t>
            </a:r>
            <a:r>
              <a:rPr lang="zh-CN" altLang="en-US" dirty="0">
                <a:sym typeface="Huawei Sans" panose="020C0503030203020204" pitchFamily="34" charset="0"/>
              </a:rPr>
              <a:t>组网场景是</a:t>
            </a:r>
            <a:r>
              <a:rPr lang="en-US" altLang="zh-CN" dirty="0">
                <a:sym typeface="Huawei Sans" panose="020C0503030203020204" pitchFamily="34" charset="0"/>
              </a:rPr>
              <a:t>(     )</a:t>
            </a:r>
            <a:r>
              <a:rPr lang="zh-CN" altLang="en-US" dirty="0">
                <a:sym typeface="Huawei Sans" panose="020C0503030203020204" pitchFamily="34" charset="0"/>
              </a:rPr>
              <a:t>，其中网关位置在</a:t>
            </a:r>
            <a:r>
              <a:rPr lang="en-US" altLang="zh-CN" dirty="0">
                <a:sym typeface="Huawei Sans" panose="020C0503030203020204" pitchFamily="34" charset="0"/>
              </a:rPr>
              <a:t>(     )</a:t>
            </a:r>
            <a:r>
              <a:rPr lang="zh-CN" altLang="en-US" dirty="0">
                <a:sym typeface="Huawei Sans" panose="020C0503030203020204" pitchFamily="34" charset="0"/>
              </a:rPr>
              <a:t>上，</a:t>
            </a:r>
            <a:r>
              <a:rPr lang="en-US" altLang="zh-CN" dirty="0">
                <a:sym typeface="Huawei Sans" panose="020C0503030203020204" pitchFamily="34" charset="0"/>
              </a:rPr>
              <a:t>Edge</a:t>
            </a:r>
            <a:r>
              <a:rPr lang="zh-CN" altLang="en-US" dirty="0">
                <a:sym typeface="Huawei Sans" panose="020C0503030203020204" pitchFamily="34" charset="0"/>
              </a:rPr>
              <a:t>位置在</a:t>
            </a:r>
            <a:r>
              <a:rPr lang="en-US" altLang="zh-CN" dirty="0">
                <a:sym typeface="Huawei Sans" panose="020C0503030203020204" pitchFamily="34" charset="0"/>
              </a:rPr>
              <a:t>(     )</a:t>
            </a:r>
            <a:r>
              <a:rPr lang="zh-CN" altLang="en-US" dirty="0">
                <a:sym typeface="Huawei Sans" panose="020C0503030203020204" pitchFamily="34" charset="0"/>
              </a:rPr>
              <a:t>上。</a:t>
            </a:r>
            <a:endParaRPr lang="en-US" altLang="zh-CN" dirty="0">
              <a:sym typeface="Huawei Sans" panose="020C0503030203020204" pitchFamily="34" charset="0"/>
            </a:endParaRPr>
          </a:p>
          <a:p>
            <a:pPr lvl="1"/>
            <a:r>
              <a:rPr lang="zh-CN" altLang="en-US" dirty="0">
                <a:sym typeface="Huawei Sans" panose="020C0503030203020204" pitchFamily="34" charset="0"/>
              </a:rPr>
              <a:t>集中式网关</a:t>
            </a:r>
            <a:endParaRPr lang="en-US" altLang="zh-CN" dirty="0">
              <a:sym typeface="Huawei Sans" panose="020C0503030203020204" pitchFamily="34" charset="0"/>
            </a:endParaRPr>
          </a:p>
          <a:p>
            <a:pPr lvl="1"/>
            <a:r>
              <a:rPr lang="zh-CN" altLang="en-US" dirty="0">
                <a:sym typeface="Huawei Sans" panose="020C0503030203020204" pitchFamily="34" charset="0"/>
              </a:rPr>
              <a:t>分布式网关</a:t>
            </a:r>
            <a:endParaRPr lang="en-US" altLang="zh-CN" dirty="0">
              <a:sym typeface="Huawei Sans" panose="020C0503030203020204" pitchFamily="34" charset="0"/>
            </a:endParaRPr>
          </a:p>
          <a:p>
            <a:pPr lvl="1"/>
            <a:r>
              <a:rPr lang="en-US" altLang="zh-CN" dirty="0">
                <a:sym typeface="Huawei Sans" panose="020C0503030203020204" pitchFamily="34" charset="0"/>
              </a:rPr>
              <a:t>Edge</a:t>
            </a:r>
          </a:p>
          <a:p>
            <a:pPr lvl="1"/>
            <a:r>
              <a:rPr lang="en-US" altLang="zh-CN" dirty="0">
                <a:sym typeface="Huawei Sans" panose="020C0503030203020204" pitchFamily="34" charset="0"/>
              </a:rPr>
              <a:t>Border</a:t>
            </a:r>
          </a:p>
          <a:p>
            <a:pPr lvl="1"/>
            <a:r>
              <a:rPr lang="zh-CN" altLang="en-US" dirty="0">
                <a:sym typeface="Huawei Sans" panose="020C0503030203020204" pitchFamily="34" charset="0"/>
              </a:rPr>
              <a:t>接入交换机</a:t>
            </a:r>
            <a:endParaRPr lang="en-US" altLang="zh-CN" dirty="0">
              <a:sym typeface="Huawei Sans" panose="020C0503030203020204" pitchFamily="34" charset="0"/>
            </a:endParaRPr>
          </a:p>
          <a:p>
            <a:pPr lvl="1"/>
            <a:r>
              <a:rPr lang="zh-CN" altLang="en-US" dirty="0">
                <a:sym typeface="Huawei Sans" panose="020C0503030203020204" pitchFamily="34" charset="0"/>
              </a:rPr>
              <a:t>汇聚交换机</a:t>
            </a:r>
          </a:p>
        </p:txBody>
      </p:sp>
    </p:spTree>
    <p:extLst>
      <p:ext uri="{BB962C8B-B14F-4D97-AF65-F5344CB8AC3E}">
        <p14:creationId xmlns:p14="http://schemas.microsoft.com/office/powerpoint/2010/main" val="21914472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sym typeface="Huawei Sans" panose="020C0503030203020204" pitchFamily="34" charset="0"/>
              </a:rPr>
              <a:t>为了让园区网络满足数字化转型的需求，需要对园区网络进行系统的重构，华为云园区网络解决方案（</a:t>
            </a:r>
            <a:r>
              <a:rPr lang="en-US" altLang="zh-CN" dirty="0">
                <a:sym typeface="Huawei Sans" panose="020C0503030203020204" pitchFamily="34" charset="0"/>
              </a:rPr>
              <a:t>CloudCampus</a:t>
            </a:r>
            <a:r>
              <a:rPr lang="zh-CN" altLang="en-US" dirty="0">
                <a:sym typeface="Huawei Sans" panose="020C0503030203020204" pitchFamily="34" charset="0"/>
              </a:rPr>
              <a:t>解决方案）基于智简网络意图驱动的理念，帮助企业构建一张智能、极简、融合、开放和安全的网络。</a:t>
            </a:r>
          </a:p>
          <a:p>
            <a:r>
              <a:rPr lang="zh-CN" altLang="en-US" dirty="0">
                <a:sym typeface="Huawei Sans" panose="020C0503030203020204" pitchFamily="34" charset="0"/>
              </a:rPr>
              <a:t>本课程主要针对大中型园区场景，从方案架构、技术方案对比、工程设计建议、运维等方面分别进行了阐述，帮助学员了解华为</a:t>
            </a:r>
            <a:r>
              <a:rPr lang="en-US" altLang="zh-CN" dirty="0">
                <a:sym typeface="Huawei Sans" panose="020C0503030203020204" pitchFamily="34" charset="0"/>
              </a:rPr>
              <a:t>CloudCampus</a:t>
            </a:r>
            <a:r>
              <a:rPr lang="zh-CN" altLang="en-US" dirty="0">
                <a:sym typeface="Huawei Sans" panose="020C0503030203020204" pitchFamily="34" charset="0"/>
              </a:rPr>
              <a:t>解决方案技术，并帮助设计出满足要求的最佳园区网络方案。</a:t>
            </a:r>
          </a:p>
        </p:txBody>
      </p:sp>
    </p:spTree>
    <p:extLst>
      <p:ext uri="{BB962C8B-B14F-4D97-AF65-F5344CB8AC3E}">
        <p14:creationId xmlns:p14="http://schemas.microsoft.com/office/powerpoint/2010/main" val="296058686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智简园区网络解决方案产品文档 </a:t>
            </a:r>
            <a:r>
              <a:rPr lang="en-US" altLang="zh-CN" dirty="0"/>
              <a:t>V100R020C10</a:t>
            </a:r>
          </a:p>
          <a:p>
            <a:pPr lvl="1"/>
            <a:r>
              <a:rPr lang="en-US" altLang="zh-CN" dirty="0"/>
              <a:t>https://support.huawei.com/hedex/hdx.do?docid=DOC1100797443&amp;lang=zh </a:t>
            </a:r>
          </a:p>
        </p:txBody>
      </p:sp>
    </p:spTree>
    <p:extLst>
      <p:ext uri="{BB962C8B-B14F-4D97-AF65-F5344CB8AC3E}">
        <p14:creationId xmlns:p14="http://schemas.microsoft.com/office/powerpoint/2010/main" val="181778805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756635"/>
      </p:ext>
    </p:extLst>
  </p:cSld>
  <p:clrMapOvr>
    <a:masterClrMapping/>
  </p:clrMapOvr>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1EDBCA-0E5D-48B4-9804-37AC1A7827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A5960F2-6186-408B-A0DC-5CA5E58B604F}">
  <ds:schemaRefs>
    <ds:schemaRef ds:uri="http://schemas.microsoft.com/office/2006/documentManagement/types"/>
    <ds:schemaRef ds:uri="http://purl.org/dc/dcmitype/"/>
    <ds:schemaRef ds:uri="http://schemas.microsoft.com/office/2006/metadata/properties"/>
    <ds:schemaRef ds:uri="http://purl.org/dc/terms/"/>
    <ds:schemaRef ds:uri="http://schemas.openxmlformats.org/package/2006/metadata/core-properties"/>
    <ds:schemaRef ds:uri="http://www.w3.org/XML/1998/namespace"/>
    <ds:schemaRef ds:uri="http://schemas.microsoft.com/office/infopath/2007/PartnerControls"/>
    <ds:schemaRef ds:uri="475f1e55-3009-46d8-9566-5d569a2b3a98"/>
    <ds:schemaRef ds:uri="http://purl.org/dc/elements/1.1/"/>
  </ds:schemaRefs>
</ds:datastoreItem>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18915</TotalTime>
  <Words>28218</Words>
  <Application>Microsoft Office PowerPoint</Application>
  <PresentationFormat>宽屏</PresentationFormat>
  <Paragraphs>3308</Paragraphs>
  <Slides>131</Slides>
  <Notes>131</Notes>
  <HiddenSlides>10</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131</vt:i4>
      </vt:variant>
    </vt:vector>
  </HeadingPairs>
  <TitlesOfParts>
    <vt:vector size="141" baseType="lpstr">
      <vt:lpstr>Huawei Sans</vt:lpstr>
      <vt:lpstr>方正兰亭黑简体</vt:lpstr>
      <vt:lpstr>Microsoft YaHei</vt:lpstr>
      <vt:lpstr>Microsoft YaHei</vt:lpstr>
      <vt:lpstr>Arial</vt:lpstr>
      <vt:lpstr>Wingdings</vt:lpstr>
      <vt:lpstr>2_标题页模板</vt:lpstr>
      <vt:lpstr>3_功能页模板</vt:lpstr>
      <vt:lpstr>4_内容页模板</vt:lpstr>
      <vt:lpstr>5_感谢页模板</vt:lpstr>
      <vt:lpstr>PowerPoint 演示文稿</vt:lpstr>
      <vt:lpstr>大中型虚拟化园区网络设计</vt:lpstr>
      <vt:lpstr>PowerPoint 演示文稿</vt:lpstr>
      <vt:lpstr>PowerPoint 演示文稿</vt:lpstr>
      <vt:lpstr>PowerPoint 演示文稿</vt:lpstr>
      <vt:lpstr>大中型园区网络</vt:lpstr>
      <vt:lpstr>大中型园区网络的业务需求与挑战</vt:lpstr>
      <vt:lpstr>华为云园区网络解决方案 (CloudCampus解决方案)</vt:lpstr>
      <vt:lpstr>CloudCampus亮点功能：极简部署</vt:lpstr>
      <vt:lpstr>CloudCampus亮点功能：有线 &amp; 无线融合</vt:lpstr>
      <vt:lpstr>CloudCampus亮点功能：无线 &amp; 物联网融合</vt:lpstr>
      <vt:lpstr>CloudCampus亮点功能：LAN &amp; WAN融合 (1)</vt:lpstr>
      <vt:lpstr>CloudCampus亮点功能：LAN &amp; WAN融合 (2)</vt:lpstr>
      <vt:lpstr>PowerPoint 演示文稿</vt:lpstr>
      <vt:lpstr>CloudCampus的三种部署模式</vt:lpstr>
      <vt:lpstr>CloudCampus方案组件：iMaster NCE-Campus</vt:lpstr>
      <vt:lpstr>CloudCampus方案组件：iMaster NCE-CampusInsight</vt:lpstr>
      <vt:lpstr>CloudCampus方案组件：WLAN Planner</vt:lpstr>
      <vt:lpstr>CloudCampus方案组件：网络硬件产品</vt:lpstr>
      <vt:lpstr>CloudCampus网络架构 (基于VXLAN的虚拟化园区网络场景)</vt:lpstr>
      <vt:lpstr>PowerPoint 演示文稿</vt:lpstr>
      <vt:lpstr>虚拟化园区网络架构</vt:lpstr>
      <vt:lpstr>虚拟化园区网络中的网络节点</vt:lpstr>
      <vt:lpstr>CloudCampus关键技术：基于DHCP的网络设备即插即用</vt:lpstr>
      <vt:lpstr>CloudCampus关键技术：准入认证</vt:lpstr>
      <vt:lpstr>CloudCampus关键技术：策略联动</vt:lpstr>
      <vt:lpstr>CloudCampus关键技术：业务随行</vt:lpstr>
      <vt:lpstr>CloudCampus关键技术：终端识别</vt:lpstr>
      <vt:lpstr>终端识别方式</vt:lpstr>
      <vt:lpstr>终端识别方法</vt:lpstr>
      <vt:lpstr>基于终端类型的策略自动下发流程</vt:lpstr>
      <vt:lpstr>CloudCampus关键技术：基于VXLAN的网络虚拟化</vt:lpstr>
      <vt:lpstr>大中型虚拟化园区网络设计概述</vt:lpstr>
      <vt:lpstr>PowerPoint 演示文稿</vt:lpstr>
      <vt:lpstr>网络架构设计概述</vt:lpstr>
      <vt:lpstr>PowerPoint 演示文稿</vt:lpstr>
      <vt:lpstr>网络架构设计 (1)</vt:lpstr>
      <vt:lpstr>网络架构设计 (2)</vt:lpstr>
      <vt:lpstr>PowerPoint 演示文稿</vt:lpstr>
      <vt:lpstr>PowerPoint 演示文稿</vt:lpstr>
      <vt:lpstr>Underlay网络设计大纲</vt:lpstr>
      <vt:lpstr>VLAN设计</vt:lpstr>
      <vt:lpstr>PowerPoint 演示文稿</vt:lpstr>
      <vt:lpstr>IP地址设计</vt:lpstr>
      <vt:lpstr>面向终端的DHCP服务设计</vt:lpstr>
      <vt:lpstr>路由设计</vt:lpstr>
      <vt:lpstr>网络开局设计</vt:lpstr>
      <vt:lpstr>基于DHCP的设备即插即用开局流程</vt:lpstr>
      <vt:lpstr>PnP VLAN</vt:lpstr>
      <vt:lpstr>网络开局流程：设备先上线，再完成规划</vt:lpstr>
      <vt:lpstr>网络开局流程：先完成规划，设备再上线</vt:lpstr>
      <vt:lpstr>Underlay网络自动化</vt:lpstr>
      <vt:lpstr>PowerPoint 演示文稿</vt:lpstr>
      <vt:lpstr>Fabric设计概述</vt:lpstr>
      <vt:lpstr>Fabric组网场景汇总</vt:lpstr>
      <vt:lpstr>Fabric组网设计：VXLAN覆盖范围选择</vt:lpstr>
      <vt:lpstr>Fabric组网设计：集中式网关与分布式网关</vt:lpstr>
      <vt:lpstr>Fabric组网设计：网关方案选择</vt:lpstr>
      <vt:lpstr>Fabric节点设计：单Border</vt:lpstr>
      <vt:lpstr>Fabric节点设计：双Border</vt:lpstr>
      <vt:lpstr>Fabric节点设计：单/双Border选择</vt:lpstr>
      <vt:lpstr>Fabric与外部网络互联设计</vt:lpstr>
      <vt:lpstr>PowerPoint 演示文稿</vt:lpstr>
      <vt:lpstr>Fabric网络服务资源规划</vt:lpstr>
      <vt:lpstr>Fabric接入管理设计</vt:lpstr>
      <vt:lpstr>VN设计流程</vt:lpstr>
      <vt:lpstr>VN设计</vt:lpstr>
      <vt:lpstr>VN接入设计</vt:lpstr>
      <vt:lpstr>VN之间互访设计</vt:lpstr>
      <vt:lpstr>逻辑网络到物理网络的映射原理</vt:lpstr>
      <vt:lpstr>PowerPoint 演示文稿</vt:lpstr>
      <vt:lpstr>用户管理方案设计</vt:lpstr>
      <vt:lpstr>用户认证技术选择</vt:lpstr>
      <vt:lpstr>已认证用户与VN的关联</vt:lpstr>
      <vt:lpstr>访问策略分层设计</vt:lpstr>
      <vt:lpstr>策略设计：安全组划分</vt:lpstr>
      <vt:lpstr>策略设计：资源组划分</vt:lpstr>
      <vt:lpstr>策略设计：策略控制矩阵设计</vt:lpstr>
      <vt:lpstr>认证点和策略执行点位置选择</vt:lpstr>
      <vt:lpstr>IP-Group同步</vt:lpstr>
      <vt:lpstr>业务随行场景化方案 (1)</vt:lpstr>
      <vt:lpstr>业务随行场景化方案 (2)</vt:lpstr>
      <vt:lpstr>业务随行场景化方案 (3)</vt:lpstr>
      <vt:lpstr>业务随行场景化方案 (4)</vt:lpstr>
      <vt:lpstr>业务随行场景化方案 (5)</vt:lpstr>
      <vt:lpstr>业务随行场景化方案 (6)</vt:lpstr>
      <vt:lpstr>终端识别方法设计 (1)</vt:lpstr>
      <vt:lpstr>终端识别方法设计 (2)</vt:lpstr>
      <vt:lpstr>终端策略设计</vt:lpstr>
      <vt:lpstr>PowerPoint 演示文稿</vt:lpstr>
      <vt:lpstr>WLAN业务方案</vt:lpstr>
      <vt:lpstr>随板AC方案在VXLAN虚拟化园区中的部署</vt:lpstr>
      <vt:lpstr>独立AC方案在VXLAN虚拟化园区中的部署</vt:lpstr>
      <vt:lpstr>虚拟化园区网络中WLAN部署方案设计</vt:lpstr>
      <vt:lpstr>PowerPoint 演示文稿</vt:lpstr>
      <vt:lpstr>网络出口设计概述</vt:lpstr>
      <vt:lpstr>出口网络的业务使用场景</vt:lpstr>
      <vt:lpstr>连接WAN侧设计</vt:lpstr>
      <vt:lpstr>连接LAN侧设计</vt:lpstr>
      <vt:lpstr>防火墙双机热备</vt:lpstr>
      <vt:lpstr>防火墙旁挂部署</vt:lpstr>
      <vt:lpstr>出口路由设计：防火墙直连部署</vt:lpstr>
      <vt:lpstr>出口路由设计：防火墙旁挂部署</vt:lpstr>
      <vt:lpstr>安全区域设计</vt:lpstr>
      <vt:lpstr>安全策略设计</vt:lpstr>
      <vt:lpstr>PowerPoint 演示文稿</vt:lpstr>
      <vt:lpstr>总体安全设计</vt:lpstr>
      <vt:lpstr>出口网络安全设计</vt:lpstr>
      <vt:lpstr>有线网络安全设计</vt:lpstr>
      <vt:lpstr>PowerPoint 演示文稿</vt:lpstr>
      <vt:lpstr>无线网络安全设计概述</vt:lpstr>
      <vt:lpstr>无线网络安全设计</vt:lpstr>
      <vt:lpstr>PowerPoint 演示文稿</vt:lpstr>
      <vt:lpstr>服务质量设计概述</vt:lpstr>
      <vt:lpstr>需求调研分析</vt:lpstr>
      <vt:lpstr>流量分类设计 (1)</vt:lpstr>
      <vt:lpstr>流量分类设计 (2)</vt:lpstr>
      <vt:lpstr>调度策略设计</vt:lpstr>
      <vt:lpstr>PowerPoint 演示文稿</vt:lpstr>
      <vt:lpstr>典型调度策略建议</vt:lpstr>
      <vt:lpstr>PowerPoint 演示文稿</vt:lpstr>
      <vt:lpstr>园区网络运维面临的挑战</vt:lpstr>
      <vt:lpstr>园区网络运维功能全景图</vt:lpstr>
      <vt:lpstr>基础网络运维设计</vt:lpstr>
      <vt:lpstr>智能运维设计</vt:lpstr>
      <vt:lpstr>智能运维方案部署设计</vt:lpstr>
      <vt:lpstr>智能运维设计注意事项</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2101</cp:revision>
  <cp:lastPrinted>2020-07-31T09:33:18Z</cp:lastPrinted>
  <dcterms:created xsi:type="dcterms:W3CDTF">2018-11-29T10:16:29Z</dcterms:created>
  <dcterms:modified xsi:type="dcterms:W3CDTF">2023-04-16T02:39:16Z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(3)j2G9kQtHNkgSLARD4CcLuNbCrhXFB4alhNMtJ1C1uxY2Rn9Ogx7ttSYoC1+TgYtrmoVYhHMe
Shf9BOt4DOF3FvpYzS+6yC14+6LGkp2wz38L0t2QXG2RBBfnCsC3WoDn9wTNdmxSLJZXVquU
e6J6hYWG2FDmKYd5KaG5vGT+SEJ5I0X6eQ3ynJ/uoPhCZrylz6YwQtemM+fpVuv5YxD8YHzm
oPC4LfnJ0gHhFygvjg</vt:lpwstr>
  </property>
  <property fmtid="{D5CDD505-2E9C-101B-9397-08002B2CF9AE}" pid="3" name="_2015_ms_pID_7253431">
    <vt:lpwstr>uO+E6Ui3o09euf0LwopMzbyzx3x6nRW/D1yxfprCZA5Kz24lpmMFh1
6gr5Z+LMi7pNWT0lITcBwWgAw1Zt0F3trUQS3rCQOUrL2grq1idy0XnUphUSrA/YGlalZnSk
zqqwhip5ToCGbxkKs+mD9XtsWazHayS5f168DPMm78eK5O7zUzRvssCF0DEYDd5RJACCMUV6
G3M86+RvjVfAaoALdT9PI3T6HAbiQT0xs9vx</vt:lpwstr>
  </property>
  <property fmtid="{D5CDD505-2E9C-101B-9397-08002B2CF9AE}" pid="4" name="_2015_ms_pID_7253432">
    <vt:lpwstr>C7+iFXyLtZNoGUIsX5EEWYY=</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1635229369</vt:lpwstr>
  </property>
</Properties>
</file>