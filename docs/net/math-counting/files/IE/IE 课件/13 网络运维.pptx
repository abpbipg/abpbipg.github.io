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53"/>
  </p:notesMasterIdLst>
  <p:handoutMasterIdLst>
    <p:handoutMasterId r:id="rId54"/>
  </p:handoutMasterIdLst>
  <p:sldIdLst>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316"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04" r:id="rId40"/>
    <p:sldId id="305" r:id="rId41"/>
    <p:sldId id="306" r:id="rId42"/>
    <p:sldId id="307" r:id="rId43"/>
    <p:sldId id="308" r:id="rId44"/>
    <p:sldId id="309" r:id="rId45"/>
    <p:sldId id="310" r:id="rId46"/>
    <p:sldId id="311" r:id="rId47"/>
    <p:sldId id="312" r:id="rId48"/>
    <p:sldId id="313" r:id="rId49"/>
    <p:sldId id="317" r:id="rId50"/>
    <p:sldId id="314" r:id="rId51"/>
    <p:sldId id="315" r:id="rId52"/>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p15:clr>
            <a:srgbClr val="A4A3A4"/>
          </p15:clr>
        </p15:guide>
        <p15:guide id="4" orient="horz" pos="2160">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junjianzjhw" initials="h" lastIdx="10" clrIdx="0">
    <p:extLst>
      <p:ext uri="{19B8F6BF-5375-455C-9EA6-DF929625EA0E}">
        <p15:presenceInfo xmlns:p15="http://schemas.microsoft.com/office/powerpoint/2012/main" userId="S-1-5-21-147214757-305610072-1517763936-56826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7000B"/>
    <a:srgbClr val="30B5C5"/>
    <a:srgbClr val="56C4D2"/>
    <a:srgbClr val="BEE9EE"/>
    <a:srgbClr val="94DAE2"/>
    <a:srgbClr val="ADCDEA"/>
    <a:srgbClr val="404040"/>
    <a:srgbClr val="EBEBEB"/>
    <a:srgbClr val="151515"/>
    <a:srgbClr val="5757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285" autoAdjust="0"/>
    <p:restoredTop sz="95267" autoAdjust="0"/>
  </p:normalViewPr>
  <p:slideViewPr>
    <p:cSldViewPr snapToGrid="0" snapToObjects="1">
      <p:cViewPr varScale="1">
        <p:scale>
          <a:sx n="85" d="100"/>
          <a:sy n="85" d="100"/>
        </p:scale>
        <p:origin x="40" y="64"/>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3" d="100"/>
          <a:sy n="83" d="100"/>
        </p:scale>
        <p:origin x="2982" y="102"/>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viewProps" Target="view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npeng he" userId="51e7bc25f46b8d94" providerId="LiveId" clId="{46328524-1B9A-451D-A130-ED134429B880}"/>
    <pc:docChg chg="modSld">
      <pc:chgData name="junpeng he" userId="51e7bc25f46b8d94" providerId="LiveId" clId="{46328524-1B9A-451D-A130-ED134429B880}" dt="2023-12-10T02:35:48.591" v="21" actId="207"/>
      <pc:docMkLst>
        <pc:docMk/>
      </pc:docMkLst>
      <pc:sldChg chg="modSp mod">
        <pc:chgData name="junpeng he" userId="51e7bc25f46b8d94" providerId="LiveId" clId="{46328524-1B9A-451D-A130-ED134429B880}" dt="2023-12-10T01:05:10.435" v="0" actId="1076"/>
        <pc:sldMkLst>
          <pc:docMk/>
          <pc:sldMk cId="436332382" sldId="282"/>
        </pc:sldMkLst>
        <pc:spChg chg="mod">
          <ac:chgData name="junpeng he" userId="51e7bc25f46b8d94" providerId="LiveId" clId="{46328524-1B9A-451D-A130-ED134429B880}" dt="2023-12-10T01:05:10.435" v="0" actId="1076"/>
          <ac:spMkLst>
            <pc:docMk/>
            <pc:sldMk cId="436332382" sldId="282"/>
            <ac:spMk id="3" creationId="{00000000-0000-0000-0000-000000000000}"/>
          </ac:spMkLst>
        </pc:spChg>
      </pc:sldChg>
      <pc:sldChg chg="modSp mod">
        <pc:chgData name="junpeng he" userId="51e7bc25f46b8d94" providerId="LiveId" clId="{46328524-1B9A-451D-A130-ED134429B880}" dt="2023-12-10T01:32:26.977" v="15" actId="20577"/>
        <pc:sldMkLst>
          <pc:docMk/>
          <pc:sldMk cId="3607466469" sldId="286"/>
        </pc:sldMkLst>
        <pc:spChg chg="mod">
          <ac:chgData name="junpeng he" userId="51e7bc25f46b8d94" providerId="LiveId" clId="{46328524-1B9A-451D-A130-ED134429B880}" dt="2023-12-10T01:32:26.977" v="15" actId="20577"/>
          <ac:spMkLst>
            <pc:docMk/>
            <pc:sldMk cId="3607466469" sldId="286"/>
            <ac:spMk id="3" creationId="{00000000-0000-0000-0000-000000000000}"/>
          </ac:spMkLst>
        </pc:spChg>
      </pc:sldChg>
      <pc:sldChg chg="modSp mod">
        <pc:chgData name="junpeng he" userId="51e7bc25f46b8d94" providerId="LiveId" clId="{46328524-1B9A-451D-A130-ED134429B880}" dt="2023-12-10T01:49:07.967" v="16" actId="13926"/>
        <pc:sldMkLst>
          <pc:docMk/>
          <pc:sldMk cId="2930338235" sldId="288"/>
        </pc:sldMkLst>
        <pc:graphicFrameChg chg="modGraphic">
          <ac:chgData name="junpeng he" userId="51e7bc25f46b8d94" providerId="LiveId" clId="{46328524-1B9A-451D-A130-ED134429B880}" dt="2023-12-10T01:49:07.967" v="16" actId="13926"/>
          <ac:graphicFrameMkLst>
            <pc:docMk/>
            <pc:sldMk cId="2930338235" sldId="288"/>
            <ac:graphicFrameMk id="4" creationId="{00000000-0000-0000-0000-000000000000}"/>
          </ac:graphicFrameMkLst>
        </pc:graphicFrameChg>
      </pc:sldChg>
      <pc:sldChg chg="modSp mod">
        <pc:chgData name="junpeng he" userId="51e7bc25f46b8d94" providerId="LiveId" clId="{46328524-1B9A-451D-A130-ED134429B880}" dt="2023-12-10T02:26:49.939" v="19" actId="13926"/>
        <pc:sldMkLst>
          <pc:docMk/>
          <pc:sldMk cId="4000735805" sldId="292"/>
        </pc:sldMkLst>
        <pc:graphicFrameChg chg="modGraphic">
          <ac:chgData name="junpeng he" userId="51e7bc25f46b8d94" providerId="LiveId" clId="{46328524-1B9A-451D-A130-ED134429B880}" dt="2023-12-10T02:26:49.939" v="19" actId="13926"/>
          <ac:graphicFrameMkLst>
            <pc:docMk/>
            <pc:sldMk cId="4000735805" sldId="292"/>
            <ac:graphicFrameMk id="5" creationId="{00000000-0000-0000-0000-000000000000}"/>
          </ac:graphicFrameMkLst>
        </pc:graphicFrameChg>
      </pc:sldChg>
      <pc:sldChg chg="modSp mod">
        <pc:chgData name="junpeng he" userId="51e7bc25f46b8d94" providerId="LiveId" clId="{46328524-1B9A-451D-A130-ED134429B880}" dt="2023-12-10T02:35:48.591" v="21" actId="207"/>
        <pc:sldMkLst>
          <pc:docMk/>
          <pc:sldMk cId="1363660578" sldId="299"/>
        </pc:sldMkLst>
        <pc:spChg chg="mod">
          <ac:chgData name="junpeng he" userId="51e7bc25f46b8d94" providerId="LiveId" clId="{46328524-1B9A-451D-A130-ED134429B880}" dt="2023-12-10T02:35:48.591" v="21" actId="207"/>
          <ac:spMkLst>
            <pc:docMk/>
            <pc:sldMk cId="1363660578" sldId="299"/>
            <ac:spMk id="1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12/10/2023</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0898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30852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79647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18432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05074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维护又有“运维”、“运营”、“操作与维护”等不同的叫法，但表达的是同一个概念。</a:t>
            </a:r>
            <a:endParaRPr lang="en-US" altLang="zh-CN" dirty="0"/>
          </a:p>
          <a:p>
            <a:r>
              <a:rPr lang="zh-CN" altLang="en-US" dirty="0"/>
              <a:t>网络规划是一个项目的起点，完善细致的规划工作将为后续的项目具体工作打下坚实的基础。具体的工作内容如下：</a:t>
            </a:r>
          </a:p>
          <a:p>
            <a:pPr lvl="1"/>
            <a:r>
              <a:rPr lang="zh-CN" altLang="en-US" dirty="0"/>
              <a:t>在项目规划阶段需要调查掌握项目的背景。为项目实施提供良好的外部条件，保证项目的顺利推进。</a:t>
            </a:r>
          </a:p>
          <a:p>
            <a:pPr lvl="1"/>
            <a:r>
              <a:rPr lang="zh-CN" altLang="en-US" dirty="0"/>
              <a:t>在项目规划阶段需要明确网络项目的实施工作范围。</a:t>
            </a:r>
          </a:p>
          <a:p>
            <a:pPr lvl="1"/>
            <a:r>
              <a:rPr lang="zh-CN" altLang="en-US" dirty="0"/>
              <a:t>需要根据项目目标，工程范围，工作内容等各方面的内容制订项目的预算。</a:t>
            </a:r>
          </a:p>
          <a:p>
            <a:pPr lvl="1"/>
            <a:r>
              <a:rPr lang="zh-CN" altLang="en-US" dirty="0"/>
              <a:t>在项目规划阶段需要明确网络设计的指导思想，为后续的网络设计提供指导和依据。</a:t>
            </a:r>
            <a:endParaRPr lang="en-US" altLang="zh-CN" dirty="0"/>
          </a:p>
        </p:txBody>
      </p:sp>
      <p:sp>
        <p:nvSpPr>
          <p:cNvPr id="5" name="Slide Image Placeholder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43605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lvl="0"/>
            <a:r>
              <a:rPr lang="zh-CN" altLang="en-US" dirty="0"/>
              <a:t>网络设计阶段负责把网络规划阶段获得的客户需求运用技术手段予以规范化体现。网络设计过程中，设计的网络方案需要把握以下要点：</a:t>
            </a:r>
          </a:p>
          <a:p>
            <a:pPr lvl="1"/>
            <a:r>
              <a:rPr lang="zh-CN" altLang="en-US" dirty="0"/>
              <a:t>高性能：需要与经济性取得平衡。网络的性能常用可用带宽，延迟，抖动，误码率，利用效率等进行描述。</a:t>
            </a:r>
          </a:p>
          <a:p>
            <a:pPr lvl="1"/>
            <a:r>
              <a:rPr lang="zh-CN" altLang="en-US" dirty="0"/>
              <a:t>经济性：首先需要遵从客户的预算，在预算范围内提供匹配的解决方案。</a:t>
            </a:r>
          </a:p>
          <a:p>
            <a:pPr lvl="1"/>
            <a:r>
              <a:rPr lang="zh-CN" altLang="en-US" dirty="0"/>
              <a:t>可靠性：使用平均故障间隔时间</a:t>
            </a:r>
            <a:r>
              <a:rPr lang="en-US" altLang="zh-CN" dirty="0"/>
              <a:t>MTBF</a:t>
            </a:r>
            <a:r>
              <a:rPr lang="zh-CN" altLang="en-US" dirty="0"/>
              <a:t>（</a:t>
            </a:r>
            <a:r>
              <a:rPr lang="en-US" altLang="zh-CN" dirty="0"/>
              <a:t>Mean Time Between Failures</a:t>
            </a:r>
            <a:r>
              <a:rPr lang="zh-CN" altLang="en-US" dirty="0"/>
              <a:t>）和平均修复时间</a:t>
            </a:r>
            <a:r>
              <a:rPr lang="en-US" altLang="zh-CN" dirty="0"/>
              <a:t>MTTR</a:t>
            </a:r>
            <a:r>
              <a:rPr lang="zh-CN" altLang="en-US" dirty="0"/>
              <a:t>（</a:t>
            </a:r>
            <a:r>
              <a:rPr lang="en-US" altLang="zh-CN" dirty="0"/>
              <a:t>Mean Time to Repair</a:t>
            </a:r>
            <a:r>
              <a:rPr lang="zh-CN" altLang="en-US" dirty="0"/>
              <a:t>）这两个技术指标来评价系统的可靠性。</a:t>
            </a:r>
            <a:endParaRPr lang="en-US" altLang="zh-CN" dirty="0"/>
          </a:p>
          <a:p>
            <a:pPr lvl="2"/>
            <a:r>
              <a:rPr lang="en-US" altLang="zh-CN" dirty="0"/>
              <a:t>MTBF</a:t>
            </a:r>
            <a:r>
              <a:rPr lang="zh-CN" altLang="en-US" dirty="0"/>
              <a:t>是指一个系统无故障运行的平均时间，通常以小时为单位。</a:t>
            </a:r>
            <a:r>
              <a:rPr lang="en-US" altLang="zh-CN" dirty="0"/>
              <a:t>MTBF</a:t>
            </a:r>
            <a:r>
              <a:rPr lang="zh-CN" altLang="en-US" dirty="0"/>
              <a:t>越多，可靠性也就越高。</a:t>
            </a:r>
            <a:endParaRPr lang="en-US" altLang="zh-CN" dirty="0"/>
          </a:p>
          <a:p>
            <a:pPr lvl="2"/>
            <a:r>
              <a:rPr lang="en-US" altLang="zh-CN" dirty="0"/>
              <a:t>MTTR</a:t>
            </a:r>
            <a:r>
              <a:rPr lang="zh-CN" altLang="en-US" dirty="0"/>
              <a:t>是指一个系统从故障发生到恢复所需的平均时间。</a:t>
            </a:r>
          </a:p>
          <a:p>
            <a:pPr lvl="1"/>
            <a:r>
              <a:rPr lang="zh-CN" altLang="en-US" dirty="0"/>
              <a:t>扩展性：指网络适应未来发展的能力。</a:t>
            </a:r>
          </a:p>
          <a:p>
            <a:pPr lvl="1"/>
            <a:r>
              <a:rPr lang="zh-CN" altLang="en-US" dirty="0"/>
              <a:t>安全性：网络设计中需要考虑安全性，以提高网络的持续服务能力，防止承载信息的泄密。</a:t>
            </a:r>
          </a:p>
          <a:p>
            <a:pPr lvl="1"/>
            <a:r>
              <a:rPr lang="zh-CN" altLang="en-US" dirty="0"/>
              <a:t>可管理性：网络管理包括设备管理，配置管理，故障管理，计费管理等多个方面。</a:t>
            </a:r>
            <a:endParaRPr lang="en-US" altLang="zh-CN" dirty="0"/>
          </a:p>
          <a:p>
            <a:pPr lvl="0"/>
            <a:r>
              <a:rPr lang="zh-CN" altLang="en-US" dirty="0"/>
              <a:t>网络实施是工程师交付项目的具体操作环节。</a:t>
            </a:r>
            <a:endParaRPr lang="en-US" altLang="zh-CN" dirty="0"/>
          </a:p>
          <a:p>
            <a:pPr lvl="0"/>
            <a:r>
              <a:rPr lang="zh-CN" altLang="en-US" dirty="0"/>
              <a:t>故障排除的流程将在下个章节中详细介绍。</a:t>
            </a:r>
            <a:endParaRPr lang="en-US" altLang="zh-CN" dirty="0"/>
          </a:p>
        </p:txBody>
      </p:sp>
    </p:spTree>
    <p:extLst>
      <p:ext uri="{BB962C8B-B14F-4D97-AF65-F5344CB8AC3E}">
        <p14:creationId xmlns:p14="http://schemas.microsoft.com/office/powerpoint/2010/main" val="1097760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41158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44526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16171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设备运行环境正常是保证设备正常运行的前提。</a:t>
            </a:r>
          </a:p>
          <a:p>
            <a:r>
              <a:rPr lang="zh-CN" altLang="en-US" dirty="0"/>
              <a:t>温度和湿度对设备正常运行有重大影响，标准的机房都应该配备温度计和湿度计，并且应每天安排人员例行检查和记录。</a:t>
            </a:r>
          </a:p>
          <a:p>
            <a:r>
              <a:rPr lang="zh-CN" altLang="en-US" dirty="0"/>
              <a:t>机房的清洁和整齐也影响着设备的正常运行。</a:t>
            </a:r>
          </a:p>
          <a:p>
            <a:pPr lvl="1"/>
            <a:r>
              <a:rPr lang="zh-CN" altLang="en-US" dirty="0"/>
              <a:t>清洁问题影响设备的散热。</a:t>
            </a:r>
          </a:p>
          <a:p>
            <a:pPr lvl="1"/>
            <a:r>
              <a:rPr lang="zh-CN" altLang="en-US" dirty="0"/>
              <a:t>整齐主要是指设备、线缆的布放。按照规范的安装部署要求，设备和线缆都需要规范布放。但是在网络运行过程中，时常会有临时的调整，比如临时跳线测试。这些活动积累一段时间后，机房就会变乱。设备环境检查就是发现这些问题并及时纠正。</a:t>
            </a:r>
          </a:p>
          <a:p>
            <a:r>
              <a:rPr lang="zh-CN" altLang="en-US" dirty="0"/>
              <a:t>另一方面，非标准的机房更要注意设备环境检查，比如楼层的设备间，需要特别注意清洁和散热问题。</a:t>
            </a:r>
            <a:endParaRPr lang="en-US" altLang="zh-CN" dirty="0"/>
          </a:p>
          <a:p>
            <a:r>
              <a:rPr lang="zh-CN" altLang="en-US" dirty="0"/>
              <a:t>以上各种参数不同设备可能有所差异，以各自产品文档为准。</a:t>
            </a:r>
          </a:p>
        </p:txBody>
      </p:sp>
      <p:sp>
        <p:nvSpPr>
          <p:cNvPr id="5" name="Slide Image Placeholder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023787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21743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关于设备运行的软件版本：</a:t>
            </a:r>
            <a:endParaRPr lang="en-US" altLang="zh-CN" dirty="0"/>
          </a:p>
          <a:p>
            <a:pPr lvl="1"/>
            <a:r>
              <a:rPr lang="zh-CN" altLang="en-US" dirty="0"/>
              <a:t>设备运行版本在项目建设时就应确认，正常情况下版本信息不会变化。在检查过程中若发现版本信息有变化，应重点关注。这种情况通常是由于不规范的管理造成的。</a:t>
            </a:r>
            <a:endParaRPr lang="en-US" altLang="zh-CN" dirty="0"/>
          </a:p>
          <a:p>
            <a:pPr lvl="1"/>
            <a:r>
              <a:rPr lang="zh-CN" altLang="en-US" dirty="0"/>
              <a:t>如果是新添加的设备，可能采用不同的软件版本；也有可能由于其他原因升级或降级了部分设备。特别是在网络规模较大的场景下，网络中同一款设备可能运行不同版本的软件。这时就需要重点关注不同版本是否能够满足同样的网络功能需求。</a:t>
            </a:r>
            <a:endParaRPr lang="en-US" altLang="zh-CN" dirty="0"/>
          </a:p>
          <a:p>
            <a:r>
              <a:rPr lang="zh-CN" altLang="en-US" dirty="0"/>
              <a:t>关于启动信息：</a:t>
            </a:r>
            <a:endParaRPr lang="en-US" altLang="zh-CN" dirty="0"/>
          </a:p>
          <a:p>
            <a:pPr lvl="1"/>
            <a:r>
              <a:rPr lang="zh-CN" altLang="en-US" dirty="0"/>
              <a:t>设备上可能存在多个版本或多个配置文件，这种情况下冒然变更启动信息的会对网络的正常运行造成较大的风险。设备一旦重启（比如供电故障），则可能影响整个网络的运行。</a:t>
            </a:r>
            <a:endParaRPr lang="en-US" altLang="zh-CN" dirty="0"/>
          </a:p>
          <a:p>
            <a:pPr lvl="0"/>
            <a:r>
              <a:rPr lang="zh-CN" altLang="en-US" dirty="0"/>
              <a:t>关于</a:t>
            </a:r>
            <a:r>
              <a:rPr lang="en-US" altLang="zh-CN" dirty="0"/>
              <a:t>License</a:t>
            </a:r>
            <a:r>
              <a:rPr lang="zh-CN" altLang="en-US" dirty="0"/>
              <a:t>信息：</a:t>
            </a:r>
            <a:endParaRPr lang="en-US" altLang="zh-CN" dirty="0"/>
          </a:p>
          <a:p>
            <a:pPr lvl="1"/>
            <a:r>
              <a:rPr lang="zh-CN" altLang="en-US" dirty="0"/>
              <a:t>不同设备的</a:t>
            </a:r>
            <a:r>
              <a:rPr lang="en-US" altLang="zh-CN" dirty="0"/>
              <a:t>License</a:t>
            </a:r>
            <a:r>
              <a:rPr lang="zh-CN" altLang="en-US" dirty="0"/>
              <a:t>规则可能不同，需要区别对待。某些设备的</a:t>
            </a:r>
            <a:r>
              <a:rPr lang="en-US" altLang="zh-CN" dirty="0"/>
              <a:t>License</a:t>
            </a:r>
            <a:r>
              <a:rPr lang="zh-CN" altLang="en-US" dirty="0"/>
              <a:t>是有期限的，需要重点关注。</a:t>
            </a:r>
            <a:endParaRPr lang="en-US" altLang="zh-CN" dirty="0"/>
          </a:p>
        </p:txBody>
      </p:sp>
      <p:sp>
        <p:nvSpPr>
          <p:cNvPr id="5" name="Slide Image Placeholder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279273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lvl="0"/>
            <a:r>
              <a:rPr lang="zh-CN" altLang="en-US" dirty="0"/>
              <a:t>关于存储空间：</a:t>
            </a:r>
            <a:endParaRPr lang="en-US" altLang="zh-CN" dirty="0"/>
          </a:p>
          <a:p>
            <a:pPr lvl="1"/>
            <a:r>
              <a:rPr lang="zh-CN" altLang="en-US" dirty="0"/>
              <a:t>尽管大部分设备提供了数十</a:t>
            </a:r>
            <a:r>
              <a:rPr lang="en-US" altLang="zh-CN" dirty="0"/>
              <a:t>G</a:t>
            </a:r>
            <a:r>
              <a:rPr lang="zh-CN" altLang="en-US" dirty="0"/>
              <a:t>甚至数百</a:t>
            </a:r>
            <a:r>
              <a:rPr lang="en-US" altLang="zh-CN" dirty="0"/>
              <a:t>G</a:t>
            </a:r>
            <a:r>
              <a:rPr lang="zh-CN" altLang="en-US" dirty="0"/>
              <a:t>的存储空间，但是由于设备运行过程中会不断生成一些文件，如日志文件等。在某些异常情况下，如设备遭受攻击或设备信息频繁变更时，日志文件会急剧增加，如果这种现象持续存在，就可能会导致设备的存储空间耗尽、关键信息丢失。</a:t>
            </a:r>
          </a:p>
          <a:p>
            <a:endParaRPr lang="zh-CN" altLang="en-US" dirty="0"/>
          </a:p>
        </p:txBody>
      </p:sp>
    </p:spTree>
    <p:extLst>
      <p:ext uri="{BB962C8B-B14F-4D97-AF65-F5344CB8AC3E}">
        <p14:creationId xmlns:p14="http://schemas.microsoft.com/office/powerpoint/2010/main" val="2298621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626504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616269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512946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598523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051100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328793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582880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964574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用户可以根据自己的需要配置信息的输出规则，控制不同类别、不同等级的信息从不同的信息通道输出到不同的输出方向。</a:t>
            </a:r>
            <a:endParaRPr lang="en-US" altLang="zh-CN"/>
          </a:p>
          <a:p>
            <a:pPr lvl="0"/>
            <a:r>
              <a:rPr lang="zh-CN" altLang="en-US"/>
              <a:t>远程终端，即通过</a:t>
            </a:r>
            <a:r>
              <a:rPr lang="en-US" altLang="zh-CN"/>
              <a:t>VTY</a:t>
            </a:r>
            <a:r>
              <a:rPr lang="zh-CN" altLang="en-US"/>
              <a:t>登录设备的方式，可以接收</a:t>
            </a:r>
            <a:r>
              <a:rPr lang="en-US" altLang="zh-CN"/>
              <a:t>Log</a:t>
            </a:r>
            <a:r>
              <a:rPr lang="zh-CN" altLang="en-US"/>
              <a:t>信息、</a:t>
            </a:r>
            <a:r>
              <a:rPr lang="en-US" altLang="zh-CN"/>
              <a:t>Trap</a:t>
            </a:r>
            <a:r>
              <a:rPr lang="zh-CN" altLang="en-US"/>
              <a:t>信息、</a:t>
            </a:r>
            <a:r>
              <a:rPr lang="en-US" altLang="zh-CN"/>
              <a:t>Debug</a:t>
            </a:r>
            <a:r>
              <a:rPr lang="zh-CN" altLang="en-US"/>
              <a:t>信息，方便远程维护。</a:t>
            </a:r>
          </a:p>
          <a:p>
            <a:pPr lvl="0"/>
            <a:endParaRPr lang="zh-CN" altLang="en-US"/>
          </a:p>
          <a:p>
            <a:endParaRPr lang="zh-CN" altLang="en-US" dirty="0"/>
          </a:p>
        </p:txBody>
      </p:sp>
      <p:sp>
        <p:nvSpPr>
          <p:cNvPr id="5" name="Slide Image Placeholder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7734880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042245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404080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40944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配置向日志主机输出信息。</a:t>
            </a:r>
            <a:endParaRPr lang="en-US" altLang="zh-CN" dirty="0"/>
          </a:p>
          <a:p>
            <a:pPr lvl="1"/>
            <a:r>
              <a:rPr lang="en-US" altLang="zh-CN" dirty="0"/>
              <a:t>[HUAWEI] info-center </a:t>
            </a:r>
            <a:r>
              <a:rPr lang="en-US" altLang="zh-CN" dirty="0" err="1"/>
              <a:t>loghost</a:t>
            </a:r>
            <a:r>
              <a:rPr lang="en-US" altLang="zh-CN" dirty="0"/>
              <a:t> </a:t>
            </a:r>
            <a:r>
              <a:rPr lang="en-US" altLang="zh-CN" i="1" dirty="0" err="1"/>
              <a:t>ip</a:t>
            </a:r>
            <a:r>
              <a:rPr lang="en-US" altLang="zh-CN" i="1" dirty="0"/>
              <a:t>-address</a:t>
            </a:r>
            <a:r>
              <a:rPr lang="en-US" altLang="zh-CN" dirty="0"/>
              <a:t> { source-</a:t>
            </a:r>
            <a:r>
              <a:rPr lang="en-US" altLang="zh-CN" dirty="0" err="1"/>
              <a:t>ip</a:t>
            </a:r>
            <a:r>
              <a:rPr lang="en-US" altLang="zh-CN" i="1" dirty="0"/>
              <a:t> source-</a:t>
            </a:r>
            <a:r>
              <a:rPr lang="en-US" altLang="zh-CN" i="1" dirty="0" err="1"/>
              <a:t>ip</a:t>
            </a:r>
            <a:r>
              <a:rPr lang="en-US" altLang="zh-CN" i="1" dirty="0"/>
              <a:t>-address</a:t>
            </a:r>
            <a:r>
              <a:rPr lang="en-US" altLang="zh-CN" dirty="0"/>
              <a:t> } | transport { </a:t>
            </a:r>
            <a:r>
              <a:rPr lang="en-US" altLang="zh-CN" dirty="0" err="1"/>
              <a:t>udp</a:t>
            </a:r>
            <a:r>
              <a:rPr lang="en-US" altLang="zh-CN" dirty="0"/>
              <a:t> | </a:t>
            </a:r>
            <a:r>
              <a:rPr lang="en-US" altLang="zh-CN" dirty="0" err="1"/>
              <a:t>tcp</a:t>
            </a:r>
            <a:r>
              <a:rPr lang="en-US" altLang="zh-CN" dirty="0"/>
              <a:t> </a:t>
            </a:r>
            <a:r>
              <a:rPr lang="en-US" altLang="zh-CN" dirty="0" err="1"/>
              <a:t>ssl</a:t>
            </a:r>
            <a:r>
              <a:rPr lang="en-US" altLang="zh-CN" dirty="0"/>
              <a:t>-policy </a:t>
            </a:r>
            <a:r>
              <a:rPr lang="en-US" altLang="zh-CN" i="1" dirty="0"/>
              <a:t>policy-name</a:t>
            </a:r>
            <a:r>
              <a:rPr lang="en-US" altLang="zh-CN" dirty="0"/>
              <a:t> } ] </a:t>
            </a:r>
            <a:endParaRPr lang="zh-CN" altLang="en-US" dirty="0"/>
          </a:p>
        </p:txBody>
      </p:sp>
      <p:sp>
        <p:nvSpPr>
          <p:cNvPr id="4" name="Slide Image Placeholder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1220101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103969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760582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409537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072032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042074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661702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为了方便展示，本页展示的</a:t>
            </a:r>
            <a:r>
              <a:rPr lang="en-US" altLang="zh-CN" dirty="0"/>
              <a:t>Debug</a:t>
            </a:r>
            <a:r>
              <a:rPr lang="zh-CN" altLang="en-US" dirty="0"/>
              <a:t>信息做了调整。</a:t>
            </a:r>
            <a:endParaRPr lang="en-US" altLang="zh-CN" dirty="0"/>
          </a:p>
          <a:p>
            <a:r>
              <a:rPr lang="en-US" altLang="zh-CN" dirty="0"/>
              <a:t>R1</a:t>
            </a:r>
            <a:r>
              <a:rPr lang="zh-CN" altLang="en-US" dirty="0"/>
              <a:t>从</a:t>
            </a:r>
            <a:r>
              <a:rPr lang="en-US" altLang="zh-CN" dirty="0"/>
              <a:t>GE0/0/0</a:t>
            </a:r>
            <a:r>
              <a:rPr lang="zh-CN" altLang="en-US" dirty="0"/>
              <a:t>接口发送的</a:t>
            </a:r>
            <a:r>
              <a:rPr lang="en-US" altLang="zh-CN" dirty="0"/>
              <a:t>HELLO</a:t>
            </a:r>
            <a:r>
              <a:rPr lang="zh-CN" altLang="en-US" dirty="0"/>
              <a:t>报文如下：</a:t>
            </a:r>
            <a:endParaRPr lang="en-US" altLang="zh-CN" dirty="0"/>
          </a:p>
          <a:p>
            <a:pPr marL="360000" lvl="1" indent="0">
              <a:buNone/>
            </a:pPr>
            <a:r>
              <a:rPr lang="en-US" altLang="zh-CN" dirty="0"/>
              <a:t>&lt;R1&gt;</a:t>
            </a:r>
          </a:p>
          <a:p>
            <a:pPr marL="360000" lvl="1" indent="0">
              <a:buNone/>
            </a:pPr>
            <a:r>
              <a:rPr lang="en-US" altLang="zh-CN" dirty="0"/>
              <a:t>Jun 23 2020 10:14:21.751.1-08:00 R1 RM/6/RMDEBUG:</a:t>
            </a:r>
          </a:p>
          <a:p>
            <a:pPr marL="360000" lvl="1" indent="0">
              <a:buNone/>
            </a:pPr>
            <a:r>
              <a:rPr lang="en-US" altLang="zh-CN" dirty="0"/>
              <a:t> </a:t>
            </a:r>
            <a:r>
              <a:rPr lang="en-US" altLang="zh-CN" dirty="0" err="1"/>
              <a:t>FileID</a:t>
            </a:r>
            <a:r>
              <a:rPr lang="en-US" altLang="zh-CN" dirty="0"/>
              <a:t>: 0xd0178025 Line: 559 Level: 0x20</a:t>
            </a:r>
          </a:p>
          <a:p>
            <a:pPr marL="360000" lvl="1" indent="0">
              <a:buNone/>
            </a:pPr>
            <a:r>
              <a:rPr lang="en-US" altLang="zh-CN" dirty="0"/>
              <a:t> OSPF 1: SEND Packet. Interface: GigabitEthernet0/0/0</a:t>
            </a:r>
          </a:p>
          <a:p>
            <a:pPr marL="360000" lvl="1" indent="0">
              <a:buNone/>
            </a:pPr>
            <a:r>
              <a:rPr lang="en-US" altLang="zh-CN" dirty="0"/>
              <a:t>&lt;R1&gt;Jun  23 2020 10:14:21.751.2-08:00 R1 RM/6/RMDEBUG:  Source Address: 10.0.12.1</a:t>
            </a:r>
          </a:p>
          <a:p>
            <a:pPr marL="360000" lvl="1" indent="0">
              <a:buNone/>
            </a:pPr>
            <a:r>
              <a:rPr lang="en-US" altLang="zh-CN" dirty="0"/>
              <a:t>&lt;R1&gt;Jun  23 2020 10:14:21.751.3-08:00 R1 RM/6/RMDEBUG:  Destination Address: 224.0.0.5</a:t>
            </a:r>
          </a:p>
          <a:p>
            <a:pPr marL="360000" lvl="1" indent="0">
              <a:buNone/>
            </a:pPr>
            <a:r>
              <a:rPr lang="en-US" altLang="zh-CN" dirty="0"/>
              <a:t>&lt;R1&gt;Jun  23 2020 10:14:21.751.4-08:00 R1 RM/6/RMDEBUG:  </a:t>
            </a:r>
            <a:r>
              <a:rPr lang="en-US" altLang="zh-CN" dirty="0" err="1"/>
              <a:t>Ver</a:t>
            </a:r>
            <a:r>
              <a:rPr lang="en-US" altLang="zh-CN" dirty="0"/>
              <a:t># 2, Type: 1 (Hello)</a:t>
            </a:r>
          </a:p>
          <a:p>
            <a:pPr marL="360000" lvl="1" indent="0">
              <a:buNone/>
            </a:pPr>
            <a:r>
              <a:rPr lang="en-US" altLang="zh-CN" dirty="0"/>
              <a:t>&lt;R1&gt;Jun  23 2020 10:14:21.751.5-08:00 R1 RM/6/RMDEBUG:  Length: 48, Router: 10.0.12.1</a:t>
            </a:r>
          </a:p>
          <a:p>
            <a:pPr marL="360000" lvl="1" indent="0">
              <a:buNone/>
            </a:pPr>
            <a:r>
              <a:rPr lang="en-US" altLang="zh-CN" dirty="0"/>
              <a:t>&lt;R1&gt;Jun 23 2020 10:14:21.751.6-08:00 R1 RM/6/RMDEBUG:  Area: 0.0.0.0, </a:t>
            </a:r>
            <a:r>
              <a:rPr lang="en-US" altLang="zh-CN" dirty="0" err="1"/>
              <a:t>Chksum</a:t>
            </a:r>
            <a:r>
              <a:rPr lang="en-US" altLang="zh-CN" dirty="0"/>
              <a:t>: ae94</a:t>
            </a:r>
          </a:p>
        </p:txBody>
      </p:sp>
      <p:sp>
        <p:nvSpPr>
          <p:cNvPr id="5" name="Slide Image Placeholder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88610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marL="360000" lvl="1" indent="0">
              <a:buNone/>
            </a:pPr>
            <a:r>
              <a:rPr lang="en-US" altLang="zh-CN" dirty="0"/>
              <a:t>&lt;R1&gt;Jun  23 2020 10:14:21.751.7-08:00 R1 RM/6/RMDEBUG:  </a:t>
            </a:r>
            <a:r>
              <a:rPr lang="en-US" altLang="zh-CN" dirty="0" err="1"/>
              <a:t>AuType</a:t>
            </a:r>
            <a:r>
              <a:rPr lang="en-US" altLang="zh-CN" dirty="0"/>
              <a:t>: 00</a:t>
            </a:r>
          </a:p>
          <a:p>
            <a:pPr marL="360000" lvl="1" indent="0">
              <a:buNone/>
            </a:pPr>
            <a:r>
              <a:rPr lang="en-US" altLang="zh-CN" dirty="0"/>
              <a:t>&lt;R1&gt;Jun 23 2020 10:14:21.751.8-08:00 R1 RM/6/RMDEBUG:  Key(</a:t>
            </a:r>
            <a:r>
              <a:rPr lang="en-US" altLang="zh-CN" dirty="0" err="1"/>
              <a:t>ascii</a:t>
            </a:r>
            <a:r>
              <a:rPr lang="en-US" altLang="zh-CN" dirty="0"/>
              <a:t>): * * * * * * * *</a:t>
            </a:r>
          </a:p>
          <a:p>
            <a:pPr marL="360000" lvl="1" indent="0">
              <a:buNone/>
            </a:pPr>
            <a:r>
              <a:rPr lang="en-US" altLang="zh-CN" dirty="0"/>
              <a:t>&lt;R1&gt;Jun 23 2020 10:14:21.751.9-08:00 R1 RM/6/RMDEBUG:  Net Mask: 255.255.255.0</a:t>
            </a:r>
          </a:p>
          <a:p>
            <a:pPr marL="360000" lvl="1" indent="0">
              <a:buNone/>
            </a:pPr>
            <a:r>
              <a:rPr lang="en-US" altLang="zh-CN" dirty="0"/>
              <a:t>&lt;R1&gt;Jun  23 2020 10:14:21.751.10-08:00 R1 RM/6/RMDEBUG:  Hello </a:t>
            </a:r>
            <a:r>
              <a:rPr lang="en-US" altLang="zh-CN" dirty="0" err="1"/>
              <a:t>Int</a:t>
            </a:r>
            <a:r>
              <a:rPr lang="en-US" altLang="zh-CN" dirty="0"/>
              <a:t>: 10, Option: _E_</a:t>
            </a:r>
          </a:p>
          <a:p>
            <a:pPr marL="360000" lvl="1" indent="0">
              <a:buNone/>
            </a:pPr>
            <a:r>
              <a:rPr lang="en-US" altLang="zh-CN" dirty="0"/>
              <a:t>&lt;R1&gt;Jun  23 2020 10:14:21.751.11-08:00 R1 RM/6/RMDEBUG:  </a:t>
            </a:r>
            <a:r>
              <a:rPr lang="en-US" altLang="zh-CN" dirty="0" err="1"/>
              <a:t>Rtr</a:t>
            </a:r>
            <a:r>
              <a:rPr lang="en-US" altLang="zh-CN" dirty="0"/>
              <a:t> Priority: 1, Dead </a:t>
            </a:r>
            <a:r>
              <a:rPr lang="en-US" altLang="zh-CN" dirty="0" err="1"/>
              <a:t>Int</a:t>
            </a:r>
            <a:r>
              <a:rPr lang="en-US" altLang="zh-CN" dirty="0"/>
              <a:t>: 40</a:t>
            </a:r>
          </a:p>
          <a:p>
            <a:pPr marL="360000" lvl="1" indent="0">
              <a:buNone/>
            </a:pPr>
            <a:r>
              <a:rPr lang="en-US" altLang="zh-CN" dirty="0"/>
              <a:t>&lt;R1&gt;Jun  23 2020 10:14:21.751.12-08:00 R1 RM/6/RMDEBUG:  DR: 10.0.12.2</a:t>
            </a:r>
          </a:p>
          <a:p>
            <a:pPr marL="360000" lvl="1" indent="0">
              <a:buNone/>
            </a:pPr>
            <a:r>
              <a:rPr lang="en-US" altLang="zh-CN" dirty="0"/>
              <a:t>&lt;R1&gt;Jun  23 2020 10:14:21.751.13-08:00 R1 RM/6/RMDEBUG:  BDR: 10.0.12.1</a:t>
            </a:r>
          </a:p>
          <a:p>
            <a:pPr marL="360000" lvl="1" indent="0">
              <a:buNone/>
            </a:pPr>
            <a:r>
              <a:rPr lang="en-US" altLang="zh-CN" dirty="0"/>
              <a:t>&lt;R1&gt;Jun  23 2020 10:14:21.751.14-08:00 R1 RM/6/RMDEBUG:  # Attached Neighbors: 1</a:t>
            </a:r>
          </a:p>
          <a:p>
            <a:pPr marL="360000" lvl="1" indent="0">
              <a:buNone/>
            </a:pPr>
            <a:r>
              <a:rPr lang="en-US" altLang="zh-CN" dirty="0"/>
              <a:t>&lt;R1&gt;Jun  23 2020 10:14:21.751.15-08:00 R1 RM/6/RMDEBUG:    Neighbor: 10.0.2.2</a:t>
            </a:r>
          </a:p>
          <a:p>
            <a:pPr marL="360000" lvl="1" indent="0">
              <a:buNone/>
            </a:pPr>
            <a:r>
              <a:rPr lang="en-US" altLang="zh-CN" dirty="0"/>
              <a:t>&lt;R1&gt;Jun  23 2020 10:14:21.751.16-08:00 R1 RM/6/RMDEBUG:</a:t>
            </a:r>
            <a:endParaRPr lang="zh-CN" altLang="en-US" dirty="0"/>
          </a:p>
        </p:txBody>
      </p:sp>
    </p:spTree>
    <p:extLst>
      <p:ext uri="{BB962C8B-B14F-4D97-AF65-F5344CB8AC3E}">
        <p14:creationId xmlns:p14="http://schemas.microsoft.com/office/powerpoint/2010/main" val="28750498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775036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某个时刻只能有一个捕获报文实例，即前一次捕获报文流程没有结束，不能启动下一次捕获报文。</a:t>
            </a:r>
          </a:p>
          <a:p>
            <a:r>
              <a:rPr lang="zh-CN" altLang="en-US" dirty="0"/>
              <a:t>捕获的报文有速率限制，如果有突发流量，超过捕获报文的速率限制，可能会存在丢包现象。</a:t>
            </a:r>
            <a:endParaRPr lang="en-US" altLang="zh-CN" dirty="0"/>
          </a:p>
          <a:p>
            <a:r>
              <a:rPr lang="en-US" altLang="zh-CN" dirty="0"/>
              <a:t>capture-packet</a:t>
            </a:r>
            <a:r>
              <a:rPr lang="zh-CN" altLang="en-US" dirty="0"/>
              <a:t>命令用来在设备捕获符合设置规则的业务报文，并上送到终端显示，或保存到本地。</a:t>
            </a:r>
            <a:endParaRPr lang="en-US" altLang="zh-CN" dirty="0"/>
          </a:p>
          <a:p>
            <a:pPr lvl="1"/>
            <a:r>
              <a:rPr lang="en-US" altLang="zh-CN" dirty="0"/>
              <a:t>capture-packet interface interface-type interface-number [ </a:t>
            </a:r>
            <a:r>
              <a:rPr lang="en-US" altLang="zh-CN" dirty="0" err="1"/>
              <a:t>acl</a:t>
            </a:r>
            <a:r>
              <a:rPr lang="en-US" altLang="zh-CN" dirty="0"/>
              <a:t> </a:t>
            </a:r>
            <a:r>
              <a:rPr lang="en-US" altLang="zh-CN" dirty="0" err="1"/>
              <a:t>acl</a:t>
            </a:r>
            <a:r>
              <a:rPr lang="en-US" altLang="zh-CN" dirty="0"/>
              <a:t>-number ] destination { terminal | file file-name } * [ car </a:t>
            </a:r>
            <a:r>
              <a:rPr lang="en-US" altLang="zh-CN" dirty="0" err="1"/>
              <a:t>cir</a:t>
            </a:r>
            <a:r>
              <a:rPr lang="en-US" altLang="zh-CN" dirty="0"/>
              <a:t> car-value | time-out time | packet-</a:t>
            </a:r>
            <a:r>
              <a:rPr lang="en-US" altLang="zh-CN" dirty="0" err="1"/>
              <a:t>num</a:t>
            </a:r>
            <a:r>
              <a:rPr lang="en-US" altLang="zh-CN" dirty="0"/>
              <a:t> number | packet-</a:t>
            </a:r>
            <a:r>
              <a:rPr lang="en-US" altLang="zh-CN" dirty="0" err="1"/>
              <a:t>len</a:t>
            </a:r>
            <a:r>
              <a:rPr lang="en-US" altLang="zh-CN" dirty="0"/>
              <a:t> { length | total-packet } ] *</a:t>
            </a:r>
            <a:endParaRPr lang="zh-CN" altLang="en-US" dirty="0"/>
          </a:p>
          <a:p>
            <a:pPr lvl="2"/>
            <a:r>
              <a:rPr lang="en-US" altLang="zh-CN" dirty="0"/>
              <a:t>terminal</a:t>
            </a:r>
            <a:r>
              <a:rPr lang="zh-CN" altLang="en-US" dirty="0"/>
              <a:t> ：将捕获的报文发送到终端显示。</a:t>
            </a:r>
            <a:endParaRPr lang="en-US" altLang="zh-CN" dirty="0"/>
          </a:p>
          <a:p>
            <a:pPr lvl="2"/>
            <a:r>
              <a:rPr lang="en-US" altLang="zh-CN" dirty="0"/>
              <a:t>file file-name</a:t>
            </a:r>
            <a:r>
              <a:rPr lang="zh-CN" altLang="en-US" dirty="0"/>
              <a:t>：将捕获的报文保存在指定的文件里。</a:t>
            </a:r>
          </a:p>
          <a:p>
            <a:endParaRPr lang="zh-CN" altLang="en-US" dirty="0"/>
          </a:p>
        </p:txBody>
      </p:sp>
      <p:sp>
        <p:nvSpPr>
          <p:cNvPr id="5" name="Slide Image Placeholder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801797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618244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548541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456184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679762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lvl="0" indent="-228600">
              <a:buFont typeface="+mj-lt"/>
              <a:buAutoNum type="arabicPeriod"/>
            </a:pPr>
            <a:r>
              <a:rPr lang="en-US" altLang="zh-CN" dirty="0"/>
              <a:t>ABD</a:t>
            </a:r>
          </a:p>
        </p:txBody>
      </p:sp>
      <p:sp>
        <p:nvSpPr>
          <p:cNvPr id="5" name="Slide Image Placeholder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9085104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lvl="0" indent="-228600">
              <a:buFont typeface="+mj-lt"/>
              <a:buAutoNum type="arabicPeriod"/>
            </a:pPr>
            <a:r>
              <a:rPr lang="en-US" altLang="zh-CN" dirty="0"/>
              <a:t>B</a:t>
            </a:r>
          </a:p>
          <a:p>
            <a:pPr marL="228600" lvl="0" indent="-228600">
              <a:buFont typeface="+mj-lt"/>
              <a:buAutoNum type="arabicPeriod"/>
            </a:pPr>
            <a:r>
              <a:rPr lang="en-US" altLang="zh-CN" dirty="0"/>
              <a:t>B</a:t>
            </a:r>
            <a:endParaRPr lang="zh-CN" altLang="en-US" dirty="0"/>
          </a:p>
        </p:txBody>
      </p:sp>
      <p:sp>
        <p:nvSpPr>
          <p:cNvPr id="5" name="Slide Image Placeholder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529792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228233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742950" y="717550"/>
            <a:ext cx="5557838" cy="3125788"/>
          </a:xfrm>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973958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39181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191700454"/>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1036787055"/>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ctr"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此版式用于思考题具体格式</a:t>
            </a:r>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3557104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329529313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1733786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105166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4259767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85192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99998166"/>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1028299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Copyright©2021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7"/>
          </p:nvPr>
        </p:nvSpPr>
        <p:spPr bwMode="gray"/>
        <p:txBody>
          <a:bodyPr/>
          <a:lstStyle/>
          <a:p>
            <a:endParaRPr lang="zh-CN" altLang="en-US"/>
          </a:p>
        </p:txBody>
      </p:sp>
      <p:sp>
        <p:nvSpPr>
          <p:cNvPr id="28" name="Text Placeholder 27"/>
          <p:cNvSpPr>
            <a:spLocks noGrp="1"/>
          </p:cNvSpPr>
          <p:nvPr>
            <p:ph type="body" sz="quarter" idx="18"/>
          </p:nvPr>
        </p:nvSpPr>
        <p:spPr bwMode="gray"/>
        <p:txBody>
          <a:bodyPr/>
          <a:lstStyle/>
          <a:p>
            <a:r>
              <a:rPr lang="en-US" altLang="zh-CN" dirty="0"/>
              <a:t>Datacom</a:t>
            </a:r>
            <a:endParaRPr lang="zh-CN" altLang="en-US" dirty="0"/>
          </a:p>
        </p:txBody>
      </p:sp>
      <p:sp>
        <p:nvSpPr>
          <p:cNvPr id="29" name="Text Placeholder 28"/>
          <p:cNvSpPr>
            <a:spLocks noGrp="1"/>
          </p:cNvSpPr>
          <p:nvPr>
            <p:ph type="body" sz="quarter" idx="19"/>
          </p:nvPr>
        </p:nvSpPr>
        <p:spPr bwMode="gray"/>
        <p:txBody>
          <a:bodyPr/>
          <a:lstStyle/>
          <a:p>
            <a:r>
              <a:rPr lang="zh-CN" altLang="en-US" dirty="0"/>
              <a:t>通用</a:t>
            </a:r>
          </a:p>
        </p:txBody>
      </p:sp>
      <p:sp>
        <p:nvSpPr>
          <p:cNvPr id="30" name="Text Placeholder 29"/>
          <p:cNvSpPr>
            <a:spLocks noGrp="1"/>
          </p:cNvSpPr>
          <p:nvPr>
            <p:ph type="body" sz="quarter" idx="20"/>
          </p:nvPr>
        </p:nvSpPr>
        <p:spPr bwMode="gray"/>
        <p:txBody>
          <a:bodyPr/>
          <a:lstStyle/>
          <a:p>
            <a:r>
              <a:rPr lang="en-US" altLang="zh-CN" dirty="0"/>
              <a:t>V1.0</a:t>
            </a:r>
            <a:endParaRPr lang="zh-CN" altLang="en-US" dirty="0"/>
          </a:p>
        </p:txBody>
      </p:sp>
      <p:sp>
        <p:nvSpPr>
          <p:cNvPr id="12" name="文本占位符 11"/>
          <p:cNvSpPr>
            <a:spLocks noGrp="1"/>
          </p:cNvSpPr>
          <p:nvPr>
            <p:ph type="body" sz="quarter" idx="13"/>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何军建</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/WX580230</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占位符 12"/>
          <p:cNvSpPr>
            <a:spLocks noGrp="1"/>
          </p:cNvSpPr>
          <p:nvPr>
            <p:ph type="body" sz="quarter" idx="14"/>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2020.06.22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占位符 13"/>
          <p:cNvSpPr>
            <a:spLocks noGrp="1"/>
          </p:cNvSpPr>
          <p:nvPr>
            <p:ph type="body" sz="quarter" idx="15"/>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朱仕耿</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/00261992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Text Placeholder 1"/>
          <p:cNvSpPr>
            <a:spLocks noGrp="1"/>
          </p:cNvSpPr>
          <p:nvPr>
            <p:ph type="body" sz="quarter" idx="16"/>
          </p:nvPr>
        </p:nvSpPr>
        <p:spPr bwMode="gray"/>
        <p:txBody>
          <a:bodyPr/>
          <a:lstStyle/>
          <a:p>
            <a:r>
              <a:rPr lang="zh-CN" altLang="en-US" dirty="0"/>
              <a:t>新开发</a:t>
            </a:r>
          </a:p>
        </p:txBody>
      </p:sp>
      <p:sp>
        <p:nvSpPr>
          <p:cNvPr id="31" name="Text Placeholder 30"/>
          <p:cNvSpPr>
            <a:spLocks noGrp="1"/>
          </p:cNvSpPr>
          <p:nvPr>
            <p:ph type="body" sz="quarter" idx="21"/>
          </p:nvPr>
        </p:nvSpPr>
        <p:spPr bwMode="gray"/>
        <p:txBody>
          <a:bodyPr/>
          <a:lstStyle/>
          <a:p>
            <a:r>
              <a:rPr lang="zh-CN" altLang="en-US" dirty="0"/>
              <a:t>吴越</a:t>
            </a:r>
            <a:r>
              <a:rPr lang="en-US" altLang="zh-CN" dirty="0"/>
              <a:t>/WX291773</a:t>
            </a:r>
            <a:endParaRPr lang="zh-CN" altLang="en-US" dirty="0"/>
          </a:p>
        </p:txBody>
      </p:sp>
      <p:sp>
        <p:nvSpPr>
          <p:cNvPr id="32" name="Text Placeholder 31"/>
          <p:cNvSpPr>
            <a:spLocks noGrp="1"/>
          </p:cNvSpPr>
          <p:nvPr>
            <p:ph type="body" sz="quarter" idx="22"/>
          </p:nvPr>
        </p:nvSpPr>
        <p:spPr bwMode="gray"/>
        <p:txBody>
          <a:bodyPr/>
          <a:lstStyle/>
          <a:p>
            <a:r>
              <a:rPr lang="en-US" altLang="zh-CN" dirty="0"/>
              <a:t>2021.9.16</a:t>
            </a:r>
            <a:endParaRPr lang="zh-CN" altLang="en-US" dirty="0"/>
          </a:p>
        </p:txBody>
      </p:sp>
      <p:sp>
        <p:nvSpPr>
          <p:cNvPr id="33" name="Text Placeholder 32"/>
          <p:cNvSpPr>
            <a:spLocks noGrp="1"/>
          </p:cNvSpPr>
          <p:nvPr>
            <p:ph type="body" sz="quarter" idx="23"/>
          </p:nvPr>
        </p:nvSpPr>
        <p:spPr bwMode="gray"/>
        <p:txBody>
          <a:bodyPr/>
          <a:lstStyle/>
          <a:p>
            <a:r>
              <a:rPr lang="zh-CN" altLang="en-US" dirty="0">
                <a:sym typeface="Huawei Sans" panose="020C0503030203020204" pitchFamily="34" charset="0"/>
              </a:rPr>
              <a:t>何军建</a:t>
            </a:r>
            <a:r>
              <a:rPr lang="en-US" altLang="zh-CN" dirty="0">
                <a:sym typeface="Huawei Sans" panose="020C0503030203020204" pitchFamily="34" charset="0"/>
              </a:rPr>
              <a:t>/WX580230</a:t>
            </a:r>
            <a:endParaRPr lang="zh-CN" altLang="en-US" dirty="0">
              <a:sym typeface="Huawei Sans" panose="020C0503030203020204" pitchFamily="34" charset="0"/>
            </a:endParaRPr>
          </a:p>
        </p:txBody>
      </p:sp>
      <p:sp>
        <p:nvSpPr>
          <p:cNvPr id="34" name="Text Placeholder 33"/>
          <p:cNvSpPr>
            <a:spLocks noGrp="1"/>
          </p:cNvSpPr>
          <p:nvPr>
            <p:ph type="body" sz="quarter" idx="24"/>
          </p:nvPr>
        </p:nvSpPr>
        <p:spPr bwMode="gray"/>
        <p:txBody>
          <a:bodyPr/>
          <a:lstStyle/>
          <a:p>
            <a:r>
              <a:rPr lang="zh-CN" altLang="en-US" dirty="0"/>
              <a:t>优化</a:t>
            </a:r>
          </a:p>
        </p:txBody>
      </p:sp>
      <p:sp>
        <p:nvSpPr>
          <p:cNvPr id="35" name="Text Placeholder 34"/>
          <p:cNvSpPr>
            <a:spLocks noGrp="1"/>
          </p:cNvSpPr>
          <p:nvPr>
            <p:ph type="body" sz="quarter" idx="25"/>
          </p:nvPr>
        </p:nvSpPr>
        <p:spPr bwMode="gray"/>
        <p:txBody>
          <a:bodyPr/>
          <a:lstStyle/>
          <a:p>
            <a:endParaRPr lang="zh-CN" altLang="en-US"/>
          </a:p>
        </p:txBody>
      </p:sp>
      <p:sp>
        <p:nvSpPr>
          <p:cNvPr id="36" name="Text Placeholder 35"/>
          <p:cNvSpPr>
            <a:spLocks noGrp="1"/>
          </p:cNvSpPr>
          <p:nvPr>
            <p:ph type="body" sz="quarter" idx="26"/>
          </p:nvPr>
        </p:nvSpPr>
        <p:spPr bwMode="gray"/>
        <p:txBody>
          <a:bodyPr/>
          <a:lstStyle/>
          <a:p>
            <a:endParaRPr lang="zh-CN" altLang="en-US"/>
          </a:p>
        </p:txBody>
      </p:sp>
      <p:sp>
        <p:nvSpPr>
          <p:cNvPr id="37" name="Text Placeholder 36"/>
          <p:cNvSpPr>
            <a:spLocks noGrp="1"/>
          </p:cNvSpPr>
          <p:nvPr>
            <p:ph type="body" sz="quarter" idx="27"/>
          </p:nvPr>
        </p:nvSpPr>
        <p:spPr bwMode="gray"/>
        <p:txBody>
          <a:bodyPr/>
          <a:lstStyle/>
          <a:p>
            <a:endParaRPr lang="zh-CN" altLang="en-US"/>
          </a:p>
        </p:txBody>
      </p:sp>
      <p:sp>
        <p:nvSpPr>
          <p:cNvPr id="38" name="Text Placeholder 37"/>
          <p:cNvSpPr>
            <a:spLocks noGrp="1"/>
          </p:cNvSpPr>
          <p:nvPr>
            <p:ph type="body" sz="quarter" idx="28"/>
          </p:nvPr>
        </p:nvSpPr>
        <p:spPr bwMode="gray"/>
        <p:txBody>
          <a:bodyPr/>
          <a:lstStyle/>
          <a:p>
            <a:endParaRPr lang="zh-CN" altLang="en-US"/>
          </a:p>
        </p:txBody>
      </p:sp>
      <p:sp>
        <p:nvSpPr>
          <p:cNvPr id="39" name="Text Placeholder 38"/>
          <p:cNvSpPr>
            <a:spLocks noGrp="1"/>
          </p:cNvSpPr>
          <p:nvPr>
            <p:ph type="body" sz="quarter" idx="29"/>
          </p:nvPr>
        </p:nvSpPr>
        <p:spPr bwMode="gray"/>
        <p:txBody>
          <a:bodyPr/>
          <a:lstStyle/>
          <a:p>
            <a:endParaRPr lang="zh-CN" altLang="en-US"/>
          </a:p>
        </p:txBody>
      </p:sp>
      <p:sp>
        <p:nvSpPr>
          <p:cNvPr id="40" name="Text Placeholder 39"/>
          <p:cNvSpPr>
            <a:spLocks noGrp="1"/>
          </p:cNvSpPr>
          <p:nvPr>
            <p:ph type="body" sz="quarter" idx="30"/>
          </p:nvPr>
        </p:nvSpPr>
        <p:spPr bwMode="gray"/>
        <p:txBody>
          <a:bodyPr/>
          <a:lstStyle/>
          <a:p>
            <a:endParaRPr lang="zh-CN" altLang="en-US"/>
          </a:p>
        </p:txBody>
      </p:sp>
      <p:sp>
        <p:nvSpPr>
          <p:cNvPr id="41" name="Text Placeholder 40"/>
          <p:cNvSpPr>
            <a:spLocks noGrp="1"/>
          </p:cNvSpPr>
          <p:nvPr>
            <p:ph type="body" sz="quarter" idx="31"/>
          </p:nvPr>
        </p:nvSpPr>
        <p:spPr bwMode="gray"/>
        <p:txBody>
          <a:bodyPr/>
          <a:lstStyle/>
          <a:p>
            <a:endParaRPr lang="zh-CN" altLang="en-US"/>
          </a:p>
        </p:txBody>
      </p:sp>
      <p:sp>
        <p:nvSpPr>
          <p:cNvPr id="42" name="Text Placeholder 41"/>
          <p:cNvSpPr>
            <a:spLocks noGrp="1"/>
          </p:cNvSpPr>
          <p:nvPr>
            <p:ph type="body" sz="quarter" idx="32"/>
          </p:nvPr>
        </p:nvSpPr>
        <p:spPr bwMode="gray"/>
        <p:txBody>
          <a:bodyPr/>
          <a:lstStyle/>
          <a:p>
            <a:endParaRPr lang="zh-CN" altLang="en-US"/>
          </a:p>
        </p:txBody>
      </p:sp>
    </p:spTree>
    <p:extLst>
      <p:ext uri="{BB962C8B-B14F-4D97-AF65-F5344CB8AC3E}">
        <p14:creationId xmlns:p14="http://schemas.microsoft.com/office/powerpoint/2010/main" val="991954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a:sym typeface="Huawei Sans" panose="020C0503030203020204" pitchFamily="34" charset="0"/>
              </a:rPr>
              <a:t>网络运维</a:t>
            </a:r>
            <a:endParaRPr lang="zh-CN" altLang="en-US" dirty="0">
              <a:sym typeface="Huawei Sans" panose="020C0503030203020204" pitchFamily="34" charset="0"/>
            </a:endParaRPr>
          </a:p>
        </p:txBody>
      </p:sp>
    </p:spTree>
    <p:extLst>
      <p:ext uri="{BB962C8B-B14F-4D97-AF65-F5344CB8AC3E}">
        <p14:creationId xmlns:p14="http://schemas.microsoft.com/office/powerpoint/2010/main" val="3699812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要保证网络各项功能正常运行，需要对网络进行日常维护和故障处理，日常维护是预防性的有计划的维护工作，而故障处理则是基于事件触发的维护工作。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良好的日常维护习惯能帮助网络工程师及时发现隐患，做到防患于未然。当设备出现异常或故障时，网络工程师需要及时准确地收集设备运行过程中发生的事件。日常维护和故障处理都离不开网络相关的信息收集。</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本课程介绍日常维护的注意事项以及信息收集常用的工具。</a:t>
            </a: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07162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学完本课程后，您将能够：</a:t>
            </a:r>
          </a:p>
          <a:p>
            <a:pPr lvl="1"/>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描述日常维护的检查项</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描述华为数通产品信息中心的功能特点</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使用常用的维护工具</a:t>
            </a:r>
          </a:p>
        </p:txBody>
      </p:sp>
    </p:spTree>
    <p:extLst>
      <p:ext uri="{BB962C8B-B14F-4D97-AF65-F5344CB8AC3E}">
        <p14:creationId xmlns:p14="http://schemas.microsoft.com/office/powerpoint/2010/main" val="1095786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b="1">
                <a:latin typeface="Huawei Sans" panose="020C0503030203020204" pitchFamily="34" charset="0"/>
                <a:ea typeface="方正兰亭黑简体" panose="02000000000000000000" pitchFamily="2" charset="-122"/>
                <a:sym typeface="Huawei Sans" panose="020C0503030203020204" pitchFamily="34" charset="0"/>
              </a:rPr>
              <a:t>日常维护</a:t>
            </a:r>
            <a:endParaRPr lang="en-US" altLang="zh-CN" b="1">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信息收集工具</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0924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网络维护概述</a:t>
            </a:r>
          </a:p>
        </p:txBody>
      </p:sp>
      <p:sp>
        <p:nvSpPr>
          <p:cNvPr id="4" name="文本占位符 3"/>
          <p:cNvSpPr>
            <a:spLocks noGrp="1"/>
          </p:cNvSpPr>
          <p:nvPr>
            <p:ph type="body" sz="quarter" idx="10"/>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网络的生命周期大致包括了网络规划与设计、网络实施、网络维护及优化等阶段。网络维护可以分为两类：日常维护和故障排除。</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日常维护是为了预防问题发生，尽量减少突发的故障。从故障排除工作中找到的问题原因，可为日常维护工作提供参考。</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网络维护不仅仅是技术问题，而且也是管理问题。日常维护对操作人员的技术要求不高，但对操作的规范性要求比较高。通过日常维护可以得出网络在正常情况下的各种参数，例如网络设备的版本、网络带宽、网络安全等，从而为故障排除工作打下良好的基础。</a:t>
            </a:r>
          </a:p>
          <a:p>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60754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bwMode="gray"/>
        <p:txBody>
          <a:bodyPr/>
          <a:lstStyle/>
          <a:p>
            <a:endParaRPr lang="zh-CN" altLang="en-US"/>
          </a:p>
        </p:txBody>
      </p:sp>
      <p:sp>
        <p:nvSpPr>
          <p:cNvPr id="4" name="Text Placeholder 3"/>
          <p:cNvSpPr>
            <a:spLocks noGrp="1"/>
          </p:cNvSpPr>
          <p:nvPr>
            <p:ph type="body" sz="quarter" idx="10"/>
          </p:nvPr>
        </p:nvSpPr>
        <p:spPr bwMode="gray"/>
        <p:txBody>
          <a:bodyPr/>
          <a:lstStyle/>
          <a:p>
            <a:endParaRPr lang="zh-CN" altLang="en-US"/>
          </a:p>
        </p:txBody>
      </p:sp>
    </p:spTree>
    <p:extLst>
      <p:ext uri="{BB962C8B-B14F-4D97-AF65-F5344CB8AC3E}">
        <p14:creationId xmlns:p14="http://schemas.microsoft.com/office/powerpoint/2010/main" val="1360642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日常维护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内容和方法</a:t>
            </a:r>
          </a:p>
        </p:txBody>
      </p:sp>
      <p:sp>
        <p:nvSpPr>
          <p:cNvPr id="3" name="文本占位符 2"/>
          <p:cNvSpPr>
            <a:spLocks noGrp="1"/>
          </p:cNvSpPr>
          <p:nvPr>
            <p:ph type="body" sz="quarter" idx="10"/>
          </p:nvPr>
        </p:nvSpPr>
        <p:spPr bwMode="gray"/>
        <p:txBody>
          <a:body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日常维护分为设备环境维护和设备软硬件维护两大部分。</a:t>
            </a: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设备运行环境：</a:t>
            </a:r>
          </a:p>
          <a:p>
            <a:pPr lvl="2"/>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硬件运行环境是指设备运行的机房、供电、散热等外部环境，这是设备运行的基础条件。</a:t>
            </a:r>
          </a:p>
          <a:p>
            <a:pPr lvl="2"/>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对于设备环境的维护，工作人员需要亲临现场，甚至借助一些专业工具进行观察、测量。</a:t>
            </a: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设备软硬件运行情况：</a:t>
            </a:r>
          </a:p>
          <a:p>
            <a:pPr lvl="2"/>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设备软硬件运行情况与设备运行的具体业务密切相关。华为数通设备使用了通用的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平台，网络工程师应该掌握</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平台的常用维护命令。</a:t>
            </a:r>
          </a:p>
          <a:p>
            <a:pPr lvl="2"/>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对于设备软硬件的维护，工作人员可以现场操作，也可以远程操作，主要通过设备的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display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命令实现。</a:t>
            </a: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日常维护可以使用以下两种方法：</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现场观测 ：观察设备硬件运行环境。</a:t>
            </a: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远程操作：了解设备软硬件运行情况。</a:t>
            </a:r>
          </a:p>
          <a:p>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8579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日常维护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Checklist</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日常维护工作是有计划的例行工作，因此，针对各项操作整理一份操作清单（</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Checklist</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）是十分必要的。不同网络设备的</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Checklist</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可以参考相应的产品文档。日常维护检查的项目也可由客户自定义。</a:t>
            </a:r>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sz="20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4"/>
          <p:cNvSpPr/>
          <p:nvPr/>
        </p:nvSpPr>
        <p:spPr bwMode="gray">
          <a:xfrm>
            <a:off x="953852" y="4541530"/>
            <a:ext cx="1443157" cy="374571"/>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设备环境检查</a:t>
            </a:r>
          </a:p>
        </p:txBody>
      </p:sp>
      <p:sp>
        <p:nvSpPr>
          <p:cNvPr id="6" name="圆角矩形 5"/>
          <p:cNvSpPr/>
          <p:nvPr/>
        </p:nvSpPr>
        <p:spPr bwMode="gray">
          <a:xfrm>
            <a:off x="3130414" y="4535184"/>
            <a:ext cx="1861463" cy="374571"/>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设备基本信息检查</a:t>
            </a:r>
          </a:p>
        </p:txBody>
      </p:sp>
      <p:sp>
        <p:nvSpPr>
          <p:cNvPr id="7" name="圆角矩形 6"/>
          <p:cNvSpPr/>
          <p:nvPr/>
        </p:nvSpPr>
        <p:spPr bwMode="gray">
          <a:xfrm>
            <a:off x="5790865" y="4518158"/>
            <a:ext cx="1600022"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设备运行检查</a:t>
            </a:r>
          </a:p>
        </p:txBody>
      </p:sp>
      <p:sp>
        <p:nvSpPr>
          <p:cNvPr id="8" name="圆角矩形 7"/>
          <p:cNvSpPr/>
          <p:nvPr/>
        </p:nvSpPr>
        <p:spPr bwMode="gray">
          <a:xfrm>
            <a:off x="8023113" y="4518158"/>
            <a:ext cx="1600022"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接口内容检查</a:t>
            </a:r>
          </a:p>
        </p:txBody>
      </p:sp>
      <p:sp>
        <p:nvSpPr>
          <p:cNvPr id="9" name="圆角矩形 8"/>
          <p:cNvSpPr/>
          <p:nvPr/>
        </p:nvSpPr>
        <p:spPr bwMode="gray">
          <a:xfrm>
            <a:off x="10255361" y="4499874"/>
            <a:ext cx="1140144"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业务检查</a:t>
            </a:r>
          </a:p>
        </p:txBody>
      </p:sp>
      <p:sp>
        <p:nvSpPr>
          <p:cNvPr id="10" name="圆角矩形 9"/>
          <p:cNvSpPr/>
          <p:nvPr/>
        </p:nvSpPr>
        <p:spPr bwMode="gray">
          <a:xfrm>
            <a:off x="5207303" y="2951758"/>
            <a:ext cx="1042821" cy="374571"/>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Checklist</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 name="直接箭头连接符 10"/>
          <p:cNvCxnSpPr>
            <a:endCxn id="5" idx="0"/>
          </p:cNvCxnSpPr>
          <p:nvPr/>
        </p:nvCxnSpPr>
        <p:spPr bwMode="gray">
          <a:xfrm>
            <a:off x="1675431" y="3768732"/>
            <a:ext cx="0" cy="772798"/>
          </a:xfrm>
          <a:prstGeom prst="straightConnector1">
            <a:avLst/>
          </a:prstGeom>
          <a:solidFill>
            <a:srgbClr val="F3FBFE"/>
          </a:solidFill>
          <a:ln w="12700" cap="flat" cmpd="sng" algn="ctr">
            <a:solidFill>
              <a:srgbClr val="56C4D2"/>
            </a:solidFill>
            <a:prstDash val="solid"/>
            <a:miter lim="800000"/>
          </a:ln>
          <a:effectLst/>
        </p:spPr>
      </p:cxnSp>
      <p:cxnSp>
        <p:nvCxnSpPr>
          <p:cNvPr id="12" name="直接箭头连接符 11"/>
          <p:cNvCxnSpPr>
            <a:endCxn id="6" idx="0"/>
          </p:cNvCxnSpPr>
          <p:nvPr/>
        </p:nvCxnSpPr>
        <p:spPr bwMode="gray">
          <a:xfrm>
            <a:off x="4061145" y="3759591"/>
            <a:ext cx="1" cy="775593"/>
          </a:xfrm>
          <a:prstGeom prst="straightConnector1">
            <a:avLst/>
          </a:prstGeom>
          <a:solidFill>
            <a:srgbClr val="F3FBFE"/>
          </a:solidFill>
          <a:ln w="12700" cap="flat" cmpd="sng" algn="ctr">
            <a:solidFill>
              <a:srgbClr val="56C4D2"/>
            </a:solidFill>
            <a:prstDash val="solid"/>
            <a:miter lim="800000"/>
          </a:ln>
          <a:effectLst/>
        </p:spPr>
      </p:cxnSp>
      <p:cxnSp>
        <p:nvCxnSpPr>
          <p:cNvPr id="13" name="直接箭头连接符 12"/>
          <p:cNvCxnSpPr>
            <a:endCxn id="7" idx="0"/>
          </p:cNvCxnSpPr>
          <p:nvPr/>
        </p:nvCxnSpPr>
        <p:spPr bwMode="gray">
          <a:xfrm>
            <a:off x="6590876" y="3777874"/>
            <a:ext cx="0" cy="740284"/>
          </a:xfrm>
          <a:prstGeom prst="straightConnector1">
            <a:avLst/>
          </a:prstGeom>
          <a:solidFill>
            <a:srgbClr val="F3FBFE"/>
          </a:solidFill>
          <a:ln w="12700" cap="flat" cmpd="sng" algn="ctr">
            <a:solidFill>
              <a:srgbClr val="56C4D2"/>
            </a:solidFill>
            <a:prstDash val="solid"/>
            <a:miter lim="800000"/>
          </a:ln>
          <a:effectLst/>
        </p:spPr>
      </p:cxnSp>
      <p:cxnSp>
        <p:nvCxnSpPr>
          <p:cNvPr id="14" name="直接箭头连接符 13"/>
          <p:cNvCxnSpPr>
            <a:endCxn id="8" idx="0"/>
          </p:cNvCxnSpPr>
          <p:nvPr/>
        </p:nvCxnSpPr>
        <p:spPr bwMode="gray">
          <a:xfrm>
            <a:off x="8823124" y="3759591"/>
            <a:ext cx="0" cy="758567"/>
          </a:xfrm>
          <a:prstGeom prst="straightConnector1">
            <a:avLst/>
          </a:prstGeom>
          <a:solidFill>
            <a:srgbClr val="F3FBFE"/>
          </a:solidFill>
          <a:ln w="12700" cap="flat" cmpd="sng" algn="ctr">
            <a:solidFill>
              <a:srgbClr val="56C4D2"/>
            </a:solidFill>
            <a:prstDash val="solid"/>
            <a:miter lim="800000"/>
          </a:ln>
          <a:effectLst/>
        </p:spPr>
      </p:cxnSp>
      <p:cxnSp>
        <p:nvCxnSpPr>
          <p:cNvPr id="15" name="直接箭头连接符 14"/>
          <p:cNvCxnSpPr>
            <a:endCxn id="9" idx="0"/>
          </p:cNvCxnSpPr>
          <p:nvPr/>
        </p:nvCxnSpPr>
        <p:spPr bwMode="gray">
          <a:xfrm>
            <a:off x="10825433" y="3759591"/>
            <a:ext cx="0" cy="740283"/>
          </a:xfrm>
          <a:prstGeom prst="straightConnector1">
            <a:avLst/>
          </a:prstGeom>
          <a:solidFill>
            <a:srgbClr val="F3FBFE"/>
          </a:solidFill>
          <a:ln w="12700" cap="flat" cmpd="sng" algn="ctr">
            <a:solidFill>
              <a:srgbClr val="56C4D2"/>
            </a:solidFill>
            <a:prstDash val="solid"/>
            <a:miter lim="800000"/>
          </a:ln>
          <a:effectLst/>
        </p:spPr>
      </p:cxnSp>
      <p:cxnSp>
        <p:nvCxnSpPr>
          <p:cNvPr id="16" name="直接连接符 15"/>
          <p:cNvCxnSpPr>
            <a:stCxn id="10" idx="2"/>
          </p:cNvCxnSpPr>
          <p:nvPr/>
        </p:nvCxnSpPr>
        <p:spPr bwMode="gray">
          <a:xfrm>
            <a:off x="5728714" y="3326329"/>
            <a:ext cx="0" cy="442403"/>
          </a:xfrm>
          <a:prstGeom prst="line">
            <a:avLst/>
          </a:prstGeom>
          <a:solidFill>
            <a:srgbClr val="F3FBFE"/>
          </a:solidFill>
          <a:ln w="12700" cap="flat" cmpd="sng" algn="ctr">
            <a:solidFill>
              <a:srgbClr val="56C4D2"/>
            </a:solidFill>
            <a:prstDash val="solid"/>
            <a:miter lim="800000"/>
          </a:ln>
          <a:effectLst/>
        </p:spPr>
      </p:cxnSp>
      <p:cxnSp>
        <p:nvCxnSpPr>
          <p:cNvPr id="17" name="直接连接符 16"/>
          <p:cNvCxnSpPr/>
          <p:nvPr/>
        </p:nvCxnSpPr>
        <p:spPr bwMode="gray">
          <a:xfrm>
            <a:off x="1675431" y="3768732"/>
            <a:ext cx="9150002" cy="0"/>
          </a:xfrm>
          <a:prstGeom prst="line">
            <a:avLst/>
          </a:prstGeom>
          <a:solidFill>
            <a:srgbClr val="F3FBFE"/>
          </a:solidFill>
          <a:ln w="12700" cap="flat" cmpd="sng" algn="ctr">
            <a:solidFill>
              <a:srgbClr val="56C4D2"/>
            </a:solidFill>
            <a:prstDash val="solid"/>
            <a:miter lim="800000"/>
          </a:ln>
          <a:effectLst/>
        </p:spPr>
      </p:cxnSp>
    </p:spTree>
    <p:extLst>
      <p:ext uri="{BB962C8B-B14F-4D97-AF65-F5344CB8AC3E}">
        <p14:creationId xmlns:p14="http://schemas.microsoft.com/office/powerpoint/2010/main" val="735130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Checklist -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设备环境检查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占位符 2"/>
          <p:cNvSpPr>
            <a:spLocks noGrp="1"/>
          </p:cNvSpPr>
          <p:nvPr>
            <p:ph type="body" sz="quarter" idx="10"/>
          </p:nvPr>
        </p:nvSpPr>
        <p:spPr bwMode="gray">
          <a:xfrm>
            <a:off x="521034" y="989097"/>
            <a:ext cx="11293475" cy="4879805"/>
          </a:xfrm>
        </p:spPr>
        <p:txBody>
          <a:bodyPr/>
          <a:lstStyle/>
          <a:p>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设备运行环境正常是保证设备正常运行的前提。</a:t>
            </a:r>
          </a:p>
          <a:p>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然而实际工作的时候，当有故障发生，并不会第一时间检查设备环境，因为设备环境相比较其他的因素来说，更加的稳定和不容易发生故障。</a:t>
            </a:r>
          </a:p>
          <a:p>
            <a:endParaRPr lang="zh-CN" altLang="en-US" sz="20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sz="20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3"/>
          <p:cNvSpPr/>
          <p:nvPr/>
        </p:nvSpPr>
        <p:spPr bwMode="gray">
          <a:xfrm>
            <a:off x="875897" y="4775491"/>
            <a:ext cx="1470541" cy="646986"/>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设备位置摆放</a:t>
            </a: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是否合理</a:t>
            </a:r>
          </a:p>
        </p:txBody>
      </p:sp>
      <p:sp>
        <p:nvSpPr>
          <p:cNvPr id="5" name="圆角矩形 4"/>
          <p:cNvSpPr/>
          <p:nvPr/>
        </p:nvSpPr>
        <p:spPr bwMode="gray">
          <a:xfrm>
            <a:off x="2829986" y="4741439"/>
            <a:ext cx="1140144"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机房温度</a:t>
            </a:r>
          </a:p>
        </p:txBody>
      </p:sp>
      <p:sp>
        <p:nvSpPr>
          <p:cNvPr id="6" name="圆角矩形 5"/>
          <p:cNvSpPr/>
          <p:nvPr/>
        </p:nvSpPr>
        <p:spPr bwMode="gray">
          <a:xfrm>
            <a:off x="4373757" y="4741439"/>
            <a:ext cx="1140144"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机房湿度</a:t>
            </a:r>
          </a:p>
        </p:txBody>
      </p:sp>
      <p:sp>
        <p:nvSpPr>
          <p:cNvPr id="7" name="圆角矩形 6"/>
          <p:cNvSpPr/>
          <p:nvPr/>
        </p:nvSpPr>
        <p:spPr bwMode="gray">
          <a:xfrm>
            <a:off x="5917528" y="4741438"/>
            <a:ext cx="1630382" cy="715089"/>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机房空调运行</a:t>
            </a: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是否正常</a:t>
            </a:r>
          </a:p>
        </p:txBody>
      </p:sp>
      <p:sp>
        <p:nvSpPr>
          <p:cNvPr id="8" name="圆角矩形 7"/>
          <p:cNvSpPr/>
          <p:nvPr/>
        </p:nvSpPr>
        <p:spPr bwMode="gray">
          <a:xfrm>
            <a:off x="7951537" y="4684715"/>
            <a:ext cx="1140144"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清洁状况</a:t>
            </a:r>
          </a:p>
        </p:txBody>
      </p:sp>
      <p:sp>
        <p:nvSpPr>
          <p:cNvPr id="9" name="圆角矩形 8"/>
          <p:cNvSpPr/>
          <p:nvPr/>
        </p:nvSpPr>
        <p:spPr bwMode="gray">
          <a:xfrm>
            <a:off x="4567751" y="3304900"/>
            <a:ext cx="1600021"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设备环境检查</a:t>
            </a:r>
          </a:p>
        </p:txBody>
      </p:sp>
      <p:cxnSp>
        <p:nvCxnSpPr>
          <p:cNvPr id="10" name="直接箭头连接符 9"/>
          <p:cNvCxnSpPr>
            <a:endCxn id="4" idx="0"/>
          </p:cNvCxnSpPr>
          <p:nvPr/>
        </p:nvCxnSpPr>
        <p:spPr bwMode="gray">
          <a:xfrm>
            <a:off x="1611168" y="4037572"/>
            <a:ext cx="0" cy="737919"/>
          </a:xfrm>
          <a:prstGeom prst="straightConnector1">
            <a:avLst/>
          </a:prstGeom>
          <a:solidFill>
            <a:srgbClr val="F3FBFE"/>
          </a:solidFill>
          <a:ln w="12700" cap="flat" cmpd="sng" algn="ctr">
            <a:solidFill>
              <a:srgbClr val="56C4D2"/>
            </a:solidFill>
            <a:prstDash val="solid"/>
            <a:miter lim="800000"/>
          </a:ln>
          <a:effectLst/>
        </p:spPr>
      </p:cxnSp>
      <p:cxnSp>
        <p:nvCxnSpPr>
          <p:cNvPr id="11" name="直接箭头连接符 10"/>
          <p:cNvCxnSpPr>
            <a:endCxn id="5" idx="0"/>
          </p:cNvCxnSpPr>
          <p:nvPr/>
        </p:nvCxnSpPr>
        <p:spPr bwMode="gray">
          <a:xfrm>
            <a:off x="3394789" y="4037572"/>
            <a:ext cx="5269" cy="703867"/>
          </a:xfrm>
          <a:prstGeom prst="straightConnector1">
            <a:avLst/>
          </a:prstGeom>
          <a:solidFill>
            <a:srgbClr val="F3FBFE"/>
          </a:solidFill>
          <a:ln w="12700" cap="flat" cmpd="sng" algn="ctr">
            <a:solidFill>
              <a:srgbClr val="56C4D2"/>
            </a:solidFill>
            <a:prstDash val="solid"/>
            <a:miter lim="800000"/>
          </a:ln>
          <a:effectLst/>
        </p:spPr>
      </p:cxnSp>
      <p:cxnSp>
        <p:nvCxnSpPr>
          <p:cNvPr id="12" name="直接箭头连接符 11"/>
          <p:cNvCxnSpPr>
            <a:endCxn id="6" idx="0"/>
          </p:cNvCxnSpPr>
          <p:nvPr/>
        </p:nvCxnSpPr>
        <p:spPr bwMode="gray">
          <a:xfrm>
            <a:off x="4942961" y="4037572"/>
            <a:ext cx="868" cy="703867"/>
          </a:xfrm>
          <a:prstGeom prst="straightConnector1">
            <a:avLst/>
          </a:prstGeom>
          <a:solidFill>
            <a:srgbClr val="F3FBFE"/>
          </a:solidFill>
          <a:ln w="12700" cap="flat" cmpd="sng" algn="ctr">
            <a:solidFill>
              <a:srgbClr val="56C4D2"/>
            </a:solidFill>
            <a:prstDash val="solid"/>
            <a:miter lim="800000"/>
          </a:ln>
          <a:effectLst/>
        </p:spPr>
      </p:cxnSp>
      <p:cxnSp>
        <p:nvCxnSpPr>
          <p:cNvPr id="13" name="直接箭头连接符 12"/>
          <p:cNvCxnSpPr>
            <a:endCxn id="7" idx="0"/>
          </p:cNvCxnSpPr>
          <p:nvPr/>
        </p:nvCxnSpPr>
        <p:spPr bwMode="gray">
          <a:xfrm flipH="1">
            <a:off x="6732719" y="4037572"/>
            <a:ext cx="10442" cy="703866"/>
          </a:xfrm>
          <a:prstGeom prst="straightConnector1">
            <a:avLst/>
          </a:prstGeom>
          <a:solidFill>
            <a:srgbClr val="F3FBFE"/>
          </a:solidFill>
          <a:ln w="12700" cap="flat" cmpd="sng" algn="ctr">
            <a:solidFill>
              <a:srgbClr val="56C4D2"/>
            </a:solidFill>
            <a:prstDash val="solid"/>
            <a:miter lim="800000"/>
          </a:ln>
          <a:effectLst/>
        </p:spPr>
      </p:cxnSp>
      <p:cxnSp>
        <p:nvCxnSpPr>
          <p:cNvPr id="14" name="直接箭头连接符 13"/>
          <p:cNvCxnSpPr>
            <a:endCxn id="8" idx="0"/>
          </p:cNvCxnSpPr>
          <p:nvPr/>
        </p:nvCxnSpPr>
        <p:spPr bwMode="gray">
          <a:xfrm>
            <a:off x="8507357" y="4062624"/>
            <a:ext cx="14252" cy="622091"/>
          </a:xfrm>
          <a:prstGeom prst="straightConnector1">
            <a:avLst/>
          </a:prstGeom>
          <a:solidFill>
            <a:srgbClr val="F3FBFE"/>
          </a:solidFill>
          <a:ln w="12700" cap="flat" cmpd="sng" algn="ctr">
            <a:solidFill>
              <a:srgbClr val="56C4D2"/>
            </a:solidFill>
            <a:prstDash val="solid"/>
            <a:miter lim="800000"/>
          </a:ln>
          <a:effectLst/>
        </p:spPr>
      </p:cxnSp>
      <p:sp>
        <p:nvSpPr>
          <p:cNvPr id="15" name="圆角矩形 14"/>
          <p:cNvSpPr/>
          <p:nvPr/>
        </p:nvSpPr>
        <p:spPr bwMode="gray">
          <a:xfrm>
            <a:off x="9262985" y="4669932"/>
            <a:ext cx="1172289" cy="715089"/>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能源系统</a:t>
            </a: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是否正常</a:t>
            </a:r>
          </a:p>
        </p:txBody>
      </p:sp>
      <p:cxnSp>
        <p:nvCxnSpPr>
          <p:cNvPr id="16" name="直接箭头连接符 15"/>
          <p:cNvCxnSpPr>
            <a:endCxn id="15" idx="0"/>
          </p:cNvCxnSpPr>
          <p:nvPr/>
        </p:nvCxnSpPr>
        <p:spPr bwMode="gray">
          <a:xfrm>
            <a:off x="9839049" y="4037572"/>
            <a:ext cx="10081" cy="632360"/>
          </a:xfrm>
          <a:prstGeom prst="straightConnector1">
            <a:avLst/>
          </a:prstGeom>
          <a:solidFill>
            <a:srgbClr val="F3FBFE"/>
          </a:solidFill>
          <a:ln w="12700" cap="flat" cmpd="sng" algn="ctr">
            <a:solidFill>
              <a:srgbClr val="56C4D2"/>
            </a:solidFill>
            <a:prstDash val="solid"/>
            <a:miter lim="800000"/>
          </a:ln>
          <a:effectLst/>
        </p:spPr>
      </p:cxnSp>
      <p:cxnSp>
        <p:nvCxnSpPr>
          <p:cNvPr id="17" name="直接连接符 16"/>
          <p:cNvCxnSpPr>
            <a:stCxn id="9" idx="2"/>
          </p:cNvCxnSpPr>
          <p:nvPr/>
        </p:nvCxnSpPr>
        <p:spPr bwMode="gray">
          <a:xfrm>
            <a:off x="5367762" y="3713523"/>
            <a:ext cx="0" cy="324049"/>
          </a:xfrm>
          <a:prstGeom prst="line">
            <a:avLst/>
          </a:prstGeom>
          <a:solidFill>
            <a:srgbClr val="F3FBFE"/>
          </a:solidFill>
          <a:ln w="12700" cap="flat" cmpd="sng" algn="ctr">
            <a:solidFill>
              <a:srgbClr val="56C4D2"/>
            </a:solidFill>
            <a:prstDash val="solid"/>
            <a:miter lim="800000"/>
          </a:ln>
          <a:effectLst/>
        </p:spPr>
      </p:cxnSp>
      <p:cxnSp>
        <p:nvCxnSpPr>
          <p:cNvPr id="18" name="直接连接符 17"/>
          <p:cNvCxnSpPr/>
          <p:nvPr/>
        </p:nvCxnSpPr>
        <p:spPr bwMode="gray">
          <a:xfrm>
            <a:off x="1611168" y="4037572"/>
            <a:ext cx="9590232" cy="0"/>
          </a:xfrm>
          <a:prstGeom prst="line">
            <a:avLst/>
          </a:prstGeom>
          <a:solidFill>
            <a:srgbClr val="F3FBFE"/>
          </a:solidFill>
          <a:ln w="12700" cap="flat" cmpd="sng" algn="ctr">
            <a:solidFill>
              <a:srgbClr val="56C4D2"/>
            </a:solidFill>
            <a:prstDash val="solid"/>
            <a:miter lim="800000"/>
          </a:ln>
          <a:effectLst/>
        </p:spPr>
      </p:cxnSp>
      <p:sp>
        <p:nvSpPr>
          <p:cNvPr id="20" name="圆角矩形 19"/>
          <p:cNvSpPr/>
          <p:nvPr/>
        </p:nvSpPr>
        <p:spPr bwMode="gray">
          <a:xfrm>
            <a:off x="10855877" y="4659663"/>
            <a:ext cx="691997" cy="715089"/>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 name="直接箭头连接符 20"/>
          <p:cNvCxnSpPr/>
          <p:nvPr/>
        </p:nvCxnSpPr>
        <p:spPr bwMode="gray">
          <a:xfrm>
            <a:off x="11201400" y="4037572"/>
            <a:ext cx="0" cy="632360"/>
          </a:xfrm>
          <a:prstGeom prst="straightConnector1">
            <a:avLst/>
          </a:prstGeom>
          <a:solidFill>
            <a:srgbClr val="F3FBFE"/>
          </a:solidFill>
          <a:ln w="12700" cap="flat" cmpd="sng" algn="ctr">
            <a:solidFill>
              <a:srgbClr val="56C4D2"/>
            </a:solidFill>
            <a:prstDash val="solid"/>
            <a:miter lim="800000"/>
          </a:ln>
          <a:effectLst/>
        </p:spPr>
      </p:cxnSp>
    </p:spTree>
    <p:extLst>
      <p:ext uri="{BB962C8B-B14F-4D97-AF65-F5344CB8AC3E}">
        <p14:creationId xmlns:p14="http://schemas.microsoft.com/office/powerpoint/2010/main" val="436332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Checklist -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设备环境检查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4272295958"/>
              </p:ext>
            </p:extLst>
          </p:nvPr>
        </p:nvGraphicFramePr>
        <p:xfrm>
          <a:off x="468317" y="1433464"/>
          <a:ext cx="11277595" cy="4374931"/>
        </p:xfrm>
        <a:graphic>
          <a:graphicData uri="http://schemas.openxmlformats.org/drawingml/2006/table">
            <a:tbl>
              <a:tblPr>
                <a:tableStyleId>{72833802-FEF1-4C79-8D5D-14CF1EAF98D9}</a:tableStyleId>
              </a:tblPr>
              <a:tblGrid>
                <a:gridCol w="2039302">
                  <a:extLst>
                    <a:ext uri="{9D8B030D-6E8A-4147-A177-3AD203B41FA5}">
                      <a16:colId xmlns:a16="http://schemas.microsoft.com/office/drawing/2014/main" val="20000"/>
                    </a:ext>
                  </a:extLst>
                </a:gridCol>
                <a:gridCol w="2039302">
                  <a:extLst>
                    <a:ext uri="{9D8B030D-6E8A-4147-A177-3AD203B41FA5}">
                      <a16:colId xmlns:a16="http://schemas.microsoft.com/office/drawing/2014/main" val="20001"/>
                    </a:ext>
                  </a:extLst>
                </a:gridCol>
                <a:gridCol w="7198991">
                  <a:extLst>
                    <a:ext uri="{9D8B030D-6E8A-4147-A177-3AD203B41FA5}">
                      <a16:colId xmlns:a16="http://schemas.microsoft.com/office/drawing/2014/main" val="20002"/>
                    </a:ext>
                  </a:extLst>
                </a:gridCol>
              </a:tblGrid>
              <a:tr h="378671">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检查项 </a:t>
                      </a:r>
                      <a:endParaRPr lang="en-US" altLang="zh-CN"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565" marR="5565" marT="556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方法</a:t>
                      </a:r>
                      <a:r>
                        <a:rPr lang="en-US" altLang="zh-CN"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工具 </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565" marR="5565" marT="556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评估标准和说明 </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565" marR="5565" marT="556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42052">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设备摆放位置</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观察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565" marR="5565" marT="556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设备应放在通风、干燥的环境中，且放置位置牢固、平整。设备周围不得有杂物堆积。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42052">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机房温度状况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观察</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温度计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565" marR="5565" marT="556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通常要求机房长期工作环境温度：</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0℃~45℃</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；短期工作环境温度：</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-5</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~55</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42052">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机房湿度状况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观察</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湿度计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565" marR="5565" marT="556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通常机房的长期工作环境相对湿度应在</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5%RH~85%RH</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之间，不结露；短期工作环境相对湿度应在</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0%RH~95%RH</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之间，不结露。</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42052">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机房内空调运行是否正常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观察</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空调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565" marR="5565" marT="556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空调可持续稳定运行，使机房的温度和湿度保持在设备规定范围内。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42052">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清洁状况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观察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565" marR="5565" marT="556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所有项目都应干净整洁无明显尘土附着。注意防尘网的清洁状况，及时清洗或更换，以免影响机柜门及风扇框的通风、散热。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42052">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散热情况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观察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565" marR="5565" marT="556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设备正常工作时，要求保持风扇正常运转（清理风扇期间除外），擅自关闭风扇会引起设备温度升高，并可能损坏单板。不要在设备子架上通风口处放置杂物，还应定期清理风扇的防尘网。</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42052">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线缆布放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观察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565" marR="5565" marT="556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电源线与业务线缆分开布放。电源线布放整齐、有序。业务线缆布放整齐、有序。</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线缆标签清晰、准确，符合规范。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42052">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接地方式及接地电阻是否符合要求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观察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565" marR="5565" marT="556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一般要求机房的工作地、保护地、建筑防雷地分开设置，因机房条件限制，可采用联合接地。尤其对于户外使用的设备，设备接地非常重要，如果未接地容易造成雷击损坏。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42052">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供电系统是否正常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观察</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电压表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565" marR="5565" marT="556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要求供电系统运行稳定。直流额定电压范围为</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–48V DC~–60V</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。交流额定电压范围为</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100V~240V</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42052">
                <a:tc>
                  <a:txBody>
                    <a:bodyPr/>
                    <a:lstStyle/>
                    <a:p>
                      <a:pPr algn="l" rtl="0"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rtl="0"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565" marR="5565" marT="556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rtl="0"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127150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Checklist -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设备基本信息检查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设备基本信息检查包括软件版本检查、</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License</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检查、设备存储空间等信息。</a:t>
            </a:r>
          </a:p>
        </p:txBody>
      </p:sp>
      <p:sp>
        <p:nvSpPr>
          <p:cNvPr id="4" name="圆角矩形 3"/>
          <p:cNvSpPr/>
          <p:nvPr/>
        </p:nvSpPr>
        <p:spPr bwMode="gray">
          <a:xfrm>
            <a:off x="574980" y="4117724"/>
            <a:ext cx="1652310" cy="374571"/>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设备运行的版本</a:t>
            </a:r>
          </a:p>
        </p:txBody>
      </p:sp>
      <p:sp>
        <p:nvSpPr>
          <p:cNvPr id="5" name="圆角矩形 4"/>
          <p:cNvSpPr/>
          <p:nvPr/>
        </p:nvSpPr>
        <p:spPr bwMode="gray">
          <a:xfrm>
            <a:off x="2702278" y="4093330"/>
            <a:ext cx="1377672"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检查软件包</a:t>
            </a:r>
          </a:p>
        </p:txBody>
      </p:sp>
      <p:sp>
        <p:nvSpPr>
          <p:cNvPr id="6" name="圆角矩形 5"/>
          <p:cNvSpPr/>
          <p:nvPr/>
        </p:nvSpPr>
        <p:spPr bwMode="gray">
          <a:xfrm>
            <a:off x="4594895" y="4093330"/>
            <a:ext cx="1431719"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License</a:t>
            </a: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信息</a:t>
            </a:r>
          </a:p>
        </p:txBody>
      </p:sp>
      <p:sp>
        <p:nvSpPr>
          <p:cNvPr id="7" name="圆角矩形 6"/>
          <p:cNvSpPr/>
          <p:nvPr/>
        </p:nvSpPr>
        <p:spPr bwMode="gray">
          <a:xfrm>
            <a:off x="6425096" y="4085141"/>
            <a:ext cx="1600022"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检查补丁信息</a:t>
            </a:r>
          </a:p>
        </p:txBody>
      </p:sp>
      <p:sp>
        <p:nvSpPr>
          <p:cNvPr id="8" name="圆角矩形 7"/>
          <p:cNvSpPr/>
          <p:nvPr/>
        </p:nvSpPr>
        <p:spPr bwMode="gray">
          <a:xfrm>
            <a:off x="8404809" y="4093330"/>
            <a:ext cx="1600022"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检查系统时间</a:t>
            </a:r>
          </a:p>
        </p:txBody>
      </p:sp>
      <p:sp>
        <p:nvSpPr>
          <p:cNvPr id="9" name="圆角矩形 8"/>
          <p:cNvSpPr/>
          <p:nvPr/>
        </p:nvSpPr>
        <p:spPr bwMode="gray">
          <a:xfrm>
            <a:off x="4493770" y="2659742"/>
            <a:ext cx="2249177"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设备基本信息检查</a:t>
            </a:r>
          </a:p>
        </p:txBody>
      </p:sp>
      <p:sp>
        <p:nvSpPr>
          <p:cNvPr id="10" name="圆角矩形 9"/>
          <p:cNvSpPr/>
          <p:nvPr/>
        </p:nvSpPr>
        <p:spPr bwMode="gray">
          <a:xfrm>
            <a:off x="10724659" y="4095115"/>
            <a:ext cx="379892" cy="405051"/>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 name="直接连接符 10"/>
          <p:cNvCxnSpPr>
            <a:stCxn id="9" idx="2"/>
          </p:cNvCxnSpPr>
          <p:nvPr/>
        </p:nvCxnSpPr>
        <p:spPr bwMode="gray">
          <a:xfrm>
            <a:off x="5618359" y="3068365"/>
            <a:ext cx="0" cy="432382"/>
          </a:xfrm>
          <a:prstGeom prst="line">
            <a:avLst/>
          </a:prstGeom>
          <a:solidFill>
            <a:srgbClr val="F3FBFE"/>
          </a:solidFill>
          <a:ln w="12700" cap="flat" cmpd="sng" algn="ctr">
            <a:solidFill>
              <a:srgbClr val="56C4D2"/>
            </a:solidFill>
            <a:prstDash val="solid"/>
            <a:miter lim="800000"/>
          </a:ln>
          <a:effectLst/>
        </p:spPr>
      </p:cxnSp>
      <p:cxnSp>
        <p:nvCxnSpPr>
          <p:cNvPr id="12" name="直接连接符 11"/>
          <p:cNvCxnSpPr/>
          <p:nvPr/>
        </p:nvCxnSpPr>
        <p:spPr bwMode="gray">
          <a:xfrm flipV="1">
            <a:off x="1401135" y="3492620"/>
            <a:ext cx="9513469" cy="37017"/>
          </a:xfrm>
          <a:prstGeom prst="line">
            <a:avLst/>
          </a:prstGeom>
          <a:solidFill>
            <a:srgbClr val="F3FBFE"/>
          </a:solidFill>
          <a:ln w="12700" cap="flat" cmpd="sng" algn="ctr">
            <a:solidFill>
              <a:srgbClr val="56C4D2"/>
            </a:solidFill>
            <a:prstDash val="solid"/>
            <a:miter lim="800000"/>
          </a:ln>
          <a:effectLst/>
        </p:spPr>
      </p:cxnSp>
      <p:cxnSp>
        <p:nvCxnSpPr>
          <p:cNvPr id="13" name="直接箭头连接符 12"/>
          <p:cNvCxnSpPr>
            <a:endCxn id="4" idx="0"/>
          </p:cNvCxnSpPr>
          <p:nvPr/>
        </p:nvCxnSpPr>
        <p:spPr bwMode="gray">
          <a:xfrm>
            <a:off x="1401135" y="3539016"/>
            <a:ext cx="0" cy="578708"/>
          </a:xfrm>
          <a:prstGeom prst="straightConnector1">
            <a:avLst/>
          </a:prstGeom>
          <a:solidFill>
            <a:srgbClr val="F3FBFE"/>
          </a:solidFill>
          <a:ln w="12700" cap="flat" cmpd="sng" algn="ctr">
            <a:solidFill>
              <a:srgbClr val="56C4D2"/>
            </a:solidFill>
            <a:prstDash val="solid"/>
            <a:miter lim="800000"/>
          </a:ln>
          <a:effectLst/>
        </p:spPr>
      </p:cxnSp>
      <p:cxnSp>
        <p:nvCxnSpPr>
          <p:cNvPr id="14" name="直接箭头连接符 13"/>
          <p:cNvCxnSpPr>
            <a:endCxn id="5" idx="0"/>
          </p:cNvCxnSpPr>
          <p:nvPr/>
        </p:nvCxnSpPr>
        <p:spPr bwMode="gray">
          <a:xfrm>
            <a:off x="3386260" y="3516037"/>
            <a:ext cx="4854" cy="577293"/>
          </a:xfrm>
          <a:prstGeom prst="straightConnector1">
            <a:avLst/>
          </a:prstGeom>
          <a:solidFill>
            <a:srgbClr val="F3FBFE"/>
          </a:solidFill>
          <a:ln w="12700" cap="flat" cmpd="sng" algn="ctr">
            <a:solidFill>
              <a:srgbClr val="56C4D2"/>
            </a:solidFill>
            <a:prstDash val="solid"/>
            <a:miter lim="800000"/>
          </a:ln>
          <a:effectLst/>
        </p:spPr>
      </p:cxnSp>
      <p:cxnSp>
        <p:nvCxnSpPr>
          <p:cNvPr id="15" name="直接箭头连接符 14"/>
          <p:cNvCxnSpPr/>
          <p:nvPr/>
        </p:nvCxnSpPr>
        <p:spPr bwMode="gray">
          <a:xfrm>
            <a:off x="5307846" y="3512135"/>
            <a:ext cx="1" cy="588563"/>
          </a:xfrm>
          <a:prstGeom prst="straightConnector1">
            <a:avLst/>
          </a:prstGeom>
          <a:solidFill>
            <a:srgbClr val="F3FBFE"/>
          </a:solidFill>
          <a:ln w="12700" cap="flat" cmpd="sng" algn="ctr">
            <a:solidFill>
              <a:srgbClr val="56C4D2"/>
            </a:solidFill>
            <a:prstDash val="solid"/>
            <a:miter lim="800000"/>
          </a:ln>
          <a:effectLst/>
        </p:spPr>
      </p:cxnSp>
      <p:cxnSp>
        <p:nvCxnSpPr>
          <p:cNvPr id="16" name="直接箭头连接符 15"/>
          <p:cNvCxnSpPr>
            <a:endCxn id="7" idx="0"/>
          </p:cNvCxnSpPr>
          <p:nvPr/>
        </p:nvCxnSpPr>
        <p:spPr bwMode="gray">
          <a:xfrm>
            <a:off x="7224579" y="3500426"/>
            <a:ext cx="528" cy="584715"/>
          </a:xfrm>
          <a:prstGeom prst="straightConnector1">
            <a:avLst/>
          </a:prstGeom>
          <a:solidFill>
            <a:srgbClr val="F3FBFE"/>
          </a:solidFill>
          <a:ln w="12700" cap="flat" cmpd="sng" algn="ctr">
            <a:solidFill>
              <a:srgbClr val="56C4D2"/>
            </a:solidFill>
            <a:prstDash val="solid"/>
            <a:miter lim="800000"/>
          </a:ln>
          <a:effectLst/>
        </p:spPr>
      </p:cxnSp>
      <p:cxnSp>
        <p:nvCxnSpPr>
          <p:cNvPr id="17" name="直接箭头连接符 16"/>
          <p:cNvCxnSpPr>
            <a:endCxn id="8" idx="0"/>
          </p:cNvCxnSpPr>
          <p:nvPr/>
        </p:nvCxnSpPr>
        <p:spPr bwMode="gray">
          <a:xfrm>
            <a:off x="9204820" y="3492620"/>
            <a:ext cx="0" cy="600710"/>
          </a:xfrm>
          <a:prstGeom prst="straightConnector1">
            <a:avLst/>
          </a:prstGeom>
          <a:solidFill>
            <a:srgbClr val="F3FBFE"/>
          </a:solidFill>
          <a:ln w="12700" cap="flat" cmpd="sng" algn="ctr">
            <a:solidFill>
              <a:srgbClr val="56C4D2"/>
            </a:solidFill>
            <a:prstDash val="solid"/>
            <a:miter lim="800000"/>
          </a:ln>
          <a:effectLst/>
        </p:spPr>
      </p:cxnSp>
      <p:cxnSp>
        <p:nvCxnSpPr>
          <p:cNvPr id="18" name="直接箭头连接符 17"/>
          <p:cNvCxnSpPr>
            <a:endCxn id="10" idx="0"/>
          </p:cNvCxnSpPr>
          <p:nvPr/>
        </p:nvCxnSpPr>
        <p:spPr bwMode="gray">
          <a:xfrm>
            <a:off x="10914604" y="3500426"/>
            <a:ext cx="1" cy="594689"/>
          </a:xfrm>
          <a:prstGeom prst="straightConnector1">
            <a:avLst/>
          </a:prstGeom>
          <a:solidFill>
            <a:srgbClr val="F3FBFE"/>
          </a:solidFill>
          <a:ln w="12700" cap="flat" cmpd="sng" algn="ctr">
            <a:solidFill>
              <a:srgbClr val="56C4D2"/>
            </a:solidFill>
            <a:prstDash val="solid"/>
            <a:miter lim="800000"/>
          </a:ln>
          <a:effectLst/>
        </p:spPr>
      </p:cxnSp>
      <p:sp>
        <p:nvSpPr>
          <p:cNvPr id="19" name="圆角矩形 18"/>
          <p:cNvSpPr/>
          <p:nvPr/>
        </p:nvSpPr>
        <p:spPr bwMode="gray">
          <a:xfrm>
            <a:off x="1622006" y="4721367"/>
            <a:ext cx="1729109"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检查存储空间</a:t>
            </a:r>
          </a:p>
        </p:txBody>
      </p:sp>
      <p:sp>
        <p:nvSpPr>
          <p:cNvPr id="20" name="圆角矩形 19"/>
          <p:cNvSpPr/>
          <p:nvPr/>
        </p:nvSpPr>
        <p:spPr bwMode="gray">
          <a:xfrm>
            <a:off x="3802272" y="4721367"/>
            <a:ext cx="1140144"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信息中心</a:t>
            </a:r>
          </a:p>
        </p:txBody>
      </p:sp>
      <p:sp>
        <p:nvSpPr>
          <p:cNvPr id="21" name="圆角矩形 20"/>
          <p:cNvSpPr/>
          <p:nvPr/>
        </p:nvSpPr>
        <p:spPr bwMode="gray">
          <a:xfrm>
            <a:off x="5307846" y="4729954"/>
            <a:ext cx="1835319"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检查配置正确性</a:t>
            </a:r>
          </a:p>
        </p:txBody>
      </p:sp>
      <p:sp>
        <p:nvSpPr>
          <p:cNvPr id="22" name="圆角矩形 21"/>
          <p:cNvSpPr/>
          <p:nvPr/>
        </p:nvSpPr>
        <p:spPr bwMode="gray">
          <a:xfrm>
            <a:off x="7408496" y="4729954"/>
            <a:ext cx="1797736"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检查</a:t>
            </a: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开关</a:t>
            </a:r>
          </a:p>
        </p:txBody>
      </p:sp>
      <p:sp>
        <p:nvSpPr>
          <p:cNvPr id="23" name="圆角矩形 22"/>
          <p:cNvSpPr/>
          <p:nvPr/>
        </p:nvSpPr>
        <p:spPr bwMode="gray">
          <a:xfrm>
            <a:off x="9305851" y="4719677"/>
            <a:ext cx="2050971"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检查配置是否保存</a:t>
            </a:r>
          </a:p>
        </p:txBody>
      </p:sp>
      <p:cxnSp>
        <p:nvCxnSpPr>
          <p:cNvPr id="24" name="直接箭头连接符 23"/>
          <p:cNvCxnSpPr>
            <a:endCxn id="19" idx="0"/>
          </p:cNvCxnSpPr>
          <p:nvPr/>
        </p:nvCxnSpPr>
        <p:spPr bwMode="gray">
          <a:xfrm flipH="1">
            <a:off x="2486561" y="3531648"/>
            <a:ext cx="14053" cy="1189719"/>
          </a:xfrm>
          <a:prstGeom prst="straightConnector1">
            <a:avLst/>
          </a:prstGeom>
          <a:solidFill>
            <a:srgbClr val="F3FBFE"/>
          </a:solidFill>
          <a:ln w="12700" cap="flat" cmpd="sng" algn="ctr">
            <a:solidFill>
              <a:srgbClr val="56C4D2"/>
            </a:solidFill>
            <a:prstDash val="solid"/>
            <a:miter lim="800000"/>
          </a:ln>
          <a:effectLst/>
        </p:spPr>
      </p:cxnSp>
      <p:cxnSp>
        <p:nvCxnSpPr>
          <p:cNvPr id="25" name="直接箭头连接符 24"/>
          <p:cNvCxnSpPr/>
          <p:nvPr/>
        </p:nvCxnSpPr>
        <p:spPr bwMode="gray">
          <a:xfrm flipH="1">
            <a:off x="4344128" y="3524851"/>
            <a:ext cx="14053" cy="1189719"/>
          </a:xfrm>
          <a:prstGeom prst="straightConnector1">
            <a:avLst/>
          </a:prstGeom>
          <a:solidFill>
            <a:srgbClr val="F3FBFE"/>
          </a:solidFill>
          <a:ln w="12700" cap="flat" cmpd="sng" algn="ctr">
            <a:solidFill>
              <a:srgbClr val="56C4D2"/>
            </a:solidFill>
            <a:prstDash val="solid"/>
            <a:miter lim="800000"/>
          </a:ln>
          <a:effectLst/>
        </p:spPr>
      </p:cxnSp>
      <p:cxnSp>
        <p:nvCxnSpPr>
          <p:cNvPr id="26" name="直接箭头连接符 25"/>
          <p:cNvCxnSpPr/>
          <p:nvPr/>
        </p:nvCxnSpPr>
        <p:spPr bwMode="gray">
          <a:xfrm flipH="1">
            <a:off x="6225505" y="3519031"/>
            <a:ext cx="14053" cy="1189719"/>
          </a:xfrm>
          <a:prstGeom prst="straightConnector1">
            <a:avLst/>
          </a:prstGeom>
          <a:solidFill>
            <a:srgbClr val="F3FBFE"/>
          </a:solidFill>
          <a:ln w="12700" cap="flat" cmpd="sng" algn="ctr">
            <a:solidFill>
              <a:srgbClr val="56C4D2"/>
            </a:solidFill>
            <a:prstDash val="solid"/>
            <a:miter lim="800000"/>
          </a:ln>
          <a:effectLst/>
        </p:spPr>
      </p:cxnSp>
      <p:cxnSp>
        <p:nvCxnSpPr>
          <p:cNvPr id="27" name="直接箭头连接符 26"/>
          <p:cNvCxnSpPr/>
          <p:nvPr/>
        </p:nvCxnSpPr>
        <p:spPr bwMode="gray">
          <a:xfrm flipH="1">
            <a:off x="8227503" y="3521757"/>
            <a:ext cx="14053" cy="1189719"/>
          </a:xfrm>
          <a:prstGeom prst="straightConnector1">
            <a:avLst/>
          </a:prstGeom>
          <a:solidFill>
            <a:srgbClr val="F3FBFE"/>
          </a:solidFill>
          <a:ln w="12700" cap="flat" cmpd="sng" algn="ctr">
            <a:solidFill>
              <a:srgbClr val="56C4D2"/>
            </a:solidFill>
            <a:prstDash val="solid"/>
            <a:miter lim="800000"/>
          </a:ln>
          <a:effectLst/>
        </p:spPr>
      </p:cxnSp>
      <p:cxnSp>
        <p:nvCxnSpPr>
          <p:cNvPr id="28" name="直接箭头连接符 27"/>
          <p:cNvCxnSpPr/>
          <p:nvPr/>
        </p:nvCxnSpPr>
        <p:spPr bwMode="gray">
          <a:xfrm flipH="1">
            <a:off x="10161057" y="3500747"/>
            <a:ext cx="14053" cy="1189719"/>
          </a:xfrm>
          <a:prstGeom prst="straightConnector1">
            <a:avLst/>
          </a:prstGeom>
          <a:solidFill>
            <a:srgbClr val="F3FBFE"/>
          </a:solidFill>
          <a:ln w="12700" cap="flat" cmpd="sng" algn="ctr">
            <a:solidFill>
              <a:srgbClr val="56C4D2"/>
            </a:solidFill>
            <a:prstDash val="solid"/>
            <a:miter lim="800000"/>
          </a:ln>
          <a:effectLst/>
        </p:spPr>
      </p:cxnSp>
    </p:spTree>
    <p:extLst>
      <p:ext uri="{BB962C8B-B14F-4D97-AF65-F5344CB8AC3E}">
        <p14:creationId xmlns:p14="http://schemas.microsoft.com/office/powerpoint/2010/main" val="2307305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Checklist -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设备基本信息检查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444581724"/>
              </p:ext>
            </p:extLst>
          </p:nvPr>
        </p:nvGraphicFramePr>
        <p:xfrm>
          <a:off x="729624" y="1230012"/>
          <a:ext cx="10745452" cy="4644326"/>
        </p:xfrm>
        <a:graphic>
          <a:graphicData uri="http://schemas.openxmlformats.org/drawingml/2006/table">
            <a:tbl>
              <a:tblPr>
                <a:tableStyleId>{72833802-FEF1-4C79-8D5D-14CF1EAF98D9}</a:tableStyleId>
              </a:tblPr>
              <a:tblGrid>
                <a:gridCol w="2225334">
                  <a:extLst>
                    <a:ext uri="{9D8B030D-6E8A-4147-A177-3AD203B41FA5}">
                      <a16:colId xmlns:a16="http://schemas.microsoft.com/office/drawing/2014/main" val="20000"/>
                    </a:ext>
                  </a:extLst>
                </a:gridCol>
                <a:gridCol w="2374467">
                  <a:extLst>
                    <a:ext uri="{9D8B030D-6E8A-4147-A177-3AD203B41FA5}">
                      <a16:colId xmlns:a16="http://schemas.microsoft.com/office/drawing/2014/main" val="20001"/>
                    </a:ext>
                  </a:extLst>
                </a:gridCol>
                <a:gridCol w="6145651">
                  <a:extLst>
                    <a:ext uri="{9D8B030D-6E8A-4147-A177-3AD203B41FA5}">
                      <a16:colId xmlns:a16="http://schemas.microsoft.com/office/drawing/2014/main" val="20002"/>
                    </a:ext>
                  </a:extLst>
                </a:gridCol>
              </a:tblGrid>
              <a:tr h="317922">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检查项</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检查方法</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评估标准</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29917">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设备运行的版本</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version</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单板</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PCB</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版本号、软件版本号与要求相符。</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26843">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检查软件包</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startup</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检查下述系统文件名是否正确：</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当前启动大包名；下次启动大包名；备份大包名；配置、许可文件、补丁、当前启动文件名和下次启动文件名。</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24404">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License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信息</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license</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license state</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查看</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GTL License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文件名、版本及配置项是否符合要求，确认是否需要升级。</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Master board license state”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项为“</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Normal”。“Master board license state”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项为“</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Demo”</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或“</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Trial”</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时，确认</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License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在有效期内。</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18380">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检查补丁信息</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patch-information</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补丁文件必须与实际要求一致，建议加载华为公司发布的该产品版本对应的最新的补丁文件。</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补丁必须已经生效，即补丁的总数量和正在运行的补丁数量一致。</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01464">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检查系统时间</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clock</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系统时间需要与网络管理服务器的时间保持一致（误差不超过</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5</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分钟）。</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58780">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检查</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Flash/SD</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卡</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CF</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卡空间</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dir</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flash</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dir</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slave#cfcard </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Flash/SD</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卡</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/CF</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卡里的文件都必须是有用的，否则请在用户视图下执行</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delete/unreserved</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命令删除。</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b">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9917">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信息中心</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info-center</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“Information Center”</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项为“</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enabled”。</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9917">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检查配置正确性</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current-configuration</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通过查看当前生效的配置参数，验证设备配置是否正确。</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9917">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检查</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开关</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debugging</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设备正常运行时</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开关应该全部关闭。</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9917">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检查配置是否保存</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compare configuration</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当前的配置和下次启动的配置文件内容一致。</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9917">
                <a:tc>
                  <a:txBody>
                    <a:bodyPr/>
                    <a:lstStyle/>
                    <a:p>
                      <a:pPr algn="l" rtl="0" fontAlgn="ctr"/>
                      <a:r>
                        <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b"/>
                      <a:r>
                        <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rtl="0" fontAlgn="ctr"/>
                      <a:r>
                        <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4096240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429463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Checklist -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设备运行状态检查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在进行设备运行状态检查时，重点关注设备硬件的运行状态，如</a:t>
            </a:r>
            <a:r>
              <a:rPr lang="zh-CN" altLang="en-US" sz="16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板卡、电源、风扇、温度、</a:t>
            </a:r>
            <a:r>
              <a:rPr lang="en-US" altLang="zh-CN" sz="16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CPU</a:t>
            </a:r>
            <a:r>
              <a:rPr lang="zh-CN" altLang="en-US" sz="16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、内存</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等。一般设备上都设置了告警灯，通常硬件故障都会导致告警灯亮（具体状态因产品而异）。因此，也可以通过现场观察发现设备运行异常状态。</a:t>
            </a: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对于板卡、电源、风扇等部件的运行状态，应遵照厂商的相关指导进行判断，有必要时联系厂商进行指导。如果确认为硬件故障，可以联系供应商处理（由于不同项目、不同设备的维保方案不同，有的硬件故障可直接联系厂商更换，有的则需要联系供应商协助处理）。</a:t>
            </a:r>
          </a:p>
          <a:p>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3"/>
          <p:cNvSpPr/>
          <p:nvPr/>
        </p:nvSpPr>
        <p:spPr bwMode="gray">
          <a:xfrm>
            <a:off x="645923" y="4777596"/>
            <a:ext cx="1609825" cy="374571"/>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单板运行状态</a:t>
            </a:r>
          </a:p>
        </p:txBody>
      </p:sp>
      <p:sp>
        <p:nvSpPr>
          <p:cNvPr id="5" name="圆角矩形 4"/>
          <p:cNvSpPr/>
          <p:nvPr/>
        </p:nvSpPr>
        <p:spPr bwMode="gray">
          <a:xfrm>
            <a:off x="2748714" y="4760569"/>
            <a:ext cx="1600022"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设备复位情况</a:t>
            </a:r>
          </a:p>
        </p:txBody>
      </p:sp>
      <p:sp>
        <p:nvSpPr>
          <p:cNvPr id="6" name="圆角矩形 5"/>
          <p:cNvSpPr/>
          <p:nvPr/>
        </p:nvSpPr>
        <p:spPr bwMode="gray">
          <a:xfrm>
            <a:off x="4898294" y="4760569"/>
            <a:ext cx="1140144"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设备温度</a:t>
            </a:r>
          </a:p>
        </p:txBody>
      </p:sp>
      <p:sp>
        <p:nvSpPr>
          <p:cNvPr id="7" name="圆角矩形 6"/>
          <p:cNvSpPr/>
          <p:nvPr/>
        </p:nvSpPr>
        <p:spPr bwMode="gray">
          <a:xfrm>
            <a:off x="6812646" y="4752380"/>
            <a:ext cx="1140144"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风扇状态</a:t>
            </a:r>
          </a:p>
        </p:txBody>
      </p:sp>
      <p:sp>
        <p:nvSpPr>
          <p:cNvPr id="8" name="圆角矩形 7"/>
          <p:cNvSpPr/>
          <p:nvPr/>
        </p:nvSpPr>
        <p:spPr bwMode="gray">
          <a:xfrm>
            <a:off x="8792359" y="4760569"/>
            <a:ext cx="1140144"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电源状态</a:t>
            </a:r>
          </a:p>
        </p:txBody>
      </p:sp>
      <p:sp>
        <p:nvSpPr>
          <p:cNvPr id="9" name="圆角矩形 8"/>
          <p:cNvSpPr/>
          <p:nvPr/>
        </p:nvSpPr>
        <p:spPr bwMode="gray">
          <a:xfrm>
            <a:off x="5109183" y="3326981"/>
            <a:ext cx="1600021"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设备运行检查</a:t>
            </a:r>
          </a:p>
        </p:txBody>
      </p:sp>
      <p:sp>
        <p:nvSpPr>
          <p:cNvPr id="10" name="圆角矩形 9"/>
          <p:cNvSpPr/>
          <p:nvPr/>
        </p:nvSpPr>
        <p:spPr bwMode="gray">
          <a:xfrm>
            <a:off x="10502146" y="4760568"/>
            <a:ext cx="1140143"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日志信息</a:t>
            </a:r>
          </a:p>
        </p:txBody>
      </p:sp>
      <p:cxnSp>
        <p:nvCxnSpPr>
          <p:cNvPr id="11" name="直接连接符 10"/>
          <p:cNvCxnSpPr>
            <a:stCxn id="9" idx="2"/>
          </p:cNvCxnSpPr>
          <p:nvPr/>
        </p:nvCxnSpPr>
        <p:spPr bwMode="gray">
          <a:xfrm>
            <a:off x="5909194" y="3735604"/>
            <a:ext cx="0" cy="432061"/>
          </a:xfrm>
          <a:prstGeom prst="line">
            <a:avLst/>
          </a:prstGeom>
          <a:solidFill>
            <a:srgbClr val="F3FBFE"/>
          </a:solidFill>
          <a:ln w="12700" cap="flat" cmpd="sng" algn="ctr">
            <a:solidFill>
              <a:srgbClr val="56C4D2"/>
            </a:solidFill>
            <a:prstDash val="solid"/>
            <a:miter lim="800000"/>
          </a:ln>
          <a:effectLst/>
        </p:spPr>
      </p:cxnSp>
      <p:cxnSp>
        <p:nvCxnSpPr>
          <p:cNvPr id="12" name="直接连接符 11"/>
          <p:cNvCxnSpPr/>
          <p:nvPr/>
        </p:nvCxnSpPr>
        <p:spPr bwMode="gray">
          <a:xfrm flipV="1">
            <a:off x="1450835" y="4159859"/>
            <a:ext cx="9621380" cy="39030"/>
          </a:xfrm>
          <a:prstGeom prst="line">
            <a:avLst/>
          </a:prstGeom>
          <a:solidFill>
            <a:srgbClr val="F3FBFE"/>
          </a:solidFill>
          <a:ln w="12700" cap="flat" cmpd="sng" algn="ctr">
            <a:solidFill>
              <a:srgbClr val="56C4D2"/>
            </a:solidFill>
            <a:prstDash val="solid"/>
            <a:miter lim="800000"/>
          </a:ln>
          <a:effectLst/>
        </p:spPr>
      </p:cxnSp>
      <p:cxnSp>
        <p:nvCxnSpPr>
          <p:cNvPr id="13" name="直接箭头连接符 12"/>
          <p:cNvCxnSpPr>
            <a:endCxn id="4" idx="0"/>
          </p:cNvCxnSpPr>
          <p:nvPr/>
        </p:nvCxnSpPr>
        <p:spPr bwMode="gray">
          <a:xfrm>
            <a:off x="1450835" y="4198888"/>
            <a:ext cx="1" cy="578708"/>
          </a:xfrm>
          <a:prstGeom prst="straightConnector1">
            <a:avLst/>
          </a:prstGeom>
          <a:solidFill>
            <a:srgbClr val="F3FBFE"/>
          </a:solidFill>
          <a:ln w="12700" cap="flat" cmpd="sng" algn="ctr">
            <a:solidFill>
              <a:srgbClr val="56C4D2"/>
            </a:solidFill>
            <a:prstDash val="solid"/>
            <a:miter lim="800000"/>
          </a:ln>
          <a:effectLst/>
        </p:spPr>
      </p:cxnSp>
      <p:cxnSp>
        <p:nvCxnSpPr>
          <p:cNvPr id="14" name="直接箭头连接符 13"/>
          <p:cNvCxnSpPr>
            <a:endCxn id="5" idx="0"/>
          </p:cNvCxnSpPr>
          <p:nvPr/>
        </p:nvCxnSpPr>
        <p:spPr bwMode="gray">
          <a:xfrm>
            <a:off x="3543871" y="4183276"/>
            <a:ext cx="4854" cy="577293"/>
          </a:xfrm>
          <a:prstGeom prst="straightConnector1">
            <a:avLst/>
          </a:prstGeom>
          <a:solidFill>
            <a:srgbClr val="F3FBFE"/>
          </a:solidFill>
          <a:ln w="12700" cap="flat" cmpd="sng" algn="ctr">
            <a:solidFill>
              <a:srgbClr val="56C4D2"/>
            </a:solidFill>
            <a:prstDash val="solid"/>
            <a:miter lim="800000"/>
          </a:ln>
          <a:effectLst/>
        </p:spPr>
      </p:cxnSp>
      <p:cxnSp>
        <p:nvCxnSpPr>
          <p:cNvPr id="15" name="直接箭头连接符 14"/>
          <p:cNvCxnSpPr/>
          <p:nvPr/>
        </p:nvCxnSpPr>
        <p:spPr bwMode="gray">
          <a:xfrm>
            <a:off x="5465457" y="4179374"/>
            <a:ext cx="1" cy="588563"/>
          </a:xfrm>
          <a:prstGeom prst="straightConnector1">
            <a:avLst/>
          </a:prstGeom>
          <a:solidFill>
            <a:srgbClr val="F3FBFE"/>
          </a:solidFill>
          <a:ln w="12700" cap="flat" cmpd="sng" algn="ctr">
            <a:solidFill>
              <a:srgbClr val="56C4D2"/>
            </a:solidFill>
            <a:prstDash val="solid"/>
            <a:miter lim="800000"/>
          </a:ln>
          <a:effectLst/>
        </p:spPr>
      </p:cxnSp>
      <p:cxnSp>
        <p:nvCxnSpPr>
          <p:cNvPr id="16" name="直接箭头连接符 15"/>
          <p:cNvCxnSpPr>
            <a:endCxn id="7" idx="0"/>
          </p:cNvCxnSpPr>
          <p:nvPr/>
        </p:nvCxnSpPr>
        <p:spPr bwMode="gray">
          <a:xfrm>
            <a:off x="7382190" y="4167665"/>
            <a:ext cx="528" cy="584715"/>
          </a:xfrm>
          <a:prstGeom prst="straightConnector1">
            <a:avLst/>
          </a:prstGeom>
          <a:solidFill>
            <a:srgbClr val="F3FBFE"/>
          </a:solidFill>
          <a:ln w="12700" cap="flat" cmpd="sng" algn="ctr">
            <a:solidFill>
              <a:srgbClr val="56C4D2"/>
            </a:solidFill>
            <a:prstDash val="solid"/>
            <a:miter lim="800000"/>
          </a:ln>
          <a:effectLst/>
        </p:spPr>
      </p:cxnSp>
      <p:cxnSp>
        <p:nvCxnSpPr>
          <p:cNvPr id="17" name="直接箭头连接符 16"/>
          <p:cNvCxnSpPr>
            <a:endCxn id="8" idx="0"/>
          </p:cNvCxnSpPr>
          <p:nvPr/>
        </p:nvCxnSpPr>
        <p:spPr bwMode="gray">
          <a:xfrm>
            <a:off x="9362431" y="4159859"/>
            <a:ext cx="0" cy="600710"/>
          </a:xfrm>
          <a:prstGeom prst="straightConnector1">
            <a:avLst/>
          </a:prstGeom>
          <a:solidFill>
            <a:srgbClr val="F3FBFE"/>
          </a:solidFill>
          <a:ln w="12700" cap="flat" cmpd="sng" algn="ctr">
            <a:solidFill>
              <a:srgbClr val="56C4D2"/>
            </a:solidFill>
            <a:prstDash val="solid"/>
            <a:miter lim="800000"/>
          </a:ln>
          <a:effectLst/>
        </p:spPr>
      </p:cxnSp>
      <p:cxnSp>
        <p:nvCxnSpPr>
          <p:cNvPr id="18" name="直接箭头连接符 17"/>
          <p:cNvCxnSpPr>
            <a:endCxn id="10" idx="0"/>
          </p:cNvCxnSpPr>
          <p:nvPr/>
        </p:nvCxnSpPr>
        <p:spPr bwMode="gray">
          <a:xfrm>
            <a:off x="11072215" y="4167665"/>
            <a:ext cx="3" cy="592903"/>
          </a:xfrm>
          <a:prstGeom prst="straightConnector1">
            <a:avLst/>
          </a:prstGeom>
          <a:solidFill>
            <a:srgbClr val="F3FBFE"/>
          </a:solidFill>
          <a:ln w="12700" cap="flat" cmpd="sng" algn="ctr">
            <a:solidFill>
              <a:srgbClr val="56C4D2"/>
            </a:solidFill>
            <a:prstDash val="solid"/>
            <a:miter lim="800000"/>
          </a:ln>
          <a:effectLst/>
        </p:spPr>
      </p:cxnSp>
      <p:sp>
        <p:nvSpPr>
          <p:cNvPr id="19" name="圆角矩形 18"/>
          <p:cNvSpPr/>
          <p:nvPr/>
        </p:nvSpPr>
        <p:spPr bwMode="gray">
          <a:xfrm>
            <a:off x="2074099" y="5388606"/>
            <a:ext cx="1140144"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告警信息</a:t>
            </a:r>
          </a:p>
        </p:txBody>
      </p:sp>
      <p:sp>
        <p:nvSpPr>
          <p:cNvPr id="20" name="圆角矩形 19"/>
          <p:cNvSpPr/>
          <p:nvPr/>
        </p:nvSpPr>
        <p:spPr bwMode="gray">
          <a:xfrm>
            <a:off x="3970606" y="5388606"/>
            <a:ext cx="1118699"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CPU</a:t>
            </a: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状态</a:t>
            </a:r>
          </a:p>
        </p:txBody>
      </p:sp>
      <p:sp>
        <p:nvSpPr>
          <p:cNvPr id="21" name="圆角矩形 20"/>
          <p:cNvSpPr/>
          <p:nvPr/>
        </p:nvSpPr>
        <p:spPr bwMode="gray">
          <a:xfrm>
            <a:off x="5694280" y="5397193"/>
            <a:ext cx="1377673"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内存占用率</a:t>
            </a:r>
          </a:p>
        </p:txBody>
      </p:sp>
      <p:sp>
        <p:nvSpPr>
          <p:cNvPr id="22" name="圆角矩形 21"/>
          <p:cNvSpPr/>
          <p:nvPr/>
        </p:nvSpPr>
        <p:spPr bwMode="gray">
          <a:xfrm>
            <a:off x="7469700" y="5397193"/>
            <a:ext cx="1990550"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网络服务端口</a:t>
            </a:r>
          </a:p>
        </p:txBody>
      </p:sp>
      <p:cxnSp>
        <p:nvCxnSpPr>
          <p:cNvPr id="23" name="直接箭头连接符 22"/>
          <p:cNvCxnSpPr>
            <a:endCxn id="19" idx="0"/>
          </p:cNvCxnSpPr>
          <p:nvPr/>
        </p:nvCxnSpPr>
        <p:spPr bwMode="gray">
          <a:xfrm flipH="1">
            <a:off x="2644171" y="4198887"/>
            <a:ext cx="14054" cy="1189719"/>
          </a:xfrm>
          <a:prstGeom prst="straightConnector1">
            <a:avLst/>
          </a:prstGeom>
          <a:solidFill>
            <a:srgbClr val="F3FBFE"/>
          </a:solidFill>
          <a:ln w="12700" cap="flat" cmpd="sng" algn="ctr">
            <a:solidFill>
              <a:srgbClr val="56C4D2"/>
            </a:solidFill>
            <a:prstDash val="solid"/>
            <a:miter lim="800000"/>
          </a:ln>
          <a:effectLst/>
        </p:spPr>
      </p:cxnSp>
      <p:cxnSp>
        <p:nvCxnSpPr>
          <p:cNvPr id="24" name="直接箭头连接符 23"/>
          <p:cNvCxnSpPr/>
          <p:nvPr/>
        </p:nvCxnSpPr>
        <p:spPr bwMode="gray">
          <a:xfrm flipH="1">
            <a:off x="4501739" y="4192090"/>
            <a:ext cx="14053" cy="1189719"/>
          </a:xfrm>
          <a:prstGeom prst="straightConnector1">
            <a:avLst/>
          </a:prstGeom>
          <a:solidFill>
            <a:srgbClr val="F3FBFE"/>
          </a:solidFill>
          <a:ln w="12700" cap="flat" cmpd="sng" algn="ctr">
            <a:solidFill>
              <a:srgbClr val="56C4D2"/>
            </a:solidFill>
            <a:prstDash val="solid"/>
            <a:miter lim="800000"/>
          </a:ln>
          <a:effectLst/>
        </p:spPr>
      </p:cxnSp>
      <p:cxnSp>
        <p:nvCxnSpPr>
          <p:cNvPr id="25" name="直接箭头连接符 24"/>
          <p:cNvCxnSpPr/>
          <p:nvPr/>
        </p:nvCxnSpPr>
        <p:spPr bwMode="gray">
          <a:xfrm flipH="1">
            <a:off x="6383116" y="4186270"/>
            <a:ext cx="14053" cy="1189719"/>
          </a:xfrm>
          <a:prstGeom prst="straightConnector1">
            <a:avLst/>
          </a:prstGeom>
          <a:solidFill>
            <a:srgbClr val="F3FBFE"/>
          </a:solidFill>
          <a:ln w="12700" cap="flat" cmpd="sng" algn="ctr">
            <a:solidFill>
              <a:srgbClr val="56C4D2"/>
            </a:solidFill>
            <a:prstDash val="solid"/>
            <a:miter lim="800000"/>
          </a:ln>
          <a:effectLst/>
        </p:spPr>
      </p:cxnSp>
      <p:cxnSp>
        <p:nvCxnSpPr>
          <p:cNvPr id="26" name="直接箭头连接符 25"/>
          <p:cNvCxnSpPr/>
          <p:nvPr/>
        </p:nvCxnSpPr>
        <p:spPr bwMode="gray">
          <a:xfrm flipH="1">
            <a:off x="8385114" y="4188996"/>
            <a:ext cx="14053" cy="1189719"/>
          </a:xfrm>
          <a:prstGeom prst="straightConnector1">
            <a:avLst/>
          </a:prstGeom>
          <a:solidFill>
            <a:srgbClr val="F3FBFE"/>
          </a:solidFill>
          <a:ln w="12700" cap="flat" cmpd="sng" algn="ctr">
            <a:solidFill>
              <a:srgbClr val="56C4D2"/>
            </a:solidFill>
            <a:prstDash val="solid"/>
            <a:miter lim="800000"/>
          </a:ln>
          <a:effectLst/>
        </p:spPr>
      </p:cxnSp>
      <p:sp>
        <p:nvSpPr>
          <p:cNvPr id="27" name="圆角矩形 26"/>
          <p:cNvSpPr/>
          <p:nvPr/>
        </p:nvSpPr>
        <p:spPr bwMode="gray">
          <a:xfrm>
            <a:off x="9651403" y="5407852"/>
            <a:ext cx="1327729" cy="408623"/>
          </a:xfrm>
          <a:prstGeom prst="round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8" name="直接箭头连接符 27"/>
          <p:cNvCxnSpPr/>
          <p:nvPr/>
        </p:nvCxnSpPr>
        <p:spPr bwMode="gray">
          <a:xfrm flipH="1">
            <a:off x="10320780" y="4188996"/>
            <a:ext cx="14053" cy="1189719"/>
          </a:xfrm>
          <a:prstGeom prst="straightConnector1">
            <a:avLst/>
          </a:prstGeom>
          <a:solidFill>
            <a:srgbClr val="F3FBFE"/>
          </a:solidFill>
          <a:ln w="12700" cap="flat" cmpd="sng" algn="ctr">
            <a:solidFill>
              <a:srgbClr val="56C4D2"/>
            </a:solidFill>
            <a:prstDash val="solid"/>
            <a:miter lim="800000"/>
          </a:ln>
          <a:effectLst/>
        </p:spPr>
      </p:cxnSp>
    </p:spTree>
    <p:extLst>
      <p:ext uri="{BB962C8B-B14F-4D97-AF65-F5344CB8AC3E}">
        <p14:creationId xmlns:p14="http://schemas.microsoft.com/office/powerpoint/2010/main" val="3607466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Checklist -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设备运行状态检查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837391581"/>
              </p:ext>
            </p:extLst>
          </p:nvPr>
        </p:nvGraphicFramePr>
        <p:xfrm>
          <a:off x="677423" y="1348824"/>
          <a:ext cx="10849854" cy="4433145"/>
        </p:xfrm>
        <a:graphic>
          <a:graphicData uri="http://schemas.openxmlformats.org/drawingml/2006/table">
            <a:tbl>
              <a:tblPr>
                <a:tableStyleId>{72833802-FEF1-4C79-8D5D-14CF1EAF98D9}</a:tableStyleId>
              </a:tblPr>
              <a:tblGrid>
                <a:gridCol w="1598795">
                  <a:extLst>
                    <a:ext uri="{9D8B030D-6E8A-4147-A177-3AD203B41FA5}">
                      <a16:colId xmlns:a16="http://schemas.microsoft.com/office/drawing/2014/main" val="20000"/>
                    </a:ext>
                  </a:extLst>
                </a:gridCol>
                <a:gridCol w="3137515">
                  <a:extLst>
                    <a:ext uri="{9D8B030D-6E8A-4147-A177-3AD203B41FA5}">
                      <a16:colId xmlns:a16="http://schemas.microsoft.com/office/drawing/2014/main" val="20001"/>
                    </a:ext>
                  </a:extLst>
                </a:gridCol>
                <a:gridCol w="6113544">
                  <a:extLst>
                    <a:ext uri="{9D8B030D-6E8A-4147-A177-3AD203B41FA5}">
                      <a16:colId xmlns:a16="http://schemas.microsoft.com/office/drawing/2014/main" val="20002"/>
                    </a:ext>
                  </a:extLst>
                </a:gridCol>
              </a:tblGrid>
              <a:tr h="364913">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检查项 </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检查方法 </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评估标准 </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584661">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单板运行状态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device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重点关注单板在位信息及状态信息是否正常。</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单板“</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Online”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为“</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Present”</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；单板“</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Power”</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为“</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PowerOn</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；单板“</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Register”</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为“</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Registered”</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；单板“</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Alarm”</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为“</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Normal”。 </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2779">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设备复位情况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reset-reason</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reboot-info</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通过查看复位信息（包括复位时间、复位原因），确认无非正常复位。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9354">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设备温度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temperature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environment</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各模块当前的温度应该在上下限之间。</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40013">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风扇状态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fan</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Present</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项为</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YES</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表示正常。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40013">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电源状态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power</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State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项为</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Supply</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表示正常。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40013">
                <a:tc>
                  <a:txBody>
                    <a:bodyPr/>
                    <a:lstStyle/>
                    <a:p>
                      <a:pPr algn="l" rtl="0"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FTP</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网络服务端口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ftp-server</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不使用的</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FTP</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网络服务端口要关闭。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38497">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告警信息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alarm all</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无告警信息。如果有告警，需要记录，对于严重以上告警需并立即分析并处理。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40013">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CPU</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状态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cpu</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-usage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各模块的</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CPU</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占用率正常。如果</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CPU</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占用率如果超过</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80%</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，建议重点关注。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40013">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内存占用率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memory-usage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内存占用情况正常，如果“</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Memory Using Percentage Is”</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超过</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60</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％时需要关注。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40013">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日志信息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logbuffer</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trapbuffer</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不存在异常信息。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497282">
                <a:tc>
                  <a:txBody>
                    <a:bodyPr/>
                    <a:lstStyle/>
                    <a:p>
                      <a:pPr algn="l" rtl="0" fontAlgn="ctr"/>
                      <a:r>
                        <a:rPr lang="zh-CN" alt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主用板</a:t>
                      </a: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备用板的备份状态 </a:t>
                      </a:r>
                      <a:endParaRPr lang="zh-CN" alt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switchover state</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主备板同时存在时，要同时有主备板的显示状态信息。倒换完成，设备开始正常工作后，主用板需要显示为“</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realtime</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or routine backup”</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表示正常。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40013">
                <a:tc>
                  <a:txBody>
                    <a:bodyPr/>
                    <a:lstStyle/>
                    <a:p>
                      <a:pPr algn="l" rtl="0" fontAlgn="ctr"/>
                      <a:r>
                        <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fontAlgn="ctr"/>
                      <a:r>
                        <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rtl="0" fontAlgn="ctr"/>
                      <a:r>
                        <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392216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Checklist -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设备接口内容检查</a:t>
            </a:r>
          </a:p>
        </p:txBody>
      </p:sp>
      <p:sp>
        <p:nvSpPr>
          <p:cNvPr id="5" name="文本占位符 4"/>
          <p:cNvSpPr>
            <a:spLocks noGrp="1"/>
          </p:cNvSpPr>
          <p:nvPr>
            <p:ph type="body" sz="quarter" idx="10"/>
          </p:nvPr>
        </p:nvSpPr>
        <p:spPr bwMode="gray"/>
        <p:txBody>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网络设备通过接口来交换数据报文。因此，接口的信息非常重要。接口状态异常会影响到网络的功能。</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接口如果出现大量错包，并且在短时间内不断增加，通常是由于链路（包括物理接口）的问题造成的。</a:t>
            </a:r>
          </a:p>
          <a:p>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2774112298"/>
              </p:ext>
            </p:extLst>
          </p:nvPr>
        </p:nvGraphicFramePr>
        <p:xfrm>
          <a:off x="603605" y="2485567"/>
          <a:ext cx="10997488" cy="2882497"/>
        </p:xfrm>
        <a:graphic>
          <a:graphicData uri="http://schemas.openxmlformats.org/drawingml/2006/table">
            <a:tbl>
              <a:tblPr>
                <a:tableStyleId>{72833802-FEF1-4C79-8D5D-14CF1EAF98D9}</a:tableStyleId>
              </a:tblPr>
              <a:tblGrid>
                <a:gridCol w="1991906">
                  <a:extLst>
                    <a:ext uri="{9D8B030D-6E8A-4147-A177-3AD203B41FA5}">
                      <a16:colId xmlns:a16="http://schemas.microsoft.com/office/drawing/2014/main" val="20000"/>
                    </a:ext>
                  </a:extLst>
                </a:gridCol>
                <a:gridCol w="2922294">
                  <a:extLst>
                    <a:ext uri="{9D8B030D-6E8A-4147-A177-3AD203B41FA5}">
                      <a16:colId xmlns:a16="http://schemas.microsoft.com/office/drawing/2014/main" val="20001"/>
                    </a:ext>
                  </a:extLst>
                </a:gridCol>
                <a:gridCol w="6083288">
                  <a:extLst>
                    <a:ext uri="{9D8B030D-6E8A-4147-A177-3AD203B41FA5}">
                      <a16:colId xmlns:a16="http://schemas.microsoft.com/office/drawing/2014/main" val="20002"/>
                    </a:ext>
                  </a:extLst>
                </a:gridCol>
              </a:tblGrid>
              <a:tr h="459923">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检查项 </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检查方法 </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评估标准 </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1908">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接口错包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interface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业务运行时，</a:t>
                      </a:r>
                      <a:r>
                        <a:rPr lang="zh-CN" altLang="en-US" sz="1200" u="none" strike="noStrike" dirty="0">
                          <a:effectLst/>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要检查接口有无错包，包括</a:t>
                      </a:r>
                      <a:r>
                        <a:rPr lang="en-US" altLang="zh-CN" sz="1200" u="none" strike="noStrike" dirty="0">
                          <a:effectLst/>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CRC</a:t>
                      </a:r>
                      <a:r>
                        <a:rPr lang="zh-CN" altLang="en-US" sz="1200" u="none" strike="noStrike" dirty="0">
                          <a:effectLst/>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错包等。 </a:t>
                      </a:r>
                      <a:endParaRPr lang="zh-CN" altLang="en-US" sz="1200" b="0" i="0" u="none" strike="noStrike" dirty="0">
                        <a:solidFill>
                          <a:srgbClr val="000000"/>
                        </a:solidFill>
                        <a:effectLst/>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8687">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接口协商模式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interface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接口协商模式正确，两边接口要一致，不能有半双工模式。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5245">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接口配置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current-configuration interface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接口的配置项合理，如接口双工模式、协商模式、速率、环回配置等。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49644">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接口状态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interface brief</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auto"/>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接口的</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Up/Down</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状态满足规划要求。接口的收发流量是否过大？（长期超过</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70%</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69116">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PoE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供电</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poe</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power-state interface interface-type interface-number</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auto"/>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PoE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供电状态正常，“</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Port power ON/OFF”</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为“</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ON”</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的接口，其“</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Port power status”</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为“</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Delivering-power”。 </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97974">
                <a:tc>
                  <a:txBody>
                    <a:bodyPr/>
                    <a:lstStyle/>
                    <a:p>
                      <a:pPr algn="l" rtl="0" fontAlgn="ctr"/>
                      <a:r>
                        <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ctr"/>
                      <a:r>
                        <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rtl="0" fontAlgn="ctr"/>
                      <a:r>
                        <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30338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Checklist -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业务运行状态检查</a:t>
            </a:r>
          </a:p>
        </p:txBody>
      </p:sp>
      <p:sp>
        <p:nvSpPr>
          <p:cNvPr id="5" name="文本占位符 4"/>
          <p:cNvSpPr>
            <a:spLocks noGrp="1"/>
          </p:cNvSpPr>
          <p:nvPr>
            <p:ph type="body" sz="quarter" idx="10"/>
          </p:nvPr>
        </p:nvSpPr>
        <p:spPr bwMode="gray"/>
        <p:txBody>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业务运行状态主要是指网络协议的运行状态。</a:t>
            </a:r>
          </a:p>
        </p:txBody>
      </p:sp>
      <p:graphicFrame>
        <p:nvGraphicFramePr>
          <p:cNvPr id="4" name="表格 3"/>
          <p:cNvGraphicFramePr>
            <a:graphicFrameLocks noGrp="1"/>
          </p:cNvGraphicFramePr>
          <p:nvPr>
            <p:extLst>
              <p:ext uri="{D42A27DB-BD31-4B8C-83A1-F6EECF244321}">
                <p14:modId xmlns:p14="http://schemas.microsoft.com/office/powerpoint/2010/main" val="3429844836"/>
              </p:ext>
            </p:extLst>
          </p:nvPr>
        </p:nvGraphicFramePr>
        <p:xfrm>
          <a:off x="828772" y="1662409"/>
          <a:ext cx="10547154" cy="4265146"/>
        </p:xfrm>
        <a:graphic>
          <a:graphicData uri="http://schemas.openxmlformats.org/drawingml/2006/table">
            <a:tbl>
              <a:tblPr>
                <a:tableStyleId>{72833802-FEF1-4C79-8D5D-14CF1EAF98D9}</a:tableStyleId>
              </a:tblPr>
              <a:tblGrid>
                <a:gridCol w="1910341">
                  <a:extLst>
                    <a:ext uri="{9D8B030D-6E8A-4147-A177-3AD203B41FA5}">
                      <a16:colId xmlns:a16="http://schemas.microsoft.com/office/drawing/2014/main" val="20000"/>
                    </a:ext>
                  </a:extLst>
                </a:gridCol>
                <a:gridCol w="2143828">
                  <a:extLst>
                    <a:ext uri="{9D8B030D-6E8A-4147-A177-3AD203B41FA5}">
                      <a16:colId xmlns:a16="http://schemas.microsoft.com/office/drawing/2014/main" val="20001"/>
                    </a:ext>
                  </a:extLst>
                </a:gridCol>
                <a:gridCol w="6492985">
                  <a:extLst>
                    <a:ext uri="{9D8B030D-6E8A-4147-A177-3AD203B41FA5}">
                      <a16:colId xmlns:a16="http://schemas.microsoft.com/office/drawing/2014/main" val="20002"/>
                    </a:ext>
                  </a:extLst>
                </a:gridCol>
              </a:tblGrid>
              <a:tr h="366754">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检查项 </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24" marR="7124" marT="7124"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检查方法 </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24" marR="7124" marT="71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400" b="1"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评估标准 </a:t>
                      </a:r>
                      <a:endParaRPr lang="zh-CN" altLang="en-US" sz="1400" b="1" i="0" u="none" strike="noStrike"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24" marR="7124" marT="7124"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15090">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地址表信息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mac-address </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地址表信息正确</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65288">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信息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查看所有</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的基本信息</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78585">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路由表信息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ip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routing-table </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具有默认路由或者其他精确路由，便于故障时候可以远程定位</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对于处于一个网络中同一层次的设备，如果运行相同的路由协议，各设备上的路由条目应该相差不大（因为静态路由的配置差异，路由条目上可能存在一定差异）</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897108">
                <a:tc>
                  <a:txBody>
                    <a:bodyPr/>
                    <a:lstStyle/>
                    <a:p>
                      <a:pPr algn="l" rtl="0"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邻居状态</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邻居状态</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邻居状态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ospf</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peer</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isis</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peer</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bgp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peer</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邻居状态：邻居状态“</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State”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Full”</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或者</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”2-Way”</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邻居状态：邻居状态“</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State”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Up”</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邻居状态：邻居状态“</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State”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Established”</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54965">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状态 </a:t>
                      </a:r>
                      <a:endParaRPr lang="zh-CN" alt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vrrp</a:t>
                      </a:r>
                      <a:b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vrrp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statistics</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备份组中的设备的</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状态“</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State”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不能同时为“</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Master”</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30178">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MSTP</a:t>
                      </a:r>
                      <a:r>
                        <a:rPr lang="zh-CN" alt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状态 </a:t>
                      </a:r>
                      <a:endParaRPr lang="zh-CN" alt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stp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brief</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指定端口和根端口的“</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STP State”</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为“</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FORWARDING”</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48146">
                <a:tc>
                  <a:txBody>
                    <a:bodyPr/>
                    <a:lstStyle/>
                    <a:p>
                      <a:pPr algn="l" rtl="0" fontAlgn="ctr"/>
                      <a:r>
                        <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fontAlgn="ctr"/>
                      <a:r>
                        <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rtl="0" fontAlgn="ctr"/>
                      <a:r>
                        <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10303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日常维护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软件与配置的备份</a:t>
            </a:r>
          </a:p>
        </p:txBody>
      </p:sp>
      <p:sp>
        <p:nvSpPr>
          <p:cNvPr id="3" name="文本占位符 2"/>
          <p:cNvSpPr>
            <a:spLocks noGrp="1"/>
          </p:cNvSpPr>
          <p:nvPr>
            <p:ph type="body" sz="quarter" idx="10"/>
          </p:nvPr>
        </p:nvSpPr>
        <p:spPr bwMode="gray"/>
        <p:txBody>
          <a:body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备份的目的是为了在极端情况下恢复网络功能。备份的实质是把对应的文件传输到备份服务器上，因此方法有很多。通常将设备作为</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FTP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TFTP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客户端，通过命令行将相应的文件传输到服务器上。</a:t>
            </a: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对于配置文件的备份，建议每周例行进行；同时在设备的配置有变更之前，应进行配置文件的备份。</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软件与配置（包括</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License</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文件）都需要备份。备份的目的是为了在极端情况下恢复网络功能。</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当设备因硬件故障无法启动，或更换同型号的设备后，如果没有备份的配置文件，业务将很难快速恢复。</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软件版本也有必要备份，但同一个产品、同一个版本只需要备份一次即可；也可以从厂商官网获取对应的版本文件保存到本地。</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License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文件是一类特殊的文件，它针对具体的产品进行了设置，一旦意外丢失（如误删除），则需要经过厂商的流程重新申请，通常这个流程需要提供一些证明材料（如合同号，设备</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等），因此申请周期也会比较长。如果有备份的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License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文件则可以快速地恢复到设备上。</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23073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日常维护</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信息收集工具</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buSzPct val="60000"/>
              <a:buFont typeface="Wingdings" panose="05000000000000000000" pitchFamily="2" charset="2"/>
              <a:buChar char="n"/>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信息中心</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报文捕获</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LLDP</a:t>
            </a: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流量统计</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10531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信息中心简介</a:t>
            </a:r>
          </a:p>
        </p:txBody>
      </p:sp>
      <p:sp>
        <p:nvSpPr>
          <p:cNvPr id="4" name="文本占位符 3"/>
          <p:cNvSpPr>
            <a:spLocks noGrp="1"/>
          </p:cNvSpPr>
          <p:nvPr>
            <p:ph type="body" sz="quarter" idx="10"/>
          </p:nvPr>
        </p:nvSpPr>
        <p:spPr bwMode="gray"/>
        <p:txBody>
          <a:body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信息中心是设备的信息枢纽。设备产生的</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信息统一发往信息中心，通过信息中心的统一管理和控制，实现信息的灵活输出。</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通过配置信息中心，对设备产生的信息按照信息类型、严重级别等进行分类或筛选，用户可以灵活地控制信息输出到不同的输出方向（例如，控制台、用户终端、日志主机等）。这样，用户或网络管理员可以从不同的方向收集设备产生的信息，方便监控设备运行状态和定位故障。</a:t>
            </a:r>
          </a:p>
        </p:txBody>
      </p:sp>
      <p:graphicFrame>
        <p:nvGraphicFramePr>
          <p:cNvPr id="5" name="表格 4"/>
          <p:cNvGraphicFramePr>
            <a:graphicFrameLocks noGrp="1"/>
          </p:cNvGraphicFramePr>
          <p:nvPr>
            <p:extLst>
              <p:ext uri="{D42A27DB-BD31-4B8C-83A1-F6EECF244321}">
                <p14:modId xmlns:p14="http://schemas.microsoft.com/office/powerpoint/2010/main" val="4133800069"/>
              </p:ext>
            </p:extLst>
          </p:nvPr>
        </p:nvGraphicFramePr>
        <p:xfrm>
          <a:off x="1164432" y="3409950"/>
          <a:ext cx="9875833" cy="2301240"/>
        </p:xfrm>
        <a:graphic>
          <a:graphicData uri="http://schemas.openxmlformats.org/drawingml/2006/table">
            <a:tbl>
              <a:tblPr/>
              <a:tblGrid>
                <a:gridCol w="1465112">
                  <a:extLst>
                    <a:ext uri="{9D8B030D-6E8A-4147-A177-3AD203B41FA5}">
                      <a16:colId xmlns:a16="http://schemas.microsoft.com/office/drawing/2014/main" val="20000"/>
                    </a:ext>
                  </a:extLst>
                </a:gridCol>
                <a:gridCol w="8410721">
                  <a:extLst>
                    <a:ext uri="{9D8B030D-6E8A-4147-A177-3AD203B41FA5}">
                      <a16:colId xmlns:a16="http://schemas.microsoft.com/office/drawing/2014/main" val="20001"/>
                    </a:ext>
                  </a:extLst>
                </a:gridCol>
              </a:tblGrid>
              <a:tr h="279364">
                <a:tc>
                  <a:txBody>
                    <a:bodyPr/>
                    <a:lstStyle/>
                    <a:p>
                      <a:pPr algn="ctr"/>
                      <a:r>
                        <a:rPr lang="zh-CN" altLang="en-US" sz="1600" b="1"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信息类型</a:t>
                      </a:r>
                    </a:p>
                  </a:txBody>
                  <a:tcPr marL="38100" marR="38100" marT="38100" marB="38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内容描述</a:t>
                      </a:r>
                    </a:p>
                  </a:txBody>
                  <a:tcPr marL="38100" marR="38100" marT="38100" marB="3810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sz="14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p>
                  </a:txBody>
                  <a:tcPr marL="38100" marR="38100" marT="38100" marB="38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Font typeface="Arial" panose="020B0604020202020204" pitchFamily="34" charset="0"/>
                        <a:buNone/>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信息主要记录用户操作、系统故障、系统安全等信息：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0">
                        <a:buFont typeface="Arial" panose="020B0604020202020204" pitchFamily="34" charset="0"/>
                        <a:buNone/>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用户日志：</a:t>
                      </a:r>
                      <a:r>
                        <a:rPr lang="zh-CN" altLang="en-US" sz="14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记录用户操作和系统运行信息。</a:t>
                      </a:r>
                    </a:p>
                    <a:p>
                      <a:pPr lvl="0">
                        <a:buFont typeface="Arial" panose="020B0604020202020204" pitchFamily="34" charset="0"/>
                        <a:buNone/>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安全日志：</a:t>
                      </a:r>
                      <a:r>
                        <a:rPr lang="zh-CN" altLang="en-US" sz="14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记录包含账号管理、协议、防攻击和状态等内容的信息。</a:t>
                      </a:r>
                    </a:p>
                    <a:p>
                      <a:pPr lvl="0">
                        <a:buFont typeface="Arial" panose="020B0604020202020204" pitchFamily="34" charset="0"/>
                        <a:buNone/>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诊断日志：</a:t>
                      </a:r>
                      <a:r>
                        <a:rPr lang="zh-CN" altLang="en-US" sz="14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记录协助进行问题定位的信息。</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en-US" sz="1400" dirty="0">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p>
                  </a:txBody>
                  <a:tcPr marL="38100" marR="38100" marT="38100" marB="38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信息是系统检测到故障而产生的通知，主要记录故障等系统状态信息。</a:t>
                      </a: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这类信息不同于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信息，其最大特点是需要及时通知、提醒管理用户和对时间敏感。</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r>
                        <a:rPr lang="en-US" sz="1400" dirty="0">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p>
                  </a:txBody>
                  <a:tcPr marL="38100" marR="38100" marT="38100" marB="38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信息是系统对设备内部运行的信息的输出，主要用于跟踪设备内部运行的状态。</a:t>
                      </a: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只有在设备上打开相应模块的调试开关，设备才能产生</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00735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信息的分级</a:t>
            </a:r>
          </a:p>
        </p:txBody>
      </p:sp>
      <p:sp>
        <p:nvSpPr>
          <p:cNvPr id="3" name="文本占位符 2"/>
          <p:cNvSpPr>
            <a:spLocks noGrp="1"/>
          </p:cNvSpPr>
          <p:nvPr>
            <p:ph type="body" sz="quarter" idx="10"/>
          </p:nvPr>
        </p:nvSpPr>
        <p:spPr bwMode="gray"/>
        <p:txBody>
          <a:body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设备产生信息比较多时，用户较难分辨哪些是设备正常运转的信息，哪些是出现故障需要处理的信息。对信息进行分级，用户可以根据信息的级别进行粗略判断，及时采取措施，屏蔽无需处理的信息。</a:t>
            </a: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根据信息的严重等级或紧急程度，信息分为</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8</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个等级，信息越严重，其严重等级阈值越小。</a:t>
            </a:r>
          </a:p>
          <a:p>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237304905"/>
              </p:ext>
            </p:extLst>
          </p:nvPr>
        </p:nvGraphicFramePr>
        <p:xfrm>
          <a:off x="1088413" y="2724385"/>
          <a:ext cx="10027871" cy="3203170"/>
        </p:xfrm>
        <a:graphic>
          <a:graphicData uri="http://schemas.openxmlformats.org/drawingml/2006/table">
            <a:tbl>
              <a:tblPr/>
              <a:tblGrid>
                <a:gridCol w="1065008">
                  <a:extLst>
                    <a:ext uri="{9D8B030D-6E8A-4147-A177-3AD203B41FA5}">
                      <a16:colId xmlns:a16="http://schemas.microsoft.com/office/drawing/2014/main" val="20000"/>
                    </a:ext>
                  </a:extLst>
                </a:gridCol>
                <a:gridCol w="1323191">
                  <a:extLst>
                    <a:ext uri="{9D8B030D-6E8A-4147-A177-3AD203B41FA5}">
                      <a16:colId xmlns:a16="http://schemas.microsoft.com/office/drawing/2014/main" val="20001"/>
                    </a:ext>
                  </a:extLst>
                </a:gridCol>
                <a:gridCol w="7639672">
                  <a:extLst>
                    <a:ext uri="{9D8B030D-6E8A-4147-A177-3AD203B41FA5}">
                      <a16:colId xmlns:a16="http://schemas.microsoft.com/office/drawing/2014/main" val="20002"/>
                    </a:ext>
                  </a:extLst>
                </a:gridCol>
              </a:tblGrid>
              <a:tr h="431964">
                <a:tc>
                  <a:txBody>
                    <a:bodyPr/>
                    <a:lstStyle/>
                    <a:p>
                      <a:pPr algn="ctr"/>
                      <a:r>
                        <a:rPr lang="zh-CN" altLang="en-US" sz="1400" b="1"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显示值</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400" b="1" kern="1200" dirty="0">
                          <a:solidFill>
                            <a:sysClr val="windowText" lastClr="000000"/>
                          </a:solidFill>
                          <a:latin typeface="Huawei Sans" panose="020C0503030203020204" pitchFamily="34" charset="0"/>
                          <a:ea typeface="方正兰亭黑简体" panose="02000000000000000000" pitchFamily="2" charset="-122"/>
                          <a:cs typeface="+mn-cs"/>
                          <a:sym typeface="Huawei Sans" panose="020C0503030203020204" pitchFamily="34" charset="0"/>
                        </a:rPr>
                        <a:t>严重等级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400" b="1" kern="1200" dirty="0">
                          <a:solidFill>
                            <a:sysClr val="windowText" lastClr="000000"/>
                          </a:solidFill>
                          <a:latin typeface="Huawei Sans" panose="020C0503030203020204" pitchFamily="34" charset="0"/>
                          <a:ea typeface="方正兰亭黑简体" panose="02000000000000000000" pitchFamily="2" charset="-122"/>
                          <a:cs typeface="+mn-cs"/>
                          <a:sym typeface="Huawei Sans" panose="020C0503030203020204" pitchFamily="34" charset="0"/>
                        </a:rPr>
                        <a:t>描述</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9058">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0</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Emergencies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设备致命的异常，系统已经无法恢复正常，必须重启设备。</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84015">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Alert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设备重大的异常，需要立即采取措施。如设备内存占用率达到极限等。</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44914">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2</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Critical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设备的异常，需要采取措施进行处理或原因分析。如设备内存占用率低于下限阈值和</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探测出设备不可达等。</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28135">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3</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错误的操作或设备的异常流程，不会影响后续业务，但是需要关注并分析原因。如用户的错误指令、用户密码错误和检测出错误协议报文等。</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28135">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4</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Warning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设备运转的异常点，可能引起业务故障，需要引起注意。如用户关闭路由进程、</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探测的一次报文丢失和检测出错误协议报文等。</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90789">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5</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Notification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设备正常运转的关键操作信息。如端口</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shutdown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、邻居发现和协议状态机的正常跳转等。</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84015">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6</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Informational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设备正常运转的一般性操作信息。如用户使用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display</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命令等。</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84015">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7</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Debugging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设备正常运转的一般性信息，用户无需关注。</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84981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信息的输出</a:t>
            </a:r>
          </a:p>
        </p:txBody>
      </p:sp>
      <p:sp>
        <p:nvSpPr>
          <p:cNvPr id="3" name="文本占位符 2"/>
          <p:cNvSpPr>
            <a:spLocks noGrp="1"/>
          </p:cNvSpPr>
          <p:nvPr>
            <p:ph type="body" sz="quarter" idx="10"/>
          </p:nvPr>
        </p:nvSpPr>
        <p:spPr bwMode="gray"/>
        <p:txBody>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设备产生的信息可以向远程终端、控制台、</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缓冲区、日志文件、</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SNMP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代理等方向输出信息。为了便于各个方向信息的输出控制，信息中心定义了</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条信息通道，通道之间独立输出，互不影响。</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Can 225">
            <a:extLst>
              <a:ext uri="{FF2B5EF4-FFF2-40B4-BE49-F238E27FC236}">
                <a16:creationId xmlns:a16="http://schemas.microsoft.com/office/drawing/2014/main" id="{33880764-BEFC-48B5-B6D4-7A6A82E01A14}"/>
              </a:ext>
            </a:extLst>
          </p:cNvPr>
          <p:cNvSpPr/>
          <p:nvPr/>
        </p:nvSpPr>
        <p:spPr bwMode="gray">
          <a:xfrm rot="5400000">
            <a:off x="6005497" y="1367492"/>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Can 9">
            <a:extLst>
              <a:ext uri="{FF2B5EF4-FFF2-40B4-BE49-F238E27FC236}">
                <a16:creationId xmlns:a16="http://schemas.microsoft.com/office/drawing/2014/main" id="{6FA1A2FD-A115-4A43-98B9-2B7D85FFC239}"/>
              </a:ext>
            </a:extLst>
          </p:cNvPr>
          <p:cNvSpPr/>
          <p:nvPr/>
        </p:nvSpPr>
        <p:spPr bwMode="gray">
          <a:xfrm rot="5400000">
            <a:off x="6005493" y="3893384"/>
            <a:ext cx="253196" cy="1614471"/>
          </a:xfrm>
          <a:prstGeom prst="can">
            <a:avLst>
              <a:gd name="adj" fmla="val 40000"/>
            </a:avLst>
          </a:prstGeom>
          <a:solidFill>
            <a:schemeClr val="bg1"/>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Can 9">
            <a:extLst>
              <a:ext uri="{FF2B5EF4-FFF2-40B4-BE49-F238E27FC236}">
                <a16:creationId xmlns:a16="http://schemas.microsoft.com/office/drawing/2014/main" id="{FEE14B20-0500-4F8B-8FA5-A945045CF1ED}"/>
              </a:ext>
            </a:extLst>
          </p:cNvPr>
          <p:cNvSpPr/>
          <p:nvPr/>
        </p:nvSpPr>
        <p:spPr bwMode="gray">
          <a:xfrm rot="5400000">
            <a:off x="6005497" y="4314366"/>
            <a:ext cx="253196" cy="1614471"/>
          </a:xfrm>
          <a:prstGeom prst="can">
            <a:avLst>
              <a:gd name="adj" fmla="val 40000"/>
            </a:avLst>
          </a:prstGeom>
          <a:solidFill>
            <a:schemeClr val="bg1"/>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Can 9">
            <a:extLst>
              <a:ext uri="{FF2B5EF4-FFF2-40B4-BE49-F238E27FC236}">
                <a16:creationId xmlns:a16="http://schemas.microsoft.com/office/drawing/2014/main" id="{2A74143D-6381-4463-9281-7F49EE9C3C2F}"/>
              </a:ext>
            </a:extLst>
          </p:cNvPr>
          <p:cNvSpPr/>
          <p:nvPr/>
        </p:nvSpPr>
        <p:spPr bwMode="gray">
          <a:xfrm rot="5400000">
            <a:off x="6005497" y="4735348"/>
            <a:ext cx="253196" cy="1614471"/>
          </a:xfrm>
          <a:prstGeom prst="can">
            <a:avLst>
              <a:gd name="adj" fmla="val 40000"/>
            </a:avLst>
          </a:prstGeom>
          <a:solidFill>
            <a:schemeClr val="bg1"/>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Can 9">
            <a:extLst>
              <a:ext uri="{FF2B5EF4-FFF2-40B4-BE49-F238E27FC236}">
                <a16:creationId xmlns:a16="http://schemas.microsoft.com/office/drawing/2014/main" id="{3061B6DD-8190-4527-AFE4-9A5A38D86D33}"/>
              </a:ext>
            </a:extLst>
          </p:cNvPr>
          <p:cNvSpPr/>
          <p:nvPr/>
        </p:nvSpPr>
        <p:spPr bwMode="gray">
          <a:xfrm rot="5400000">
            <a:off x="6005496" y="5156334"/>
            <a:ext cx="253196" cy="1614471"/>
          </a:xfrm>
          <a:prstGeom prst="can">
            <a:avLst>
              <a:gd name="adj" fmla="val 40000"/>
            </a:avLst>
          </a:prstGeom>
          <a:solidFill>
            <a:schemeClr val="bg1"/>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Can 225">
            <a:extLst>
              <a:ext uri="{FF2B5EF4-FFF2-40B4-BE49-F238E27FC236}">
                <a16:creationId xmlns:a16="http://schemas.microsoft.com/office/drawing/2014/main" id="{EA019D15-ADCF-4B56-875C-E1DA8376B3A5}"/>
              </a:ext>
            </a:extLst>
          </p:cNvPr>
          <p:cNvSpPr/>
          <p:nvPr/>
        </p:nvSpPr>
        <p:spPr bwMode="gray">
          <a:xfrm rot="5400000">
            <a:off x="6005495" y="1788474"/>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Can 225">
            <a:extLst>
              <a:ext uri="{FF2B5EF4-FFF2-40B4-BE49-F238E27FC236}">
                <a16:creationId xmlns:a16="http://schemas.microsoft.com/office/drawing/2014/main" id="{DFD827AC-CD95-447D-9103-932090251FCF}"/>
              </a:ext>
            </a:extLst>
          </p:cNvPr>
          <p:cNvSpPr/>
          <p:nvPr/>
        </p:nvSpPr>
        <p:spPr bwMode="gray">
          <a:xfrm rot="5400000">
            <a:off x="6005494" y="2209456"/>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Can 225">
            <a:extLst>
              <a:ext uri="{FF2B5EF4-FFF2-40B4-BE49-F238E27FC236}">
                <a16:creationId xmlns:a16="http://schemas.microsoft.com/office/drawing/2014/main" id="{ABA94E5A-40C7-4596-BDD1-68AFA2448882}"/>
              </a:ext>
            </a:extLst>
          </p:cNvPr>
          <p:cNvSpPr/>
          <p:nvPr/>
        </p:nvSpPr>
        <p:spPr bwMode="gray">
          <a:xfrm rot="5400000">
            <a:off x="6005493" y="2630438"/>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Can 225">
            <a:extLst>
              <a:ext uri="{FF2B5EF4-FFF2-40B4-BE49-F238E27FC236}">
                <a16:creationId xmlns:a16="http://schemas.microsoft.com/office/drawing/2014/main" id="{47216245-AF67-424F-9863-3E4CB49C99B3}"/>
              </a:ext>
            </a:extLst>
          </p:cNvPr>
          <p:cNvSpPr/>
          <p:nvPr/>
        </p:nvSpPr>
        <p:spPr bwMode="gray">
          <a:xfrm rot="5400000">
            <a:off x="6004446" y="3472402"/>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Can 225">
            <a:extLst>
              <a:ext uri="{FF2B5EF4-FFF2-40B4-BE49-F238E27FC236}">
                <a16:creationId xmlns:a16="http://schemas.microsoft.com/office/drawing/2014/main" id="{D9D150A3-E9E9-497C-AA92-BF5E2C39B68B}"/>
              </a:ext>
            </a:extLst>
          </p:cNvPr>
          <p:cNvSpPr/>
          <p:nvPr/>
        </p:nvSpPr>
        <p:spPr bwMode="gray">
          <a:xfrm rot="5400000">
            <a:off x="6005493" y="3051420"/>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blank-file_1299">
            <a:extLst>
              <a:ext uri="{FF2B5EF4-FFF2-40B4-BE49-F238E27FC236}">
                <a16:creationId xmlns:a16="http://schemas.microsoft.com/office/drawing/2014/main" id="{23B5C088-EDAF-4DEE-B808-6BE9D9AC130F}"/>
              </a:ext>
            </a:extLst>
          </p:cNvPr>
          <p:cNvSpPr>
            <a:spLocks noChangeAspect="1"/>
          </p:cNvSpPr>
          <p:nvPr/>
        </p:nvSpPr>
        <p:spPr bwMode="gray">
          <a:xfrm>
            <a:off x="3047224" y="2750224"/>
            <a:ext cx="303129" cy="393066"/>
          </a:xfrm>
          <a:custGeom>
            <a:avLst/>
            <a:gdLst>
              <a:gd name="T0" fmla="*/ 230 w 267"/>
              <a:gd name="T1" fmla="*/ 56 h 347"/>
              <a:gd name="T2" fmla="*/ 220 w 267"/>
              <a:gd name="T3" fmla="*/ 46 h 347"/>
              <a:gd name="T4" fmla="*/ 211 w 267"/>
              <a:gd name="T5" fmla="*/ 36 h 347"/>
              <a:gd name="T6" fmla="*/ 160 w 267"/>
              <a:gd name="T7" fmla="*/ 0 h 347"/>
              <a:gd name="T8" fmla="*/ 53 w 267"/>
              <a:gd name="T9" fmla="*/ 0 h 347"/>
              <a:gd name="T10" fmla="*/ 0 w 267"/>
              <a:gd name="T11" fmla="*/ 53 h 347"/>
              <a:gd name="T12" fmla="*/ 0 w 267"/>
              <a:gd name="T13" fmla="*/ 293 h 347"/>
              <a:gd name="T14" fmla="*/ 53 w 267"/>
              <a:gd name="T15" fmla="*/ 347 h 347"/>
              <a:gd name="T16" fmla="*/ 213 w 267"/>
              <a:gd name="T17" fmla="*/ 347 h 347"/>
              <a:gd name="T18" fmla="*/ 267 w 267"/>
              <a:gd name="T19" fmla="*/ 293 h 347"/>
              <a:gd name="T20" fmla="*/ 267 w 267"/>
              <a:gd name="T21" fmla="*/ 107 h 347"/>
              <a:gd name="T22" fmla="*/ 230 w 267"/>
              <a:gd name="T23" fmla="*/ 56 h 347"/>
              <a:gd name="T24" fmla="*/ 240 w 267"/>
              <a:gd name="T25" fmla="*/ 293 h 347"/>
              <a:gd name="T26" fmla="*/ 213 w 267"/>
              <a:gd name="T27" fmla="*/ 320 h 347"/>
              <a:gd name="T28" fmla="*/ 53 w 267"/>
              <a:gd name="T29" fmla="*/ 320 h 347"/>
              <a:gd name="T30" fmla="*/ 27 w 267"/>
              <a:gd name="T31" fmla="*/ 293 h 347"/>
              <a:gd name="T32" fmla="*/ 27 w 267"/>
              <a:gd name="T33" fmla="*/ 53 h 347"/>
              <a:gd name="T34" fmla="*/ 53 w 267"/>
              <a:gd name="T35" fmla="*/ 27 h 347"/>
              <a:gd name="T36" fmla="*/ 151 w 267"/>
              <a:gd name="T37" fmla="*/ 27 h 347"/>
              <a:gd name="T38" fmla="*/ 160 w 267"/>
              <a:gd name="T39" fmla="*/ 53 h 347"/>
              <a:gd name="T40" fmla="*/ 160 w 267"/>
              <a:gd name="T41" fmla="*/ 93 h 347"/>
              <a:gd name="T42" fmla="*/ 173 w 267"/>
              <a:gd name="T43" fmla="*/ 107 h 347"/>
              <a:gd name="T44" fmla="*/ 213 w 267"/>
              <a:gd name="T45" fmla="*/ 107 h 347"/>
              <a:gd name="T46" fmla="*/ 240 w 267"/>
              <a:gd name="T47" fmla="*/ 120 h 347"/>
              <a:gd name="T48" fmla="*/ 240 w 267"/>
              <a:gd name="T49" fmla="*/ 29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7" h="347">
                <a:moveTo>
                  <a:pt x="230" y="56"/>
                </a:moveTo>
                <a:cubicBezTo>
                  <a:pt x="227" y="53"/>
                  <a:pt x="224" y="50"/>
                  <a:pt x="220" y="46"/>
                </a:cubicBezTo>
                <a:cubicBezTo>
                  <a:pt x="217" y="43"/>
                  <a:pt x="214" y="40"/>
                  <a:pt x="211" y="36"/>
                </a:cubicBezTo>
                <a:cubicBezTo>
                  <a:pt x="188" y="13"/>
                  <a:pt x="174" y="0"/>
                  <a:pt x="160" y="0"/>
                </a:cubicBezTo>
                <a:lnTo>
                  <a:pt x="53" y="0"/>
                </a:lnTo>
                <a:cubicBezTo>
                  <a:pt x="24" y="0"/>
                  <a:pt x="0" y="24"/>
                  <a:pt x="0" y="53"/>
                </a:cubicBezTo>
                <a:lnTo>
                  <a:pt x="0" y="293"/>
                </a:lnTo>
                <a:cubicBezTo>
                  <a:pt x="0" y="323"/>
                  <a:pt x="24" y="347"/>
                  <a:pt x="53" y="347"/>
                </a:cubicBezTo>
                <a:lnTo>
                  <a:pt x="213" y="347"/>
                </a:lnTo>
                <a:cubicBezTo>
                  <a:pt x="243" y="347"/>
                  <a:pt x="267" y="323"/>
                  <a:pt x="267" y="293"/>
                </a:cubicBezTo>
                <a:lnTo>
                  <a:pt x="267" y="107"/>
                </a:lnTo>
                <a:cubicBezTo>
                  <a:pt x="267" y="93"/>
                  <a:pt x="253" y="79"/>
                  <a:pt x="230" y="56"/>
                </a:cubicBezTo>
                <a:close/>
                <a:moveTo>
                  <a:pt x="240" y="293"/>
                </a:moveTo>
                <a:cubicBezTo>
                  <a:pt x="240" y="308"/>
                  <a:pt x="228" y="320"/>
                  <a:pt x="213" y="320"/>
                </a:cubicBezTo>
                <a:lnTo>
                  <a:pt x="53" y="320"/>
                </a:lnTo>
                <a:cubicBezTo>
                  <a:pt x="39" y="320"/>
                  <a:pt x="27" y="308"/>
                  <a:pt x="27" y="293"/>
                </a:cubicBezTo>
                <a:lnTo>
                  <a:pt x="27" y="53"/>
                </a:lnTo>
                <a:cubicBezTo>
                  <a:pt x="27" y="39"/>
                  <a:pt x="39" y="27"/>
                  <a:pt x="53" y="27"/>
                </a:cubicBezTo>
                <a:lnTo>
                  <a:pt x="151" y="27"/>
                </a:lnTo>
                <a:cubicBezTo>
                  <a:pt x="160" y="29"/>
                  <a:pt x="160" y="41"/>
                  <a:pt x="160" y="53"/>
                </a:cubicBezTo>
                <a:lnTo>
                  <a:pt x="160" y="93"/>
                </a:lnTo>
                <a:cubicBezTo>
                  <a:pt x="160" y="101"/>
                  <a:pt x="166" y="107"/>
                  <a:pt x="173" y="107"/>
                </a:cubicBezTo>
                <a:lnTo>
                  <a:pt x="213" y="107"/>
                </a:lnTo>
                <a:cubicBezTo>
                  <a:pt x="227" y="107"/>
                  <a:pt x="240" y="107"/>
                  <a:pt x="240" y="120"/>
                </a:cubicBezTo>
                <a:lnTo>
                  <a:pt x="240" y="293"/>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blank-file_1299">
            <a:extLst>
              <a:ext uri="{FF2B5EF4-FFF2-40B4-BE49-F238E27FC236}">
                <a16:creationId xmlns:a16="http://schemas.microsoft.com/office/drawing/2014/main" id="{781C9248-F215-41F4-829F-A64D6439B963}"/>
              </a:ext>
            </a:extLst>
          </p:cNvPr>
          <p:cNvSpPr>
            <a:spLocks noChangeAspect="1"/>
          </p:cNvSpPr>
          <p:nvPr/>
        </p:nvSpPr>
        <p:spPr bwMode="gray">
          <a:xfrm>
            <a:off x="3056567" y="3460947"/>
            <a:ext cx="303129" cy="393066"/>
          </a:xfrm>
          <a:custGeom>
            <a:avLst/>
            <a:gdLst>
              <a:gd name="T0" fmla="*/ 230 w 267"/>
              <a:gd name="T1" fmla="*/ 56 h 347"/>
              <a:gd name="T2" fmla="*/ 220 w 267"/>
              <a:gd name="T3" fmla="*/ 46 h 347"/>
              <a:gd name="T4" fmla="*/ 211 w 267"/>
              <a:gd name="T5" fmla="*/ 36 h 347"/>
              <a:gd name="T6" fmla="*/ 160 w 267"/>
              <a:gd name="T7" fmla="*/ 0 h 347"/>
              <a:gd name="T8" fmla="*/ 53 w 267"/>
              <a:gd name="T9" fmla="*/ 0 h 347"/>
              <a:gd name="T10" fmla="*/ 0 w 267"/>
              <a:gd name="T11" fmla="*/ 53 h 347"/>
              <a:gd name="T12" fmla="*/ 0 w 267"/>
              <a:gd name="T13" fmla="*/ 293 h 347"/>
              <a:gd name="T14" fmla="*/ 53 w 267"/>
              <a:gd name="T15" fmla="*/ 347 h 347"/>
              <a:gd name="T16" fmla="*/ 213 w 267"/>
              <a:gd name="T17" fmla="*/ 347 h 347"/>
              <a:gd name="T18" fmla="*/ 267 w 267"/>
              <a:gd name="T19" fmla="*/ 293 h 347"/>
              <a:gd name="T20" fmla="*/ 267 w 267"/>
              <a:gd name="T21" fmla="*/ 107 h 347"/>
              <a:gd name="T22" fmla="*/ 230 w 267"/>
              <a:gd name="T23" fmla="*/ 56 h 347"/>
              <a:gd name="T24" fmla="*/ 240 w 267"/>
              <a:gd name="T25" fmla="*/ 293 h 347"/>
              <a:gd name="T26" fmla="*/ 213 w 267"/>
              <a:gd name="T27" fmla="*/ 320 h 347"/>
              <a:gd name="T28" fmla="*/ 53 w 267"/>
              <a:gd name="T29" fmla="*/ 320 h 347"/>
              <a:gd name="T30" fmla="*/ 27 w 267"/>
              <a:gd name="T31" fmla="*/ 293 h 347"/>
              <a:gd name="T32" fmla="*/ 27 w 267"/>
              <a:gd name="T33" fmla="*/ 53 h 347"/>
              <a:gd name="T34" fmla="*/ 53 w 267"/>
              <a:gd name="T35" fmla="*/ 27 h 347"/>
              <a:gd name="T36" fmla="*/ 151 w 267"/>
              <a:gd name="T37" fmla="*/ 27 h 347"/>
              <a:gd name="T38" fmla="*/ 160 w 267"/>
              <a:gd name="T39" fmla="*/ 53 h 347"/>
              <a:gd name="T40" fmla="*/ 160 w 267"/>
              <a:gd name="T41" fmla="*/ 93 h 347"/>
              <a:gd name="T42" fmla="*/ 173 w 267"/>
              <a:gd name="T43" fmla="*/ 107 h 347"/>
              <a:gd name="T44" fmla="*/ 213 w 267"/>
              <a:gd name="T45" fmla="*/ 107 h 347"/>
              <a:gd name="T46" fmla="*/ 240 w 267"/>
              <a:gd name="T47" fmla="*/ 120 h 347"/>
              <a:gd name="T48" fmla="*/ 240 w 267"/>
              <a:gd name="T49" fmla="*/ 29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7" h="347">
                <a:moveTo>
                  <a:pt x="230" y="56"/>
                </a:moveTo>
                <a:cubicBezTo>
                  <a:pt x="227" y="53"/>
                  <a:pt x="224" y="50"/>
                  <a:pt x="220" y="46"/>
                </a:cubicBezTo>
                <a:cubicBezTo>
                  <a:pt x="217" y="43"/>
                  <a:pt x="214" y="40"/>
                  <a:pt x="211" y="36"/>
                </a:cubicBezTo>
                <a:cubicBezTo>
                  <a:pt x="188" y="13"/>
                  <a:pt x="174" y="0"/>
                  <a:pt x="160" y="0"/>
                </a:cubicBezTo>
                <a:lnTo>
                  <a:pt x="53" y="0"/>
                </a:lnTo>
                <a:cubicBezTo>
                  <a:pt x="24" y="0"/>
                  <a:pt x="0" y="24"/>
                  <a:pt x="0" y="53"/>
                </a:cubicBezTo>
                <a:lnTo>
                  <a:pt x="0" y="293"/>
                </a:lnTo>
                <a:cubicBezTo>
                  <a:pt x="0" y="323"/>
                  <a:pt x="24" y="347"/>
                  <a:pt x="53" y="347"/>
                </a:cubicBezTo>
                <a:lnTo>
                  <a:pt x="213" y="347"/>
                </a:lnTo>
                <a:cubicBezTo>
                  <a:pt x="243" y="347"/>
                  <a:pt x="267" y="323"/>
                  <a:pt x="267" y="293"/>
                </a:cubicBezTo>
                <a:lnTo>
                  <a:pt x="267" y="107"/>
                </a:lnTo>
                <a:cubicBezTo>
                  <a:pt x="267" y="93"/>
                  <a:pt x="253" y="79"/>
                  <a:pt x="230" y="56"/>
                </a:cubicBezTo>
                <a:close/>
                <a:moveTo>
                  <a:pt x="240" y="293"/>
                </a:moveTo>
                <a:cubicBezTo>
                  <a:pt x="240" y="308"/>
                  <a:pt x="228" y="320"/>
                  <a:pt x="213" y="320"/>
                </a:cubicBezTo>
                <a:lnTo>
                  <a:pt x="53" y="320"/>
                </a:lnTo>
                <a:cubicBezTo>
                  <a:pt x="39" y="320"/>
                  <a:pt x="27" y="308"/>
                  <a:pt x="27" y="293"/>
                </a:cubicBezTo>
                <a:lnTo>
                  <a:pt x="27" y="53"/>
                </a:lnTo>
                <a:cubicBezTo>
                  <a:pt x="27" y="39"/>
                  <a:pt x="39" y="27"/>
                  <a:pt x="53" y="27"/>
                </a:cubicBezTo>
                <a:lnTo>
                  <a:pt x="151" y="27"/>
                </a:lnTo>
                <a:cubicBezTo>
                  <a:pt x="160" y="29"/>
                  <a:pt x="160" y="41"/>
                  <a:pt x="160" y="53"/>
                </a:cubicBezTo>
                <a:lnTo>
                  <a:pt x="160" y="93"/>
                </a:lnTo>
                <a:cubicBezTo>
                  <a:pt x="160" y="101"/>
                  <a:pt x="166" y="107"/>
                  <a:pt x="173" y="107"/>
                </a:cubicBezTo>
                <a:lnTo>
                  <a:pt x="213" y="107"/>
                </a:lnTo>
                <a:cubicBezTo>
                  <a:pt x="227" y="107"/>
                  <a:pt x="240" y="107"/>
                  <a:pt x="240" y="120"/>
                </a:cubicBezTo>
                <a:lnTo>
                  <a:pt x="240" y="293"/>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blank-file_1299">
            <a:extLst>
              <a:ext uri="{FF2B5EF4-FFF2-40B4-BE49-F238E27FC236}">
                <a16:creationId xmlns:a16="http://schemas.microsoft.com/office/drawing/2014/main" id="{91669500-5AF8-491E-A7A1-F80DAC09BCFF}"/>
              </a:ext>
            </a:extLst>
          </p:cNvPr>
          <p:cNvSpPr>
            <a:spLocks noChangeAspect="1"/>
          </p:cNvSpPr>
          <p:nvPr/>
        </p:nvSpPr>
        <p:spPr bwMode="gray">
          <a:xfrm>
            <a:off x="3047223" y="4171670"/>
            <a:ext cx="303129" cy="393066"/>
          </a:xfrm>
          <a:custGeom>
            <a:avLst/>
            <a:gdLst>
              <a:gd name="T0" fmla="*/ 230 w 267"/>
              <a:gd name="T1" fmla="*/ 56 h 347"/>
              <a:gd name="T2" fmla="*/ 220 w 267"/>
              <a:gd name="T3" fmla="*/ 46 h 347"/>
              <a:gd name="T4" fmla="*/ 211 w 267"/>
              <a:gd name="T5" fmla="*/ 36 h 347"/>
              <a:gd name="T6" fmla="*/ 160 w 267"/>
              <a:gd name="T7" fmla="*/ 0 h 347"/>
              <a:gd name="T8" fmla="*/ 53 w 267"/>
              <a:gd name="T9" fmla="*/ 0 h 347"/>
              <a:gd name="T10" fmla="*/ 0 w 267"/>
              <a:gd name="T11" fmla="*/ 53 h 347"/>
              <a:gd name="T12" fmla="*/ 0 w 267"/>
              <a:gd name="T13" fmla="*/ 293 h 347"/>
              <a:gd name="T14" fmla="*/ 53 w 267"/>
              <a:gd name="T15" fmla="*/ 347 h 347"/>
              <a:gd name="T16" fmla="*/ 213 w 267"/>
              <a:gd name="T17" fmla="*/ 347 h 347"/>
              <a:gd name="T18" fmla="*/ 267 w 267"/>
              <a:gd name="T19" fmla="*/ 293 h 347"/>
              <a:gd name="T20" fmla="*/ 267 w 267"/>
              <a:gd name="T21" fmla="*/ 107 h 347"/>
              <a:gd name="T22" fmla="*/ 230 w 267"/>
              <a:gd name="T23" fmla="*/ 56 h 347"/>
              <a:gd name="T24" fmla="*/ 240 w 267"/>
              <a:gd name="T25" fmla="*/ 293 h 347"/>
              <a:gd name="T26" fmla="*/ 213 w 267"/>
              <a:gd name="T27" fmla="*/ 320 h 347"/>
              <a:gd name="T28" fmla="*/ 53 w 267"/>
              <a:gd name="T29" fmla="*/ 320 h 347"/>
              <a:gd name="T30" fmla="*/ 27 w 267"/>
              <a:gd name="T31" fmla="*/ 293 h 347"/>
              <a:gd name="T32" fmla="*/ 27 w 267"/>
              <a:gd name="T33" fmla="*/ 53 h 347"/>
              <a:gd name="T34" fmla="*/ 53 w 267"/>
              <a:gd name="T35" fmla="*/ 27 h 347"/>
              <a:gd name="T36" fmla="*/ 151 w 267"/>
              <a:gd name="T37" fmla="*/ 27 h 347"/>
              <a:gd name="T38" fmla="*/ 160 w 267"/>
              <a:gd name="T39" fmla="*/ 53 h 347"/>
              <a:gd name="T40" fmla="*/ 160 w 267"/>
              <a:gd name="T41" fmla="*/ 93 h 347"/>
              <a:gd name="T42" fmla="*/ 173 w 267"/>
              <a:gd name="T43" fmla="*/ 107 h 347"/>
              <a:gd name="T44" fmla="*/ 213 w 267"/>
              <a:gd name="T45" fmla="*/ 107 h 347"/>
              <a:gd name="T46" fmla="*/ 240 w 267"/>
              <a:gd name="T47" fmla="*/ 120 h 347"/>
              <a:gd name="T48" fmla="*/ 240 w 267"/>
              <a:gd name="T49" fmla="*/ 29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7" h="347">
                <a:moveTo>
                  <a:pt x="230" y="56"/>
                </a:moveTo>
                <a:cubicBezTo>
                  <a:pt x="227" y="53"/>
                  <a:pt x="224" y="50"/>
                  <a:pt x="220" y="46"/>
                </a:cubicBezTo>
                <a:cubicBezTo>
                  <a:pt x="217" y="43"/>
                  <a:pt x="214" y="40"/>
                  <a:pt x="211" y="36"/>
                </a:cubicBezTo>
                <a:cubicBezTo>
                  <a:pt x="188" y="13"/>
                  <a:pt x="174" y="0"/>
                  <a:pt x="160" y="0"/>
                </a:cubicBezTo>
                <a:lnTo>
                  <a:pt x="53" y="0"/>
                </a:lnTo>
                <a:cubicBezTo>
                  <a:pt x="24" y="0"/>
                  <a:pt x="0" y="24"/>
                  <a:pt x="0" y="53"/>
                </a:cubicBezTo>
                <a:lnTo>
                  <a:pt x="0" y="293"/>
                </a:lnTo>
                <a:cubicBezTo>
                  <a:pt x="0" y="323"/>
                  <a:pt x="24" y="347"/>
                  <a:pt x="53" y="347"/>
                </a:cubicBezTo>
                <a:lnTo>
                  <a:pt x="213" y="347"/>
                </a:lnTo>
                <a:cubicBezTo>
                  <a:pt x="243" y="347"/>
                  <a:pt x="267" y="323"/>
                  <a:pt x="267" y="293"/>
                </a:cubicBezTo>
                <a:lnTo>
                  <a:pt x="267" y="107"/>
                </a:lnTo>
                <a:cubicBezTo>
                  <a:pt x="267" y="93"/>
                  <a:pt x="253" y="79"/>
                  <a:pt x="230" y="56"/>
                </a:cubicBezTo>
                <a:close/>
                <a:moveTo>
                  <a:pt x="240" y="293"/>
                </a:moveTo>
                <a:cubicBezTo>
                  <a:pt x="240" y="308"/>
                  <a:pt x="228" y="320"/>
                  <a:pt x="213" y="320"/>
                </a:cubicBezTo>
                <a:lnTo>
                  <a:pt x="53" y="320"/>
                </a:lnTo>
                <a:cubicBezTo>
                  <a:pt x="39" y="320"/>
                  <a:pt x="27" y="308"/>
                  <a:pt x="27" y="293"/>
                </a:cubicBezTo>
                <a:lnTo>
                  <a:pt x="27" y="53"/>
                </a:lnTo>
                <a:cubicBezTo>
                  <a:pt x="27" y="39"/>
                  <a:pt x="39" y="27"/>
                  <a:pt x="53" y="27"/>
                </a:cubicBezTo>
                <a:lnTo>
                  <a:pt x="151" y="27"/>
                </a:lnTo>
                <a:cubicBezTo>
                  <a:pt x="160" y="29"/>
                  <a:pt x="160" y="41"/>
                  <a:pt x="160" y="53"/>
                </a:cubicBezTo>
                <a:lnTo>
                  <a:pt x="160" y="93"/>
                </a:lnTo>
                <a:cubicBezTo>
                  <a:pt x="160" y="101"/>
                  <a:pt x="166" y="107"/>
                  <a:pt x="173" y="107"/>
                </a:cubicBezTo>
                <a:lnTo>
                  <a:pt x="213" y="107"/>
                </a:lnTo>
                <a:cubicBezTo>
                  <a:pt x="227" y="107"/>
                  <a:pt x="240" y="107"/>
                  <a:pt x="240" y="120"/>
                </a:cubicBezTo>
                <a:lnTo>
                  <a:pt x="240" y="293"/>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TextBox 16">
            <a:extLst>
              <a:ext uri="{FF2B5EF4-FFF2-40B4-BE49-F238E27FC236}">
                <a16:creationId xmlns:a16="http://schemas.microsoft.com/office/drawing/2014/main" id="{4849523F-4E0A-410A-8715-D105FD18C781}"/>
              </a:ext>
            </a:extLst>
          </p:cNvPr>
          <p:cNvSpPr txBox="1"/>
          <p:nvPr/>
        </p:nvSpPr>
        <p:spPr bwMode="gray">
          <a:xfrm>
            <a:off x="2214670" y="2782765"/>
            <a:ext cx="747320"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og</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信息</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TextBox 17">
            <a:extLst>
              <a:ext uri="{FF2B5EF4-FFF2-40B4-BE49-F238E27FC236}">
                <a16:creationId xmlns:a16="http://schemas.microsoft.com/office/drawing/2014/main" id="{B8C67C36-71C4-43A2-8933-2658F49A44B2}"/>
              </a:ext>
            </a:extLst>
          </p:cNvPr>
          <p:cNvSpPr txBox="1"/>
          <p:nvPr/>
        </p:nvSpPr>
        <p:spPr bwMode="gray">
          <a:xfrm>
            <a:off x="2131636" y="3503591"/>
            <a:ext cx="809837"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信息</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TextBox 18">
            <a:extLst>
              <a:ext uri="{FF2B5EF4-FFF2-40B4-BE49-F238E27FC236}">
                <a16:creationId xmlns:a16="http://schemas.microsoft.com/office/drawing/2014/main" id="{E6CB9CE9-2084-4E8F-9584-09B9DE1431D0}"/>
              </a:ext>
            </a:extLst>
          </p:cNvPr>
          <p:cNvSpPr txBox="1"/>
          <p:nvPr/>
        </p:nvSpPr>
        <p:spPr bwMode="gray">
          <a:xfrm>
            <a:off x="1977425" y="4214314"/>
            <a:ext cx="952505"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ebug</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信息</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TextBox 19">
            <a:extLst>
              <a:ext uri="{FF2B5EF4-FFF2-40B4-BE49-F238E27FC236}">
                <a16:creationId xmlns:a16="http://schemas.microsoft.com/office/drawing/2014/main" id="{BB136844-A101-4CDE-8609-F05D9505C385}"/>
              </a:ext>
            </a:extLst>
          </p:cNvPr>
          <p:cNvSpPr txBox="1"/>
          <p:nvPr/>
        </p:nvSpPr>
        <p:spPr bwMode="gray">
          <a:xfrm>
            <a:off x="5739160" y="2028265"/>
            <a:ext cx="734496"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C</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onsole</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20">
            <a:extLst>
              <a:ext uri="{FF2B5EF4-FFF2-40B4-BE49-F238E27FC236}">
                <a16:creationId xmlns:a16="http://schemas.microsoft.com/office/drawing/2014/main" id="{6A091CDD-AA5E-4698-AAA1-1B1DFF6464A0}"/>
              </a:ext>
            </a:extLst>
          </p:cNvPr>
          <p:cNvSpPr txBox="1"/>
          <p:nvPr/>
        </p:nvSpPr>
        <p:spPr bwMode="gray">
          <a:xfrm>
            <a:off x="5733550" y="2460432"/>
            <a:ext cx="745717"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M</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onitor</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21">
            <a:extLst>
              <a:ext uri="{FF2B5EF4-FFF2-40B4-BE49-F238E27FC236}">
                <a16:creationId xmlns:a16="http://schemas.microsoft.com/office/drawing/2014/main" id="{61C46930-2600-456F-9A54-B7ED032E2874}"/>
              </a:ext>
            </a:extLst>
          </p:cNvPr>
          <p:cNvSpPr txBox="1"/>
          <p:nvPr/>
        </p:nvSpPr>
        <p:spPr bwMode="gray">
          <a:xfrm>
            <a:off x="5736756" y="2880532"/>
            <a:ext cx="739305" cy="276999"/>
          </a:xfrm>
          <a:prstGeom prst="rect">
            <a:avLst/>
          </a:prstGeom>
          <a:noFill/>
        </p:spPr>
        <p:txBody>
          <a:bodyPr wrap="none" rtlCol="0">
            <a:spAutoFit/>
          </a:bodyPr>
          <a:lstStyle/>
          <a:p>
            <a:pPr fontAlgn="auto"/>
            <a:r>
              <a:rPr lang="en-US" sz="1200" dirty="0" err="1">
                <a:latin typeface="Huawei Sans" panose="020C0503030203020204" pitchFamily="34" charset="0"/>
                <a:ea typeface="方正兰亭黑简体" panose="02000000000000000000" pitchFamily="2" charset="-122"/>
                <a:sym typeface="Huawei Sans" panose="020C0503030203020204" pitchFamily="34" charset="0"/>
              </a:rPr>
              <a:t>L</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oghost</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TextBox 22">
            <a:extLst>
              <a:ext uri="{FF2B5EF4-FFF2-40B4-BE49-F238E27FC236}">
                <a16:creationId xmlns:a16="http://schemas.microsoft.com/office/drawing/2014/main" id="{E00A32FE-EFD2-4C89-AD2F-5D02F47036E9}"/>
              </a:ext>
            </a:extLst>
          </p:cNvPr>
          <p:cNvSpPr txBox="1"/>
          <p:nvPr/>
        </p:nvSpPr>
        <p:spPr bwMode="gray">
          <a:xfrm>
            <a:off x="5642179" y="3311075"/>
            <a:ext cx="928459" cy="276999"/>
          </a:xfrm>
          <a:prstGeom prst="rect">
            <a:avLst/>
          </a:prstGeom>
          <a:noFill/>
        </p:spPr>
        <p:txBody>
          <a:bodyPr wrap="none" rtlCol="0">
            <a:spAutoFit/>
          </a:bodyPr>
          <a:lstStyle/>
          <a:p>
            <a:pPr fontAlgn="auto"/>
            <a:r>
              <a:rPr lang="en-US" sz="1200" dirty="0" err="1">
                <a:latin typeface="Huawei Sans" panose="020C0503030203020204" pitchFamily="34" charset="0"/>
                <a:ea typeface="方正兰亭黑简体" panose="02000000000000000000" pitchFamily="2" charset="-122"/>
                <a:sym typeface="Huawei Sans" panose="020C0503030203020204" pitchFamily="34" charset="0"/>
              </a:rPr>
              <a:t>T</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rapbuffer</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TextBox 23">
            <a:extLst>
              <a:ext uri="{FF2B5EF4-FFF2-40B4-BE49-F238E27FC236}">
                <a16:creationId xmlns:a16="http://schemas.microsoft.com/office/drawing/2014/main" id="{7BFDE728-A532-4C83-96DE-86432216DA34}"/>
              </a:ext>
            </a:extLst>
          </p:cNvPr>
          <p:cNvSpPr txBox="1"/>
          <p:nvPr/>
        </p:nvSpPr>
        <p:spPr bwMode="gray">
          <a:xfrm>
            <a:off x="5673437" y="3722994"/>
            <a:ext cx="865943" cy="276999"/>
          </a:xfrm>
          <a:prstGeom prst="rect">
            <a:avLst/>
          </a:prstGeom>
          <a:noFill/>
        </p:spPr>
        <p:txBody>
          <a:bodyPr wrap="none" rtlCol="0">
            <a:spAutoFit/>
          </a:bodyPr>
          <a:lstStyle/>
          <a:p>
            <a:pPr fontAlgn="auto"/>
            <a:r>
              <a:rPr lang="en-US" sz="1200" dirty="0" err="1">
                <a:latin typeface="Huawei Sans" panose="020C0503030203020204" pitchFamily="34" charset="0"/>
                <a:ea typeface="方正兰亭黑简体" panose="02000000000000000000" pitchFamily="2" charset="-122"/>
                <a:sym typeface="Huawei Sans" panose="020C0503030203020204" pitchFamily="34" charset="0"/>
              </a:rPr>
              <a:t>L</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ogbuffer</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TextBox 24">
            <a:extLst>
              <a:ext uri="{FF2B5EF4-FFF2-40B4-BE49-F238E27FC236}">
                <a16:creationId xmlns:a16="http://schemas.microsoft.com/office/drawing/2014/main" id="{0E74548C-FCDF-4E2A-87CA-DB728103E02E}"/>
              </a:ext>
            </a:extLst>
          </p:cNvPr>
          <p:cNvSpPr txBox="1"/>
          <p:nvPr/>
        </p:nvSpPr>
        <p:spPr bwMode="gray">
          <a:xfrm>
            <a:off x="5566837" y="4173876"/>
            <a:ext cx="1079142"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SNMP A</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gent</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TextBox 25">
            <a:extLst>
              <a:ext uri="{FF2B5EF4-FFF2-40B4-BE49-F238E27FC236}">
                <a16:creationId xmlns:a16="http://schemas.microsoft.com/office/drawing/2014/main" id="{33E699DF-C5BD-482F-808C-1187F9C279D1}"/>
              </a:ext>
            </a:extLst>
          </p:cNvPr>
          <p:cNvSpPr txBox="1"/>
          <p:nvPr/>
        </p:nvSpPr>
        <p:spPr bwMode="gray">
          <a:xfrm>
            <a:off x="5660613" y="4555640"/>
            <a:ext cx="891591"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C</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hannel 6</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TextBox 26">
            <a:extLst>
              <a:ext uri="{FF2B5EF4-FFF2-40B4-BE49-F238E27FC236}">
                <a16:creationId xmlns:a16="http://schemas.microsoft.com/office/drawing/2014/main" id="{AB22090A-4C91-4F61-93F5-F7A9920CF019}"/>
              </a:ext>
            </a:extLst>
          </p:cNvPr>
          <p:cNvSpPr txBox="1"/>
          <p:nvPr/>
        </p:nvSpPr>
        <p:spPr bwMode="gray">
          <a:xfrm>
            <a:off x="5660613" y="4968837"/>
            <a:ext cx="891591"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C</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hannel 7</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TextBox 27">
            <a:extLst>
              <a:ext uri="{FF2B5EF4-FFF2-40B4-BE49-F238E27FC236}">
                <a16:creationId xmlns:a16="http://schemas.microsoft.com/office/drawing/2014/main" id="{96C6D1BB-F324-45DC-A02B-7C07D093308D}"/>
              </a:ext>
            </a:extLst>
          </p:cNvPr>
          <p:cNvSpPr txBox="1"/>
          <p:nvPr/>
        </p:nvSpPr>
        <p:spPr bwMode="gray">
          <a:xfrm>
            <a:off x="5660613" y="5385896"/>
            <a:ext cx="891591"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C</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hannel 8</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TextBox 28">
            <a:extLst>
              <a:ext uri="{FF2B5EF4-FFF2-40B4-BE49-F238E27FC236}">
                <a16:creationId xmlns:a16="http://schemas.microsoft.com/office/drawing/2014/main" id="{BD212E80-3873-411D-8757-94C06DD5FCFF}"/>
              </a:ext>
            </a:extLst>
          </p:cNvPr>
          <p:cNvSpPr txBox="1"/>
          <p:nvPr/>
        </p:nvSpPr>
        <p:spPr bwMode="gray">
          <a:xfrm>
            <a:off x="5660613" y="5808804"/>
            <a:ext cx="891591"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C</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hannel 9</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Rectangle 29">
            <a:extLst>
              <a:ext uri="{FF2B5EF4-FFF2-40B4-BE49-F238E27FC236}">
                <a16:creationId xmlns:a16="http://schemas.microsoft.com/office/drawing/2014/main" id="{1E6AC1EE-F3D4-4C12-AC8F-37476CFBA864}"/>
              </a:ext>
            </a:extLst>
          </p:cNvPr>
          <p:cNvSpPr/>
          <p:nvPr/>
        </p:nvSpPr>
        <p:spPr bwMode="gray">
          <a:xfrm>
            <a:off x="8637999" y="2023558"/>
            <a:ext cx="1456495" cy="30777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控制台</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/Console</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Rectangle 30">
            <a:extLst>
              <a:ext uri="{FF2B5EF4-FFF2-40B4-BE49-F238E27FC236}">
                <a16:creationId xmlns:a16="http://schemas.microsoft.com/office/drawing/2014/main" id="{89A3463A-6713-4DC4-B4A8-4C5BA5D5E80F}"/>
              </a:ext>
            </a:extLst>
          </p:cNvPr>
          <p:cNvSpPr/>
          <p:nvPr/>
        </p:nvSpPr>
        <p:spPr bwMode="gray">
          <a:xfrm>
            <a:off x="8638000" y="2462167"/>
            <a:ext cx="1456494" cy="30777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远程终端</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/Monitor</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Rectangle 31">
            <a:extLst>
              <a:ext uri="{FF2B5EF4-FFF2-40B4-BE49-F238E27FC236}">
                <a16:creationId xmlns:a16="http://schemas.microsoft.com/office/drawing/2014/main" id="{0CEFCCDA-0F31-4C8A-9F2C-90F2357D0799}"/>
              </a:ext>
            </a:extLst>
          </p:cNvPr>
          <p:cNvSpPr/>
          <p:nvPr/>
        </p:nvSpPr>
        <p:spPr bwMode="gray">
          <a:xfrm>
            <a:off x="8638000" y="2890093"/>
            <a:ext cx="1456494" cy="30777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日志主机</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Loghost</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Rectangle 32">
            <a:extLst>
              <a:ext uri="{FF2B5EF4-FFF2-40B4-BE49-F238E27FC236}">
                <a16:creationId xmlns:a16="http://schemas.microsoft.com/office/drawing/2014/main" id="{591C1BEF-FA4F-4272-B21F-96FE6FA62D61}"/>
              </a:ext>
            </a:extLst>
          </p:cNvPr>
          <p:cNvSpPr/>
          <p:nvPr/>
        </p:nvSpPr>
        <p:spPr bwMode="gray">
          <a:xfrm>
            <a:off x="8638000" y="3283784"/>
            <a:ext cx="1877600" cy="30777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缓冲区</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Trapbuffer</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Rectangle 33">
            <a:extLst>
              <a:ext uri="{FF2B5EF4-FFF2-40B4-BE49-F238E27FC236}">
                <a16:creationId xmlns:a16="http://schemas.microsoft.com/office/drawing/2014/main" id="{25FB38B7-199F-4946-A967-16A3D359F26A}"/>
              </a:ext>
            </a:extLst>
          </p:cNvPr>
          <p:cNvSpPr/>
          <p:nvPr/>
        </p:nvSpPr>
        <p:spPr bwMode="gray">
          <a:xfrm>
            <a:off x="8638000" y="3705049"/>
            <a:ext cx="1877600" cy="30777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缓冲区</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Logbuffer</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Rectangle 34">
            <a:extLst>
              <a:ext uri="{FF2B5EF4-FFF2-40B4-BE49-F238E27FC236}">
                <a16:creationId xmlns:a16="http://schemas.microsoft.com/office/drawing/2014/main" id="{DEBE8489-0E02-44A8-A462-82FBF47E861D}"/>
              </a:ext>
            </a:extLst>
          </p:cNvPr>
          <p:cNvSpPr/>
          <p:nvPr/>
        </p:nvSpPr>
        <p:spPr bwMode="gray">
          <a:xfrm>
            <a:off x="8642638" y="4125748"/>
            <a:ext cx="1872962" cy="30777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SNMP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代理</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Snmpagent</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Rectangle 35">
            <a:extLst>
              <a:ext uri="{FF2B5EF4-FFF2-40B4-BE49-F238E27FC236}">
                <a16:creationId xmlns:a16="http://schemas.microsoft.com/office/drawing/2014/main" id="{08905392-0345-4122-9B72-348C52850212}"/>
              </a:ext>
            </a:extLst>
          </p:cNvPr>
          <p:cNvSpPr/>
          <p:nvPr/>
        </p:nvSpPr>
        <p:spPr bwMode="gray">
          <a:xfrm>
            <a:off x="1816836" y="5174595"/>
            <a:ext cx="1137894" cy="235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Log </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信息流</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5" name="Straight Arrow Connector 37">
            <a:extLst>
              <a:ext uri="{FF2B5EF4-FFF2-40B4-BE49-F238E27FC236}">
                <a16:creationId xmlns:a16="http://schemas.microsoft.com/office/drawing/2014/main" id="{D1B471BF-5F34-4E37-A61F-2E9FF0F07843}"/>
              </a:ext>
            </a:extLst>
          </p:cNvPr>
          <p:cNvCxnSpPr>
            <a:cxnSpLocks/>
            <a:stCxn id="82" idx="23"/>
            <a:endCxn id="72" idx="3"/>
          </p:cNvCxnSpPr>
          <p:nvPr/>
        </p:nvCxnSpPr>
        <p:spPr bwMode="gray">
          <a:xfrm flipV="1">
            <a:off x="3319700" y="2174728"/>
            <a:ext cx="2005160" cy="711427"/>
          </a:xfrm>
          <a:prstGeom prst="straightConnector1">
            <a:avLst/>
          </a:prstGeom>
          <a:ln w="19050">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39">
            <a:extLst>
              <a:ext uri="{FF2B5EF4-FFF2-40B4-BE49-F238E27FC236}">
                <a16:creationId xmlns:a16="http://schemas.microsoft.com/office/drawing/2014/main" id="{D6A801D4-63A3-49B4-81E0-12B7CEE9D346}"/>
              </a:ext>
            </a:extLst>
          </p:cNvPr>
          <p:cNvCxnSpPr>
            <a:cxnSpLocks/>
            <a:stCxn id="82" idx="23"/>
            <a:endCxn id="77" idx="3"/>
          </p:cNvCxnSpPr>
          <p:nvPr/>
        </p:nvCxnSpPr>
        <p:spPr bwMode="gray">
          <a:xfrm flipV="1">
            <a:off x="3319700" y="2595710"/>
            <a:ext cx="2005158" cy="290445"/>
          </a:xfrm>
          <a:prstGeom prst="straightConnector1">
            <a:avLst/>
          </a:prstGeom>
          <a:ln w="19050">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42">
            <a:extLst>
              <a:ext uri="{FF2B5EF4-FFF2-40B4-BE49-F238E27FC236}">
                <a16:creationId xmlns:a16="http://schemas.microsoft.com/office/drawing/2014/main" id="{A0FA9360-556B-40C5-A3F7-944F3090E2AC}"/>
              </a:ext>
            </a:extLst>
          </p:cNvPr>
          <p:cNvCxnSpPr>
            <a:cxnSpLocks/>
            <a:stCxn id="82" idx="23"/>
            <a:endCxn id="78" idx="3"/>
          </p:cNvCxnSpPr>
          <p:nvPr/>
        </p:nvCxnSpPr>
        <p:spPr bwMode="gray">
          <a:xfrm>
            <a:off x="3319700" y="2886155"/>
            <a:ext cx="2005157" cy="130537"/>
          </a:xfrm>
          <a:prstGeom prst="straightConnector1">
            <a:avLst/>
          </a:prstGeom>
          <a:ln w="19050">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46">
            <a:extLst>
              <a:ext uri="{FF2B5EF4-FFF2-40B4-BE49-F238E27FC236}">
                <a16:creationId xmlns:a16="http://schemas.microsoft.com/office/drawing/2014/main" id="{D792C114-A8AF-4715-9B57-B394A1D06C7F}"/>
              </a:ext>
            </a:extLst>
          </p:cNvPr>
          <p:cNvCxnSpPr>
            <a:cxnSpLocks/>
            <a:stCxn id="82" idx="23"/>
            <a:endCxn id="81" idx="3"/>
          </p:cNvCxnSpPr>
          <p:nvPr/>
        </p:nvCxnSpPr>
        <p:spPr bwMode="gray">
          <a:xfrm>
            <a:off x="3319700" y="2886155"/>
            <a:ext cx="2005156" cy="972501"/>
          </a:xfrm>
          <a:prstGeom prst="straightConnector1">
            <a:avLst/>
          </a:prstGeom>
          <a:ln w="19050">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49">
            <a:extLst>
              <a:ext uri="{FF2B5EF4-FFF2-40B4-BE49-F238E27FC236}">
                <a16:creationId xmlns:a16="http://schemas.microsoft.com/office/drawing/2014/main" id="{22CA21CF-7008-45F4-B58D-3ECEE7EFA3B7}"/>
              </a:ext>
            </a:extLst>
          </p:cNvPr>
          <p:cNvCxnSpPr>
            <a:cxnSpLocks/>
            <a:stCxn id="82" idx="23"/>
            <a:endCxn id="76" idx="3"/>
          </p:cNvCxnSpPr>
          <p:nvPr/>
        </p:nvCxnSpPr>
        <p:spPr bwMode="gray">
          <a:xfrm>
            <a:off x="3319700" y="2886155"/>
            <a:ext cx="2005159" cy="3077415"/>
          </a:xfrm>
          <a:prstGeom prst="straightConnector1">
            <a:avLst/>
          </a:prstGeom>
          <a:ln w="19050">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52">
            <a:extLst>
              <a:ext uri="{FF2B5EF4-FFF2-40B4-BE49-F238E27FC236}">
                <a16:creationId xmlns:a16="http://schemas.microsoft.com/office/drawing/2014/main" id="{336870C1-0219-4818-BDE2-4EBA7E1C7034}"/>
              </a:ext>
            </a:extLst>
          </p:cNvPr>
          <p:cNvCxnSpPr>
            <a:cxnSpLocks/>
            <a:stCxn id="83" idx="23"/>
            <a:endCxn id="72" idx="3"/>
          </p:cNvCxnSpPr>
          <p:nvPr/>
        </p:nvCxnSpPr>
        <p:spPr bwMode="gray">
          <a:xfrm flipV="1">
            <a:off x="3329043" y="2174728"/>
            <a:ext cx="1995817" cy="1422150"/>
          </a:xfrm>
          <a:prstGeom prst="straightConnector1">
            <a:avLst/>
          </a:prstGeom>
          <a:ln w="190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55">
            <a:extLst>
              <a:ext uri="{FF2B5EF4-FFF2-40B4-BE49-F238E27FC236}">
                <a16:creationId xmlns:a16="http://schemas.microsoft.com/office/drawing/2014/main" id="{DC93B990-86B1-4415-9695-1FB29E385E37}"/>
              </a:ext>
            </a:extLst>
          </p:cNvPr>
          <p:cNvCxnSpPr>
            <a:cxnSpLocks/>
            <a:stCxn id="83" idx="23"/>
            <a:endCxn id="77" idx="3"/>
          </p:cNvCxnSpPr>
          <p:nvPr/>
        </p:nvCxnSpPr>
        <p:spPr bwMode="gray">
          <a:xfrm flipV="1">
            <a:off x="3329043" y="2595710"/>
            <a:ext cx="1995815" cy="1001168"/>
          </a:xfrm>
          <a:prstGeom prst="straightConnector1">
            <a:avLst/>
          </a:prstGeom>
          <a:ln w="190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58">
            <a:extLst>
              <a:ext uri="{FF2B5EF4-FFF2-40B4-BE49-F238E27FC236}">
                <a16:creationId xmlns:a16="http://schemas.microsoft.com/office/drawing/2014/main" id="{44A0C583-87A0-493D-82CE-41599028AFB8}"/>
              </a:ext>
            </a:extLst>
          </p:cNvPr>
          <p:cNvCxnSpPr>
            <a:cxnSpLocks/>
            <a:stCxn id="83" idx="23"/>
            <a:endCxn id="78" idx="3"/>
          </p:cNvCxnSpPr>
          <p:nvPr/>
        </p:nvCxnSpPr>
        <p:spPr bwMode="gray">
          <a:xfrm flipV="1">
            <a:off x="3329043" y="3016692"/>
            <a:ext cx="1995814" cy="580186"/>
          </a:xfrm>
          <a:prstGeom prst="straightConnector1">
            <a:avLst/>
          </a:prstGeom>
          <a:ln w="190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61">
            <a:extLst>
              <a:ext uri="{FF2B5EF4-FFF2-40B4-BE49-F238E27FC236}">
                <a16:creationId xmlns:a16="http://schemas.microsoft.com/office/drawing/2014/main" id="{984482EF-B37B-4EAC-ABB0-2F23C4C59671}"/>
              </a:ext>
            </a:extLst>
          </p:cNvPr>
          <p:cNvCxnSpPr>
            <a:cxnSpLocks/>
            <a:stCxn id="83" idx="22"/>
            <a:endCxn id="79" idx="3"/>
          </p:cNvCxnSpPr>
          <p:nvPr/>
        </p:nvCxnSpPr>
        <p:spPr bwMode="gray">
          <a:xfrm flipV="1">
            <a:off x="3298389" y="3437674"/>
            <a:ext cx="2026467" cy="144478"/>
          </a:xfrm>
          <a:prstGeom prst="straightConnector1">
            <a:avLst/>
          </a:prstGeom>
          <a:ln w="190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64">
            <a:extLst>
              <a:ext uri="{FF2B5EF4-FFF2-40B4-BE49-F238E27FC236}">
                <a16:creationId xmlns:a16="http://schemas.microsoft.com/office/drawing/2014/main" id="{48789993-0E59-4E38-A59B-91D7335D31BE}"/>
              </a:ext>
            </a:extLst>
          </p:cNvPr>
          <p:cNvCxnSpPr>
            <a:cxnSpLocks/>
            <a:stCxn id="83" idx="23"/>
            <a:endCxn id="80" idx="3"/>
          </p:cNvCxnSpPr>
          <p:nvPr/>
        </p:nvCxnSpPr>
        <p:spPr bwMode="gray">
          <a:xfrm>
            <a:off x="3329043" y="3596878"/>
            <a:ext cx="1994766" cy="682760"/>
          </a:xfrm>
          <a:prstGeom prst="straightConnector1">
            <a:avLst/>
          </a:prstGeom>
          <a:ln w="190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67">
            <a:extLst>
              <a:ext uri="{FF2B5EF4-FFF2-40B4-BE49-F238E27FC236}">
                <a16:creationId xmlns:a16="http://schemas.microsoft.com/office/drawing/2014/main" id="{31B2F1D5-F597-4642-8DD7-0F362869BC17}"/>
              </a:ext>
            </a:extLst>
          </p:cNvPr>
          <p:cNvCxnSpPr>
            <a:cxnSpLocks/>
            <a:stCxn id="83" idx="22"/>
            <a:endCxn id="76" idx="3"/>
          </p:cNvCxnSpPr>
          <p:nvPr/>
        </p:nvCxnSpPr>
        <p:spPr bwMode="gray">
          <a:xfrm>
            <a:off x="3298389" y="3582152"/>
            <a:ext cx="2026470" cy="2381418"/>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70">
            <a:extLst>
              <a:ext uri="{FF2B5EF4-FFF2-40B4-BE49-F238E27FC236}">
                <a16:creationId xmlns:a16="http://schemas.microsoft.com/office/drawing/2014/main" id="{56A26D67-141A-45C3-8032-CF04F5377E30}"/>
              </a:ext>
            </a:extLst>
          </p:cNvPr>
          <p:cNvCxnSpPr>
            <a:cxnSpLocks/>
          </p:cNvCxnSpPr>
          <p:nvPr/>
        </p:nvCxnSpPr>
        <p:spPr bwMode="gray">
          <a:xfrm flipV="1">
            <a:off x="3333483" y="2185873"/>
            <a:ext cx="2005161" cy="2132873"/>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73">
            <a:extLst>
              <a:ext uri="{FF2B5EF4-FFF2-40B4-BE49-F238E27FC236}">
                <a16:creationId xmlns:a16="http://schemas.microsoft.com/office/drawing/2014/main" id="{D2A717F0-A5E6-4679-BA4F-277494020659}"/>
              </a:ext>
            </a:extLst>
          </p:cNvPr>
          <p:cNvCxnSpPr>
            <a:cxnSpLocks/>
            <a:stCxn id="84" idx="23"/>
            <a:endCxn id="77" idx="3"/>
          </p:cNvCxnSpPr>
          <p:nvPr/>
        </p:nvCxnSpPr>
        <p:spPr bwMode="gray">
          <a:xfrm flipV="1">
            <a:off x="3319699" y="2595710"/>
            <a:ext cx="2005159" cy="1711891"/>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76">
            <a:extLst>
              <a:ext uri="{FF2B5EF4-FFF2-40B4-BE49-F238E27FC236}">
                <a16:creationId xmlns:a16="http://schemas.microsoft.com/office/drawing/2014/main" id="{13A615D2-FC86-4838-92E7-4B553325FA96}"/>
              </a:ext>
            </a:extLst>
          </p:cNvPr>
          <p:cNvCxnSpPr>
            <a:cxnSpLocks/>
            <a:stCxn id="84" idx="23"/>
            <a:endCxn id="78" idx="3"/>
          </p:cNvCxnSpPr>
          <p:nvPr/>
        </p:nvCxnSpPr>
        <p:spPr bwMode="gray">
          <a:xfrm flipV="1">
            <a:off x="3319699" y="3016692"/>
            <a:ext cx="2005158" cy="1290909"/>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79">
            <a:extLst>
              <a:ext uri="{FF2B5EF4-FFF2-40B4-BE49-F238E27FC236}">
                <a16:creationId xmlns:a16="http://schemas.microsoft.com/office/drawing/2014/main" id="{38A15566-12FC-4591-81F0-BAABEDC7D134}"/>
              </a:ext>
            </a:extLst>
          </p:cNvPr>
          <p:cNvCxnSpPr>
            <a:cxnSpLocks/>
            <a:stCxn id="84" idx="10"/>
            <a:endCxn id="76" idx="3"/>
          </p:cNvCxnSpPr>
          <p:nvPr/>
        </p:nvCxnSpPr>
        <p:spPr bwMode="gray">
          <a:xfrm>
            <a:off x="3350352" y="4292875"/>
            <a:ext cx="1974507" cy="1670695"/>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82">
            <a:extLst>
              <a:ext uri="{FF2B5EF4-FFF2-40B4-BE49-F238E27FC236}">
                <a16:creationId xmlns:a16="http://schemas.microsoft.com/office/drawing/2014/main" id="{600DC34C-0D01-49B1-A67E-1B2B5A5CC7FC}"/>
              </a:ext>
            </a:extLst>
          </p:cNvPr>
          <p:cNvCxnSpPr>
            <a:cxnSpLocks/>
          </p:cNvCxnSpPr>
          <p:nvPr/>
        </p:nvCxnSpPr>
        <p:spPr bwMode="gray">
          <a:xfrm>
            <a:off x="6951363" y="2087612"/>
            <a:ext cx="1686637" cy="2719"/>
          </a:xfrm>
          <a:prstGeom prst="straightConnector1">
            <a:avLst/>
          </a:prstGeom>
          <a:ln w="19050">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85">
            <a:extLst>
              <a:ext uri="{FF2B5EF4-FFF2-40B4-BE49-F238E27FC236}">
                <a16:creationId xmlns:a16="http://schemas.microsoft.com/office/drawing/2014/main" id="{377AE753-0618-4BF7-915E-7012C3C8FBCC}"/>
              </a:ext>
            </a:extLst>
          </p:cNvPr>
          <p:cNvCxnSpPr>
            <a:cxnSpLocks/>
            <a:endCxn id="98" idx="1"/>
          </p:cNvCxnSpPr>
          <p:nvPr/>
        </p:nvCxnSpPr>
        <p:spPr bwMode="gray">
          <a:xfrm>
            <a:off x="6951363" y="2174728"/>
            <a:ext cx="1686636" cy="2719"/>
          </a:xfrm>
          <a:prstGeom prst="straightConnector1">
            <a:avLst/>
          </a:prstGeom>
          <a:ln w="190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88">
            <a:extLst>
              <a:ext uri="{FF2B5EF4-FFF2-40B4-BE49-F238E27FC236}">
                <a16:creationId xmlns:a16="http://schemas.microsoft.com/office/drawing/2014/main" id="{C6F51EAE-D18B-4135-9A48-C74B96EB3294}"/>
              </a:ext>
            </a:extLst>
          </p:cNvPr>
          <p:cNvCxnSpPr>
            <a:cxnSpLocks/>
          </p:cNvCxnSpPr>
          <p:nvPr/>
        </p:nvCxnSpPr>
        <p:spPr bwMode="gray">
          <a:xfrm>
            <a:off x="6960607" y="2255640"/>
            <a:ext cx="1686637" cy="2719"/>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5" name="TextBox 107">
            <a:extLst>
              <a:ext uri="{FF2B5EF4-FFF2-40B4-BE49-F238E27FC236}">
                <a16:creationId xmlns:a16="http://schemas.microsoft.com/office/drawing/2014/main" id="{9F2CC05E-956F-481C-8E66-23E50A38541F}"/>
              </a:ext>
            </a:extLst>
          </p:cNvPr>
          <p:cNvSpPr txBox="1"/>
          <p:nvPr/>
        </p:nvSpPr>
        <p:spPr bwMode="gray">
          <a:xfrm>
            <a:off x="2427135" y="1779835"/>
            <a:ext cx="902811" cy="307777"/>
          </a:xfrm>
          <a:prstGeom prst="rect">
            <a:avLst/>
          </a:prstGeom>
          <a:noFill/>
        </p:spPr>
        <p:txBody>
          <a:bodyPr wrap="none" rtlCol="0">
            <a:spAutoFit/>
          </a:bodyPr>
          <a:lstStyle/>
          <a:p>
            <a:pPr fontAlgn="auto"/>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信息类型</a:t>
            </a:r>
            <a:endParaRPr 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TextBox 108">
            <a:extLst>
              <a:ext uri="{FF2B5EF4-FFF2-40B4-BE49-F238E27FC236}">
                <a16:creationId xmlns:a16="http://schemas.microsoft.com/office/drawing/2014/main" id="{36EE64AA-813C-4260-843D-E05CECA1EA4E}"/>
              </a:ext>
            </a:extLst>
          </p:cNvPr>
          <p:cNvSpPr txBox="1"/>
          <p:nvPr/>
        </p:nvSpPr>
        <p:spPr bwMode="gray">
          <a:xfrm>
            <a:off x="5644992" y="1776928"/>
            <a:ext cx="902811" cy="307777"/>
          </a:xfrm>
          <a:prstGeom prst="rect">
            <a:avLst/>
          </a:prstGeom>
          <a:noFill/>
        </p:spPr>
        <p:txBody>
          <a:bodyPr wrap="none" rtlCol="0">
            <a:spAutoFit/>
          </a:bodyPr>
          <a:lstStyle/>
          <a:p>
            <a:pPr fontAlgn="auto"/>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信息通道</a:t>
            </a:r>
            <a:endParaRPr 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TextBox 109">
            <a:extLst>
              <a:ext uri="{FF2B5EF4-FFF2-40B4-BE49-F238E27FC236}">
                <a16:creationId xmlns:a16="http://schemas.microsoft.com/office/drawing/2014/main" id="{62A77105-D273-4686-A3CA-1593AEA21C23}"/>
              </a:ext>
            </a:extLst>
          </p:cNvPr>
          <p:cNvSpPr txBox="1"/>
          <p:nvPr/>
        </p:nvSpPr>
        <p:spPr bwMode="gray">
          <a:xfrm>
            <a:off x="8734666" y="1773334"/>
            <a:ext cx="902811" cy="307777"/>
          </a:xfrm>
          <a:prstGeom prst="rect">
            <a:avLst/>
          </a:prstGeom>
          <a:noFill/>
        </p:spPr>
        <p:txBody>
          <a:bodyPr wrap="none" rtlCol="0">
            <a:spAutoFit/>
          </a:bodyPr>
          <a:lstStyle/>
          <a:p>
            <a:pPr fontAlgn="auto"/>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输出方向</a:t>
            </a:r>
            <a:endParaRPr 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8" name="Straight Arrow Connector 37">
            <a:extLst>
              <a:ext uri="{FF2B5EF4-FFF2-40B4-BE49-F238E27FC236}">
                <a16:creationId xmlns:a16="http://schemas.microsoft.com/office/drawing/2014/main" id="{D1B471BF-5F34-4E37-A61F-2E9FF0F07843}"/>
              </a:ext>
            </a:extLst>
          </p:cNvPr>
          <p:cNvCxnSpPr>
            <a:cxnSpLocks/>
          </p:cNvCxnSpPr>
          <p:nvPr/>
        </p:nvCxnSpPr>
        <p:spPr bwMode="gray">
          <a:xfrm>
            <a:off x="1434510" y="5304080"/>
            <a:ext cx="468000" cy="0"/>
          </a:xfrm>
          <a:prstGeom prst="straightConnector1">
            <a:avLst/>
          </a:prstGeom>
          <a:ln w="19050">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52">
            <a:extLst>
              <a:ext uri="{FF2B5EF4-FFF2-40B4-BE49-F238E27FC236}">
                <a16:creationId xmlns:a16="http://schemas.microsoft.com/office/drawing/2014/main" id="{336870C1-0219-4818-BDE2-4EBA7E1C7034}"/>
              </a:ext>
            </a:extLst>
          </p:cNvPr>
          <p:cNvCxnSpPr>
            <a:cxnSpLocks/>
          </p:cNvCxnSpPr>
          <p:nvPr/>
        </p:nvCxnSpPr>
        <p:spPr bwMode="gray">
          <a:xfrm>
            <a:off x="1434510" y="5591102"/>
            <a:ext cx="468000" cy="0"/>
          </a:xfrm>
          <a:prstGeom prst="straightConnector1">
            <a:avLst/>
          </a:prstGeom>
          <a:ln w="190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79">
            <a:extLst>
              <a:ext uri="{FF2B5EF4-FFF2-40B4-BE49-F238E27FC236}">
                <a16:creationId xmlns:a16="http://schemas.microsoft.com/office/drawing/2014/main" id="{38A15566-12FC-4591-81F0-BAABEDC7D134}"/>
              </a:ext>
            </a:extLst>
          </p:cNvPr>
          <p:cNvCxnSpPr>
            <a:cxnSpLocks/>
          </p:cNvCxnSpPr>
          <p:nvPr/>
        </p:nvCxnSpPr>
        <p:spPr bwMode="gray">
          <a:xfrm flipV="1">
            <a:off x="1434510" y="5947303"/>
            <a:ext cx="468000"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6" name="TextBox 16">
            <a:extLst>
              <a:ext uri="{FF2B5EF4-FFF2-40B4-BE49-F238E27FC236}">
                <a16:creationId xmlns:a16="http://schemas.microsoft.com/office/drawing/2014/main" id="{4849523F-4E0A-410A-8715-D105FD18C781}"/>
              </a:ext>
            </a:extLst>
          </p:cNvPr>
          <p:cNvSpPr txBox="1"/>
          <p:nvPr/>
        </p:nvSpPr>
        <p:spPr bwMode="gray">
          <a:xfrm>
            <a:off x="5371926" y="2038946"/>
            <a:ext cx="27122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0</a:t>
            </a:r>
          </a:p>
        </p:txBody>
      </p:sp>
      <p:sp>
        <p:nvSpPr>
          <p:cNvPr id="147" name="TextBox 16">
            <a:extLst>
              <a:ext uri="{FF2B5EF4-FFF2-40B4-BE49-F238E27FC236}">
                <a16:creationId xmlns:a16="http://schemas.microsoft.com/office/drawing/2014/main" id="{4849523F-4E0A-410A-8715-D105FD18C781}"/>
              </a:ext>
            </a:extLst>
          </p:cNvPr>
          <p:cNvSpPr txBox="1"/>
          <p:nvPr/>
        </p:nvSpPr>
        <p:spPr bwMode="gray">
          <a:xfrm>
            <a:off x="5371926" y="2485124"/>
            <a:ext cx="27122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148" name="TextBox 16">
            <a:extLst>
              <a:ext uri="{FF2B5EF4-FFF2-40B4-BE49-F238E27FC236}">
                <a16:creationId xmlns:a16="http://schemas.microsoft.com/office/drawing/2014/main" id="{4849523F-4E0A-410A-8715-D105FD18C781}"/>
              </a:ext>
            </a:extLst>
          </p:cNvPr>
          <p:cNvSpPr txBox="1"/>
          <p:nvPr/>
        </p:nvSpPr>
        <p:spPr bwMode="gray">
          <a:xfrm>
            <a:off x="5371926" y="2918007"/>
            <a:ext cx="27122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149" name="TextBox 16">
            <a:extLst>
              <a:ext uri="{FF2B5EF4-FFF2-40B4-BE49-F238E27FC236}">
                <a16:creationId xmlns:a16="http://schemas.microsoft.com/office/drawing/2014/main" id="{4849523F-4E0A-410A-8715-D105FD18C781}"/>
              </a:ext>
            </a:extLst>
          </p:cNvPr>
          <p:cNvSpPr txBox="1"/>
          <p:nvPr/>
        </p:nvSpPr>
        <p:spPr bwMode="gray">
          <a:xfrm>
            <a:off x="5371926" y="3339002"/>
            <a:ext cx="27122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150" name="TextBox 16">
            <a:extLst>
              <a:ext uri="{FF2B5EF4-FFF2-40B4-BE49-F238E27FC236}">
                <a16:creationId xmlns:a16="http://schemas.microsoft.com/office/drawing/2014/main" id="{4849523F-4E0A-410A-8715-D105FD18C781}"/>
              </a:ext>
            </a:extLst>
          </p:cNvPr>
          <p:cNvSpPr txBox="1"/>
          <p:nvPr/>
        </p:nvSpPr>
        <p:spPr bwMode="gray">
          <a:xfrm>
            <a:off x="5371926" y="3748729"/>
            <a:ext cx="27122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4</a:t>
            </a:r>
          </a:p>
        </p:txBody>
      </p:sp>
      <p:sp>
        <p:nvSpPr>
          <p:cNvPr id="151" name="TextBox 16">
            <a:extLst>
              <a:ext uri="{FF2B5EF4-FFF2-40B4-BE49-F238E27FC236}">
                <a16:creationId xmlns:a16="http://schemas.microsoft.com/office/drawing/2014/main" id="{4849523F-4E0A-410A-8715-D105FD18C781}"/>
              </a:ext>
            </a:extLst>
          </p:cNvPr>
          <p:cNvSpPr txBox="1"/>
          <p:nvPr/>
        </p:nvSpPr>
        <p:spPr bwMode="gray">
          <a:xfrm>
            <a:off x="5371926" y="4157838"/>
            <a:ext cx="27122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5</a:t>
            </a:r>
          </a:p>
        </p:txBody>
      </p:sp>
      <p:sp>
        <p:nvSpPr>
          <p:cNvPr id="152" name="TextBox 16">
            <a:extLst>
              <a:ext uri="{FF2B5EF4-FFF2-40B4-BE49-F238E27FC236}">
                <a16:creationId xmlns:a16="http://schemas.microsoft.com/office/drawing/2014/main" id="{4849523F-4E0A-410A-8715-D105FD18C781}"/>
              </a:ext>
            </a:extLst>
          </p:cNvPr>
          <p:cNvSpPr txBox="1"/>
          <p:nvPr/>
        </p:nvSpPr>
        <p:spPr bwMode="gray">
          <a:xfrm>
            <a:off x="5371926" y="4566947"/>
            <a:ext cx="27122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6</a:t>
            </a:r>
          </a:p>
        </p:txBody>
      </p:sp>
      <p:sp>
        <p:nvSpPr>
          <p:cNvPr id="153" name="TextBox 16">
            <a:extLst>
              <a:ext uri="{FF2B5EF4-FFF2-40B4-BE49-F238E27FC236}">
                <a16:creationId xmlns:a16="http://schemas.microsoft.com/office/drawing/2014/main" id="{4849523F-4E0A-410A-8715-D105FD18C781}"/>
              </a:ext>
            </a:extLst>
          </p:cNvPr>
          <p:cNvSpPr txBox="1"/>
          <p:nvPr/>
        </p:nvSpPr>
        <p:spPr bwMode="gray">
          <a:xfrm>
            <a:off x="5371926" y="5010297"/>
            <a:ext cx="27122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7</a:t>
            </a:r>
          </a:p>
        </p:txBody>
      </p:sp>
      <p:sp>
        <p:nvSpPr>
          <p:cNvPr id="154" name="TextBox 16">
            <a:extLst>
              <a:ext uri="{FF2B5EF4-FFF2-40B4-BE49-F238E27FC236}">
                <a16:creationId xmlns:a16="http://schemas.microsoft.com/office/drawing/2014/main" id="{4849523F-4E0A-410A-8715-D105FD18C781}"/>
              </a:ext>
            </a:extLst>
          </p:cNvPr>
          <p:cNvSpPr txBox="1"/>
          <p:nvPr/>
        </p:nvSpPr>
        <p:spPr bwMode="gray">
          <a:xfrm>
            <a:off x="5371926" y="5407389"/>
            <a:ext cx="27122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8</a:t>
            </a:r>
          </a:p>
        </p:txBody>
      </p:sp>
      <p:sp>
        <p:nvSpPr>
          <p:cNvPr id="155" name="TextBox 16">
            <a:extLst>
              <a:ext uri="{FF2B5EF4-FFF2-40B4-BE49-F238E27FC236}">
                <a16:creationId xmlns:a16="http://schemas.microsoft.com/office/drawing/2014/main" id="{4849523F-4E0A-410A-8715-D105FD18C781}"/>
              </a:ext>
            </a:extLst>
          </p:cNvPr>
          <p:cNvSpPr txBox="1"/>
          <p:nvPr/>
        </p:nvSpPr>
        <p:spPr bwMode="gray">
          <a:xfrm>
            <a:off x="5371926" y="5819648"/>
            <a:ext cx="27122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9</a:t>
            </a:r>
          </a:p>
        </p:txBody>
      </p:sp>
      <p:sp>
        <p:nvSpPr>
          <p:cNvPr id="156" name="Rectangle 35">
            <a:extLst>
              <a:ext uri="{FF2B5EF4-FFF2-40B4-BE49-F238E27FC236}">
                <a16:creationId xmlns:a16="http://schemas.microsoft.com/office/drawing/2014/main" id="{08905392-0345-4122-9B72-348C52850212}"/>
              </a:ext>
            </a:extLst>
          </p:cNvPr>
          <p:cNvSpPr/>
          <p:nvPr/>
        </p:nvSpPr>
        <p:spPr bwMode="gray">
          <a:xfrm>
            <a:off x="1816836" y="5448683"/>
            <a:ext cx="1137894" cy="235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Trap </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信息流</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7" name="Rectangle 35">
            <a:extLst>
              <a:ext uri="{FF2B5EF4-FFF2-40B4-BE49-F238E27FC236}">
                <a16:creationId xmlns:a16="http://schemas.microsoft.com/office/drawing/2014/main" id="{08905392-0345-4122-9B72-348C52850212}"/>
              </a:ext>
            </a:extLst>
          </p:cNvPr>
          <p:cNvSpPr/>
          <p:nvPr/>
        </p:nvSpPr>
        <p:spPr bwMode="gray">
          <a:xfrm>
            <a:off x="1816836" y="5821758"/>
            <a:ext cx="1383566" cy="235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Debug  </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信息流</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8" name="Straight Arrow Connector 82">
            <a:extLst>
              <a:ext uri="{FF2B5EF4-FFF2-40B4-BE49-F238E27FC236}">
                <a16:creationId xmlns:a16="http://schemas.microsoft.com/office/drawing/2014/main" id="{600DC34C-0D01-49B1-A67E-1B2B5A5CC7FC}"/>
              </a:ext>
            </a:extLst>
          </p:cNvPr>
          <p:cNvCxnSpPr>
            <a:cxnSpLocks/>
          </p:cNvCxnSpPr>
          <p:nvPr/>
        </p:nvCxnSpPr>
        <p:spPr bwMode="gray">
          <a:xfrm>
            <a:off x="6951363" y="2520272"/>
            <a:ext cx="1686637" cy="2719"/>
          </a:xfrm>
          <a:prstGeom prst="straightConnector1">
            <a:avLst/>
          </a:prstGeom>
          <a:ln w="19050">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85">
            <a:extLst>
              <a:ext uri="{FF2B5EF4-FFF2-40B4-BE49-F238E27FC236}">
                <a16:creationId xmlns:a16="http://schemas.microsoft.com/office/drawing/2014/main" id="{377AE753-0618-4BF7-915E-7012C3C8FBCC}"/>
              </a:ext>
            </a:extLst>
          </p:cNvPr>
          <p:cNvCxnSpPr>
            <a:cxnSpLocks/>
          </p:cNvCxnSpPr>
          <p:nvPr/>
        </p:nvCxnSpPr>
        <p:spPr bwMode="gray">
          <a:xfrm>
            <a:off x="6951363" y="2607388"/>
            <a:ext cx="1686637" cy="2719"/>
          </a:xfrm>
          <a:prstGeom prst="straightConnector1">
            <a:avLst/>
          </a:prstGeom>
          <a:ln w="190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88">
            <a:extLst>
              <a:ext uri="{FF2B5EF4-FFF2-40B4-BE49-F238E27FC236}">
                <a16:creationId xmlns:a16="http://schemas.microsoft.com/office/drawing/2014/main" id="{C6F51EAE-D18B-4135-9A48-C74B96EB3294}"/>
              </a:ext>
            </a:extLst>
          </p:cNvPr>
          <p:cNvCxnSpPr>
            <a:cxnSpLocks/>
          </p:cNvCxnSpPr>
          <p:nvPr/>
        </p:nvCxnSpPr>
        <p:spPr bwMode="gray">
          <a:xfrm>
            <a:off x="6960607" y="2688300"/>
            <a:ext cx="1686637" cy="2719"/>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82">
            <a:extLst>
              <a:ext uri="{FF2B5EF4-FFF2-40B4-BE49-F238E27FC236}">
                <a16:creationId xmlns:a16="http://schemas.microsoft.com/office/drawing/2014/main" id="{600DC34C-0D01-49B1-A67E-1B2B5A5CC7FC}"/>
              </a:ext>
            </a:extLst>
          </p:cNvPr>
          <p:cNvCxnSpPr>
            <a:cxnSpLocks/>
          </p:cNvCxnSpPr>
          <p:nvPr/>
        </p:nvCxnSpPr>
        <p:spPr bwMode="gray">
          <a:xfrm>
            <a:off x="6951363" y="2965311"/>
            <a:ext cx="1686637" cy="2719"/>
          </a:xfrm>
          <a:prstGeom prst="straightConnector1">
            <a:avLst/>
          </a:prstGeom>
          <a:ln w="19050">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85">
            <a:extLst>
              <a:ext uri="{FF2B5EF4-FFF2-40B4-BE49-F238E27FC236}">
                <a16:creationId xmlns:a16="http://schemas.microsoft.com/office/drawing/2014/main" id="{377AE753-0618-4BF7-915E-7012C3C8FBCC}"/>
              </a:ext>
            </a:extLst>
          </p:cNvPr>
          <p:cNvCxnSpPr>
            <a:cxnSpLocks/>
          </p:cNvCxnSpPr>
          <p:nvPr/>
        </p:nvCxnSpPr>
        <p:spPr bwMode="gray">
          <a:xfrm>
            <a:off x="6951363" y="3052427"/>
            <a:ext cx="1686637" cy="2719"/>
          </a:xfrm>
          <a:prstGeom prst="straightConnector1">
            <a:avLst/>
          </a:prstGeom>
          <a:ln w="190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88">
            <a:extLst>
              <a:ext uri="{FF2B5EF4-FFF2-40B4-BE49-F238E27FC236}">
                <a16:creationId xmlns:a16="http://schemas.microsoft.com/office/drawing/2014/main" id="{C6F51EAE-D18B-4135-9A48-C74B96EB3294}"/>
              </a:ext>
            </a:extLst>
          </p:cNvPr>
          <p:cNvCxnSpPr>
            <a:cxnSpLocks/>
          </p:cNvCxnSpPr>
          <p:nvPr/>
        </p:nvCxnSpPr>
        <p:spPr bwMode="gray">
          <a:xfrm>
            <a:off x="6960607" y="3133339"/>
            <a:ext cx="1686637" cy="2719"/>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5" name="Straight Arrow Connector 85">
            <a:extLst>
              <a:ext uri="{FF2B5EF4-FFF2-40B4-BE49-F238E27FC236}">
                <a16:creationId xmlns:a16="http://schemas.microsoft.com/office/drawing/2014/main" id="{377AE753-0618-4BF7-915E-7012C3C8FBCC}"/>
              </a:ext>
            </a:extLst>
          </p:cNvPr>
          <p:cNvCxnSpPr>
            <a:cxnSpLocks/>
          </p:cNvCxnSpPr>
          <p:nvPr/>
        </p:nvCxnSpPr>
        <p:spPr bwMode="gray">
          <a:xfrm>
            <a:off x="6951363" y="3423998"/>
            <a:ext cx="1686637" cy="2719"/>
          </a:xfrm>
          <a:prstGeom prst="straightConnector1">
            <a:avLst/>
          </a:prstGeom>
          <a:ln w="190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82">
            <a:extLst>
              <a:ext uri="{FF2B5EF4-FFF2-40B4-BE49-F238E27FC236}">
                <a16:creationId xmlns:a16="http://schemas.microsoft.com/office/drawing/2014/main" id="{600DC34C-0D01-49B1-A67E-1B2B5A5CC7FC}"/>
              </a:ext>
            </a:extLst>
          </p:cNvPr>
          <p:cNvCxnSpPr>
            <a:cxnSpLocks/>
          </p:cNvCxnSpPr>
          <p:nvPr/>
        </p:nvCxnSpPr>
        <p:spPr bwMode="gray">
          <a:xfrm>
            <a:off x="6951363" y="3847014"/>
            <a:ext cx="1686637" cy="2719"/>
          </a:xfrm>
          <a:prstGeom prst="straightConnector1">
            <a:avLst/>
          </a:prstGeom>
          <a:ln w="19050">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85">
            <a:extLst>
              <a:ext uri="{FF2B5EF4-FFF2-40B4-BE49-F238E27FC236}">
                <a16:creationId xmlns:a16="http://schemas.microsoft.com/office/drawing/2014/main" id="{377AE753-0618-4BF7-915E-7012C3C8FBCC}"/>
              </a:ext>
            </a:extLst>
          </p:cNvPr>
          <p:cNvCxnSpPr>
            <a:cxnSpLocks/>
          </p:cNvCxnSpPr>
          <p:nvPr/>
        </p:nvCxnSpPr>
        <p:spPr bwMode="gray">
          <a:xfrm>
            <a:off x="6951363" y="4301316"/>
            <a:ext cx="1686637" cy="2719"/>
          </a:xfrm>
          <a:prstGeom prst="straightConnector1">
            <a:avLst/>
          </a:prstGeom>
          <a:ln w="190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06707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信息的过滤</a:t>
            </a:r>
          </a:p>
        </p:txBody>
      </p:sp>
      <p:sp>
        <p:nvSpPr>
          <p:cNvPr id="3" name="文本占位符 2"/>
          <p:cNvSpPr>
            <a:spLocks noGrp="1"/>
          </p:cNvSpPr>
          <p:nvPr>
            <p:ph type="body" sz="quarter" idx="10"/>
          </p:nvPr>
        </p:nvSpPr>
        <p:spPr bwMode="gray"/>
        <p:txBody>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为了使信息的输出控制更加灵活，信息中心提供了信息过滤的功能。设备正常运行后，各模块在业务处理时都会上报信息。当用户希望过滤某些不需要关注的业务模块</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级别的信息时，可以配置信息在信息通道中的过滤功能。</a:t>
            </a: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信息中心通过信息过滤表实现信息在通道中的过滤。信息过滤表是根据信息分类、分级、来源对输出到各个方向的信息进行过滤的。</a:t>
            </a: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信息过滤表记录的内容如下所示：</a:t>
            </a:r>
          </a:p>
          <a:p>
            <a:pPr lvl="1"/>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信息模块号</a:t>
            </a:r>
          </a:p>
          <a:p>
            <a:pPr lvl="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信息输出开关状态</a:t>
            </a:r>
          </a:p>
          <a:p>
            <a:pPr lvl="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信息输出过滤级别</a:t>
            </a:r>
          </a:p>
          <a:p>
            <a:pPr lvl="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信息输出开关状态</a:t>
            </a:r>
          </a:p>
          <a:p>
            <a:pPr lvl="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信息输出过滤级别</a:t>
            </a:r>
          </a:p>
          <a:p>
            <a:pPr lvl="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信息输出开关状态</a:t>
            </a:r>
          </a:p>
          <a:p>
            <a:pPr lvl="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信息输出过滤级别</a:t>
            </a:r>
          </a:p>
        </p:txBody>
      </p:sp>
    </p:spTree>
    <p:extLst>
      <p:ext uri="{BB962C8B-B14F-4D97-AF65-F5344CB8AC3E}">
        <p14:creationId xmlns:p14="http://schemas.microsoft.com/office/powerpoint/2010/main" val="3245621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信息的输出格式</a:t>
            </a:r>
          </a:p>
        </p:txBody>
      </p:sp>
      <p:sp>
        <p:nvSpPr>
          <p:cNvPr id="3" name="文本占位符 2"/>
          <p:cNvSpPr>
            <a:spLocks noGrp="1"/>
          </p:cNvSpPr>
          <p:nvPr>
            <p:ph type="body" sz="quarter" idx="10"/>
          </p:nvPr>
        </p:nvSpPr>
        <p:spPr bwMode="gray"/>
        <p:txBody>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信息的输出格式</a:t>
            </a:r>
          </a:p>
        </p:txBody>
      </p:sp>
      <p:sp>
        <p:nvSpPr>
          <p:cNvPr id="4" name="文本框 3"/>
          <p:cNvSpPr txBox="1"/>
          <p:nvPr/>
        </p:nvSpPr>
        <p:spPr bwMode="gray">
          <a:xfrm>
            <a:off x="935052" y="2105525"/>
            <a:ext cx="27122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1796727" y="2105525"/>
            <a:ext cx="271228" cy="276999"/>
          </a:xfrm>
          <a:prstGeom prst="rect">
            <a:avLst/>
          </a:prstGeom>
          <a:noFill/>
        </p:spPr>
        <p:txBody>
          <a:bodyPr wrap="none" rtlCol="0">
            <a:spAutoFit/>
          </a:bodyPr>
          <a:lstStyle/>
          <a:p>
            <a:r>
              <a:rPr lang="en-US" altLang="zh-CN"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文本框 5"/>
          <p:cNvSpPr txBox="1"/>
          <p:nvPr/>
        </p:nvSpPr>
        <p:spPr bwMode="gray">
          <a:xfrm>
            <a:off x="2602326" y="2105525"/>
            <a:ext cx="27122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3472686" y="2105525"/>
            <a:ext cx="271228" cy="276999"/>
          </a:xfrm>
          <a:prstGeom prst="rect">
            <a:avLst/>
          </a:prstGeom>
          <a:noFill/>
        </p:spPr>
        <p:txBody>
          <a:bodyPr wrap="none" rtlCol="0">
            <a:spAutoFit/>
          </a:bodyPr>
          <a:lstStyle>
            <a:defPPr>
              <a:defRPr lang="en-US"/>
            </a:defPPr>
            <a:lvl1pPr>
              <a:defRPr sz="1200">
                <a:solidFill>
                  <a:srgbClr val="00B0F0"/>
                </a:solidFill>
              </a:defRPr>
            </a:lvl1pPr>
          </a:lstStyle>
          <a:p>
            <a:r>
              <a:rPr lang="en-US" altLang="zh-CN"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p:cNvSpPr txBox="1"/>
          <p:nvPr/>
        </p:nvSpPr>
        <p:spPr bwMode="gray">
          <a:xfrm>
            <a:off x="4014094" y="2105525"/>
            <a:ext cx="27122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p:cNvSpPr txBox="1"/>
          <p:nvPr/>
        </p:nvSpPr>
        <p:spPr bwMode="gray">
          <a:xfrm>
            <a:off x="4281486" y="2105525"/>
            <a:ext cx="271228" cy="276999"/>
          </a:xfrm>
          <a:prstGeom prst="rect">
            <a:avLst/>
          </a:prstGeom>
          <a:noFill/>
        </p:spPr>
        <p:txBody>
          <a:bodyPr wrap="none" rtlCol="0">
            <a:spAutoFit/>
          </a:bodyPr>
          <a:lstStyle>
            <a:defPPr>
              <a:defRPr lang="en-US"/>
            </a:defPPr>
            <a:lvl1pPr>
              <a:defRPr sz="1200">
                <a:solidFill>
                  <a:srgbClr val="00B0F0"/>
                </a:solidFill>
              </a:defRPr>
            </a:lvl1pPr>
          </a:lstStyle>
          <a:p>
            <a:r>
              <a:rPr lang="en-US" altLang="zh-CN"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6</a:t>
            </a:r>
            <a:endParaRPr lang="zh-CN" altLang="en-US"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p:cNvSpPr txBox="1"/>
          <p:nvPr/>
        </p:nvSpPr>
        <p:spPr bwMode="gray">
          <a:xfrm>
            <a:off x="4965709" y="2105525"/>
            <a:ext cx="27122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7</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p:cNvSpPr txBox="1"/>
          <p:nvPr/>
        </p:nvSpPr>
        <p:spPr bwMode="gray">
          <a:xfrm>
            <a:off x="5853413" y="2105525"/>
            <a:ext cx="271228" cy="276999"/>
          </a:xfrm>
          <a:prstGeom prst="rect">
            <a:avLst/>
          </a:prstGeom>
          <a:noFill/>
        </p:spPr>
        <p:txBody>
          <a:bodyPr wrap="none" rtlCol="0">
            <a:spAutoFit/>
          </a:bodyPr>
          <a:lstStyle>
            <a:defPPr>
              <a:defRPr lang="en-US"/>
            </a:defPPr>
            <a:lvl1pPr>
              <a:defRPr sz="1200">
                <a:solidFill>
                  <a:srgbClr val="00B0F0"/>
                </a:solidFill>
              </a:defRPr>
            </a:lvl1pPr>
          </a:lstStyle>
          <a:p>
            <a:r>
              <a:rPr lang="en-US" altLang="zh-CN"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8</a:t>
            </a:r>
            <a:endParaRPr lang="zh-CN" altLang="en-US"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6403850" y="2105525"/>
            <a:ext cx="27122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9</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6686994" y="2105525"/>
            <a:ext cx="357790" cy="276999"/>
          </a:xfrm>
          <a:prstGeom prst="rect">
            <a:avLst/>
          </a:prstGeom>
          <a:noFill/>
        </p:spPr>
        <p:txBody>
          <a:bodyPr wrap="none" rtlCol="0">
            <a:spAutoFit/>
          </a:bodyPr>
          <a:lstStyle>
            <a:defPPr>
              <a:defRPr lang="en-US"/>
            </a:defPPr>
            <a:lvl1pPr>
              <a:defRPr sz="1200">
                <a:solidFill>
                  <a:srgbClr val="00B0F0"/>
                </a:solidFill>
              </a:defRPr>
            </a:lvl1pPr>
          </a:lstStyle>
          <a:p>
            <a:r>
              <a:rPr lang="en-US" altLang="zh-CN"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7154847" y="2105525"/>
            <a:ext cx="357790"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7813070" y="2105525"/>
            <a:ext cx="357790" cy="276999"/>
          </a:xfrm>
          <a:prstGeom prst="rect">
            <a:avLst/>
          </a:prstGeom>
          <a:noFill/>
        </p:spPr>
        <p:txBody>
          <a:bodyPr wrap="none" rtlCol="0">
            <a:spAutoFit/>
          </a:bodyPr>
          <a:lstStyle>
            <a:defPPr>
              <a:defRPr lang="en-US"/>
            </a:defPPr>
            <a:lvl1pPr>
              <a:defRPr sz="1200">
                <a:solidFill>
                  <a:srgbClr val="00B0F0"/>
                </a:solidFill>
              </a:defRPr>
            </a:lvl1pPr>
          </a:lstStyle>
          <a:p>
            <a:r>
              <a:rPr lang="en-US" altLang="zh-CN"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12</a:t>
            </a:r>
            <a:endParaRPr lang="zh-CN" altLang="en-US"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886000" y="2426312"/>
            <a:ext cx="369332" cy="828249"/>
          </a:xfrm>
          <a:prstGeom prst="rect">
            <a:avLst/>
          </a:prstGeom>
          <a:noFill/>
        </p:spPr>
        <p:txBody>
          <a:bodyPr vert="eaVert"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前导符</a:t>
            </a:r>
          </a:p>
        </p:txBody>
      </p:sp>
      <p:sp>
        <p:nvSpPr>
          <p:cNvPr id="17" name="文本框 16"/>
          <p:cNvSpPr txBox="1"/>
          <p:nvPr/>
        </p:nvSpPr>
        <p:spPr bwMode="gray">
          <a:xfrm>
            <a:off x="1747675" y="2426312"/>
            <a:ext cx="369332" cy="828249"/>
          </a:xfrm>
          <a:prstGeom prst="rect">
            <a:avLst/>
          </a:prstGeom>
          <a:noFill/>
        </p:spPr>
        <p:txBody>
          <a:bodyPr vert="eaVert" wrap="square" rtlCol="0">
            <a:spAutoFit/>
          </a:bodyPr>
          <a:lstStyle/>
          <a:p>
            <a:r>
              <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时间戳</a:t>
            </a:r>
          </a:p>
        </p:txBody>
      </p:sp>
      <p:sp>
        <p:nvSpPr>
          <p:cNvPr id="18" name="文本框 17"/>
          <p:cNvSpPr txBox="1"/>
          <p:nvPr/>
        </p:nvSpPr>
        <p:spPr bwMode="gray">
          <a:xfrm>
            <a:off x="2553274" y="2426312"/>
            <a:ext cx="369332" cy="828249"/>
          </a:xfrm>
          <a:prstGeom prst="rect">
            <a:avLst/>
          </a:prstGeom>
          <a:noFill/>
        </p:spPr>
        <p:txBody>
          <a:bodyPr vert="eaVert"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时区</a:t>
            </a:r>
          </a:p>
        </p:txBody>
      </p:sp>
      <p:sp>
        <p:nvSpPr>
          <p:cNvPr id="19" name="文本框 18"/>
          <p:cNvSpPr txBox="1"/>
          <p:nvPr/>
        </p:nvSpPr>
        <p:spPr bwMode="gray">
          <a:xfrm>
            <a:off x="3423634" y="2426312"/>
            <a:ext cx="369332" cy="828249"/>
          </a:xfrm>
          <a:prstGeom prst="rect">
            <a:avLst/>
          </a:prstGeom>
          <a:noFill/>
        </p:spPr>
        <p:txBody>
          <a:bodyPr vert="eaVert" wrap="square" rtlCol="0">
            <a:spAutoFit/>
          </a:bodyPr>
          <a:lstStyle/>
          <a:p>
            <a:r>
              <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主机名</a:t>
            </a:r>
          </a:p>
        </p:txBody>
      </p:sp>
      <p:sp>
        <p:nvSpPr>
          <p:cNvPr id="20" name="文本框 19"/>
          <p:cNvSpPr txBox="1"/>
          <p:nvPr/>
        </p:nvSpPr>
        <p:spPr bwMode="gray">
          <a:xfrm>
            <a:off x="3965042" y="2426312"/>
            <a:ext cx="369332" cy="828249"/>
          </a:xfrm>
          <a:prstGeom prst="rect">
            <a:avLst/>
          </a:prstGeom>
          <a:noFill/>
        </p:spPr>
        <p:txBody>
          <a:bodyPr vert="eaVert"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华为标识</a:t>
            </a:r>
          </a:p>
        </p:txBody>
      </p:sp>
      <p:sp>
        <p:nvSpPr>
          <p:cNvPr id="21" name="文本框 20"/>
          <p:cNvSpPr txBox="1"/>
          <p:nvPr/>
        </p:nvSpPr>
        <p:spPr bwMode="gray">
          <a:xfrm>
            <a:off x="4232434" y="2426312"/>
            <a:ext cx="369332" cy="828249"/>
          </a:xfrm>
          <a:prstGeom prst="rect">
            <a:avLst/>
          </a:prstGeom>
          <a:noFill/>
        </p:spPr>
        <p:txBody>
          <a:bodyPr vert="eaVert" wrap="square" rtlCol="0">
            <a:spAutoFit/>
          </a:bodyPr>
          <a:lstStyle/>
          <a:p>
            <a:r>
              <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版本号</a:t>
            </a:r>
          </a:p>
        </p:txBody>
      </p:sp>
      <p:sp>
        <p:nvSpPr>
          <p:cNvPr id="22" name="文本框 21"/>
          <p:cNvSpPr txBox="1"/>
          <p:nvPr/>
        </p:nvSpPr>
        <p:spPr bwMode="gray">
          <a:xfrm>
            <a:off x="4916657" y="2426312"/>
            <a:ext cx="369332" cy="828249"/>
          </a:xfrm>
          <a:prstGeom prst="rect">
            <a:avLst/>
          </a:prstGeom>
          <a:noFill/>
        </p:spPr>
        <p:txBody>
          <a:bodyPr vert="eaVert"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模块名</a:t>
            </a:r>
          </a:p>
        </p:txBody>
      </p:sp>
      <p:sp>
        <p:nvSpPr>
          <p:cNvPr id="23" name="文本框 22"/>
          <p:cNvSpPr txBox="1"/>
          <p:nvPr/>
        </p:nvSpPr>
        <p:spPr bwMode="gray">
          <a:xfrm>
            <a:off x="5804361" y="2426312"/>
            <a:ext cx="369332" cy="828249"/>
          </a:xfrm>
          <a:prstGeom prst="rect">
            <a:avLst/>
          </a:prstGeom>
          <a:noFill/>
        </p:spPr>
        <p:txBody>
          <a:bodyPr vert="eaVert" wrap="square" rtlCol="0">
            <a:spAutoFit/>
          </a:bodyPr>
          <a:lstStyle/>
          <a:p>
            <a:r>
              <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日志级别</a:t>
            </a:r>
          </a:p>
        </p:txBody>
      </p:sp>
      <p:sp>
        <p:nvSpPr>
          <p:cNvPr id="24" name="文本框 23"/>
          <p:cNvSpPr txBox="1"/>
          <p:nvPr/>
        </p:nvSpPr>
        <p:spPr bwMode="gray">
          <a:xfrm>
            <a:off x="6354798" y="2426312"/>
            <a:ext cx="369332" cy="828249"/>
          </a:xfrm>
          <a:prstGeom prst="rect">
            <a:avLst/>
          </a:prstGeom>
          <a:noFill/>
        </p:spPr>
        <p:txBody>
          <a:bodyPr vert="eaVert"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信息摘要</a:t>
            </a:r>
          </a:p>
        </p:txBody>
      </p:sp>
      <p:sp>
        <p:nvSpPr>
          <p:cNvPr id="25" name="文本框 24"/>
          <p:cNvSpPr txBox="1"/>
          <p:nvPr/>
        </p:nvSpPr>
        <p:spPr bwMode="gray">
          <a:xfrm>
            <a:off x="6681223" y="2426312"/>
            <a:ext cx="369332" cy="828249"/>
          </a:xfrm>
          <a:prstGeom prst="rect">
            <a:avLst/>
          </a:prstGeom>
          <a:noFill/>
        </p:spPr>
        <p:txBody>
          <a:bodyPr vert="eaVert" wrap="square" rtlCol="0">
            <a:spAutoFit/>
          </a:bodyPr>
          <a:lstStyle>
            <a:defPPr>
              <a:defRPr lang="en-US"/>
            </a:defPPr>
            <a:lvl1pPr>
              <a:defRPr sz="1200">
                <a:solidFill>
                  <a:srgbClr val="00B0F0"/>
                </a:solidFill>
              </a:defRPr>
            </a:lvl1pPr>
          </a:lstStyle>
          <a:p>
            <a:r>
              <a:rPr lang="zh-CN" altLang="en-US"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日志标识</a:t>
            </a:r>
          </a:p>
        </p:txBody>
      </p:sp>
      <p:sp>
        <p:nvSpPr>
          <p:cNvPr id="26" name="文本框 25"/>
          <p:cNvSpPr txBox="1"/>
          <p:nvPr/>
        </p:nvSpPr>
        <p:spPr bwMode="gray">
          <a:xfrm>
            <a:off x="7149076" y="2426312"/>
            <a:ext cx="369332" cy="828249"/>
          </a:xfrm>
          <a:prstGeom prst="rect">
            <a:avLst/>
          </a:prstGeom>
          <a:noFill/>
        </p:spPr>
        <p:txBody>
          <a:bodyPr vert="eaVert"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流水号</a:t>
            </a:r>
          </a:p>
        </p:txBody>
      </p:sp>
      <p:sp>
        <p:nvSpPr>
          <p:cNvPr id="27" name="文本框 26"/>
          <p:cNvSpPr txBox="1"/>
          <p:nvPr/>
        </p:nvSpPr>
        <p:spPr bwMode="gray">
          <a:xfrm>
            <a:off x="7807299" y="2426312"/>
            <a:ext cx="369332" cy="828249"/>
          </a:xfrm>
          <a:prstGeom prst="rect">
            <a:avLst/>
          </a:prstGeom>
          <a:noFill/>
        </p:spPr>
        <p:txBody>
          <a:bodyPr vert="eaVert" wrap="square" rtlCol="0">
            <a:spAutoFit/>
          </a:bodyPr>
          <a:lstStyle>
            <a:defPPr>
              <a:defRPr lang="en-US"/>
            </a:defPPr>
            <a:lvl1pPr>
              <a:defRPr sz="1200">
                <a:solidFill>
                  <a:srgbClr val="00B0F0"/>
                </a:solidFill>
              </a:defRPr>
            </a:lvl1pPr>
          </a:lstStyle>
          <a:p>
            <a:r>
              <a:rPr lang="zh-CN" altLang="en-US"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详细信息</a:t>
            </a:r>
          </a:p>
        </p:txBody>
      </p:sp>
      <p:sp>
        <p:nvSpPr>
          <p:cNvPr id="28" name="文本占位符 2"/>
          <p:cNvSpPr txBox="1">
            <a:spLocks/>
          </p:cNvSpPr>
          <p:nvPr/>
        </p:nvSpPr>
        <p:spPr bwMode="gray">
          <a:xfrm>
            <a:off x="468317" y="2931743"/>
            <a:ext cx="11276183" cy="105071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信息的输出格式 </a:t>
            </a:r>
          </a:p>
        </p:txBody>
      </p:sp>
      <p:sp>
        <p:nvSpPr>
          <p:cNvPr id="29" name="文本框 28"/>
          <p:cNvSpPr txBox="1"/>
          <p:nvPr/>
        </p:nvSpPr>
        <p:spPr bwMode="gray">
          <a:xfrm>
            <a:off x="673763" y="1849435"/>
            <a:ext cx="793807"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&lt;Int_16&gt;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a:off x="1441662" y="1849435"/>
            <a:ext cx="981359" cy="276999"/>
          </a:xfrm>
          <a:prstGeom prst="rect">
            <a:avLst/>
          </a:prstGeom>
          <a:noFill/>
        </p:spPr>
        <p:txBody>
          <a:bodyPr wrap="none" rtlCol="0">
            <a:spAutoFit/>
          </a:bodyPr>
          <a:lstStyle/>
          <a:p>
            <a:r>
              <a:rPr lang="en-US" altLang="zh-CN" sz="1200" dirty="0" err="1">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TimeStamp</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bwMode="gray">
          <a:xfrm>
            <a:off x="2298557" y="1849435"/>
            <a:ext cx="878767" cy="276999"/>
          </a:xfrm>
          <a:prstGeom prst="rect">
            <a:avLst/>
          </a:prstGeom>
          <a:noFill/>
        </p:spPr>
        <p:txBody>
          <a:bodyPr wrap="none" rtlCol="0">
            <a:spAutoFit/>
          </a:bodyPr>
          <a:lstStyle/>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TimeZone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3140865" y="1849435"/>
            <a:ext cx="934871" cy="276999"/>
          </a:xfrm>
          <a:prstGeom prst="rect">
            <a:avLst/>
          </a:prstGeom>
          <a:noFill/>
        </p:spPr>
        <p:txBody>
          <a:bodyPr wrap="none" rtlCol="0">
            <a:spAutoFit/>
          </a:bodyPr>
          <a:lstStyle/>
          <a:p>
            <a:r>
              <a:rPr lang="en-US" altLang="zh-CN" sz="1200" dirty="0" err="1">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HostName</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bwMode="gray">
          <a:xfrm>
            <a:off x="3917914" y="1849435"/>
            <a:ext cx="46358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4501640" y="1849435"/>
            <a:ext cx="1199367" cy="276999"/>
          </a:xfrm>
          <a:prstGeom prst="rect">
            <a:avLst/>
          </a:prstGeom>
          <a:noFill/>
        </p:spPr>
        <p:txBody>
          <a:bodyPr wrap="none" rtlCol="0">
            <a:spAutoFit/>
          </a:bodyPr>
          <a:lstStyle/>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ModuleName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4236602" y="1849435"/>
            <a:ext cx="360996" cy="276999"/>
          </a:xfrm>
          <a:prstGeom prst="rect">
            <a:avLst/>
          </a:prstGeom>
          <a:noFill/>
        </p:spPr>
        <p:txBody>
          <a:bodyPr wrap="none" rtlCol="0">
            <a:spAutoFit/>
          </a:bodyPr>
          <a:lstStyle/>
          <a:p>
            <a:r>
              <a:rPr lang="en-US" altLang="zh-CN" sz="1200" dirty="0" err="1">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dd</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5564071" y="1849435"/>
            <a:ext cx="792205" cy="276999"/>
          </a:xfrm>
          <a:prstGeom prst="rect">
            <a:avLst/>
          </a:prstGeom>
          <a:noFill/>
        </p:spPr>
        <p:txBody>
          <a:bodyPr wrap="none" rtlCol="0">
            <a:spAutoFit/>
          </a:bodyPr>
          <a:lstStyle/>
          <a:p>
            <a:r>
              <a:rPr lang="en-US" altLang="zh-CN"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Severity/</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6284426" y="1849435"/>
            <a:ext cx="510076"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Brief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6666155" y="1849435"/>
            <a:ext cx="399468" cy="276999"/>
          </a:xfrm>
          <a:prstGeom prst="rect">
            <a:avLst/>
          </a:prstGeom>
          <a:noFill/>
        </p:spPr>
        <p:txBody>
          <a:bodyPr wrap="none" rtlCol="0">
            <a:spAutoFit/>
          </a:bodyPr>
          <a:lstStyle/>
          <a:p>
            <a:r>
              <a:rPr lang="en-US" altLang="zh-CN"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7010577" y="1849435"/>
            <a:ext cx="646331"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[DDD]</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7488462" y="1849435"/>
            <a:ext cx="1007007" cy="276999"/>
          </a:xfrm>
          <a:prstGeom prst="rect">
            <a:avLst/>
          </a:prstGeom>
          <a:noFill/>
        </p:spPr>
        <p:txBody>
          <a:bodyPr wrap="none" rtlCol="0">
            <a:spAutoFit/>
          </a:bodyPr>
          <a:lstStyle/>
          <a:p>
            <a:r>
              <a:rPr lang="en-US" altLang="zh-CN"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:Description</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949569" y="4327992"/>
            <a:ext cx="27122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1483906" y="4327992"/>
            <a:ext cx="271228" cy="276999"/>
          </a:xfrm>
          <a:prstGeom prst="rect">
            <a:avLst/>
          </a:prstGeom>
          <a:noFill/>
        </p:spPr>
        <p:txBody>
          <a:bodyPr wrap="none" rtlCol="0">
            <a:spAutoFit/>
          </a:bodyPr>
          <a:lstStyle/>
          <a:p>
            <a:r>
              <a:rPr lang="en-US" altLang="zh-CN"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2373729" y="4327992"/>
            <a:ext cx="27122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3159865" y="4327992"/>
            <a:ext cx="271228" cy="276999"/>
          </a:xfrm>
          <a:prstGeom prst="rect">
            <a:avLst/>
          </a:prstGeom>
          <a:noFill/>
        </p:spPr>
        <p:txBody>
          <a:bodyPr wrap="none" rtlCol="0">
            <a:spAutoFit/>
          </a:bodyPr>
          <a:lstStyle>
            <a:defPPr>
              <a:defRPr lang="en-US"/>
            </a:defPPr>
            <a:lvl1pPr>
              <a:defRPr sz="1200">
                <a:solidFill>
                  <a:srgbClr val="00B0F0"/>
                </a:solidFill>
              </a:defRPr>
            </a:lvl1pPr>
          </a:lstStyle>
          <a:p>
            <a:r>
              <a:rPr lang="en-US" altLang="zh-CN"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4087395" y="4327992"/>
            <a:ext cx="27122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5141229" y="4327992"/>
            <a:ext cx="271228" cy="276999"/>
          </a:xfrm>
          <a:prstGeom prst="rect">
            <a:avLst/>
          </a:prstGeom>
          <a:noFill/>
        </p:spPr>
        <p:txBody>
          <a:bodyPr wrap="none" rtlCol="0">
            <a:spAutoFit/>
          </a:bodyPr>
          <a:lstStyle>
            <a:defPPr>
              <a:defRPr lang="en-US"/>
            </a:defPPr>
            <a:lvl1pPr>
              <a:defRPr sz="1200">
                <a:solidFill>
                  <a:srgbClr val="00B0F0"/>
                </a:solidFill>
              </a:defRPr>
            </a:lvl1pPr>
          </a:lstStyle>
          <a:p>
            <a:r>
              <a:rPr lang="en-US" altLang="zh-CN"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6</a:t>
            </a:r>
            <a:endParaRPr lang="zh-CN" altLang="en-US"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5674736" y="4327992"/>
            <a:ext cx="27122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7</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6521416" y="4327992"/>
            <a:ext cx="271228" cy="276999"/>
          </a:xfrm>
          <a:prstGeom prst="rect">
            <a:avLst/>
          </a:prstGeom>
          <a:noFill/>
        </p:spPr>
        <p:txBody>
          <a:bodyPr wrap="none" rtlCol="0">
            <a:spAutoFit/>
          </a:bodyPr>
          <a:lstStyle>
            <a:defPPr>
              <a:defRPr lang="en-US"/>
            </a:defPPr>
            <a:lvl1pPr>
              <a:defRPr sz="1200">
                <a:solidFill>
                  <a:srgbClr val="00B0F0"/>
                </a:solidFill>
              </a:defRPr>
            </a:lvl1pPr>
          </a:lstStyle>
          <a:p>
            <a:r>
              <a:rPr lang="en-US" altLang="zh-CN"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8</a:t>
            </a:r>
            <a:endParaRPr lang="zh-CN" altLang="en-US"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a:off x="900517" y="4648779"/>
            <a:ext cx="369332" cy="828249"/>
          </a:xfrm>
          <a:prstGeom prst="rect">
            <a:avLst/>
          </a:prstGeom>
          <a:noFill/>
        </p:spPr>
        <p:txBody>
          <a:bodyPr vert="eaVert"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信息类型</a:t>
            </a:r>
          </a:p>
        </p:txBody>
      </p:sp>
      <p:sp>
        <p:nvSpPr>
          <p:cNvPr id="57" name="文本框 56"/>
          <p:cNvSpPr txBox="1"/>
          <p:nvPr/>
        </p:nvSpPr>
        <p:spPr bwMode="gray">
          <a:xfrm>
            <a:off x="1434854" y="4648779"/>
            <a:ext cx="369332" cy="828249"/>
          </a:xfrm>
          <a:prstGeom prst="rect">
            <a:avLst/>
          </a:prstGeom>
          <a:noFill/>
        </p:spPr>
        <p:txBody>
          <a:bodyPr vert="eaVert" wrap="square" rtlCol="0">
            <a:spAutoFit/>
          </a:bodyPr>
          <a:lstStyle/>
          <a:p>
            <a:r>
              <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时间戳</a:t>
            </a:r>
          </a:p>
        </p:txBody>
      </p:sp>
      <p:sp>
        <p:nvSpPr>
          <p:cNvPr id="58" name="文本框 57"/>
          <p:cNvSpPr txBox="1"/>
          <p:nvPr/>
        </p:nvSpPr>
        <p:spPr bwMode="gray">
          <a:xfrm>
            <a:off x="2324677" y="4648779"/>
            <a:ext cx="369332" cy="828249"/>
          </a:xfrm>
          <a:prstGeom prst="rect">
            <a:avLst/>
          </a:prstGeom>
          <a:noFill/>
        </p:spPr>
        <p:txBody>
          <a:bodyPr vert="eaVert"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时区</a:t>
            </a:r>
          </a:p>
        </p:txBody>
      </p:sp>
      <p:sp>
        <p:nvSpPr>
          <p:cNvPr id="59" name="文本框 58"/>
          <p:cNvSpPr txBox="1"/>
          <p:nvPr/>
        </p:nvSpPr>
        <p:spPr bwMode="gray">
          <a:xfrm>
            <a:off x="3110813" y="4648779"/>
            <a:ext cx="369332" cy="828249"/>
          </a:xfrm>
          <a:prstGeom prst="rect">
            <a:avLst/>
          </a:prstGeom>
          <a:noFill/>
        </p:spPr>
        <p:txBody>
          <a:bodyPr vert="eaVert" wrap="square" rtlCol="0">
            <a:spAutoFit/>
          </a:bodyPr>
          <a:lstStyle/>
          <a:p>
            <a:r>
              <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主机名</a:t>
            </a:r>
          </a:p>
        </p:txBody>
      </p:sp>
      <p:sp>
        <p:nvSpPr>
          <p:cNvPr id="60" name="文本框 59"/>
          <p:cNvSpPr txBox="1"/>
          <p:nvPr/>
        </p:nvSpPr>
        <p:spPr bwMode="gray">
          <a:xfrm>
            <a:off x="4038343" y="4648779"/>
            <a:ext cx="369332" cy="828249"/>
          </a:xfrm>
          <a:prstGeom prst="rect">
            <a:avLst/>
          </a:prstGeom>
          <a:noFill/>
        </p:spPr>
        <p:txBody>
          <a:bodyPr vert="eaVert"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模块名</a:t>
            </a:r>
          </a:p>
        </p:txBody>
      </p:sp>
      <p:sp>
        <p:nvSpPr>
          <p:cNvPr id="61" name="文本框 60"/>
          <p:cNvSpPr txBox="1"/>
          <p:nvPr/>
        </p:nvSpPr>
        <p:spPr bwMode="gray">
          <a:xfrm>
            <a:off x="5092177" y="4664277"/>
            <a:ext cx="369332" cy="828249"/>
          </a:xfrm>
          <a:prstGeom prst="rect">
            <a:avLst/>
          </a:prstGeom>
          <a:noFill/>
        </p:spPr>
        <p:txBody>
          <a:bodyPr vert="eaVert" wrap="square" rtlCol="0">
            <a:spAutoFit/>
          </a:bodyPr>
          <a:lstStyle/>
          <a:p>
            <a:r>
              <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告警级别</a:t>
            </a:r>
          </a:p>
        </p:txBody>
      </p:sp>
      <p:sp>
        <p:nvSpPr>
          <p:cNvPr id="62" name="文本框 61"/>
          <p:cNvSpPr txBox="1"/>
          <p:nvPr/>
        </p:nvSpPr>
        <p:spPr bwMode="gray">
          <a:xfrm>
            <a:off x="5625684" y="4648779"/>
            <a:ext cx="369332" cy="828249"/>
          </a:xfrm>
          <a:prstGeom prst="rect">
            <a:avLst/>
          </a:prstGeom>
          <a:noFill/>
        </p:spPr>
        <p:txBody>
          <a:bodyPr vert="eaVert"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信息摘要</a:t>
            </a:r>
          </a:p>
        </p:txBody>
      </p:sp>
      <p:sp>
        <p:nvSpPr>
          <p:cNvPr id="63" name="文本框 62"/>
          <p:cNvSpPr txBox="1"/>
          <p:nvPr/>
        </p:nvSpPr>
        <p:spPr bwMode="gray">
          <a:xfrm>
            <a:off x="6472364" y="4648779"/>
            <a:ext cx="369332" cy="828249"/>
          </a:xfrm>
          <a:prstGeom prst="rect">
            <a:avLst/>
          </a:prstGeom>
          <a:noFill/>
        </p:spPr>
        <p:txBody>
          <a:bodyPr vert="eaVert" wrap="square" rtlCol="0">
            <a:spAutoFit/>
          </a:bodyPr>
          <a:lstStyle/>
          <a:p>
            <a:r>
              <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详细信息</a:t>
            </a:r>
          </a:p>
        </p:txBody>
      </p:sp>
      <p:sp>
        <p:nvSpPr>
          <p:cNvPr id="69" name="文本框 68"/>
          <p:cNvSpPr txBox="1"/>
          <p:nvPr/>
        </p:nvSpPr>
        <p:spPr bwMode="gray">
          <a:xfrm>
            <a:off x="1128841" y="4071902"/>
            <a:ext cx="981359" cy="276999"/>
          </a:xfrm>
          <a:prstGeom prst="rect">
            <a:avLst/>
          </a:prstGeom>
          <a:noFill/>
        </p:spPr>
        <p:txBody>
          <a:bodyPr wrap="none" rtlCol="0">
            <a:spAutoFit/>
          </a:bodyPr>
          <a:lstStyle/>
          <a:p>
            <a:r>
              <a:rPr lang="en-US" altLang="zh-CN" sz="1200" dirty="0" err="1">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TimeStamp</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69"/>
          <p:cNvSpPr txBox="1"/>
          <p:nvPr/>
        </p:nvSpPr>
        <p:spPr bwMode="gray">
          <a:xfrm>
            <a:off x="2069960" y="4071902"/>
            <a:ext cx="878767" cy="276999"/>
          </a:xfrm>
          <a:prstGeom prst="rect">
            <a:avLst/>
          </a:prstGeom>
          <a:noFill/>
        </p:spPr>
        <p:txBody>
          <a:bodyPr wrap="none" rtlCol="0">
            <a:spAutoFit/>
          </a:bodyPr>
          <a:lstStyle/>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TimeZone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bwMode="gray">
          <a:xfrm>
            <a:off x="2828044" y="4071902"/>
            <a:ext cx="934871" cy="276999"/>
          </a:xfrm>
          <a:prstGeom prst="rect">
            <a:avLst/>
          </a:prstGeom>
          <a:noFill/>
        </p:spPr>
        <p:txBody>
          <a:bodyPr wrap="none" rtlCol="0">
            <a:spAutoFit/>
          </a:bodyPr>
          <a:lstStyle/>
          <a:p>
            <a:r>
              <a:rPr lang="en-US" altLang="zh-CN" sz="1200" dirty="0" err="1">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HostName</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bwMode="gray">
          <a:xfrm>
            <a:off x="3623326" y="4071902"/>
            <a:ext cx="1199367" cy="276999"/>
          </a:xfrm>
          <a:prstGeom prst="rect">
            <a:avLst/>
          </a:prstGeom>
          <a:noFill/>
        </p:spPr>
        <p:txBody>
          <a:bodyPr wrap="none" rtlCol="0">
            <a:spAutoFit/>
          </a:bodyPr>
          <a:lstStyle/>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ModuleName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p:cNvSpPr txBox="1"/>
          <p:nvPr/>
        </p:nvSpPr>
        <p:spPr bwMode="gray">
          <a:xfrm>
            <a:off x="4851887" y="4071902"/>
            <a:ext cx="792205" cy="276999"/>
          </a:xfrm>
          <a:prstGeom prst="rect">
            <a:avLst/>
          </a:prstGeom>
          <a:noFill/>
        </p:spPr>
        <p:txBody>
          <a:bodyPr wrap="none" rtlCol="0">
            <a:spAutoFit/>
          </a:bodyPr>
          <a:lstStyle/>
          <a:p>
            <a:r>
              <a:rPr lang="en-US" altLang="zh-CN"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Severity/</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文本框 75"/>
          <p:cNvSpPr txBox="1"/>
          <p:nvPr/>
        </p:nvSpPr>
        <p:spPr bwMode="gray">
          <a:xfrm>
            <a:off x="5555312" y="4071902"/>
            <a:ext cx="510076"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Brief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文本框 78"/>
          <p:cNvSpPr txBox="1"/>
          <p:nvPr/>
        </p:nvSpPr>
        <p:spPr bwMode="gray">
          <a:xfrm>
            <a:off x="6153527" y="4071902"/>
            <a:ext cx="1007007" cy="276999"/>
          </a:xfrm>
          <a:prstGeom prst="rect">
            <a:avLst/>
          </a:prstGeom>
          <a:noFill/>
        </p:spPr>
        <p:txBody>
          <a:bodyPr wrap="none" rtlCol="0">
            <a:spAutoFit/>
          </a:bodyPr>
          <a:lstStyle/>
          <a:p>
            <a:r>
              <a:rPr lang="en-US" altLang="zh-CN"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:Description</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79"/>
          <p:cNvSpPr txBox="1"/>
          <p:nvPr/>
        </p:nvSpPr>
        <p:spPr bwMode="gray">
          <a:xfrm>
            <a:off x="941554" y="4071902"/>
            <a:ext cx="28725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465548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75"/>
          <p:cNvSpPr/>
          <p:nvPr/>
        </p:nvSpPr>
        <p:spPr bwMode="gray">
          <a:xfrm>
            <a:off x="8058696" y="1830812"/>
            <a:ext cx="3556717" cy="304909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defTabSz="914112">
              <a:lnSpc>
                <a:spcPts val="2600"/>
              </a:lnSpc>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a:lnSpc>
                <a:spcPts val="2600"/>
              </a:lnSpc>
              <a:spcAft>
                <a:spcPts val="600"/>
              </a:spcAft>
              <a:buFont typeface="Arial" panose="020B0604020202020204" pitchFamily="34" charset="0"/>
              <a:buChar char="•"/>
            </a:pPr>
            <a:r>
              <a:rPr lang="zh-CN" altLang="en-US" sz="1400" dirty="0">
                <a:solidFill>
                  <a:prstClr val="black"/>
                </a:solidFill>
                <a:sym typeface="Huawei Sans" panose="020C0503030203020204" pitchFamily="34" charset="0"/>
              </a:rPr>
              <a:t>信息中心向控制台发送</a:t>
            </a:r>
            <a:r>
              <a:rPr lang="en-US" altLang="zh-CN" sz="1400" dirty="0">
                <a:solidFill>
                  <a:prstClr val="black"/>
                </a:solidFill>
                <a:sym typeface="Huawei Sans" panose="020C0503030203020204" pitchFamily="34" charset="0"/>
              </a:rPr>
              <a:t>Debug</a:t>
            </a:r>
            <a:r>
              <a:rPr lang="zh-CN" altLang="en-US" sz="1400" dirty="0">
                <a:solidFill>
                  <a:prstClr val="black"/>
                </a:solidFill>
                <a:sym typeface="Huawei Sans" panose="020C0503030203020204" pitchFamily="34" charset="0"/>
              </a:rPr>
              <a:t>信息，维护人员通过</a:t>
            </a:r>
            <a:r>
              <a:rPr lang="en-US" altLang="zh-CN" sz="1400" dirty="0">
                <a:solidFill>
                  <a:prstClr val="black"/>
                </a:solidFill>
                <a:sym typeface="Huawei Sans" panose="020C0503030203020204" pitchFamily="34" charset="0"/>
              </a:rPr>
              <a:t>Debug</a:t>
            </a:r>
            <a:r>
              <a:rPr lang="zh-CN" altLang="en-US" sz="1400" dirty="0">
                <a:solidFill>
                  <a:prstClr val="black"/>
                </a:solidFill>
                <a:sym typeface="Huawei Sans" panose="020C0503030203020204" pitchFamily="34" charset="0"/>
              </a:rPr>
              <a:t>信息来了解设备的运行情况。</a:t>
            </a:r>
          </a:p>
        </p:txBody>
      </p:sp>
      <p:sp>
        <p:nvSpPr>
          <p:cNvPr id="27" name="圆角矩形 75"/>
          <p:cNvSpPr/>
          <p:nvPr/>
        </p:nvSpPr>
        <p:spPr bwMode="gray">
          <a:xfrm>
            <a:off x="4307082" y="1830812"/>
            <a:ext cx="3556717" cy="304909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defTabSz="914112">
              <a:lnSpc>
                <a:spcPts val="2600"/>
              </a:lnSpc>
              <a:spcAft>
                <a:spcPts val="600"/>
              </a:spcAft>
              <a:buFont typeface="Arial" panose="020B0604020202020204" pitchFamily="34" charset="0"/>
              <a:buChar char="•"/>
            </a:pPr>
            <a:r>
              <a:rPr lang="zh-CN" altLang="en-US" sz="1400" dirty="0">
                <a:solidFill>
                  <a:prstClr val="black"/>
                </a:solidFill>
                <a:sym typeface="Huawei Sans" panose="020C0503030203020204" pitchFamily="34" charset="0"/>
              </a:rPr>
              <a:t>信息中心向网管中心发送</a:t>
            </a:r>
            <a:r>
              <a:rPr lang="en-US" altLang="zh-CN" sz="1400" dirty="0">
                <a:solidFill>
                  <a:prstClr val="black"/>
                </a:solidFill>
                <a:sym typeface="Huawei Sans" panose="020C0503030203020204" pitchFamily="34" charset="0"/>
              </a:rPr>
              <a:t>Trap</a:t>
            </a:r>
            <a:r>
              <a:rPr lang="zh-CN" altLang="en-US" sz="1400" dirty="0">
                <a:solidFill>
                  <a:prstClr val="black"/>
                </a:solidFill>
                <a:sym typeface="Huawei Sans" panose="020C0503030203020204" pitchFamily="34" charset="0"/>
              </a:rPr>
              <a:t>信息，网管通过接收到的</a:t>
            </a:r>
            <a:r>
              <a:rPr lang="en-US" altLang="zh-CN" sz="1400" dirty="0">
                <a:solidFill>
                  <a:prstClr val="black"/>
                </a:solidFill>
                <a:sym typeface="Huawei Sans" panose="020C0503030203020204" pitchFamily="34" charset="0"/>
              </a:rPr>
              <a:t>Trap</a:t>
            </a:r>
            <a:r>
              <a:rPr lang="zh-CN" altLang="en-US" sz="1400" dirty="0">
                <a:solidFill>
                  <a:prstClr val="black"/>
                </a:solidFill>
                <a:sym typeface="Huawei Sans" panose="020C0503030203020204" pitchFamily="34" charset="0"/>
              </a:rPr>
              <a:t>信息，监控设备的运行状态。</a:t>
            </a:r>
          </a:p>
        </p:txBody>
      </p:sp>
      <p:sp>
        <p:nvSpPr>
          <p:cNvPr id="26" name="圆角矩形 75"/>
          <p:cNvSpPr/>
          <p:nvPr/>
        </p:nvSpPr>
        <p:spPr bwMode="gray">
          <a:xfrm>
            <a:off x="636838" y="1830812"/>
            <a:ext cx="3556717" cy="304909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defTabSz="914112">
              <a:lnSpc>
                <a:spcPts val="2600"/>
              </a:lnSpc>
              <a:spcAft>
                <a:spcPts val="600"/>
              </a:spcAft>
              <a:buFont typeface="Arial" panose="020B0604020202020204" pitchFamily="34" charset="0"/>
              <a:buChar char="•"/>
            </a:pPr>
            <a:r>
              <a:rPr lang="zh-CN" altLang="en-US" sz="1400" dirty="0">
                <a:solidFill>
                  <a:prstClr val="black"/>
                </a:solidFill>
                <a:sym typeface="Huawei Sans" panose="020C0503030203020204" pitchFamily="34" charset="0"/>
              </a:rPr>
              <a:t>信息中心将指定级别的</a:t>
            </a:r>
            <a:r>
              <a:rPr lang="en-US" altLang="zh-CN" sz="1400" dirty="0">
                <a:solidFill>
                  <a:prstClr val="black"/>
                </a:solidFill>
                <a:sym typeface="Huawei Sans" panose="020C0503030203020204" pitchFamily="34" charset="0"/>
              </a:rPr>
              <a:t>Log</a:t>
            </a:r>
            <a:r>
              <a:rPr lang="zh-CN" altLang="en-US" sz="1400" dirty="0">
                <a:solidFill>
                  <a:prstClr val="black"/>
                </a:solidFill>
                <a:sym typeface="Huawei Sans" panose="020C0503030203020204" pitchFamily="34" charset="0"/>
              </a:rPr>
              <a:t>信息输出到日志主机中，维护人员通过查询日志信息，了解设备的运行情况。</a:t>
            </a:r>
          </a:p>
        </p:txBody>
      </p:sp>
      <p:cxnSp>
        <p:nvCxnSpPr>
          <p:cNvPr id="9" name="直接连接符 8"/>
          <p:cNvCxnSpPr>
            <a:stCxn id="4" idx="3"/>
            <a:endCxn id="7" idx="1"/>
          </p:cNvCxnSpPr>
          <p:nvPr/>
        </p:nvCxnSpPr>
        <p:spPr bwMode="gray">
          <a:xfrm>
            <a:off x="1425548" y="2552909"/>
            <a:ext cx="161533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信息中心的应用场景</a:t>
            </a: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85548" y="2331509"/>
            <a:ext cx="540000" cy="442800"/>
          </a:xfrm>
          <a:prstGeom prst="rect">
            <a:avLst/>
          </a:prstGeom>
        </p:spPr>
      </p:pic>
      <p:sp>
        <p:nvSpPr>
          <p:cNvPr id="6" name="Freeform 159"/>
          <p:cNvSpPr/>
          <p:nvPr/>
        </p:nvSpPr>
        <p:spPr bwMode="gray">
          <a:xfrm flipH="1">
            <a:off x="1583323" y="2327709"/>
            <a:ext cx="1286731" cy="4466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etwork</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040887" y="2331509"/>
            <a:ext cx="540000" cy="442800"/>
          </a:xfrm>
          <a:prstGeom prst="rect">
            <a:avLst/>
          </a:prstGeom>
        </p:spPr>
      </p:pic>
      <p:sp>
        <p:nvSpPr>
          <p:cNvPr id="10" name="文本框 9"/>
          <p:cNvSpPr txBox="1"/>
          <p:nvPr/>
        </p:nvSpPr>
        <p:spPr bwMode="gray">
          <a:xfrm>
            <a:off x="972645" y="2777309"/>
            <a:ext cx="365806"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p:cNvSpPr txBox="1"/>
          <p:nvPr/>
        </p:nvSpPr>
        <p:spPr bwMode="gray">
          <a:xfrm>
            <a:off x="2804979" y="2781741"/>
            <a:ext cx="814647"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Log Host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11"/>
          <p:cNvCxnSpPr>
            <a:stCxn id="13" idx="3"/>
            <a:endCxn id="31" idx="1"/>
          </p:cNvCxnSpPr>
          <p:nvPr/>
        </p:nvCxnSpPr>
        <p:spPr bwMode="gray">
          <a:xfrm>
            <a:off x="5141242" y="2552909"/>
            <a:ext cx="1699540" cy="164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601242" y="2331509"/>
            <a:ext cx="540000" cy="442800"/>
          </a:xfrm>
          <a:prstGeom prst="rect">
            <a:avLst/>
          </a:prstGeom>
        </p:spPr>
      </p:pic>
      <p:sp>
        <p:nvSpPr>
          <p:cNvPr id="14" name="Freeform 159"/>
          <p:cNvSpPr/>
          <p:nvPr/>
        </p:nvSpPr>
        <p:spPr bwMode="gray">
          <a:xfrm flipH="1">
            <a:off x="5299017" y="2327709"/>
            <a:ext cx="1286731" cy="4466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etwork</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4688339" y="2777309"/>
            <a:ext cx="365806"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6847729" y="2781741"/>
            <a:ext cx="526106"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NMS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8" name="直接连接符 17"/>
          <p:cNvCxnSpPr>
            <a:stCxn id="19" idx="3"/>
            <a:endCxn id="33" idx="1"/>
          </p:cNvCxnSpPr>
          <p:nvPr/>
        </p:nvCxnSpPr>
        <p:spPr bwMode="gray">
          <a:xfrm flipV="1">
            <a:off x="9030692" y="2551009"/>
            <a:ext cx="1705385" cy="19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图片 1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490692" y="2331509"/>
            <a:ext cx="540000" cy="442800"/>
          </a:xfrm>
          <a:prstGeom prst="rect">
            <a:avLst/>
          </a:prstGeom>
        </p:spPr>
      </p:pic>
      <p:sp>
        <p:nvSpPr>
          <p:cNvPr id="22" name="文本框 21"/>
          <p:cNvSpPr txBox="1"/>
          <p:nvPr/>
        </p:nvSpPr>
        <p:spPr bwMode="gray">
          <a:xfrm>
            <a:off x="8577789" y="2777309"/>
            <a:ext cx="365806"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10778623" y="2791187"/>
            <a:ext cx="453970"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圆角矩形 75"/>
          <p:cNvSpPr/>
          <p:nvPr/>
        </p:nvSpPr>
        <p:spPr bwMode="gray">
          <a:xfrm>
            <a:off x="660902" y="1363122"/>
            <a:ext cx="3556717" cy="39402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向日志主机输出</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信息</a:t>
            </a:r>
          </a:p>
        </p:txBody>
      </p:sp>
      <p:sp>
        <p:nvSpPr>
          <p:cNvPr id="28" name="圆角矩形 75"/>
          <p:cNvSpPr/>
          <p:nvPr/>
        </p:nvSpPr>
        <p:spPr bwMode="gray">
          <a:xfrm>
            <a:off x="4331146" y="1363122"/>
            <a:ext cx="3556717" cy="39402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向网管输出</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信息</a:t>
            </a:r>
          </a:p>
        </p:txBody>
      </p:sp>
      <p:sp>
        <p:nvSpPr>
          <p:cNvPr id="30" name="圆角矩形 75"/>
          <p:cNvSpPr/>
          <p:nvPr/>
        </p:nvSpPr>
        <p:spPr bwMode="gray">
          <a:xfrm>
            <a:off x="8082760" y="1363122"/>
            <a:ext cx="3556717" cy="39402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向控制台输出</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信息</a:t>
            </a:r>
          </a:p>
        </p:txBody>
      </p:sp>
      <p:pic>
        <p:nvPicPr>
          <p:cNvPr id="31" name="图片 3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6840782" y="2347923"/>
            <a:ext cx="540000" cy="442800"/>
          </a:xfrm>
          <a:prstGeom prst="rect">
            <a:avLst/>
          </a:prstGeom>
        </p:spPr>
      </p:pic>
      <p:pic>
        <p:nvPicPr>
          <p:cNvPr id="33" name="图片 32" descr="PC.png"/>
          <p:cNvPicPr>
            <a:picLocks noChangeAspect="1"/>
          </p:cNvPicPr>
          <p:nvPr/>
        </p:nvPicPr>
        <p:blipFill>
          <a:blip r:embed="rId6" cstate="print"/>
          <a:stretch>
            <a:fillRect/>
          </a:stretch>
        </p:blipFill>
        <p:spPr bwMode="gray">
          <a:xfrm>
            <a:off x="10736077" y="2344009"/>
            <a:ext cx="539063" cy="414000"/>
          </a:xfrm>
          <a:prstGeom prst="rect">
            <a:avLst/>
          </a:prstGeom>
        </p:spPr>
      </p:pic>
    </p:spTree>
    <p:extLst>
      <p:ext uri="{BB962C8B-B14F-4D97-AF65-F5344CB8AC3E}">
        <p14:creationId xmlns:p14="http://schemas.microsoft.com/office/powerpoint/2010/main" val="41271199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信息中心命令简介</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bwMode="gray">
          <a:xfrm>
            <a:off x="923905" y="1494306"/>
            <a:ext cx="10825183"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info-center enable</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443372" y="1062159"/>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使能信息中心功能。</a:t>
            </a:r>
          </a:p>
        </p:txBody>
      </p:sp>
      <p:sp>
        <p:nvSpPr>
          <p:cNvPr id="6" name="矩形 5"/>
          <p:cNvSpPr/>
          <p:nvPr/>
        </p:nvSpPr>
        <p:spPr bwMode="gray">
          <a:xfrm>
            <a:off x="923905" y="1926453"/>
            <a:ext cx="10825183"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缺省情况下，信息中心功能处于使能状态。</a:t>
            </a:r>
          </a:p>
        </p:txBody>
      </p:sp>
      <p:sp>
        <p:nvSpPr>
          <p:cNvPr id="7" name="矩形 6"/>
          <p:cNvSpPr/>
          <p:nvPr/>
        </p:nvSpPr>
        <p:spPr bwMode="gray">
          <a:xfrm>
            <a:off x="923905" y="2829925"/>
            <a:ext cx="10825183"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info-center channel</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channel-number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name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channel-name</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p:cNvSpPr/>
          <p:nvPr/>
        </p:nvSpPr>
        <p:spPr bwMode="gray">
          <a:xfrm>
            <a:off x="443372" y="2397778"/>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为指定编号的信息通道命名。</a:t>
            </a:r>
          </a:p>
        </p:txBody>
      </p:sp>
      <p:sp>
        <p:nvSpPr>
          <p:cNvPr id="10" name="矩形 9"/>
          <p:cNvSpPr/>
          <p:nvPr/>
        </p:nvSpPr>
        <p:spPr bwMode="gray">
          <a:xfrm>
            <a:off x="923905" y="3733397"/>
            <a:ext cx="10825183"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info-center filter-id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id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bymodule</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-alias</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sym typeface="Huawei Sans" panose="020C0503030203020204" pitchFamily="34" charset="0"/>
              </a:rPr>
              <a:t>modname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alias</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bytime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interval</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bynumber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number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p:cNvSpPr/>
          <p:nvPr/>
        </p:nvSpPr>
        <p:spPr bwMode="gray">
          <a:xfrm>
            <a:off x="443372" y="3301250"/>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配置对指定的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Log</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或</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信息进行过滤的功能。</a:t>
            </a:r>
          </a:p>
        </p:txBody>
      </p:sp>
      <p:sp>
        <p:nvSpPr>
          <p:cNvPr id="12" name="矩形 11"/>
          <p:cNvSpPr/>
          <p:nvPr/>
        </p:nvSpPr>
        <p:spPr bwMode="gray">
          <a:xfrm>
            <a:off x="923905" y="4165544"/>
            <a:ext cx="10825183" cy="400110"/>
          </a:xfrm>
          <a:prstGeom prst="rect">
            <a:avLst/>
          </a:prstGeom>
        </p:spPr>
        <p:txBody>
          <a:bodyPr wrap="square">
            <a:spAutoFit/>
          </a:bodyPr>
          <a:lstStyle/>
          <a:p>
            <a:pPr fontAlgn="auto">
              <a:lnSpc>
                <a:spcPts val="2400"/>
              </a:lnSpc>
            </a:pP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bymodule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-alias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指定需要过滤的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信息对应的模块名称。</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bwMode="gray">
          <a:xfrm>
            <a:off x="923905" y="5017083"/>
            <a:ext cx="10825183"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info-center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logbuffer</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bwMode="gray">
          <a:xfrm>
            <a:off x="443372" y="4584936"/>
            <a:ext cx="11089232"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Log</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信息向</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Log</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缓冲区的发送功能。</a:t>
            </a:r>
          </a:p>
        </p:txBody>
      </p:sp>
      <p:sp>
        <p:nvSpPr>
          <p:cNvPr id="17" name="矩形 16"/>
          <p:cNvSpPr/>
          <p:nvPr/>
        </p:nvSpPr>
        <p:spPr bwMode="gray">
          <a:xfrm>
            <a:off x="923905" y="5436475"/>
            <a:ext cx="10825183"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信息向</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缓冲区的发送功能处于使能状态。</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18674719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信息中心命令简介</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bwMode="gray">
          <a:xfrm>
            <a:off x="923905" y="1494310"/>
            <a:ext cx="10825183" cy="584775"/>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info-center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console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logbuffer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logfile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monitor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snmp</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trapbuffer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channel</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channel-number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channel-name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443372" y="1062163"/>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配置信息输出时所使用的信息通道。</a:t>
            </a:r>
          </a:p>
        </p:txBody>
      </p:sp>
      <p:sp>
        <p:nvSpPr>
          <p:cNvPr id="7" name="矩形 6"/>
          <p:cNvSpPr/>
          <p:nvPr/>
        </p:nvSpPr>
        <p:spPr bwMode="gray">
          <a:xfrm>
            <a:off x="923905" y="2685547"/>
            <a:ext cx="10825183"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terminal monitor</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p:cNvSpPr/>
          <p:nvPr/>
        </p:nvSpPr>
        <p:spPr bwMode="gray">
          <a:xfrm>
            <a:off x="443372" y="2253400"/>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使能终端显示信息中心发送信息的功能。</a:t>
            </a:r>
          </a:p>
        </p:txBody>
      </p:sp>
      <p:sp>
        <p:nvSpPr>
          <p:cNvPr id="10" name="矩形 9"/>
          <p:cNvSpPr/>
          <p:nvPr/>
        </p:nvSpPr>
        <p:spPr bwMode="gray">
          <a:xfrm>
            <a:off x="923905" y="3949973"/>
            <a:ext cx="10825183"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terminal debugging</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p:cNvSpPr/>
          <p:nvPr/>
        </p:nvSpPr>
        <p:spPr bwMode="gray">
          <a:xfrm>
            <a:off x="443372" y="3517826"/>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使能终端显示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Debug</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信息功能。</a:t>
            </a:r>
          </a:p>
        </p:txBody>
      </p:sp>
      <p:sp>
        <p:nvSpPr>
          <p:cNvPr id="15" name="矩形 14"/>
          <p:cNvSpPr/>
          <p:nvPr/>
        </p:nvSpPr>
        <p:spPr bwMode="gray">
          <a:xfrm>
            <a:off x="923905" y="5233659"/>
            <a:ext cx="10825183"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terminal logging</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bwMode="gray">
          <a:xfrm>
            <a:off x="443372" y="4801512"/>
            <a:ext cx="11089232"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使能终端显示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Log</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信息功能。</a:t>
            </a:r>
          </a:p>
        </p:txBody>
      </p:sp>
      <p:sp>
        <p:nvSpPr>
          <p:cNvPr id="17" name="矩形 16"/>
          <p:cNvSpPr/>
          <p:nvPr/>
        </p:nvSpPr>
        <p:spPr bwMode="gray">
          <a:xfrm>
            <a:off x="923905" y="5653051"/>
            <a:ext cx="10825183"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缺省情况下，终端显示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信息功能处于使能状态。</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923905" y="4404642"/>
            <a:ext cx="10825183"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a:t>
            </a:r>
            <a:r>
              <a:rPr lang="zh-CN" altLang="en-US" sz="16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终端显示</a:t>
            </a:r>
            <a:r>
              <a:rPr lang="en-US" altLang="zh-CN" sz="16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6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信息功能处于未使能状态</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bwMode="gray">
          <a:xfrm>
            <a:off x="923905" y="3102445"/>
            <a:ext cx="10825183"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缺省情况下，控制台显示功能处于使能状态，用户终端显示功能处于未使能状态。</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13636605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信息中心命令简介</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bwMode="gray">
          <a:xfrm>
            <a:off x="923905" y="1494315"/>
            <a:ext cx="10825183"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display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logbuffer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size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sym typeface="Huawei Sans" panose="020C0503030203020204" pitchFamily="34" charset="0"/>
              </a:rPr>
              <a:t>size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slot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slot-id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module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module-name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security</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level</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severity</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level</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 </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443372" y="1062168"/>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查看</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Log</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缓冲区记录的信息。</a:t>
            </a:r>
          </a:p>
        </p:txBody>
      </p:sp>
      <p:sp>
        <p:nvSpPr>
          <p:cNvPr id="6" name="矩形 5"/>
          <p:cNvSpPr/>
          <p:nvPr/>
        </p:nvSpPr>
        <p:spPr bwMode="gray">
          <a:xfrm>
            <a:off x="923905" y="2372726"/>
            <a:ext cx="10825183"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display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logfile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file-name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offset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hex</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bwMode="gray">
          <a:xfrm>
            <a:off x="443372" y="1940579"/>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查看日志文件信息。</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p:cNvSpPr/>
          <p:nvPr/>
        </p:nvSpPr>
        <p:spPr bwMode="gray">
          <a:xfrm>
            <a:off x="923905" y="3228075"/>
            <a:ext cx="10825183"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display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trapbuffer</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 name="矩形 8"/>
          <p:cNvSpPr/>
          <p:nvPr/>
        </p:nvSpPr>
        <p:spPr bwMode="gray">
          <a:xfrm>
            <a:off x="443372" y="2795928"/>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查看信息中心</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缓冲区记录的信息。</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p:cNvSpPr/>
          <p:nvPr/>
        </p:nvSpPr>
        <p:spPr bwMode="gray">
          <a:xfrm>
            <a:off x="923905" y="4162843"/>
            <a:ext cx="10825183"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display debugging</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p:cNvSpPr/>
          <p:nvPr/>
        </p:nvSpPr>
        <p:spPr bwMode="gray">
          <a:xfrm>
            <a:off x="443372" y="3730696"/>
            <a:ext cx="11089232"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查看设备允许发送的调试信息。</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bwMode="gray">
          <a:xfrm>
            <a:off x="923905" y="5004955"/>
            <a:ext cx="10825183"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display info-center</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bwMode="gray">
          <a:xfrm>
            <a:off x="443372" y="4572808"/>
            <a:ext cx="11089232" cy="338554"/>
          </a:xfrm>
          <a:prstGeom prst="rect">
            <a:avLst/>
          </a:prstGeom>
        </p:spPr>
        <p:txBody>
          <a:bodyPr wrap="square">
            <a:spAutoFit/>
          </a:bodyPr>
          <a:lstStyle/>
          <a:p>
            <a:pPr marL="342900" indent="-342900" fontAlgn="auto">
              <a:buFont typeface="+mj-lt"/>
              <a:buAutoNum type="arabicPeriod" startAt="5"/>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查看信息中心输出方向的配置信息。</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8865651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信息中心配置举例</a:t>
            </a:r>
          </a:p>
        </p:txBody>
      </p:sp>
      <p:sp>
        <p:nvSpPr>
          <p:cNvPr id="3" name="文本占位符 2"/>
          <p:cNvSpPr>
            <a:spLocks noGrp="1"/>
          </p:cNvSpPr>
          <p:nvPr>
            <p:ph type="body" sz="quarter" idx="10"/>
          </p:nvPr>
        </p:nvSpPr>
        <p:spPr bwMode="gray"/>
        <p:txBody>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GE0/0/0</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接口开启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协议。通过</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Console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端口登录</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设备上观察以下内容：</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53889" y="3092876"/>
            <a:ext cx="540000" cy="442800"/>
          </a:xfrm>
          <a:prstGeom prst="rect">
            <a:avLst/>
          </a:prstGeom>
        </p:spPr>
      </p:pic>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488980" y="3092876"/>
            <a:ext cx="540000" cy="442800"/>
          </a:xfrm>
          <a:prstGeom prst="rect">
            <a:avLst/>
          </a:prstGeom>
        </p:spPr>
      </p:pic>
      <p:cxnSp>
        <p:nvCxnSpPr>
          <p:cNvPr id="7" name="直接连接符 6"/>
          <p:cNvCxnSpPr>
            <a:stCxn id="4" idx="3"/>
            <a:endCxn id="5" idx="1"/>
          </p:cNvCxnSpPr>
          <p:nvPr/>
        </p:nvCxnSpPr>
        <p:spPr bwMode="gray">
          <a:xfrm>
            <a:off x="1293889" y="3314276"/>
            <a:ext cx="31950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16">
            <a:extLst>
              <a:ext uri="{FF2B5EF4-FFF2-40B4-BE49-F238E27FC236}">
                <a16:creationId xmlns:a16="http://schemas.microsoft.com/office/drawing/2014/main" id="{4849523F-4E0A-410A-8715-D105FD18C781}"/>
              </a:ext>
            </a:extLst>
          </p:cNvPr>
          <p:cNvSpPr txBox="1"/>
          <p:nvPr/>
        </p:nvSpPr>
        <p:spPr bwMode="gray">
          <a:xfrm>
            <a:off x="840986" y="3627997"/>
            <a:ext cx="365806"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R1</a:t>
            </a:r>
          </a:p>
        </p:txBody>
      </p:sp>
      <p:sp>
        <p:nvSpPr>
          <p:cNvPr id="10" name="TextBox 16">
            <a:extLst>
              <a:ext uri="{FF2B5EF4-FFF2-40B4-BE49-F238E27FC236}">
                <a16:creationId xmlns:a16="http://schemas.microsoft.com/office/drawing/2014/main" id="{4849523F-4E0A-410A-8715-D105FD18C781}"/>
              </a:ext>
            </a:extLst>
          </p:cNvPr>
          <p:cNvSpPr txBox="1"/>
          <p:nvPr/>
        </p:nvSpPr>
        <p:spPr bwMode="gray">
          <a:xfrm>
            <a:off x="4576077" y="3627997"/>
            <a:ext cx="365806"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R2</a:t>
            </a:r>
          </a:p>
        </p:txBody>
      </p:sp>
      <p:sp>
        <p:nvSpPr>
          <p:cNvPr id="12" name="TextBox 16">
            <a:extLst>
              <a:ext uri="{FF2B5EF4-FFF2-40B4-BE49-F238E27FC236}">
                <a16:creationId xmlns:a16="http://schemas.microsoft.com/office/drawing/2014/main" id="{4849523F-4E0A-410A-8715-D105FD18C781}"/>
              </a:ext>
            </a:extLst>
          </p:cNvPr>
          <p:cNvSpPr txBox="1"/>
          <p:nvPr/>
        </p:nvSpPr>
        <p:spPr bwMode="gray">
          <a:xfrm>
            <a:off x="1293889" y="3084392"/>
            <a:ext cx="75693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GE0/0/0</a:t>
            </a:r>
          </a:p>
        </p:txBody>
      </p:sp>
      <p:sp>
        <p:nvSpPr>
          <p:cNvPr id="13" name="TextBox 16">
            <a:extLst>
              <a:ext uri="{FF2B5EF4-FFF2-40B4-BE49-F238E27FC236}">
                <a16:creationId xmlns:a16="http://schemas.microsoft.com/office/drawing/2014/main" id="{4849523F-4E0A-410A-8715-D105FD18C781}"/>
              </a:ext>
            </a:extLst>
          </p:cNvPr>
          <p:cNvSpPr txBox="1"/>
          <p:nvPr/>
        </p:nvSpPr>
        <p:spPr bwMode="gray">
          <a:xfrm>
            <a:off x="1293889" y="3302037"/>
            <a:ext cx="1042273"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10.0.12.1/24</a:t>
            </a:r>
          </a:p>
        </p:txBody>
      </p:sp>
      <p:sp>
        <p:nvSpPr>
          <p:cNvPr id="14" name="TextBox 16">
            <a:extLst>
              <a:ext uri="{FF2B5EF4-FFF2-40B4-BE49-F238E27FC236}">
                <a16:creationId xmlns:a16="http://schemas.microsoft.com/office/drawing/2014/main" id="{4849523F-4E0A-410A-8715-D105FD18C781}"/>
              </a:ext>
            </a:extLst>
          </p:cNvPr>
          <p:cNvSpPr txBox="1"/>
          <p:nvPr/>
        </p:nvSpPr>
        <p:spPr bwMode="gray">
          <a:xfrm>
            <a:off x="3480906" y="3084392"/>
            <a:ext cx="75693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GE0/0/0</a:t>
            </a:r>
          </a:p>
        </p:txBody>
      </p:sp>
      <p:sp>
        <p:nvSpPr>
          <p:cNvPr id="15" name="TextBox 16">
            <a:extLst>
              <a:ext uri="{FF2B5EF4-FFF2-40B4-BE49-F238E27FC236}">
                <a16:creationId xmlns:a16="http://schemas.microsoft.com/office/drawing/2014/main" id="{4849523F-4E0A-410A-8715-D105FD18C781}"/>
              </a:ext>
            </a:extLst>
          </p:cNvPr>
          <p:cNvSpPr txBox="1"/>
          <p:nvPr/>
        </p:nvSpPr>
        <p:spPr bwMode="gray">
          <a:xfrm>
            <a:off x="3480906" y="3302037"/>
            <a:ext cx="1042273"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10.0.12.2/24</a:t>
            </a:r>
          </a:p>
        </p:txBody>
      </p:sp>
      <p:sp>
        <p:nvSpPr>
          <p:cNvPr id="17" name="文本框 16"/>
          <p:cNvSpPr txBox="1"/>
          <p:nvPr/>
        </p:nvSpPr>
        <p:spPr bwMode="gray">
          <a:xfrm>
            <a:off x="753889" y="4159196"/>
            <a:ext cx="7314346" cy="1384995"/>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&lt;R1&gt;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terminal monitor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缺省情况下，控制台显示功能处于使能状态。</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&lt;R1&gt; </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terminal logging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缺省情况下，终端显示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信息功能处于使能状态。</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&lt;R1&gt;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terminal debugging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缺省情况下，终端显示</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Debug</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信息功能处于未使能状态。</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&lt;R1&gt; </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terminal trapping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缺省情况下，终端显示</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Trap</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信息功能处于使能状态。</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&lt;R1&gt; </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system-view </a:t>
            </a:r>
            <a:endPar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info-center enable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缺省情况下，信息中心功能处于使能状态。</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240496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信息中心配置验证</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信息通道</a:t>
            </a:r>
          </a:p>
        </p:txBody>
      </p:sp>
      <p:sp>
        <p:nvSpPr>
          <p:cNvPr id="4" name="Text Placeholder 3"/>
          <p:cNvSpPr>
            <a:spLocks noGrp="1"/>
          </p:cNvSpPr>
          <p:nvPr>
            <p:ph type="body" sz="quarter" idx="10"/>
          </p:nvPr>
        </p:nvSpPr>
        <p:spPr bwMode="gray"/>
        <p:txBody>
          <a:bodyPr/>
          <a:lstStyle/>
          <a:p>
            <a:r>
              <a:rPr lang="zh-CN" altLang="en-US" sz="1400" dirty="0"/>
              <a:t>根据信息的严重等级或紧急程度，信息分为</a:t>
            </a:r>
            <a:r>
              <a:rPr lang="en-US" altLang="zh-CN" sz="1400" dirty="0"/>
              <a:t>8</a:t>
            </a:r>
            <a:r>
              <a:rPr lang="zh-CN" altLang="en-US" sz="1400" dirty="0"/>
              <a:t>个等级，信息越严重，其严重等级阈值越小。</a:t>
            </a:r>
          </a:p>
          <a:p>
            <a:r>
              <a:rPr lang="zh-CN" altLang="en-US" sz="1400" dirty="0"/>
              <a:t>缺省情况下：</a:t>
            </a:r>
          </a:p>
          <a:p>
            <a:pPr lvl="1"/>
            <a:r>
              <a:rPr lang="en-US" altLang="zh-CN" sz="1200" dirty="0"/>
              <a:t>Warning</a:t>
            </a:r>
            <a:r>
              <a:rPr lang="zh-CN" altLang="en-US" sz="1200" dirty="0"/>
              <a:t>为第</a:t>
            </a:r>
            <a:r>
              <a:rPr lang="en-US" altLang="zh-CN" sz="1200" dirty="0"/>
              <a:t>4</a:t>
            </a:r>
            <a:r>
              <a:rPr lang="zh-CN" altLang="en-US" sz="1200" dirty="0"/>
              <a:t>级，设备运转的异常点，可能引起业务故障，需要引起注意。如用户关闭路由进程、</a:t>
            </a:r>
            <a:r>
              <a:rPr lang="en-US" altLang="zh-CN" sz="1200" dirty="0"/>
              <a:t>BFD</a:t>
            </a:r>
            <a:r>
              <a:rPr lang="zh-CN" altLang="en-US" sz="1200" dirty="0"/>
              <a:t>探测的一次报文丢失和检测出错误协议报文等。</a:t>
            </a:r>
          </a:p>
          <a:p>
            <a:pPr lvl="1"/>
            <a:r>
              <a:rPr lang="en-US" altLang="zh-CN" sz="1200" dirty="0"/>
              <a:t>Debugging</a:t>
            </a:r>
            <a:r>
              <a:rPr lang="zh-CN" altLang="en-US" sz="1200" dirty="0"/>
              <a:t>为第</a:t>
            </a:r>
            <a:r>
              <a:rPr lang="en-US" altLang="zh-CN" sz="1200" dirty="0"/>
              <a:t>7</a:t>
            </a:r>
            <a:r>
              <a:rPr lang="zh-CN" altLang="en-US" sz="1200" dirty="0"/>
              <a:t>级，设备正常运转的一般性信息，用户无需关注。</a:t>
            </a:r>
          </a:p>
          <a:p>
            <a:endParaRPr lang="zh-CN" altLang="en-US" dirty="0"/>
          </a:p>
        </p:txBody>
      </p:sp>
      <p:sp>
        <p:nvSpPr>
          <p:cNvPr id="13" name="文本框 12"/>
          <p:cNvSpPr txBox="1"/>
          <p:nvPr/>
        </p:nvSpPr>
        <p:spPr bwMode="gray">
          <a:xfrm>
            <a:off x="592652" y="2599249"/>
            <a:ext cx="6623694" cy="3539430"/>
          </a:xfrm>
          <a:prstGeom prst="rect">
            <a:avLst/>
          </a:prstGeom>
          <a:solidFill>
            <a:schemeClr val="bg1">
              <a:lumMod val="85000"/>
            </a:schemeClr>
          </a:solidFill>
          <a:ln>
            <a:noFill/>
          </a:ln>
        </p:spPr>
        <p:txBody>
          <a:bodyPr wrap="square" rtlCol="0">
            <a:spAutoFit/>
          </a:bodyPr>
          <a:lstStyle>
            <a:defPPr>
              <a:defRPr lang="en-US"/>
            </a:defPPr>
            <a:lvl1pPr fontAlgn="auto">
              <a:lnSpc>
                <a:spcPct val="100000"/>
              </a:lnSpc>
              <a:spcBef>
                <a:spcPts val="0"/>
              </a:spcBef>
              <a:spcAft>
                <a:spcPts val="0"/>
              </a:spcAft>
              <a:defRPr sz="1400" b="1">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&lt;R1&gt; display channel</a:t>
            </a:r>
          </a:p>
          <a:p>
            <a:endParaRPr lang="en-US" altLang="zh-CN" dirty="0">
              <a:sym typeface="Huawei Sans" panose="020C0503030203020204" pitchFamily="34" charset="0"/>
            </a:endParaRPr>
          </a:p>
          <a:p>
            <a:endParaRPr lang="en-US" altLang="zh-CN" dirty="0">
              <a:sym typeface="Huawei Sans" panose="020C0503030203020204" pitchFamily="34" charset="0"/>
            </a:endParaRPr>
          </a:p>
          <a:p>
            <a:endParaRPr lang="en-US" altLang="zh-CN" dirty="0">
              <a:sym typeface="Huawei Sans" panose="020C0503030203020204" pitchFamily="34" charset="0"/>
            </a:endParaRPr>
          </a:p>
          <a:p>
            <a:endParaRPr lang="en-US" altLang="zh-CN" dirty="0">
              <a:sym typeface="Huawei Sans" panose="020C0503030203020204" pitchFamily="34" charset="0"/>
            </a:endParaRPr>
          </a:p>
          <a:p>
            <a:endParaRPr lang="en-US" altLang="zh-CN" dirty="0">
              <a:sym typeface="Huawei Sans" panose="020C0503030203020204" pitchFamily="34" charset="0"/>
            </a:endParaRPr>
          </a:p>
          <a:p>
            <a:endParaRPr lang="en-US" altLang="zh-CN" dirty="0">
              <a:sym typeface="Huawei Sans" panose="020C0503030203020204" pitchFamily="34" charset="0"/>
            </a:endParaRPr>
          </a:p>
          <a:p>
            <a:endParaRPr lang="en-US" altLang="zh-CN" dirty="0">
              <a:sym typeface="Huawei Sans" panose="020C0503030203020204" pitchFamily="34" charset="0"/>
            </a:endParaRPr>
          </a:p>
          <a:p>
            <a:endParaRPr lang="en-US" altLang="zh-CN" dirty="0">
              <a:sym typeface="Huawei Sans" panose="020C0503030203020204" pitchFamily="34" charset="0"/>
            </a:endParaRPr>
          </a:p>
          <a:p>
            <a:endParaRPr lang="en-US" altLang="zh-CN" dirty="0">
              <a:sym typeface="Huawei Sans" panose="020C0503030203020204" pitchFamily="34" charset="0"/>
            </a:endParaRPr>
          </a:p>
          <a:p>
            <a:endParaRPr lang="en-US" altLang="zh-CN" dirty="0">
              <a:sym typeface="Huawei Sans" panose="020C0503030203020204" pitchFamily="34" charset="0"/>
            </a:endParaRPr>
          </a:p>
          <a:p>
            <a:endParaRPr lang="en-US" altLang="zh-CN" dirty="0">
              <a:sym typeface="Huawei Sans" panose="020C0503030203020204" pitchFamily="34" charset="0"/>
            </a:endParaRPr>
          </a:p>
          <a:p>
            <a:endParaRPr lang="en-US" altLang="zh-CN" dirty="0">
              <a:sym typeface="Huawei Sans" panose="020C0503030203020204" pitchFamily="34" charset="0"/>
            </a:endParaRPr>
          </a:p>
          <a:p>
            <a:endParaRPr lang="en-US" altLang="zh-CN" dirty="0">
              <a:sym typeface="Huawei Sans" panose="020C0503030203020204" pitchFamily="34" charset="0"/>
            </a:endParaRPr>
          </a:p>
          <a:p>
            <a:endParaRPr lang="en-US" altLang="zh-CN" dirty="0">
              <a:sym typeface="Huawei Sans" panose="020C0503030203020204" pitchFamily="34" charset="0"/>
            </a:endParaRPr>
          </a:p>
          <a:p>
            <a:endParaRPr lang="zh-CN" altLang="en-US" dirty="0">
              <a:sym typeface="Huawei Sans" panose="020C0503030203020204" pitchFamily="34" charset="0"/>
            </a:endParaRPr>
          </a:p>
        </p:txBody>
      </p:sp>
      <p:graphicFrame>
        <p:nvGraphicFramePr>
          <p:cNvPr id="20" name="表格 19"/>
          <p:cNvGraphicFramePr>
            <a:graphicFrameLocks noGrp="1"/>
          </p:cNvGraphicFramePr>
          <p:nvPr>
            <p:extLst>
              <p:ext uri="{D42A27DB-BD31-4B8C-83A1-F6EECF244321}">
                <p14:modId xmlns:p14="http://schemas.microsoft.com/office/powerpoint/2010/main" val="862942039"/>
              </p:ext>
            </p:extLst>
          </p:nvPr>
        </p:nvGraphicFramePr>
        <p:xfrm>
          <a:off x="592652" y="2874736"/>
          <a:ext cx="6568145" cy="3201847"/>
        </p:xfrm>
        <a:graphic>
          <a:graphicData uri="http://schemas.openxmlformats.org/drawingml/2006/table">
            <a:tbl>
              <a:tblPr>
                <a:tableStyleId>{72833802-FEF1-4C79-8D5D-14CF1EAF98D9}</a:tableStyleId>
              </a:tblPr>
              <a:tblGrid>
                <a:gridCol w="782637">
                  <a:extLst>
                    <a:ext uri="{9D8B030D-6E8A-4147-A177-3AD203B41FA5}">
                      <a16:colId xmlns:a16="http://schemas.microsoft.com/office/drawing/2014/main" val="20000"/>
                    </a:ext>
                  </a:extLst>
                </a:gridCol>
                <a:gridCol w="652463">
                  <a:extLst>
                    <a:ext uri="{9D8B030D-6E8A-4147-A177-3AD203B41FA5}">
                      <a16:colId xmlns:a16="http://schemas.microsoft.com/office/drawing/2014/main" val="20001"/>
                    </a:ext>
                  </a:extLst>
                </a:gridCol>
                <a:gridCol w="630237">
                  <a:extLst>
                    <a:ext uri="{9D8B030D-6E8A-4147-A177-3AD203B41FA5}">
                      <a16:colId xmlns:a16="http://schemas.microsoft.com/office/drawing/2014/main" val="20002"/>
                    </a:ext>
                  </a:extLst>
                </a:gridCol>
                <a:gridCol w="1019175">
                  <a:extLst>
                    <a:ext uri="{9D8B030D-6E8A-4147-A177-3AD203B41FA5}">
                      <a16:colId xmlns:a16="http://schemas.microsoft.com/office/drawing/2014/main" val="20003"/>
                    </a:ext>
                  </a:extLst>
                </a:gridCol>
                <a:gridCol w="630237">
                  <a:extLst>
                    <a:ext uri="{9D8B030D-6E8A-4147-A177-3AD203B41FA5}">
                      <a16:colId xmlns:a16="http://schemas.microsoft.com/office/drawing/2014/main" val="20004"/>
                    </a:ext>
                  </a:extLst>
                </a:gridCol>
                <a:gridCol w="933450">
                  <a:extLst>
                    <a:ext uri="{9D8B030D-6E8A-4147-A177-3AD203B41FA5}">
                      <a16:colId xmlns:a16="http://schemas.microsoft.com/office/drawing/2014/main" val="20005"/>
                    </a:ext>
                  </a:extLst>
                </a:gridCol>
                <a:gridCol w="630237">
                  <a:extLst>
                    <a:ext uri="{9D8B030D-6E8A-4147-A177-3AD203B41FA5}">
                      <a16:colId xmlns:a16="http://schemas.microsoft.com/office/drawing/2014/main" val="20006"/>
                    </a:ext>
                  </a:extLst>
                </a:gridCol>
                <a:gridCol w="1289709">
                  <a:extLst>
                    <a:ext uri="{9D8B030D-6E8A-4147-A177-3AD203B41FA5}">
                      <a16:colId xmlns:a16="http://schemas.microsoft.com/office/drawing/2014/main" val="20007"/>
                    </a:ext>
                  </a:extLst>
                </a:gridCol>
              </a:tblGrid>
              <a:tr h="176488">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channel</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number:</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channel</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name:</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1" u="none" strike="noStrike" dirty="0">
                          <a:solidFill>
                            <a:srgbClr val="C7000B"/>
                          </a:solidFill>
                          <a:effectLst/>
                          <a:latin typeface="Huawei Sans" panose="020C0503030203020204" pitchFamily="34" charset="0"/>
                          <a:ea typeface="方正兰亭黑简体" panose="02000000000000000000" pitchFamily="2" charset="-122"/>
                          <a:sym typeface="Huawei Sans" panose="020C0503030203020204" pitchFamily="34" charset="0"/>
                        </a:rPr>
                        <a:t>console</a:t>
                      </a:r>
                      <a:endParaRPr lang="en-US" sz="1200" b="1" i="0" u="none" strike="noStrike" dirty="0">
                        <a:solidFill>
                          <a:srgbClr val="C7000B"/>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zh-CN" alt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zh-CN" alt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54189">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MODU_ID</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NAME</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ENABLE</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LOG_LEVEL</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ENABLE</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TRAP_LEVEL</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ENABLE</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DEBUG_LEVEL</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54189">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ffff0000</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default</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Y</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warning</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Y</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debugging</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Y</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debugging</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6488">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channel</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number:</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channel</a:t>
                      </a:r>
                      <a:endParaRPr lang="en-US"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name:</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1" u="none" strike="noStrike" dirty="0" err="1">
                          <a:solidFill>
                            <a:srgbClr val="C7000B"/>
                          </a:solidFill>
                          <a:effectLst/>
                          <a:latin typeface="Huawei Sans" panose="020C0503030203020204" pitchFamily="34" charset="0"/>
                          <a:ea typeface="方正兰亭黑简体" panose="02000000000000000000" pitchFamily="2" charset="-122"/>
                          <a:sym typeface="Huawei Sans" panose="020C0503030203020204" pitchFamily="34" charset="0"/>
                        </a:rPr>
                        <a:t>loghost</a:t>
                      </a:r>
                      <a:endParaRPr lang="en-US" sz="1200" b="1" i="0" u="none" strike="noStrike" dirty="0">
                        <a:solidFill>
                          <a:srgbClr val="C7000B"/>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zh-CN" altLang="en-US" sz="1200" b="0" i="0" u="none" strike="noStrike">
                        <a:solidFill>
                          <a:srgbClr val="00B0F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zh-CN" altLang="en-US" sz="1200" b="0" i="0" u="none" strike="noStrike">
                        <a:solidFill>
                          <a:srgbClr val="00B0F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54189">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MODU_ID</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NAME</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ENABLE</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LOG_LEVEL</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ENABLE</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TRAP_LEVEL</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ENABLE</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DEBUG_LEVEL</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54189">
                <a:tc>
                  <a:txBody>
                    <a:bodyPr/>
                    <a:lstStyle/>
                    <a:p>
                      <a:pPr algn="ctr" fontAlgn="ctr"/>
                      <a:r>
                        <a:rPr lang="en-US"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ffff0000</a:t>
                      </a:r>
                      <a:endParaRPr lang="en-US"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default</a:t>
                      </a:r>
                      <a:endParaRPr lang="en-US"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Y</a:t>
                      </a:r>
                      <a:endParaRPr lang="en-US"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informational</a:t>
                      </a:r>
                      <a:endParaRPr lang="en-US"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Y</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debugging</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N</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debugging</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64610">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channel</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number:</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channel</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name:</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1" u="none" strike="noStrike" dirty="0" err="1">
                          <a:solidFill>
                            <a:srgbClr val="C7000B"/>
                          </a:solidFill>
                          <a:effectLst/>
                          <a:latin typeface="Huawei Sans" panose="020C0503030203020204" pitchFamily="34" charset="0"/>
                          <a:ea typeface="方正兰亭黑简体" panose="02000000000000000000" pitchFamily="2" charset="-122"/>
                          <a:sym typeface="Huawei Sans" panose="020C0503030203020204" pitchFamily="34" charset="0"/>
                        </a:rPr>
                        <a:t>trapbuffer</a:t>
                      </a:r>
                      <a:endParaRPr lang="en-US" sz="1200" b="1" i="0" u="none" strike="noStrike" dirty="0">
                        <a:solidFill>
                          <a:srgbClr val="C7000B"/>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zh-CN" alt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54189">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MODU_ID</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NAME</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ENABLE</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LOG_LEVEL</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ENABLE</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TRAP_LEVEL</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ENABLE</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DEBUG_LEVEL</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54189">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ffff0000</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default</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informational</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Y</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debugging</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debugging</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64610">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channel</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number:</a:t>
                      </a:r>
                      <a:endParaRPr lang="en-US"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4,</a:t>
                      </a:r>
                      <a:endParaRPr lang="en-US" altLang="zh-CN"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channel</a:t>
                      </a:r>
                      <a:endParaRPr lang="en-US"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name:</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1" u="none" strike="noStrike" dirty="0" err="1">
                          <a:solidFill>
                            <a:srgbClr val="C7000B"/>
                          </a:solidFill>
                          <a:effectLst/>
                          <a:latin typeface="Huawei Sans" panose="020C0503030203020204" pitchFamily="34" charset="0"/>
                          <a:ea typeface="方正兰亭黑简体" panose="02000000000000000000" pitchFamily="2" charset="-122"/>
                          <a:sym typeface="Huawei Sans" panose="020C0503030203020204" pitchFamily="34" charset="0"/>
                        </a:rPr>
                        <a:t>logbuffer</a:t>
                      </a:r>
                      <a:endParaRPr lang="en-US" sz="1200" b="1" i="0" u="none" strike="noStrike" dirty="0">
                        <a:solidFill>
                          <a:srgbClr val="C7000B"/>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zh-CN" altLang="en-US" sz="1200" b="0" i="0" u="none" strike="noStrike">
                        <a:solidFill>
                          <a:srgbClr val="00B0F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254189">
                <a:tc>
                  <a:txBody>
                    <a:bodyPr/>
                    <a:lstStyle/>
                    <a:p>
                      <a:pPr algn="ctr" fontAlgn="ctr"/>
                      <a:r>
                        <a:rPr lang="en-US"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MODU_ID</a:t>
                      </a:r>
                      <a:endParaRPr lang="en-US"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NAME</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ENABLE</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LOG_LEVEL</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ENABLE</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TRAP_LEVEL</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ENABLE</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DEBUG_LEVEL</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254189">
                <a:tc>
                  <a:txBody>
                    <a:bodyPr/>
                    <a:lstStyle/>
                    <a:p>
                      <a:pPr algn="ctr" fontAlgn="ctr"/>
                      <a:r>
                        <a:rPr lang="en-US"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ffff0000</a:t>
                      </a:r>
                      <a:endParaRPr lang="en-US"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default</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Y</a:t>
                      </a:r>
                      <a:endParaRPr lang="en-US"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warning</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N</a:t>
                      </a:r>
                      <a:endParaRPr lang="en-US"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debugging</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N</a:t>
                      </a:r>
                      <a:endParaRPr lang="en-US" sz="1200" b="0" i="0" u="none" strike="noStrike">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rPr>
                        <a:t>debugging</a:t>
                      </a:r>
                      <a:endParaRPr lang="en-US" sz="1200" b="0" i="0" u="none" strike="noStrike" dirty="0">
                        <a:solidFill>
                          <a:srgbClr val="30B5C5"/>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54189">
                <a:tc>
                  <a:txBody>
                    <a:bodyPr/>
                    <a:lstStyle/>
                    <a:p>
                      <a:pPr algn="ctr" fontAlgn="ctr"/>
                      <a:r>
                        <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200" b="0" i="0" u="none" strike="noStrike">
                        <a:solidFill>
                          <a:srgbClr val="00B0F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200" b="0" i="0" u="none" strike="noStrike" dirty="0">
                        <a:solidFill>
                          <a:srgbClr val="00B0F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200" b="0" i="0" u="none" strike="noStrike">
                        <a:solidFill>
                          <a:srgbClr val="00B0F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200" b="0" i="0" u="none" strike="noStrike" dirty="0">
                        <a:solidFill>
                          <a:srgbClr val="00B0F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bl>
          </a:graphicData>
        </a:graphic>
      </p:graphicFrame>
      <p:sp>
        <p:nvSpPr>
          <p:cNvPr id="22" name="矩形 21"/>
          <p:cNvSpPr/>
          <p:nvPr/>
        </p:nvSpPr>
        <p:spPr bwMode="gray">
          <a:xfrm>
            <a:off x="7297837" y="2538810"/>
            <a:ext cx="4069310" cy="671851"/>
          </a:xfrm>
          <a:prstGeom prst="rect">
            <a:avLst/>
          </a:prstGeom>
        </p:spPr>
        <p:txBody>
          <a:bodyPr wrap="square">
            <a:spAutoFit/>
          </a:bodyPr>
          <a:lstStyle/>
          <a:p>
            <a:pPr>
              <a:lnSpc>
                <a:spcPts val="24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设备存在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个通道分别是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Console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Loghost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Trapbuffer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Logbuffer</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5881419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信息中心配置验证</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 Trap</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66792" y="1758346"/>
            <a:ext cx="540000" cy="442800"/>
          </a:xfrm>
          <a:prstGeom prst="rect">
            <a:avLst/>
          </a:prstGeom>
        </p:spPr>
      </p:pic>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401883" y="1758346"/>
            <a:ext cx="540000" cy="442800"/>
          </a:xfrm>
          <a:prstGeom prst="rect">
            <a:avLst/>
          </a:prstGeom>
        </p:spPr>
      </p:pic>
      <p:cxnSp>
        <p:nvCxnSpPr>
          <p:cNvPr id="6" name="直接连接符 5"/>
          <p:cNvCxnSpPr>
            <a:stCxn id="4" idx="3"/>
            <a:endCxn id="5" idx="1"/>
          </p:cNvCxnSpPr>
          <p:nvPr/>
        </p:nvCxnSpPr>
        <p:spPr bwMode="gray">
          <a:xfrm>
            <a:off x="1206792" y="1979746"/>
            <a:ext cx="31950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16">
            <a:extLst>
              <a:ext uri="{FF2B5EF4-FFF2-40B4-BE49-F238E27FC236}">
                <a16:creationId xmlns:a16="http://schemas.microsoft.com/office/drawing/2014/main" id="{4849523F-4E0A-410A-8715-D105FD18C781}"/>
              </a:ext>
            </a:extLst>
          </p:cNvPr>
          <p:cNvSpPr txBox="1"/>
          <p:nvPr/>
        </p:nvSpPr>
        <p:spPr bwMode="gray">
          <a:xfrm>
            <a:off x="753889" y="2293467"/>
            <a:ext cx="365806"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R1</a:t>
            </a:r>
          </a:p>
        </p:txBody>
      </p:sp>
      <p:sp>
        <p:nvSpPr>
          <p:cNvPr id="8" name="TextBox 16">
            <a:extLst>
              <a:ext uri="{FF2B5EF4-FFF2-40B4-BE49-F238E27FC236}">
                <a16:creationId xmlns:a16="http://schemas.microsoft.com/office/drawing/2014/main" id="{4849523F-4E0A-410A-8715-D105FD18C781}"/>
              </a:ext>
            </a:extLst>
          </p:cNvPr>
          <p:cNvSpPr txBox="1"/>
          <p:nvPr/>
        </p:nvSpPr>
        <p:spPr bwMode="gray">
          <a:xfrm>
            <a:off x="4488980" y="2293467"/>
            <a:ext cx="365806"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R2</a:t>
            </a:r>
          </a:p>
        </p:txBody>
      </p:sp>
      <p:sp>
        <p:nvSpPr>
          <p:cNvPr id="9" name="TextBox 16">
            <a:extLst>
              <a:ext uri="{FF2B5EF4-FFF2-40B4-BE49-F238E27FC236}">
                <a16:creationId xmlns:a16="http://schemas.microsoft.com/office/drawing/2014/main" id="{4849523F-4E0A-410A-8715-D105FD18C781}"/>
              </a:ext>
            </a:extLst>
          </p:cNvPr>
          <p:cNvSpPr txBox="1"/>
          <p:nvPr/>
        </p:nvSpPr>
        <p:spPr bwMode="gray">
          <a:xfrm>
            <a:off x="1206792" y="1749862"/>
            <a:ext cx="75693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GE0/0/0</a:t>
            </a:r>
          </a:p>
        </p:txBody>
      </p:sp>
      <p:sp>
        <p:nvSpPr>
          <p:cNvPr id="10" name="TextBox 16">
            <a:extLst>
              <a:ext uri="{FF2B5EF4-FFF2-40B4-BE49-F238E27FC236}">
                <a16:creationId xmlns:a16="http://schemas.microsoft.com/office/drawing/2014/main" id="{4849523F-4E0A-410A-8715-D105FD18C781}"/>
              </a:ext>
            </a:extLst>
          </p:cNvPr>
          <p:cNvSpPr txBox="1"/>
          <p:nvPr/>
        </p:nvSpPr>
        <p:spPr bwMode="gray">
          <a:xfrm>
            <a:off x="1206792" y="1967507"/>
            <a:ext cx="1042273"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10.0.12.1/24</a:t>
            </a:r>
          </a:p>
        </p:txBody>
      </p:sp>
      <p:sp>
        <p:nvSpPr>
          <p:cNvPr id="11" name="TextBox 16">
            <a:extLst>
              <a:ext uri="{FF2B5EF4-FFF2-40B4-BE49-F238E27FC236}">
                <a16:creationId xmlns:a16="http://schemas.microsoft.com/office/drawing/2014/main" id="{4849523F-4E0A-410A-8715-D105FD18C781}"/>
              </a:ext>
            </a:extLst>
          </p:cNvPr>
          <p:cNvSpPr txBox="1"/>
          <p:nvPr/>
        </p:nvSpPr>
        <p:spPr bwMode="gray">
          <a:xfrm>
            <a:off x="3393809" y="1749862"/>
            <a:ext cx="75693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GE0/0/0</a:t>
            </a:r>
          </a:p>
        </p:txBody>
      </p:sp>
      <p:sp>
        <p:nvSpPr>
          <p:cNvPr id="12" name="TextBox 16">
            <a:extLst>
              <a:ext uri="{FF2B5EF4-FFF2-40B4-BE49-F238E27FC236}">
                <a16:creationId xmlns:a16="http://schemas.microsoft.com/office/drawing/2014/main" id="{4849523F-4E0A-410A-8715-D105FD18C781}"/>
              </a:ext>
            </a:extLst>
          </p:cNvPr>
          <p:cNvSpPr txBox="1"/>
          <p:nvPr/>
        </p:nvSpPr>
        <p:spPr bwMode="gray">
          <a:xfrm>
            <a:off x="3393809" y="1967507"/>
            <a:ext cx="1042273"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10.0.12.2/24</a:t>
            </a:r>
          </a:p>
        </p:txBody>
      </p:sp>
      <p:sp>
        <p:nvSpPr>
          <p:cNvPr id="15" name="矩形 14"/>
          <p:cNvSpPr/>
          <p:nvPr/>
        </p:nvSpPr>
        <p:spPr bwMode="gray">
          <a:xfrm>
            <a:off x="588987" y="2684475"/>
            <a:ext cx="6366581"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查看信息中心</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缓冲区记录的信息。</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文本框 16"/>
          <p:cNvSpPr txBox="1"/>
          <p:nvPr/>
        </p:nvSpPr>
        <p:spPr bwMode="gray">
          <a:xfrm>
            <a:off x="666792" y="3129692"/>
            <a:ext cx="8219024" cy="2246769"/>
          </a:xfrm>
          <a:prstGeom prst="rect">
            <a:avLst/>
          </a:prstGeom>
          <a:solidFill>
            <a:schemeClr val="bg1">
              <a:lumMod val="85000"/>
            </a:schemeClr>
          </a:solidFill>
          <a:ln>
            <a:no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&lt;R1&gt; </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display </a:t>
            </a:r>
            <a:r>
              <a:rPr lang="en-US" altLang="zh-CN" sz="1400" b="1" dirty="0" err="1">
                <a:latin typeface="Huawei Sans" panose="020C0503030203020204" pitchFamily="34" charset="0"/>
                <a:ea typeface="方正兰亭黑简体" panose="02000000000000000000" pitchFamily="2" charset="-122"/>
                <a:sym typeface="Huawei Sans" panose="020C0503030203020204" pitchFamily="34" charset="0"/>
              </a:rPr>
              <a:t>trapbuffer</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Trapping buffer configuration and contents: enabled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Allowed max buffer size: 1024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Actual buffer size: 256</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Channel number: 3, Channel name: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trapbuffer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Dropped messages: 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Overwritten messages: 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Current messages: 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#YY-MM-DD</a:t>
            </a:r>
            <a:r>
              <a:rPr lang="en-US" altLang="zh-CN" sz="1400" dirty="0">
                <a:effectLst>
                  <a:glow rad="152400">
                    <a:schemeClr val="tx1"/>
                  </a:glow>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08:38:51-08:00 R1 LLDP/4/ADDCHGTRAP:OID: [OID] Local management add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ress</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is changed.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LocManIPAddr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=[IPADDR])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666792" y="5443946"/>
            <a:ext cx="7266246"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信息从缺省的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号信息通道输出。</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553423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信息中心配置验证</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 Log</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491322" y="1245948"/>
            <a:ext cx="5205143" cy="4062651"/>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display log cli all</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No.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UserName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Domain            IP-Address</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35                                    --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Serial</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Time: YY-MM-DD 09:34:35-08:00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Cmd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quit</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No.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UserName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Domain            IP-Address</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34                                    --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Serial</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Time: YY-MM-DD 09:34:33-08:00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Cmd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address 10.0.12.1 24</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No.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UserName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Domain            IP-Address</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33                                    --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Serial</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Time: YY-MM-DD 09:34:29-08:00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Cmd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interface </a:t>
            </a:r>
            <a:r>
              <a:rPr lang="en-US" altLang="zh-CN" sz="1200"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gi</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0/0/0</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No.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UserName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Domain            IP-Address</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32                                    --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Serial</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Time: YY-MM-DD 09:34:26-08:00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Cmd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system-view</a:t>
            </a:r>
            <a:endPar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13"/>
          <p:cNvSpPr/>
          <p:nvPr/>
        </p:nvSpPr>
        <p:spPr bwMode="gray">
          <a:xfrm>
            <a:off x="491321" y="5292126"/>
            <a:ext cx="5205143" cy="707886"/>
          </a:xfrm>
          <a:prstGeom prst="rect">
            <a:avLst/>
          </a:prstGeom>
        </p:spPr>
        <p:txBody>
          <a:bodyPr wrap="square">
            <a:spAutoFit/>
          </a:bodyPr>
          <a:lstStyle/>
          <a:p>
            <a:pPr marL="285750" indent="-285750" fontAlgn="auto">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查看用户输入的所有命令。如上图所示，完成了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地址配置。</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文本框 14"/>
          <p:cNvSpPr txBox="1"/>
          <p:nvPr/>
        </p:nvSpPr>
        <p:spPr bwMode="gray">
          <a:xfrm>
            <a:off x="5877976" y="1245948"/>
            <a:ext cx="5649913" cy="3046988"/>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YY-MM-DD 10:09:57-08:00 R1 %%01OSPF/4/NBR_CHANGE_E(l)[0]:Neighbor changes event: neighbor status changed.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ProcessId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=256,NeighborAddress=10.0.12.2,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NeighborEvent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HelloReceived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NeighborPreviousState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=Down,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NeighborCurrentState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Init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YY-MM-DD 10:09:57-08:00 R1 %%01OSPF/4/NBR_CHANGE_E(l)[1]:Neighbor changes event: neighbor status changed.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ProcessId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=256,NeighborAddress=10.0.12.2,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NeighborEvent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=2WayReceived,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NeighborPreviousState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Init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NeighborCurrentState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=2Way)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YY-MM-DD 10:09:57-08:00 R1 %%01OSPF/4/NBR_CHANGE_E(l)[5]:Neighbor changes event: neighbor status changed.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ProcessId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=256,NeighborAddress=10.0.12.2,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NeighborEvent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LoadingDone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NeighborPreviousState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=Loading,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NeighborCurrentState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=Full) </a:t>
            </a:r>
          </a:p>
        </p:txBody>
      </p:sp>
      <p:sp>
        <p:nvSpPr>
          <p:cNvPr id="16" name="矩形 15"/>
          <p:cNvSpPr/>
          <p:nvPr/>
        </p:nvSpPr>
        <p:spPr bwMode="gray">
          <a:xfrm>
            <a:off x="5877975" y="4308044"/>
            <a:ext cx="5649913" cy="400110"/>
          </a:xfrm>
          <a:prstGeom prst="rect">
            <a:avLst/>
          </a:prstGeom>
        </p:spPr>
        <p:txBody>
          <a:bodyPr wrap="square">
            <a:spAutoFit/>
          </a:bodyPr>
          <a:lstStyle/>
          <a:p>
            <a:pPr marL="285750" indent="-285750" fontAlgn="auto">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邻居状态变化以</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Log</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报文格式自动在</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Console</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界面输出。</a:t>
            </a:r>
          </a:p>
        </p:txBody>
      </p:sp>
    </p:spTree>
    <p:extLst>
      <p:ext uri="{BB962C8B-B14F-4D97-AF65-F5344CB8AC3E}">
        <p14:creationId xmlns:p14="http://schemas.microsoft.com/office/powerpoint/2010/main" val="34422633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信息中心配置验证</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 Debug</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2868012" y="1110039"/>
            <a:ext cx="6770258" cy="3785652"/>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debugging </a:t>
            </a:r>
            <a:r>
              <a:rPr lang="en-US" altLang="zh-CN" sz="1200" b="1" dirty="0" err="1">
                <a:latin typeface="Huawei Sans" panose="020C0503030203020204" pitchFamily="34" charset="0"/>
                <a:ea typeface="方正兰亭黑简体" panose="02000000000000000000" pitchFamily="2" charset="-122"/>
                <a:sym typeface="Huawei Sans" panose="020C0503030203020204" pitchFamily="34" charset="0"/>
              </a:rPr>
              <a:t>ospf</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 packet</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YY-MM-DD 10:14:21.631.1-08:00 R1 RM/6/RMDEBUG:</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FileID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0xd0178024 Line: 2236 Level: 0x20</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OSPF 1: RECV Packet. Interface: GigabitEthernet0/0/0</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YY-MM-DD 10:14:21.631.2-08:00 R1 RM/6/RMDEBUG:  Source Address: 10.0.12.2</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YY-MM-DD 10:14:21.631.3-08:00 R1 RM/6/RMDEBUG:  Destination Address: 224.0.0.5</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a:t>
            </a:r>
            <a:r>
              <a:rPr lang="en-US" altLang="zh-CN" sz="1200" dirty="0">
                <a:effectLst>
                  <a:glow rad="152400">
                    <a:schemeClr val="tx1"/>
                  </a:glow>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YY-MM-DD 10:14:21.631.4-08:00 R1 RM/6/RMDEBUG: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Ver</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 Type: 1 (Hello)</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YY-MM-DD 10:14:21.631.5-08:00 R1 RM/6/RMDEBUG:  Length: 48, Router: 10.0.2.2</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YY-MM-DD 10:14:21.631.6-08:00 R1 RM/6/RMDEBUG:  Area: 0.0.0.0,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Chksum</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ae94</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YY-MM-DD 10:14:21.631.7-08:00 R1 RM/6/RMDEBUG: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AuType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00</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YY-MM-DD 10:14:21.631.8-08:00 R1 RM/6/RMDEBUG:  Key(</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ascii</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 * * * * *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YY-MM-DD 10:14:21.631.9-08:00 R1 RM/6/RMDEBUG:  Net Mask: 255.255.255.0</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YY-MM-DD 10:14:21.631.10-08:00 R1 RM/6/RMDEBUG:  Hello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Int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10, Option: _E_</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YY-MM-DD 10:14:21.631.11-08:00 R1 RM/6/RMDEBUG: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Rtr</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Priority: 1, Dead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Int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40</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YY-MM-DD 10:14:21.631.12-08:00 R1 RM/6/RMDEBUG:  DR: 10.0.12.2</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YY-MM-DD 10:14:21.631.13-08:00 R1 RM/6/RMDEBUG:  BDR: 10.0.12.1</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YY-MM-DD 10:14:21.631.14-08:00 R1 RM/6/RMDEBUG:  # Attached Neighbors: 1</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YY-MM-DD 10:14:21.631.15-08:00 R1 RM/6/RMDEBUG:    Neighbor: 10.0.12.1</a:t>
            </a:r>
          </a:p>
        </p:txBody>
      </p:sp>
      <p:sp>
        <p:nvSpPr>
          <p:cNvPr id="15" name="矩形 14"/>
          <p:cNvSpPr/>
          <p:nvPr/>
        </p:nvSpPr>
        <p:spPr bwMode="gray">
          <a:xfrm>
            <a:off x="2868012" y="5000158"/>
            <a:ext cx="6770258" cy="1056187"/>
          </a:xfrm>
          <a:prstGeom prst="rect">
            <a:avLst/>
          </a:prstGeom>
        </p:spPr>
        <p:txBody>
          <a:bodyPr wrap="square">
            <a:spAutoFit/>
          </a:bodyPr>
          <a:lstStyle/>
          <a:p>
            <a:pPr marL="285750" indent="-285750" fontAlgn="auto">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接口收到了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HELLO</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报文，从中可以看到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的接口</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HELLO</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报文发送间隔、</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Router 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等信息。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ctr">
              <a:lnSpc>
                <a:spcPct val="140000"/>
              </a:lnSpc>
              <a:spcBef>
                <a:spcPts val="720"/>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注意：设备开启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功能可能会影响设备正常运行，请谨慎使用。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7409745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endParaRPr lang="zh-CN" altLang="en-US"/>
          </a:p>
        </p:txBody>
      </p:sp>
      <p:sp>
        <p:nvSpPr>
          <p:cNvPr id="4" name="Text Placeholder 3"/>
          <p:cNvSpPr>
            <a:spLocks noGrp="1"/>
          </p:cNvSpPr>
          <p:nvPr>
            <p:ph type="body" sz="quarter" idx="10"/>
          </p:nvPr>
        </p:nvSpPr>
        <p:spPr bwMode="gray"/>
        <p:txBody>
          <a:bodyPr/>
          <a:lstStyle/>
          <a:p>
            <a:endParaRPr lang="zh-CN" altLang="en-US"/>
          </a:p>
        </p:txBody>
      </p:sp>
    </p:spTree>
    <p:extLst>
      <p:ext uri="{BB962C8B-B14F-4D97-AF65-F5344CB8AC3E}">
        <p14:creationId xmlns:p14="http://schemas.microsoft.com/office/powerpoint/2010/main" val="686044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日常维护</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信息收集工具</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信息中心</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buSzPct val="60000"/>
              <a:buFont typeface="Wingdings" panose="05000000000000000000" pitchFamily="2" charset="2"/>
              <a:buChar char="n"/>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报文捕获</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LLDP</a:t>
            </a: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流量统计</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7571007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报文捕获</a:t>
            </a:r>
          </a:p>
        </p:txBody>
      </p:sp>
      <p:sp>
        <p:nvSpPr>
          <p:cNvPr id="14" name="文本占位符 13"/>
          <p:cNvSpPr>
            <a:spLocks noGrp="1"/>
          </p:cNvSpPr>
          <p:nvPr>
            <p:ph type="body" sz="quarter" idx="10"/>
          </p:nvPr>
        </p:nvSpPr>
        <p:spPr bwMode="gray"/>
        <p:txBody>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当设备的业务流量出现异常，比如流量状态与流量模型不符时，可以使用报文捕获功能，抓取业务报文进行分析，以便及时处理非法报文，保证网络数据的正常传输。</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70986" y="3610484"/>
            <a:ext cx="540000" cy="442800"/>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306077" y="3610484"/>
            <a:ext cx="540000" cy="442800"/>
          </a:xfrm>
          <a:prstGeom prst="rect">
            <a:avLst/>
          </a:prstGeom>
        </p:spPr>
      </p:pic>
      <p:cxnSp>
        <p:nvCxnSpPr>
          <p:cNvPr id="7" name="直接连接符 6"/>
          <p:cNvCxnSpPr>
            <a:stCxn id="5" idx="3"/>
            <a:endCxn id="6" idx="1"/>
          </p:cNvCxnSpPr>
          <p:nvPr/>
        </p:nvCxnSpPr>
        <p:spPr bwMode="gray">
          <a:xfrm>
            <a:off x="1110986" y="3831884"/>
            <a:ext cx="31950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16">
            <a:extLst>
              <a:ext uri="{FF2B5EF4-FFF2-40B4-BE49-F238E27FC236}">
                <a16:creationId xmlns:a16="http://schemas.microsoft.com/office/drawing/2014/main" id="{4849523F-4E0A-410A-8715-D105FD18C781}"/>
              </a:ext>
            </a:extLst>
          </p:cNvPr>
          <p:cNvSpPr txBox="1"/>
          <p:nvPr/>
        </p:nvSpPr>
        <p:spPr bwMode="gray">
          <a:xfrm>
            <a:off x="658083" y="4145605"/>
            <a:ext cx="365806"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R1</a:t>
            </a:r>
          </a:p>
        </p:txBody>
      </p:sp>
      <p:sp>
        <p:nvSpPr>
          <p:cNvPr id="9" name="TextBox 16">
            <a:extLst>
              <a:ext uri="{FF2B5EF4-FFF2-40B4-BE49-F238E27FC236}">
                <a16:creationId xmlns:a16="http://schemas.microsoft.com/office/drawing/2014/main" id="{4849523F-4E0A-410A-8715-D105FD18C781}"/>
              </a:ext>
            </a:extLst>
          </p:cNvPr>
          <p:cNvSpPr txBox="1"/>
          <p:nvPr/>
        </p:nvSpPr>
        <p:spPr bwMode="gray">
          <a:xfrm>
            <a:off x="4393174" y="4145605"/>
            <a:ext cx="365806"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R2</a:t>
            </a:r>
          </a:p>
        </p:txBody>
      </p:sp>
      <p:sp>
        <p:nvSpPr>
          <p:cNvPr id="10" name="TextBox 16">
            <a:extLst>
              <a:ext uri="{FF2B5EF4-FFF2-40B4-BE49-F238E27FC236}">
                <a16:creationId xmlns:a16="http://schemas.microsoft.com/office/drawing/2014/main" id="{4849523F-4E0A-410A-8715-D105FD18C781}"/>
              </a:ext>
            </a:extLst>
          </p:cNvPr>
          <p:cNvSpPr txBox="1"/>
          <p:nvPr/>
        </p:nvSpPr>
        <p:spPr bwMode="gray">
          <a:xfrm>
            <a:off x="1110986" y="3602000"/>
            <a:ext cx="75693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GE0/0/0</a:t>
            </a:r>
          </a:p>
        </p:txBody>
      </p:sp>
      <p:sp>
        <p:nvSpPr>
          <p:cNvPr id="11" name="TextBox 16">
            <a:extLst>
              <a:ext uri="{FF2B5EF4-FFF2-40B4-BE49-F238E27FC236}">
                <a16:creationId xmlns:a16="http://schemas.microsoft.com/office/drawing/2014/main" id="{4849523F-4E0A-410A-8715-D105FD18C781}"/>
              </a:ext>
            </a:extLst>
          </p:cNvPr>
          <p:cNvSpPr txBox="1"/>
          <p:nvPr/>
        </p:nvSpPr>
        <p:spPr bwMode="gray">
          <a:xfrm>
            <a:off x="1110986" y="3819645"/>
            <a:ext cx="1042273"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10.0.12.1/24</a:t>
            </a:r>
          </a:p>
        </p:txBody>
      </p:sp>
      <p:sp>
        <p:nvSpPr>
          <p:cNvPr id="12" name="TextBox 16">
            <a:extLst>
              <a:ext uri="{FF2B5EF4-FFF2-40B4-BE49-F238E27FC236}">
                <a16:creationId xmlns:a16="http://schemas.microsoft.com/office/drawing/2014/main" id="{4849523F-4E0A-410A-8715-D105FD18C781}"/>
              </a:ext>
            </a:extLst>
          </p:cNvPr>
          <p:cNvSpPr txBox="1"/>
          <p:nvPr/>
        </p:nvSpPr>
        <p:spPr bwMode="gray">
          <a:xfrm>
            <a:off x="3298003" y="3602000"/>
            <a:ext cx="75693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GE0/0/0</a:t>
            </a:r>
          </a:p>
        </p:txBody>
      </p:sp>
      <p:sp>
        <p:nvSpPr>
          <p:cNvPr id="13" name="TextBox 16">
            <a:extLst>
              <a:ext uri="{FF2B5EF4-FFF2-40B4-BE49-F238E27FC236}">
                <a16:creationId xmlns:a16="http://schemas.microsoft.com/office/drawing/2014/main" id="{4849523F-4E0A-410A-8715-D105FD18C781}"/>
              </a:ext>
            </a:extLst>
          </p:cNvPr>
          <p:cNvSpPr txBox="1"/>
          <p:nvPr/>
        </p:nvSpPr>
        <p:spPr bwMode="gray">
          <a:xfrm>
            <a:off x="3298003" y="3819645"/>
            <a:ext cx="1042273"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10.0.12.2/24</a:t>
            </a:r>
          </a:p>
        </p:txBody>
      </p:sp>
      <p:sp>
        <p:nvSpPr>
          <p:cNvPr id="15" name="文本框 14"/>
          <p:cNvSpPr txBox="1"/>
          <p:nvPr/>
        </p:nvSpPr>
        <p:spPr bwMode="gray">
          <a:xfrm>
            <a:off x="5057874" y="2275167"/>
            <a:ext cx="6087921" cy="3785652"/>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system-view</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capture-packet interface </a:t>
            </a:r>
            <a:r>
              <a:rPr lang="en-US" altLang="zh-CN" sz="1200" b="1" dirty="0" err="1">
                <a:latin typeface="Huawei Sans" panose="020C0503030203020204" pitchFamily="34" charset="0"/>
                <a:ea typeface="方正兰亭黑简体" panose="02000000000000000000" pitchFamily="2" charset="-122"/>
                <a:sym typeface="Huawei Sans" panose="020C0503030203020204" pitchFamily="34" charset="0"/>
              </a:rPr>
              <a:t>gigabitethernet</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 0/0/0 destination  terminal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Info: Captured packets will be showed on terminal.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[R1]ping 10.0.12.2</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Packet: 1</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ff</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ff</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ff</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ff</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ff</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ff</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00 e0 fc 9f 4b 1d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08 06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00 01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08 00 06 04 00 01 00 e0 fc 9f 4b 1d 0a 00 0c 02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00 00 00 00 00 00 0a 00 0c 02 00 00 00 00 00 00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00 00 00 00 00 00 00 00 00 00 00 00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Packet: 2</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ff</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ff</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ff</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ff</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ff</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ff</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00 e0 fc 9f 4b 1d 08 06 00 01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08 00 06 04 00 01 00 e0 fc 9f 4b 1d 0a 00 0c 02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00 00 00 00 00 00 0a 00 0c 02 00 00 00 00 00 00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00 00 00 00 00 00 00 00 00 00 00 00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p:txBody>
      </p:sp>
      <p:sp>
        <p:nvSpPr>
          <p:cNvPr id="17" name="矩形标注 16"/>
          <p:cNvSpPr/>
          <p:nvPr/>
        </p:nvSpPr>
        <p:spPr bwMode="gray">
          <a:xfrm>
            <a:off x="8880062" y="2865229"/>
            <a:ext cx="2008306" cy="1557375"/>
          </a:xfrm>
          <a:prstGeom prst="wedgeRectCallout">
            <a:avLst>
              <a:gd name="adj1" fmla="val -109674"/>
              <a:gd name="adj2" fmla="val -512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sym typeface="Huawei Sans" panose="020C0503030203020204" pitchFamily="34" charset="0"/>
            </a:endParaRPr>
          </a:p>
        </p:txBody>
      </p:sp>
      <p:sp>
        <p:nvSpPr>
          <p:cNvPr id="16" name="文本占位符 13"/>
          <p:cNvSpPr txBox="1">
            <a:spLocks/>
          </p:cNvSpPr>
          <p:nvPr/>
        </p:nvSpPr>
        <p:spPr bwMode="gray">
          <a:xfrm>
            <a:off x="8947976" y="2901046"/>
            <a:ext cx="1914822" cy="1418875"/>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Font typeface="Arial" panose="020B0604020202020204" pitchFamily="34" charset="0"/>
              <a:buNone/>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发送的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请求报文。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Font typeface="Arial" panose="020B0604020202020204" pitchFamily="34" charset="0"/>
              <a:buNone/>
            </a:pP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ffff-ffff-ffff</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0" indent="0">
              <a:buFont typeface="Arial" panose="020B0604020202020204" pitchFamily="34" charset="0"/>
              <a:buNone/>
            </a:pPr>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00e0-fc9f-4b1d</a:t>
            </a:r>
          </a:p>
          <a:p>
            <a:pPr marL="0" indent="0">
              <a:buFont typeface="Arial" panose="020B0604020202020204" pitchFamily="34" charset="0"/>
              <a:buNone/>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类型：</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0806</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，代表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903319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日常维护</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信息收集工具</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信息中心</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报文捕获</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buSzPct val="60000"/>
              <a:buFont typeface="Wingdings" panose="05000000000000000000" pitchFamily="2" charset="2"/>
              <a:buChar char="n"/>
            </a:pP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LLDP</a:t>
            </a: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流量统计</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375650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LLDP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应用举例</a:t>
            </a:r>
          </a:p>
        </p:txBody>
      </p:sp>
      <p:sp>
        <p:nvSpPr>
          <p:cNvPr id="3" name="文本占位符 2"/>
          <p:cNvSpPr>
            <a:spLocks noGrp="1"/>
          </p:cNvSpPr>
          <p:nvPr>
            <p:ph type="body" sz="quarter" idx="10"/>
          </p:nvPr>
        </p:nvSpPr>
        <p:spPr bwMode="gray"/>
        <p: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链路层发现协议（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LLDP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Link Layer Discovery Protocol</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IEEE 802.1ab</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中定义的链路层拓扑发现协议，它能够准确定位诸如哪些设备附带有哪些接口，以及哪些接口与其他设备相互连接等信息，并能够显示客户端、交换机、路由器、应用服务器和网络服务器之间的路径。</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在实际组网中可以通过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LLDP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协议获取设备的物理连接信息。</a:t>
            </a: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58083" y="2948240"/>
            <a:ext cx="540000" cy="442800"/>
          </a:xfrm>
          <a:prstGeom prst="rect">
            <a:avLst/>
          </a:prstGeom>
        </p:spPr>
      </p:pic>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393174" y="2948240"/>
            <a:ext cx="540000" cy="442800"/>
          </a:xfrm>
          <a:prstGeom prst="rect">
            <a:avLst/>
          </a:prstGeom>
        </p:spPr>
      </p:pic>
      <p:cxnSp>
        <p:nvCxnSpPr>
          <p:cNvPr id="6" name="直接连接符 5"/>
          <p:cNvCxnSpPr>
            <a:stCxn id="4" idx="3"/>
            <a:endCxn id="5" idx="1"/>
          </p:cNvCxnSpPr>
          <p:nvPr/>
        </p:nvCxnSpPr>
        <p:spPr bwMode="gray">
          <a:xfrm>
            <a:off x="1198083" y="3169640"/>
            <a:ext cx="31950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16">
            <a:extLst>
              <a:ext uri="{FF2B5EF4-FFF2-40B4-BE49-F238E27FC236}">
                <a16:creationId xmlns:a16="http://schemas.microsoft.com/office/drawing/2014/main" id="{4849523F-4E0A-410A-8715-D105FD18C781}"/>
              </a:ext>
            </a:extLst>
          </p:cNvPr>
          <p:cNvSpPr txBox="1"/>
          <p:nvPr/>
        </p:nvSpPr>
        <p:spPr bwMode="gray">
          <a:xfrm>
            <a:off x="745180" y="3483361"/>
            <a:ext cx="365806"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R1</a:t>
            </a:r>
          </a:p>
        </p:txBody>
      </p:sp>
      <p:sp>
        <p:nvSpPr>
          <p:cNvPr id="8" name="TextBox 16">
            <a:extLst>
              <a:ext uri="{FF2B5EF4-FFF2-40B4-BE49-F238E27FC236}">
                <a16:creationId xmlns:a16="http://schemas.microsoft.com/office/drawing/2014/main" id="{4849523F-4E0A-410A-8715-D105FD18C781}"/>
              </a:ext>
            </a:extLst>
          </p:cNvPr>
          <p:cNvSpPr txBox="1"/>
          <p:nvPr/>
        </p:nvSpPr>
        <p:spPr bwMode="gray">
          <a:xfrm>
            <a:off x="4480271" y="3483361"/>
            <a:ext cx="365806"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R2</a:t>
            </a:r>
          </a:p>
        </p:txBody>
      </p:sp>
      <p:sp>
        <p:nvSpPr>
          <p:cNvPr id="9" name="TextBox 16">
            <a:extLst>
              <a:ext uri="{FF2B5EF4-FFF2-40B4-BE49-F238E27FC236}">
                <a16:creationId xmlns:a16="http://schemas.microsoft.com/office/drawing/2014/main" id="{4849523F-4E0A-410A-8715-D105FD18C781}"/>
              </a:ext>
            </a:extLst>
          </p:cNvPr>
          <p:cNvSpPr txBox="1"/>
          <p:nvPr/>
        </p:nvSpPr>
        <p:spPr bwMode="gray">
          <a:xfrm>
            <a:off x="1198083" y="2939756"/>
            <a:ext cx="75693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GE0/0/0</a:t>
            </a:r>
          </a:p>
        </p:txBody>
      </p:sp>
      <p:sp>
        <p:nvSpPr>
          <p:cNvPr id="10" name="TextBox 16">
            <a:extLst>
              <a:ext uri="{FF2B5EF4-FFF2-40B4-BE49-F238E27FC236}">
                <a16:creationId xmlns:a16="http://schemas.microsoft.com/office/drawing/2014/main" id="{4849523F-4E0A-410A-8715-D105FD18C781}"/>
              </a:ext>
            </a:extLst>
          </p:cNvPr>
          <p:cNvSpPr txBox="1"/>
          <p:nvPr/>
        </p:nvSpPr>
        <p:spPr bwMode="gray">
          <a:xfrm>
            <a:off x="1198083" y="3157401"/>
            <a:ext cx="1042273"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10.0.12.1/24</a:t>
            </a:r>
          </a:p>
        </p:txBody>
      </p:sp>
      <p:sp>
        <p:nvSpPr>
          <p:cNvPr id="11" name="TextBox 16">
            <a:extLst>
              <a:ext uri="{FF2B5EF4-FFF2-40B4-BE49-F238E27FC236}">
                <a16:creationId xmlns:a16="http://schemas.microsoft.com/office/drawing/2014/main" id="{4849523F-4E0A-410A-8715-D105FD18C781}"/>
              </a:ext>
            </a:extLst>
          </p:cNvPr>
          <p:cNvSpPr txBox="1"/>
          <p:nvPr/>
        </p:nvSpPr>
        <p:spPr bwMode="gray">
          <a:xfrm>
            <a:off x="3385100" y="2939756"/>
            <a:ext cx="75693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GE0/0/0</a:t>
            </a:r>
          </a:p>
        </p:txBody>
      </p:sp>
      <p:sp>
        <p:nvSpPr>
          <p:cNvPr id="12" name="TextBox 16">
            <a:extLst>
              <a:ext uri="{FF2B5EF4-FFF2-40B4-BE49-F238E27FC236}">
                <a16:creationId xmlns:a16="http://schemas.microsoft.com/office/drawing/2014/main" id="{4849523F-4E0A-410A-8715-D105FD18C781}"/>
              </a:ext>
            </a:extLst>
          </p:cNvPr>
          <p:cNvSpPr txBox="1"/>
          <p:nvPr/>
        </p:nvSpPr>
        <p:spPr bwMode="gray">
          <a:xfrm>
            <a:off x="3385100" y="3157401"/>
            <a:ext cx="1042273"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10.0.12.2/24</a:t>
            </a:r>
          </a:p>
        </p:txBody>
      </p:sp>
      <p:sp>
        <p:nvSpPr>
          <p:cNvPr id="13" name="文本框 12"/>
          <p:cNvSpPr txBox="1"/>
          <p:nvPr/>
        </p:nvSpPr>
        <p:spPr bwMode="gray">
          <a:xfrm>
            <a:off x="5561450" y="2022747"/>
            <a:ext cx="6087921" cy="4154984"/>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display </a:t>
            </a:r>
            <a:r>
              <a:rPr lang="en-US" altLang="zh-CN" sz="1200" b="1" dirty="0" err="1">
                <a:latin typeface="Huawei Sans" panose="020C0503030203020204" pitchFamily="34" charset="0"/>
                <a:ea typeface="方正兰亭黑简体" panose="02000000000000000000" pitchFamily="2" charset="-122"/>
                <a:sym typeface="Huawei Sans" panose="020C0503030203020204" pitchFamily="34" charset="0"/>
              </a:rPr>
              <a:t>lldp</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 neighbor </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GigabitEthernet0/0/0 has 1 neighbors: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从以上可以看出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接口连接到了</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接口，且</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AR2220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系列路由器，接口的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10.0.12.2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4" name="表格 13"/>
          <p:cNvGraphicFramePr>
            <a:graphicFrameLocks noGrp="1"/>
          </p:cNvGraphicFramePr>
          <p:nvPr>
            <p:extLst>
              <p:ext uri="{D42A27DB-BD31-4B8C-83A1-F6EECF244321}">
                <p14:modId xmlns:p14="http://schemas.microsoft.com/office/powerpoint/2010/main" val="3313922924"/>
              </p:ext>
            </p:extLst>
          </p:nvPr>
        </p:nvGraphicFramePr>
        <p:xfrm>
          <a:off x="5648547" y="2565181"/>
          <a:ext cx="6053722" cy="2926080"/>
        </p:xfrm>
        <a:graphic>
          <a:graphicData uri="http://schemas.openxmlformats.org/drawingml/2006/table">
            <a:tbl>
              <a:tblPr>
                <a:tableStyleId>{72833802-FEF1-4C79-8D5D-14CF1EAF98D9}</a:tableStyleId>
              </a:tblPr>
              <a:tblGrid>
                <a:gridCol w="1847979">
                  <a:extLst>
                    <a:ext uri="{9D8B030D-6E8A-4147-A177-3AD203B41FA5}">
                      <a16:colId xmlns:a16="http://schemas.microsoft.com/office/drawing/2014/main" val="20000"/>
                    </a:ext>
                  </a:extLst>
                </a:gridCol>
                <a:gridCol w="4205743">
                  <a:extLst>
                    <a:ext uri="{9D8B030D-6E8A-4147-A177-3AD203B41FA5}">
                      <a16:colId xmlns:a16="http://schemas.microsoft.com/office/drawing/2014/main" val="20001"/>
                    </a:ext>
                  </a:extLst>
                </a:gridCol>
              </a:tblGrid>
              <a:tr h="182113">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Neighbor index </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w="6350" cap="flat" cmpd="sng" algn="ctr">
                      <a:noFill/>
                      <a:prstDash val="solid"/>
                      <a:miter lim="800000"/>
                    </a:lnT>
                    <a:lnB>
                      <a:noFill/>
                    </a:lnB>
                    <a:lnTlToBr w="12700" cmpd="sng">
                      <a:noFill/>
                      <a:prstDash val="solid"/>
                    </a:lnTlToBr>
                    <a:lnBlToTr w="12700" cmpd="sng">
                      <a:noFill/>
                      <a:prstDash val="solid"/>
                    </a:lnBlToTr>
                  </a:tcPr>
                </a:tc>
                <a:tc>
                  <a:txBody>
                    <a:bodyPr/>
                    <a:lstStyle/>
                    <a:p>
                      <a:pPr algn="l"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82113">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Chassis type   </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macAddress </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113">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Chassis ID     </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00e0-fc9f-4b1d </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2113">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Port ID type   </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interfaceName </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113">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Port ID        </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ctr"/>
                      <a:r>
                        <a:rPr lang="en-US" sz="1200" u="none" strike="noStrike" dirty="0">
                          <a:solidFill>
                            <a:srgbClr val="C7000B"/>
                          </a:solidFill>
                          <a:effectLst/>
                          <a:latin typeface="Huawei Sans" panose="020C0503030203020204" pitchFamily="34" charset="0"/>
                          <a:ea typeface="方正兰亭黑简体" panose="02000000000000000000" pitchFamily="2" charset="-122"/>
                          <a:sym typeface="Huawei Sans" panose="020C0503030203020204" pitchFamily="34" charset="0"/>
                        </a:rPr>
                        <a:t>GigabitEthernet0/0/0</a:t>
                      </a:r>
                      <a:endParaRPr lang="en-US" sz="1200" b="0" i="0" u="none" strike="noStrike" dirty="0">
                        <a:solidFill>
                          <a:srgbClr val="C7000B"/>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2113">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Port description    </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HUAWEI, AR Series, GigabitEthernet0/0/0 Interface</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113">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System name         </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ctr"/>
                      <a:r>
                        <a:rPr lang="en-US" sz="1200" u="none" strike="noStrike" dirty="0">
                          <a:solidFill>
                            <a:srgbClr val="C7000B"/>
                          </a:solidFill>
                          <a:effectLst/>
                          <a:latin typeface="Huawei Sans" panose="020C0503030203020204" pitchFamily="34" charset="0"/>
                          <a:ea typeface="方正兰亭黑简体" panose="02000000000000000000" pitchFamily="2" charset="-122"/>
                          <a:sym typeface="Huawei Sans" panose="020C0503030203020204" pitchFamily="34" charset="0"/>
                        </a:rPr>
                        <a:t>R2</a:t>
                      </a:r>
                      <a:endParaRPr lang="en-US" sz="1200" b="0" i="0" u="none" strike="noStrike" dirty="0">
                        <a:solidFill>
                          <a:srgbClr val="C7000B"/>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11558">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System description  </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marL="0" marR="0" lvl="0" indent="0" algn="l" defTabSz="914034" rtl="0" eaLnBrk="1" fontAlgn="ctr" latinLnBrk="0" hangingPunct="1">
                        <a:lnSpc>
                          <a:spcPct val="100000"/>
                        </a:lnSpc>
                        <a:spcBef>
                          <a:spcPts val="0"/>
                        </a:spcBef>
                        <a:spcAft>
                          <a:spcPts val="0"/>
                        </a:spcAft>
                        <a:buClrTx/>
                        <a:buSzTx/>
                        <a:buFontTx/>
                        <a:buNone/>
                        <a:tabLst/>
                        <a:defRPr/>
                      </a:pP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Huawei AR2220 Huawei Versatile Routing Platform Software  V</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RP (R) </a:t>
                      </a:r>
                      <a:r>
                        <a:rPr lang="en-US" altLang="zh-CN"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software,Version</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5.130 (AR2220 V200R003C00) Copyright (C) 2011-2012 Huawei Technologies Co., Ltd</a:t>
                      </a:r>
                      <a:endPar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p>
                      <a:pPr algn="l" fontAlgn="ct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11558">
                <a:tc>
                  <a:txBody>
                    <a:bodyPr/>
                    <a:lstStyle/>
                    <a:p>
                      <a:pPr algn="l" rtl="0"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Management address type  </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ipV4</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82113">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Management address       </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u="none" strike="noStrike" dirty="0">
                          <a:solidFill>
                            <a:srgbClr val="C7000B"/>
                          </a:solidFill>
                          <a:effectLst/>
                          <a:latin typeface="Huawei Sans" panose="020C0503030203020204" pitchFamily="34" charset="0"/>
                          <a:ea typeface="方正兰亭黑简体" panose="02000000000000000000" pitchFamily="2" charset="-122"/>
                          <a:sym typeface="Huawei Sans" panose="020C0503030203020204" pitchFamily="34" charset="0"/>
                        </a:rPr>
                        <a:t>10.0.12.2 </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82113">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Expired time   </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l"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109s</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10"/>
                  </a:ext>
                </a:extLst>
              </a:tr>
            </a:tbl>
          </a:graphicData>
        </a:graphic>
      </p:graphicFrame>
      <p:sp>
        <p:nvSpPr>
          <p:cNvPr id="15" name="文本框 14"/>
          <p:cNvSpPr txBox="1"/>
          <p:nvPr/>
        </p:nvSpPr>
        <p:spPr bwMode="gray">
          <a:xfrm>
            <a:off x="954985" y="4294535"/>
            <a:ext cx="1705501" cy="461665"/>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&lt;R1&gt;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system-view</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 </a:t>
            </a:r>
            <a:r>
              <a:rPr lang="en-US" altLang="zh-CN" sz="1200" b="1" dirty="0" err="1">
                <a:latin typeface="Huawei Sans" panose="020C0503030203020204" pitchFamily="34" charset="0"/>
                <a:ea typeface="方正兰亭黑简体" panose="02000000000000000000" pitchFamily="2" charset="-122"/>
                <a:sym typeface="Huawei Sans" panose="020C0503030203020204" pitchFamily="34" charset="0"/>
              </a:rPr>
              <a:t>lldp</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 enable </a:t>
            </a:r>
          </a:p>
        </p:txBody>
      </p:sp>
      <p:sp>
        <p:nvSpPr>
          <p:cNvPr id="18" name="文本占位符 2"/>
          <p:cNvSpPr txBox="1">
            <a:spLocks/>
          </p:cNvSpPr>
          <p:nvPr/>
        </p:nvSpPr>
        <p:spPr bwMode="gray">
          <a:xfrm>
            <a:off x="954985" y="3776623"/>
            <a:ext cx="5254148" cy="47706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Font typeface="Arial" panose="020B0604020202020204" pitchFamily="34" charset="0"/>
              <a:buNone/>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设备上开启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LLDP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功能。</a:t>
            </a:r>
          </a:p>
        </p:txBody>
      </p:sp>
      <p:sp>
        <p:nvSpPr>
          <p:cNvPr id="19" name="文本框 18"/>
          <p:cNvSpPr txBox="1"/>
          <p:nvPr/>
        </p:nvSpPr>
        <p:spPr bwMode="gray">
          <a:xfrm>
            <a:off x="2952479" y="4294535"/>
            <a:ext cx="1705501" cy="461665"/>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&lt;R2&gt;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system-view</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 </a:t>
            </a:r>
            <a:r>
              <a:rPr lang="en-US" altLang="zh-CN" sz="1200" b="1" dirty="0" err="1">
                <a:latin typeface="Huawei Sans" panose="020C0503030203020204" pitchFamily="34" charset="0"/>
                <a:ea typeface="方正兰亭黑简体" panose="02000000000000000000" pitchFamily="2" charset="-122"/>
                <a:sym typeface="Huawei Sans" panose="020C0503030203020204" pitchFamily="34" charset="0"/>
              </a:rPr>
              <a:t>lldp</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 enable </a:t>
            </a:r>
          </a:p>
        </p:txBody>
      </p:sp>
    </p:spTree>
    <p:extLst>
      <p:ext uri="{BB962C8B-B14F-4D97-AF65-F5344CB8AC3E}">
        <p14:creationId xmlns:p14="http://schemas.microsoft.com/office/powerpoint/2010/main" val="24458968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日常维护</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信息收集工具</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信息中心</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报文捕获</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LLDP</a:t>
            </a:r>
          </a:p>
          <a:p>
            <a:pPr lvl="1">
              <a:buSzPct val="60000"/>
              <a:buFont typeface="Wingdings" panose="05000000000000000000" pitchFamily="2" charset="2"/>
              <a:buChar char="n"/>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流量统计</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757914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流量统计</a:t>
            </a:r>
          </a:p>
        </p:txBody>
      </p:sp>
      <p:sp>
        <p:nvSpPr>
          <p:cNvPr id="4" name="文本占位符 3"/>
          <p:cNvSpPr>
            <a:spLocks noGrp="1"/>
          </p:cNvSpPr>
          <p:nvPr>
            <p:ph type="body" sz="quarter" idx="10"/>
          </p:nvPr>
        </p:nvSpPr>
        <p:spPr bwMode="gray"/>
        <p:txBody>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流量可以帮助用户了解应用流策略后流量通过和被丢弃的情况，由此分析和判断流策略的应用是否合理，也有助于进行相关的故障诊断与排查。</a:t>
            </a:r>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58083" y="2140118"/>
            <a:ext cx="540000" cy="442800"/>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393174" y="2140118"/>
            <a:ext cx="540000" cy="442800"/>
          </a:xfrm>
          <a:prstGeom prst="rect">
            <a:avLst/>
          </a:prstGeom>
        </p:spPr>
      </p:pic>
      <p:cxnSp>
        <p:nvCxnSpPr>
          <p:cNvPr id="7" name="直接连接符 6"/>
          <p:cNvCxnSpPr>
            <a:stCxn id="5" idx="3"/>
            <a:endCxn id="6" idx="1"/>
          </p:cNvCxnSpPr>
          <p:nvPr/>
        </p:nvCxnSpPr>
        <p:spPr bwMode="gray">
          <a:xfrm>
            <a:off x="1198083" y="2361518"/>
            <a:ext cx="31950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16">
            <a:extLst>
              <a:ext uri="{FF2B5EF4-FFF2-40B4-BE49-F238E27FC236}">
                <a16:creationId xmlns:a16="http://schemas.microsoft.com/office/drawing/2014/main" id="{4849523F-4E0A-410A-8715-D105FD18C781}"/>
              </a:ext>
            </a:extLst>
          </p:cNvPr>
          <p:cNvSpPr txBox="1"/>
          <p:nvPr/>
        </p:nvSpPr>
        <p:spPr bwMode="gray">
          <a:xfrm>
            <a:off x="745180" y="2675239"/>
            <a:ext cx="365806"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R1</a:t>
            </a:r>
          </a:p>
        </p:txBody>
      </p:sp>
      <p:sp>
        <p:nvSpPr>
          <p:cNvPr id="9" name="TextBox 16">
            <a:extLst>
              <a:ext uri="{FF2B5EF4-FFF2-40B4-BE49-F238E27FC236}">
                <a16:creationId xmlns:a16="http://schemas.microsoft.com/office/drawing/2014/main" id="{4849523F-4E0A-410A-8715-D105FD18C781}"/>
              </a:ext>
            </a:extLst>
          </p:cNvPr>
          <p:cNvSpPr txBox="1"/>
          <p:nvPr/>
        </p:nvSpPr>
        <p:spPr bwMode="gray">
          <a:xfrm>
            <a:off x="4480271" y="2675239"/>
            <a:ext cx="365806"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R2</a:t>
            </a:r>
          </a:p>
        </p:txBody>
      </p:sp>
      <p:sp>
        <p:nvSpPr>
          <p:cNvPr id="10" name="TextBox 16">
            <a:extLst>
              <a:ext uri="{FF2B5EF4-FFF2-40B4-BE49-F238E27FC236}">
                <a16:creationId xmlns:a16="http://schemas.microsoft.com/office/drawing/2014/main" id="{4849523F-4E0A-410A-8715-D105FD18C781}"/>
              </a:ext>
            </a:extLst>
          </p:cNvPr>
          <p:cNvSpPr txBox="1"/>
          <p:nvPr/>
        </p:nvSpPr>
        <p:spPr bwMode="gray">
          <a:xfrm>
            <a:off x="1198083" y="2131634"/>
            <a:ext cx="75693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GE0/0/0</a:t>
            </a:r>
          </a:p>
        </p:txBody>
      </p:sp>
      <p:sp>
        <p:nvSpPr>
          <p:cNvPr id="11" name="TextBox 16">
            <a:extLst>
              <a:ext uri="{FF2B5EF4-FFF2-40B4-BE49-F238E27FC236}">
                <a16:creationId xmlns:a16="http://schemas.microsoft.com/office/drawing/2014/main" id="{4849523F-4E0A-410A-8715-D105FD18C781}"/>
              </a:ext>
            </a:extLst>
          </p:cNvPr>
          <p:cNvSpPr txBox="1"/>
          <p:nvPr/>
        </p:nvSpPr>
        <p:spPr bwMode="gray">
          <a:xfrm>
            <a:off x="1198083" y="2349279"/>
            <a:ext cx="1042273"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10.0.12.1/24</a:t>
            </a:r>
          </a:p>
        </p:txBody>
      </p:sp>
      <p:sp>
        <p:nvSpPr>
          <p:cNvPr id="12" name="TextBox 16">
            <a:extLst>
              <a:ext uri="{FF2B5EF4-FFF2-40B4-BE49-F238E27FC236}">
                <a16:creationId xmlns:a16="http://schemas.microsoft.com/office/drawing/2014/main" id="{4849523F-4E0A-410A-8715-D105FD18C781}"/>
              </a:ext>
            </a:extLst>
          </p:cNvPr>
          <p:cNvSpPr txBox="1"/>
          <p:nvPr/>
        </p:nvSpPr>
        <p:spPr bwMode="gray">
          <a:xfrm>
            <a:off x="3670435" y="2131634"/>
            <a:ext cx="756938"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GE0/0/0</a:t>
            </a:r>
          </a:p>
        </p:txBody>
      </p:sp>
      <p:sp>
        <p:nvSpPr>
          <p:cNvPr id="13" name="TextBox 16">
            <a:extLst>
              <a:ext uri="{FF2B5EF4-FFF2-40B4-BE49-F238E27FC236}">
                <a16:creationId xmlns:a16="http://schemas.microsoft.com/office/drawing/2014/main" id="{4849523F-4E0A-410A-8715-D105FD18C781}"/>
              </a:ext>
            </a:extLst>
          </p:cNvPr>
          <p:cNvSpPr txBox="1"/>
          <p:nvPr/>
        </p:nvSpPr>
        <p:spPr bwMode="gray">
          <a:xfrm>
            <a:off x="3385100" y="2349279"/>
            <a:ext cx="1042273"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10.0.12.2/24</a:t>
            </a:r>
          </a:p>
        </p:txBody>
      </p:sp>
      <p:pic>
        <p:nvPicPr>
          <p:cNvPr id="14" name="图片 13" descr="通用交换机.png"/>
          <p:cNvPicPr>
            <a:picLocks noChangeAspect="1"/>
          </p:cNvPicPr>
          <p:nvPr/>
        </p:nvPicPr>
        <p:blipFill>
          <a:blip r:embed="rId4" cstate="print"/>
          <a:stretch>
            <a:fillRect/>
          </a:stretch>
        </p:blipFill>
        <p:spPr bwMode="gray">
          <a:xfrm>
            <a:off x="2491492" y="2128370"/>
            <a:ext cx="540000" cy="441818"/>
          </a:xfrm>
          <a:prstGeom prst="rect">
            <a:avLst/>
          </a:prstGeom>
        </p:spPr>
      </p:pic>
      <p:sp>
        <p:nvSpPr>
          <p:cNvPr id="15" name="TextBox 16">
            <a:extLst>
              <a:ext uri="{FF2B5EF4-FFF2-40B4-BE49-F238E27FC236}">
                <a16:creationId xmlns:a16="http://schemas.microsoft.com/office/drawing/2014/main" id="{4849523F-4E0A-410A-8715-D105FD18C781}"/>
              </a:ext>
            </a:extLst>
          </p:cNvPr>
          <p:cNvSpPr txBox="1"/>
          <p:nvPr/>
        </p:nvSpPr>
        <p:spPr bwMode="gray">
          <a:xfrm>
            <a:off x="2544597" y="2661572"/>
            <a:ext cx="502061"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sym typeface="Huawei Sans" panose="020C0503030203020204" pitchFamily="34" charset="0"/>
              </a:rPr>
              <a:t>SW1</a:t>
            </a:r>
          </a:p>
        </p:txBody>
      </p:sp>
      <p:sp>
        <p:nvSpPr>
          <p:cNvPr id="16" name="文本占位符 3"/>
          <p:cNvSpPr txBox="1">
            <a:spLocks/>
          </p:cNvSpPr>
          <p:nvPr/>
        </p:nvSpPr>
        <p:spPr bwMode="gray">
          <a:xfrm>
            <a:off x="6201805" y="5641372"/>
            <a:ext cx="5411075" cy="45672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Font typeface="Arial" panose="020B0604020202020204" pitchFamily="34" charset="0"/>
              <a:buNone/>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从以上结果得知</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并未收到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ICMP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报文。据此信息可去排除是否物理链路故障，或者</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配置是否产生故障。</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6224127" y="1664472"/>
            <a:ext cx="4974699" cy="1569660"/>
          </a:xfrm>
          <a:prstGeom prst="rect">
            <a:avLst/>
          </a:prstGeom>
          <a:solidFill>
            <a:schemeClr val="bg1">
              <a:lumMod val="85000"/>
            </a:schemeClr>
          </a:solidFill>
          <a:ln>
            <a:noFill/>
          </a:ln>
        </p:spPr>
        <p:txBody>
          <a:bodyPr wrap="square" rtlCol="0">
            <a:spAutoFit/>
          </a:bodyPr>
          <a:lstStyle/>
          <a:p>
            <a:pPr marL="228600" indent="-228600">
              <a:buFont typeface="+mj-lt"/>
              <a:buAutoNum type="arabicPeriod" startAt="4"/>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创建流策略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traffic policy p1</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[R2-trafficpolicy-p1]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classifier c1 behavior b1</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[R2-trafficpolicy-p1]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quit</a:t>
            </a:r>
          </a:p>
          <a:p>
            <a:pPr marL="228600" indent="-228600">
              <a:buFont typeface="+mj-lt"/>
              <a:buAutoNum type="arabicPeriod" startAt="5"/>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在接口上应用流策略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interface </a:t>
            </a:r>
            <a:r>
              <a:rPr lang="en-US" altLang="zh-CN" sz="1200" b="1" dirty="0" err="1">
                <a:latin typeface="Huawei Sans" panose="020C0503030203020204" pitchFamily="34" charset="0"/>
                <a:ea typeface="方正兰亭黑简体" panose="02000000000000000000" pitchFamily="2" charset="-122"/>
                <a:sym typeface="Huawei Sans" panose="020C0503030203020204" pitchFamily="34" charset="0"/>
              </a:rPr>
              <a:t>GigabitEthernet</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 0/0/0</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[R2-GigabitEthernet0/0/0]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traffic-policy p1 inbound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[R2-GigabitEthernet0/0/0]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544142" y="3376763"/>
            <a:ext cx="4974699" cy="2308324"/>
          </a:xfrm>
          <a:prstGeom prst="rect">
            <a:avLst/>
          </a:prstGeom>
          <a:solidFill>
            <a:schemeClr val="bg1">
              <a:lumMod val="85000"/>
            </a:schemeClr>
          </a:solidFill>
          <a:ln>
            <a:noFill/>
          </a:ln>
        </p:spPr>
        <p:txBody>
          <a:bodyPr wrap="square" rtlCol="0">
            <a:spAutoFit/>
          </a:bodyPr>
          <a:lstStyle/>
          <a:p>
            <a:pPr marL="228600" indent="-228600">
              <a:buFont typeface="+mj-lt"/>
              <a:buAutoNum type="arabicPeriod"/>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ACL</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规则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 </a:t>
            </a:r>
            <a:r>
              <a:rPr lang="en-US" altLang="zh-CN" sz="1200" b="1" dirty="0" err="1">
                <a:latin typeface="Huawei Sans" panose="020C0503030203020204" pitchFamily="34" charset="0"/>
                <a:ea typeface="方正兰亭黑简体" panose="02000000000000000000" pitchFamily="2" charset="-122"/>
                <a:sym typeface="Huawei Sans" panose="020C0503030203020204" pitchFamily="34" charset="0"/>
              </a:rPr>
              <a:t>acl</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 2000</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[R2-acl-basic-2000]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rule permit source 10.0.12.1 0</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[R2-acl-basic-2000]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quit</a:t>
            </a:r>
          </a:p>
          <a:p>
            <a:pPr marL="228600" indent="-228600">
              <a:buFont typeface="+mj-lt"/>
              <a:buAutoNum type="arabicPeriod" startAt="2"/>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配置流分类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traffic classifier c1</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[R2-classifier-c1]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if-match </a:t>
            </a:r>
            <a:r>
              <a:rPr lang="en-US" altLang="zh-CN" sz="1200" b="1" dirty="0" err="1">
                <a:latin typeface="Huawei Sans" panose="020C0503030203020204" pitchFamily="34" charset="0"/>
                <a:ea typeface="方正兰亭黑简体" panose="02000000000000000000" pitchFamily="2" charset="-122"/>
                <a:sym typeface="Huawei Sans" panose="020C0503030203020204" pitchFamily="34" charset="0"/>
              </a:rPr>
              <a:t>acl</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 2000</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[R2-classifier-c1]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quit</a:t>
            </a:r>
          </a:p>
          <a:p>
            <a:pPr marL="228600" indent="-228600">
              <a:buFont typeface="+mj-lt"/>
              <a:buAutoNum type="arabicPeriod" startAt="3"/>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配置流行为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traffic behavior b1</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[R2-behavior-b1]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statistic enable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[R2-behavior-b1]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quit</a:t>
            </a:r>
          </a:p>
        </p:txBody>
      </p:sp>
      <p:sp>
        <p:nvSpPr>
          <p:cNvPr id="19" name="文本框 18"/>
          <p:cNvSpPr txBox="1"/>
          <p:nvPr/>
        </p:nvSpPr>
        <p:spPr bwMode="gray">
          <a:xfrm>
            <a:off x="6201805" y="3351735"/>
            <a:ext cx="5411075" cy="2308324"/>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R2]display traffic policy statistics interface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GigabitEthernet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0/0/0 inbound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Interface: GigabitEthernet0/0/0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Traffic policy inbound: test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Rule number: 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Current status: OK!</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Item                           Sum(Packets/Bytes)            Rate(</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pps</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/bps)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0" name="表格 19"/>
          <p:cNvGraphicFramePr>
            <a:graphicFrameLocks noGrp="1"/>
          </p:cNvGraphicFramePr>
          <p:nvPr>
            <p:extLst>
              <p:ext uri="{D42A27DB-BD31-4B8C-83A1-F6EECF244321}">
                <p14:modId xmlns:p14="http://schemas.microsoft.com/office/powerpoint/2010/main" val="4133090988"/>
              </p:ext>
            </p:extLst>
          </p:nvPr>
        </p:nvGraphicFramePr>
        <p:xfrm>
          <a:off x="6332378" y="4620290"/>
          <a:ext cx="4866447" cy="1028700"/>
        </p:xfrm>
        <a:graphic>
          <a:graphicData uri="http://schemas.openxmlformats.org/drawingml/2006/table">
            <a:tbl>
              <a:tblPr>
                <a:tableStyleId>{72833802-FEF1-4C79-8D5D-14CF1EAF98D9}</a:tableStyleId>
              </a:tblPr>
              <a:tblGrid>
                <a:gridCol w="1462882">
                  <a:extLst>
                    <a:ext uri="{9D8B030D-6E8A-4147-A177-3AD203B41FA5}">
                      <a16:colId xmlns:a16="http://schemas.microsoft.com/office/drawing/2014/main" val="20000"/>
                    </a:ext>
                  </a:extLst>
                </a:gridCol>
                <a:gridCol w="1531620">
                  <a:extLst>
                    <a:ext uri="{9D8B030D-6E8A-4147-A177-3AD203B41FA5}">
                      <a16:colId xmlns:a16="http://schemas.microsoft.com/office/drawing/2014/main" val="20001"/>
                    </a:ext>
                  </a:extLst>
                </a:gridCol>
                <a:gridCol w="1871945">
                  <a:extLst>
                    <a:ext uri="{9D8B030D-6E8A-4147-A177-3AD203B41FA5}">
                      <a16:colId xmlns:a16="http://schemas.microsoft.com/office/drawing/2014/main" val="20002"/>
                    </a:ext>
                  </a:extLst>
                </a:gridCol>
              </a:tblGrid>
              <a:tr h="171450">
                <a:tc>
                  <a:txBody>
                    <a:bodyPr/>
                    <a:lstStyle/>
                    <a:p>
                      <a:pPr algn="l" fontAlgn="ctr"/>
                      <a:r>
                        <a:rPr lang="en-US" sz="10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Matched</a:t>
                      </a:r>
                      <a:endParaRPr lang="en-US" sz="1000" b="0" i="0" u="none" strike="noStrike" dirty="0">
                        <a:solidFill>
                          <a:srgbClr val="333333"/>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71450">
                <a:tc>
                  <a:txBody>
                    <a:bodyPr/>
                    <a:lstStyle/>
                    <a:p>
                      <a:pPr algn="l" fontAlgn="ctr"/>
                      <a:r>
                        <a:rPr lang="en-US" sz="10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Passed</a:t>
                      </a:r>
                      <a:endParaRPr lang="en-US" sz="1000" b="0" i="0" u="none" strike="noStrike" dirty="0">
                        <a:solidFill>
                          <a:srgbClr val="333333"/>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0/0</a:t>
                      </a:r>
                      <a:endParaRPr lang="en-US" altLang="zh-CN" sz="11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1450">
                <a:tc>
                  <a:txBody>
                    <a:bodyPr/>
                    <a:lstStyle/>
                    <a:p>
                      <a:pPr algn="l" fontAlgn="ctr"/>
                      <a:r>
                        <a:rPr lang="en-US" sz="10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Dropped</a:t>
                      </a:r>
                      <a:endParaRPr lang="en-US" sz="1000" b="0" i="0" u="none" strike="noStrike" dirty="0">
                        <a:solidFill>
                          <a:srgbClr val="333333"/>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1450">
                <a:tc>
                  <a:txBody>
                    <a:bodyPr/>
                    <a:lstStyle/>
                    <a:p>
                      <a:pPr algn="l" fontAlgn="ctr"/>
                      <a:r>
                        <a:rPr lang="en-US" sz="10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Filter</a:t>
                      </a:r>
                      <a:endParaRPr lang="en-US" sz="1000" b="0" i="0" u="none" strike="noStrike" dirty="0">
                        <a:solidFill>
                          <a:srgbClr val="333333"/>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71450">
                <a:tc>
                  <a:txBody>
                    <a:bodyPr/>
                    <a:lstStyle/>
                    <a:p>
                      <a:pPr algn="l" fontAlgn="ctr"/>
                      <a:r>
                        <a:rPr lang="en-US" sz="10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CAR</a:t>
                      </a:r>
                      <a:endParaRPr lang="en-US" sz="1000" b="0" i="0" u="none" strike="noStrike" dirty="0">
                        <a:solidFill>
                          <a:srgbClr val="333333"/>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71450">
                <a:tc>
                  <a:txBody>
                    <a:bodyPr/>
                    <a:lstStyle/>
                    <a:p>
                      <a:pPr algn="l" fontAlgn="ctr"/>
                      <a:r>
                        <a:rPr lang="en-US" sz="10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Queue Matched</a:t>
                      </a:r>
                      <a:endParaRPr lang="en-US" sz="1000" b="0" i="0" u="none" strike="noStrike" dirty="0">
                        <a:solidFill>
                          <a:srgbClr val="333333"/>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0/0</a:t>
                      </a:r>
                      <a:endParaRPr lang="en-US" altLang="zh-CN" sz="11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144764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多选题</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关于网络维护的作用，以下说法正确的有哪些选项？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a:p>
            <a:pPr marL="744376" lvl="1" indent="-342900">
              <a:buFont typeface="+mj-lt"/>
              <a:buAutoNum type="alphaUcPeriod"/>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日常维护是一种预防性的工作。</a:t>
            </a:r>
          </a:p>
          <a:p>
            <a:pPr marL="744376" lvl="1" indent="-342900">
              <a:buFont typeface="+mj-lt"/>
              <a:buAutoNum type="alphaUcPeriod"/>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通过日常维护可以得出网络基线，从而为故障排除工作打下良好的基础。</a:t>
            </a:r>
          </a:p>
          <a:p>
            <a:pPr marL="744376" lvl="1" indent="-342900">
              <a:buFont typeface="+mj-lt"/>
              <a:buAutoNum type="alphaUcPeriod"/>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日常维护对操作人员的技术要求很高，但对操作的规范性要求不高。</a:t>
            </a:r>
          </a:p>
          <a:p>
            <a:pPr marL="744376" lvl="1" indent="-342900">
              <a:buFont typeface="+mj-lt"/>
              <a:buAutoNum type="alphaUcPeriod"/>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网络的维护不仅仅是技术问</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题，也</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是管理问题。</a:t>
            </a:r>
          </a:p>
        </p:txBody>
      </p:sp>
    </p:spTree>
    <p:extLst>
      <p:ext uri="{BB962C8B-B14F-4D97-AF65-F5344CB8AC3E}">
        <p14:creationId xmlns:p14="http://schemas.microsoft.com/office/powerpoint/2010/main" val="17661163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判断题</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通过报文捕获采集的各种报文只能在设备命令行界面直接显示，而无法以文件形式保存。</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t>
            </a:r>
          </a:p>
          <a:p>
            <a:pPr lvl="1"/>
            <a:r>
              <a:rPr lang="zh-CN" altLang="en-US" sz="1600" dirty="0">
                <a:sym typeface="Huawei Sans" panose="020C0503030203020204" pitchFamily="34" charset="0"/>
              </a:rPr>
              <a:t>正确</a:t>
            </a:r>
            <a:endParaRPr lang="en-US" altLang="zh-CN" sz="1600" dirty="0">
              <a:sym typeface="Huawei Sans" panose="020C0503030203020204" pitchFamily="34" charset="0"/>
            </a:endParaRPr>
          </a:p>
          <a:p>
            <a:pPr lvl="1"/>
            <a:r>
              <a:rPr lang="zh-CN" altLang="en-US" sz="1600" dirty="0">
                <a:sym typeface="Huawei Sans" panose="020C0503030203020204" pitchFamily="34" charset="0"/>
              </a:rPr>
              <a:t>错误</a:t>
            </a:r>
            <a:endParaRPr lang="en-US" altLang="zh-CN" sz="1600" dirty="0">
              <a:sym typeface="Huawei Sans" panose="020C0503030203020204" pitchFamily="34" charset="0"/>
            </a:endParaRPr>
          </a:p>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判断题</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两台设备直连，如果</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的接口</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地址不在同一网络，则通过</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LLDP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无法获取到对方设备的</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Hostname</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t>
            </a:r>
          </a:p>
          <a:p>
            <a:pPr lvl="1"/>
            <a:r>
              <a:rPr lang="zh-CN" altLang="en-US" sz="1600" dirty="0">
                <a:sym typeface="Huawei Sans" panose="020C0503030203020204" pitchFamily="34" charset="0"/>
              </a:rPr>
              <a:t>正确</a:t>
            </a:r>
            <a:endParaRPr lang="en-US" altLang="zh-CN" sz="1600" dirty="0">
              <a:sym typeface="Huawei Sans" panose="020C0503030203020204" pitchFamily="34" charset="0"/>
            </a:endParaRPr>
          </a:p>
          <a:p>
            <a:pPr lvl="1"/>
            <a:r>
              <a:rPr lang="zh-CN" altLang="en-US" sz="1600" dirty="0">
                <a:sym typeface="Huawei Sans" panose="020C0503030203020204" pitchFamily="34" charset="0"/>
              </a:rPr>
              <a:t>错误</a:t>
            </a:r>
            <a:endParaRPr lang="zh-CN" altLang="en-US" sz="20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93851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bwMode="gray"/>
        <p:txBody>
          <a:body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网络维护分为日常维护和故障排除。本课程介绍了日常维护包含的各项检查项目，例如设备环境检查、设备基本信息检查、设备运行状态检查等。日常维护还需要周期性的对设备的配置和软件版本进行备份，在极端情况下通过备份恢复网络功能。</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故障排除是故障事件驱动的网络维护，在进行故障处理时需要采集大量信息。设备本身提供了信息中心的功能。信息中心提供</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Log</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Trap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Debug</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三种信息，同时提供了</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条信息通道，用户可以需要配置信息的输出规则，控制不同类别、不同等级的信息从不同的信息通道输出到不同的输出方向。</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本课程还介绍了报文捕获、流量统计、</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LLDP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等信息获取工具，通过多种信息工具的配合使用，将使得故障排除工作高效、及时圆满完成。</a:t>
            </a:r>
          </a:p>
        </p:txBody>
      </p:sp>
    </p:spTree>
    <p:extLst>
      <p:ext uri="{BB962C8B-B14F-4D97-AF65-F5344CB8AC3E}">
        <p14:creationId xmlns:p14="http://schemas.microsoft.com/office/powerpoint/2010/main" val="39719725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8041900"/>
      </p:ext>
    </p:extLst>
  </p:cSld>
  <p:clrMapOvr>
    <a:masterClrMapping/>
  </p:clrMapOvr>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2.xml><?xml version="1.0" encoding="utf-8"?>
<ds:datastoreItem xmlns:ds="http://schemas.openxmlformats.org/officeDocument/2006/customXml" ds:itemID="{DA5960F2-6186-408B-A0DC-5CA5E58B604F}">
  <ds:schemaRefs>
    <ds:schemaRef ds:uri="http://purl.org/dc/dcmitype/"/>
    <ds:schemaRef ds:uri="http://schemas.microsoft.com/office/2006/documentManagement/types"/>
    <ds:schemaRef ds:uri="475f1e55-3009-46d8-9566-5d569a2b3a98"/>
    <ds:schemaRef ds:uri="http://schemas.microsoft.com/office/infopath/2007/PartnerControls"/>
    <ds:schemaRef ds:uri="http://purl.org/dc/terms/"/>
    <ds:schemaRef ds:uri="http://www.w3.org/XML/1998/namespace"/>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283E5D66-2367-43DD-B47D-5ED047B91D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5f1e55-3009-46d8-9566-5d569a2b3a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1439</TotalTime>
  <Words>7410</Words>
  <Application>Microsoft Office PowerPoint</Application>
  <PresentationFormat>宽屏</PresentationFormat>
  <Paragraphs>930</Paragraphs>
  <Slides>45</Slides>
  <Notes>45</Notes>
  <HiddenSlides>4</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45</vt:i4>
      </vt:variant>
    </vt:vector>
  </HeadingPairs>
  <TitlesOfParts>
    <vt:vector size="55" baseType="lpstr">
      <vt:lpstr>Huawei Sans</vt:lpstr>
      <vt:lpstr>方正兰亭黑简体</vt:lpstr>
      <vt:lpstr>微软雅黑</vt:lpstr>
      <vt:lpstr>微软雅黑</vt:lpstr>
      <vt:lpstr>Arial</vt:lpstr>
      <vt:lpstr>Wingdings</vt:lpstr>
      <vt:lpstr>2_标题页模板</vt:lpstr>
      <vt:lpstr>3_功能页模板</vt:lpstr>
      <vt:lpstr>4_内容页模板</vt:lpstr>
      <vt:lpstr>5_感谢页模板</vt:lpstr>
      <vt:lpstr>PowerPoint 演示文稿</vt:lpstr>
      <vt:lpstr>网络运维</vt:lpstr>
      <vt:lpstr>PowerPoint 演示文稿</vt:lpstr>
      <vt:lpstr>PowerPoint 演示文稿</vt:lpstr>
      <vt:lpstr>PowerPoint 演示文稿</vt:lpstr>
      <vt:lpstr>网络维护概述</vt:lpstr>
      <vt:lpstr>PowerPoint 演示文稿</vt:lpstr>
      <vt:lpstr>日常维护 - 内容和方法</vt:lpstr>
      <vt:lpstr>日常维护 - Checklist</vt:lpstr>
      <vt:lpstr>Checklist - 设备环境检查 (1)</vt:lpstr>
      <vt:lpstr>Checklist - 设备环境检查 (2)</vt:lpstr>
      <vt:lpstr>Checklist - 设备基本信息检查 (1)</vt:lpstr>
      <vt:lpstr>Checklist - 设备基本信息检查 (2)</vt:lpstr>
      <vt:lpstr>PowerPoint 演示文稿</vt:lpstr>
      <vt:lpstr>Checklist - 设备运行状态检查 (1)</vt:lpstr>
      <vt:lpstr>Checklist - 设备运行状态检查 (2)</vt:lpstr>
      <vt:lpstr>Checklist - 设备接口内容检查</vt:lpstr>
      <vt:lpstr>Checklist - 业务运行状态检查</vt:lpstr>
      <vt:lpstr>日常维护 - 软件与配置的备份</vt:lpstr>
      <vt:lpstr>PowerPoint 演示文稿</vt:lpstr>
      <vt:lpstr>信息中心简介</vt:lpstr>
      <vt:lpstr>信息的分级</vt:lpstr>
      <vt:lpstr>信息的输出</vt:lpstr>
      <vt:lpstr>信息的过滤</vt:lpstr>
      <vt:lpstr>信息的输出格式</vt:lpstr>
      <vt:lpstr>信息中心的应用场景</vt:lpstr>
      <vt:lpstr>信息中心命令简介(1)</vt:lpstr>
      <vt:lpstr>信息中心命令简介(2)</vt:lpstr>
      <vt:lpstr>信息中心命令简介(3)</vt:lpstr>
      <vt:lpstr>信息中心配置举例</vt:lpstr>
      <vt:lpstr>信息中心配置验证 - 信息通道</vt:lpstr>
      <vt:lpstr>信息中心配置验证 - Trap</vt:lpstr>
      <vt:lpstr>信息中心配置验证 - Log</vt:lpstr>
      <vt:lpstr>信息中心配置验证 - Debug</vt:lpstr>
      <vt:lpstr>PowerPoint 演示文稿</vt:lpstr>
      <vt:lpstr>PowerPoint 演示文稿</vt:lpstr>
      <vt:lpstr>报文捕获</vt:lpstr>
      <vt:lpstr>PowerPoint 演示文稿</vt:lpstr>
      <vt:lpstr>LLDP应用举例</vt:lpstr>
      <vt:lpstr>PowerPoint 演示文稿</vt:lpstr>
      <vt:lpstr>流量统计</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junpeng he</cp:lastModifiedBy>
  <cp:revision>192</cp:revision>
  <cp:lastPrinted>2020-07-31T09:33:18Z</cp:lastPrinted>
  <dcterms:created xsi:type="dcterms:W3CDTF">2018-11-29T10:16:29Z</dcterms:created>
  <dcterms:modified xsi:type="dcterms:W3CDTF">2023-12-10T02:35:59Z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(3)UzPTXqohL1BZIa1PrUCHQPZnyG9zcXr4aOYx5Q00puCmDvbYYveGMpJelrE05NXUqWFFM5tt
cuVrgbmMz5xkGqBZBpWCOetNcoH+yOEugfJCQ/TrWqle7MnpElahgE/Zd4kJEoIZfkpXesyq
Jo5Ab4rn4ruzTgkQjBGl1v42W3CpLb+c4NQESoFxuQv1WCC2H00HJlhj1muMeYfcZqdtO1SP
wJDfdwlfWC9R7iL+pH</vt:lpwstr>
  </property>
  <property fmtid="{D5CDD505-2E9C-101B-9397-08002B2CF9AE}" pid="3" name="_2015_ms_pID_7253431">
    <vt:lpwstr>e+AW8hEZXA0ORQNFVlDBnHs6zX+lBKCEfLr4nVgxFdKnDHTc7rhyU0
z5XeJCJT5TQEF/KgnmsMZ2bAe04w7XDgPHCXmlyRF9ua4+PcAQt9S/969t4oMVjNkNjerKmr
9JJTzmaW/VZOc0hdmunffkWjXbyztI1vniZIY9prKGMu4tdvVXscBhRuq/x7Nh7POc39fWLq
oxtJ0DGczV3PpkzpwYsqbr7gTMJvegMwdtTI</vt:lpwstr>
  </property>
  <property fmtid="{D5CDD505-2E9C-101B-9397-08002B2CF9AE}" pid="4" name="_2015_ms_pID_7253432">
    <vt:lpwstr>GVIP+F5TEa00wrnvO3dC/uI=</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1631578795</vt:lpwstr>
  </property>
</Properties>
</file>